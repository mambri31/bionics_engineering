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3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0"/>
  </p:notesMasterIdLst>
  <p:sldIdLst>
    <p:sldId id="256" r:id="rId2"/>
    <p:sldId id="539" r:id="rId3"/>
    <p:sldId id="472" r:id="rId4"/>
    <p:sldId id="473" r:id="rId5"/>
    <p:sldId id="474" r:id="rId6"/>
    <p:sldId id="475" r:id="rId7"/>
    <p:sldId id="482" r:id="rId8"/>
    <p:sldId id="622" r:id="rId9"/>
    <p:sldId id="476" r:id="rId10"/>
    <p:sldId id="477" r:id="rId11"/>
    <p:sldId id="478" r:id="rId12"/>
    <p:sldId id="479" r:id="rId13"/>
    <p:sldId id="481" r:id="rId14"/>
    <p:sldId id="483" r:id="rId15"/>
    <p:sldId id="484" r:id="rId16"/>
    <p:sldId id="485" r:id="rId17"/>
    <p:sldId id="564" r:id="rId18"/>
    <p:sldId id="486" r:id="rId19"/>
    <p:sldId id="487" r:id="rId20"/>
    <p:sldId id="488" r:id="rId21"/>
    <p:sldId id="489" r:id="rId22"/>
    <p:sldId id="490" r:id="rId23"/>
    <p:sldId id="491" r:id="rId24"/>
    <p:sldId id="492" r:id="rId25"/>
    <p:sldId id="493" r:id="rId26"/>
    <p:sldId id="494" r:id="rId27"/>
    <p:sldId id="495" r:id="rId28"/>
    <p:sldId id="496" r:id="rId29"/>
    <p:sldId id="263" r:id="rId30"/>
    <p:sldId id="264" r:id="rId31"/>
    <p:sldId id="265" r:id="rId32"/>
    <p:sldId id="266" r:id="rId33"/>
    <p:sldId id="267" r:id="rId34"/>
    <p:sldId id="268" r:id="rId35"/>
    <p:sldId id="541" r:id="rId36"/>
    <p:sldId id="273" r:id="rId37"/>
    <p:sldId id="542" r:id="rId38"/>
    <p:sldId id="274" r:id="rId39"/>
    <p:sldId id="543" r:id="rId40"/>
    <p:sldId id="275" r:id="rId41"/>
    <p:sldId id="544" r:id="rId42"/>
    <p:sldId id="276" r:id="rId43"/>
    <p:sldId id="277" r:id="rId44"/>
    <p:sldId id="545" r:id="rId45"/>
    <p:sldId id="280" r:id="rId46"/>
    <p:sldId id="281" r:id="rId47"/>
    <p:sldId id="282" r:id="rId48"/>
    <p:sldId id="283" r:id="rId49"/>
    <p:sldId id="284" r:id="rId50"/>
    <p:sldId id="547" r:id="rId51"/>
    <p:sldId id="285" r:id="rId52"/>
    <p:sldId id="286" r:id="rId53"/>
    <p:sldId id="548" r:id="rId54"/>
    <p:sldId id="287" r:id="rId55"/>
    <p:sldId id="288" r:id="rId56"/>
    <p:sldId id="549" r:id="rId57"/>
    <p:sldId id="290" r:id="rId58"/>
    <p:sldId id="293" r:id="rId59"/>
    <p:sldId id="550" r:id="rId60"/>
    <p:sldId id="294" r:id="rId61"/>
    <p:sldId id="295" r:id="rId62"/>
    <p:sldId id="296" r:id="rId63"/>
    <p:sldId id="297" r:id="rId64"/>
    <p:sldId id="298" r:id="rId65"/>
    <p:sldId id="299" r:id="rId66"/>
    <p:sldId id="551" r:id="rId67"/>
    <p:sldId id="552" r:id="rId68"/>
    <p:sldId id="553" r:id="rId69"/>
    <p:sldId id="554" r:id="rId70"/>
    <p:sldId id="555" r:id="rId71"/>
    <p:sldId id="556" r:id="rId72"/>
    <p:sldId id="557" r:id="rId73"/>
    <p:sldId id="558" r:id="rId74"/>
    <p:sldId id="559" r:id="rId75"/>
    <p:sldId id="560" r:id="rId76"/>
    <p:sldId id="561" r:id="rId77"/>
    <p:sldId id="562" r:id="rId78"/>
    <p:sldId id="563" r:id="rId79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638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notesMaster" Target="notesMasters/notesMaster1.xml"/><Relationship Id="rId85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86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customXml" Target="../customXml/item3.xml"/><Relationship Id="rId61" Type="http://schemas.openxmlformats.org/officeDocument/2006/relationships/slide" Target="slides/slide60.xml"/><Relationship Id="rId8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9496D-ADBF-4A18-95D4-AE7277CC9CD7}" type="datetimeFigureOut">
              <a:rPr lang="it-IT" smtClean="0"/>
              <a:pPr/>
              <a:t>17/04/2026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9D7BA-C0FF-4E3D-A591-4EB38D80A8EE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3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4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2714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5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8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/>
            <a:fld id="{3B83FDEF-B760-4D34-8B9E-C9B3A5966B4B}" type="slidenum">
              <a:rPr lang="en-US" altLang="en-US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rPr>
              <a:pPr eaLnBrk="1"/>
              <a:t>6</a:t>
            </a:fld>
            <a:endParaRPr lang="en-US" altLang="en-US">
              <a:solidFill>
                <a:srgbClr val="000000"/>
              </a:solidFill>
              <a:latin typeface="Times New Roman" pitchFamily="16" charset="0"/>
              <a:ea typeface="DejaVu Sans" charset="0"/>
              <a:cs typeface="DejaVu Sans" charset="0"/>
            </a:endParaRPr>
          </a:p>
        </p:txBody>
      </p:sp>
      <p:sp>
        <p:nvSpPr>
          <p:cNvPr id="80899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0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4F7CDD-071E-4E44-BC09-EBE6C70F8E48}" type="slidenum">
              <a:rPr lang="fi-FI" smtClean="0"/>
              <a:pPr/>
              <a:t>20</a:t>
            </a:fld>
            <a:endParaRPr lang="fi-FI"/>
          </a:p>
        </p:txBody>
      </p:sp>
      <p:sp>
        <p:nvSpPr>
          <p:cNvPr id="4198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95325"/>
            <a:ext cx="4570413" cy="3427413"/>
          </a:xfrm>
          <a:solidFill>
            <a:srgbClr val="FFFFFF"/>
          </a:solidFill>
          <a:ln/>
        </p:spPr>
      </p:sp>
      <p:sp>
        <p:nvSpPr>
          <p:cNvPr id="4198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693"/>
            <a:ext cx="5486400" cy="4036356"/>
          </a:xfrm>
          <a:noFill/>
          <a:ln/>
        </p:spPr>
        <p:txBody>
          <a:bodyPr wrap="none" anchor="ctr"/>
          <a:lstStyle/>
          <a:p>
            <a:pPr eaLnBrk="1" hangingPunct="1">
              <a:spcBef>
                <a:spcPct val="0"/>
              </a:spcBef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05506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588E74D-8A51-4383-8C78-4749E4E44A18}" type="slidenum">
              <a:rPr lang="en-US" sz="1200"/>
              <a:pPr/>
              <a:t>29</a:t>
            </a:fld>
            <a:endParaRPr lang="en-US" sz="120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3900" y="509588"/>
            <a:ext cx="3398838" cy="2549525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4281" y="3228554"/>
            <a:ext cx="7938708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CAEFA3C4-4D2D-4E86-92BA-1F7BA29324C2}" type="slidenum">
              <a:rPr lang="en-US" sz="1200"/>
              <a:pPr/>
              <a:t>30</a:t>
            </a:fld>
            <a:endParaRPr lang="en-US" sz="120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3900" y="509588"/>
            <a:ext cx="3398838" cy="2549525"/>
          </a:xfrm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4281" y="3228554"/>
            <a:ext cx="7938708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179B5EAF-90FF-418F-8FC2-051603C4917B}" type="slidenum">
              <a:rPr lang="en-US" sz="1200"/>
              <a:pPr/>
              <a:t>31</a:t>
            </a:fld>
            <a:endParaRPr lang="en-US" sz="120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63900" y="509588"/>
            <a:ext cx="3398838" cy="2549525"/>
          </a:xfrm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4281" y="3228554"/>
            <a:ext cx="7938708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3262313" y="517525"/>
            <a:ext cx="3398837" cy="25479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92549" y="3228838"/>
            <a:ext cx="7939906" cy="3001557"/>
          </a:xfrm>
        </p:spPr>
        <p:txBody>
          <a:bodyPr/>
          <a:lstStyle/>
          <a:p>
            <a:r>
              <a:rPr lang="it-IT" dirty="0" err="1"/>
              <a:t>Remember</a:t>
            </a:r>
            <a:r>
              <a:rPr lang="it-IT" dirty="0"/>
              <a:t> the </a:t>
            </a:r>
            <a:r>
              <a:rPr lang="it-IT" dirty="0" err="1"/>
              <a:t>monkeys</a:t>
            </a:r>
            <a:endParaRPr lang="it-IT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xfrm>
            <a:off x="3262313" y="517525"/>
            <a:ext cx="3398837" cy="2547938"/>
          </a:xfrm>
          <a:solidFill>
            <a:schemeClr val="accent1"/>
          </a:solidFill>
          <a:ln w="25400">
            <a:solidFill>
              <a:schemeClr val="accent1">
                <a:shade val="50000"/>
              </a:schemeClr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992549" y="3228838"/>
            <a:ext cx="7939906" cy="3001557"/>
          </a:xfrm>
        </p:spPr>
        <p:txBody>
          <a:bodyPr/>
          <a:lstStyle/>
          <a:p>
            <a:r>
              <a:rPr lang="it-IT" dirty="0" err="1"/>
              <a:t>Remember</a:t>
            </a:r>
            <a:r>
              <a:rPr lang="it-IT" dirty="0"/>
              <a:t> the </a:t>
            </a:r>
            <a:r>
              <a:rPr lang="it-IT" dirty="0" err="1"/>
              <a:t>monkeys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779214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84B340D-D9B7-4B0C-A8BE-59AE4E64436A}" type="slidenum">
              <a:rPr lang="en-US" altLang="it-IT"/>
              <a:pPr/>
              <a:t>36</a:t>
            </a:fld>
            <a:endParaRPr lang="en-US" altLang="it-IT"/>
          </a:p>
        </p:txBody>
      </p:sp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262313" y="517525"/>
            <a:ext cx="3398837" cy="2547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992088" y="3228770"/>
            <a:ext cx="7940874" cy="3059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0165" tIns="40083" rIns="80165" bIns="40083" anchor="ctr"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84B340D-D9B7-4B0C-A8BE-59AE4E64436A}" type="slidenum">
              <a:rPr lang="en-US" altLang="it-IT"/>
              <a:pPr/>
              <a:t>37</a:t>
            </a:fld>
            <a:endParaRPr lang="en-US" altLang="it-IT"/>
          </a:p>
        </p:txBody>
      </p:sp>
      <p:sp>
        <p:nvSpPr>
          <p:cNvPr id="24577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262313" y="517525"/>
            <a:ext cx="3398837" cy="2547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992088" y="3228770"/>
            <a:ext cx="7940874" cy="3059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0165" tIns="40083" rIns="80165" bIns="40083" anchor="ctr"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06501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CDE7F67-D815-4C84-8DD7-F07874CB0C43}" type="slidenum">
              <a:rPr lang="en-US" altLang="it-IT"/>
              <a:pPr/>
              <a:t>38</a:t>
            </a:fld>
            <a:endParaRPr lang="en-US" altLang="it-IT"/>
          </a:p>
        </p:txBody>
      </p:sp>
      <p:sp>
        <p:nvSpPr>
          <p:cNvPr id="2560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262313" y="517525"/>
            <a:ext cx="3398837" cy="2547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992088" y="3228770"/>
            <a:ext cx="7940874" cy="3059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0165" tIns="40083" rIns="80165" bIns="40083" anchor="ctr"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CDE7F67-D815-4C84-8DD7-F07874CB0C43}" type="slidenum">
              <a:rPr lang="en-US" altLang="it-IT"/>
              <a:pPr/>
              <a:t>39</a:t>
            </a:fld>
            <a:endParaRPr lang="en-US" altLang="it-IT"/>
          </a:p>
        </p:txBody>
      </p:sp>
      <p:sp>
        <p:nvSpPr>
          <p:cNvPr id="2560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262313" y="517525"/>
            <a:ext cx="3398837" cy="2547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992088" y="3228770"/>
            <a:ext cx="7940874" cy="3059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0165" tIns="40083" rIns="80165" bIns="40083" anchor="ctr"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63193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CDE7F67-D815-4C84-8DD7-F07874CB0C43}" type="slidenum">
              <a:rPr lang="en-US" altLang="it-IT"/>
              <a:pPr/>
              <a:t>40</a:t>
            </a:fld>
            <a:endParaRPr lang="en-US" altLang="it-IT"/>
          </a:p>
        </p:txBody>
      </p:sp>
      <p:sp>
        <p:nvSpPr>
          <p:cNvPr id="2560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262313" y="517525"/>
            <a:ext cx="3398837" cy="2547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992088" y="3228770"/>
            <a:ext cx="7940874" cy="3059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0165" tIns="40083" rIns="80165" bIns="40083" anchor="ctr"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CDE7F67-D815-4C84-8DD7-F07874CB0C43}" type="slidenum">
              <a:rPr lang="en-US" altLang="it-IT"/>
              <a:pPr/>
              <a:t>41</a:t>
            </a:fld>
            <a:endParaRPr lang="en-US" altLang="it-IT"/>
          </a:p>
        </p:txBody>
      </p:sp>
      <p:sp>
        <p:nvSpPr>
          <p:cNvPr id="2560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262313" y="517525"/>
            <a:ext cx="3398837" cy="2547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992088" y="3228770"/>
            <a:ext cx="7940874" cy="3059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0165" tIns="40083" rIns="80165" bIns="40083" anchor="ctr"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26521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CDE7F67-D815-4C84-8DD7-F07874CB0C43}" type="slidenum">
              <a:rPr lang="en-US" altLang="it-IT"/>
              <a:pPr/>
              <a:t>42</a:t>
            </a:fld>
            <a:endParaRPr lang="en-US" altLang="it-IT"/>
          </a:p>
        </p:txBody>
      </p:sp>
      <p:sp>
        <p:nvSpPr>
          <p:cNvPr id="25601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262313" y="517525"/>
            <a:ext cx="3398837" cy="254793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992088" y="3228770"/>
            <a:ext cx="7940874" cy="3059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0165" tIns="40083" rIns="80165" bIns="40083" anchor="ctr"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4EA0F2B-C5F3-4A26-851F-73EFA5B5EE8E}" type="slidenum">
              <a:rPr lang="en-US" altLang="it-IT"/>
              <a:pPr/>
              <a:t>43</a:t>
            </a:fld>
            <a:endParaRPr lang="en-US" altLang="it-IT"/>
          </a:p>
        </p:txBody>
      </p:sp>
      <p:sp>
        <p:nvSpPr>
          <p:cNvPr id="2764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262313" y="517525"/>
            <a:ext cx="3395662" cy="25463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992088" y="3228770"/>
            <a:ext cx="7938790" cy="3058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0165" tIns="40083" rIns="80165" bIns="40083" anchor="ctr"/>
          <a:lstStyle/>
          <a:p>
            <a:endParaRPr lang="it-IT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54EA0F2B-C5F3-4A26-851F-73EFA5B5EE8E}" type="slidenum">
              <a:rPr lang="en-US" altLang="it-IT"/>
              <a:pPr/>
              <a:t>44</a:t>
            </a:fld>
            <a:endParaRPr lang="en-US" altLang="it-IT"/>
          </a:p>
        </p:txBody>
      </p:sp>
      <p:sp>
        <p:nvSpPr>
          <p:cNvPr id="27649" name="Rectangle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3262313" y="517525"/>
            <a:ext cx="3395662" cy="25463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992088" y="3228770"/>
            <a:ext cx="7938790" cy="3058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0165" tIns="40083" rIns="80165" bIns="40083" anchor="ctr"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76337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45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46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47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48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49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50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332883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51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52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53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862126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54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55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56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57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61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45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45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62769771-5C69-46E7-B56A-B19813D44886}" type="slidenum">
              <a:rPr lang="en-US" sz="1200"/>
              <a:pPr/>
              <a:t>62</a:t>
            </a:fld>
            <a:endParaRPr lang="en-US" sz="1200"/>
          </a:p>
        </p:txBody>
      </p:sp>
      <p:sp>
        <p:nvSpPr>
          <p:cNvPr id="645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2749" y="3228554"/>
            <a:ext cx="7279554" cy="30598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•"/>
            </a:pPr>
            <a:endParaRPr lang="it-IT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Computational Neuroscience 2006</a:t>
            </a:r>
          </a:p>
        </p:txBody>
      </p:sp>
      <p:sp>
        <p:nvSpPr>
          <p:cNvPr id="60419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/>
              <a:t>Lecture#2</a:t>
            </a:r>
          </a:p>
        </p:txBody>
      </p:sp>
      <p:sp>
        <p:nvSpPr>
          <p:cNvPr id="6042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200">
                <a:solidFill>
                  <a:schemeClr val="tx1"/>
                </a:solidFill>
                <a:latin typeface="Times New Roman" pitchFamily="18" charset="0"/>
              </a:defRPr>
            </a:lvl1pPr>
            <a:lvl2pPr marL="685817" indent="-263776">
              <a:defRPr sz="2200">
                <a:solidFill>
                  <a:schemeClr val="tx1"/>
                </a:solidFill>
                <a:latin typeface="Times New Roman" pitchFamily="18" charset="0"/>
              </a:defRPr>
            </a:lvl2pPr>
            <a:lvl3pPr marL="1055103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3pPr>
            <a:lvl4pPr marL="1477145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4pPr>
            <a:lvl5pPr marL="1899186" indent="-211021">
              <a:defRPr sz="2200">
                <a:solidFill>
                  <a:schemeClr val="tx1"/>
                </a:solidFill>
                <a:latin typeface="Times New Roman" pitchFamily="18" charset="0"/>
              </a:defRPr>
            </a:lvl5pPr>
            <a:lvl6pPr marL="2321227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6pPr>
            <a:lvl7pPr marL="2743269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7pPr>
            <a:lvl8pPr marL="3165310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8pPr>
            <a:lvl9pPr marL="3587351" indent="-211021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E5F6BE1E-F716-40D1-A8F0-1B2E584D8CB8}" type="slidenum">
              <a:rPr lang="en-US" sz="1200"/>
              <a:pPr/>
              <a:t>66</a:t>
            </a:fld>
            <a:endParaRPr lang="en-US" sz="1200"/>
          </a:p>
        </p:txBody>
      </p:sp>
      <p:sp>
        <p:nvSpPr>
          <p:cNvPr id="6042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17/04/2026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17/04/2026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17/04/2026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17/04/2026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17/04/2026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17/04/2026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17/04/2026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17/04/2026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17/04/2026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17/04/2026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EC56D-4454-4717-98EA-B8EE0FABF145}" type="datetimeFigureOut">
              <a:rPr lang="it-IT" smtClean="0"/>
              <a:pPr/>
              <a:t>17/04/2026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DCD1A2-63D4-421C-8FE1-EAF5557659B8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646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olo e  contenu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contenuto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C69C09-0978-46E5-9FA0-232C9C074754}" type="slidenum">
              <a:rPr lang="en-US"/>
              <a:pPr>
                <a:defRPr/>
              </a:pPr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35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EC56D-4454-4717-98EA-B8EE0FABF145}" type="datetimeFigureOut">
              <a:rPr lang="it-IT" smtClean="0"/>
              <a:pPr/>
              <a:t>17/04/2026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E2A407-ACC1-4AC7-B41E-A2D37B432FE1}" type="slidenum">
              <a:rPr lang="it-IT" smtClean="0"/>
              <a:pPr/>
              <a:t>‹N›</a:t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if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tif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f"/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image" Target="../media/image23.tif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iff"/><Relationship Id="rId2" Type="http://schemas.openxmlformats.org/officeDocument/2006/relationships/image" Target="../media/image28.tif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iff"/><Relationship Id="rId2" Type="http://schemas.openxmlformats.org/officeDocument/2006/relationships/image" Target="../media/image30.tif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tif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tif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tif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tif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tif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6.png"/><Relationship Id="rId4" Type="http://schemas.openxmlformats.org/officeDocument/2006/relationships/image" Target="../media/image45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8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tif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6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9.wmf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7.png"/><Relationship Id="rId5" Type="http://schemas.openxmlformats.org/officeDocument/2006/relationships/image" Target="../media/image66.wmf"/><Relationship Id="rId4" Type="http://schemas.openxmlformats.org/officeDocument/2006/relationships/oleObject" Target="../embeddings/oleObject6.bin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9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7.png"/><Relationship Id="rId5" Type="http://schemas.openxmlformats.org/officeDocument/2006/relationships/image" Target="../media/image71.emf"/><Relationship Id="rId4" Type="http://schemas.openxmlformats.org/officeDocument/2006/relationships/oleObject" Target="../embeddings/oleObject9.bin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7" Type="http://schemas.openxmlformats.org/officeDocument/2006/relationships/image" Target="../media/image73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72.wmf"/><Relationship Id="rId4" Type="http://schemas.openxmlformats.org/officeDocument/2006/relationships/oleObject" Target="../embeddings/oleObject11.bin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3" Type="http://schemas.openxmlformats.org/officeDocument/2006/relationships/image" Target="../media/image74.wmf"/><Relationship Id="rId7" Type="http://schemas.openxmlformats.org/officeDocument/2006/relationships/oleObject" Target="../embeddings/oleObject15.bin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5.png"/><Relationship Id="rId5" Type="http://schemas.openxmlformats.org/officeDocument/2006/relationships/image" Target="../media/image71.emf"/><Relationship Id="rId10" Type="http://schemas.openxmlformats.org/officeDocument/2006/relationships/image" Target="../media/image77.wmf"/><Relationship Id="rId4" Type="http://schemas.openxmlformats.org/officeDocument/2006/relationships/oleObject" Target="../embeddings/oleObject14.bin"/><Relationship Id="rId9" Type="http://schemas.openxmlformats.org/officeDocument/2006/relationships/oleObject" Target="../embeddings/oleObject16.bin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9.tiff"/><Relationship Id="rId5" Type="http://schemas.openxmlformats.org/officeDocument/2006/relationships/image" Target="../media/image78.wmf"/><Relationship Id="rId4" Type="http://schemas.openxmlformats.org/officeDocument/2006/relationships/oleObject" Target="../embeddings/oleObject18.bin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image" Target="../media/image79.tif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0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7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Hom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5975"/>
          <a:stretch/>
        </p:blipFill>
        <p:spPr bwMode="auto">
          <a:xfrm>
            <a:off x="482318" y="4943127"/>
            <a:ext cx="2392127" cy="1168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82318" y="227176"/>
            <a:ext cx="8410162" cy="5506080"/>
          </a:xfrm>
        </p:spPr>
        <p:txBody>
          <a:bodyPr>
            <a:normAutofit fontScale="90000"/>
          </a:bodyPr>
          <a:lstStyle/>
          <a:p>
            <a:r>
              <a:rPr lang="it-IT" sz="6000" b="1" dirty="0" err="1">
                <a:solidFill>
                  <a:srgbClr val="FF0000"/>
                </a:solidFill>
              </a:rPr>
              <a:t>Neuromorphic</a:t>
            </a:r>
            <a:r>
              <a:rPr lang="it-IT" sz="6000" b="1" dirty="0">
                <a:solidFill>
                  <a:srgbClr val="FF0000"/>
                </a:solidFill>
              </a:rPr>
              <a:t> engineering:</a:t>
            </a:r>
            <a:br>
              <a:rPr lang="it-IT" sz="6000" b="1" dirty="0">
                <a:solidFill>
                  <a:srgbClr val="FF0000"/>
                </a:solidFill>
              </a:rPr>
            </a:br>
            <a:r>
              <a:rPr lang="it-IT" sz="6000" b="1" dirty="0" err="1">
                <a:solidFill>
                  <a:srgbClr val="FF0000"/>
                </a:solidFill>
              </a:rPr>
              <a:t>computational</a:t>
            </a:r>
            <a:r>
              <a:rPr lang="it-IT" sz="6000" b="1" dirty="0">
                <a:solidFill>
                  <a:srgbClr val="FF0000"/>
                </a:solidFill>
              </a:rPr>
              <a:t> </a:t>
            </a:r>
            <a:r>
              <a:rPr lang="it-IT" sz="6000" b="1" dirty="0" err="1">
                <a:solidFill>
                  <a:srgbClr val="FF0000"/>
                </a:solidFill>
              </a:rPr>
              <a:t>neuroengineering</a:t>
            </a:r>
            <a:br>
              <a:rPr lang="it-IT" sz="6000" b="1" dirty="0">
                <a:solidFill>
                  <a:srgbClr val="FF0000"/>
                </a:solidFill>
              </a:rPr>
            </a:br>
            <a:r>
              <a:rPr lang="it-IT" sz="6000" b="1" dirty="0" err="1">
                <a:solidFill>
                  <a:srgbClr val="FF0000"/>
                </a:solidFill>
              </a:rPr>
              <a:t>module</a:t>
            </a:r>
            <a:br>
              <a:rPr lang="it-IT" sz="6000" b="1" dirty="0">
                <a:solidFill>
                  <a:srgbClr val="FF0000"/>
                </a:solidFill>
              </a:rPr>
            </a:br>
            <a:endParaRPr lang="it-IT" sz="6000" b="1" dirty="0">
              <a:solidFill>
                <a:srgbClr val="FF0000"/>
              </a:solidFill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3347864" y="5131249"/>
            <a:ext cx="5688632" cy="792088"/>
          </a:xfrm>
        </p:spPr>
        <p:txBody>
          <a:bodyPr>
            <a:normAutofit/>
          </a:bodyPr>
          <a:lstStyle/>
          <a:p>
            <a:r>
              <a:rPr lang="it-IT" dirty="0" err="1"/>
              <a:t>Mazzoni@Bionics</a:t>
            </a:r>
            <a:r>
              <a:rPr lang="it-IT" dirty="0"/>
              <a:t>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6B51B-CF0A-6033-E7B9-808730DA2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AE849C-E6D2-9317-41A3-205130520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5696" y="4005064"/>
            <a:ext cx="5148064" cy="1470025"/>
          </a:xfrm>
        </p:spPr>
        <p:txBody>
          <a:bodyPr>
            <a:normAutofit fontScale="90000"/>
          </a:bodyPr>
          <a:lstStyle/>
          <a:p>
            <a:r>
              <a:rPr lang="it-IT" sz="6000" b="1" dirty="0" err="1">
                <a:solidFill>
                  <a:srgbClr val="FF0000"/>
                </a:solidFill>
              </a:rPr>
              <a:t>Neuronal</a:t>
            </a:r>
            <a:r>
              <a:rPr lang="it-IT" sz="6000" b="1" dirty="0">
                <a:solidFill>
                  <a:srgbClr val="FF0000"/>
                </a:solidFill>
              </a:rPr>
              <a:t> </a:t>
            </a:r>
            <a:r>
              <a:rPr lang="it-IT" sz="6000" b="1" dirty="0" err="1">
                <a:solidFill>
                  <a:srgbClr val="FF0000"/>
                </a:solidFill>
              </a:rPr>
              <a:t>Models</a:t>
            </a:r>
            <a:endParaRPr lang="it-IT" sz="6000" b="1" dirty="0">
              <a:solidFill>
                <a:srgbClr val="FF0000"/>
              </a:solidFill>
            </a:endParaRPr>
          </a:p>
        </p:txBody>
      </p:sp>
      <p:pic>
        <p:nvPicPr>
          <p:cNvPr id="7" name="Picture 2" descr="http://www.inmondadori.it/img/Kill-Bill-Volume-1-DVD-Quentin-Tarantino/ea803117993243/BL/BL/10/NZO/?tit=Kill+Bill+-+Volume+1+(DVD)&amp;aut=Quentin+Tarantino">
            <a:extLst>
              <a:ext uri="{FF2B5EF4-FFF2-40B4-BE49-F238E27FC236}">
                <a16:creationId xmlns:a16="http://schemas.microsoft.com/office/drawing/2014/main" id="{B0F6ED58-3944-BC02-E59C-A8912AB1EF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" t="63461" r="61272" b="847"/>
          <a:stretch/>
        </p:blipFill>
        <p:spPr bwMode="auto">
          <a:xfrm>
            <a:off x="3851920" y="764704"/>
            <a:ext cx="1857388" cy="239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5180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126206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 interaction:</a:t>
            </a:r>
          </a:p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Cortical recurring networks</a:t>
            </a:r>
          </a:p>
        </p:txBody>
      </p:sp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6228184" y="1815236"/>
            <a:ext cx="2648471" cy="315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4000 Excitatory neurons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1000 Inhibitory neurons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Sparse random connection (p=0.2)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Strong inhibition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.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i="1" dirty="0">
              <a:solidFill>
                <a:srgbClr val="000000"/>
              </a:solidFill>
              <a:latin typeface="Calibri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579" b="31040"/>
          <a:stretch/>
        </p:blipFill>
        <p:spPr bwMode="auto">
          <a:xfrm>
            <a:off x="82914" y="1412776"/>
            <a:ext cx="5954338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CasellaDiTesto 1"/>
          <p:cNvSpPr txBox="1"/>
          <p:nvPr/>
        </p:nvSpPr>
        <p:spPr>
          <a:xfrm>
            <a:off x="609600" y="2133600"/>
            <a:ext cx="1090363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3200" dirty="0" err="1"/>
              <a:t>Inhib</a:t>
            </a:r>
            <a:r>
              <a:rPr lang="it-IT" dirty="0"/>
              <a:t>.</a:t>
            </a:r>
          </a:p>
        </p:txBody>
      </p:sp>
      <p:sp>
        <p:nvSpPr>
          <p:cNvPr id="6" name="CasellaDiTesto 5"/>
          <p:cNvSpPr txBox="1"/>
          <p:nvPr/>
        </p:nvSpPr>
        <p:spPr>
          <a:xfrm>
            <a:off x="2990578" y="3834825"/>
            <a:ext cx="1886222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3200" dirty="0" err="1"/>
              <a:t>Excitatory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75783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126206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 interaction:</a:t>
            </a:r>
          </a:p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Cortical recurring networks</a:t>
            </a:r>
          </a:p>
        </p:txBody>
      </p:sp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6228184" y="1815236"/>
            <a:ext cx="2648471" cy="315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4000 Excitatory neurons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1000 Inhibitory neurons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Sparse random connection (p=0.2)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Strong inhibition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.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i="1" dirty="0">
              <a:solidFill>
                <a:srgbClr val="000000"/>
              </a:solidFill>
              <a:latin typeface="Calibri" charset="0"/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579" b="31040"/>
          <a:stretch/>
        </p:blipFill>
        <p:spPr bwMode="auto">
          <a:xfrm>
            <a:off x="82914" y="1412776"/>
            <a:ext cx="5954338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CasellaDiTesto 1"/>
          <p:cNvSpPr txBox="1"/>
          <p:nvPr/>
        </p:nvSpPr>
        <p:spPr>
          <a:xfrm>
            <a:off x="609600" y="2133600"/>
            <a:ext cx="1090363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3200" dirty="0" err="1"/>
              <a:t>Inhib</a:t>
            </a:r>
            <a:r>
              <a:rPr lang="it-IT" dirty="0"/>
              <a:t>.</a:t>
            </a:r>
          </a:p>
        </p:txBody>
      </p:sp>
      <p:sp>
        <p:nvSpPr>
          <p:cNvPr id="6" name="CasellaDiTesto 5"/>
          <p:cNvSpPr txBox="1"/>
          <p:nvPr/>
        </p:nvSpPr>
        <p:spPr>
          <a:xfrm>
            <a:off x="2990578" y="3834825"/>
            <a:ext cx="1886222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3200" dirty="0" err="1"/>
              <a:t>Excitatory</a:t>
            </a:r>
            <a:r>
              <a:rPr lang="it-IT" dirty="0"/>
              <a:t>.</a:t>
            </a:r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C2F2AA4B-1F0F-4F64-8E48-BD564977595D}"/>
              </a:ext>
            </a:extLst>
          </p:cNvPr>
          <p:cNvSpPr/>
          <p:nvPr/>
        </p:nvSpPr>
        <p:spPr>
          <a:xfrm>
            <a:off x="208326" y="1412776"/>
            <a:ext cx="4647431" cy="4320479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dirty="0"/>
              <a:t>4:1 </a:t>
            </a:r>
            <a:r>
              <a:rPr lang="it-IT" sz="2400" dirty="0" err="1"/>
              <a:t>excitatory</a:t>
            </a:r>
            <a:r>
              <a:rPr lang="it-IT" sz="2400" dirty="0"/>
              <a:t>/</a:t>
            </a:r>
            <a:r>
              <a:rPr lang="it-IT" sz="2400" dirty="0" err="1"/>
              <a:t>inhibitory</a:t>
            </a:r>
            <a:r>
              <a:rPr lang="it-IT" sz="2400" dirty="0"/>
              <a:t> ratio and strong </a:t>
            </a:r>
            <a:r>
              <a:rPr lang="it-IT" sz="2400" dirty="0" err="1"/>
              <a:t>inhibition</a:t>
            </a:r>
            <a:r>
              <a:rPr lang="it-IT" sz="2400" dirty="0"/>
              <a:t> combine to </a:t>
            </a:r>
            <a:r>
              <a:rPr lang="it-IT" sz="2400" dirty="0" err="1"/>
              <a:t>achieve</a:t>
            </a:r>
            <a:r>
              <a:rPr lang="it-IT" sz="2400" dirty="0"/>
              <a:t> </a:t>
            </a:r>
            <a:r>
              <a:rPr lang="it-IT" sz="2400" dirty="0" err="1"/>
              <a:t>excitatory</a:t>
            </a:r>
            <a:r>
              <a:rPr lang="it-IT" sz="2400" dirty="0"/>
              <a:t>/</a:t>
            </a:r>
            <a:r>
              <a:rPr lang="it-IT" sz="2400" dirty="0" err="1"/>
              <a:t>inhibitory</a:t>
            </a:r>
            <a:endParaRPr lang="it-IT" sz="2400" dirty="0"/>
          </a:p>
          <a:p>
            <a:pPr algn="ctr"/>
            <a:r>
              <a:rPr lang="it-IT" sz="2400" dirty="0"/>
              <a:t>balance  </a:t>
            </a:r>
          </a:p>
        </p:txBody>
      </p:sp>
    </p:spTree>
    <p:extLst>
      <p:ext uri="{BB962C8B-B14F-4D97-AF65-F5344CB8AC3E}">
        <p14:creationId xmlns:p14="http://schemas.microsoft.com/office/powerpoint/2010/main" val="14685204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126206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 external stimuli</a:t>
            </a:r>
          </a:p>
        </p:txBody>
      </p:sp>
      <p:sp>
        <p:nvSpPr>
          <p:cNvPr id="3" name="Text Box 1"/>
          <p:cNvSpPr txBox="1">
            <a:spLocks noChangeArrowheads="1"/>
          </p:cNvSpPr>
          <p:nvPr/>
        </p:nvSpPr>
        <p:spPr bwMode="auto">
          <a:xfrm>
            <a:off x="5072063" y="928688"/>
            <a:ext cx="3927475" cy="6308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4000 Excitatory neurons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1000 Inhibitory neurons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Sparse random connection (p=0.2)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Strong inhibition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Sensory thalamic inputs 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(stronger on Inhibitory neurons)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dirty="0">
              <a:solidFill>
                <a:srgbClr val="000000"/>
              </a:solidFill>
              <a:latin typeface="Calibri" charset="0"/>
            </a:endParaRP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 dirty="0">
                <a:solidFill>
                  <a:srgbClr val="000000"/>
                </a:solidFill>
                <a:latin typeface="Calibri" charset="0"/>
              </a:rPr>
              <a:t>Stimulus unspecific slowly varying inputs modeling ongoing cortical fluctuations.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endParaRPr lang="en-US" altLang="en-US" sz="2400" i="1" dirty="0">
              <a:solidFill>
                <a:srgbClr val="000000"/>
              </a:solidFill>
              <a:latin typeface="Calibri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357188" y="5443538"/>
            <a:ext cx="4356100" cy="15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2400" i="1">
                <a:solidFill>
                  <a:srgbClr val="000000"/>
                </a:solidFill>
                <a:latin typeface="Calibri" charset="0"/>
              </a:rPr>
              <a:t>Each thalamic input is injected many times -  each time with a different ongoing activity.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357313"/>
            <a:ext cx="4254500" cy="3570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" name="CasellaDiTesto 5"/>
          <p:cNvSpPr txBox="1"/>
          <p:nvPr/>
        </p:nvSpPr>
        <p:spPr>
          <a:xfrm>
            <a:off x="369418" y="1600200"/>
            <a:ext cx="5565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1200" dirty="0" err="1"/>
              <a:t>Inhib</a:t>
            </a:r>
            <a:r>
              <a:rPr lang="it-IT" dirty="0"/>
              <a:t>.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1518096" y="2502932"/>
            <a:ext cx="11489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dirty="0" err="1"/>
              <a:t>Excitatory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668633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428625" y="126206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Introducing external stimuli</a:t>
            </a: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214313" y="5715000"/>
            <a:ext cx="4713287" cy="639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i="1" dirty="0" err="1">
                <a:solidFill>
                  <a:srgbClr val="000000"/>
                </a:solidFill>
                <a:latin typeface="Calibri" charset="0"/>
              </a:rPr>
              <a:t>Mazzoni</a:t>
            </a: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 et al.  </a:t>
            </a:r>
            <a:r>
              <a:rPr lang="en-US" altLang="en-US" i="1" dirty="0" err="1">
                <a:solidFill>
                  <a:srgbClr val="000000"/>
                </a:solidFill>
                <a:latin typeface="Calibri" charset="0"/>
              </a:rPr>
              <a:t>PLoS</a:t>
            </a: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 Comp </a:t>
            </a:r>
            <a:r>
              <a:rPr lang="en-US" altLang="en-US" i="1" dirty="0" err="1">
                <a:solidFill>
                  <a:srgbClr val="000000"/>
                </a:solidFill>
                <a:latin typeface="Calibri" charset="0"/>
              </a:rPr>
              <a:t>Biol</a:t>
            </a: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 2008 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i="1" dirty="0" err="1">
                <a:solidFill>
                  <a:srgbClr val="000000"/>
                </a:solidFill>
                <a:latin typeface="Calibri" charset="0"/>
              </a:rPr>
              <a:t>Mazzoni</a:t>
            </a: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 et al. </a:t>
            </a:r>
            <a:r>
              <a:rPr lang="en-US" altLang="en-US" i="1" dirty="0" err="1">
                <a:solidFill>
                  <a:srgbClr val="000000"/>
                </a:solidFill>
                <a:latin typeface="Calibri" charset="0"/>
              </a:rPr>
              <a:t>Neuroimage</a:t>
            </a: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 2010</a:t>
            </a:r>
          </a:p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i="1" dirty="0" err="1">
                <a:solidFill>
                  <a:srgbClr val="000000"/>
                </a:solidFill>
                <a:latin typeface="Calibri" charset="0"/>
              </a:rPr>
              <a:t>Mazzoni</a:t>
            </a: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 et al J </a:t>
            </a:r>
            <a:r>
              <a:rPr lang="en-US" altLang="en-US" i="1" dirty="0" err="1">
                <a:solidFill>
                  <a:srgbClr val="000000"/>
                </a:solidFill>
                <a:latin typeface="Calibri" charset="0"/>
              </a:rPr>
              <a:t>Physiol</a:t>
            </a: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 2012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5143500" y="2571750"/>
            <a:ext cx="357028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</a:rPr>
              <a:t>“Ongoing activity” cortical inputs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5286375" y="5345113"/>
            <a:ext cx="299878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>
                <a:solidFill>
                  <a:srgbClr val="000000"/>
                </a:solidFill>
              </a:rPr>
              <a:t>“Sensory” thalamic inputs</a:t>
            </a: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5072063" y="4662488"/>
            <a:ext cx="32131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sz="1600" i="1">
                <a:solidFill>
                  <a:srgbClr val="000000"/>
                </a:solidFill>
              </a:rPr>
              <a:t>Ornstein Uhlenbeck process</a:t>
            </a:r>
          </a:p>
        </p:txBody>
      </p:sp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200" y="3213100"/>
            <a:ext cx="3071813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" name="Picture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300" y="5981700"/>
            <a:ext cx="32766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3" name="Picture 1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900" y="4064000"/>
            <a:ext cx="4572000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" name="Picture 11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422400"/>
            <a:ext cx="4633913" cy="81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1357313"/>
            <a:ext cx="4254500" cy="3570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6" name="CasellaDiTesto 15"/>
          <p:cNvSpPr txBox="1"/>
          <p:nvPr/>
        </p:nvSpPr>
        <p:spPr>
          <a:xfrm>
            <a:off x="369418" y="1600200"/>
            <a:ext cx="5565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1200" dirty="0" err="1"/>
              <a:t>Inhib</a:t>
            </a:r>
            <a:r>
              <a:rPr lang="it-IT" dirty="0"/>
              <a:t>.</a:t>
            </a:r>
          </a:p>
        </p:txBody>
      </p:sp>
      <p:sp>
        <p:nvSpPr>
          <p:cNvPr id="17" name="CasellaDiTesto 16"/>
          <p:cNvSpPr txBox="1"/>
          <p:nvPr/>
        </p:nvSpPr>
        <p:spPr>
          <a:xfrm>
            <a:off x="1518096" y="2502932"/>
            <a:ext cx="11489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dirty="0" err="1"/>
              <a:t>Excitatory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477839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192900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Interlude: noise</a:t>
            </a:r>
          </a:p>
        </p:txBody>
      </p:sp>
      <p:pic>
        <p:nvPicPr>
          <p:cNvPr id="3" name="Immagine 2" descr="Immagine che contiene libro, testo&#10;&#10;Descrizione generata automaticamente">
            <a:extLst>
              <a:ext uri="{FF2B5EF4-FFF2-40B4-BE49-F238E27FC236}">
                <a16:creationId xmlns:a16="http://schemas.microsoft.com/office/drawing/2014/main" id="{D6BB2412-BCFF-455C-B3DB-FA4F756C2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620688"/>
            <a:ext cx="6048672" cy="604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88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192900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Interlude: noise</a:t>
            </a:r>
          </a:p>
        </p:txBody>
      </p:sp>
      <p:pic>
        <p:nvPicPr>
          <p:cNvPr id="3" name="Immagine 2" descr="Immagine che contiene libro, testo&#10;&#10;Descrizione generata automaticamente">
            <a:extLst>
              <a:ext uri="{FF2B5EF4-FFF2-40B4-BE49-F238E27FC236}">
                <a16:creationId xmlns:a16="http://schemas.microsoft.com/office/drawing/2014/main" id="{D6BB2412-BCFF-455C-B3DB-FA4F756C2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620688"/>
            <a:ext cx="6048672" cy="6048672"/>
          </a:xfrm>
          <a:prstGeom prst="rect">
            <a:avLst/>
          </a:prstGeom>
        </p:spPr>
      </p:pic>
      <p:sp>
        <p:nvSpPr>
          <p:cNvPr id="4" name="Ovale 3">
            <a:extLst>
              <a:ext uri="{FF2B5EF4-FFF2-40B4-BE49-F238E27FC236}">
                <a16:creationId xmlns:a16="http://schemas.microsoft.com/office/drawing/2014/main" id="{B516BEB3-EC4C-422E-8CF6-8D4A45435909}"/>
              </a:ext>
            </a:extLst>
          </p:cNvPr>
          <p:cNvSpPr/>
          <p:nvPr/>
        </p:nvSpPr>
        <p:spPr>
          <a:xfrm>
            <a:off x="5003125" y="188641"/>
            <a:ext cx="4140875" cy="6485492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dirty="0" err="1"/>
              <a:t>It’s</a:t>
            </a:r>
            <a:r>
              <a:rPr lang="it-IT" sz="2400" dirty="0"/>
              <a:t> </a:t>
            </a:r>
            <a:r>
              <a:rPr lang="it-IT" sz="2400" dirty="0" err="1"/>
              <a:t>not</a:t>
            </a:r>
            <a:r>
              <a:rPr lang="it-IT" sz="2400" dirty="0"/>
              <a:t> </a:t>
            </a:r>
            <a:r>
              <a:rPr lang="it-IT" sz="2400" dirty="0" err="1"/>
              <a:t>possible</a:t>
            </a:r>
            <a:r>
              <a:rPr lang="it-IT" sz="2400" dirty="0"/>
              <a:t> to estimate the </a:t>
            </a:r>
            <a:r>
              <a:rPr lang="it-IT" sz="2400" b="1" dirty="0" err="1"/>
              <a:t>temporal</a:t>
            </a:r>
            <a:r>
              <a:rPr lang="it-IT" sz="2400" b="1" dirty="0"/>
              <a:t> </a:t>
            </a:r>
            <a:r>
              <a:rPr lang="it-IT" sz="2400" b="1" dirty="0" err="1"/>
              <a:t>structure</a:t>
            </a:r>
            <a:r>
              <a:rPr lang="it-IT" sz="2400" b="1" dirty="0"/>
              <a:t> of </a:t>
            </a:r>
            <a:r>
              <a:rPr lang="it-IT" sz="2400" b="1" dirty="0" err="1"/>
              <a:t>spontaneous</a:t>
            </a:r>
            <a:r>
              <a:rPr lang="it-IT" sz="2400" b="1" dirty="0"/>
              <a:t> </a:t>
            </a:r>
            <a:r>
              <a:rPr lang="it-IT" sz="2400" b="1" dirty="0" err="1"/>
              <a:t>cortical</a:t>
            </a:r>
            <a:r>
              <a:rPr lang="it-IT" sz="2400" b="1" dirty="0"/>
              <a:t> activity </a:t>
            </a:r>
            <a:r>
              <a:rPr lang="it-IT" sz="2400" dirty="0"/>
              <a:t>by </a:t>
            </a:r>
            <a:r>
              <a:rPr lang="it-IT" sz="2400" dirty="0" err="1"/>
              <a:t>measuring</a:t>
            </a:r>
            <a:r>
              <a:rPr lang="it-IT" sz="2400" dirty="0"/>
              <a:t> the </a:t>
            </a:r>
            <a:r>
              <a:rPr lang="it-IT" sz="2400" dirty="0" err="1"/>
              <a:t>firing</a:t>
            </a:r>
            <a:r>
              <a:rPr lang="it-IT" sz="2400" dirty="0"/>
              <a:t> of large (&gt;10^3) pools of </a:t>
            </a:r>
            <a:r>
              <a:rPr lang="it-IT" sz="2400" dirty="0" err="1"/>
              <a:t>neurons</a:t>
            </a:r>
            <a:r>
              <a:rPr lang="it-IT" sz="2400" dirty="0"/>
              <a:t> – </a:t>
            </a:r>
            <a:r>
              <a:rPr lang="it-IT" sz="2400" b="1" dirty="0" err="1"/>
              <a:t>extracellular</a:t>
            </a:r>
            <a:r>
              <a:rPr lang="it-IT" sz="2400" b="1" dirty="0"/>
              <a:t> </a:t>
            </a:r>
            <a:r>
              <a:rPr lang="it-IT" sz="2400" b="1" dirty="0" err="1"/>
              <a:t>signals</a:t>
            </a:r>
            <a:r>
              <a:rPr lang="it-IT" sz="2400" b="1" dirty="0"/>
              <a:t> show a 1/f^2 </a:t>
            </a:r>
            <a:r>
              <a:rPr lang="it-IT" sz="2400" b="1" dirty="0" err="1"/>
              <a:t>spectrum</a:t>
            </a:r>
            <a:r>
              <a:rPr lang="it-IT" sz="2400" b="1" dirty="0"/>
              <a:t> </a:t>
            </a:r>
            <a:r>
              <a:rPr lang="it-IT" sz="2400" dirty="0"/>
              <a:t>(due to </a:t>
            </a:r>
            <a:r>
              <a:rPr lang="it-IT" sz="2400" dirty="0" err="1"/>
              <a:t>different</a:t>
            </a:r>
            <a:r>
              <a:rPr lang="it-IT" sz="2400" dirty="0"/>
              <a:t> size of </a:t>
            </a:r>
            <a:r>
              <a:rPr lang="it-IT" sz="2400" dirty="0" err="1"/>
              <a:t>neurons</a:t>
            </a:r>
            <a:r>
              <a:rPr lang="it-IT" sz="2400" dirty="0"/>
              <a:t> </a:t>
            </a:r>
            <a:r>
              <a:rPr lang="it-IT" sz="2400" dirty="0" err="1"/>
              <a:t>activated</a:t>
            </a:r>
            <a:r>
              <a:rPr lang="it-IT" sz="2400" dirty="0"/>
              <a:t> in </a:t>
            </a:r>
            <a:r>
              <a:rPr lang="it-IT" sz="2400" dirty="0" err="1"/>
              <a:t>phase</a:t>
            </a:r>
            <a:r>
              <a:rPr lang="it-IT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20693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1143000" y="1288185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5" name="Freeform 4"/>
          <p:cNvSpPr/>
          <p:nvPr/>
        </p:nvSpPr>
        <p:spPr>
          <a:xfrm>
            <a:off x="360916" y="3212468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6" name="Straight Arrow Connector 5"/>
          <p:cNvCxnSpPr>
            <a:stCxn id="5" idx="0"/>
            <a:endCxn id="5" idx="0"/>
          </p:cNvCxnSpPr>
          <p:nvPr/>
        </p:nvCxnSpPr>
        <p:spPr>
          <a:xfrm>
            <a:off x="1515645" y="3212468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7" name="Curved Connector 6"/>
          <p:cNvCxnSpPr>
            <a:stCxn id="5" idx="0"/>
            <a:endCxn id="2" idx="2"/>
          </p:cNvCxnSpPr>
          <p:nvPr/>
        </p:nvCxnSpPr>
        <p:spPr>
          <a:xfrm rot="5400000" flipH="1" flipV="1">
            <a:off x="962966" y="2650865"/>
            <a:ext cx="1114283" cy="892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12" name="Curved Connector 16"/>
          <p:cNvCxnSpPr>
            <a:stCxn id="2" idx="3"/>
          </p:cNvCxnSpPr>
          <p:nvPr/>
        </p:nvCxnSpPr>
        <p:spPr>
          <a:xfrm rot="10800000" flipH="1">
            <a:off x="1142999" y="1288187"/>
            <a:ext cx="273881" cy="404998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sp>
        <p:nvSpPr>
          <p:cNvPr id="25" name="Freeform 24"/>
          <p:cNvSpPr/>
          <p:nvPr/>
        </p:nvSpPr>
        <p:spPr>
          <a:xfrm>
            <a:off x="4419600" y="1107731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26" name="Freeform 25"/>
          <p:cNvSpPr/>
          <p:nvPr/>
        </p:nvSpPr>
        <p:spPr>
          <a:xfrm>
            <a:off x="5473938" y="1255354"/>
            <a:ext cx="1526276" cy="160497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28" name="Freeform 27"/>
          <p:cNvSpPr/>
          <p:nvPr/>
        </p:nvSpPr>
        <p:spPr>
          <a:xfrm>
            <a:off x="5077530" y="3181644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29" name="Straight Arrow Connector 28"/>
          <p:cNvCxnSpPr>
            <a:stCxn id="28" idx="0"/>
            <a:endCxn id="28" idx="0"/>
          </p:cNvCxnSpPr>
          <p:nvPr/>
        </p:nvCxnSpPr>
        <p:spPr>
          <a:xfrm>
            <a:off x="6232259" y="3181644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33" name="Curved Connector 32"/>
          <p:cNvCxnSpPr>
            <a:stCxn id="26" idx="6"/>
            <a:endCxn id="25" idx="9"/>
          </p:cNvCxnSpPr>
          <p:nvPr/>
        </p:nvCxnSpPr>
        <p:spPr>
          <a:xfrm rot="16200000" flipV="1">
            <a:off x="5143211" y="1727115"/>
            <a:ext cx="258611" cy="402844"/>
          </a:xfrm>
          <a:prstGeom prst="curvedConnector3">
            <a:avLst>
              <a:gd name="adj1" fmla="val -3640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34" name="Curved Connector 33"/>
          <p:cNvCxnSpPr>
            <a:stCxn id="25" idx="10"/>
            <a:endCxn id="26" idx="5"/>
          </p:cNvCxnSpPr>
          <p:nvPr/>
        </p:nvCxnSpPr>
        <p:spPr>
          <a:xfrm rot="5400000" flipH="1" flipV="1">
            <a:off x="5428695" y="1244200"/>
            <a:ext cx="22575" cy="514489"/>
          </a:xfrm>
          <a:prstGeom prst="curvedConnector3">
            <a:avLst>
              <a:gd name="adj1" fmla="val 102442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37" name="Curved Connector 36"/>
          <p:cNvCxnSpPr>
            <a:stCxn id="28" idx="0"/>
            <a:endCxn id="26" idx="2"/>
          </p:cNvCxnSpPr>
          <p:nvPr/>
        </p:nvCxnSpPr>
        <p:spPr>
          <a:xfrm rot="5400000" flipH="1" flipV="1">
            <a:off x="6074011" y="3018580"/>
            <a:ext cx="321313" cy="4817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sp>
        <p:nvSpPr>
          <p:cNvPr id="39" name="Freeform 38"/>
          <p:cNvSpPr/>
          <p:nvPr/>
        </p:nvSpPr>
        <p:spPr>
          <a:xfrm>
            <a:off x="2453320" y="4064637"/>
            <a:ext cx="651746" cy="69148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40" name="Freeform 39"/>
          <p:cNvSpPr/>
          <p:nvPr/>
        </p:nvSpPr>
        <p:spPr>
          <a:xfrm>
            <a:off x="3327023" y="4190660"/>
            <a:ext cx="1303493" cy="137014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42" name="Freeform 41"/>
          <p:cNvSpPr/>
          <p:nvPr/>
        </p:nvSpPr>
        <p:spPr>
          <a:xfrm>
            <a:off x="2570579" y="6109401"/>
            <a:ext cx="1972358" cy="49220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43" name="Straight Arrow Connector 42"/>
          <p:cNvCxnSpPr>
            <a:stCxn id="42" idx="0"/>
            <a:endCxn id="42" idx="0"/>
          </p:cNvCxnSpPr>
          <p:nvPr/>
        </p:nvCxnSpPr>
        <p:spPr>
          <a:xfrm rot="5400000" flipH="1" flipV="1">
            <a:off x="3556660" y="6109497"/>
            <a:ext cx="1152" cy="958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44" name="Curved Connector 43"/>
          <p:cNvCxnSpPr>
            <a:stCxn id="42" idx="0"/>
            <a:endCxn id="39" idx="2"/>
          </p:cNvCxnSpPr>
          <p:nvPr/>
        </p:nvCxnSpPr>
        <p:spPr>
          <a:xfrm rot="16200000" flipV="1">
            <a:off x="2491335" y="5043978"/>
            <a:ext cx="1353281" cy="77756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7" name="Curved Connector 46"/>
          <p:cNvCxnSpPr>
            <a:stCxn id="40" idx="6"/>
            <a:endCxn id="39" idx="9"/>
          </p:cNvCxnSpPr>
          <p:nvPr/>
        </p:nvCxnSpPr>
        <p:spPr>
          <a:xfrm rot="16200000" flipV="1">
            <a:off x="3057985" y="4606692"/>
            <a:ext cx="220772" cy="317305"/>
          </a:xfrm>
          <a:prstGeom prst="curvedConnector3">
            <a:avLst>
              <a:gd name="adj1" fmla="val -5677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8" name="Curved Connector 47"/>
          <p:cNvCxnSpPr>
            <a:stCxn id="39" idx="10"/>
            <a:endCxn id="40" idx="5"/>
          </p:cNvCxnSpPr>
          <p:nvPr/>
        </p:nvCxnSpPr>
        <p:spPr>
          <a:xfrm rot="5400000" flipH="1" flipV="1">
            <a:off x="3301756" y="4194416"/>
            <a:ext cx="19272" cy="412653"/>
          </a:xfrm>
          <a:prstGeom prst="curvedConnector3">
            <a:avLst>
              <a:gd name="adj1" fmla="val 67149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49" name="Curved Connector 16"/>
          <p:cNvCxnSpPr>
            <a:stCxn id="39" idx="3"/>
          </p:cNvCxnSpPr>
          <p:nvPr/>
        </p:nvCxnSpPr>
        <p:spPr>
          <a:xfrm rot="10800000" flipH="1">
            <a:off x="2453319" y="4064639"/>
            <a:ext cx="233904" cy="345739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50" name="Curved Connector 17"/>
          <p:cNvCxnSpPr>
            <a:stCxn id="40" idx="9"/>
            <a:endCxn id="40" idx="1"/>
          </p:cNvCxnSpPr>
          <p:nvPr/>
        </p:nvCxnSpPr>
        <p:spPr>
          <a:xfrm rot="5400000" flipH="1" flipV="1">
            <a:off x="4292858" y="5022695"/>
            <a:ext cx="484623" cy="190696"/>
          </a:xfrm>
          <a:prstGeom prst="curvedConnector4">
            <a:avLst>
              <a:gd name="adj1" fmla="val -40520"/>
              <a:gd name="adj2" fmla="val 194764"/>
            </a:avLst>
          </a:prstGeom>
          <a:noFill/>
          <a:ln w="360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51" name="Curved Connector 50"/>
          <p:cNvCxnSpPr>
            <a:stCxn id="42" idx="0"/>
            <a:endCxn id="40" idx="2"/>
          </p:cNvCxnSpPr>
          <p:nvPr/>
        </p:nvCxnSpPr>
        <p:spPr>
          <a:xfrm rot="5400000" flipH="1" flipV="1">
            <a:off x="3493463" y="5624093"/>
            <a:ext cx="548600" cy="422013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pic>
        <p:nvPicPr>
          <p:cNvPr id="6144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0"/>
          <a:stretch/>
        </p:blipFill>
        <p:spPr bwMode="auto">
          <a:xfrm>
            <a:off x="2231682" y="1419180"/>
            <a:ext cx="1873377" cy="1623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758" y="1576125"/>
            <a:ext cx="2042208" cy="1406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" name="TextBox 56"/>
          <p:cNvSpPr txBox="1"/>
          <p:nvPr/>
        </p:nvSpPr>
        <p:spPr>
          <a:xfrm>
            <a:off x="5148846" y="4637469"/>
            <a:ext cx="3472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Oscillations in the 30-150 Hz range – depending on the inhibition/excitation balance</a:t>
            </a:r>
          </a:p>
        </p:txBody>
      </p:sp>
      <p:sp>
        <p:nvSpPr>
          <p:cNvPr id="30" name="Text Box 1"/>
          <p:cNvSpPr txBox="1">
            <a:spLocks noChangeArrowheads="1"/>
          </p:cNvSpPr>
          <p:nvPr/>
        </p:nvSpPr>
        <p:spPr bwMode="auto">
          <a:xfrm>
            <a:off x="428625" y="-27384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Consequences of interactions</a:t>
            </a:r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5756219" y="5842026"/>
            <a:ext cx="2488190" cy="513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Brunel-Wang 2003</a:t>
            </a:r>
          </a:p>
        </p:txBody>
      </p:sp>
      <p:sp>
        <p:nvSpPr>
          <p:cNvPr id="36" name="CasellaDiTesto 35"/>
          <p:cNvSpPr txBox="1"/>
          <p:nvPr/>
        </p:nvSpPr>
        <p:spPr>
          <a:xfrm>
            <a:off x="6052562" y="175260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  <p:sp>
        <p:nvSpPr>
          <p:cNvPr id="38" name="CasellaDiTesto 37"/>
          <p:cNvSpPr txBox="1"/>
          <p:nvPr/>
        </p:nvSpPr>
        <p:spPr>
          <a:xfrm>
            <a:off x="3755406" y="465838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036822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1143000" y="1288185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5" name="Freeform 4"/>
          <p:cNvSpPr/>
          <p:nvPr/>
        </p:nvSpPr>
        <p:spPr>
          <a:xfrm>
            <a:off x="360916" y="3212468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6" name="Straight Arrow Connector 5"/>
          <p:cNvCxnSpPr>
            <a:stCxn id="5" idx="0"/>
            <a:endCxn id="5" idx="0"/>
          </p:cNvCxnSpPr>
          <p:nvPr/>
        </p:nvCxnSpPr>
        <p:spPr>
          <a:xfrm>
            <a:off x="1515645" y="3212468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7" name="Curved Connector 6"/>
          <p:cNvCxnSpPr>
            <a:stCxn id="5" idx="0"/>
            <a:endCxn id="2" idx="2"/>
          </p:cNvCxnSpPr>
          <p:nvPr/>
        </p:nvCxnSpPr>
        <p:spPr>
          <a:xfrm rot="5400000" flipH="1" flipV="1">
            <a:off x="962966" y="2650865"/>
            <a:ext cx="1114283" cy="892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12" name="Curved Connector 16"/>
          <p:cNvCxnSpPr>
            <a:stCxn id="2" idx="3"/>
          </p:cNvCxnSpPr>
          <p:nvPr/>
        </p:nvCxnSpPr>
        <p:spPr>
          <a:xfrm rot="10800000" flipH="1">
            <a:off x="1142999" y="1288187"/>
            <a:ext cx="273881" cy="404998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sp>
        <p:nvSpPr>
          <p:cNvPr id="25" name="Freeform 24"/>
          <p:cNvSpPr/>
          <p:nvPr/>
        </p:nvSpPr>
        <p:spPr>
          <a:xfrm>
            <a:off x="4419600" y="1107731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26" name="Freeform 25"/>
          <p:cNvSpPr/>
          <p:nvPr/>
        </p:nvSpPr>
        <p:spPr>
          <a:xfrm>
            <a:off x="5473938" y="1255354"/>
            <a:ext cx="1526276" cy="160497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28" name="Freeform 27"/>
          <p:cNvSpPr/>
          <p:nvPr/>
        </p:nvSpPr>
        <p:spPr>
          <a:xfrm>
            <a:off x="5077530" y="3181644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29" name="Straight Arrow Connector 28"/>
          <p:cNvCxnSpPr>
            <a:stCxn id="28" idx="0"/>
            <a:endCxn id="28" idx="0"/>
          </p:cNvCxnSpPr>
          <p:nvPr/>
        </p:nvCxnSpPr>
        <p:spPr>
          <a:xfrm>
            <a:off x="6232259" y="3181644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33" name="Curved Connector 32"/>
          <p:cNvCxnSpPr>
            <a:stCxn id="26" idx="6"/>
            <a:endCxn id="25" idx="9"/>
          </p:cNvCxnSpPr>
          <p:nvPr/>
        </p:nvCxnSpPr>
        <p:spPr>
          <a:xfrm rot="16200000" flipV="1">
            <a:off x="5143211" y="1727115"/>
            <a:ext cx="258611" cy="402844"/>
          </a:xfrm>
          <a:prstGeom prst="curvedConnector3">
            <a:avLst>
              <a:gd name="adj1" fmla="val -3640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34" name="Curved Connector 33"/>
          <p:cNvCxnSpPr>
            <a:stCxn id="25" idx="10"/>
            <a:endCxn id="26" idx="5"/>
          </p:cNvCxnSpPr>
          <p:nvPr/>
        </p:nvCxnSpPr>
        <p:spPr>
          <a:xfrm rot="5400000" flipH="1" flipV="1">
            <a:off x="5428695" y="1244200"/>
            <a:ext cx="22575" cy="514489"/>
          </a:xfrm>
          <a:prstGeom prst="curvedConnector3">
            <a:avLst>
              <a:gd name="adj1" fmla="val 102442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37" name="Curved Connector 36"/>
          <p:cNvCxnSpPr>
            <a:stCxn id="28" idx="0"/>
            <a:endCxn id="26" idx="2"/>
          </p:cNvCxnSpPr>
          <p:nvPr/>
        </p:nvCxnSpPr>
        <p:spPr>
          <a:xfrm rot="5400000" flipH="1" flipV="1">
            <a:off x="6074011" y="3018580"/>
            <a:ext cx="321313" cy="4817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sp>
        <p:nvSpPr>
          <p:cNvPr id="39" name="Freeform 38"/>
          <p:cNvSpPr/>
          <p:nvPr/>
        </p:nvSpPr>
        <p:spPr>
          <a:xfrm>
            <a:off x="2453320" y="4064637"/>
            <a:ext cx="651746" cy="69148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40" name="Freeform 39"/>
          <p:cNvSpPr/>
          <p:nvPr/>
        </p:nvSpPr>
        <p:spPr>
          <a:xfrm>
            <a:off x="3327023" y="4190660"/>
            <a:ext cx="1303493" cy="137014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42" name="Freeform 41"/>
          <p:cNvSpPr/>
          <p:nvPr/>
        </p:nvSpPr>
        <p:spPr>
          <a:xfrm>
            <a:off x="2570579" y="6109401"/>
            <a:ext cx="1972358" cy="49220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43" name="Straight Arrow Connector 42"/>
          <p:cNvCxnSpPr>
            <a:stCxn id="42" idx="0"/>
            <a:endCxn id="42" idx="0"/>
          </p:cNvCxnSpPr>
          <p:nvPr/>
        </p:nvCxnSpPr>
        <p:spPr>
          <a:xfrm rot="5400000" flipH="1" flipV="1">
            <a:off x="3556660" y="6109497"/>
            <a:ext cx="1152" cy="958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44" name="Curved Connector 43"/>
          <p:cNvCxnSpPr>
            <a:stCxn id="42" idx="0"/>
            <a:endCxn id="39" idx="2"/>
          </p:cNvCxnSpPr>
          <p:nvPr/>
        </p:nvCxnSpPr>
        <p:spPr>
          <a:xfrm rot="16200000" flipV="1">
            <a:off x="2491335" y="5043978"/>
            <a:ext cx="1353281" cy="77756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7" name="Curved Connector 46"/>
          <p:cNvCxnSpPr>
            <a:stCxn id="40" idx="6"/>
            <a:endCxn id="39" idx="9"/>
          </p:cNvCxnSpPr>
          <p:nvPr/>
        </p:nvCxnSpPr>
        <p:spPr>
          <a:xfrm rot="16200000" flipV="1">
            <a:off x="3057985" y="4606692"/>
            <a:ext cx="220772" cy="317305"/>
          </a:xfrm>
          <a:prstGeom prst="curvedConnector3">
            <a:avLst>
              <a:gd name="adj1" fmla="val -5677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8" name="Curved Connector 47"/>
          <p:cNvCxnSpPr>
            <a:stCxn id="39" idx="10"/>
            <a:endCxn id="40" idx="5"/>
          </p:cNvCxnSpPr>
          <p:nvPr/>
        </p:nvCxnSpPr>
        <p:spPr>
          <a:xfrm rot="5400000" flipH="1" flipV="1">
            <a:off x="3301756" y="4194416"/>
            <a:ext cx="19272" cy="412653"/>
          </a:xfrm>
          <a:prstGeom prst="curvedConnector3">
            <a:avLst>
              <a:gd name="adj1" fmla="val 67149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49" name="Curved Connector 16"/>
          <p:cNvCxnSpPr>
            <a:stCxn id="39" idx="3"/>
          </p:cNvCxnSpPr>
          <p:nvPr/>
        </p:nvCxnSpPr>
        <p:spPr>
          <a:xfrm rot="10800000" flipH="1">
            <a:off x="2453319" y="4064639"/>
            <a:ext cx="233904" cy="345739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50" name="Curved Connector 17"/>
          <p:cNvCxnSpPr>
            <a:stCxn id="40" idx="9"/>
            <a:endCxn id="40" idx="1"/>
          </p:cNvCxnSpPr>
          <p:nvPr/>
        </p:nvCxnSpPr>
        <p:spPr>
          <a:xfrm rot="5400000" flipH="1" flipV="1">
            <a:off x="4292858" y="5022695"/>
            <a:ext cx="484623" cy="190696"/>
          </a:xfrm>
          <a:prstGeom prst="curvedConnector4">
            <a:avLst>
              <a:gd name="adj1" fmla="val -40520"/>
              <a:gd name="adj2" fmla="val 194764"/>
            </a:avLst>
          </a:prstGeom>
          <a:noFill/>
          <a:ln w="360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51" name="Curved Connector 50"/>
          <p:cNvCxnSpPr>
            <a:stCxn id="42" idx="0"/>
            <a:endCxn id="40" idx="2"/>
          </p:cNvCxnSpPr>
          <p:nvPr/>
        </p:nvCxnSpPr>
        <p:spPr>
          <a:xfrm rot="5400000" flipH="1" flipV="1">
            <a:off x="3493463" y="5624093"/>
            <a:ext cx="548600" cy="422013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pic>
        <p:nvPicPr>
          <p:cNvPr id="6144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0"/>
          <a:stretch/>
        </p:blipFill>
        <p:spPr bwMode="auto">
          <a:xfrm>
            <a:off x="2231682" y="1419180"/>
            <a:ext cx="1873377" cy="1623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758" y="1576125"/>
            <a:ext cx="2042208" cy="1406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" name="TextBox 56"/>
          <p:cNvSpPr txBox="1"/>
          <p:nvPr/>
        </p:nvSpPr>
        <p:spPr>
          <a:xfrm>
            <a:off x="5148846" y="4637469"/>
            <a:ext cx="3472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Oscillations in the 30-150 Hz range – depending on the inhibition/excitation balance</a:t>
            </a:r>
          </a:p>
        </p:txBody>
      </p:sp>
      <p:sp>
        <p:nvSpPr>
          <p:cNvPr id="30" name="Text Box 1"/>
          <p:cNvSpPr txBox="1">
            <a:spLocks noChangeArrowheads="1"/>
          </p:cNvSpPr>
          <p:nvPr/>
        </p:nvSpPr>
        <p:spPr bwMode="auto">
          <a:xfrm>
            <a:off x="428625" y="-27384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Consequences of interactions</a:t>
            </a:r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5756219" y="5842026"/>
            <a:ext cx="2488190" cy="513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Brunel-Wang 2003</a:t>
            </a:r>
          </a:p>
        </p:txBody>
      </p:sp>
      <p:sp>
        <p:nvSpPr>
          <p:cNvPr id="36" name="CasellaDiTesto 35"/>
          <p:cNvSpPr txBox="1"/>
          <p:nvPr/>
        </p:nvSpPr>
        <p:spPr>
          <a:xfrm>
            <a:off x="6052562" y="175260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  <p:sp>
        <p:nvSpPr>
          <p:cNvPr id="38" name="CasellaDiTesto 37"/>
          <p:cNvSpPr txBox="1"/>
          <p:nvPr/>
        </p:nvSpPr>
        <p:spPr>
          <a:xfrm>
            <a:off x="3755406" y="465838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9BF4F501-E07B-491C-8BD6-5F96D1B4464F}"/>
              </a:ext>
            </a:extLst>
          </p:cNvPr>
          <p:cNvSpPr/>
          <p:nvPr/>
        </p:nvSpPr>
        <p:spPr>
          <a:xfrm>
            <a:off x="4860249" y="908720"/>
            <a:ext cx="4140875" cy="5832647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Purely</a:t>
            </a:r>
            <a:r>
              <a:rPr lang="it-IT" sz="2400" b="1" dirty="0"/>
              <a:t> </a:t>
            </a:r>
            <a:r>
              <a:rPr lang="it-IT" sz="2400" b="1" dirty="0" err="1"/>
              <a:t>inhibitory</a:t>
            </a:r>
            <a:r>
              <a:rPr lang="it-IT" sz="2400" b="1" dirty="0"/>
              <a:t> network</a:t>
            </a:r>
            <a:r>
              <a:rPr lang="it-IT" sz="2400" dirty="0"/>
              <a:t>: </a:t>
            </a:r>
          </a:p>
          <a:p>
            <a:pPr algn="ctr"/>
            <a:r>
              <a:rPr lang="it-IT" sz="2400" dirty="0"/>
              <a:t>1- </a:t>
            </a:r>
            <a:r>
              <a:rPr lang="it-IT" sz="2400" dirty="0" err="1"/>
              <a:t>neurons</a:t>
            </a:r>
            <a:r>
              <a:rPr lang="it-IT" sz="2400" dirty="0"/>
              <a:t> are </a:t>
            </a:r>
            <a:r>
              <a:rPr lang="it-IT" sz="2400" dirty="0" err="1"/>
              <a:t>silent</a:t>
            </a:r>
            <a:endParaRPr lang="it-IT" sz="2400" dirty="0"/>
          </a:p>
          <a:p>
            <a:pPr algn="ctr"/>
            <a:r>
              <a:rPr lang="it-IT" sz="2400" dirty="0"/>
              <a:t>2- </a:t>
            </a:r>
            <a:r>
              <a:rPr lang="it-IT" sz="2400" dirty="0" err="1"/>
              <a:t>external</a:t>
            </a:r>
            <a:r>
              <a:rPr lang="it-IT" sz="2400" dirty="0"/>
              <a:t> input </a:t>
            </a:r>
            <a:r>
              <a:rPr lang="it-IT" sz="2400" dirty="0" err="1"/>
              <a:t>activates</a:t>
            </a:r>
            <a:r>
              <a:rPr lang="it-IT" sz="2400" dirty="0"/>
              <a:t> </a:t>
            </a:r>
            <a:r>
              <a:rPr lang="it-IT" sz="2400" dirty="0" err="1"/>
              <a:t>neuron</a:t>
            </a:r>
            <a:endParaRPr lang="it-IT" sz="2400" dirty="0"/>
          </a:p>
          <a:p>
            <a:pPr algn="ctr"/>
            <a:r>
              <a:rPr lang="it-IT" sz="2400" dirty="0"/>
              <a:t>3 – </a:t>
            </a:r>
            <a:r>
              <a:rPr lang="it-IT" sz="2400" dirty="0" err="1"/>
              <a:t>neurons</a:t>
            </a:r>
            <a:r>
              <a:rPr lang="it-IT" sz="2400" dirty="0"/>
              <a:t> self-</a:t>
            </a:r>
            <a:r>
              <a:rPr lang="it-IT" sz="2400" dirty="0" err="1"/>
              <a:t>inhibit</a:t>
            </a:r>
            <a:endParaRPr lang="it-IT" sz="2400" dirty="0"/>
          </a:p>
          <a:p>
            <a:pPr algn="ctr"/>
            <a:r>
              <a:rPr lang="it-IT" sz="2400" dirty="0"/>
              <a:t>4- </a:t>
            </a:r>
            <a:r>
              <a:rPr lang="it-IT" sz="2400" dirty="0" err="1"/>
              <a:t>neurons</a:t>
            </a:r>
            <a:r>
              <a:rPr lang="it-IT" sz="2400" dirty="0"/>
              <a:t> are </a:t>
            </a:r>
            <a:r>
              <a:rPr lang="it-IT" sz="2400" dirty="0" err="1"/>
              <a:t>silent</a:t>
            </a:r>
            <a:r>
              <a:rPr lang="it-IT" sz="2400" dirty="0"/>
              <a:t>-&gt; back to step 1</a:t>
            </a:r>
          </a:p>
          <a:p>
            <a:pPr algn="ctr"/>
            <a:endParaRPr lang="it-IT" sz="2400" dirty="0"/>
          </a:p>
          <a:p>
            <a:pPr algn="ctr"/>
            <a:r>
              <a:rPr lang="it-IT" sz="2400" dirty="0" err="1"/>
              <a:t>Oscillation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fast</a:t>
            </a:r>
          </a:p>
        </p:txBody>
      </p:sp>
    </p:spTree>
    <p:extLst>
      <p:ext uri="{BB962C8B-B14F-4D97-AF65-F5344CB8AC3E}">
        <p14:creationId xmlns:p14="http://schemas.microsoft.com/office/powerpoint/2010/main" val="3605770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1143000" y="1288185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5" name="Freeform 4"/>
          <p:cNvSpPr/>
          <p:nvPr/>
        </p:nvSpPr>
        <p:spPr>
          <a:xfrm>
            <a:off x="360916" y="3212468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6" name="Straight Arrow Connector 5"/>
          <p:cNvCxnSpPr>
            <a:stCxn id="5" idx="0"/>
            <a:endCxn id="5" idx="0"/>
          </p:cNvCxnSpPr>
          <p:nvPr/>
        </p:nvCxnSpPr>
        <p:spPr>
          <a:xfrm>
            <a:off x="1515645" y="3212468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7" name="Curved Connector 6"/>
          <p:cNvCxnSpPr>
            <a:stCxn id="5" idx="0"/>
            <a:endCxn id="2" idx="2"/>
          </p:cNvCxnSpPr>
          <p:nvPr/>
        </p:nvCxnSpPr>
        <p:spPr>
          <a:xfrm rot="5400000" flipH="1" flipV="1">
            <a:off x="962966" y="2650865"/>
            <a:ext cx="1114283" cy="892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12" name="Curved Connector 16"/>
          <p:cNvCxnSpPr>
            <a:stCxn id="2" idx="3"/>
          </p:cNvCxnSpPr>
          <p:nvPr/>
        </p:nvCxnSpPr>
        <p:spPr>
          <a:xfrm rot="10800000" flipH="1">
            <a:off x="1142999" y="1288187"/>
            <a:ext cx="273881" cy="404998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sp>
        <p:nvSpPr>
          <p:cNvPr id="25" name="Freeform 24"/>
          <p:cNvSpPr/>
          <p:nvPr/>
        </p:nvSpPr>
        <p:spPr>
          <a:xfrm>
            <a:off x="4419600" y="1107731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26" name="Freeform 25"/>
          <p:cNvSpPr/>
          <p:nvPr/>
        </p:nvSpPr>
        <p:spPr>
          <a:xfrm>
            <a:off x="5473938" y="1255354"/>
            <a:ext cx="1526276" cy="160497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28" name="Freeform 27"/>
          <p:cNvSpPr/>
          <p:nvPr/>
        </p:nvSpPr>
        <p:spPr>
          <a:xfrm>
            <a:off x="5077530" y="3181644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29" name="Straight Arrow Connector 28"/>
          <p:cNvCxnSpPr>
            <a:stCxn id="28" idx="0"/>
            <a:endCxn id="28" idx="0"/>
          </p:cNvCxnSpPr>
          <p:nvPr/>
        </p:nvCxnSpPr>
        <p:spPr>
          <a:xfrm>
            <a:off x="6232259" y="3181644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33" name="Curved Connector 32"/>
          <p:cNvCxnSpPr>
            <a:stCxn id="26" idx="6"/>
            <a:endCxn id="25" idx="9"/>
          </p:cNvCxnSpPr>
          <p:nvPr/>
        </p:nvCxnSpPr>
        <p:spPr>
          <a:xfrm rot="16200000" flipV="1">
            <a:off x="5143211" y="1727115"/>
            <a:ext cx="258611" cy="402844"/>
          </a:xfrm>
          <a:prstGeom prst="curvedConnector3">
            <a:avLst>
              <a:gd name="adj1" fmla="val -3640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34" name="Curved Connector 33"/>
          <p:cNvCxnSpPr>
            <a:stCxn id="25" idx="10"/>
            <a:endCxn id="26" idx="5"/>
          </p:cNvCxnSpPr>
          <p:nvPr/>
        </p:nvCxnSpPr>
        <p:spPr>
          <a:xfrm rot="5400000" flipH="1" flipV="1">
            <a:off x="5428695" y="1244200"/>
            <a:ext cx="22575" cy="514489"/>
          </a:xfrm>
          <a:prstGeom prst="curvedConnector3">
            <a:avLst>
              <a:gd name="adj1" fmla="val 102442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37" name="Curved Connector 36"/>
          <p:cNvCxnSpPr>
            <a:stCxn id="28" idx="0"/>
            <a:endCxn id="26" idx="2"/>
          </p:cNvCxnSpPr>
          <p:nvPr/>
        </p:nvCxnSpPr>
        <p:spPr>
          <a:xfrm rot="5400000" flipH="1" flipV="1">
            <a:off x="6074011" y="3018580"/>
            <a:ext cx="321313" cy="4817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sp>
        <p:nvSpPr>
          <p:cNvPr id="39" name="Freeform 38"/>
          <p:cNvSpPr/>
          <p:nvPr/>
        </p:nvSpPr>
        <p:spPr>
          <a:xfrm>
            <a:off x="2453320" y="4064637"/>
            <a:ext cx="651746" cy="69148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40" name="Freeform 39"/>
          <p:cNvSpPr/>
          <p:nvPr/>
        </p:nvSpPr>
        <p:spPr>
          <a:xfrm>
            <a:off x="3327023" y="4190660"/>
            <a:ext cx="1303493" cy="137014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42" name="Freeform 41"/>
          <p:cNvSpPr/>
          <p:nvPr/>
        </p:nvSpPr>
        <p:spPr>
          <a:xfrm>
            <a:off x="2570579" y="6109401"/>
            <a:ext cx="1972358" cy="49220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43" name="Straight Arrow Connector 42"/>
          <p:cNvCxnSpPr>
            <a:stCxn id="42" idx="0"/>
            <a:endCxn id="42" idx="0"/>
          </p:cNvCxnSpPr>
          <p:nvPr/>
        </p:nvCxnSpPr>
        <p:spPr>
          <a:xfrm rot="5400000" flipH="1" flipV="1">
            <a:off x="3556660" y="6109497"/>
            <a:ext cx="1152" cy="958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44" name="Curved Connector 43"/>
          <p:cNvCxnSpPr>
            <a:stCxn id="42" idx="0"/>
            <a:endCxn id="39" idx="2"/>
          </p:cNvCxnSpPr>
          <p:nvPr/>
        </p:nvCxnSpPr>
        <p:spPr>
          <a:xfrm rot="16200000" flipV="1">
            <a:off x="2491335" y="5043978"/>
            <a:ext cx="1353281" cy="77756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7" name="Curved Connector 46"/>
          <p:cNvCxnSpPr>
            <a:stCxn id="40" idx="6"/>
            <a:endCxn id="39" idx="9"/>
          </p:cNvCxnSpPr>
          <p:nvPr/>
        </p:nvCxnSpPr>
        <p:spPr>
          <a:xfrm rot="16200000" flipV="1">
            <a:off x="3057985" y="4606692"/>
            <a:ext cx="220772" cy="317305"/>
          </a:xfrm>
          <a:prstGeom prst="curvedConnector3">
            <a:avLst>
              <a:gd name="adj1" fmla="val -5677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8" name="Curved Connector 47"/>
          <p:cNvCxnSpPr>
            <a:stCxn id="39" idx="10"/>
            <a:endCxn id="40" idx="5"/>
          </p:cNvCxnSpPr>
          <p:nvPr/>
        </p:nvCxnSpPr>
        <p:spPr>
          <a:xfrm rot="5400000" flipH="1" flipV="1">
            <a:off x="3301756" y="4194416"/>
            <a:ext cx="19272" cy="412653"/>
          </a:xfrm>
          <a:prstGeom prst="curvedConnector3">
            <a:avLst>
              <a:gd name="adj1" fmla="val 67149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49" name="Curved Connector 16"/>
          <p:cNvCxnSpPr>
            <a:stCxn id="39" idx="3"/>
          </p:cNvCxnSpPr>
          <p:nvPr/>
        </p:nvCxnSpPr>
        <p:spPr>
          <a:xfrm rot="10800000" flipH="1">
            <a:off x="2453319" y="4064639"/>
            <a:ext cx="233904" cy="345739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50" name="Curved Connector 17"/>
          <p:cNvCxnSpPr>
            <a:stCxn id="40" idx="9"/>
            <a:endCxn id="40" idx="1"/>
          </p:cNvCxnSpPr>
          <p:nvPr/>
        </p:nvCxnSpPr>
        <p:spPr>
          <a:xfrm rot="5400000" flipH="1" flipV="1">
            <a:off x="4292858" y="5022695"/>
            <a:ext cx="484623" cy="190696"/>
          </a:xfrm>
          <a:prstGeom prst="curvedConnector4">
            <a:avLst>
              <a:gd name="adj1" fmla="val -40520"/>
              <a:gd name="adj2" fmla="val 194764"/>
            </a:avLst>
          </a:prstGeom>
          <a:noFill/>
          <a:ln w="360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51" name="Curved Connector 50"/>
          <p:cNvCxnSpPr>
            <a:stCxn id="42" idx="0"/>
            <a:endCxn id="40" idx="2"/>
          </p:cNvCxnSpPr>
          <p:nvPr/>
        </p:nvCxnSpPr>
        <p:spPr>
          <a:xfrm rot="5400000" flipH="1" flipV="1">
            <a:off x="3493463" y="5624093"/>
            <a:ext cx="548600" cy="422013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pic>
        <p:nvPicPr>
          <p:cNvPr id="6144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0"/>
          <a:stretch/>
        </p:blipFill>
        <p:spPr bwMode="auto">
          <a:xfrm>
            <a:off x="2231682" y="1419180"/>
            <a:ext cx="1873377" cy="1623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758" y="1576125"/>
            <a:ext cx="2042208" cy="1406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" name="TextBox 56"/>
          <p:cNvSpPr txBox="1"/>
          <p:nvPr/>
        </p:nvSpPr>
        <p:spPr>
          <a:xfrm>
            <a:off x="5148846" y="4637469"/>
            <a:ext cx="3472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Oscillations in the 30-150 Hz range – depending on the inhibition/excitation balance</a:t>
            </a:r>
          </a:p>
        </p:txBody>
      </p:sp>
      <p:sp>
        <p:nvSpPr>
          <p:cNvPr id="30" name="Text Box 1"/>
          <p:cNvSpPr txBox="1">
            <a:spLocks noChangeArrowheads="1"/>
          </p:cNvSpPr>
          <p:nvPr/>
        </p:nvSpPr>
        <p:spPr bwMode="auto">
          <a:xfrm>
            <a:off x="428625" y="-27384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Consequences of interactions</a:t>
            </a:r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5756219" y="5842026"/>
            <a:ext cx="2488190" cy="513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Brunel-Wang 2003</a:t>
            </a:r>
          </a:p>
        </p:txBody>
      </p:sp>
      <p:sp>
        <p:nvSpPr>
          <p:cNvPr id="36" name="CasellaDiTesto 35"/>
          <p:cNvSpPr txBox="1"/>
          <p:nvPr/>
        </p:nvSpPr>
        <p:spPr>
          <a:xfrm>
            <a:off x="6052562" y="175260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  <p:sp>
        <p:nvSpPr>
          <p:cNvPr id="38" name="CasellaDiTesto 37"/>
          <p:cNvSpPr txBox="1"/>
          <p:nvPr/>
        </p:nvSpPr>
        <p:spPr>
          <a:xfrm>
            <a:off x="3755406" y="465838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9CA5C5FB-515F-41E6-BC21-3B73F3747D12}"/>
              </a:ext>
            </a:extLst>
          </p:cNvPr>
          <p:cNvSpPr/>
          <p:nvPr/>
        </p:nvSpPr>
        <p:spPr>
          <a:xfrm>
            <a:off x="360916" y="188640"/>
            <a:ext cx="3638018" cy="641297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000" b="1" dirty="0" err="1"/>
              <a:t>Excitatory-inhibitory</a:t>
            </a:r>
            <a:r>
              <a:rPr lang="it-IT" sz="2000" b="1" dirty="0"/>
              <a:t> network</a:t>
            </a:r>
            <a:r>
              <a:rPr lang="it-IT" sz="2000" dirty="0"/>
              <a:t>: </a:t>
            </a:r>
          </a:p>
          <a:p>
            <a:pPr algn="ctr"/>
            <a:r>
              <a:rPr lang="it-IT" sz="2000" dirty="0"/>
              <a:t>1- E and I </a:t>
            </a:r>
            <a:r>
              <a:rPr lang="it-IT" sz="2000" dirty="0" err="1"/>
              <a:t>neurons</a:t>
            </a:r>
            <a:r>
              <a:rPr lang="it-IT" sz="2000" dirty="0"/>
              <a:t> </a:t>
            </a:r>
          </a:p>
          <a:p>
            <a:pPr algn="ctr"/>
            <a:r>
              <a:rPr lang="it-IT" sz="2000" dirty="0"/>
              <a:t>are </a:t>
            </a:r>
            <a:r>
              <a:rPr lang="it-IT" sz="2000" dirty="0" err="1"/>
              <a:t>silent</a:t>
            </a:r>
            <a:endParaRPr lang="it-IT" sz="2000" dirty="0"/>
          </a:p>
          <a:p>
            <a:pPr algn="ctr"/>
            <a:r>
              <a:rPr lang="it-IT" sz="2000" dirty="0"/>
              <a:t>2- </a:t>
            </a:r>
            <a:r>
              <a:rPr lang="it-IT" sz="2000" dirty="0" err="1"/>
              <a:t>external</a:t>
            </a:r>
            <a:r>
              <a:rPr lang="it-IT" sz="2000" dirty="0"/>
              <a:t> input </a:t>
            </a:r>
            <a:r>
              <a:rPr lang="it-IT" sz="2000" dirty="0" err="1"/>
              <a:t>activates</a:t>
            </a:r>
            <a:r>
              <a:rPr lang="it-IT" sz="2000" dirty="0"/>
              <a:t> E </a:t>
            </a:r>
            <a:r>
              <a:rPr lang="it-IT" sz="2000" dirty="0" err="1"/>
              <a:t>neurons</a:t>
            </a:r>
            <a:endParaRPr lang="it-IT" sz="2000" dirty="0"/>
          </a:p>
          <a:p>
            <a:pPr algn="ctr"/>
            <a:r>
              <a:rPr lang="it-IT" sz="2000" dirty="0"/>
              <a:t>3 – E </a:t>
            </a:r>
            <a:r>
              <a:rPr lang="it-IT" sz="2000" dirty="0" err="1"/>
              <a:t>neurons</a:t>
            </a:r>
            <a:r>
              <a:rPr lang="it-IT" sz="2000" dirty="0"/>
              <a:t> trigger I </a:t>
            </a:r>
            <a:r>
              <a:rPr lang="it-IT" sz="2000" dirty="0" err="1"/>
              <a:t>neurons</a:t>
            </a:r>
            <a:r>
              <a:rPr lang="it-IT" sz="2000" dirty="0"/>
              <a:t> </a:t>
            </a:r>
            <a:r>
              <a:rPr lang="it-IT" sz="2000" dirty="0" err="1"/>
              <a:t>activation</a:t>
            </a:r>
            <a:r>
              <a:rPr lang="it-IT" sz="2000" dirty="0"/>
              <a:t>: </a:t>
            </a:r>
            <a:r>
              <a:rPr lang="it-IT" sz="2000" dirty="0" err="1"/>
              <a:t>both</a:t>
            </a:r>
            <a:r>
              <a:rPr lang="it-IT" sz="2000" dirty="0"/>
              <a:t> sets are </a:t>
            </a:r>
            <a:r>
              <a:rPr lang="it-IT" sz="2000" dirty="0" err="1"/>
              <a:t>active</a:t>
            </a:r>
            <a:endParaRPr lang="it-IT" sz="2000" dirty="0"/>
          </a:p>
          <a:p>
            <a:pPr algn="ctr"/>
            <a:r>
              <a:rPr lang="it-IT" sz="2000" dirty="0"/>
              <a:t>4- I </a:t>
            </a:r>
            <a:r>
              <a:rPr lang="it-IT" sz="2000" dirty="0" err="1"/>
              <a:t>neurons</a:t>
            </a:r>
            <a:r>
              <a:rPr lang="it-IT" sz="2000" dirty="0"/>
              <a:t> </a:t>
            </a:r>
            <a:r>
              <a:rPr lang="it-IT" sz="2000" dirty="0" err="1"/>
              <a:t>inhibit</a:t>
            </a:r>
            <a:r>
              <a:rPr lang="it-IT" sz="2000" dirty="0"/>
              <a:t> E </a:t>
            </a:r>
            <a:r>
              <a:rPr lang="it-IT" sz="2000" dirty="0" err="1"/>
              <a:t>neurons</a:t>
            </a:r>
            <a:r>
              <a:rPr lang="it-IT" sz="2000" dirty="0"/>
              <a:t>: </a:t>
            </a:r>
            <a:r>
              <a:rPr lang="it-IT" sz="2000" dirty="0" err="1"/>
              <a:t>only</a:t>
            </a:r>
            <a:r>
              <a:rPr lang="it-IT" sz="2000" dirty="0"/>
              <a:t> I </a:t>
            </a:r>
            <a:r>
              <a:rPr lang="it-IT" sz="2000" dirty="0" err="1"/>
              <a:t>neurons</a:t>
            </a:r>
            <a:r>
              <a:rPr lang="it-IT" sz="2000" dirty="0"/>
              <a:t> are </a:t>
            </a:r>
            <a:r>
              <a:rPr lang="it-IT" sz="2000" dirty="0" err="1"/>
              <a:t>active</a:t>
            </a:r>
            <a:endParaRPr lang="it-IT" sz="2000" dirty="0"/>
          </a:p>
          <a:p>
            <a:pPr algn="ctr"/>
            <a:r>
              <a:rPr lang="it-IT" sz="2000" dirty="0"/>
              <a:t>5- I </a:t>
            </a:r>
            <a:r>
              <a:rPr lang="it-IT" sz="2000" dirty="0" err="1"/>
              <a:t>neurons</a:t>
            </a:r>
            <a:r>
              <a:rPr lang="it-IT" sz="2000" dirty="0"/>
              <a:t> do </a:t>
            </a:r>
            <a:r>
              <a:rPr lang="it-IT" sz="2000" dirty="0" err="1"/>
              <a:t>not</a:t>
            </a:r>
            <a:r>
              <a:rPr lang="it-IT" sz="2000" dirty="0"/>
              <a:t> </a:t>
            </a:r>
            <a:r>
              <a:rPr lang="it-IT" sz="2000" dirty="0" err="1"/>
              <a:t>receive</a:t>
            </a:r>
            <a:r>
              <a:rPr lang="it-IT" sz="2000" dirty="0"/>
              <a:t> </a:t>
            </a:r>
            <a:r>
              <a:rPr lang="it-IT" sz="2000" dirty="0" err="1"/>
              <a:t>excitatory</a:t>
            </a:r>
            <a:r>
              <a:rPr lang="it-IT" sz="2000" dirty="0"/>
              <a:t> inputs </a:t>
            </a:r>
            <a:r>
              <a:rPr lang="it-IT" sz="2000" dirty="0" err="1"/>
              <a:t>anymore</a:t>
            </a:r>
            <a:r>
              <a:rPr lang="it-IT" sz="2000" dirty="0"/>
              <a:t>. </a:t>
            </a:r>
          </a:p>
          <a:p>
            <a:pPr algn="ctr"/>
            <a:r>
              <a:rPr lang="it-IT" sz="2000" dirty="0"/>
              <a:t>6 - E and I </a:t>
            </a:r>
            <a:r>
              <a:rPr lang="it-IT" sz="2000" dirty="0" err="1"/>
              <a:t>neurons</a:t>
            </a:r>
            <a:r>
              <a:rPr lang="it-IT" sz="2000" dirty="0"/>
              <a:t> </a:t>
            </a:r>
          </a:p>
          <a:p>
            <a:pPr algn="ctr"/>
            <a:r>
              <a:rPr lang="it-IT" sz="2000" dirty="0"/>
              <a:t>are </a:t>
            </a:r>
            <a:r>
              <a:rPr lang="it-IT" sz="2000" dirty="0" err="1"/>
              <a:t>silent</a:t>
            </a:r>
            <a:endParaRPr lang="it-IT" sz="2000" dirty="0"/>
          </a:p>
          <a:p>
            <a:pPr algn="ctr"/>
            <a:r>
              <a:rPr lang="it-IT" sz="2000" dirty="0"/>
              <a:t>-&gt; back to step 1</a:t>
            </a:r>
          </a:p>
          <a:p>
            <a:pPr algn="ctr"/>
            <a:endParaRPr lang="it-IT" sz="2000" dirty="0"/>
          </a:p>
          <a:p>
            <a:pPr algn="ctr"/>
            <a:r>
              <a:rPr lang="it-IT" sz="2000" dirty="0" err="1"/>
              <a:t>Oscillations</a:t>
            </a:r>
            <a:r>
              <a:rPr lang="it-IT" sz="2000" dirty="0"/>
              <a:t> are slow</a:t>
            </a:r>
          </a:p>
        </p:txBody>
      </p:sp>
    </p:spTree>
    <p:extLst>
      <p:ext uri="{BB962C8B-B14F-4D97-AF65-F5344CB8AC3E}">
        <p14:creationId xmlns:p14="http://schemas.microsoft.com/office/powerpoint/2010/main" val="1674778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1143000" y="1288185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5" name="Freeform 4"/>
          <p:cNvSpPr/>
          <p:nvPr/>
        </p:nvSpPr>
        <p:spPr>
          <a:xfrm>
            <a:off x="360916" y="3212468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6" name="Straight Arrow Connector 5"/>
          <p:cNvCxnSpPr>
            <a:stCxn id="5" idx="0"/>
            <a:endCxn id="5" idx="0"/>
          </p:cNvCxnSpPr>
          <p:nvPr/>
        </p:nvCxnSpPr>
        <p:spPr>
          <a:xfrm>
            <a:off x="1515645" y="3212468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7" name="Curved Connector 6"/>
          <p:cNvCxnSpPr>
            <a:stCxn id="5" idx="0"/>
            <a:endCxn id="2" idx="2"/>
          </p:cNvCxnSpPr>
          <p:nvPr/>
        </p:nvCxnSpPr>
        <p:spPr>
          <a:xfrm rot="5400000" flipH="1" flipV="1">
            <a:off x="962966" y="2650865"/>
            <a:ext cx="1114283" cy="892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12" name="Curved Connector 16"/>
          <p:cNvCxnSpPr>
            <a:stCxn id="2" idx="3"/>
          </p:cNvCxnSpPr>
          <p:nvPr/>
        </p:nvCxnSpPr>
        <p:spPr>
          <a:xfrm rot="10800000" flipH="1">
            <a:off x="1142999" y="1288187"/>
            <a:ext cx="273881" cy="404998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sp>
        <p:nvSpPr>
          <p:cNvPr id="25" name="Freeform 24"/>
          <p:cNvSpPr/>
          <p:nvPr/>
        </p:nvSpPr>
        <p:spPr>
          <a:xfrm>
            <a:off x="4419600" y="1107731"/>
            <a:ext cx="763138" cy="81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26" name="Freeform 25"/>
          <p:cNvSpPr/>
          <p:nvPr/>
        </p:nvSpPr>
        <p:spPr>
          <a:xfrm>
            <a:off x="5473938" y="1255354"/>
            <a:ext cx="1526276" cy="1604977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28" name="Freeform 27"/>
          <p:cNvSpPr/>
          <p:nvPr/>
        </p:nvSpPr>
        <p:spPr>
          <a:xfrm>
            <a:off x="5077530" y="3181644"/>
            <a:ext cx="2309458" cy="576572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29" name="Straight Arrow Connector 28"/>
          <p:cNvCxnSpPr>
            <a:stCxn id="28" idx="0"/>
            <a:endCxn id="28" idx="0"/>
          </p:cNvCxnSpPr>
          <p:nvPr/>
        </p:nvCxnSpPr>
        <p:spPr>
          <a:xfrm>
            <a:off x="6232259" y="3181644"/>
            <a:ext cx="0" cy="0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33" name="Curved Connector 32"/>
          <p:cNvCxnSpPr>
            <a:stCxn id="26" idx="6"/>
            <a:endCxn id="25" idx="9"/>
          </p:cNvCxnSpPr>
          <p:nvPr/>
        </p:nvCxnSpPr>
        <p:spPr>
          <a:xfrm rot="16200000" flipV="1">
            <a:off x="5143211" y="1727115"/>
            <a:ext cx="258611" cy="402844"/>
          </a:xfrm>
          <a:prstGeom prst="curvedConnector3">
            <a:avLst>
              <a:gd name="adj1" fmla="val -3640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34" name="Curved Connector 33"/>
          <p:cNvCxnSpPr>
            <a:stCxn id="25" idx="10"/>
            <a:endCxn id="26" idx="5"/>
          </p:cNvCxnSpPr>
          <p:nvPr/>
        </p:nvCxnSpPr>
        <p:spPr>
          <a:xfrm rot="5400000" flipH="1" flipV="1">
            <a:off x="5428695" y="1244200"/>
            <a:ext cx="22575" cy="514489"/>
          </a:xfrm>
          <a:prstGeom prst="curvedConnector3">
            <a:avLst>
              <a:gd name="adj1" fmla="val 102442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37" name="Curved Connector 36"/>
          <p:cNvCxnSpPr>
            <a:stCxn id="28" idx="0"/>
            <a:endCxn id="26" idx="2"/>
          </p:cNvCxnSpPr>
          <p:nvPr/>
        </p:nvCxnSpPr>
        <p:spPr>
          <a:xfrm rot="5400000" flipH="1" flipV="1">
            <a:off x="6074011" y="3018580"/>
            <a:ext cx="321313" cy="4817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sp>
        <p:nvSpPr>
          <p:cNvPr id="39" name="Freeform 38"/>
          <p:cNvSpPr/>
          <p:nvPr/>
        </p:nvSpPr>
        <p:spPr>
          <a:xfrm>
            <a:off x="2453320" y="4064637"/>
            <a:ext cx="651746" cy="69148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40" name="Freeform 39"/>
          <p:cNvSpPr/>
          <p:nvPr/>
        </p:nvSpPr>
        <p:spPr>
          <a:xfrm>
            <a:off x="3327023" y="4190660"/>
            <a:ext cx="1303493" cy="137014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42" name="Freeform 41"/>
          <p:cNvSpPr/>
          <p:nvPr/>
        </p:nvSpPr>
        <p:spPr>
          <a:xfrm>
            <a:off x="2570579" y="6109401"/>
            <a:ext cx="1972358" cy="49220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43" name="Straight Arrow Connector 42"/>
          <p:cNvCxnSpPr>
            <a:stCxn id="42" idx="0"/>
            <a:endCxn id="42" idx="0"/>
          </p:cNvCxnSpPr>
          <p:nvPr/>
        </p:nvCxnSpPr>
        <p:spPr>
          <a:xfrm rot="5400000" flipH="1" flipV="1">
            <a:off x="3556660" y="6109497"/>
            <a:ext cx="1152" cy="958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44" name="Curved Connector 43"/>
          <p:cNvCxnSpPr>
            <a:stCxn id="42" idx="0"/>
            <a:endCxn id="39" idx="2"/>
          </p:cNvCxnSpPr>
          <p:nvPr/>
        </p:nvCxnSpPr>
        <p:spPr>
          <a:xfrm rot="16200000" flipV="1">
            <a:off x="2491335" y="5043978"/>
            <a:ext cx="1353281" cy="77756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7" name="Curved Connector 46"/>
          <p:cNvCxnSpPr>
            <a:stCxn id="40" idx="6"/>
            <a:endCxn id="39" idx="9"/>
          </p:cNvCxnSpPr>
          <p:nvPr/>
        </p:nvCxnSpPr>
        <p:spPr>
          <a:xfrm rot="16200000" flipV="1">
            <a:off x="3057985" y="4606692"/>
            <a:ext cx="220772" cy="317305"/>
          </a:xfrm>
          <a:prstGeom prst="curvedConnector3">
            <a:avLst>
              <a:gd name="adj1" fmla="val -5677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48" name="Curved Connector 47"/>
          <p:cNvCxnSpPr>
            <a:stCxn id="39" idx="10"/>
            <a:endCxn id="40" idx="5"/>
          </p:cNvCxnSpPr>
          <p:nvPr/>
        </p:nvCxnSpPr>
        <p:spPr>
          <a:xfrm rot="5400000" flipH="1" flipV="1">
            <a:off x="3301756" y="4194416"/>
            <a:ext cx="19272" cy="412653"/>
          </a:xfrm>
          <a:prstGeom prst="curvedConnector3">
            <a:avLst>
              <a:gd name="adj1" fmla="val 67149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49" name="Curved Connector 16"/>
          <p:cNvCxnSpPr>
            <a:stCxn id="39" idx="3"/>
          </p:cNvCxnSpPr>
          <p:nvPr/>
        </p:nvCxnSpPr>
        <p:spPr>
          <a:xfrm rot="10800000" flipH="1">
            <a:off x="2453319" y="4064639"/>
            <a:ext cx="233904" cy="345739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50" name="Curved Connector 17"/>
          <p:cNvCxnSpPr>
            <a:stCxn id="40" idx="9"/>
            <a:endCxn id="40" idx="1"/>
          </p:cNvCxnSpPr>
          <p:nvPr/>
        </p:nvCxnSpPr>
        <p:spPr>
          <a:xfrm rot="5400000" flipH="1" flipV="1">
            <a:off x="4292858" y="5022695"/>
            <a:ext cx="484623" cy="190696"/>
          </a:xfrm>
          <a:prstGeom prst="curvedConnector4">
            <a:avLst>
              <a:gd name="adj1" fmla="val -40520"/>
              <a:gd name="adj2" fmla="val 194764"/>
            </a:avLst>
          </a:prstGeom>
          <a:noFill/>
          <a:ln w="360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51" name="Curved Connector 50"/>
          <p:cNvCxnSpPr>
            <a:stCxn id="42" idx="0"/>
            <a:endCxn id="40" idx="2"/>
          </p:cNvCxnSpPr>
          <p:nvPr/>
        </p:nvCxnSpPr>
        <p:spPr>
          <a:xfrm rot="5400000" flipH="1" flipV="1">
            <a:off x="3493463" y="5624093"/>
            <a:ext cx="548600" cy="422013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pic>
        <p:nvPicPr>
          <p:cNvPr id="6144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0"/>
          <a:stretch/>
        </p:blipFill>
        <p:spPr bwMode="auto">
          <a:xfrm>
            <a:off x="2231682" y="1419180"/>
            <a:ext cx="1873377" cy="1623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758" y="1576125"/>
            <a:ext cx="2042208" cy="1406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" name="TextBox 56"/>
          <p:cNvSpPr txBox="1"/>
          <p:nvPr/>
        </p:nvSpPr>
        <p:spPr>
          <a:xfrm>
            <a:off x="5148846" y="4637469"/>
            <a:ext cx="34722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Oscillations in the 30-150 Hz range – depending on the inhibition/excitation balance</a:t>
            </a:r>
          </a:p>
        </p:txBody>
      </p:sp>
      <p:sp>
        <p:nvSpPr>
          <p:cNvPr id="30" name="Text Box 1"/>
          <p:cNvSpPr txBox="1">
            <a:spLocks noChangeArrowheads="1"/>
          </p:cNvSpPr>
          <p:nvPr/>
        </p:nvSpPr>
        <p:spPr bwMode="auto">
          <a:xfrm>
            <a:off x="428625" y="-27384"/>
            <a:ext cx="8228013" cy="99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 anchor="ctr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algn="ctr" eaLnBrk="1">
              <a:lnSpc>
                <a:spcPct val="100000"/>
              </a:lnSpc>
              <a:buClrTx/>
              <a:buFontTx/>
              <a:buNone/>
            </a:pPr>
            <a:r>
              <a:rPr lang="en-US" alt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Consequences of interactions</a:t>
            </a:r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5756219" y="5842026"/>
            <a:ext cx="2488190" cy="5134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1pPr>
            <a:lvl2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2pPr>
            <a:lvl3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3pPr>
            <a:lvl4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4pPr>
            <a:lvl5pPr eaLnBrk="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5pPr>
            <a:lvl6pPr marL="25146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6pPr>
            <a:lvl7pPr marL="29718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7pPr>
            <a:lvl8pPr marL="34290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8pPr>
            <a:lvl9pPr marL="3886200" indent="-228600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chemeClr val="bg1"/>
                </a:solidFill>
                <a:latin typeface="Arial" charset="0"/>
                <a:ea typeface="WenQuanYi Micro Hei" charset="0"/>
                <a:cs typeface="WenQuanYi Micro Hei" charset="0"/>
              </a:defRPr>
            </a:lvl9pPr>
          </a:lstStyle>
          <a:p>
            <a:pPr eaLnBrk="1">
              <a:lnSpc>
                <a:spcPct val="100000"/>
              </a:lnSpc>
              <a:buClrTx/>
              <a:buFontTx/>
              <a:buNone/>
            </a:pPr>
            <a:r>
              <a:rPr lang="en-US" altLang="en-US" i="1" dirty="0">
                <a:solidFill>
                  <a:srgbClr val="000000"/>
                </a:solidFill>
                <a:latin typeface="Calibri" charset="0"/>
              </a:rPr>
              <a:t>Brunel-Wang 2003</a:t>
            </a:r>
          </a:p>
        </p:txBody>
      </p:sp>
      <p:sp>
        <p:nvSpPr>
          <p:cNvPr id="36" name="CasellaDiTesto 35"/>
          <p:cNvSpPr txBox="1"/>
          <p:nvPr/>
        </p:nvSpPr>
        <p:spPr>
          <a:xfrm>
            <a:off x="6052562" y="175260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  <p:sp>
        <p:nvSpPr>
          <p:cNvPr id="38" name="CasellaDiTesto 37"/>
          <p:cNvSpPr txBox="1"/>
          <p:nvPr/>
        </p:nvSpPr>
        <p:spPr>
          <a:xfrm>
            <a:off x="3755406" y="465838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02A56EEB-ED8B-4EA9-9918-D9A0FC1FC2D1}"/>
              </a:ext>
            </a:extLst>
          </p:cNvPr>
          <p:cNvSpPr/>
          <p:nvPr/>
        </p:nvSpPr>
        <p:spPr>
          <a:xfrm>
            <a:off x="360916" y="1775834"/>
            <a:ext cx="8675580" cy="179629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/>
              <a:t>Complete network</a:t>
            </a:r>
            <a:r>
              <a:rPr lang="it-IT" sz="2400" dirty="0"/>
              <a:t>: </a:t>
            </a:r>
            <a:r>
              <a:rPr lang="it-IT" sz="2400" dirty="0" err="1"/>
              <a:t>both</a:t>
            </a:r>
            <a:r>
              <a:rPr lang="it-IT" sz="2400" dirty="0"/>
              <a:t> </a:t>
            </a:r>
            <a:r>
              <a:rPr lang="it-IT" sz="2400" dirty="0" err="1"/>
              <a:t>resonances</a:t>
            </a:r>
            <a:r>
              <a:rPr lang="it-IT" sz="2400" dirty="0"/>
              <a:t> are </a:t>
            </a:r>
            <a:r>
              <a:rPr lang="it-IT" sz="2400" dirty="0" err="1"/>
              <a:t>present</a:t>
            </a:r>
            <a:r>
              <a:rPr lang="it-IT" sz="2400" dirty="0"/>
              <a:t>. The input </a:t>
            </a:r>
            <a:r>
              <a:rPr lang="it-IT" sz="2400" dirty="0" err="1"/>
              <a:t>determines</a:t>
            </a:r>
            <a:r>
              <a:rPr lang="it-IT" sz="2400" dirty="0"/>
              <a:t> </a:t>
            </a:r>
            <a:r>
              <a:rPr lang="it-IT" sz="2400" dirty="0" err="1"/>
              <a:t>their</a:t>
            </a:r>
            <a:r>
              <a:rPr lang="it-IT" sz="2400" dirty="0"/>
              <a:t> </a:t>
            </a:r>
            <a:r>
              <a:rPr lang="it-IT" sz="2400" dirty="0" err="1"/>
              <a:t>interplay</a:t>
            </a:r>
            <a:r>
              <a:rPr lang="it-IT" sz="2400" dirty="0"/>
              <a:t> and </a:t>
            </a:r>
            <a:r>
              <a:rPr lang="it-IT" sz="2400" dirty="0" err="1"/>
              <a:t>hence</a:t>
            </a:r>
            <a:r>
              <a:rPr lang="it-IT" sz="2400" dirty="0"/>
              <a:t> the </a:t>
            </a:r>
            <a:r>
              <a:rPr lang="it-IT" sz="2400" dirty="0" err="1"/>
              <a:t>final</a:t>
            </a:r>
            <a:r>
              <a:rPr lang="it-IT" sz="2400" dirty="0"/>
              <a:t> frequency.</a:t>
            </a:r>
          </a:p>
        </p:txBody>
      </p:sp>
    </p:spTree>
    <p:extLst>
      <p:ext uri="{BB962C8B-B14F-4D97-AF65-F5344CB8AC3E}">
        <p14:creationId xmlns:p14="http://schemas.microsoft.com/office/powerpoint/2010/main" val="1234818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97"/>
          <p:cNvGrpSpPr/>
          <p:nvPr/>
        </p:nvGrpSpPr>
        <p:grpSpPr>
          <a:xfrm>
            <a:off x="457201" y="1524000"/>
            <a:ext cx="4800600" cy="2971800"/>
            <a:chOff x="1026192" y="914400"/>
            <a:chExt cx="7528623" cy="4495800"/>
          </a:xfrm>
        </p:grpSpPr>
        <p:sp>
          <p:nvSpPr>
            <p:cNvPr id="2" name="Freeform 1"/>
            <p:cNvSpPr/>
            <p:nvPr/>
          </p:nvSpPr>
          <p:spPr>
            <a:xfrm>
              <a:off x="1026193" y="914400"/>
              <a:ext cx="1196804" cy="122538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72000">
              <a:solidFill>
                <a:srgbClr val="0000FF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20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I</a:t>
              </a:r>
            </a:p>
          </p:txBody>
        </p:sp>
        <p:sp>
          <p:nvSpPr>
            <p:cNvPr id="3" name="Freeform 2"/>
            <p:cNvSpPr/>
            <p:nvPr/>
          </p:nvSpPr>
          <p:spPr>
            <a:xfrm>
              <a:off x="2630577" y="1137727"/>
              <a:ext cx="2393609" cy="242804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72000">
              <a:solidFill>
                <a:srgbClr val="FF0000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20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P</a:t>
              </a:r>
            </a:p>
          </p:txBody>
        </p:sp>
        <p:sp>
          <p:nvSpPr>
            <p:cNvPr id="4" name="Freeform 3"/>
            <p:cNvSpPr/>
            <p:nvPr/>
          </p:nvSpPr>
          <p:spPr>
            <a:xfrm>
              <a:off x="6172200" y="1371600"/>
              <a:ext cx="2382615" cy="33528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38100">
              <a:solidFill>
                <a:schemeClr val="tx1"/>
              </a:solidFill>
              <a:custDash>
                <a:ds d="254000" sp="254000"/>
                <a:ds d="254000" sp="254000"/>
              </a:custDash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Unspecific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slow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cortical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activity</a:t>
              </a:r>
            </a:p>
          </p:txBody>
        </p:sp>
        <p:sp>
          <p:nvSpPr>
            <p:cNvPr id="5" name="Freeform 4"/>
            <p:cNvSpPr/>
            <p:nvPr/>
          </p:nvSpPr>
          <p:spPr>
            <a:xfrm>
              <a:off x="1241516" y="4537950"/>
              <a:ext cx="3621847" cy="87225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custDash>
                <a:ds d="254000" sp="254000"/>
                <a:ds d="254000" sp="254000"/>
              </a:custDash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Thalamic input</a:t>
              </a:r>
            </a:p>
          </p:txBody>
        </p:sp>
        <p:cxnSp>
          <p:nvCxnSpPr>
            <p:cNvPr id="6" name="Straight Arrow Connector 5"/>
            <p:cNvCxnSpPr>
              <a:stCxn id="5" idx="0"/>
              <a:endCxn id="5" idx="0"/>
            </p:cNvCxnSpPr>
            <p:nvPr/>
          </p:nvCxnSpPr>
          <p:spPr>
            <a:xfrm rot="5400000" flipH="1" flipV="1">
              <a:off x="3052297" y="4538090"/>
              <a:ext cx="2041" cy="1759"/>
            </a:xfrm>
            <a:prstGeom prst="straightConnector1">
              <a:avLst/>
            </a:prstGeom>
            <a:noFill/>
            <a:ln w="0">
              <a:solidFill>
                <a:srgbClr val="000000"/>
              </a:solidFill>
              <a:prstDash val="solid"/>
              <a:tailEnd type="arrow"/>
            </a:ln>
          </p:spPr>
        </p:cxnSp>
        <p:cxnSp>
          <p:nvCxnSpPr>
            <p:cNvPr id="7" name="Curved Connector 6"/>
            <p:cNvCxnSpPr>
              <a:stCxn id="5" idx="0"/>
              <a:endCxn id="2" idx="2"/>
            </p:cNvCxnSpPr>
            <p:nvPr/>
          </p:nvCxnSpPr>
          <p:spPr>
            <a:xfrm rot="16200000" flipV="1">
              <a:off x="1139435" y="2624945"/>
              <a:ext cx="2398165" cy="1427843"/>
            </a:xfrm>
            <a:prstGeom prst="curvedConnector3">
              <a:avLst>
                <a:gd name="adj1" fmla="val 50000"/>
              </a:avLst>
            </a:prstGeom>
            <a:noFill/>
            <a:ln w="5080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8" name="Curved Connector 7"/>
            <p:cNvCxnSpPr>
              <a:stCxn id="4" idx="6"/>
              <a:endCxn id="3" idx="11"/>
            </p:cNvCxnSpPr>
            <p:nvPr/>
          </p:nvCxnSpPr>
          <p:spPr>
            <a:xfrm rot="16200000" flipV="1">
              <a:off x="4645576" y="1521376"/>
              <a:ext cx="1555059" cy="1498190"/>
            </a:xfrm>
            <a:prstGeom prst="curvedConnector3">
              <a:avLst>
                <a:gd name="adj1" fmla="val 107907"/>
              </a:avLst>
            </a:prstGeom>
            <a:noFill/>
            <a:ln w="2540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9" name="Curved Connector 8"/>
            <p:cNvCxnSpPr>
              <a:stCxn id="4" idx="5"/>
              <a:endCxn id="2" idx="11"/>
            </p:cNvCxnSpPr>
            <p:nvPr/>
          </p:nvCxnSpPr>
          <p:spPr>
            <a:xfrm rot="16200000" flipV="1">
              <a:off x="3900123" y="-758544"/>
              <a:ext cx="768433" cy="4472859"/>
            </a:xfrm>
            <a:prstGeom prst="curvedConnector3">
              <a:avLst>
                <a:gd name="adj1" fmla="val 153078"/>
              </a:avLst>
            </a:prstGeom>
            <a:noFill/>
            <a:ln w="3175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10" name="Curved Connector 9"/>
            <p:cNvCxnSpPr>
              <a:stCxn id="3" idx="6"/>
              <a:endCxn id="2" idx="9"/>
            </p:cNvCxnSpPr>
            <p:nvPr/>
          </p:nvCxnSpPr>
          <p:spPr>
            <a:xfrm rot="16200000" flipV="1">
              <a:off x="2143629" y="1864798"/>
              <a:ext cx="391232" cy="582667"/>
            </a:xfrm>
            <a:prstGeom prst="curvedConnector3">
              <a:avLst>
                <a:gd name="adj1" fmla="val -56771"/>
              </a:avLst>
            </a:prstGeom>
            <a:noFill/>
            <a:ln w="3175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11" name="Curved Connector 10"/>
            <p:cNvCxnSpPr>
              <a:stCxn id="2" idx="10"/>
              <a:endCxn id="3" idx="5"/>
            </p:cNvCxnSpPr>
            <p:nvPr/>
          </p:nvCxnSpPr>
          <p:spPr>
            <a:xfrm rot="5400000" flipH="1" flipV="1">
              <a:off x="2584799" y="1131140"/>
              <a:ext cx="34152" cy="757755"/>
            </a:xfrm>
            <a:prstGeom prst="curvedConnector3">
              <a:avLst>
                <a:gd name="adj1" fmla="val 671495"/>
              </a:avLst>
            </a:prstGeom>
            <a:noFill/>
            <a:ln w="122400">
              <a:solidFill>
                <a:srgbClr val="0000FF"/>
              </a:solidFill>
              <a:prstDash val="solid"/>
              <a:tailEnd type="oval" w="sm" len="sm"/>
            </a:ln>
          </p:spPr>
        </p:cxnSp>
        <p:cxnSp>
          <p:nvCxnSpPr>
            <p:cNvPr id="12" name="Curved Connector 16"/>
            <p:cNvCxnSpPr>
              <a:stCxn id="2" idx="3"/>
            </p:cNvCxnSpPr>
            <p:nvPr/>
          </p:nvCxnSpPr>
          <p:spPr>
            <a:xfrm rot="10800000" flipH="1">
              <a:off x="1026192" y="914403"/>
              <a:ext cx="429519" cy="612689"/>
            </a:xfrm>
            <a:prstGeom prst="curvedConnector4">
              <a:avLst>
                <a:gd name="adj1" fmla="val -77258"/>
                <a:gd name="adj2" fmla="val 144594"/>
              </a:avLst>
            </a:prstGeom>
            <a:noFill/>
            <a:ln w="127000">
              <a:solidFill>
                <a:srgbClr val="0000FF"/>
              </a:solidFill>
              <a:prstDash val="solid"/>
              <a:tailEnd type="oval" w="sm" len="sm"/>
            </a:ln>
          </p:spPr>
        </p:cxnSp>
        <p:cxnSp>
          <p:nvCxnSpPr>
            <p:cNvPr id="13" name="Curved Connector 17"/>
            <p:cNvCxnSpPr>
              <a:stCxn id="3" idx="9"/>
              <a:endCxn id="3" idx="1"/>
            </p:cNvCxnSpPr>
            <p:nvPr/>
          </p:nvCxnSpPr>
          <p:spPr>
            <a:xfrm rot="5400000" flipH="1" flipV="1">
              <a:off x="4419695" y="2606065"/>
              <a:ext cx="858807" cy="350175"/>
            </a:xfrm>
            <a:prstGeom prst="curvedConnector4">
              <a:avLst>
                <a:gd name="adj1" fmla="val -40520"/>
                <a:gd name="adj2" fmla="val 194764"/>
              </a:avLst>
            </a:prstGeom>
            <a:noFill/>
            <a:ln w="3600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14" name="Curved Connector 13"/>
            <p:cNvCxnSpPr>
              <a:stCxn id="5" idx="0"/>
              <a:endCxn id="3" idx="2"/>
            </p:cNvCxnSpPr>
            <p:nvPr/>
          </p:nvCxnSpPr>
          <p:spPr>
            <a:xfrm rot="5400000" flipH="1" flipV="1">
              <a:off x="2953820" y="3664388"/>
              <a:ext cx="972181" cy="774943"/>
            </a:xfrm>
            <a:prstGeom prst="curved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prstDash val="solid"/>
              <a:tailEnd type="triangle"/>
            </a:ln>
          </p:spPr>
        </p:cxnSp>
      </p:grpSp>
      <p:sp>
        <p:nvSpPr>
          <p:cNvPr id="15" name="TextBox 14"/>
          <p:cNvSpPr txBox="1"/>
          <p:nvPr/>
        </p:nvSpPr>
        <p:spPr>
          <a:xfrm>
            <a:off x="26020" y="5029200"/>
            <a:ext cx="42411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chemeClr val="tx1"/>
                </a:solidFill>
                <a:latin typeface="+mj-lt"/>
              </a:rPr>
              <a:t>Leaky integrate and fire neurons 4000 Excitatory </a:t>
            </a:r>
            <a:r>
              <a:rPr lang="en-US" sz="1600" b="0" dirty="0" err="1">
                <a:solidFill>
                  <a:schemeClr val="tx1"/>
                </a:solidFill>
                <a:latin typeface="+mj-lt"/>
              </a:rPr>
              <a:t>Excitatory</a:t>
            </a:r>
            <a:r>
              <a:rPr lang="en-US" sz="1600" b="0" dirty="0">
                <a:solidFill>
                  <a:schemeClr val="tx1"/>
                </a:solidFill>
                <a:latin typeface="+mj-lt"/>
              </a:rPr>
              <a:t> neurons 1000 Inhibitory Inhibitory neurons.</a:t>
            </a:r>
            <a:r>
              <a:rPr lang="en-US" sz="1600" dirty="0">
                <a:latin typeface="+mj-lt"/>
              </a:rPr>
              <a:t> </a:t>
            </a:r>
          </a:p>
          <a:p>
            <a:r>
              <a:rPr lang="en-US" sz="1600" b="0" dirty="0">
                <a:solidFill>
                  <a:schemeClr val="tx1"/>
                </a:solidFill>
                <a:latin typeface="+mj-lt"/>
              </a:rPr>
              <a:t>Sparse (p=0.2) random connections</a:t>
            </a:r>
          </a:p>
        </p:txBody>
      </p:sp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192900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Integrate and fire models of local cortical</a:t>
            </a:r>
            <a:r>
              <a:rPr kumimoji="0" lang="en-US" sz="320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excitatory-inhibitory</a:t>
            </a:r>
            <a:r>
              <a:rPr kumimoji="0" lang="en-US" sz="320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200" kern="0" dirty="0">
                <a:solidFill>
                  <a:srgbClr val="FF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</a:t>
            </a:r>
            <a:r>
              <a:rPr kumimoji="0" lang="en-US" sz="320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etworks</a:t>
            </a:r>
            <a:endParaRPr kumimoji="0" lang="en-US" sz="320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629" y="5924729"/>
            <a:ext cx="4648200" cy="907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7" name="Group 99"/>
          <p:cNvGrpSpPr/>
          <p:nvPr/>
        </p:nvGrpSpPr>
        <p:grpSpPr>
          <a:xfrm>
            <a:off x="5562601" y="630868"/>
            <a:ext cx="3276599" cy="5084132"/>
            <a:chOff x="6083999" y="1044000"/>
            <a:chExt cx="3600000" cy="5734800"/>
          </a:xfrm>
        </p:grpSpPr>
        <p:pic>
          <p:nvPicPr>
            <p:cNvPr id="101" name="Picture 100"/>
            <p:cNvPicPr>
              <a:picLocks noChangeAspect="1"/>
            </p:cNvPicPr>
            <p:nvPr/>
          </p:nvPicPr>
          <p:blipFill>
            <a:blip r:embed="rId3">
              <a:lum/>
              <a:alphaModFix/>
            </a:blip>
            <a:srcRect/>
            <a:stretch>
              <a:fillRect/>
            </a:stretch>
          </p:blipFill>
          <p:spPr>
            <a:xfrm>
              <a:off x="6083999" y="1044000"/>
              <a:ext cx="3600000" cy="573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Freeform 101"/>
            <p:cNvSpPr/>
            <p:nvPr/>
          </p:nvSpPr>
          <p:spPr>
            <a:xfrm>
              <a:off x="6083999" y="1044000"/>
              <a:ext cx="180000" cy="18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fi-FI" sz="18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endParaRPr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6083999" y="2988000"/>
              <a:ext cx="180000" cy="18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fi-FI" sz="18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endParaRPr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6083999" y="4968000"/>
              <a:ext cx="180000" cy="18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fi-FI" sz="18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endParaRPr>
            </a:p>
          </p:txBody>
        </p:sp>
      </p:grpSp>
      <p:sp>
        <p:nvSpPr>
          <p:cNvPr id="24" name="CasellaDiTesto 23"/>
          <p:cNvSpPr txBox="1"/>
          <p:nvPr/>
        </p:nvSpPr>
        <p:spPr>
          <a:xfrm>
            <a:off x="2057400" y="221998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1797929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7"/>
          <p:cNvGrpSpPr/>
          <p:nvPr/>
        </p:nvGrpSpPr>
        <p:grpSpPr>
          <a:xfrm>
            <a:off x="891902" y="1060473"/>
            <a:ext cx="6324600" cy="4729199"/>
            <a:chOff x="5715000" y="685800"/>
            <a:chExt cx="3429000" cy="2590532"/>
          </a:xfrm>
        </p:grpSpPr>
        <p:sp>
          <p:nvSpPr>
            <p:cNvPr id="16" name="TextBox 15"/>
            <p:cNvSpPr txBox="1"/>
            <p:nvPr/>
          </p:nvSpPr>
          <p:spPr>
            <a:xfrm>
              <a:off x="6254008" y="1034142"/>
              <a:ext cx="1108364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rgbClr val="FF0000"/>
                  </a:solidFill>
                  <a:latin typeface="+mj-lt"/>
                  <a:ea typeface="DejaVu Sans" pitchFamily="2"/>
                  <a:cs typeface="DejaVu Sans" pitchFamily="2"/>
                </a:rPr>
                <a:t>Excitatory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rgbClr val="FF0000"/>
                  </a:solidFill>
                  <a:latin typeface="+mj-lt"/>
                  <a:ea typeface="DejaVu Sans" pitchFamily="2"/>
                  <a:cs typeface="DejaVu Sans" pitchFamily="2"/>
                </a:rPr>
                <a:t> SINK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324600" y="2209239"/>
              <a:ext cx="1336964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rgbClr val="0000FF"/>
                  </a:solidFill>
                  <a:latin typeface="+mj-lt"/>
                  <a:ea typeface="DejaVu Sans" pitchFamily="2"/>
                  <a:cs typeface="DejaVu Sans" pitchFamily="2"/>
                </a:rPr>
                <a:t>Inhibitory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rgbClr val="0000FF"/>
                  </a:solidFill>
                  <a:latin typeface="+mj-lt"/>
                  <a:ea typeface="DejaVu Sans" pitchFamily="2"/>
                  <a:cs typeface="DejaVu Sans" pitchFamily="2"/>
                </a:rPr>
                <a:t> SOURCE</a:t>
              </a:r>
            </a:p>
          </p:txBody>
        </p:sp>
        <p:sp>
          <p:nvSpPr>
            <p:cNvPr id="18" name="Freeform 17"/>
            <p:cNvSpPr/>
            <p:nvPr/>
          </p:nvSpPr>
          <p:spPr>
            <a:xfrm>
              <a:off x="5715000" y="2673221"/>
              <a:ext cx="414193" cy="41544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19" name="Straight Connector 18"/>
            <p:cNvSpPr/>
            <p:nvPr/>
          </p:nvSpPr>
          <p:spPr>
            <a:xfrm flipV="1">
              <a:off x="5809673" y="1284452"/>
              <a:ext cx="0" cy="14243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0" name="Straight Connector 19"/>
            <p:cNvSpPr/>
            <p:nvPr/>
          </p:nvSpPr>
          <p:spPr>
            <a:xfrm flipV="1">
              <a:off x="6022686" y="916488"/>
              <a:ext cx="0" cy="17804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1" name="Freeform 20"/>
            <p:cNvSpPr/>
            <p:nvPr/>
          </p:nvSpPr>
          <p:spPr>
            <a:xfrm>
              <a:off x="5868843" y="1047056"/>
              <a:ext cx="355023" cy="296746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2" name="Straight Connector 21"/>
            <p:cNvSpPr/>
            <p:nvPr/>
          </p:nvSpPr>
          <p:spPr>
            <a:xfrm flipV="1">
              <a:off x="6164695" y="1308192"/>
              <a:ext cx="0" cy="83088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3" name="Straight Connector 22"/>
            <p:cNvSpPr/>
            <p:nvPr/>
          </p:nvSpPr>
          <p:spPr>
            <a:xfrm flipV="1">
              <a:off x="5809673" y="916488"/>
              <a:ext cx="0" cy="17804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4" name="Freeform 23"/>
            <p:cNvSpPr/>
            <p:nvPr/>
          </p:nvSpPr>
          <p:spPr>
            <a:xfrm flipH="1">
              <a:off x="5857009" y="2210298"/>
              <a:ext cx="295852" cy="296746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5" name="Straight Connector 24"/>
            <p:cNvSpPr/>
            <p:nvPr/>
          </p:nvSpPr>
          <p:spPr>
            <a:xfrm flipV="1">
              <a:off x="6259368" y="1308192"/>
              <a:ext cx="0" cy="83088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6" name="Straight Connector 25"/>
            <p:cNvSpPr/>
            <p:nvPr/>
          </p:nvSpPr>
          <p:spPr>
            <a:xfrm>
              <a:off x="6259368" y="2447695"/>
              <a:ext cx="0" cy="35609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7" name="Straight Connector 26"/>
            <p:cNvSpPr/>
            <p:nvPr/>
          </p:nvSpPr>
          <p:spPr>
            <a:xfrm flipV="1">
              <a:off x="6401377" y="1426890"/>
              <a:ext cx="946727" cy="1780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8" name="Straight Connector 27"/>
            <p:cNvSpPr/>
            <p:nvPr/>
          </p:nvSpPr>
          <p:spPr>
            <a:xfrm>
              <a:off x="6401377" y="1699896"/>
              <a:ext cx="946727" cy="1780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00800" y="1828239"/>
              <a:ext cx="1112116" cy="278751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>
                  <a:ln>
                    <a:noFill/>
                  </a:ln>
                  <a:latin typeface="+mj-lt"/>
                  <a:ea typeface="DejaVu Sans" pitchFamily="2"/>
                  <a:cs typeface="DejaVu Sans" pitchFamily="2"/>
                </a:rPr>
                <a:t>ELECTRODE</a:t>
              </a:r>
            </a:p>
          </p:txBody>
        </p:sp>
        <p:grpSp>
          <p:nvGrpSpPr>
            <p:cNvPr id="3" name="Group 29"/>
            <p:cNvGrpSpPr/>
            <p:nvPr/>
          </p:nvGrpSpPr>
          <p:grpSpPr>
            <a:xfrm>
              <a:off x="7762298" y="940228"/>
              <a:ext cx="272184" cy="913976"/>
              <a:chOff x="6840000" y="864000"/>
              <a:chExt cx="828000" cy="2771999"/>
            </a:xfrm>
          </p:grpSpPr>
          <p:sp>
            <p:nvSpPr>
              <p:cNvPr id="31" name="Freeform 30"/>
              <p:cNvSpPr/>
              <p:nvPr/>
            </p:nvSpPr>
            <p:spPr>
              <a:xfrm>
                <a:off x="6840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2" name="Straight Connector 31"/>
              <p:cNvSpPr/>
              <p:nvPr/>
            </p:nvSpPr>
            <p:spPr>
              <a:xfrm flipV="1">
                <a:off x="6983999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3" name="Straight Connector 32"/>
              <p:cNvSpPr/>
              <p:nvPr/>
            </p:nvSpPr>
            <p:spPr>
              <a:xfrm flipV="1">
                <a:off x="7308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4" name="Freeform 33"/>
              <p:cNvSpPr/>
              <p:nvPr/>
            </p:nvSpPr>
            <p:spPr>
              <a:xfrm>
                <a:off x="7074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5" name="Straight Connector 34"/>
              <p:cNvSpPr/>
              <p:nvPr/>
            </p:nvSpPr>
            <p:spPr>
              <a:xfrm flipV="1">
                <a:off x="7523999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6" name="Straight Connector 35"/>
              <p:cNvSpPr/>
              <p:nvPr/>
            </p:nvSpPr>
            <p:spPr>
              <a:xfrm flipV="1">
                <a:off x="6983999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7" name="Freeform 36"/>
              <p:cNvSpPr/>
              <p:nvPr/>
            </p:nvSpPr>
            <p:spPr>
              <a:xfrm flipH="1">
                <a:off x="7056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8" name="Straight Connector 37"/>
              <p:cNvSpPr/>
              <p:nvPr/>
            </p:nvSpPr>
            <p:spPr>
              <a:xfrm flipV="1">
                <a:off x="7668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39" name="TextBox 38"/>
            <p:cNvSpPr txBox="1"/>
            <p:nvPr/>
          </p:nvSpPr>
          <p:spPr>
            <a:xfrm>
              <a:off x="7543801" y="1828800"/>
              <a:ext cx="1600199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Excitatory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 </a:t>
              </a: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neurons</a:t>
              </a:r>
              <a:endParaRPr lang="it-IT" sz="12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grpSp>
          <p:nvGrpSpPr>
            <p:cNvPr id="4" name="Group 39"/>
            <p:cNvGrpSpPr/>
            <p:nvPr/>
          </p:nvGrpSpPr>
          <p:grpSpPr>
            <a:xfrm>
              <a:off x="8129155" y="940228"/>
              <a:ext cx="272184" cy="913976"/>
              <a:chOff x="7956000" y="864000"/>
              <a:chExt cx="828000" cy="2771999"/>
            </a:xfrm>
          </p:grpSpPr>
          <p:sp>
            <p:nvSpPr>
              <p:cNvPr id="41" name="Freeform 40"/>
              <p:cNvSpPr/>
              <p:nvPr/>
            </p:nvSpPr>
            <p:spPr>
              <a:xfrm>
                <a:off x="7956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2" name="Straight Connector 41"/>
              <p:cNvSpPr/>
              <p:nvPr/>
            </p:nvSpPr>
            <p:spPr>
              <a:xfrm flipV="1">
                <a:off x="8100000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3" name="Straight Connector 42"/>
              <p:cNvSpPr/>
              <p:nvPr/>
            </p:nvSpPr>
            <p:spPr>
              <a:xfrm flipV="1">
                <a:off x="8424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4" name="Freeform 43"/>
              <p:cNvSpPr/>
              <p:nvPr/>
            </p:nvSpPr>
            <p:spPr>
              <a:xfrm>
                <a:off x="8190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5" name="Straight Connector 44"/>
              <p:cNvSpPr/>
              <p:nvPr/>
            </p:nvSpPr>
            <p:spPr>
              <a:xfrm flipV="1">
                <a:off x="8640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6" name="Straight Connector 45"/>
              <p:cNvSpPr/>
              <p:nvPr/>
            </p:nvSpPr>
            <p:spPr>
              <a:xfrm flipV="1">
                <a:off x="8100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7" name="Freeform 46"/>
              <p:cNvSpPr/>
              <p:nvPr/>
            </p:nvSpPr>
            <p:spPr>
              <a:xfrm flipH="1">
                <a:off x="8172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8" name="Straight Connector 47"/>
              <p:cNvSpPr/>
              <p:nvPr/>
            </p:nvSpPr>
            <p:spPr>
              <a:xfrm flipV="1">
                <a:off x="8784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grpSp>
          <p:nvGrpSpPr>
            <p:cNvPr id="5" name="Group 48"/>
            <p:cNvGrpSpPr/>
            <p:nvPr/>
          </p:nvGrpSpPr>
          <p:grpSpPr>
            <a:xfrm>
              <a:off x="8472343" y="940228"/>
              <a:ext cx="272184" cy="913976"/>
              <a:chOff x="9000000" y="864000"/>
              <a:chExt cx="828000" cy="2771999"/>
            </a:xfrm>
          </p:grpSpPr>
          <p:sp>
            <p:nvSpPr>
              <p:cNvPr id="50" name="Freeform 49"/>
              <p:cNvSpPr/>
              <p:nvPr/>
            </p:nvSpPr>
            <p:spPr>
              <a:xfrm>
                <a:off x="9000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1" name="Straight Connector 50"/>
              <p:cNvSpPr/>
              <p:nvPr/>
            </p:nvSpPr>
            <p:spPr>
              <a:xfrm flipV="1">
                <a:off x="9144000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2" name="Straight Connector 51"/>
              <p:cNvSpPr/>
              <p:nvPr/>
            </p:nvSpPr>
            <p:spPr>
              <a:xfrm flipV="1">
                <a:off x="9468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3" name="Freeform 52"/>
              <p:cNvSpPr/>
              <p:nvPr/>
            </p:nvSpPr>
            <p:spPr>
              <a:xfrm>
                <a:off x="9234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4" name="Straight Connector 53"/>
              <p:cNvSpPr/>
              <p:nvPr/>
            </p:nvSpPr>
            <p:spPr>
              <a:xfrm flipV="1">
                <a:off x="9684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5" name="Straight Connector 54"/>
              <p:cNvSpPr/>
              <p:nvPr/>
            </p:nvSpPr>
            <p:spPr>
              <a:xfrm flipV="1">
                <a:off x="9144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6" name="Freeform 55"/>
              <p:cNvSpPr/>
              <p:nvPr/>
            </p:nvSpPr>
            <p:spPr>
              <a:xfrm flipH="1">
                <a:off x="9216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7" name="Straight Connector 56"/>
              <p:cNvSpPr/>
              <p:nvPr/>
            </p:nvSpPr>
            <p:spPr>
              <a:xfrm flipV="1">
                <a:off x="9828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58" name="Freeform 57"/>
            <p:cNvSpPr/>
            <p:nvPr/>
          </p:nvSpPr>
          <p:spPr>
            <a:xfrm rot="5400000">
              <a:off x="8572040" y="2879704"/>
              <a:ext cx="207722" cy="1741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59" name="Straight Connector 58"/>
            <p:cNvSpPr/>
            <p:nvPr/>
          </p:nvSpPr>
          <p:spPr>
            <a:xfrm flipH="1">
              <a:off x="7987618" y="3021399"/>
              <a:ext cx="5976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0" name="Straight Connector 59"/>
            <p:cNvSpPr/>
            <p:nvPr/>
          </p:nvSpPr>
          <p:spPr>
            <a:xfrm flipH="1">
              <a:off x="7833302" y="2914570"/>
              <a:ext cx="7469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1" name="Freeform 60"/>
            <p:cNvSpPr/>
            <p:nvPr/>
          </p:nvSpPr>
          <p:spPr>
            <a:xfrm rot="5400000">
              <a:off x="8383070" y="2846117"/>
              <a:ext cx="178047" cy="124613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2" name="Straight Connector 61"/>
            <p:cNvSpPr/>
            <p:nvPr/>
          </p:nvSpPr>
          <p:spPr>
            <a:xfrm flipH="1">
              <a:off x="7997559" y="2843352"/>
              <a:ext cx="34863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3" name="Straight Connector 62"/>
            <p:cNvSpPr/>
            <p:nvPr/>
          </p:nvSpPr>
          <p:spPr>
            <a:xfrm flipH="1">
              <a:off x="7833302" y="3021399"/>
              <a:ext cx="7469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4" name="Freeform 63"/>
            <p:cNvSpPr/>
            <p:nvPr/>
          </p:nvSpPr>
          <p:spPr>
            <a:xfrm rot="16200000">
              <a:off x="7770387" y="2821414"/>
              <a:ext cx="156427" cy="152400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5" name="Straight Connector 64"/>
            <p:cNvSpPr/>
            <p:nvPr/>
          </p:nvSpPr>
          <p:spPr>
            <a:xfrm flipH="1">
              <a:off x="7997559" y="2795872"/>
              <a:ext cx="34863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grpSp>
          <p:nvGrpSpPr>
            <p:cNvPr id="6" name="Group 65"/>
            <p:cNvGrpSpPr/>
            <p:nvPr/>
          </p:nvGrpSpPr>
          <p:grpSpPr>
            <a:xfrm>
              <a:off x="7750464" y="2392299"/>
              <a:ext cx="911225" cy="273006"/>
              <a:chOff x="6804000" y="4860000"/>
              <a:chExt cx="2772000" cy="828000"/>
            </a:xfrm>
          </p:grpSpPr>
          <p:sp>
            <p:nvSpPr>
              <p:cNvPr id="67" name="Freeform 66"/>
              <p:cNvSpPr/>
              <p:nvPr/>
            </p:nvSpPr>
            <p:spPr>
              <a:xfrm rot="5400000">
                <a:off x="6753960" y="4910040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68" name="Straight Connector 67"/>
              <p:cNvSpPr/>
              <p:nvPr/>
            </p:nvSpPr>
            <p:spPr>
              <a:xfrm>
                <a:off x="7288559" y="5004000"/>
                <a:ext cx="181800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69" name="Straight Connector 68"/>
              <p:cNvSpPr/>
              <p:nvPr/>
            </p:nvSpPr>
            <p:spPr>
              <a:xfrm>
                <a:off x="7303679" y="5328000"/>
                <a:ext cx="22723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0" name="Freeform 69"/>
              <p:cNvSpPr/>
              <p:nvPr/>
            </p:nvSpPr>
            <p:spPr>
              <a:xfrm rot="5400000">
                <a:off x="8950139" y="5174460"/>
                <a:ext cx="539999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1" name="Straight Connector 70"/>
              <p:cNvSpPr/>
              <p:nvPr/>
            </p:nvSpPr>
            <p:spPr>
              <a:xfrm>
                <a:off x="8015759" y="5544000"/>
                <a:ext cx="1060561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2" name="Straight Connector 71"/>
              <p:cNvSpPr/>
              <p:nvPr/>
            </p:nvSpPr>
            <p:spPr>
              <a:xfrm>
                <a:off x="7303679" y="5004000"/>
                <a:ext cx="22723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3" name="Freeform 72"/>
              <p:cNvSpPr/>
              <p:nvPr/>
            </p:nvSpPr>
            <p:spPr>
              <a:xfrm rot="16200000">
                <a:off x="7350778" y="5137786"/>
                <a:ext cx="607344" cy="419457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4" name="Straight Connector 73"/>
              <p:cNvSpPr/>
              <p:nvPr/>
            </p:nvSpPr>
            <p:spPr>
              <a:xfrm>
                <a:off x="8015759" y="5688000"/>
                <a:ext cx="1060561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75" name="TextBox 74"/>
            <p:cNvSpPr txBox="1"/>
            <p:nvPr/>
          </p:nvSpPr>
          <p:spPr>
            <a:xfrm>
              <a:off x="7696200" y="3123639"/>
              <a:ext cx="1295400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Inhibitory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 </a:t>
              </a: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neurons</a:t>
              </a:r>
              <a:endParaRPr lang="it-IT" sz="12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76" name="Straight Connector 75"/>
            <p:cNvSpPr/>
            <p:nvPr/>
          </p:nvSpPr>
          <p:spPr>
            <a:xfrm>
              <a:off x="6248400" y="685800"/>
              <a:ext cx="0" cy="35609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0" y="587460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chemeClr val="tx1"/>
                </a:solidFill>
                <a:latin typeface="+mj-lt"/>
              </a:rPr>
              <a:t>LFP modeled as sum of absolute values of Excitatory and Inhibitory currents on Excitatory neurons</a:t>
            </a:r>
          </a:p>
        </p:txBody>
      </p:sp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5334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Integrate and fire models of local cortical excitatory-inhibitory networks</a:t>
            </a:r>
          </a:p>
        </p:txBody>
      </p:sp>
    </p:spTree>
    <p:extLst>
      <p:ext uri="{BB962C8B-B14F-4D97-AF65-F5344CB8AC3E}">
        <p14:creationId xmlns:p14="http://schemas.microsoft.com/office/powerpoint/2010/main" val="423829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7"/>
          <p:cNvGrpSpPr/>
          <p:nvPr/>
        </p:nvGrpSpPr>
        <p:grpSpPr>
          <a:xfrm>
            <a:off x="891902" y="1060473"/>
            <a:ext cx="6324600" cy="4729199"/>
            <a:chOff x="5715000" y="685800"/>
            <a:chExt cx="3429000" cy="2590532"/>
          </a:xfrm>
        </p:grpSpPr>
        <p:sp>
          <p:nvSpPr>
            <p:cNvPr id="16" name="TextBox 15"/>
            <p:cNvSpPr txBox="1"/>
            <p:nvPr/>
          </p:nvSpPr>
          <p:spPr>
            <a:xfrm>
              <a:off x="6254008" y="1034142"/>
              <a:ext cx="1108364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rgbClr val="FF0000"/>
                  </a:solidFill>
                  <a:latin typeface="+mj-lt"/>
                  <a:ea typeface="DejaVu Sans" pitchFamily="2"/>
                  <a:cs typeface="DejaVu Sans" pitchFamily="2"/>
                </a:rPr>
                <a:t>Excitatory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rgbClr val="FF0000"/>
                  </a:solidFill>
                  <a:latin typeface="+mj-lt"/>
                  <a:ea typeface="DejaVu Sans" pitchFamily="2"/>
                  <a:cs typeface="DejaVu Sans" pitchFamily="2"/>
                </a:rPr>
                <a:t> SINK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324600" y="2209239"/>
              <a:ext cx="1336964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rgbClr val="0000FF"/>
                  </a:solidFill>
                  <a:latin typeface="+mj-lt"/>
                  <a:ea typeface="DejaVu Sans" pitchFamily="2"/>
                  <a:cs typeface="DejaVu Sans" pitchFamily="2"/>
                </a:rPr>
                <a:t>Inhibitory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rgbClr val="0000FF"/>
                  </a:solidFill>
                  <a:latin typeface="+mj-lt"/>
                  <a:ea typeface="DejaVu Sans" pitchFamily="2"/>
                  <a:cs typeface="DejaVu Sans" pitchFamily="2"/>
                </a:rPr>
                <a:t> SOURCE</a:t>
              </a:r>
            </a:p>
          </p:txBody>
        </p:sp>
        <p:sp>
          <p:nvSpPr>
            <p:cNvPr id="18" name="Freeform 17"/>
            <p:cNvSpPr/>
            <p:nvPr/>
          </p:nvSpPr>
          <p:spPr>
            <a:xfrm>
              <a:off x="5715000" y="2673221"/>
              <a:ext cx="414193" cy="41544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19" name="Straight Connector 18"/>
            <p:cNvSpPr/>
            <p:nvPr/>
          </p:nvSpPr>
          <p:spPr>
            <a:xfrm flipV="1">
              <a:off x="5809673" y="1284452"/>
              <a:ext cx="0" cy="14243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0" name="Straight Connector 19"/>
            <p:cNvSpPr/>
            <p:nvPr/>
          </p:nvSpPr>
          <p:spPr>
            <a:xfrm flipV="1">
              <a:off x="6022686" y="916488"/>
              <a:ext cx="0" cy="17804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1" name="Freeform 20"/>
            <p:cNvSpPr/>
            <p:nvPr/>
          </p:nvSpPr>
          <p:spPr>
            <a:xfrm>
              <a:off x="5868843" y="1047056"/>
              <a:ext cx="355023" cy="296746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2" name="Straight Connector 21"/>
            <p:cNvSpPr/>
            <p:nvPr/>
          </p:nvSpPr>
          <p:spPr>
            <a:xfrm flipV="1">
              <a:off x="6164695" y="1308192"/>
              <a:ext cx="0" cy="83088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3" name="Straight Connector 22"/>
            <p:cNvSpPr/>
            <p:nvPr/>
          </p:nvSpPr>
          <p:spPr>
            <a:xfrm flipV="1">
              <a:off x="5809673" y="916488"/>
              <a:ext cx="0" cy="17804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4" name="Freeform 23"/>
            <p:cNvSpPr/>
            <p:nvPr/>
          </p:nvSpPr>
          <p:spPr>
            <a:xfrm flipH="1">
              <a:off x="5857009" y="2210298"/>
              <a:ext cx="295852" cy="296746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5" name="Straight Connector 24"/>
            <p:cNvSpPr/>
            <p:nvPr/>
          </p:nvSpPr>
          <p:spPr>
            <a:xfrm flipV="1">
              <a:off x="6259368" y="1308192"/>
              <a:ext cx="0" cy="83088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6" name="Straight Connector 25"/>
            <p:cNvSpPr/>
            <p:nvPr/>
          </p:nvSpPr>
          <p:spPr>
            <a:xfrm>
              <a:off x="6259368" y="2447695"/>
              <a:ext cx="0" cy="35609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7" name="Straight Connector 26"/>
            <p:cNvSpPr/>
            <p:nvPr/>
          </p:nvSpPr>
          <p:spPr>
            <a:xfrm flipV="1">
              <a:off x="6401377" y="1426890"/>
              <a:ext cx="946727" cy="1780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8" name="Straight Connector 27"/>
            <p:cNvSpPr/>
            <p:nvPr/>
          </p:nvSpPr>
          <p:spPr>
            <a:xfrm>
              <a:off x="6401377" y="1699896"/>
              <a:ext cx="946727" cy="1780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00800" y="1828239"/>
              <a:ext cx="1112116" cy="278751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>
                  <a:ln>
                    <a:noFill/>
                  </a:ln>
                  <a:latin typeface="+mj-lt"/>
                  <a:ea typeface="DejaVu Sans" pitchFamily="2"/>
                  <a:cs typeface="DejaVu Sans" pitchFamily="2"/>
                </a:rPr>
                <a:t>ELECTRODE</a:t>
              </a:r>
            </a:p>
          </p:txBody>
        </p:sp>
        <p:grpSp>
          <p:nvGrpSpPr>
            <p:cNvPr id="3" name="Group 29"/>
            <p:cNvGrpSpPr/>
            <p:nvPr/>
          </p:nvGrpSpPr>
          <p:grpSpPr>
            <a:xfrm>
              <a:off x="7762298" y="940228"/>
              <a:ext cx="272184" cy="913976"/>
              <a:chOff x="6840000" y="864000"/>
              <a:chExt cx="828000" cy="2771999"/>
            </a:xfrm>
          </p:grpSpPr>
          <p:sp>
            <p:nvSpPr>
              <p:cNvPr id="31" name="Freeform 30"/>
              <p:cNvSpPr/>
              <p:nvPr/>
            </p:nvSpPr>
            <p:spPr>
              <a:xfrm>
                <a:off x="6840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2" name="Straight Connector 31"/>
              <p:cNvSpPr/>
              <p:nvPr/>
            </p:nvSpPr>
            <p:spPr>
              <a:xfrm flipV="1">
                <a:off x="6983999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3" name="Straight Connector 32"/>
              <p:cNvSpPr/>
              <p:nvPr/>
            </p:nvSpPr>
            <p:spPr>
              <a:xfrm flipV="1">
                <a:off x="7308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4" name="Freeform 33"/>
              <p:cNvSpPr/>
              <p:nvPr/>
            </p:nvSpPr>
            <p:spPr>
              <a:xfrm>
                <a:off x="7074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5" name="Straight Connector 34"/>
              <p:cNvSpPr/>
              <p:nvPr/>
            </p:nvSpPr>
            <p:spPr>
              <a:xfrm flipV="1">
                <a:off x="7523999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6" name="Straight Connector 35"/>
              <p:cNvSpPr/>
              <p:nvPr/>
            </p:nvSpPr>
            <p:spPr>
              <a:xfrm flipV="1">
                <a:off x="6983999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7" name="Freeform 36"/>
              <p:cNvSpPr/>
              <p:nvPr/>
            </p:nvSpPr>
            <p:spPr>
              <a:xfrm flipH="1">
                <a:off x="7056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8" name="Straight Connector 37"/>
              <p:cNvSpPr/>
              <p:nvPr/>
            </p:nvSpPr>
            <p:spPr>
              <a:xfrm flipV="1">
                <a:off x="7668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39" name="TextBox 38"/>
            <p:cNvSpPr txBox="1"/>
            <p:nvPr/>
          </p:nvSpPr>
          <p:spPr>
            <a:xfrm>
              <a:off x="7543801" y="1828800"/>
              <a:ext cx="1600199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Excitatory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 </a:t>
              </a: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neurons</a:t>
              </a:r>
              <a:endParaRPr lang="it-IT" sz="12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grpSp>
          <p:nvGrpSpPr>
            <p:cNvPr id="4" name="Group 39"/>
            <p:cNvGrpSpPr/>
            <p:nvPr/>
          </p:nvGrpSpPr>
          <p:grpSpPr>
            <a:xfrm>
              <a:off x="8129155" y="940228"/>
              <a:ext cx="272184" cy="913976"/>
              <a:chOff x="7956000" y="864000"/>
              <a:chExt cx="828000" cy="2771999"/>
            </a:xfrm>
          </p:grpSpPr>
          <p:sp>
            <p:nvSpPr>
              <p:cNvPr id="41" name="Freeform 40"/>
              <p:cNvSpPr/>
              <p:nvPr/>
            </p:nvSpPr>
            <p:spPr>
              <a:xfrm>
                <a:off x="7956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2" name="Straight Connector 41"/>
              <p:cNvSpPr/>
              <p:nvPr/>
            </p:nvSpPr>
            <p:spPr>
              <a:xfrm flipV="1">
                <a:off x="8100000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3" name="Straight Connector 42"/>
              <p:cNvSpPr/>
              <p:nvPr/>
            </p:nvSpPr>
            <p:spPr>
              <a:xfrm flipV="1">
                <a:off x="8424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4" name="Freeform 43"/>
              <p:cNvSpPr/>
              <p:nvPr/>
            </p:nvSpPr>
            <p:spPr>
              <a:xfrm>
                <a:off x="8190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5" name="Straight Connector 44"/>
              <p:cNvSpPr/>
              <p:nvPr/>
            </p:nvSpPr>
            <p:spPr>
              <a:xfrm flipV="1">
                <a:off x="8640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6" name="Straight Connector 45"/>
              <p:cNvSpPr/>
              <p:nvPr/>
            </p:nvSpPr>
            <p:spPr>
              <a:xfrm flipV="1">
                <a:off x="8100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7" name="Freeform 46"/>
              <p:cNvSpPr/>
              <p:nvPr/>
            </p:nvSpPr>
            <p:spPr>
              <a:xfrm flipH="1">
                <a:off x="8172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8" name="Straight Connector 47"/>
              <p:cNvSpPr/>
              <p:nvPr/>
            </p:nvSpPr>
            <p:spPr>
              <a:xfrm flipV="1">
                <a:off x="8784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grpSp>
          <p:nvGrpSpPr>
            <p:cNvPr id="5" name="Group 48"/>
            <p:cNvGrpSpPr/>
            <p:nvPr/>
          </p:nvGrpSpPr>
          <p:grpSpPr>
            <a:xfrm>
              <a:off x="8472343" y="940228"/>
              <a:ext cx="272184" cy="913976"/>
              <a:chOff x="9000000" y="864000"/>
              <a:chExt cx="828000" cy="2771999"/>
            </a:xfrm>
          </p:grpSpPr>
          <p:sp>
            <p:nvSpPr>
              <p:cNvPr id="50" name="Freeform 49"/>
              <p:cNvSpPr/>
              <p:nvPr/>
            </p:nvSpPr>
            <p:spPr>
              <a:xfrm>
                <a:off x="9000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1" name="Straight Connector 50"/>
              <p:cNvSpPr/>
              <p:nvPr/>
            </p:nvSpPr>
            <p:spPr>
              <a:xfrm flipV="1">
                <a:off x="9144000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2" name="Straight Connector 51"/>
              <p:cNvSpPr/>
              <p:nvPr/>
            </p:nvSpPr>
            <p:spPr>
              <a:xfrm flipV="1">
                <a:off x="9468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3" name="Freeform 52"/>
              <p:cNvSpPr/>
              <p:nvPr/>
            </p:nvSpPr>
            <p:spPr>
              <a:xfrm>
                <a:off x="9234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4" name="Straight Connector 53"/>
              <p:cNvSpPr/>
              <p:nvPr/>
            </p:nvSpPr>
            <p:spPr>
              <a:xfrm flipV="1">
                <a:off x="9684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5" name="Straight Connector 54"/>
              <p:cNvSpPr/>
              <p:nvPr/>
            </p:nvSpPr>
            <p:spPr>
              <a:xfrm flipV="1">
                <a:off x="9144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6" name="Freeform 55"/>
              <p:cNvSpPr/>
              <p:nvPr/>
            </p:nvSpPr>
            <p:spPr>
              <a:xfrm flipH="1">
                <a:off x="9216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7" name="Straight Connector 56"/>
              <p:cNvSpPr/>
              <p:nvPr/>
            </p:nvSpPr>
            <p:spPr>
              <a:xfrm flipV="1">
                <a:off x="9828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58" name="Freeform 57"/>
            <p:cNvSpPr/>
            <p:nvPr/>
          </p:nvSpPr>
          <p:spPr>
            <a:xfrm rot="5400000">
              <a:off x="8572040" y="2879704"/>
              <a:ext cx="207722" cy="1741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59" name="Straight Connector 58"/>
            <p:cNvSpPr/>
            <p:nvPr/>
          </p:nvSpPr>
          <p:spPr>
            <a:xfrm flipH="1">
              <a:off x="7987618" y="3021399"/>
              <a:ext cx="5976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0" name="Straight Connector 59"/>
            <p:cNvSpPr/>
            <p:nvPr/>
          </p:nvSpPr>
          <p:spPr>
            <a:xfrm flipH="1">
              <a:off x="7833302" y="2914570"/>
              <a:ext cx="7469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1" name="Freeform 60"/>
            <p:cNvSpPr/>
            <p:nvPr/>
          </p:nvSpPr>
          <p:spPr>
            <a:xfrm rot="5400000">
              <a:off x="8383070" y="2846117"/>
              <a:ext cx="178047" cy="124613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2" name="Straight Connector 61"/>
            <p:cNvSpPr/>
            <p:nvPr/>
          </p:nvSpPr>
          <p:spPr>
            <a:xfrm flipH="1">
              <a:off x="7997559" y="2843352"/>
              <a:ext cx="34863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3" name="Straight Connector 62"/>
            <p:cNvSpPr/>
            <p:nvPr/>
          </p:nvSpPr>
          <p:spPr>
            <a:xfrm flipH="1">
              <a:off x="7833302" y="3021399"/>
              <a:ext cx="7469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4" name="Freeform 63"/>
            <p:cNvSpPr/>
            <p:nvPr/>
          </p:nvSpPr>
          <p:spPr>
            <a:xfrm rot="16200000">
              <a:off x="7770387" y="2821414"/>
              <a:ext cx="156427" cy="152400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5" name="Straight Connector 64"/>
            <p:cNvSpPr/>
            <p:nvPr/>
          </p:nvSpPr>
          <p:spPr>
            <a:xfrm flipH="1">
              <a:off x="7997559" y="2795872"/>
              <a:ext cx="34863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grpSp>
          <p:nvGrpSpPr>
            <p:cNvPr id="6" name="Group 65"/>
            <p:cNvGrpSpPr/>
            <p:nvPr/>
          </p:nvGrpSpPr>
          <p:grpSpPr>
            <a:xfrm>
              <a:off x="7750464" y="2392299"/>
              <a:ext cx="911225" cy="273006"/>
              <a:chOff x="6804000" y="4860000"/>
              <a:chExt cx="2772000" cy="828000"/>
            </a:xfrm>
          </p:grpSpPr>
          <p:sp>
            <p:nvSpPr>
              <p:cNvPr id="67" name="Freeform 66"/>
              <p:cNvSpPr/>
              <p:nvPr/>
            </p:nvSpPr>
            <p:spPr>
              <a:xfrm rot="5400000">
                <a:off x="6753960" y="4910040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68" name="Straight Connector 67"/>
              <p:cNvSpPr/>
              <p:nvPr/>
            </p:nvSpPr>
            <p:spPr>
              <a:xfrm>
                <a:off x="7288559" y="5004000"/>
                <a:ext cx="181800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69" name="Straight Connector 68"/>
              <p:cNvSpPr/>
              <p:nvPr/>
            </p:nvSpPr>
            <p:spPr>
              <a:xfrm>
                <a:off x="7303679" y="5328000"/>
                <a:ext cx="22723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0" name="Freeform 69"/>
              <p:cNvSpPr/>
              <p:nvPr/>
            </p:nvSpPr>
            <p:spPr>
              <a:xfrm rot="5400000">
                <a:off x="8950139" y="5174460"/>
                <a:ext cx="539999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1" name="Straight Connector 70"/>
              <p:cNvSpPr/>
              <p:nvPr/>
            </p:nvSpPr>
            <p:spPr>
              <a:xfrm>
                <a:off x="8015759" y="5544000"/>
                <a:ext cx="1060561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2" name="Straight Connector 71"/>
              <p:cNvSpPr/>
              <p:nvPr/>
            </p:nvSpPr>
            <p:spPr>
              <a:xfrm>
                <a:off x="7303679" y="5004000"/>
                <a:ext cx="22723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3" name="Freeform 72"/>
              <p:cNvSpPr/>
              <p:nvPr/>
            </p:nvSpPr>
            <p:spPr>
              <a:xfrm rot="16200000">
                <a:off x="7350778" y="5137786"/>
                <a:ext cx="607344" cy="419457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4" name="Straight Connector 73"/>
              <p:cNvSpPr/>
              <p:nvPr/>
            </p:nvSpPr>
            <p:spPr>
              <a:xfrm>
                <a:off x="8015759" y="5688000"/>
                <a:ext cx="1060561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75" name="TextBox 74"/>
            <p:cNvSpPr txBox="1"/>
            <p:nvPr/>
          </p:nvSpPr>
          <p:spPr>
            <a:xfrm>
              <a:off x="7696200" y="3123639"/>
              <a:ext cx="1295400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Inhibitory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 </a:t>
              </a: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neurons</a:t>
              </a:r>
              <a:endParaRPr lang="it-IT" sz="12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76" name="Straight Connector 75"/>
            <p:cNvSpPr/>
            <p:nvPr/>
          </p:nvSpPr>
          <p:spPr>
            <a:xfrm>
              <a:off x="6248400" y="685800"/>
              <a:ext cx="0" cy="35609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0" y="587460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chemeClr val="tx1"/>
                </a:solidFill>
                <a:latin typeface="+mj-lt"/>
              </a:rPr>
              <a:t>LFP modeled as sum of absolute values of Excitatory and Inhibitory currents on Excitatory neurons</a:t>
            </a:r>
          </a:p>
        </p:txBody>
      </p:sp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5334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Integrate and fire models of local cortical excitatory-inhibitory networks</a:t>
            </a:r>
          </a:p>
        </p:txBody>
      </p:sp>
      <p:sp>
        <p:nvSpPr>
          <p:cNvPr id="66" name="Rettangolo 65">
            <a:extLst>
              <a:ext uri="{FF2B5EF4-FFF2-40B4-BE49-F238E27FC236}">
                <a16:creationId xmlns:a16="http://schemas.microsoft.com/office/drawing/2014/main" id="{C66E411E-9922-4470-9466-AD1A4C8DB139}"/>
              </a:ext>
            </a:extLst>
          </p:cNvPr>
          <p:cNvSpPr/>
          <p:nvPr/>
        </p:nvSpPr>
        <p:spPr>
          <a:xfrm>
            <a:off x="4572000" y="1753923"/>
            <a:ext cx="1994005" cy="333409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Dipole</a:t>
            </a:r>
            <a:r>
              <a:rPr lang="it-IT" sz="2400" b="1" dirty="0"/>
              <a:t> </a:t>
            </a:r>
            <a:r>
              <a:rPr lang="it-IT" sz="2400" b="1" dirty="0" err="1"/>
              <a:t>effect</a:t>
            </a:r>
            <a:r>
              <a:rPr lang="it-IT" sz="2400" dirty="0"/>
              <a:t>: the </a:t>
            </a:r>
            <a:r>
              <a:rPr lang="it-IT" sz="2400" dirty="0" err="1"/>
              <a:t>distance</a:t>
            </a:r>
            <a:r>
              <a:rPr lang="it-IT" sz="2400" dirty="0"/>
              <a:t> </a:t>
            </a:r>
            <a:r>
              <a:rPr lang="it-IT" sz="2400" dirty="0" err="1"/>
              <a:t>between</a:t>
            </a:r>
            <a:r>
              <a:rPr lang="it-IT" sz="2400" dirty="0"/>
              <a:t> </a:t>
            </a:r>
            <a:r>
              <a:rPr lang="it-IT" sz="2400" dirty="0" err="1"/>
              <a:t>sink</a:t>
            </a:r>
            <a:r>
              <a:rPr lang="it-IT" sz="2400" dirty="0"/>
              <a:t> and source </a:t>
            </a:r>
            <a:r>
              <a:rPr lang="it-IT" sz="2400" dirty="0" err="1"/>
              <a:t>creates</a:t>
            </a:r>
            <a:r>
              <a:rPr lang="it-IT" sz="2400" dirty="0"/>
              <a:t> a </a:t>
            </a:r>
            <a:r>
              <a:rPr lang="it-IT" sz="2400" dirty="0" err="1"/>
              <a:t>dipole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581854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7"/>
          <p:cNvGrpSpPr/>
          <p:nvPr/>
        </p:nvGrpSpPr>
        <p:grpSpPr>
          <a:xfrm>
            <a:off x="899592" y="1156418"/>
            <a:ext cx="6324600" cy="4729199"/>
            <a:chOff x="5715000" y="685800"/>
            <a:chExt cx="3429000" cy="2590532"/>
          </a:xfrm>
        </p:grpSpPr>
        <p:sp>
          <p:nvSpPr>
            <p:cNvPr id="16" name="TextBox 15"/>
            <p:cNvSpPr txBox="1"/>
            <p:nvPr/>
          </p:nvSpPr>
          <p:spPr>
            <a:xfrm>
              <a:off x="6254008" y="1034142"/>
              <a:ext cx="1108364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rgbClr val="FF0000"/>
                  </a:solidFill>
                  <a:latin typeface="+mj-lt"/>
                  <a:ea typeface="DejaVu Sans" pitchFamily="2"/>
                  <a:cs typeface="DejaVu Sans" pitchFamily="2"/>
                </a:rPr>
                <a:t>Excitatory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rgbClr val="FF0000"/>
                  </a:solidFill>
                  <a:latin typeface="+mj-lt"/>
                  <a:ea typeface="DejaVu Sans" pitchFamily="2"/>
                  <a:cs typeface="DejaVu Sans" pitchFamily="2"/>
                </a:rPr>
                <a:t> SINK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324600" y="2209239"/>
              <a:ext cx="1336964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rgbClr val="0000FF"/>
                  </a:solidFill>
                  <a:latin typeface="+mj-lt"/>
                  <a:ea typeface="DejaVu Sans" pitchFamily="2"/>
                  <a:cs typeface="DejaVu Sans" pitchFamily="2"/>
                </a:rPr>
                <a:t>Inhibitory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rgbClr val="0000FF"/>
                  </a:solidFill>
                  <a:latin typeface="+mj-lt"/>
                  <a:ea typeface="DejaVu Sans" pitchFamily="2"/>
                  <a:cs typeface="DejaVu Sans" pitchFamily="2"/>
                </a:rPr>
                <a:t> SOURCE</a:t>
              </a:r>
            </a:p>
          </p:txBody>
        </p:sp>
        <p:sp>
          <p:nvSpPr>
            <p:cNvPr id="18" name="Freeform 17"/>
            <p:cNvSpPr/>
            <p:nvPr/>
          </p:nvSpPr>
          <p:spPr>
            <a:xfrm>
              <a:off x="5715000" y="2673221"/>
              <a:ext cx="414193" cy="41544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19" name="Straight Connector 18"/>
            <p:cNvSpPr/>
            <p:nvPr/>
          </p:nvSpPr>
          <p:spPr>
            <a:xfrm flipV="1">
              <a:off x="5809673" y="1284452"/>
              <a:ext cx="0" cy="14243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0" name="Straight Connector 19"/>
            <p:cNvSpPr/>
            <p:nvPr/>
          </p:nvSpPr>
          <p:spPr>
            <a:xfrm flipV="1">
              <a:off x="6022686" y="916488"/>
              <a:ext cx="0" cy="17804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1" name="Freeform 20"/>
            <p:cNvSpPr/>
            <p:nvPr/>
          </p:nvSpPr>
          <p:spPr>
            <a:xfrm>
              <a:off x="5868843" y="1047056"/>
              <a:ext cx="355023" cy="296746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2" name="Straight Connector 21"/>
            <p:cNvSpPr/>
            <p:nvPr/>
          </p:nvSpPr>
          <p:spPr>
            <a:xfrm flipV="1">
              <a:off x="6164695" y="1308192"/>
              <a:ext cx="0" cy="83088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3" name="Straight Connector 22"/>
            <p:cNvSpPr/>
            <p:nvPr/>
          </p:nvSpPr>
          <p:spPr>
            <a:xfrm flipV="1">
              <a:off x="5809673" y="916488"/>
              <a:ext cx="0" cy="178047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4" name="Freeform 23"/>
            <p:cNvSpPr/>
            <p:nvPr/>
          </p:nvSpPr>
          <p:spPr>
            <a:xfrm flipH="1">
              <a:off x="5857009" y="2210298"/>
              <a:ext cx="295852" cy="296746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5" name="Straight Connector 24"/>
            <p:cNvSpPr/>
            <p:nvPr/>
          </p:nvSpPr>
          <p:spPr>
            <a:xfrm flipV="1">
              <a:off x="6259368" y="1308192"/>
              <a:ext cx="0" cy="83088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6" name="Straight Connector 25"/>
            <p:cNvSpPr/>
            <p:nvPr/>
          </p:nvSpPr>
          <p:spPr>
            <a:xfrm>
              <a:off x="6259368" y="2447695"/>
              <a:ext cx="0" cy="35609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7" name="Straight Connector 26"/>
            <p:cNvSpPr/>
            <p:nvPr/>
          </p:nvSpPr>
          <p:spPr>
            <a:xfrm flipV="1">
              <a:off x="6401377" y="1426890"/>
              <a:ext cx="946727" cy="1780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8" name="Straight Connector 27"/>
            <p:cNvSpPr/>
            <p:nvPr/>
          </p:nvSpPr>
          <p:spPr>
            <a:xfrm>
              <a:off x="6401377" y="1699896"/>
              <a:ext cx="946727" cy="17804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00800" y="1828239"/>
              <a:ext cx="1112116" cy="278751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>
                  <a:ln>
                    <a:noFill/>
                  </a:ln>
                  <a:latin typeface="+mj-lt"/>
                  <a:ea typeface="DejaVu Sans" pitchFamily="2"/>
                  <a:cs typeface="DejaVu Sans" pitchFamily="2"/>
                </a:rPr>
                <a:t>ELECTRODE</a:t>
              </a:r>
            </a:p>
          </p:txBody>
        </p:sp>
        <p:grpSp>
          <p:nvGrpSpPr>
            <p:cNvPr id="3" name="Group 29"/>
            <p:cNvGrpSpPr/>
            <p:nvPr/>
          </p:nvGrpSpPr>
          <p:grpSpPr>
            <a:xfrm>
              <a:off x="7762298" y="940228"/>
              <a:ext cx="272184" cy="913976"/>
              <a:chOff x="6840000" y="864000"/>
              <a:chExt cx="828000" cy="2771999"/>
            </a:xfrm>
          </p:grpSpPr>
          <p:sp>
            <p:nvSpPr>
              <p:cNvPr id="31" name="Freeform 30"/>
              <p:cNvSpPr/>
              <p:nvPr/>
            </p:nvSpPr>
            <p:spPr>
              <a:xfrm>
                <a:off x="6840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2" name="Straight Connector 31"/>
              <p:cNvSpPr/>
              <p:nvPr/>
            </p:nvSpPr>
            <p:spPr>
              <a:xfrm flipV="1">
                <a:off x="6983999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3" name="Straight Connector 32"/>
              <p:cNvSpPr/>
              <p:nvPr/>
            </p:nvSpPr>
            <p:spPr>
              <a:xfrm flipV="1">
                <a:off x="7308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4" name="Freeform 33"/>
              <p:cNvSpPr/>
              <p:nvPr/>
            </p:nvSpPr>
            <p:spPr>
              <a:xfrm>
                <a:off x="7074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5" name="Straight Connector 34"/>
              <p:cNvSpPr/>
              <p:nvPr/>
            </p:nvSpPr>
            <p:spPr>
              <a:xfrm flipV="1">
                <a:off x="7523999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6" name="Straight Connector 35"/>
              <p:cNvSpPr/>
              <p:nvPr/>
            </p:nvSpPr>
            <p:spPr>
              <a:xfrm flipV="1">
                <a:off x="6983999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7" name="Freeform 36"/>
              <p:cNvSpPr/>
              <p:nvPr/>
            </p:nvSpPr>
            <p:spPr>
              <a:xfrm flipH="1">
                <a:off x="7056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38" name="Straight Connector 37"/>
              <p:cNvSpPr/>
              <p:nvPr/>
            </p:nvSpPr>
            <p:spPr>
              <a:xfrm flipV="1">
                <a:off x="7668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39" name="TextBox 38"/>
            <p:cNvSpPr txBox="1"/>
            <p:nvPr/>
          </p:nvSpPr>
          <p:spPr>
            <a:xfrm>
              <a:off x="7543801" y="1828800"/>
              <a:ext cx="1600199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Excitatory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 </a:t>
              </a: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neurons</a:t>
              </a:r>
              <a:endParaRPr lang="it-IT" sz="12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grpSp>
          <p:nvGrpSpPr>
            <p:cNvPr id="4" name="Group 39"/>
            <p:cNvGrpSpPr/>
            <p:nvPr/>
          </p:nvGrpSpPr>
          <p:grpSpPr>
            <a:xfrm>
              <a:off x="8129155" y="940228"/>
              <a:ext cx="272184" cy="913976"/>
              <a:chOff x="7956000" y="864000"/>
              <a:chExt cx="828000" cy="2771999"/>
            </a:xfrm>
          </p:grpSpPr>
          <p:sp>
            <p:nvSpPr>
              <p:cNvPr id="41" name="Freeform 40"/>
              <p:cNvSpPr/>
              <p:nvPr/>
            </p:nvSpPr>
            <p:spPr>
              <a:xfrm>
                <a:off x="7956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2" name="Straight Connector 41"/>
              <p:cNvSpPr/>
              <p:nvPr/>
            </p:nvSpPr>
            <p:spPr>
              <a:xfrm flipV="1">
                <a:off x="8100000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3" name="Straight Connector 42"/>
              <p:cNvSpPr/>
              <p:nvPr/>
            </p:nvSpPr>
            <p:spPr>
              <a:xfrm flipV="1">
                <a:off x="8424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4" name="Freeform 43"/>
              <p:cNvSpPr/>
              <p:nvPr/>
            </p:nvSpPr>
            <p:spPr>
              <a:xfrm>
                <a:off x="8190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5" name="Straight Connector 44"/>
              <p:cNvSpPr/>
              <p:nvPr/>
            </p:nvSpPr>
            <p:spPr>
              <a:xfrm flipV="1">
                <a:off x="8640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6" name="Straight Connector 45"/>
              <p:cNvSpPr/>
              <p:nvPr/>
            </p:nvSpPr>
            <p:spPr>
              <a:xfrm flipV="1">
                <a:off x="8100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7" name="Freeform 46"/>
              <p:cNvSpPr/>
              <p:nvPr/>
            </p:nvSpPr>
            <p:spPr>
              <a:xfrm flipH="1">
                <a:off x="8172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48" name="Straight Connector 47"/>
              <p:cNvSpPr/>
              <p:nvPr/>
            </p:nvSpPr>
            <p:spPr>
              <a:xfrm flipV="1">
                <a:off x="8784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grpSp>
          <p:nvGrpSpPr>
            <p:cNvPr id="5" name="Group 48"/>
            <p:cNvGrpSpPr/>
            <p:nvPr/>
          </p:nvGrpSpPr>
          <p:grpSpPr>
            <a:xfrm>
              <a:off x="8472343" y="940228"/>
              <a:ext cx="272184" cy="913976"/>
              <a:chOff x="9000000" y="864000"/>
              <a:chExt cx="828000" cy="2771999"/>
            </a:xfrm>
          </p:grpSpPr>
          <p:sp>
            <p:nvSpPr>
              <p:cNvPr id="50" name="Freeform 49"/>
              <p:cNvSpPr/>
              <p:nvPr/>
            </p:nvSpPr>
            <p:spPr>
              <a:xfrm>
                <a:off x="9000000" y="3106079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1" name="Straight Connector 50"/>
              <p:cNvSpPr/>
              <p:nvPr/>
            </p:nvSpPr>
            <p:spPr>
              <a:xfrm flipV="1">
                <a:off x="9144000" y="1333440"/>
                <a:ext cx="0" cy="181800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2" name="Straight Connector 51"/>
              <p:cNvSpPr/>
              <p:nvPr/>
            </p:nvSpPr>
            <p:spPr>
              <a:xfrm flipV="1">
                <a:off x="9468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3" name="Freeform 52"/>
              <p:cNvSpPr/>
              <p:nvPr/>
            </p:nvSpPr>
            <p:spPr>
              <a:xfrm>
                <a:off x="9234000" y="1030319"/>
                <a:ext cx="540000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4" name="Straight Connector 53"/>
              <p:cNvSpPr/>
              <p:nvPr/>
            </p:nvSpPr>
            <p:spPr>
              <a:xfrm flipV="1">
                <a:off x="9684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5" name="Straight Connector 54"/>
              <p:cNvSpPr/>
              <p:nvPr/>
            </p:nvSpPr>
            <p:spPr>
              <a:xfrm flipV="1">
                <a:off x="9144000" y="864000"/>
                <a:ext cx="0" cy="227232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6" name="Freeform 55"/>
              <p:cNvSpPr/>
              <p:nvPr/>
            </p:nvSpPr>
            <p:spPr>
              <a:xfrm flipH="1">
                <a:off x="9216000" y="2514960"/>
                <a:ext cx="450000" cy="37872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57" name="Straight Connector 56"/>
              <p:cNvSpPr/>
              <p:nvPr/>
            </p:nvSpPr>
            <p:spPr>
              <a:xfrm flipV="1">
                <a:off x="9828000" y="1363680"/>
                <a:ext cx="0" cy="106056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58" name="Freeform 57"/>
            <p:cNvSpPr/>
            <p:nvPr/>
          </p:nvSpPr>
          <p:spPr>
            <a:xfrm rot="5400000">
              <a:off x="8572040" y="2879704"/>
              <a:ext cx="207722" cy="17419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59" name="Straight Connector 58"/>
            <p:cNvSpPr/>
            <p:nvPr/>
          </p:nvSpPr>
          <p:spPr>
            <a:xfrm flipH="1">
              <a:off x="7987618" y="3021399"/>
              <a:ext cx="597621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0" name="Straight Connector 59"/>
            <p:cNvSpPr/>
            <p:nvPr/>
          </p:nvSpPr>
          <p:spPr>
            <a:xfrm flipH="1">
              <a:off x="7833302" y="2914570"/>
              <a:ext cx="7469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1" name="Freeform 60"/>
            <p:cNvSpPr/>
            <p:nvPr/>
          </p:nvSpPr>
          <p:spPr>
            <a:xfrm rot="5400000">
              <a:off x="8383070" y="2846117"/>
              <a:ext cx="178047" cy="124613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2" name="Straight Connector 61"/>
            <p:cNvSpPr/>
            <p:nvPr/>
          </p:nvSpPr>
          <p:spPr>
            <a:xfrm flipH="1">
              <a:off x="7997559" y="2843352"/>
              <a:ext cx="34863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3" name="Straight Connector 62"/>
            <p:cNvSpPr/>
            <p:nvPr/>
          </p:nvSpPr>
          <p:spPr>
            <a:xfrm flipH="1">
              <a:off x="7833302" y="3021399"/>
              <a:ext cx="74696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olid"/>
            </a:ln>
          </p:spPr>
          <p:txBody>
            <a:bodyPr vert="horz" lIns="144000" tIns="99000" rIns="144000" bIns="99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4" name="Freeform 63"/>
            <p:cNvSpPr/>
            <p:nvPr/>
          </p:nvSpPr>
          <p:spPr>
            <a:xfrm rot="16200000">
              <a:off x="7770387" y="2821414"/>
              <a:ext cx="156427" cy="152400"/>
            </a:xfrm>
            <a:custGeom>
              <a:avLst>
                <a:gd name="f0" fmla="val 9119"/>
                <a:gd name="f1" fmla="val 5881"/>
              </a:avLst>
              <a:gdLst>
                <a:gd name="f2" fmla="val w"/>
                <a:gd name="f3" fmla="val h"/>
                <a:gd name="f4" fmla="val 0"/>
                <a:gd name="f5" fmla="val 21600"/>
                <a:gd name="f6" fmla="val 10800"/>
                <a:gd name="f7" fmla="*/ f2 1 21600"/>
                <a:gd name="f8" fmla="*/ f3 1 21600"/>
                <a:gd name="f9" fmla="pin 0 f0 21600"/>
                <a:gd name="f10" fmla="pin 0 f1 10800"/>
                <a:gd name="f11" fmla="val f10"/>
                <a:gd name="f12" fmla="val f9"/>
                <a:gd name="f13" fmla="+- 21600 0 f10"/>
                <a:gd name="f14" fmla="*/ f9 f7 1"/>
                <a:gd name="f15" fmla="*/ f10 f8 1"/>
                <a:gd name="f16" fmla="*/ 21600 f7 1"/>
                <a:gd name="f17" fmla="*/ f12 f11 1"/>
                <a:gd name="f18" fmla="*/ f13 f8 1"/>
                <a:gd name="f19" fmla="*/ f11 f8 1"/>
                <a:gd name="f20" fmla="*/ f17 1 10800"/>
                <a:gd name="f21" fmla="+- f12 0 f20"/>
                <a:gd name="f22" fmla="*/ f21 f7 1"/>
              </a:gdLst>
              <a:ahLst>
                <a:ahXY gdRefX="f0" minX="f4" maxX="f5" gdRefY="f1" minY="f4" maxY="f6">
                  <a:pos x="f14" y="f15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22" t="f19" r="f16" b="f18"/>
              <a:pathLst>
                <a:path w="21600" h="21600">
                  <a:moveTo>
                    <a:pt x="f5" y="f11"/>
                  </a:moveTo>
                  <a:lnTo>
                    <a:pt x="f12" y="f11"/>
                  </a:lnTo>
                  <a:lnTo>
                    <a:pt x="f12" y="f4"/>
                  </a:lnTo>
                  <a:lnTo>
                    <a:pt x="f4" y="f6"/>
                  </a:lnTo>
                  <a:lnTo>
                    <a:pt x="f12" y="f5"/>
                  </a:lnTo>
                  <a:lnTo>
                    <a:pt x="f12" y="f13"/>
                  </a:lnTo>
                  <a:lnTo>
                    <a:pt x="f5" y="f13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65" name="Straight Connector 64"/>
            <p:cNvSpPr/>
            <p:nvPr/>
          </p:nvSpPr>
          <p:spPr>
            <a:xfrm flipH="1">
              <a:off x="7997559" y="2795872"/>
              <a:ext cx="348632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grpSp>
          <p:nvGrpSpPr>
            <p:cNvPr id="6" name="Group 65"/>
            <p:cNvGrpSpPr/>
            <p:nvPr/>
          </p:nvGrpSpPr>
          <p:grpSpPr>
            <a:xfrm>
              <a:off x="7750464" y="2392299"/>
              <a:ext cx="911225" cy="273006"/>
              <a:chOff x="6804000" y="4860000"/>
              <a:chExt cx="2772000" cy="828000"/>
            </a:xfrm>
          </p:grpSpPr>
          <p:sp>
            <p:nvSpPr>
              <p:cNvPr id="67" name="Freeform 66"/>
              <p:cNvSpPr/>
              <p:nvPr/>
            </p:nvSpPr>
            <p:spPr>
              <a:xfrm rot="5400000">
                <a:off x="6753960" y="4910040"/>
                <a:ext cx="630000" cy="529920"/>
              </a:xfrm>
              <a:custGeom>
                <a:avLst/>
                <a:gdLst>
                  <a:gd name="f0" fmla="val 10800000"/>
                  <a:gd name="f1" fmla="val 5400000"/>
                  <a:gd name="f2" fmla="val 180"/>
                  <a:gd name="f3" fmla="val w"/>
                  <a:gd name="f4" fmla="val h"/>
                  <a:gd name="f5" fmla="*/ 5419351 1 1725033"/>
                  <a:gd name="f6" fmla="*/ 10800 10800 1"/>
                  <a:gd name="f7" fmla="+- 0 0 0"/>
                  <a:gd name="f8" fmla="+- 0 0 360"/>
                  <a:gd name="f9" fmla="val 10800"/>
                  <a:gd name="f10" fmla="*/ f3 1 21600"/>
                  <a:gd name="f11" fmla="*/ f4 1 21600"/>
                  <a:gd name="f12" fmla="*/ 0 f5 1"/>
                  <a:gd name="f13" fmla="*/ f7 f0 1"/>
                  <a:gd name="f14" fmla="*/ f8 f0 1"/>
                  <a:gd name="f15" fmla="*/ 3200 f10 1"/>
                  <a:gd name="f16" fmla="*/ 18400 f10 1"/>
                  <a:gd name="f17" fmla="*/ 18400 f11 1"/>
                  <a:gd name="f18" fmla="*/ 3200 f11 1"/>
                  <a:gd name="f19" fmla="*/ f12 1 f2"/>
                  <a:gd name="f20" fmla="*/ f13 1 f2"/>
                  <a:gd name="f21" fmla="*/ f14 1 f2"/>
                  <a:gd name="f22" fmla="*/ 10800 f10 1"/>
                  <a:gd name="f23" fmla="*/ 0 f11 1"/>
                  <a:gd name="f24" fmla="*/ 3160 f10 1"/>
                  <a:gd name="f25" fmla="*/ 3160 f11 1"/>
                  <a:gd name="f26" fmla="*/ 0 f10 1"/>
                  <a:gd name="f27" fmla="*/ 10800 f11 1"/>
                  <a:gd name="f28" fmla="*/ 18440 f11 1"/>
                  <a:gd name="f29" fmla="*/ 21600 f11 1"/>
                  <a:gd name="f30" fmla="*/ 18440 f10 1"/>
                  <a:gd name="f31" fmla="*/ 21600 f10 1"/>
                  <a:gd name="f32" fmla="+- 0 0 f19"/>
                  <a:gd name="f33" fmla="+- f20 0 f1"/>
                  <a:gd name="f34" fmla="+- f21 0 f1"/>
                  <a:gd name="f35" fmla="*/ f32 f0 1"/>
                  <a:gd name="f36" fmla="+- f34 0 f33"/>
                  <a:gd name="f37" fmla="*/ f35 1 f5"/>
                  <a:gd name="f38" fmla="+- f37 0 f1"/>
                  <a:gd name="f39" fmla="cos 1 f38"/>
                  <a:gd name="f40" fmla="sin 1 f38"/>
                  <a:gd name="f41" fmla="+- 0 0 f39"/>
                  <a:gd name="f42" fmla="+- 0 0 f40"/>
                  <a:gd name="f43" fmla="*/ 10800 f41 1"/>
                  <a:gd name="f44" fmla="*/ 10800 f42 1"/>
                  <a:gd name="f45" fmla="*/ f43 f43 1"/>
                  <a:gd name="f46" fmla="*/ f44 f44 1"/>
                  <a:gd name="f47" fmla="+- f45 f46 0"/>
                  <a:gd name="f48" fmla="sqrt f47"/>
                  <a:gd name="f49" fmla="*/ f6 1 f48"/>
                  <a:gd name="f50" fmla="*/ f41 f49 1"/>
                  <a:gd name="f51" fmla="*/ f42 f49 1"/>
                  <a:gd name="f52" fmla="+- 10800 0 f50"/>
                  <a:gd name="f53" fmla="+- 10800 0 f51"/>
                </a:gdLst>
                <a:ahLst/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  <a:cxn ang="f33">
                    <a:pos x="f22" y="f23"/>
                  </a:cxn>
                  <a:cxn ang="f33">
                    <a:pos x="f24" y="f25"/>
                  </a:cxn>
                  <a:cxn ang="f33">
                    <a:pos x="f26" y="f27"/>
                  </a:cxn>
                  <a:cxn ang="f33">
                    <a:pos x="f24" y="f28"/>
                  </a:cxn>
                  <a:cxn ang="f33">
                    <a:pos x="f22" y="f29"/>
                  </a:cxn>
                  <a:cxn ang="f33">
                    <a:pos x="f30" y="f28"/>
                  </a:cxn>
                  <a:cxn ang="f33">
                    <a:pos x="f31" y="f27"/>
                  </a:cxn>
                  <a:cxn ang="f33">
                    <a:pos x="f30" y="f25"/>
                  </a:cxn>
                </a:cxnLst>
                <a:rect l="f15" t="f18" r="f16" b="f17"/>
                <a:pathLst>
                  <a:path w="21600" h="21600">
                    <a:moveTo>
                      <a:pt x="f52" y="f53"/>
                    </a:moveTo>
                    <a:arcTo wR="f9" hR="f9" stAng="f33" swAng="f36"/>
                    <a:close/>
                  </a:path>
                </a:pathLst>
              </a:cu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68" name="Straight Connector 67"/>
              <p:cNvSpPr/>
              <p:nvPr/>
            </p:nvSpPr>
            <p:spPr>
              <a:xfrm>
                <a:off x="7288559" y="5004000"/>
                <a:ext cx="181800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69" name="Straight Connector 68"/>
              <p:cNvSpPr/>
              <p:nvPr/>
            </p:nvSpPr>
            <p:spPr>
              <a:xfrm>
                <a:off x="7303679" y="5328000"/>
                <a:ext cx="22723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0" name="Freeform 69"/>
              <p:cNvSpPr/>
              <p:nvPr/>
            </p:nvSpPr>
            <p:spPr>
              <a:xfrm rot="5400000">
                <a:off x="8950139" y="5174460"/>
                <a:ext cx="539999" cy="379080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FF0000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1" name="Straight Connector 70"/>
              <p:cNvSpPr/>
              <p:nvPr/>
            </p:nvSpPr>
            <p:spPr>
              <a:xfrm>
                <a:off x="8015759" y="5544000"/>
                <a:ext cx="1060561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2" name="Straight Connector 71"/>
              <p:cNvSpPr/>
              <p:nvPr/>
            </p:nvSpPr>
            <p:spPr>
              <a:xfrm>
                <a:off x="7303679" y="5004000"/>
                <a:ext cx="2272321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prstDash val="solid"/>
              </a:ln>
            </p:spPr>
            <p:txBody>
              <a:bodyPr vert="horz" lIns="144000" tIns="99000" rIns="144000" bIns="99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3" name="Freeform 72"/>
              <p:cNvSpPr/>
              <p:nvPr/>
            </p:nvSpPr>
            <p:spPr>
              <a:xfrm rot="16200000">
                <a:off x="7350778" y="5137786"/>
                <a:ext cx="607344" cy="419457"/>
              </a:xfrm>
              <a:custGeom>
                <a:avLst>
                  <a:gd name="f0" fmla="val 9119"/>
                  <a:gd name="f1" fmla="val 5881"/>
                </a:avLst>
                <a:gdLst>
                  <a:gd name="f2" fmla="val w"/>
                  <a:gd name="f3" fmla="val h"/>
                  <a:gd name="f4" fmla="val 0"/>
                  <a:gd name="f5" fmla="val 21600"/>
                  <a:gd name="f6" fmla="val 10800"/>
                  <a:gd name="f7" fmla="*/ f2 1 21600"/>
                  <a:gd name="f8" fmla="*/ f3 1 21600"/>
                  <a:gd name="f9" fmla="pin 0 f0 21600"/>
                  <a:gd name="f10" fmla="pin 0 f1 10800"/>
                  <a:gd name="f11" fmla="val f10"/>
                  <a:gd name="f12" fmla="val f9"/>
                  <a:gd name="f13" fmla="+- 21600 0 f10"/>
                  <a:gd name="f14" fmla="*/ f9 f7 1"/>
                  <a:gd name="f15" fmla="*/ f10 f8 1"/>
                  <a:gd name="f16" fmla="*/ 21600 f7 1"/>
                  <a:gd name="f17" fmla="*/ f12 f11 1"/>
                  <a:gd name="f18" fmla="*/ f13 f8 1"/>
                  <a:gd name="f19" fmla="*/ f11 f8 1"/>
                  <a:gd name="f20" fmla="*/ f17 1 10800"/>
                  <a:gd name="f21" fmla="+- f12 0 f20"/>
                  <a:gd name="f22" fmla="*/ f21 f7 1"/>
                </a:gdLst>
                <a:ahLst>
                  <a:ahXY gdRefX="f0" minX="f4" maxX="f5" gdRefY="f1" minY="f4" maxY="f6">
                    <a:pos x="f14" y="f15"/>
                  </a:ahXY>
                </a:ahLst>
                <a:cxnLst>
                  <a:cxn ang="3cd4">
                    <a:pos x="hc" y="t"/>
                  </a:cxn>
                  <a:cxn ang="0">
                    <a:pos x="r" y="vc"/>
                  </a:cxn>
                  <a:cxn ang="cd4">
                    <a:pos x="hc" y="b"/>
                  </a:cxn>
                  <a:cxn ang="cd2">
                    <a:pos x="l" y="vc"/>
                  </a:cxn>
                </a:cxnLst>
                <a:rect l="f22" t="f19" r="f16" b="f18"/>
                <a:pathLst>
                  <a:path w="21600" h="21600">
                    <a:moveTo>
                      <a:pt x="f5" y="f11"/>
                    </a:moveTo>
                    <a:lnTo>
                      <a:pt x="f12" y="f11"/>
                    </a:lnTo>
                    <a:lnTo>
                      <a:pt x="f12" y="f4"/>
                    </a:lnTo>
                    <a:lnTo>
                      <a:pt x="f4" y="f6"/>
                    </a:lnTo>
                    <a:lnTo>
                      <a:pt x="f12" y="f5"/>
                    </a:lnTo>
                    <a:lnTo>
                      <a:pt x="f12" y="f13"/>
                    </a:lnTo>
                    <a:lnTo>
                      <a:pt x="f5" y="f13"/>
                    </a:lnTo>
                    <a:close/>
                  </a:path>
                </a:pathLst>
              </a:custGeom>
              <a:noFill/>
              <a:ln w="25400">
                <a:solidFill>
                  <a:srgbClr val="0000FF"/>
                </a:solidFill>
                <a:prstDash val="solid"/>
              </a:ln>
            </p:spPr>
            <p:txBody>
              <a:bodyPr vert="horz" lIns="126000" tIns="81000" rIns="126000" bIns="81000" anchor="ctr" anchorCtr="0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  <p:sp>
            <p:nvSpPr>
              <p:cNvPr id="74" name="Straight Connector 73"/>
              <p:cNvSpPr/>
              <p:nvPr/>
            </p:nvSpPr>
            <p:spPr>
              <a:xfrm>
                <a:off x="8015759" y="5688000"/>
                <a:ext cx="1060561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prstDash val="solid"/>
                <a:tailEnd type="arrow"/>
              </a:ln>
            </p:spPr>
            <p:txBody>
              <a:bodyPr vert="horz" lIns="126000" tIns="81000" rIns="126000" bIns="81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it-IT" sz="1200" b="0" i="0" u="none" strike="noStrike" kern="120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endParaRPr>
              </a:p>
            </p:txBody>
          </p:sp>
        </p:grpSp>
        <p:sp>
          <p:nvSpPr>
            <p:cNvPr id="75" name="TextBox 74"/>
            <p:cNvSpPr txBox="1"/>
            <p:nvPr/>
          </p:nvSpPr>
          <p:spPr>
            <a:xfrm>
              <a:off x="7696200" y="3123639"/>
              <a:ext cx="1295400" cy="152693"/>
            </a:xfrm>
            <a:prstGeom prst="rect">
              <a:avLst/>
            </a:prstGeom>
            <a:noFill/>
            <a:ln w="25400">
              <a:noFill/>
            </a:ln>
          </p:spPr>
          <p:txBody>
            <a:bodyPr vert="horz" wrap="square" lIns="90000" tIns="45000" rIns="90000" bIns="45000" compatLnSpc="0">
              <a:sp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Inhibitory</a:t>
              </a:r>
              <a:r>
                <a:rPr lang="it-IT" sz="12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 </a:t>
              </a:r>
              <a:r>
                <a:rPr lang="it-IT" sz="1200" b="0" i="0" u="none" strike="noStrike" kern="1200" dirty="0" err="1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neurons</a:t>
              </a:r>
              <a:endParaRPr lang="it-IT" sz="12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  <p:sp>
          <p:nvSpPr>
            <p:cNvPr id="76" name="Straight Connector 75"/>
            <p:cNvSpPr/>
            <p:nvPr/>
          </p:nvSpPr>
          <p:spPr>
            <a:xfrm>
              <a:off x="6248400" y="685800"/>
              <a:ext cx="0" cy="35609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olid"/>
              <a:tailEnd type="arrow"/>
            </a:ln>
          </p:spPr>
          <p:txBody>
            <a:bodyPr vert="horz" lIns="126000" tIns="81000" rIns="126000" bIns="81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it-IT" sz="1200" b="0" i="0" u="none" strike="noStrike" kern="120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endParaRPr>
            </a:p>
          </p:txBody>
        </p:sp>
      </p:grpSp>
      <p:sp>
        <p:nvSpPr>
          <p:cNvPr id="77" name="TextBox 76"/>
          <p:cNvSpPr txBox="1"/>
          <p:nvPr/>
        </p:nvSpPr>
        <p:spPr>
          <a:xfrm>
            <a:off x="0" y="587460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0" dirty="0">
                <a:solidFill>
                  <a:schemeClr val="tx1"/>
                </a:solidFill>
                <a:latin typeface="+mj-lt"/>
              </a:rPr>
              <a:t>LFP modeled as sum of absolute values of Excitatory and Inhibitory currents on Excitatory neurons</a:t>
            </a:r>
          </a:p>
        </p:txBody>
      </p:sp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5334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Integrate and fire models of local cortical excitatory-inhibitory networks</a:t>
            </a:r>
          </a:p>
        </p:txBody>
      </p:sp>
      <p:sp>
        <p:nvSpPr>
          <p:cNvPr id="66" name="Rettangolo 65">
            <a:extLst>
              <a:ext uri="{FF2B5EF4-FFF2-40B4-BE49-F238E27FC236}">
                <a16:creationId xmlns:a16="http://schemas.microsoft.com/office/drawing/2014/main" id="{C66E411E-9922-4470-9466-AD1A4C8DB139}"/>
              </a:ext>
            </a:extLst>
          </p:cNvPr>
          <p:cNvSpPr/>
          <p:nvPr/>
        </p:nvSpPr>
        <p:spPr>
          <a:xfrm>
            <a:off x="323531" y="1595337"/>
            <a:ext cx="3312364" cy="401466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Dipoles</a:t>
            </a:r>
            <a:r>
              <a:rPr lang="it-IT" sz="2400" b="1" dirty="0"/>
              <a:t> sum</a:t>
            </a:r>
            <a:r>
              <a:rPr lang="it-IT" sz="2400" dirty="0"/>
              <a:t>:</a:t>
            </a:r>
          </a:p>
          <a:p>
            <a:pPr algn="ctr"/>
            <a:endParaRPr lang="it-IT" sz="2400" dirty="0"/>
          </a:p>
          <a:p>
            <a:pPr algn="ctr"/>
            <a:r>
              <a:rPr lang="it-IT" sz="2400" dirty="0" err="1"/>
              <a:t>Parallel</a:t>
            </a:r>
            <a:r>
              <a:rPr lang="it-IT" sz="2400" dirty="0"/>
              <a:t> </a:t>
            </a:r>
            <a:r>
              <a:rPr lang="it-IT" sz="2400" dirty="0" err="1"/>
              <a:t>dipoles</a:t>
            </a:r>
            <a:r>
              <a:rPr lang="it-IT" sz="2400" dirty="0"/>
              <a:t> </a:t>
            </a:r>
            <a:r>
              <a:rPr lang="it-IT" sz="2400" dirty="0" err="1"/>
              <a:t>formed</a:t>
            </a:r>
            <a:r>
              <a:rPr lang="it-IT" sz="2400" dirty="0"/>
              <a:t> by </a:t>
            </a:r>
            <a:r>
              <a:rPr lang="it-IT" sz="2400" dirty="0" err="1"/>
              <a:t>excitatory</a:t>
            </a:r>
            <a:r>
              <a:rPr lang="it-IT" sz="2400" dirty="0"/>
              <a:t> </a:t>
            </a:r>
            <a:r>
              <a:rPr lang="it-IT" sz="2400" dirty="0" err="1"/>
              <a:t>neurons</a:t>
            </a:r>
            <a:r>
              <a:rPr lang="it-IT" sz="2400" dirty="0"/>
              <a:t> sum up </a:t>
            </a:r>
            <a:r>
              <a:rPr lang="it-IT" sz="2400" dirty="0" err="1"/>
              <a:t>linearly</a:t>
            </a:r>
            <a:endParaRPr lang="it-IT" sz="2400" dirty="0"/>
          </a:p>
          <a:p>
            <a:pPr algn="ctr"/>
            <a:endParaRPr lang="it-IT" sz="2400" dirty="0"/>
          </a:p>
          <a:p>
            <a:pPr algn="ctr"/>
            <a:r>
              <a:rPr lang="it-IT" sz="2400" dirty="0" err="1"/>
              <a:t>Isotropic</a:t>
            </a:r>
            <a:r>
              <a:rPr lang="it-IT" sz="2400" dirty="0"/>
              <a:t> </a:t>
            </a:r>
            <a:r>
              <a:rPr lang="it-IT" sz="2400" dirty="0" err="1"/>
              <a:t>dipoles</a:t>
            </a:r>
            <a:r>
              <a:rPr lang="it-IT" sz="2400" dirty="0"/>
              <a:t> </a:t>
            </a:r>
            <a:r>
              <a:rPr lang="it-IT" sz="2400" dirty="0" err="1"/>
              <a:t>formed</a:t>
            </a:r>
            <a:r>
              <a:rPr lang="it-IT" sz="2400" dirty="0"/>
              <a:t> by </a:t>
            </a:r>
            <a:r>
              <a:rPr lang="it-IT" sz="2400" dirty="0" err="1"/>
              <a:t>inhibitory</a:t>
            </a:r>
            <a:r>
              <a:rPr lang="it-IT" sz="2400" dirty="0"/>
              <a:t> </a:t>
            </a:r>
            <a:r>
              <a:rPr lang="it-IT" sz="2400" dirty="0" err="1"/>
              <a:t>neurons</a:t>
            </a:r>
            <a:r>
              <a:rPr lang="it-IT" sz="2400" dirty="0"/>
              <a:t> sum up to zero over a </a:t>
            </a:r>
            <a:r>
              <a:rPr lang="it-IT" sz="2400" dirty="0" err="1"/>
              <a:t>sufficiently</a:t>
            </a:r>
            <a:r>
              <a:rPr lang="it-IT" sz="2400" dirty="0"/>
              <a:t> large volume </a:t>
            </a:r>
          </a:p>
          <a:p>
            <a:pPr algn="ctr"/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1025160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97"/>
          <p:cNvGrpSpPr/>
          <p:nvPr/>
        </p:nvGrpSpPr>
        <p:grpSpPr>
          <a:xfrm>
            <a:off x="457201" y="1524000"/>
            <a:ext cx="4800600" cy="2971800"/>
            <a:chOff x="1026192" y="914400"/>
            <a:chExt cx="7528623" cy="4495800"/>
          </a:xfrm>
        </p:grpSpPr>
        <p:sp>
          <p:nvSpPr>
            <p:cNvPr id="2" name="Freeform 1"/>
            <p:cNvSpPr/>
            <p:nvPr/>
          </p:nvSpPr>
          <p:spPr>
            <a:xfrm>
              <a:off x="1026193" y="914400"/>
              <a:ext cx="1196804" cy="122538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72000">
              <a:solidFill>
                <a:srgbClr val="0000FF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20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I</a:t>
              </a:r>
            </a:p>
          </p:txBody>
        </p:sp>
        <p:sp>
          <p:nvSpPr>
            <p:cNvPr id="3" name="Freeform 2"/>
            <p:cNvSpPr/>
            <p:nvPr/>
          </p:nvSpPr>
          <p:spPr>
            <a:xfrm>
              <a:off x="2630577" y="1137727"/>
              <a:ext cx="2393609" cy="2428042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72000">
              <a:solidFill>
                <a:srgbClr val="FF0000"/>
              </a:solidFill>
              <a:prstDash val="solid"/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20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P</a:t>
              </a:r>
            </a:p>
          </p:txBody>
        </p:sp>
        <p:sp>
          <p:nvSpPr>
            <p:cNvPr id="4" name="Freeform 3"/>
            <p:cNvSpPr/>
            <p:nvPr/>
          </p:nvSpPr>
          <p:spPr>
            <a:xfrm>
              <a:off x="6172200" y="1371600"/>
              <a:ext cx="2382615" cy="33528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*/ 5419351 1 1725033"/>
                <a:gd name="f6" fmla="*/ 10800 10800 1"/>
                <a:gd name="f7" fmla="+- 0 0 0"/>
                <a:gd name="f8" fmla="+- 0 0 360"/>
                <a:gd name="f9" fmla="val 10800"/>
                <a:gd name="f10" fmla="*/ f3 1 21600"/>
                <a:gd name="f11" fmla="*/ f4 1 21600"/>
                <a:gd name="f12" fmla="*/ 0 f5 1"/>
                <a:gd name="f13" fmla="*/ f7 f0 1"/>
                <a:gd name="f14" fmla="*/ f8 f0 1"/>
                <a:gd name="f15" fmla="*/ 3200 f10 1"/>
                <a:gd name="f16" fmla="*/ 18400 f10 1"/>
                <a:gd name="f17" fmla="*/ 18400 f11 1"/>
                <a:gd name="f18" fmla="*/ 3200 f11 1"/>
                <a:gd name="f19" fmla="*/ f12 1 f2"/>
                <a:gd name="f20" fmla="*/ f13 1 f2"/>
                <a:gd name="f21" fmla="*/ f14 1 f2"/>
                <a:gd name="f22" fmla="*/ 10800 f10 1"/>
                <a:gd name="f23" fmla="*/ 0 f11 1"/>
                <a:gd name="f24" fmla="*/ 3160 f10 1"/>
                <a:gd name="f25" fmla="*/ 3160 f11 1"/>
                <a:gd name="f26" fmla="*/ 0 f10 1"/>
                <a:gd name="f27" fmla="*/ 10800 f11 1"/>
                <a:gd name="f28" fmla="*/ 18440 f11 1"/>
                <a:gd name="f29" fmla="*/ 21600 f11 1"/>
                <a:gd name="f30" fmla="*/ 18440 f10 1"/>
                <a:gd name="f31" fmla="*/ 21600 f10 1"/>
                <a:gd name="f32" fmla="+- 0 0 f19"/>
                <a:gd name="f33" fmla="+- f20 0 f1"/>
                <a:gd name="f34" fmla="+- f21 0 f1"/>
                <a:gd name="f35" fmla="*/ f32 f0 1"/>
                <a:gd name="f36" fmla="+- f34 0 f33"/>
                <a:gd name="f37" fmla="*/ f35 1 f5"/>
                <a:gd name="f38" fmla="+- f37 0 f1"/>
                <a:gd name="f39" fmla="cos 1 f38"/>
                <a:gd name="f40" fmla="sin 1 f38"/>
                <a:gd name="f41" fmla="+- 0 0 f39"/>
                <a:gd name="f42" fmla="+- 0 0 f40"/>
                <a:gd name="f43" fmla="*/ 10800 f41 1"/>
                <a:gd name="f44" fmla="*/ 10800 f42 1"/>
                <a:gd name="f45" fmla="*/ f43 f43 1"/>
                <a:gd name="f46" fmla="*/ f44 f44 1"/>
                <a:gd name="f47" fmla="+- f45 f46 0"/>
                <a:gd name="f48" fmla="sqrt f47"/>
                <a:gd name="f49" fmla="*/ f6 1 f48"/>
                <a:gd name="f50" fmla="*/ f41 f49 1"/>
                <a:gd name="f51" fmla="*/ f42 f49 1"/>
                <a:gd name="f52" fmla="+- 10800 0 f50"/>
                <a:gd name="f53" fmla="+- 10800 0 f5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22" y="f23"/>
                </a:cxn>
                <a:cxn ang="f33">
                  <a:pos x="f24" y="f25"/>
                </a:cxn>
                <a:cxn ang="f33">
                  <a:pos x="f26" y="f27"/>
                </a:cxn>
                <a:cxn ang="f33">
                  <a:pos x="f24" y="f28"/>
                </a:cxn>
                <a:cxn ang="f33">
                  <a:pos x="f22" y="f29"/>
                </a:cxn>
                <a:cxn ang="f33">
                  <a:pos x="f30" y="f28"/>
                </a:cxn>
                <a:cxn ang="f33">
                  <a:pos x="f31" y="f27"/>
                </a:cxn>
                <a:cxn ang="f33">
                  <a:pos x="f30" y="f25"/>
                </a:cxn>
              </a:cxnLst>
              <a:rect l="f15" t="f18" r="f16" b="f17"/>
              <a:pathLst>
                <a:path w="21600" h="21600">
                  <a:moveTo>
                    <a:pt x="f52" y="f53"/>
                  </a:moveTo>
                  <a:arcTo wR="f9" hR="f9" stAng="f33" swAng="f36"/>
                  <a:close/>
                </a:path>
              </a:pathLst>
            </a:custGeom>
            <a:noFill/>
            <a:ln w="38100">
              <a:solidFill>
                <a:schemeClr val="tx1"/>
              </a:solidFill>
              <a:custDash>
                <a:ds d="254000" sp="254000"/>
                <a:ds d="254000" sp="254000"/>
              </a:custDash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Unspecific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slow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cortical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activity</a:t>
              </a:r>
            </a:p>
          </p:txBody>
        </p:sp>
        <p:sp>
          <p:nvSpPr>
            <p:cNvPr id="5" name="Freeform 4"/>
            <p:cNvSpPr/>
            <p:nvPr/>
          </p:nvSpPr>
          <p:spPr>
            <a:xfrm>
              <a:off x="1241516" y="4537950"/>
              <a:ext cx="3621847" cy="87225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custDash>
                <a:ds d="254000" sp="254000"/>
                <a:ds d="254000" sp="254000"/>
              </a:custDash>
            </a:ln>
          </p:spPr>
          <p:txBody>
            <a:bodyPr vert="horz" lIns="126000" tIns="81000" rIns="126000" bIns="81000" anchor="ctr" anchorCtr="0" compatLnSpc="0"/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en-GB" sz="1400" b="0" i="0" u="none" strike="noStrike" kern="1200" dirty="0">
                  <a:ln>
                    <a:noFill/>
                  </a:ln>
                  <a:solidFill>
                    <a:schemeClr val="tx1"/>
                  </a:solidFill>
                  <a:latin typeface="+mj-lt"/>
                  <a:ea typeface="DejaVu Sans" pitchFamily="2"/>
                  <a:cs typeface="DejaVu Sans" pitchFamily="2"/>
                </a:rPr>
                <a:t>Thalamic input</a:t>
              </a:r>
            </a:p>
          </p:txBody>
        </p:sp>
        <p:cxnSp>
          <p:nvCxnSpPr>
            <p:cNvPr id="6" name="Straight Arrow Connector 5"/>
            <p:cNvCxnSpPr>
              <a:stCxn id="5" idx="0"/>
              <a:endCxn id="5" idx="0"/>
            </p:cNvCxnSpPr>
            <p:nvPr/>
          </p:nvCxnSpPr>
          <p:spPr>
            <a:xfrm rot="5400000" flipH="1" flipV="1">
              <a:off x="3052297" y="4538090"/>
              <a:ext cx="2041" cy="1759"/>
            </a:xfrm>
            <a:prstGeom prst="straightConnector1">
              <a:avLst/>
            </a:prstGeom>
            <a:noFill/>
            <a:ln w="0">
              <a:solidFill>
                <a:srgbClr val="000000"/>
              </a:solidFill>
              <a:prstDash val="solid"/>
              <a:tailEnd type="arrow"/>
            </a:ln>
          </p:spPr>
        </p:cxnSp>
        <p:cxnSp>
          <p:nvCxnSpPr>
            <p:cNvPr id="7" name="Curved Connector 6"/>
            <p:cNvCxnSpPr>
              <a:stCxn id="5" idx="0"/>
              <a:endCxn id="2" idx="2"/>
            </p:cNvCxnSpPr>
            <p:nvPr/>
          </p:nvCxnSpPr>
          <p:spPr>
            <a:xfrm rot="16200000" flipV="1">
              <a:off x="1139435" y="2624945"/>
              <a:ext cx="2398165" cy="1427843"/>
            </a:xfrm>
            <a:prstGeom prst="curvedConnector3">
              <a:avLst>
                <a:gd name="adj1" fmla="val 50000"/>
              </a:avLst>
            </a:prstGeom>
            <a:noFill/>
            <a:ln w="5080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8" name="Curved Connector 7"/>
            <p:cNvCxnSpPr>
              <a:stCxn id="4" idx="6"/>
              <a:endCxn id="3" idx="11"/>
            </p:cNvCxnSpPr>
            <p:nvPr/>
          </p:nvCxnSpPr>
          <p:spPr>
            <a:xfrm rot="16200000" flipV="1">
              <a:off x="4645576" y="1521376"/>
              <a:ext cx="1555059" cy="1498190"/>
            </a:xfrm>
            <a:prstGeom prst="curvedConnector3">
              <a:avLst>
                <a:gd name="adj1" fmla="val 107907"/>
              </a:avLst>
            </a:prstGeom>
            <a:noFill/>
            <a:ln w="2540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9" name="Curved Connector 8"/>
            <p:cNvCxnSpPr>
              <a:stCxn id="4" idx="5"/>
              <a:endCxn id="2" idx="11"/>
            </p:cNvCxnSpPr>
            <p:nvPr/>
          </p:nvCxnSpPr>
          <p:spPr>
            <a:xfrm rot="16200000" flipV="1">
              <a:off x="3900123" y="-758544"/>
              <a:ext cx="768433" cy="4472859"/>
            </a:xfrm>
            <a:prstGeom prst="curvedConnector3">
              <a:avLst>
                <a:gd name="adj1" fmla="val 153078"/>
              </a:avLst>
            </a:prstGeom>
            <a:noFill/>
            <a:ln w="3175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10" name="Curved Connector 9"/>
            <p:cNvCxnSpPr>
              <a:stCxn id="3" idx="6"/>
              <a:endCxn id="2" idx="9"/>
            </p:cNvCxnSpPr>
            <p:nvPr/>
          </p:nvCxnSpPr>
          <p:spPr>
            <a:xfrm rot="16200000" flipV="1">
              <a:off x="2143629" y="1864798"/>
              <a:ext cx="391232" cy="582667"/>
            </a:xfrm>
            <a:prstGeom prst="curvedConnector3">
              <a:avLst>
                <a:gd name="adj1" fmla="val -56771"/>
              </a:avLst>
            </a:prstGeom>
            <a:noFill/>
            <a:ln w="3175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11" name="Curved Connector 10"/>
            <p:cNvCxnSpPr>
              <a:stCxn id="2" idx="10"/>
              <a:endCxn id="3" idx="5"/>
            </p:cNvCxnSpPr>
            <p:nvPr/>
          </p:nvCxnSpPr>
          <p:spPr>
            <a:xfrm rot="5400000" flipH="1" flipV="1">
              <a:off x="2584799" y="1131140"/>
              <a:ext cx="34152" cy="757755"/>
            </a:xfrm>
            <a:prstGeom prst="curvedConnector3">
              <a:avLst>
                <a:gd name="adj1" fmla="val 671495"/>
              </a:avLst>
            </a:prstGeom>
            <a:noFill/>
            <a:ln w="122400">
              <a:solidFill>
                <a:srgbClr val="0000FF"/>
              </a:solidFill>
              <a:prstDash val="solid"/>
              <a:tailEnd type="oval" w="sm" len="sm"/>
            </a:ln>
          </p:spPr>
        </p:cxnSp>
        <p:cxnSp>
          <p:nvCxnSpPr>
            <p:cNvPr id="12" name="Curved Connector 16"/>
            <p:cNvCxnSpPr>
              <a:stCxn id="2" idx="3"/>
            </p:cNvCxnSpPr>
            <p:nvPr/>
          </p:nvCxnSpPr>
          <p:spPr>
            <a:xfrm rot="10800000" flipH="1">
              <a:off x="1026192" y="914403"/>
              <a:ext cx="429519" cy="612689"/>
            </a:xfrm>
            <a:prstGeom prst="curvedConnector4">
              <a:avLst>
                <a:gd name="adj1" fmla="val -77258"/>
                <a:gd name="adj2" fmla="val 144594"/>
              </a:avLst>
            </a:prstGeom>
            <a:noFill/>
            <a:ln w="127000">
              <a:solidFill>
                <a:srgbClr val="0000FF"/>
              </a:solidFill>
              <a:prstDash val="solid"/>
              <a:tailEnd type="oval" w="sm" len="sm"/>
            </a:ln>
          </p:spPr>
        </p:cxnSp>
        <p:cxnSp>
          <p:nvCxnSpPr>
            <p:cNvPr id="13" name="Curved Connector 17"/>
            <p:cNvCxnSpPr>
              <a:stCxn id="3" idx="9"/>
              <a:endCxn id="3" idx="1"/>
            </p:cNvCxnSpPr>
            <p:nvPr/>
          </p:nvCxnSpPr>
          <p:spPr>
            <a:xfrm rot="5400000" flipH="1" flipV="1">
              <a:off x="4419695" y="2606065"/>
              <a:ext cx="858807" cy="350175"/>
            </a:xfrm>
            <a:prstGeom prst="curvedConnector4">
              <a:avLst>
                <a:gd name="adj1" fmla="val -40520"/>
                <a:gd name="adj2" fmla="val 194764"/>
              </a:avLst>
            </a:prstGeom>
            <a:noFill/>
            <a:ln w="36000">
              <a:solidFill>
                <a:srgbClr val="FF0000"/>
              </a:solidFill>
              <a:prstDash val="solid"/>
              <a:tailEnd type="triangle"/>
            </a:ln>
          </p:spPr>
        </p:cxnSp>
        <p:cxnSp>
          <p:nvCxnSpPr>
            <p:cNvPr id="14" name="Curved Connector 13"/>
            <p:cNvCxnSpPr>
              <a:stCxn id="5" idx="0"/>
              <a:endCxn id="3" idx="2"/>
            </p:cNvCxnSpPr>
            <p:nvPr/>
          </p:nvCxnSpPr>
          <p:spPr>
            <a:xfrm rot="5400000" flipH="1" flipV="1">
              <a:off x="2953820" y="3664388"/>
              <a:ext cx="972181" cy="774943"/>
            </a:xfrm>
            <a:prstGeom prst="curvedConnector3">
              <a:avLst>
                <a:gd name="adj1" fmla="val 50000"/>
              </a:avLst>
            </a:prstGeom>
            <a:noFill/>
            <a:ln w="25400">
              <a:solidFill>
                <a:srgbClr val="FF0000"/>
              </a:solidFill>
              <a:prstDash val="solid"/>
              <a:tailEnd type="triangle"/>
            </a:ln>
          </p:spPr>
        </p:cxnSp>
      </p:grpSp>
      <p:sp>
        <p:nvSpPr>
          <p:cNvPr id="15" name="TextBox 14"/>
          <p:cNvSpPr txBox="1"/>
          <p:nvPr/>
        </p:nvSpPr>
        <p:spPr>
          <a:xfrm>
            <a:off x="26020" y="5029200"/>
            <a:ext cx="42411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chemeClr val="tx1"/>
                </a:solidFill>
                <a:latin typeface="+mj-lt"/>
              </a:rPr>
              <a:t>Leaky integrate and fire neurons 4000 Excitatory </a:t>
            </a:r>
            <a:r>
              <a:rPr lang="en-US" sz="1600" b="0" dirty="0" err="1">
                <a:solidFill>
                  <a:schemeClr val="tx1"/>
                </a:solidFill>
                <a:latin typeface="+mj-lt"/>
              </a:rPr>
              <a:t>Excitatory</a:t>
            </a:r>
            <a:r>
              <a:rPr lang="en-US" sz="1600" b="0" dirty="0">
                <a:solidFill>
                  <a:schemeClr val="tx1"/>
                </a:solidFill>
                <a:latin typeface="+mj-lt"/>
              </a:rPr>
              <a:t> neurons 1000 Inhibitory Inhibitory neurons.</a:t>
            </a:r>
            <a:r>
              <a:rPr lang="en-US" sz="1600" dirty="0">
                <a:latin typeface="+mj-lt"/>
              </a:rPr>
              <a:t> </a:t>
            </a:r>
          </a:p>
          <a:p>
            <a:r>
              <a:rPr lang="en-US" sz="1600" b="0" dirty="0">
                <a:solidFill>
                  <a:schemeClr val="tx1"/>
                </a:solidFill>
                <a:latin typeface="+mj-lt"/>
              </a:rPr>
              <a:t>Sparse (p=0.2) random connections</a:t>
            </a:r>
          </a:p>
        </p:txBody>
      </p:sp>
      <p:sp>
        <p:nvSpPr>
          <p:cNvPr id="89" name="Title 2"/>
          <p:cNvSpPr txBox="1">
            <a:spLocks/>
          </p:cNvSpPr>
          <p:nvPr/>
        </p:nvSpPr>
        <p:spPr>
          <a:xfrm>
            <a:off x="0" y="0"/>
            <a:ext cx="9144000" cy="1929000"/>
          </a:xfrm>
          <a:prstGeom prst="rect">
            <a:avLst/>
          </a:prstGeom>
        </p:spPr>
        <p:txBody>
          <a:bodyPr/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Integrate and fire models of local cortical</a:t>
            </a:r>
            <a:r>
              <a:rPr kumimoji="0" lang="en-US" sz="320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kumimoji="0" lang="en-US" sz="320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excitatory-inhibitory</a:t>
            </a:r>
            <a:r>
              <a:rPr kumimoji="0" lang="en-US" sz="3200" i="0" u="none" strike="noStrike" kern="0" cap="none" spc="0" normalizeH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sz="3200" kern="0" dirty="0">
                <a:solidFill>
                  <a:srgbClr val="FF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n</a:t>
            </a:r>
            <a:r>
              <a:rPr kumimoji="0" lang="en-US" sz="320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etworks</a:t>
            </a:r>
            <a:endParaRPr kumimoji="0" lang="en-US" sz="320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629" y="5924729"/>
            <a:ext cx="4648200" cy="907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7" name="Group 99"/>
          <p:cNvGrpSpPr/>
          <p:nvPr/>
        </p:nvGrpSpPr>
        <p:grpSpPr>
          <a:xfrm>
            <a:off x="5562601" y="630868"/>
            <a:ext cx="3276599" cy="5084132"/>
            <a:chOff x="6083999" y="1044000"/>
            <a:chExt cx="3600000" cy="5734800"/>
          </a:xfrm>
        </p:grpSpPr>
        <p:pic>
          <p:nvPicPr>
            <p:cNvPr id="101" name="Picture 100"/>
            <p:cNvPicPr>
              <a:picLocks noChangeAspect="1"/>
            </p:cNvPicPr>
            <p:nvPr/>
          </p:nvPicPr>
          <p:blipFill>
            <a:blip r:embed="rId3">
              <a:lum/>
              <a:alphaModFix/>
            </a:blip>
            <a:srcRect/>
            <a:stretch>
              <a:fillRect/>
            </a:stretch>
          </p:blipFill>
          <p:spPr>
            <a:xfrm>
              <a:off x="6083999" y="1044000"/>
              <a:ext cx="3600000" cy="573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Freeform 101"/>
            <p:cNvSpPr/>
            <p:nvPr/>
          </p:nvSpPr>
          <p:spPr>
            <a:xfrm>
              <a:off x="6083999" y="1044000"/>
              <a:ext cx="180000" cy="18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fi-FI" sz="18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endParaRPr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6083999" y="2988000"/>
              <a:ext cx="180000" cy="18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fi-FI" sz="18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endParaRPr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6083999" y="4968000"/>
              <a:ext cx="180000" cy="180000"/>
            </a:xfrm>
            <a:custGeom>
              <a:avLst/>
              <a:gdLst>
                <a:gd name="f0" fmla="val 0"/>
                <a:gd name="f1" fmla="val 21600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l" t="t" r="r" b="b"/>
              <a:pathLst>
                <a:path w="21600" h="21600">
                  <a:moveTo>
                    <a:pt x="f0" y="f0"/>
                  </a:moveTo>
                  <a:lnTo>
                    <a:pt x="f1" y="f0"/>
                  </a:lnTo>
                  <a:lnTo>
                    <a:pt x="f1" y="f1"/>
                  </a:lnTo>
                  <a:lnTo>
                    <a:pt x="f0" y="f1"/>
                  </a:lnTo>
                  <a:lnTo>
                    <a:pt x="f0" y="f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  <a:prstDash val="solid"/>
            </a:ln>
          </p:spPr>
          <p:txBody>
            <a:bodyPr vert="horz" lIns="90000" tIns="45000" rIns="90000" bIns="45000" anchor="ctr" anchorCtr="0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fi-FI" sz="18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endParaRPr>
            </a:p>
          </p:txBody>
        </p:sp>
      </p:grpSp>
      <p:sp>
        <p:nvSpPr>
          <p:cNvPr id="24" name="CasellaDiTesto 23"/>
          <p:cNvSpPr txBox="1"/>
          <p:nvPr/>
        </p:nvSpPr>
        <p:spPr>
          <a:xfrm>
            <a:off x="2057400" y="221998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5409190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228600" y="152400"/>
            <a:ext cx="5407742" cy="6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reeform 2"/>
          <p:cNvSpPr/>
          <p:nvPr/>
        </p:nvSpPr>
        <p:spPr>
          <a:xfrm>
            <a:off x="3021999" y="2154871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3021999" y="4776151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3021999" y="152400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228600" y="152400"/>
            <a:ext cx="186567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228600" y="2118360"/>
            <a:ext cx="186567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228600" y="4812661"/>
            <a:ext cx="186567" cy="18161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97718" y="2368006"/>
            <a:ext cx="1742495" cy="1329616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Inhibitory neurons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spike rate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4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46643" y="5257655"/>
            <a:ext cx="2916357" cy="97573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LFP=|I</a:t>
            </a:r>
            <a:r>
              <a:rPr lang="fi-FI" sz="2000" b="0" i="0" u="none" strike="noStrike" baseline="-25000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Excitatory</a:t>
            </a: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|+|I</a:t>
            </a:r>
            <a:r>
              <a:rPr lang="fi-FI" sz="2000" b="0" i="0" u="none" strike="noStrike" baseline="-25000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Inhibitory</a:t>
            </a: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|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0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on Excitatory neurons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6299" y="1338217"/>
            <a:ext cx="3004301" cy="691207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200" b="0" i="1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input: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200" b="0" i="1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costant signal + noise</a:t>
            </a:r>
          </a:p>
        </p:txBody>
      </p:sp>
      <p:sp>
        <p:nvSpPr>
          <p:cNvPr id="12" name="Straight Connector 11"/>
          <p:cNvSpPr/>
          <p:nvPr/>
        </p:nvSpPr>
        <p:spPr>
          <a:xfrm>
            <a:off x="5906729" y="2742474"/>
            <a:ext cx="600860" cy="0"/>
          </a:xfrm>
          <a:prstGeom prst="line">
            <a:avLst/>
          </a:prstGeom>
          <a:noFill/>
          <a:ln w="72000">
            <a:solidFill>
              <a:srgbClr val="2300DC"/>
            </a:solidFill>
            <a:prstDash val="solid"/>
          </a:ln>
        </p:spPr>
        <p:txBody>
          <a:bodyPr vert="horz" lIns="126000" tIns="81000" rIns="126000" bIns="81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97718" y="3741057"/>
            <a:ext cx="2393882" cy="103466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Excitatory neurons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spike rate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4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>
            <a:off x="5906729" y="4084632"/>
            <a:ext cx="600860" cy="0"/>
          </a:xfrm>
          <a:prstGeom prst="line">
            <a:avLst/>
          </a:pr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1640622" y="3741057"/>
            <a:ext cx="1201720" cy="31205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1640622" y="2305594"/>
            <a:ext cx="1201720" cy="31205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5334000" y="0"/>
            <a:ext cx="3810000" cy="13081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Network response </a:t>
            </a:r>
          </a:p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to constant input</a:t>
            </a:r>
          </a:p>
        </p:txBody>
      </p:sp>
    </p:spTree>
    <p:extLst>
      <p:ext uri="{BB962C8B-B14F-4D97-AF65-F5344CB8AC3E}">
        <p14:creationId xmlns:p14="http://schemas.microsoft.com/office/powerpoint/2010/main" val="1265800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228600" y="152400"/>
            <a:ext cx="5407742" cy="6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Freeform 2"/>
          <p:cNvSpPr/>
          <p:nvPr/>
        </p:nvSpPr>
        <p:spPr>
          <a:xfrm>
            <a:off x="3021999" y="2154871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3021999" y="4776151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3021999" y="152400"/>
            <a:ext cx="185966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228600" y="152400"/>
            <a:ext cx="186567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228600" y="2118360"/>
            <a:ext cx="186567" cy="18192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228600" y="4812661"/>
            <a:ext cx="186567" cy="18161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97718" y="2368006"/>
            <a:ext cx="1742495" cy="1329616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Inhibitory neurons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spike rate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4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46643" y="5257655"/>
            <a:ext cx="2916357" cy="97573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LFP=|I</a:t>
            </a:r>
            <a:r>
              <a:rPr lang="fi-FI" sz="2000" b="0" i="0" u="none" strike="noStrike" baseline="-25000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Excitatory</a:t>
            </a: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|+|I</a:t>
            </a:r>
            <a:r>
              <a:rPr lang="fi-FI" sz="2000" b="0" i="0" u="none" strike="noStrike" baseline="-25000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Inhibitory</a:t>
            </a: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|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0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on Excitatory neurons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6299" y="1338217"/>
            <a:ext cx="3004301" cy="691207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200" b="0" i="1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input:</a:t>
            </a:r>
          </a:p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200" b="0" i="1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costant signal + noise</a:t>
            </a:r>
          </a:p>
        </p:txBody>
      </p:sp>
      <p:sp>
        <p:nvSpPr>
          <p:cNvPr id="12" name="Straight Connector 11"/>
          <p:cNvSpPr/>
          <p:nvPr/>
        </p:nvSpPr>
        <p:spPr>
          <a:xfrm>
            <a:off x="5906729" y="2742474"/>
            <a:ext cx="600860" cy="0"/>
          </a:xfrm>
          <a:prstGeom prst="line">
            <a:avLst/>
          </a:prstGeom>
          <a:noFill/>
          <a:ln w="72000">
            <a:solidFill>
              <a:srgbClr val="2300DC"/>
            </a:solidFill>
            <a:prstDash val="solid"/>
          </a:ln>
        </p:spPr>
        <p:txBody>
          <a:bodyPr vert="horz" lIns="126000" tIns="81000" rIns="126000" bIns="81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97718" y="3741057"/>
            <a:ext cx="2393882" cy="103466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Excitatory neurons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spike rate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2400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4" name="Straight Connector 13"/>
          <p:cNvSpPr/>
          <p:nvPr/>
        </p:nvSpPr>
        <p:spPr>
          <a:xfrm>
            <a:off x="5906729" y="4084632"/>
            <a:ext cx="600860" cy="0"/>
          </a:xfrm>
          <a:prstGeom prst="line">
            <a:avLst/>
          </a:pr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1640622" y="3741057"/>
            <a:ext cx="1201720" cy="31205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1640622" y="2305594"/>
            <a:ext cx="1201720" cy="312057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18" name="Rectangle 2"/>
          <p:cNvSpPr txBox="1">
            <a:spLocks noChangeArrowheads="1"/>
          </p:cNvSpPr>
          <p:nvPr/>
        </p:nvSpPr>
        <p:spPr>
          <a:xfrm>
            <a:off x="5334000" y="0"/>
            <a:ext cx="3810000" cy="13081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Network response </a:t>
            </a:r>
          </a:p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to constant input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374A4E3E-8003-4AC1-AE91-F67267E53BDB}"/>
              </a:ext>
            </a:extLst>
          </p:cNvPr>
          <p:cNvSpPr/>
          <p:nvPr/>
        </p:nvSpPr>
        <p:spPr>
          <a:xfrm>
            <a:off x="323531" y="1595336"/>
            <a:ext cx="2698468" cy="471398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Weak</a:t>
            </a:r>
            <a:r>
              <a:rPr lang="it-IT" sz="2400" b="1" dirty="0"/>
              <a:t> </a:t>
            </a:r>
            <a:r>
              <a:rPr lang="it-IT" sz="2400" b="1" dirty="0" err="1"/>
              <a:t>synchronization</a:t>
            </a:r>
            <a:r>
              <a:rPr lang="it-IT" sz="2400" dirty="0"/>
              <a:t>:</a:t>
            </a:r>
          </a:p>
          <a:p>
            <a:pPr algn="ctr"/>
            <a:endParaRPr lang="it-IT" sz="2400" dirty="0"/>
          </a:p>
          <a:p>
            <a:pPr algn="ctr"/>
            <a:r>
              <a:rPr lang="it-IT" sz="2400" dirty="0" err="1"/>
              <a:t>Oscillations</a:t>
            </a:r>
            <a:r>
              <a:rPr lang="it-IT" sz="2400" dirty="0"/>
              <a:t> are </a:t>
            </a:r>
            <a:r>
              <a:rPr lang="it-IT" sz="2400" dirty="0" err="1"/>
              <a:t>not</a:t>
            </a:r>
            <a:r>
              <a:rPr lang="it-IT" sz="2400" dirty="0"/>
              <a:t> </a:t>
            </a:r>
            <a:r>
              <a:rPr lang="it-IT" sz="2400" dirty="0" err="1"/>
              <a:t>visible</a:t>
            </a:r>
            <a:r>
              <a:rPr lang="it-IT" sz="2400" dirty="0"/>
              <a:t> in single </a:t>
            </a:r>
            <a:r>
              <a:rPr lang="it-IT" sz="2400" dirty="0" err="1"/>
              <a:t>neurons</a:t>
            </a:r>
            <a:r>
              <a:rPr lang="it-IT" sz="2400" dirty="0"/>
              <a:t> </a:t>
            </a:r>
            <a:r>
              <a:rPr lang="it-IT" sz="2400" dirty="0" err="1"/>
              <a:t>but</a:t>
            </a:r>
            <a:r>
              <a:rPr lang="it-IT" sz="2400" dirty="0"/>
              <a:t> </a:t>
            </a:r>
            <a:r>
              <a:rPr lang="it-IT" sz="2400" dirty="0" err="1"/>
              <a:t>only</a:t>
            </a:r>
            <a:r>
              <a:rPr lang="it-IT" sz="2400" dirty="0"/>
              <a:t> on </a:t>
            </a:r>
            <a:r>
              <a:rPr lang="it-IT" sz="2400" dirty="0" err="1"/>
              <a:t>local</a:t>
            </a:r>
            <a:r>
              <a:rPr lang="it-IT" sz="2400" dirty="0"/>
              <a:t> field </a:t>
            </a:r>
            <a:r>
              <a:rPr lang="it-IT" sz="2400" dirty="0" err="1"/>
              <a:t>potentials</a:t>
            </a:r>
            <a:r>
              <a:rPr lang="it-IT" sz="2400" dirty="0"/>
              <a:t> (or </a:t>
            </a:r>
            <a:r>
              <a:rPr lang="it-IT" sz="2400" dirty="0" err="1"/>
              <a:t>total</a:t>
            </a:r>
            <a:r>
              <a:rPr lang="it-IT" sz="2400" dirty="0"/>
              <a:t> </a:t>
            </a:r>
            <a:r>
              <a:rPr lang="it-IT" sz="2400" dirty="0" err="1"/>
              <a:t>firing</a:t>
            </a:r>
            <a:r>
              <a:rPr lang="it-IT" sz="2400" dirty="0"/>
              <a:t> rate, </a:t>
            </a:r>
            <a:r>
              <a:rPr lang="it-IT" sz="2400" dirty="0" err="1"/>
              <a:t>that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not</a:t>
            </a:r>
            <a:r>
              <a:rPr lang="it-IT" sz="2400" dirty="0"/>
              <a:t> </a:t>
            </a:r>
            <a:r>
              <a:rPr lang="it-IT" sz="2400" dirty="0" err="1"/>
              <a:t>accessible</a:t>
            </a:r>
            <a:r>
              <a:rPr lang="it-IT" sz="2400" dirty="0"/>
              <a:t> to </a:t>
            </a:r>
            <a:r>
              <a:rPr lang="it-IT" sz="2400" dirty="0" err="1"/>
              <a:t>experimenters</a:t>
            </a:r>
            <a:r>
              <a:rPr lang="it-IT" sz="2400" dirty="0"/>
              <a:t>) </a:t>
            </a:r>
          </a:p>
          <a:p>
            <a:pPr algn="ctr"/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3539973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1"/>
          <p:cNvPicPr>
            <a:picLocks noChangeAspect="1" noChangeArrowheads="1"/>
          </p:cNvPicPr>
          <p:nvPr/>
        </p:nvPicPr>
        <p:blipFill>
          <a:blip r:embed="rId3" cstate="print"/>
          <a:srcRect l="51688" t="4166"/>
          <a:stretch>
            <a:fillRect/>
          </a:stretch>
        </p:blipFill>
        <p:spPr bwMode="auto">
          <a:xfrm>
            <a:off x="214313" y="285750"/>
            <a:ext cx="2840037" cy="65722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2786063" y="0"/>
            <a:ext cx="6357937" cy="1308100"/>
          </a:xfrm>
        </p:spPr>
        <p:txBody>
          <a:bodyPr>
            <a:normAutofit/>
          </a:bodyPr>
          <a:lstStyle/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Network response to constant input</a:t>
            </a:r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3068638" y="2095500"/>
            <a:ext cx="201612" cy="190500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05" name="Rectangle 4"/>
          <p:cNvSpPr>
            <a:spLocks noChangeArrowheads="1"/>
          </p:cNvSpPr>
          <p:nvPr/>
        </p:nvSpPr>
        <p:spPr bwMode="auto">
          <a:xfrm>
            <a:off x="3068638" y="4838700"/>
            <a:ext cx="201612" cy="190500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06" name="Rectangle 5"/>
          <p:cNvSpPr>
            <a:spLocks noChangeArrowheads="1"/>
          </p:cNvSpPr>
          <p:nvPr/>
        </p:nvSpPr>
        <p:spPr bwMode="auto">
          <a:xfrm>
            <a:off x="3068638" y="0"/>
            <a:ext cx="201612" cy="190500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07" name="Rectangle 6"/>
          <p:cNvSpPr>
            <a:spLocks noChangeArrowheads="1"/>
          </p:cNvSpPr>
          <p:nvPr/>
        </p:nvSpPr>
        <p:spPr bwMode="auto">
          <a:xfrm>
            <a:off x="33338" y="0"/>
            <a:ext cx="203200" cy="190500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08" name="Rectangle 7"/>
          <p:cNvSpPr>
            <a:spLocks noChangeArrowheads="1"/>
          </p:cNvSpPr>
          <p:nvPr/>
        </p:nvSpPr>
        <p:spPr bwMode="auto">
          <a:xfrm>
            <a:off x="33338" y="2058988"/>
            <a:ext cx="203200" cy="188912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09" name="Rectangle 8"/>
          <p:cNvSpPr>
            <a:spLocks noChangeArrowheads="1"/>
          </p:cNvSpPr>
          <p:nvPr/>
        </p:nvSpPr>
        <p:spPr bwMode="auto">
          <a:xfrm>
            <a:off x="33338" y="4878388"/>
            <a:ext cx="203200" cy="188912"/>
          </a:xfrm>
          <a:prstGeom prst="rect">
            <a:avLst/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82943" tIns="41471" rIns="82943" bIns="41471" anchor="ctr"/>
          <a:lstStyle/>
          <a:p>
            <a:endParaRPr lang="it-IT"/>
          </a:p>
        </p:txBody>
      </p:sp>
      <p:sp>
        <p:nvSpPr>
          <p:cNvPr id="25610" name="Text Box 9"/>
          <p:cNvSpPr txBox="1">
            <a:spLocks noChangeArrowheads="1"/>
          </p:cNvSpPr>
          <p:nvPr/>
        </p:nvSpPr>
        <p:spPr bwMode="auto">
          <a:xfrm>
            <a:off x="2928938" y="2500313"/>
            <a:ext cx="1893887" cy="80803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636" tIns="40818" rIns="81636" bIns="40818"/>
          <a:lstStyle/>
          <a:p>
            <a:pPr>
              <a:tabLst>
                <a:tab pos="655638" algn="l"/>
                <a:tab pos="1311275" algn="l"/>
              </a:tabLst>
            </a:pPr>
            <a:r>
              <a:rPr lang="fi-FI" sz="2000" dirty="0"/>
              <a:t>Inhibitory neurons</a:t>
            </a:r>
          </a:p>
          <a:p>
            <a:pPr>
              <a:tabLst>
                <a:tab pos="655638" algn="l"/>
                <a:tab pos="1311275" algn="l"/>
              </a:tabLst>
            </a:pPr>
            <a:r>
              <a:rPr lang="fi-FI" sz="2000" dirty="0"/>
              <a:t>spike rate</a:t>
            </a:r>
          </a:p>
          <a:p>
            <a:pPr>
              <a:tabLst>
                <a:tab pos="655638" algn="l"/>
                <a:tab pos="1311275" algn="l"/>
              </a:tabLst>
            </a:pPr>
            <a:endParaRPr lang="fi-FI" sz="2000" dirty="0">
              <a:solidFill>
                <a:schemeClr val="bg1"/>
              </a:solidFill>
            </a:endParaRPr>
          </a:p>
        </p:txBody>
      </p:sp>
      <p:sp>
        <p:nvSpPr>
          <p:cNvPr id="25611" name="Text Box 10"/>
          <p:cNvSpPr txBox="1">
            <a:spLocks noChangeArrowheads="1"/>
          </p:cNvSpPr>
          <p:nvPr/>
        </p:nvSpPr>
        <p:spPr bwMode="auto">
          <a:xfrm>
            <a:off x="2419350" y="5786438"/>
            <a:ext cx="2938463" cy="7127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636" tIns="40818" rIns="81636" bIns="40818"/>
          <a:lstStyle/>
          <a:p>
            <a:pPr>
              <a:tabLst>
                <a:tab pos="655638" algn="l"/>
                <a:tab pos="1311275" algn="l"/>
                <a:tab pos="1968500" algn="l"/>
                <a:tab pos="2625725" algn="l"/>
              </a:tabLst>
            </a:pPr>
            <a:r>
              <a:rPr lang="fi-FI" sz="2000" dirty="0"/>
              <a:t>LFP=|I</a:t>
            </a:r>
            <a:r>
              <a:rPr lang="fi-FI" sz="2000" baseline="-33000" dirty="0"/>
              <a:t>Excitatory</a:t>
            </a:r>
            <a:r>
              <a:rPr lang="fi-FI" sz="2000" dirty="0"/>
              <a:t>|+|I</a:t>
            </a:r>
            <a:r>
              <a:rPr lang="fi-FI" sz="2000" baseline="-33000" dirty="0"/>
              <a:t>Inhibitory</a:t>
            </a:r>
            <a:r>
              <a:rPr lang="fi-FI" sz="2000" dirty="0"/>
              <a:t>|</a:t>
            </a:r>
          </a:p>
          <a:p>
            <a:pPr>
              <a:tabLst>
                <a:tab pos="655638" algn="l"/>
                <a:tab pos="1311275" algn="l"/>
                <a:tab pos="1968500" algn="l"/>
                <a:tab pos="2625725" algn="l"/>
              </a:tabLst>
            </a:pPr>
            <a:r>
              <a:rPr lang="fi-FI" sz="2000" dirty="0"/>
              <a:t>on Excitatory neurons</a:t>
            </a:r>
          </a:p>
        </p:txBody>
      </p:sp>
      <p:sp>
        <p:nvSpPr>
          <p:cNvPr id="25612" name="Line 12"/>
          <p:cNvSpPr>
            <a:spLocks noChangeShapeType="1"/>
          </p:cNvSpPr>
          <p:nvPr/>
        </p:nvSpPr>
        <p:spPr bwMode="auto">
          <a:xfrm>
            <a:off x="2286000" y="2357438"/>
            <a:ext cx="654050" cy="1587"/>
          </a:xfrm>
          <a:prstGeom prst="line">
            <a:avLst/>
          </a:prstGeom>
          <a:noFill/>
          <a:ln w="72000">
            <a:solidFill>
              <a:srgbClr val="2300DC"/>
            </a:solidFill>
            <a:round/>
            <a:headEnd/>
            <a:tailEnd/>
          </a:ln>
        </p:spPr>
        <p:txBody>
          <a:bodyPr lIns="82943" tIns="41471" rIns="82943" bIns="41471"/>
          <a:lstStyle/>
          <a:p>
            <a:endParaRPr lang="en-US"/>
          </a:p>
        </p:txBody>
      </p:sp>
      <p:sp>
        <p:nvSpPr>
          <p:cNvPr id="25613" name="Text Box 13"/>
          <p:cNvSpPr txBox="1">
            <a:spLocks noChangeArrowheads="1"/>
          </p:cNvSpPr>
          <p:nvPr/>
        </p:nvSpPr>
        <p:spPr bwMode="auto">
          <a:xfrm>
            <a:off x="3071813" y="3643313"/>
            <a:ext cx="1816100" cy="11064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81636" tIns="40818" rIns="81636" bIns="40818"/>
          <a:lstStyle/>
          <a:p>
            <a:pPr>
              <a:tabLst>
                <a:tab pos="655638" algn="l"/>
                <a:tab pos="1311275" algn="l"/>
              </a:tabLst>
            </a:pPr>
            <a:r>
              <a:rPr lang="fi-FI" sz="2000" dirty="0"/>
              <a:t>Excitatory neurons</a:t>
            </a:r>
          </a:p>
          <a:p>
            <a:pPr>
              <a:tabLst>
                <a:tab pos="655638" algn="l"/>
                <a:tab pos="1311275" algn="l"/>
              </a:tabLst>
            </a:pPr>
            <a:r>
              <a:rPr lang="fi-FI" sz="2000" dirty="0"/>
              <a:t>spike rate</a:t>
            </a:r>
          </a:p>
          <a:p>
            <a:pPr>
              <a:tabLst>
                <a:tab pos="655638" algn="l"/>
                <a:tab pos="1311275" algn="l"/>
              </a:tabLst>
            </a:pPr>
            <a:endParaRPr lang="fi-FI" sz="2200" dirty="0">
              <a:solidFill>
                <a:schemeClr val="bg1"/>
              </a:solidFill>
            </a:endParaRPr>
          </a:p>
        </p:txBody>
      </p:sp>
      <p:sp>
        <p:nvSpPr>
          <p:cNvPr id="25614" name="Line 14"/>
          <p:cNvSpPr>
            <a:spLocks noChangeShapeType="1"/>
          </p:cNvSpPr>
          <p:nvPr/>
        </p:nvSpPr>
        <p:spPr bwMode="auto">
          <a:xfrm>
            <a:off x="2286000" y="3857625"/>
            <a:ext cx="654050" cy="3175"/>
          </a:xfrm>
          <a:prstGeom prst="line">
            <a:avLst/>
          </a:prstGeom>
          <a:noFill/>
          <a:ln w="72000">
            <a:solidFill>
              <a:srgbClr val="FF0000"/>
            </a:solidFill>
            <a:round/>
            <a:headEnd/>
            <a:tailEnd/>
          </a:ln>
        </p:spPr>
        <p:txBody>
          <a:bodyPr lIns="82943" tIns="41471" rIns="82943" bIns="41471"/>
          <a:lstStyle/>
          <a:p>
            <a:endParaRPr lang="en-US"/>
          </a:p>
        </p:txBody>
      </p:sp>
      <p:sp>
        <p:nvSpPr>
          <p:cNvPr id="25615" name="Text Box 18"/>
          <p:cNvSpPr txBox="1">
            <a:spLocks noChangeArrowheads="1"/>
          </p:cNvSpPr>
          <p:nvPr/>
        </p:nvSpPr>
        <p:spPr bwMode="auto">
          <a:xfrm>
            <a:off x="5786438" y="6237312"/>
            <a:ext cx="3152775" cy="5838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943" tIns="41471" rIns="82943" bIns="41471">
            <a:spAutoFit/>
          </a:bodyPr>
          <a:lstStyle/>
          <a:p>
            <a:pPr>
              <a:spcBef>
                <a:spcPct val="50000"/>
              </a:spcBef>
            </a:pPr>
            <a:r>
              <a:rPr lang="it-IT" sz="1300" i="1" dirty="0" err="1"/>
              <a:t>Mazzoni</a:t>
            </a:r>
            <a:r>
              <a:rPr lang="it-IT" sz="1300" i="1" dirty="0"/>
              <a:t>, </a:t>
            </a:r>
            <a:r>
              <a:rPr lang="it-IT" sz="1300" i="1" dirty="0" err="1"/>
              <a:t>et</a:t>
            </a:r>
            <a:r>
              <a:rPr lang="it-IT" sz="1300" i="1" dirty="0"/>
              <a:t> al – </a:t>
            </a:r>
            <a:r>
              <a:rPr lang="it-IT" sz="1300" i="1" dirty="0" err="1"/>
              <a:t>PLoS</a:t>
            </a:r>
            <a:r>
              <a:rPr lang="it-IT" sz="1300" i="1" dirty="0"/>
              <a:t> </a:t>
            </a:r>
            <a:r>
              <a:rPr lang="it-IT" sz="1300" i="1" dirty="0" err="1"/>
              <a:t>Comp</a:t>
            </a:r>
            <a:r>
              <a:rPr lang="it-IT" sz="1300" i="1" dirty="0"/>
              <a:t> </a:t>
            </a:r>
            <a:r>
              <a:rPr lang="it-IT" sz="1300" i="1" dirty="0" err="1"/>
              <a:t>Biol</a:t>
            </a:r>
            <a:r>
              <a:rPr lang="it-IT" sz="1300" i="1" dirty="0"/>
              <a:t>    (2008)</a:t>
            </a:r>
          </a:p>
          <a:p>
            <a:pPr>
              <a:spcBef>
                <a:spcPct val="50000"/>
              </a:spcBef>
            </a:pPr>
            <a:r>
              <a:rPr lang="it-IT" sz="1300" i="1" dirty="0" err="1"/>
              <a:t>Mazzoni</a:t>
            </a:r>
            <a:r>
              <a:rPr lang="it-IT" sz="1300" i="1" dirty="0"/>
              <a:t> </a:t>
            </a:r>
            <a:r>
              <a:rPr lang="it-IT" sz="1300" i="1" dirty="0" err="1"/>
              <a:t>et</a:t>
            </a:r>
            <a:r>
              <a:rPr lang="it-IT" sz="1300" i="1" dirty="0"/>
              <a:t> al (2010) </a:t>
            </a:r>
            <a:r>
              <a:rPr lang="it-IT" sz="1300" i="1" dirty="0" err="1"/>
              <a:t>Neuroimage</a:t>
            </a:r>
            <a:endParaRPr lang="it-IT" sz="1300" i="1" dirty="0"/>
          </a:p>
        </p:txBody>
      </p:sp>
      <p:pic>
        <p:nvPicPr>
          <p:cNvPr id="25616" name="Picture 2"/>
          <p:cNvPicPr>
            <a:picLocks noChangeAspect="1" noChangeArrowheads="1"/>
          </p:cNvPicPr>
          <p:nvPr/>
        </p:nvPicPr>
        <p:blipFill>
          <a:blip r:embed="rId4" cstate="print"/>
          <a:srcRect r="50000" b="50000"/>
          <a:stretch>
            <a:fillRect/>
          </a:stretch>
        </p:blipFill>
        <p:spPr bwMode="auto">
          <a:xfrm>
            <a:off x="4929188" y="1428750"/>
            <a:ext cx="3581400" cy="2686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17" name="CasellaDiTesto 19"/>
          <p:cNvSpPr txBox="1">
            <a:spLocks noChangeArrowheads="1"/>
          </p:cNvSpPr>
          <p:nvPr/>
        </p:nvSpPr>
        <p:spPr bwMode="auto">
          <a:xfrm>
            <a:off x="5357813" y="4214813"/>
            <a:ext cx="3786187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200">
                <a:latin typeface="Arial" charset="0"/>
                <a:cs typeface="Arial" charset="0"/>
              </a:rPr>
              <a:t>The network internally generates only gamma-range (40-100 Hz)  oscillations </a:t>
            </a:r>
          </a:p>
          <a:p>
            <a:r>
              <a:rPr lang="en-US" sz="2200">
                <a:latin typeface="Arial" charset="0"/>
                <a:cs typeface="Arial" charset="0"/>
              </a:rPr>
              <a:t>The gamma power encodes the strength of the input</a:t>
            </a:r>
          </a:p>
        </p:txBody>
      </p:sp>
    </p:spTree>
    <p:extLst>
      <p:ext uri="{BB962C8B-B14F-4D97-AF65-F5344CB8AC3E}">
        <p14:creationId xmlns:p14="http://schemas.microsoft.com/office/powerpoint/2010/main" val="322872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152324" y="782626"/>
            <a:ext cx="6963368" cy="275609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 4"/>
          <p:cNvSpPr/>
          <p:nvPr/>
        </p:nvSpPr>
        <p:spPr>
          <a:xfrm>
            <a:off x="159604" y="775338"/>
            <a:ext cx="316517" cy="33126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3641287" y="775338"/>
            <a:ext cx="316517" cy="331261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FFFFFF"/>
          </a:solidFill>
          <a:ln>
            <a:noFill/>
            <a:prstDash val="solid"/>
          </a:ln>
        </p:spPr>
        <p:txBody>
          <a:bodyPr vert="horz" lIns="90000" tIns="45000" rIns="90000" bIns="45000" anchor="ctr" anchorCtr="0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lum/>
            <a:alphaModFix/>
          </a:blip>
          <a:srcRect/>
          <a:stretch>
            <a:fillRect/>
          </a:stretch>
        </p:blipFill>
        <p:spPr>
          <a:xfrm>
            <a:off x="3641287" y="3591060"/>
            <a:ext cx="4588227" cy="296214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222907" y="4485466"/>
            <a:ext cx="3481684" cy="1270689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Modulation of the spectrum of LFP </a:t>
            </a:r>
            <a:r>
              <a:rPr lang="fi-FI" sz="2000" b="0" i="0" u="sng" strike="noStrike" dirty="0">
                <a:ln>
                  <a:noFill/>
                </a:ln>
                <a:uFillTx/>
                <a:latin typeface="Arial" pitchFamily="18"/>
                <a:ea typeface="DejaVu Sans" pitchFamily="2"/>
                <a:cs typeface="DejaVu Sans" pitchFamily="2"/>
              </a:rPr>
              <a:t>recorded</a:t>
            </a: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 in monkey V1 (</a:t>
            </a:r>
            <a:r>
              <a:rPr lang="fi-FI" sz="2000" b="0" i="1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Henrie and Shapley</a:t>
            </a:r>
          </a:p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1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J Neurophysiol 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86275" y="808464"/>
            <a:ext cx="1424325" cy="1270689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LFP from simulated cortical circuit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476121" y="0"/>
            <a:ext cx="8667879" cy="940968"/>
          </a:xfrm>
        </p:spPr>
        <p:txBody>
          <a:bodyPr>
            <a:normAutofit/>
          </a:bodyPr>
          <a:lstStyle/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Network response to constant input</a:t>
            </a:r>
          </a:p>
        </p:txBody>
      </p:sp>
    </p:spTree>
    <p:extLst>
      <p:ext uri="{BB962C8B-B14F-4D97-AF65-F5344CB8AC3E}">
        <p14:creationId xmlns:p14="http://schemas.microsoft.com/office/powerpoint/2010/main" val="19423972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76200" y="975276"/>
            <a:ext cx="5614248" cy="289177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traight Connector 4"/>
          <p:cNvSpPr/>
          <p:nvPr/>
        </p:nvSpPr>
        <p:spPr>
          <a:xfrm>
            <a:off x="825702" y="3194447"/>
            <a:ext cx="4366637" cy="0"/>
          </a:xfrm>
          <a:prstGeom prst="line">
            <a:avLst/>
          </a:prstGeom>
          <a:noFill/>
          <a:ln w="0">
            <a:solidFill>
              <a:srgbClr val="FF0000"/>
            </a:solidFill>
            <a:custDash>
              <a:ds d="144567" sp="144567"/>
              <a:ds d="144567" sp="144567"/>
            </a:custDash>
          </a:ln>
        </p:spPr>
        <p:txBody>
          <a:bodyPr vert="horz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sz="1800" b="0" i="0" u="none" strike="noStrike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507360" y="3768047"/>
            <a:ext cx="3455881" cy="306008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5753764" y="1052390"/>
            <a:ext cx="2963075" cy="2479994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algn="just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Each constant signal is injected 20 times, every time with a different noise. In this way we can compute the information content of the spectrum. Since 8 different rates are injected the total entropy is 3 bits.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897" y="4357280"/>
            <a:ext cx="4990442" cy="1418165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algn="just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The peak of information is at ~70 Hz, slightly higher than the peak of the oscillations.</a:t>
            </a:r>
          </a:p>
          <a:p>
            <a:pPr marL="0" marR="0" lvl="0" indent="0" algn="just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fi-FI" b="0" i="0" u="none" strike="noStrike" dirty="0">
              <a:ln>
                <a:noFill/>
              </a:ln>
              <a:latin typeface="Arial" pitchFamily="18"/>
              <a:ea typeface="DejaVu Sans" pitchFamily="2"/>
              <a:cs typeface="DejaVu Sans" pitchFamily="2"/>
            </a:endParaRPr>
          </a:p>
          <a:p>
            <a:pPr marL="0" marR="0" lvl="0" indent="0" algn="just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The information contained in the frequencies of the gamma band is highly redundant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4972" y="1450201"/>
            <a:ext cx="1635628" cy="356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18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4972" y="2888439"/>
            <a:ext cx="1247611" cy="317637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1800" b="0" i="0" u="none" strike="noStrike">
                <a:ln>
                  <a:noFill/>
                </a:ln>
                <a:solidFill>
                  <a:srgbClr val="00FF00"/>
                </a:solidFill>
                <a:latin typeface="Arial" pitchFamily="18"/>
                <a:ea typeface="DejaVu Sans" pitchFamily="2"/>
                <a:cs typeface="DejaVu Sans" pitchFamily="2"/>
              </a:rPr>
              <a:t>power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476121" y="0"/>
            <a:ext cx="8667879" cy="940968"/>
          </a:xfrm>
        </p:spPr>
        <p:txBody>
          <a:bodyPr>
            <a:normAutofit/>
          </a:bodyPr>
          <a:lstStyle/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Network response to constant input</a:t>
            </a:r>
          </a:p>
        </p:txBody>
      </p:sp>
    </p:spTree>
    <p:extLst>
      <p:ext uri="{BB962C8B-B14F-4D97-AF65-F5344CB8AC3E}">
        <p14:creationId xmlns:p14="http://schemas.microsoft.com/office/powerpoint/2010/main" val="16339440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 l="9999" r="9999"/>
          <a:stretch>
            <a:fillRect/>
          </a:stretch>
        </p:blipFill>
        <p:spPr>
          <a:xfrm>
            <a:off x="0" y="1143000"/>
            <a:ext cx="3938334" cy="256993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304800" y="1219200"/>
            <a:ext cx="630133" cy="313834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1800" b="0" i="0" u="none" strike="noStrike" dirty="0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LFP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0800" y="2971800"/>
            <a:ext cx="913693" cy="313834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>
                <a:solidFill>
                  <a:srgbClr val="FF0000"/>
                </a:solidFill>
              </a:defRPr>
            </a:pPr>
            <a:r>
              <a:rPr lang="fi-FI" sz="1800" b="0" i="0" u="none" strike="noStrike" dirty="0">
                <a:ln>
                  <a:noFill/>
                </a:ln>
                <a:solidFill>
                  <a:srgbClr val="FF0000"/>
                </a:solidFill>
                <a:latin typeface="Arial" pitchFamily="18"/>
                <a:ea typeface="DejaVu Sans" pitchFamily="2"/>
                <a:cs typeface="DejaVu Sans" pitchFamily="2"/>
              </a:rPr>
              <a:t>Signal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476121" y="0"/>
            <a:ext cx="8667879" cy="940968"/>
          </a:xfrm>
        </p:spPr>
        <p:txBody>
          <a:bodyPr>
            <a:normAutofit/>
          </a:bodyPr>
          <a:lstStyle/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Delta oscillations origin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266757" y="838200"/>
            <a:ext cx="2953885" cy="41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>
            <a:lum/>
            <a:alphaModFix/>
          </a:blip>
          <a:srcRect l="51798"/>
          <a:stretch/>
        </p:blipFill>
        <p:spPr>
          <a:xfrm>
            <a:off x="5181600" y="1376804"/>
            <a:ext cx="3124200" cy="308313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Freeform 13"/>
          <p:cNvSpPr/>
          <p:nvPr/>
        </p:nvSpPr>
        <p:spPr>
          <a:xfrm>
            <a:off x="443717" y="3954250"/>
            <a:ext cx="651746" cy="691483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0000FF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I</a:t>
            </a:r>
          </a:p>
        </p:txBody>
      </p:sp>
      <p:sp>
        <p:nvSpPr>
          <p:cNvPr id="15" name="Freeform 14"/>
          <p:cNvSpPr/>
          <p:nvPr/>
        </p:nvSpPr>
        <p:spPr>
          <a:xfrm>
            <a:off x="1317420" y="4080273"/>
            <a:ext cx="1303493" cy="137014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200 f10 1"/>
              <a:gd name="f16" fmla="*/ 18400 f10 1"/>
              <a:gd name="f17" fmla="*/ 18400 f11 1"/>
              <a:gd name="f18" fmla="*/ 3200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3160 f10 1"/>
              <a:gd name="f25" fmla="*/ 3160 f11 1"/>
              <a:gd name="f26" fmla="*/ 0 f10 1"/>
              <a:gd name="f27" fmla="*/ 10800 f11 1"/>
              <a:gd name="f28" fmla="*/ 18440 f11 1"/>
              <a:gd name="f29" fmla="*/ 21600 f11 1"/>
              <a:gd name="f30" fmla="*/ 18440 f10 1"/>
              <a:gd name="f31" fmla="*/ 21600 f10 1"/>
              <a:gd name="f32" fmla="+- 0 0 f19"/>
              <a:gd name="f33" fmla="+- f20 0 f1"/>
              <a:gd name="f34" fmla="+- f21 0 f1"/>
              <a:gd name="f35" fmla="*/ f32 f0 1"/>
              <a:gd name="f36" fmla="+- f34 0 f33"/>
              <a:gd name="f37" fmla="*/ f35 1 f5"/>
              <a:gd name="f38" fmla="+- f37 0 f1"/>
              <a:gd name="f39" fmla="cos 1 f38"/>
              <a:gd name="f40" fmla="sin 1 f38"/>
              <a:gd name="f41" fmla="+- 0 0 f39"/>
              <a:gd name="f42" fmla="+- 0 0 f40"/>
              <a:gd name="f43" fmla="*/ 10800 f41 1"/>
              <a:gd name="f44" fmla="*/ 10800 f42 1"/>
              <a:gd name="f45" fmla="*/ f43 f43 1"/>
              <a:gd name="f46" fmla="*/ f44 f44 1"/>
              <a:gd name="f47" fmla="+- f45 f46 0"/>
              <a:gd name="f48" fmla="sqrt f47"/>
              <a:gd name="f49" fmla="*/ f6 1 f48"/>
              <a:gd name="f50" fmla="*/ f41 f49 1"/>
              <a:gd name="f51" fmla="*/ f42 f49 1"/>
              <a:gd name="f52" fmla="+- 10800 0 f50"/>
              <a:gd name="f53" fmla="+- 10800 0 f5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3">
                <a:pos x="f22" y="f23"/>
              </a:cxn>
              <a:cxn ang="f33">
                <a:pos x="f24" y="f25"/>
              </a:cxn>
              <a:cxn ang="f33">
                <a:pos x="f26" y="f27"/>
              </a:cxn>
              <a:cxn ang="f33">
                <a:pos x="f24" y="f28"/>
              </a:cxn>
              <a:cxn ang="f33">
                <a:pos x="f22" y="f29"/>
              </a:cxn>
              <a:cxn ang="f33">
                <a:pos x="f30" y="f28"/>
              </a:cxn>
              <a:cxn ang="f33">
                <a:pos x="f31" y="f27"/>
              </a:cxn>
              <a:cxn ang="f33">
                <a:pos x="f30" y="f25"/>
              </a:cxn>
            </a:cxnLst>
            <a:rect l="f15" t="f18" r="f16" b="f17"/>
            <a:pathLst>
              <a:path w="21600" h="21600">
                <a:moveTo>
                  <a:pt x="f52" y="f53"/>
                </a:moveTo>
                <a:arcTo wR="f9" hR="f9" stAng="f33" swAng="f36"/>
                <a:close/>
              </a:path>
            </a:pathLst>
          </a:custGeom>
          <a:noFill/>
          <a:ln w="72000">
            <a:solidFill>
              <a:srgbClr val="FF0000"/>
            </a:solidFill>
            <a:prstDash val="solid"/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20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P</a:t>
            </a:r>
          </a:p>
        </p:txBody>
      </p:sp>
      <p:sp>
        <p:nvSpPr>
          <p:cNvPr id="16" name="Freeform 15"/>
          <p:cNvSpPr/>
          <p:nvPr/>
        </p:nvSpPr>
        <p:spPr>
          <a:xfrm>
            <a:off x="560976" y="5999014"/>
            <a:ext cx="1972358" cy="49220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custDash>
              <a:ds d="254000" sp="254000"/>
              <a:ds d="254000" sp="254000"/>
            </a:custDash>
          </a:ln>
        </p:spPr>
        <p:txBody>
          <a:bodyPr vert="horz" lIns="126000" tIns="81000" rIns="126000" bIns="81000" anchor="ctr" anchorCtr="0" compatLnSpc="0"/>
          <a:lstStyle/>
          <a:p>
            <a:pPr marL="0" marR="0" lvl="0" indent="0" algn="ct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GB" sz="1400" dirty="0">
                <a:latin typeface="+mj-lt"/>
                <a:ea typeface="DejaVu Sans" pitchFamily="2"/>
                <a:cs typeface="DejaVu Sans" pitchFamily="2"/>
              </a:rPr>
              <a:t>I</a:t>
            </a:r>
            <a:r>
              <a:rPr lang="en-GB" sz="1400" b="0" i="0" u="none" strike="noStrike" kern="1200" dirty="0">
                <a:ln>
                  <a:noFill/>
                </a:ln>
                <a:solidFill>
                  <a:schemeClr val="tx1"/>
                </a:solidFill>
                <a:latin typeface="+mj-lt"/>
                <a:ea typeface="DejaVu Sans" pitchFamily="2"/>
                <a:cs typeface="DejaVu Sans" pitchFamily="2"/>
              </a:rPr>
              <a:t>nput</a:t>
            </a:r>
          </a:p>
        </p:txBody>
      </p:sp>
      <p:cxnSp>
        <p:nvCxnSpPr>
          <p:cNvPr id="17" name="Straight Arrow Connector 16"/>
          <p:cNvCxnSpPr>
            <a:stCxn id="16" idx="0"/>
            <a:endCxn id="16" idx="0"/>
          </p:cNvCxnSpPr>
          <p:nvPr/>
        </p:nvCxnSpPr>
        <p:spPr>
          <a:xfrm rot="5400000" flipH="1" flipV="1">
            <a:off x="1547057" y="5999110"/>
            <a:ext cx="1152" cy="958"/>
          </a:xfrm>
          <a:prstGeom prst="straightConnector1">
            <a:avLst/>
          </a:prstGeom>
          <a:noFill/>
          <a:ln w="0">
            <a:solidFill>
              <a:srgbClr val="000000"/>
            </a:solidFill>
            <a:prstDash val="solid"/>
            <a:tailEnd type="arrow"/>
          </a:ln>
        </p:spPr>
      </p:cxnSp>
      <p:cxnSp>
        <p:nvCxnSpPr>
          <p:cNvPr id="18" name="Curved Connector 17"/>
          <p:cNvCxnSpPr>
            <a:stCxn id="16" idx="0"/>
            <a:endCxn id="14" idx="2"/>
          </p:cNvCxnSpPr>
          <p:nvPr/>
        </p:nvCxnSpPr>
        <p:spPr>
          <a:xfrm rot="16200000" flipV="1">
            <a:off x="481732" y="4933591"/>
            <a:ext cx="1353281" cy="777564"/>
          </a:xfrm>
          <a:prstGeom prst="curvedConnector3">
            <a:avLst>
              <a:gd name="adj1" fmla="val 50000"/>
            </a:avLst>
          </a:prstGeom>
          <a:noFill/>
          <a:ln w="508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19" name="Curved Connector 18"/>
          <p:cNvCxnSpPr>
            <a:stCxn id="15" idx="6"/>
            <a:endCxn id="14" idx="9"/>
          </p:cNvCxnSpPr>
          <p:nvPr/>
        </p:nvCxnSpPr>
        <p:spPr>
          <a:xfrm rot="16200000" flipV="1">
            <a:off x="1048382" y="4496305"/>
            <a:ext cx="220772" cy="317305"/>
          </a:xfrm>
          <a:prstGeom prst="curvedConnector3">
            <a:avLst>
              <a:gd name="adj1" fmla="val -56771"/>
            </a:avLst>
          </a:prstGeom>
          <a:noFill/>
          <a:ln w="3175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20" name="Curved Connector 19"/>
          <p:cNvCxnSpPr>
            <a:stCxn id="14" idx="10"/>
            <a:endCxn id="15" idx="5"/>
          </p:cNvCxnSpPr>
          <p:nvPr/>
        </p:nvCxnSpPr>
        <p:spPr>
          <a:xfrm rot="5400000" flipH="1" flipV="1">
            <a:off x="1292153" y="4084029"/>
            <a:ext cx="19272" cy="412653"/>
          </a:xfrm>
          <a:prstGeom prst="curvedConnector3">
            <a:avLst>
              <a:gd name="adj1" fmla="val 671495"/>
            </a:avLst>
          </a:prstGeom>
          <a:noFill/>
          <a:ln w="1224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21" name="Curved Connector 16"/>
          <p:cNvCxnSpPr>
            <a:stCxn id="14" idx="3"/>
          </p:cNvCxnSpPr>
          <p:nvPr/>
        </p:nvCxnSpPr>
        <p:spPr>
          <a:xfrm rot="10800000" flipH="1">
            <a:off x="443716" y="3954252"/>
            <a:ext cx="233904" cy="345739"/>
          </a:xfrm>
          <a:prstGeom prst="curvedConnector4">
            <a:avLst>
              <a:gd name="adj1" fmla="val -77258"/>
              <a:gd name="adj2" fmla="val 144594"/>
            </a:avLst>
          </a:prstGeom>
          <a:noFill/>
          <a:ln w="127000">
            <a:solidFill>
              <a:srgbClr val="0000FF"/>
            </a:solidFill>
            <a:prstDash val="solid"/>
            <a:tailEnd type="oval" w="sm" len="sm"/>
          </a:ln>
        </p:spPr>
      </p:cxnSp>
      <p:cxnSp>
        <p:nvCxnSpPr>
          <p:cNvPr id="22" name="Curved Connector 17"/>
          <p:cNvCxnSpPr>
            <a:stCxn id="15" idx="9"/>
            <a:endCxn id="15" idx="1"/>
          </p:cNvCxnSpPr>
          <p:nvPr/>
        </p:nvCxnSpPr>
        <p:spPr>
          <a:xfrm rot="5400000" flipH="1" flipV="1">
            <a:off x="2283255" y="4912308"/>
            <a:ext cx="484623" cy="190696"/>
          </a:xfrm>
          <a:prstGeom prst="curvedConnector4">
            <a:avLst>
              <a:gd name="adj1" fmla="val -40520"/>
              <a:gd name="adj2" fmla="val 194764"/>
            </a:avLst>
          </a:prstGeom>
          <a:noFill/>
          <a:ln w="36000">
            <a:solidFill>
              <a:srgbClr val="FF0000"/>
            </a:solidFill>
            <a:prstDash val="solid"/>
            <a:tailEnd type="triangle"/>
          </a:ln>
        </p:spPr>
      </p:cxnSp>
      <p:cxnSp>
        <p:nvCxnSpPr>
          <p:cNvPr id="23" name="Curved Connector 22"/>
          <p:cNvCxnSpPr>
            <a:stCxn id="16" idx="0"/>
            <a:endCxn id="15" idx="2"/>
          </p:cNvCxnSpPr>
          <p:nvPr/>
        </p:nvCxnSpPr>
        <p:spPr>
          <a:xfrm rot="5400000" flipH="1" flipV="1">
            <a:off x="1483860" y="5513706"/>
            <a:ext cx="548600" cy="422013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prstDash val="solid"/>
            <a:tailEnd type="triangle"/>
          </a:ln>
        </p:spPr>
      </p:cxnSp>
      <p:sp>
        <p:nvSpPr>
          <p:cNvPr id="3" name="TextBox 2"/>
          <p:cNvSpPr txBox="1"/>
          <p:nvPr/>
        </p:nvSpPr>
        <p:spPr>
          <a:xfrm>
            <a:off x="3352800" y="4765343"/>
            <a:ext cx="5486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Intuitively: the slower network time constant is given by the </a:t>
            </a:r>
            <a:r>
              <a:rPr lang="en-US" dirty="0" err="1"/>
              <a:t>dy-sinaptic</a:t>
            </a:r>
            <a:r>
              <a:rPr lang="en-US" dirty="0"/>
              <a:t> P-I-P rhythm. Whatever is slower (&lt;30/40 Hz) will not interfere with network rhythms and will entrain the network linearly. </a:t>
            </a:r>
          </a:p>
        </p:txBody>
      </p:sp>
      <p:sp>
        <p:nvSpPr>
          <p:cNvPr id="24" name="CasellaDiTesto 23"/>
          <p:cNvSpPr txBox="1"/>
          <p:nvPr/>
        </p:nvSpPr>
        <p:spPr>
          <a:xfrm>
            <a:off x="1774206" y="4505980"/>
            <a:ext cx="359394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800" dirty="0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6291605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358233" y="1295400"/>
            <a:ext cx="3998196" cy="278157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4428265" y="1546347"/>
            <a:ext cx="4410934" cy="1407719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algn="just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Periodic signals with frequencies ranging from 4 to 16 Hz and 7 different amplitudes are used as input. Each signal is injected with 20 different noises. The total entropy is 5.6 bits.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878" y="4418626"/>
            <a:ext cx="4568467" cy="1674085"/>
          </a:xfrm>
          <a:prstGeom prst="rect">
            <a:avLst/>
          </a:prstGeom>
          <a:noFill/>
          <a:ln>
            <a:noFill/>
          </a:ln>
        </p:spPr>
        <p:txBody>
          <a:bodyPr vert="horz" lIns="90000" tIns="45000" rIns="90000" bIns="45000" compatLnSpc="0">
            <a:spAutoFit/>
          </a:bodyPr>
          <a:lstStyle/>
          <a:p>
            <a:pPr marL="0" marR="0" lvl="0" indent="0" algn="just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Periodic signals entrain network LFP oscillations (the effect is stronger for lower frequencies).</a:t>
            </a:r>
          </a:p>
          <a:p>
            <a:pPr marL="0" marR="0" lvl="0" indent="0" algn="just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fi-FI" sz="2000" b="0" i="0" u="none" strike="noStrike">
                <a:ln>
                  <a:noFill/>
                </a:ln>
                <a:latin typeface="Arial" pitchFamily="18"/>
                <a:ea typeface="DejaVu Sans" pitchFamily="2"/>
                <a:cs typeface="DejaVu Sans" pitchFamily="2"/>
              </a:rPr>
              <a:t>Information about the lowest band of the signal spectrum is then contained in the same band of the network LFP.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476121" y="0"/>
            <a:ext cx="8667879" cy="940968"/>
          </a:xfrm>
        </p:spPr>
        <p:txBody>
          <a:bodyPr>
            <a:normAutofit/>
          </a:bodyPr>
          <a:lstStyle/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Network response to periodic input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845158" y="3807868"/>
            <a:ext cx="3994041" cy="28956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87691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4876800" y="2590800"/>
            <a:ext cx="3240000" cy="319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76121" y="0"/>
            <a:ext cx="8667879" cy="940968"/>
          </a:xfrm>
        </p:spPr>
        <p:txBody>
          <a:bodyPr>
            <a:normAutofit/>
          </a:bodyPr>
          <a:lstStyle/>
          <a:p>
            <a:pPr>
              <a:tabLst>
                <a:tab pos="655638" algn="l"/>
                <a:tab pos="1311275" algn="l"/>
                <a:tab pos="1968500" algn="l"/>
                <a:tab pos="2625725" algn="l"/>
                <a:tab pos="3281363" algn="l"/>
              </a:tabLst>
            </a:pPr>
            <a:r>
              <a:rPr lang="fi-FI" sz="3200" dirty="0">
                <a:solidFill>
                  <a:srgbClr val="FF0000"/>
                </a:solidFill>
                <a:latin typeface="Arial" charset="0"/>
                <a:cs typeface="Arial" charset="0"/>
              </a:rPr>
              <a:t>Cross-frequency coupling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lum/>
            <a:alphaModFix/>
          </a:blip>
          <a:srcRect l="16708" r="61843" b="80783"/>
          <a:stretch/>
        </p:blipFill>
        <p:spPr>
          <a:xfrm>
            <a:off x="5562600" y="2590800"/>
            <a:ext cx="694944" cy="594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4" cstate="print"/>
          <a:srcRect l="43982"/>
          <a:stretch/>
        </p:blipFill>
        <p:spPr bwMode="auto">
          <a:xfrm>
            <a:off x="533400" y="2590800"/>
            <a:ext cx="3021206" cy="3029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152400" y="1066800"/>
            <a:ext cx="8915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peak of slowly modulated inputs to the network will cause a peak in the low frequency component of the response LFP (because of entrainment) and a particularly high gamma power (because the latter encodes the strength of the input). This will lead to the cross-frequency coupling that is often observed experimentally.</a:t>
            </a:r>
          </a:p>
        </p:txBody>
      </p:sp>
    </p:spTree>
    <p:extLst>
      <p:ext uri="{BB962C8B-B14F-4D97-AF65-F5344CB8AC3E}">
        <p14:creationId xmlns:p14="http://schemas.microsoft.com/office/powerpoint/2010/main" val="16892994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igbenedetta.tif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027336" y="1507374"/>
            <a:ext cx="6811864" cy="321702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334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GB" sz="3200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Responses of the simulated network to input stimuli matching LGN spiking activity during naturalistic movies presentations</a:t>
            </a:r>
            <a:endParaRPr lang="en-US" sz="3200" kern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8208" y="3991704"/>
            <a:ext cx="276760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0" dirty="0">
                <a:solidFill>
                  <a:schemeClr val="tx1"/>
                </a:solidFill>
                <a:latin typeface="+mj-lt"/>
              </a:rPr>
              <a:t>Stimuli matching LGN spiking activity during naturalistic movies presentations display a broad range of fluctuations.</a:t>
            </a:r>
          </a:p>
          <a:p>
            <a:pPr algn="just"/>
            <a:r>
              <a:rPr lang="en-US" sz="1400" b="0" dirty="0">
                <a:solidFill>
                  <a:schemeClr val="tx1"/>
                </a:solidFill>
                <a:latin typeface="+mj-lt"/>
              </a:rPr>
              <a:t>According to the model, input peaks are associated to troughs in the LFP delta band and to a larger amplitude of the LFP gamma  band.</a:t>
            </a:r>
          </a:p>
          <a:p>
            <a:pPr algn="just"/>
            <a:r>
              <a:rPr lang="en-US" sz="1400" b="0" dirty="0">
                <a:solidFill>
                  <a:schemeClr val="tx1"/>
                </a:solidFill>
                <a:latin typeface="+mj-lt"/>
              </a:rPr>
              <a:t>The model correctly reproduces the information content of recorded LFP frequency bands during presentation of naturalistic movies.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5407476"/>
            <a:ext cx="175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>
                <a:solidFill>
                  <a:schemeClr val="tx1"/>
                </a:solidFill>
                <a:latin typeface="+mj-lt"/>
              </a:rPr>
              <a:t>Mazzoni et al. (2008)</a:t>
            </a:r>
          </a:p>
          <a:p>
            <a:r>
              <a:rPr lang="en-US" sz="1400" b="0" dirty="0" err="1">
                <a:solidFill>
                  <a:schemeClr val="tx1"/>
                </a:solidFill>
                <a:latin typeface="+mj-lt"/>
              </a:rPr>
              <a:t>PLoS</a:t>
            </a:r>
            <a:r>
              <a:rPr lang="en-US" sz="1400" b="0" dirty="0">
                <a:solidFill>
                  <a:schemeClr val="tx1"/>
                </a:solidFill>
                <a:latin typeface="+mj-lt"/>
              </a:rPr>
              <a:t> Comp. Biol.</a:t>
            </a:r>
          </a:p>
        </p:txBody>
      </p:sp>
      <p:pic>
        <p:nvPicPr>
          <p:cNvPr id="11" name="Picture 10" descr="7B.tif"/>
          <p:cNvPicPr>
            <a:picLocks noChangeAspect="1"/>
          </p:cNvPicPr>
          <p:nvPr/>
        </p:nvPicPr>
        <p:blipFill>
          <a:blip r:embed="rId3" cstate="print"/>
          <a:srcRect r="18636"/>
          <a:stretch>
            <a:fillRect/>
          </a:stretch>
        </p:blipFill>
        <p:spPr>
          <a:xfrm>
            <a:off x="3149296" y="4365105"/>
            <a:ext cx="3500844" cy="2448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7534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>
            <a:off x="228600" y="1733173"/>
            <a:ext cx="8381999" cy="4991854"/>
            <a:chOff x="-199126" y="1007640"/>
            <a:chExt cx="10653356" cy="650440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lum/>
              <a:alphaModFix/>
            </a:blip>
            <a:srcRect/>
            <a:stretch>
              <a:fillRect/>
            </a:stretch>
          </p:blipFill>
          <p:spPr>
            <a:xfrm>
              <a:off x="43200" y="1007999"/>
              <a:ext cx="5428800" cy="3960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>
              <a:lum/>
              <a:alphaModFix/>
            </a:blip>
            <a:srcRect/>
            <a:stretch>
              <a:fillRect/>
            </a:stretch>
          </p:blipFill>
          <p:spPr>
            <a:xfrm>
              <a:off x="5609520" y="1007640"/>
              <a:ext cx="4456800" cy="396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TextBox 5"/>
            <p:cNvSpPr txBox="1"/>
            <p:nvPr/>
          </p:nvSpPr>
          <p:spPr>
            <a:xfrm>
              <a:off x="-17942" y="5004509"/>
              <a:ext cx="9900000" cy="1359000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0000" tIns="45000" rIns="90000" bIns="45000" compatLnSpc="0">
              <a:spAutoFit/>
            </a:bodyPr>
            <a:lstStyle/>
            <a:p>
              <a:pPr marL="0" marR="0" lvl="0" indent="0" algn="just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fi-FI" sz="1600" b="0" i="0" u="none" strike="noStrike" dirty="0">
                  <a:ln>
                    <a:noFill/>
                  </a:ln>
                  <a:latin typeface="Arial" pitchFamily="18"/>
                  <a:ea typeface="DejaVu Sans" pitchFamily="2"/>
                  <a:cs typeface="DejaVu Sans" pitchFamily="2"/>
                </a:rPr>
                <a:t>There are two informative bands: frequencies below 10 Hz (”low frequencies”) and 30-100 Hz (gamma band). The two bands convey independent information. Furthermore low frequencies convey independent information from each other, while gamma frequencies are redundant.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-199126" y="6394553"/>
              <a:ext cx="10653356" cy="1117491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000" tIns="45000" rIns="90000" bIns="45000" anchorCtr="0" compatLnSpc="0">
              <a:spAutoFit/>
            </a:bodyPr>
            <a:lstStyle/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fi-FI" sz="2600" b="1" i="0" u="sng" strike="noStrike" dirty="0">
                  <a:ln>
                    <a:noFill/>
                  </a:ln>
                  <a:uFillTx/>
                  <a:latin typeface="Arial" pitchFamily="18"/>
                  <a:ea typeface="DejaVu Sans" pitchFamily="2"/>
                  <a:cs typeface="DejaVu Sans" pitchFamily="2"/>
                </a:rPr>
                <a:t>Gamma band encodes signal rate</a:t>
              </a:r>
            </a:p>
            <a:p>
              <a:pPr marL="0" marR="0" lvl="0" indent="0" algn="ctr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r>
                <a:rPr lang="fi-FI" sz="2600" b="1" i="0" u="sng" strike="noStrike" dirty="0">
                  <a:ln>
                    <a:noFill/>
                  </a:ln>
                  <a:uFillTx/>
                  <a:latin typeface="Arial" pitchFamily="18"/>
                  <a:ea typeface="DejaVu Sans" pitchFamily="2"/>
                  <a:cs typeface="DejaVu Sans" pitchFamily="2"/>
                </a:rPr>
                <a:t>Delta band encodes slow signal components</a:t>
              </a:r>
            </a:p>
          </p:txBody>
        </p:sp>
      </p:grp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-3080" y="381000"/>
            <a:ext cx="9144000" cy="5334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GB" sz="3200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Responses of the simulated network to input stimuli matching LGN spiking activity during naturalistic movies presentations</a:t>
            </a:r>
            <a:endParaRPr lang="en-US" sz="3200" kern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6547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olo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43937" cy="642938"/>
          </a:xfrm>
        </p:spPr>
        <p:txBody>
          <a:bodyPr>
            <a:normAutofit/>
          </a:bodyPr>
          <a:lstStyle/>
          <a:p>
            <a:pPr algn="just"/>
            <a:r>
              <a:rPr lang="it-IT" sz="3200" dirty="0">
                <a:solidFill>
                  <a:srgbClr val="FF0000"/>
                </a:solidFill>
                <a:latin typeface="Arial" charset="0"/>
                <a:cs typeface="Arial" charset="0"/>
              </a:rPr>
              <a:t>Take home </a:t>
            </a:r>
            <a:r>
              <a:rPr lang="it-IT" sz="3200" dirty="0" err="1">
                <a:solidFill>
                  <a:srgbClr val="FF0000"/>
                </a:solidFill>
                <a:latin typeface="Arial" charset="0"/>
                <a:cs typeface="Arial" charset="0"/>
              </a:rPr>
              <a:t>message</a:t>
            </a:r>
            <a:r>
              <a:rPr lang="it-IT" sz="3200" dirty="0">
                <a:solidFill>
                  <a:srgbClr val="FF0000"/>
                </a:solidFill>
                <a:latin typeface="Arial" charset="0"/>
                <a:cs typeface="Arial" charset="0"/>
              </a:rPr>
              <a:t>(s)</a:t>
            </a:r>
          </a:p>
        </p:txBody>
      </p:sp>
      <p:sp>
        <p:nvSpPr>
          <p:cNvPr id="31747" name="CasellaDiTesto 5"/>
          <p:cNvSpPr txBox="1">
            <a:spLocks noChangeArrowheads="1"/>
          </p:cNvSpPr>
          <p:nvPr/>
        </p:nvSpPr>
        <p:spPr bwMode="auto">
          <a:xfrm>
            <a:off x="323528" y="980728"/>
            <a:ext cx="8501063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latin typeface="Arial" charset="0"/>
                <a:cs typeface="Arial" charset="0"/>
              </a:rPr>
              <a:t>During naturalistic stimulation, primary visual cortex </a:t>
            </a:r>
            <a:r>
              <a:rPr lang="en-US" sz="2000" dirty="0">
                <a:solidFill>
                  <a:srgbClr val="FF0000"/>
                </a:solidFill>
                <a:latin typeface="Arial" charset="0"/>
                <a:cs typeface="Arial" charset="0"/>
              </a:rPr>
              <a:t>multiplexes</a:t>
            </a:r>
            <a:r>
              <a:rPr lang="en-US" sz="2000" dirty="0">
                <a:latin typeface="Arial" charset="0"/>
                <a:cs typeface="Arial" charset="0"/>
              </a:rPr>
              <a:t> information by generating  </a:t>
            </a:r>
            <a:r>
              <a:rPr lang="en-US" sz="2000" dirty="0">
                <a:solidFill>
                  <a:srgbClr val="FF0000"/>
                </a:solidFill>
                <a:latin typeface="Arial" charset="0"/>
                <a:cs typeface="Arial" charset="0"/>
              </a:rPr>
              <a:t>two complementary temporal information streams</a:t>
            </a:r>
            <a:r>
              <a:rPr lang="en-US" sz="2000" dirty="0">
                <a:latin typeface="Arial" charset="0"/>
                <a:cs typeface="Arial" charset="0"/>
              </a:rPr>
              <a:t>: </a:t>
            </a:r>
            <a:r>
              <a:rPr lang="en-US" sz="2000" dirty="0">
                <a:solidFill>
                  <a:srgbClr val="FF0000"/>
                </a:solidFill>
                <a:latin typeface="Arial" charset="0"/>
                <a:cs typeface="Arial" charset="0"/>
              </a:rPr>
              <a:t>slow</a:t>
            </a:r>
            <a:r>
              <a:rPr lang="en-US" sz="2000" dirty="0">
                <a:latin typeface="Arial" charset="0"/>
                <a:cs typeface="Arial" charset="0"/>
              </a:rPr>
              <a:t> (&lt;10 Hz) fluctuations of the excitability of the local network, and </a:t>
            </a:r>
            <a:r>
              <a:rPr lang="en-US" sz="2000" dirty="0">
                <a:solidFill>
                  <a:srgbClr val="FF0000"/>
                </a:solidFill>
                <a:latin typeface="Arial" charset="0"/>
                <a:cs typeface="Arial" charset="0"/>
              </a:rPr>
              <a:t>fast</a:t>
            </a:r>
            <a:r>
              <a:rPr lang="en-US" sz="2000" dirty="0">
                <a:latin typeface="Arial" charset="0"/>
                <a:cs typeface="Arial" charset="0"/>
              </a:rPr>
              <a:t> (40-100 Hz) gamma oscillations.</a:t>
            </a:r>
          </a:p>
          <a:p>
            <a:endParaRPr lang="en-US" sz="2000" dirty="0">
              <a:latin typeface="Arial" charset="0"/>
              <a:cs typeface="Arial" charset="0"/>
            </a:endParaRPr>
          </a:p>
          <a:p>
            <a:r>
              <a:rPr lang="en-US" sz="2000" dirty="0">
                <a:latin typeface="Arial" charset="0"/>
                <a:cs typeface="Arial" charset="0"/>
              </a:rPr>
              <a:t>These complementary information channels reflect different aspects of both neural dynamics and of stimulus representations. </a:t>
            </a:r>
          </a:p>
          <a:p>
            <a:r>
              <a:rPr lang="en-US" sz="2000" dirty="0">
                <a:solidFill>
                  <a:srgbClr val="FF0000"/>
                </a:solidFill>
                <a:latin typeface="Arial" charset="0"/>
                <a:cs typeface="Arial" charset="0"/>
              </a:rPr>
              <a:t>Slow fluctuations </a:t>
            </a:r>
            <a:r>
              <a:rPr lang="en-US" sz="2000" dirty="0">
                <a:latin typeface="Arial" charset="0"/>
                <a:cs typeface="Arial" charset="0"/>
              </a:rPr>
              <a:t>reflect entrainment to the stimulus time course and thus provide </a:t>
            </a:r>
            <a:r>
              <a:rPr lang="en-US" sz="2000" dirty="0">
                <a:solidFill>
                  <a:srgbClr val="FF0000"/>
                </a:solidFill>
                <a:latin typeface="Arial" charset="0"/>
                <a:cs typeface="Arial" charset="0"/>
              </a:rPr>
              <a:t>“when” information about stimulus history</a:t>
            </a:r>
            <a:r>
              <a:rPr lang="en-US" sz="2000" dirty="0">
                <a:latin typeface="Arial" charset="0"/>
                <a:cs typeface="Arial" charset="0"/>
              </a:rPr>
              <a:t> </a:t>
            </a:r>
          </a:p>
          <a:p>
            <a:endParaRPr lang="en-US" sz="2000" dirty="0">
              <a:latin typeface="Arial" charset="0"/>
              <a:cs typeface="Arial" charset="0"/>
            </a:endParaRPr>
          </a:p>
          <a:p>
            <a:endParaRPr lang="en-US" sz="2000" dirty="0">
              <a:latin typeface="Arial" charset="0"/>
              <a:cs typeface="Arial" charset="0"/>
            </a:endParaRPr>
          </a:p>
          <a:p>
            <a:r>
              <a:rPr lang="en-US" sz="2000" dirty="0">
                <a:solidFill>
                  <a:srgbClr val="FF0000"/>
                </a:solidFill>
                <a:latin typeface="Arial" charset="0"/>
                <a:cs typeface="Arial" charset="0"/>
              </a:rPr>
              <a:t>Fast oscillations</a:t>
            </a:r>
            <a:r>
              <a:rPr lang="en-US" sz="2000" dirty="0">
                <a:latin typeface="Arial" charset="0"/>
                <a:cs typeface="Arial" charset="0"/>
              </a:rPr>
              <a:t> (which are largely redundant to spiking activity) are internally generated by excitatory-inhibitory interactions and encode “</a:t>
            </a:r>
            <a:r>
              <a:rPr lang="en-US" sz="2000" dirty="0">
                <a:solidFill>
                  <a:srgbClr val="FF0000"/>
                </a:solidFill>
                <a:latin typeface="Arial" charset="0"/>
                <a:cs typeface="Arial" charset="0"/>
              </a:rPr>
              <a:t>what</a:t>
            </a:r>
            <a:r>
              <a:rPr lang="en-US" sz="2000" dirty="0">
                <a:latin typeface="Arial" charset="0"/>
                <a:cs typeface="Arial" charset="0"/>
              </a:rPr>
              <a:t>” information about the current </a:t>
            </a:r>
            <a:r>
              <a:rPr lang="en-US" sz="2000" dirty="0">
                <a:solidFill>
                  <a:srgbClr val="FF0000"/>
                </a:solidFill>
                <a:latin typeface="Arial" charset="0"/>
                <a:cs typeface="Arial" charset="0"/>
              </a:rPr>
              <a:t>stimulus strength</a:t>
            </a:r>
          </a:p>
        </p:txBody>
      </p:sp>
    </p:spTree>
    <p:extLst>
      <p:ext uri="{BB962C8B-B14F-4D97-AF65-F5344CB8AC3E}">
        <p14:creationId xmlns:p14="http://schemas.microsoft.com/office/powerpoint/2010/main" val="1302414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7772400" cy="831850"/>
          </a:xfrm>
        </p:spPr>
        <p:txBody>
          <a:bodyPr>
            <a:normAutofit/>
          </a:bodyPr>
          <a:lstStyle/>
          <a:p>
            <a:pPr defTabSz="1019175" eaLnBrk="1" hangingPunct="1"/>
            <a:r>
              <a:rPr lang="en-US" sz="3200" dirty="0">
                <a:solidFill>
                  <a:srgbClr val="FF0000"/>
                </a:solidFill>
                <a:latin typeface="Arial" charset="0"/>
              </a:rPr>
              <a:t>Spike trains encode stimuli</a:t>
            </a: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auto">
          <a:xfrm rot="-2589736">
            <a:off x="1316038" y="2487613"/>
            <a:ext cx="1108075" cy="739775"/>
          </a:xfrm>
          <a:prstGeom prst="rect">
            <a:avLst/>
          </a:prstGeom>
          <a:noFill/>
          <a:ln w="38100" algn="ctr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72036" name="Rectangle 4"/>
          <p:cNvSpPr>
            <a:spLocks noChangeArrowheads="1"/>
          </p:cNvSpPr>
          <p:nvPr/>
        </p:nvSpPr>
        <p:spPr bwMode="auto">
          <a:xfrm rot="-2498013">
            <a:off x="323850" y="2276475"/>
            <a:ext cx="1939925" cy="66675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108075" y="4505325"/>
            <a:ext cx="5126038" cy="268288"/>
            <a:chOff x="768" y="3216"/>
            <a:chExt cx="3552" cy="192"/>
          </a:xfrm>
        </p:grpSpPr>
        <p:sp>
          <p:nvSpPr>
            <p:cNvPr id="24609" name="Line 6"/>
            <p:cNvSpPr>
              <a:spLocks noChangeShapeType="1"/>
            </p:cNvSpPr>
            <p:nvPr/>
          </p:nvSpPr>
          <p:spPr bwMode="auto">
            <a:xfrm>
              <a:off x="768" y="3408"/>
              <a:ext cx="35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610" name="Line 7"/>
            <p:cNvSpPr>
              <a:spLocks noChangeShapeType="1"/>
            </p:cNvSpPr>
            <p:nvPr/>
          </p:nvSpPr>
          <p:spPr bwMode="auto">
            <a:xfrm>
              <a:off x="1296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611" name="Line 8"/>
            <p:cNvSpPr>
              <a:spLocks noChangeShapeType="1"/>
            </p:cNvSpPr>
            <p:nvPr/>
          </p:nvSpPr>
          <p:spPr bwMode="auto">
            <a:xfrm>
              <a:off x="1392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612" name="Line 9"/>
            <p:cNvSpPr>
              <a:spLocks noChangeShapeType="1"/>
            </p:cNvSpPr>
            <p:nvPr/>
          </p:nvSpPr>
          <p:spPr bwMode="auto">
            <a:xfrm>
              <a:off x="1824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613" name="Line 10"/>
            <p:cNvSpPr>
              <a:spLocks noChangeShapeType="1"/>
            </p:cNvSpPr>
            <p:nvPr/>
          </p:nvSpPr>
          <p:spPr bwMode="auto">
            <a:xfrm>
              <a:off x="3072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614" name="Line 11"/>
            <p:cNvSpPr>
              <a:spLocks noChangeShapeType="1"/>
            </p:cNvSpPr>
            <p:nvPr/>
          </p:nvSpPr>
          <p:spPr bwMode="auto">
            <a:xfrm>
              <a:off x="2112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615" name="Line 12"/>
            <p:cNvSpPr>
              <a:spLocks noChangeShapeType="1"/>
            </p:cNvSpPr>
            <p:nvPr/>
          </p:nvSpPr>
          <p:spPr bwMode="auto">
            <a:xfrm>
              <a:off x="2976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616" name="Line 13"/>
            <p:cNvSpPr>
              <a:spLocks noChangeShapeType="1"/>
            </p:cNvSpPr>
            <p:nvPr/>
          </p:nvSpPr>
          <p:spPr bwMode="auto">
            <a:xfrm>
              <a:off x="3360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72076" name="Rectangle 44"/>
          <p:cNvSpPr>
            <a:spLocks noChangeArrowheads="1"/>
          </p:cNvSpPr>
          <p:nvPr/>
        </p:nvSpPr>
        <p:spPr bwMode="auto">
          <a:xfrm rot="-2498013">
            <a:off x="6300788" y="4652963"/>
            <a:ext cx="431800" cy="71437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1108075" y="4959350"/>
            <a:ext cx="5695950" cy="1204913"/>
            <a:chOff x="698" y="3124"/>
            <a:chExt cx="3588" cy="759"/>
          </a:xfrm>
        </p:grpSpPr>
        <p:sp>
          <p:nvSpPr>
            <p:cNvPr id="24584" name="Line 15"/>
            <p:cNvSpPr>
              <a:spLocks noChangeShapeType="1"/>
            </p:cNvSpPr>
            <p:nvPr/>
          </p:nvSpPr>
          <p:spPr bwMode="auto">
            <a:xfrm>
              <a:off x="698" y="3304"/>
              <a:ext cx="32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585" name="Line 16"/>
            <p:cNvSpPr>
              <a:spLocks noChangeShapeType="1"/>
            </p:cNvSpPr>
            <p:nvPr/>
          </p:nvSpPr>
          <p:spPr bwMode="auto">
            <a:xfrm>
              <a:off x="1265" y="3134"/>
              <a:ext cx="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586" name="Line 17"/>
            <p:cNvSpPr>
              <a:spLocks noChangeShapeType="1"/>
            </p:cNvSpPr>
            <p:nvPr/>
          </p:nvSpPr>
          <p:spPr bwMode="auto">
            <a:xfrm>
              <a:off x="2225" y="3134"/>
              <a:ext cx="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587" name="Line 18"/>
            <p:cNvSpPr>
              <a:spLocks noChangeShapeType="1"/>
            </p:cNvSpPr>
            <p:nvPr/>
          </p:nvSpPr>
          <p:spPr bwMode="auto">
            <a:xfrm>
              <a:off x="2574" y="3134"/>
              <a:ext cx="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588" name="Line 19"/>
            <p:cNvSpPr>
              <a:spLocks noChangeShapeType="1"/>
            </p:cNvSpPr>
            <p:nvPr/>
          </p:nvSpPr>
          <p:spPr bwMode="auto">
            <a:xfrm>
              <a:off x="2094" y="3134"/>
              <a:ext cx="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589" name="Line 20"/>
            <p:cNvSpPr>
              <a:spLocks noChangeShapeType="1"/>
            </p:cNvSpPr>
            <p:nvPr/>
          </p:nvSpPr>
          <p:spPr bwMode="auto">
            <a:xfrm>
              <a:off x="2967" y="3134"/>
              <a:ext cx="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grpSp>
          <p:nvGrpSpPr>
            <p:cNvPr id="4" name="Group 21"/>
            <p:cNvGrpSpPr>
              <a:grpSpLocks/>
            </p:cNvGrpSpPr>
            <p:nvPr/>
          </p:nvGrpSpPr>
          <p:grpSpPr bwMode="auto">
            <a:xfrm>
              <a:off x="703" y="3430"/>
              <a:ext cx="3229" cy="169"/>
              <a:chOff x="768" y="3888"/>
              <a:chExt cx="3552" cy="192"/>
            </a:xfrm>
          </p:grpSpPr>
          <p:sp>
            <p:nvSpPr>
              <p:cNvPr id="24605" name="Line 22"/>
              <p:cNvSpPr>
                <a:spLocks noChangeShapeType="1"/>
              </p:cNvSpPr>
              <p:nvPr/>
            </p:nvSpPr>
            <p:spPr bwMode="auto">
              <a:xfrm>
                <a:off x="768" y="4080"/>
                <a:ext cx="35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4606" name="Line 23"/>
              <p:cNvSpPr>
                <a:spLocks noChangeShapeType="1"/>
              </p:cNvSpPr>
              <p:nvPr/>
            </p:nvSpPr>
            <p:spPr bwMode="auto">
              <a:xfrm>
                <a:off x="1152" y="388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4607" name="Line 24"/>
              <p:cNvSpPr>
                <a:spLocks noChangeShapeType="1"/>
              </p:cNvSpPr>
              <p:nvPr/>
            </p:nvSpPr>
            <p:spPr bwMode="auto">
              <a:xfrm>
                <a:off x="1824" y="388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  <p:sp>
            <p:nvSpPr>
              <p:cNvPr id="24608" name="Line 25"/>
              <p:cNvSpPr>
                <a:spLocks noChangeShapeType="1"/>
              </p:cNvSpPr>
              <p:nvPr/>
            </p:nvSpPr>
            <p:spPr bwMode="auto">
              <a:xfrm>
                <a:off x="3120" y="3888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it-IT"/>
              </a:p>
            </p:txBody>
          </p:sp>
        </p:grpSp>
        <p:sp>
          <p:nvSpPr>
            <p:cNvPr id="24591" name="Line 26"/>
            <p:cNvSpPr>
              <a:spLocks noChangeShapeType="1"/>
            </p:cNvSpPr>
            <p:nvPr/>
          </p:nvSpPr>
          <p:spPr bwMode="auto">
            <a:xfrm>
              <a:off x="698" y="3854"/>
              <a:ext cx="32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592" name="Line 29"/>
            <p:cNvSpPr>
              <a:spLocks noChangeShapeType="1"/>
            </p:cNvSpPr>
            <p:nvPr/>
          </p:nvSpPr>
          <p:spPr bwMode="auto">
            <a:xfrm>
              <a:off x="2095" y="3430"/>
              <a:ext cx="0" cy="1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593" name="Line 30"/>
            <p:cNvSpPr>
              <a:spLocks noChangeShapeType="1"/>
            </p:cNvSpPr>
            <p:nvPr/>
          </p:nvSpPr>
          <p:spPr bwMode="auto">
            <a:xfrm>
              <a:off x="2426" y="3430"/>
              <a:ext cx="0" cy="1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594" name="Line 31"/>
            <p:cNvSpPr>
              <a:spLocks noChangeShapeType="1"/>
            </p:cNvSpPr>
            <p:nvPr/>
          </p:nvSpPr>
          <p:spPr bwMode="auto">
            <a:xfrm>
              <a:off x="2051" y="3685"/>
              <a:ext cx="0" cy="1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595" name="Line 32"/>
            <p:cNvSpPr>
              <a:spLocks noChangeShapeType="1"/>
            </p:cNvSpPr>
            <p:nvPr/>
          </p:nvSpPr>
          <p:spPr bwMode="auto">
            <a:xfrm>
              <a:off x="2744" y="3125"/>
              <a:ext cx="0" cy="1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596" name="Line 33"/>
            <p:cNvSpPr>
              <a:spLocks noChangeShapeType="1"/>
            </p:cNvSpPr>
            <p:nvPr/>
          </p:nvSpPr>
          <p:spPr bwMode="auto">
            <a:xfrm>
              <a:off x="3185" y="3125"/>
              <a:ext cx="0" cy="1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597" name="Line 39"/>
            <p:cNvSpPr>
              <a:spLocks noChangeShapeType="1"/>
            </p:cNvSpPr>
            <p:nvPr/>
          </p:nvSpPr>
          <p:spPr bwMode="auto">
            <a:xfrm>
              <a:off x="1401" y="3124"/>
              <a:ext cx="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598" name="Line 40"/>
            <p:cNvSpPr>
              <a:spLocks noChangeShapeType="1"/>
            </p:cNvSpPr>
            <p:nvPr/>
          </p:nvSpPr>
          <p:spPr bwMode="auto">
            <a:xfrm>
              <a:off x="1519" y="3124"/>
              <a:ext cx="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599" name="Line 41"/>
            <p:cNvSpPr>
              <a:spLocks noChangeShapeType="1"/>
            </p:cNvSpPr>
            <p:nvPr/>
          </p:nvSpPr>
          <p:spPr bwMode="auto">
            <a:xfrm>
              <a:off x="1673" y="3124"/>
              <a:ext cx="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600" name="Line 42"/>
            <p:cNvSpPr>
              <a:spLocks noChangeShapeType="1"/>
            </p:cNvSpPr>
            <p:nvPr/>
          </p:nvSpPr>
          <p:spPr bwMode="auto">
            <a:xfrm>
              <a:off x="1837" y="3124"/>
              <a:ext cx="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601" name="Line 43"/>
            <p:cNvSpPr>
              <a:spLocks noChangeShapeType="1"/>
            </p:cNvSpPr>
            <p:nvPr/>
          </p:nvSpPr>
          <p:spPr bwMode="auto">
            <a:xfrm>
              <a:off x="2018" y="3124"/>
              <a:ext cx="0" cy="1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4602" name="Rectangle 45"/>
            <p:cNvSpPr>
              <a:spLocks noChangeArrowheads="1"/>
            </p:cNvSpPr>
            <p:nvPr/>
          </p:nvSpPr>
          <p:spPr bwMode="auto">
            <a:xfrm rot="-5400000">
              <a:off x="3992" y="3271"/>
              <a:ext cx="272" cy="45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4603" name="Rectangle 46"/>
            <p:cNvSpPr>
              <a:spLocks noChangeArrowheads="1"/>
            </p:cNvSpPr>
            <p:nvPr/>
          </p:nvSpPr>
          <p:spPr bwMode="auto">
            <a:xfrm rot="10643846">
              <a:off x="4014" y="3838"/>
              <a:ext cx="272" cy="45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24604" name="Rectangle 47"/>
            <p:cNvSpPr>
              <a:spLocks noChangeArrowheads="1"/>
            </p:cNvSpPr>
            <p:nvPr/>
          </p:nvSpPr>
          <p:spPr bwMode="auto">
            <a:xfrm rot="-7583061">
              <a:off x="3946" y="3589"/>
              <a:ext cx="272" cy="45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it-IT"/>
            </a:p>
          </p:txBody>
        </p:sp>
      </p:grpSp>
      <p:pic>
        <p:nvPicPr>
          <p:cNvPr id="5" name="Immagine 4">
            <a:extLst>
              <a:ext uri="{FF2B5EF4-FFF2-40B4-BE49-F238E27FC236}">
                <a16:creationId xmlns:a16="http://schemas.microsoft.com/office/drawing/2014/main" id="{6FD96B35-745E-43FF-A327-0BBB62F34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442" y="1144586"/>
            <a:ext cx="4571998" cy="1479176"/>
          </a:xfrm>
          <a:prstGeom prst="rect">
            <a:avLst/>
          </a:prstGeom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AC35C609-3A3E-4E3F-B237-DB4E07E31F50}"/>
              </a:ext>
            </a:extLst>
          </p:cNvPr>
          <p:cNvSpPr/>
          <p:nvPr/>
        </p:nvSpPr>
        <p:spPr>
          <a:xfrm>
            <a:off x="8237255" y="1843410"/>
            <a:ext cx="720080" cy="72008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/>
              <a:t>SR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932102E-3957-4139-AB53-CE36640BA043}"/>
              </a:ext>
            </a:extLst>
          </p:cNvPr>
          <p:cNvSpPr txBox="1"/>
          <p:nvPr/>
        </p:nvSpPr>
        <p:spPr>
          <a:xfrm>
            <a:off x="3679031" y="3212976"/>
            <a:ext cx="4925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Receptive</a:t>
            </a:r>
            <a:r>
              <a:rPr lang="it-IT" dirty="0"/>
              <a:t> field of </a:t>
            </a:r>
            <a:r>
              <a:rPr lang="it-IT" dirty="0" err="1"/>
              <a:t>neuron</a:t>
            </a:r>
            <a:r>
              <a:rPr lang="it-IT" dirty="0"/>
              <a:t> x: </a:t>
            </a:r>
            <a:r>
              <a:rPr lang="it-IT" dirty="0" err="1"/>
              <a:t>sensorial</a:t>
            </a:r>
            <a:r>
              <a:rPr lang="it-IT" dirty="0"/>
              <a:t> set to </a:t>
            </a:r>
            <a:r>
              <a:rPr lang="it-IT" dirty="0" err="1"/>
              <a:t>whom</a:t>
            </a:r>
            <a:r>
              <a:rPr lang="it-IT" dirty="0"/>
              <a:t> the </a:t>
            </a:r>
            <a:r>
              <a:rPr lang="it-IT" dirty="0" err="1"/>
              <a:t>neuron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sensitive to (</a:t>
            </a:r>
            <a:r>
              <a:rPr lang="it-IT" dirty="0" err="1"/>
              <a:t>vision</a:t>
            </a:r>
            <a:r>
              <a:rPr lang="it-IT" dirty="0"/>
              <a:t>, touch)</a:t>
            </a:r>
          </a:p>
        </p:txBody>
      </p:sp>
    </p:spTree>
    <p:extLst>
      <p:ext uri="{BB962C8B-B14F-4D97-AF65-F5344CB8AC3E}">
        <p14:creationId xmlns:p14="http://schemas.microsoft.com/office/powerpoint/2010/main" val="4189370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06061E-7 4.70588E-6 L 0.11364 0.1421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82" y="710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6" grpId="0" animBg="1"/>
      <p:bldP spid="17207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7772400" cy="831850"/>
          </a:xfrm>
        </p:spPr>
        <p:txBody>
          <a:bodyPr>
            <a:normAutofit/>
          </a:bodyPr>
          <a:lstStyle/>
          <a:p>
            <a:pPr defTabSz="1019175" eaLnBrk="1" hangingPunct="1"/>
            <a:r>
              <a:rPr lang="en-US" sz="3200" dirty="0">
                <a:solidFill>
                  <a:srgbClr val="FF0000"/>
                </a:solidFill>
                <a:latin typeface="Arial" charset="0"/>
              </a:rPr>
              <a:t>Single Neuron Variability</a:t>
            </a:r>
          </a:p>
        </p:txBody>
      </p:sp>
      <p:sp>
        <p:nvSpPr>
          <p:cNvPr id="25603" name="Rectangle 3"/>
          <p:cNvSpPr>
            <a:spLocks noChangeArrowheads="1"/>
          </p:cNvSpPr>
          <p:nvPr/>
        </p:nvSpPr>
        <p:spPr bwMode="auto">
          <a:xfrm rot="-2589736">
            <a:off x="1316038" y="2487613"/>
            <a:ext cx="1108075" cy="739775"/>
          </a:xfrm>
          <a:prstGeom prst="rect">
            <a:avLst/>
          </a:prstGeom>
          <a:noFill/>
          <a:ln w="38100" algn="ctr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76132" name="Rectangle 4"/>
          <p:cNvSpPr>
            <a:spLocks noChangeArrowheads="1"/>
          </p:cNvSpPr>
          <p:nvPr/>
        </p:nvSpPr>
        <p:spPr bwMode="auto">
          <a:xfrm rot="-2498013">
            <a:off x="346075" y="2286000"/>
            <a:ext cx="1939925" cy="66675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108075" y="4505325"/>
            <a:ext cx="5126038" cy="268288"/>
            <a:chOff x="768" y="3216"/>
            <a:chExt cx="3552" cy="192"/>
          </a:xfrm>
        </p:grpSpPr>
        <p:sp>
          <p:nvSpPr>
            <p:cNvPr id="25630" name="Line 6"/>
            <p:cNvSpPr>
              <a:spLocks noChangeShapeType="1"/>
            </p:cNvSpPr>
            <p:nvPr/>
          </p:nvSpPr>
          <p:spPr bwMode="auto">
            <a:xfrm>
              <a:off x="768" y="3408"/>
              <a:ext cx="35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31" name="Line 7"/>
            <p:cNvSpPr>
              <a:spLocks noChangeShapeType="1"/>
            </p:cNvSpPr>
            <p:nvPr/>
          </p:nvSpPr>
          <p:spPr bwMode="auto">
            <a:xfrm>
              <a:off x="1296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32" name="Line 8"/>
            <p:cNvSpPr>
              <a:spLocks noChangeShapeType="1"/>
            </p:cNvSpPr>
            <p:nvPr/>
          </p:nvSpPr>
          <p:spPr bwMode="auto">
            <a:xfrm>
              <a:off x="1392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33" name="Line 9"/>
            <p:cNvSpPr>
              <a:spLocks noChangeShapeType="1"/>
            </p:cNvSpPr>
            <p:nvPr/>
          </p:nvSpPr>
          <p:spPr bwMode="auto">
            <a:xfrm>
              <a:off x="1824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34" name="Line 10"/>
            <p:cNvSpPr>
              <a:spLocks noChangeShapeType="1"/>
            </p:cNvSpPr>
            <p:nvPr/>
          </p:nvSpPr>
          <p:spPr bwMode="auto">
            <a:xfrm>
              <a:off x="3072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35" name="Line 11"/>
            <p:cNvSpPr>
              <a:spLocks noChangeShapeType="1"/>
            </p:cNvSpPr>
            <p:nvPr/>
          </p:nvSpPr>
          <p:spPr bwMode="auto">
            <a:xfrm>
              <a:off x="2112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36" name="Line 12"/>
            <p:cNvSpPr>
              <a:spLocks noChangeShapeType="1"/>
            </p:cNvSpPr>
            <p:nvPr/>
          </p:nvSpPr>
          <p:spPr bwMode="auto">
            <a:xfrm>
              <a:off x="2976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37" name="Line 13"/>
            <p:cNvSpPr>
              <a:spLocks noChangeShapeType="1"/>
            </p:cNvSpPr>
            <p:nvPr/>
          </p:nvSpPr>
          <p:spPr bwMode="auto">
            <a:xfrm>
              <a:off x="3360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1108075" y="4975225"/>
            <a:ext cx="5126038" cy="269875"/>
            <a:chOff x="768" y="3552"/>
            <a:chExt cx="3552" cy="192"/>
          </a:xfrm>
        </p:grpSpPr>
        <p:sp>
          <p:nvSpPr>
            <p:cNvPr id="25624" name="Line 15"/>
            <p:cNvSpPr>
              <a:spLocks noChangeShapeType="1"/>
            </p:cNvSpPr>
            <p:nvPr/>
          </p:nvSpPr>
          <p:spPr bwMode="auto">
            <a:xfrm>
              <a:off x="768" y="3744"/>
              <a:ext cx="35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25" name="Line 16"/>
            <p:cNvSpPr>
              <a:spLocks noChangeShapeType="1"/>
            </p:cNvSpPr>
            <p:nvPr/>
          </p:nvSpPr>
          <p:spPr bwMode="auto">
            <a:xfrm>
              <a:off x="1392" y="355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26" name="Line 17"/>
            <p:cNvSpPr>
              <a:spLocks noChangeShapeType="1"/>
            </p:cNvSpPr>
            <p:nvPr/>
          </p:nvSpPr>
          <p:spPr bwMode="auto">
            <a:xfrm>
              <a:off x="2448" y="355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27" name="Line 18"/>
            <p:cNvSpPr>
              <a:spLocks noChangeShapeType="1"/>
            </p:cNvSpPr>
            <p:nvPr/>
          </p:nvSpPr>
          <p:spPr bwMode="auto">
            <a:xfrm>
              <a:off x="2832" y="355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28" name="Line 19"/>
            <p:cNvSpPr>
              <a:spLocks noChangeShapeType="1"/>
            </p:cNvSpPr>
            <p:nvPr/>
          </p:nvSpPr>
          <p:spPr bwMode="auto">
            <a:xfrm>
              <a:off x="2304" y="355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29" name="Line 20"/>
            <p:cNvSpPr>
              <a:spLocks noChangeShapeType="1"/>
            </p:cNvSpPr>
            <p:nvPr/>
          </p:nvSpPr>
          <p:spPr bwMode="auto">
            <a:xfrm>
              <a:off x="3264" y="3552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1108075" y="5446713"/>
            <a:ext cx="5126038" cy="268287"/>
            <a:chOff x="768" y="3888"/>
            <a:chExt cx="3552" cy="192"/>
          </a:xfrm>
        </p:grpSpPr>
        <p:sp>
          <p:nvSpPr>
            <p:cNvPr id="25620" name="Line 22"/>
            <p:cNvSpPr>
              <a:spLocks noChangeShapeType="1"/>
            </p:cNvSpPr>
            <p:nvPr/>
          </p:nvSpPr>
          <p:spPr bwMode="auto">
            <a:xfrm>
              <a:off x="768" y="4080"/>
              <a:ext cx="35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21" name="Line 23"/>
            <p:cNvSpPr>
              <a:spLocks noChangeShapeType="1"/>
            </p:cNvSpPr>
            <p:nvPr/>
          </p:nvSpPr>
          <p:spPr bwMode="auto">
            <a:xfrm>
              <a:off x="1152" y="388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22" name="Line 24"/>
            <p:cNvSpPr>
              <a:spLocks noChangeShapeType="1"/>
            </p:cNvSpPr>
            <p:nvPr/>
          </p:nvSpPr>
          <p:spPr bwMode="auto">
            <a:xfrm>
              <a:off x="1824" y="388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5623" name="Line 25"/>
            <p:cNvSpPr>
              <a:spLocks noChangeShapeType="1"/>
            </p:cNvSpPr>
            <p:nvPr/>
          </p:nvSpPr>
          <p:spPr bwMode="auto">
            <a:xfrm>
              <a:off x="3120" y="388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176154" name="Line 26"/>
          <p:cNvSpPr>
            <a:spLocks noChangeShapeType="1"/>
          </p:cNvSpPr>
          <p:nvPr/>
        </p:nvSpPr>
        <p:spPr bwMode="auto">
          <a:xfrm>
            <a:off x="1108075" y="6118225"/>
            <a:ext cx="51260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76155" name="Line 27"/>
          <p:cNvSpPr>
            <a:spLocks noChangeShapeType="1"/>
          </p:cNvSpPr>
          <p:nvPr/>
        </p:nvSpPr>
        <p:spPr bwMode="auto">
          <a:xfrm>
            <a:off x="1939925" y="5849938"/>
            <a:ext cx="0" cy="26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76156" name="Line 28"/>
          <p:cNvSpPr>
            <a:spLocks noChangeShapeType="1"/>
          </p:cNvSpPr>
          <p:nvPr/>
        </p:nvSpPr>
        <p:spPr bwMode="auto">
          <a:xfrm>
            <a:off x="2216150" y="5849938"/>
            <a:ext cx="0" cy="26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76157" name="Line 29"/>
          <p:cNvSpPr>
            <a:spLocks noChangeShapeType="1"/>
          </p:cNvSpPr>
          <p:nvPr/>
        </p:nvSpPr>
        <p:spPr bwMode="auto">
          <a:xfrm>
            <a:off x="3325813" y="5849938"/>
            <a:ext cx="0" cy="26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76158" name="Line 30"/>
          <p:cNvSpPr>
            <a:spLocks noChangeShapeType="1"/>
          </p:cNvSpPr>
          <p:nvPr/>
        </p:nvSpPr>
        <p:spPr bwMode="auto">
          <a:xfrm>
            <a:off x="4779963" y="5849938"/>
            <a:ext cx="0" cy="26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76159" name="Line 31"/>
          <p:cNvSpPr>
            <a:spLocks noChangeShapeType="1"/>
          </p:cNvSpPr>
          <p:nvPr/>
        </p:nvSpPr>
        <p:spPr bwMode="auto">
          <a:xfrm>
            <a:off x="3255963" y="5849938"/>
            <a:ext cx="0" cy="26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76160" name="Line 32"/>
          <p:cNvSpPr>
            <a:spLocks noChangeShapeType="1"/>
          </p:cNvSpPr>
          <p:nvPr/>
        </p:nvSpPr>
        <p:spPr bwMode="auto">
          <a:xfrm>
            <a:off x="4502150" y="5849938"/>
            <a:ext cx="0" cy="26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76161" name="Line 33"/>
          <p:cNvSpPr>
            <a:spLocks noChangeShapeType="1"/>
          </p:cNvSpPr>
          <p:nvPr/>
        </p:nvSpPr>
        <p:spPr bwMode="auto">
          <a:xfrm>
            <a:off x="5056188" y="5849938"/>
            <a:ext cx="0" cy="268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76162" name="Text Box 34"/>
          <p:cNvSpPr txBox="1">
            <a:spLocks noChangeArrowheads="1"/>
          </p:cNvSpPr>
          <p:nvPr/>
        </p:nvSpPr>
        <p:spPr bwMode="auto">
          <a:xfrm>
            <a:off x="6405563" y="4464050"/>
            <a:ext cx="100647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39" tIns="41020" rIns="82039" bIns="4102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>
                <a:cs typeface="Arial" charset="0"/>
              </a:rPr>
              <a:t>Trial 1</a:t>
            </a:r>
          </a:p>
        </p:txBody>
      </p:sp>
      <p:sp>
        <p:nvSpPr>
          <p:cNvPr id="176163" name="Text Box 35"/>
          <p:cNvSpPr txBox="1">
            <a:spLocks noChangeArrowheads="1"/>
          </p:cNvSpPr>
          <p:nvPr/>
        </p:nvSpPr>
        <p:spPr bwMode="auto">
          <a:xfrm>
            <a:off x="6405563" y="4975225"/>
            <a:ext cx="100647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39" tIns="41020" rIns="82039" bIns="4102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>
                <a:cs typeface="Arial" charset="0"/>
              </a:rPr>
              <a:t>Trial 2</a:t>
            </a:r>
          </a:p>
        </p:txBody>
      </p:sp>
      <p:sp>
        <p:nvSpPr>
          <p:cNvPr id="176164" name="Text Box 36"/>
          <p:cNvSpPr txBox="1">
            <a:spLocks noChangeArrowheads="1"/>
          </p:cNvSpPr>
          <p:nvPr/>
        </p:nvSpPr>
        <p:spPr bwMode="auto">
          <a:xfrm>
            <a:off x="6405563" y="5419725"/>
            <a:ext cx="100647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39" tIns="41020" rIns="82039" bIns="4102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>
                <a:cs typeface="Arial" charset="0"/>
              </a:rPr>
              <a:t>Trial 3</a:t>
            </a:r>
          </a:p>
        </p:txBody>
      </p:sp>
      <p:sp>
        <p:nvSpPr>
          <p:cNvPr id="176165" name="Text Box 37"/>
          <p:cNvSpPr txBox="1">
            <a:spLocks noChangeArrowheads="1"/>
          </p:cNvSpPr>
          <p:nvPr/>
        </p:nvSpPr>
        <p:spPr bwMode="auto">
          <a:xfrm>
            <a:off x="6405563" y="5889625"/>
            <a:ext cx="100647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039" tIns="41020" rIns="82039" bIns="41020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US">
                <a:cs typeface="Arial" charset="0"/>
              </a:rPr>
              <a:t>Trial 4</a:t>
            </a:r>
          </a:p>
        </p:txBody>
      </p:sp>
    </p:spTree>
    <p:extLst>
      <p:ext uri="{BB962C8B-B14F-4D97-AF65-F5344CB8AC3E}">
        <p14:creationId xmlns:p14="http://schemas.microsoft.com/office/powerpoint/2010/main" val="1636194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06061E-7 4.70588E-6 L 0.11364 0.1421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82" y="710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9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06061E-7 4.70588E-6 L 0.11364 0.14215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82" y="7108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2" grpId="0" animBg="1"/>
      <p:bldP spid="176132" grpId="1" animBg="1"/>
      <p:bldP spid="176154" grpId="0" animBg="1"/>
      <p:bldP spid="176155" grpId="0" animBg="1"/>
      <p:bldP spid="176156" grpId="0" animBg="1"/>
      <p:bldP spid="176157" grpId="0" animBg="1"/>
      <p:bldP spid="176158" grpId="0" animBg="1"/>
      <p:bldP spid="176159" grpId="0" animBg="1"/>
      <p:bldP spid="176160" grpId="0" animBg="1"/>
      <p:bldP spid="176161" grpId="0" animBg="1"/>
      <p:bldP spid="176162" grpId="0"/>
      <p:bldP spid="176163" grpId="0"/>
      <p:bldP spid="176164" grpId="0"/>
      <p:bldP spid="17616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7772400" cy="831850"/>
          </a:xfrm>
        </p:spPr>
        <p:txBody>
          <a:bodyPr>
            <a:normAutofit/>
          </a:bodyPr>
          <a:lstStyle/>
          <a:p>
            <a:pPr defTabSz="1019175" eaLnBrk="1" hangingPunct="1"/>
            <a:r>
              <a:rPr lang="en-US" sz="3200" dirty="0">
                <a:solidFill>
                  <a:srgbClr val="FF0000"/>
                </a:solidFill>
                <a:latin typeface="Arial" charset="0"/>
              </a:rPr>
              <a:t>Decoding brain activity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285678" y="1847056"/>
            <a:ext cx="5126038" cy="268288"/>
            <a:chOff x="768" y="3216"/>
            <a:chExt cx="3552" cy="192"/>
          </a:xfrm>
        </p:grpSpPr>
        <p:sp>
          <p:nvSpPr>
            <p:cNvPr id="26629" name="Line 6"/>
            <p:cNvSpPr>
              <a:spLocks noChangeShapeType="1"/>
            </p:cNvSpPr>
            <p:nvPr/>
          </p:nvSpPr>
          <p:spPr bwMode="auto">
            <a:xfrm>
              <a:off x="768" y="3408"/>
              <a:ext cx="35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6630" name="Line 7"/>
            <p:cNvSpPr>
              <a:spLocks noChangeShapeType="1"/>
            </p:cNvSpPr>
            <p:nvPr/>
          </p:nvSpPr>
          <p:spPr bwMode="auto">
            <a:xfrm>
              <a:off x="1296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6631" name="Line 8"/>
            <p:cNvSpPr>
              <a:spLocks noChangeShapeType="1"/>
            </p:cNvSpPr>
            <p:nvPr/>
          </p:nvSpPr>
          <p:spPr bwMode="auto">
            <a:xfrm>
              <a:off x="1392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6632" name="Line 9"/>
            <p:cNvSpPr>
              <a:spLocks noChangeShapeType="1"/>
            </p:cNvSpPr>
            <p:nvPr/>
          </p:nvSpPr>
          <p:spPr bwMode="auto">
            <a:xfrm>
              <a:off x="1824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6633" name="Line 10"/>
            <p:cNvSpPr>
              <a:spLocks noChangeShapeType="1"/>
            </p:cNvSpPr>
            <p:nvPr/>
          </p:nvSpPr>
          <p:spPr bwMode="auto">
            <a:xfrm>
              <a:off x="3072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6634" name="Line 11"/>
            <p:cNvSpPr>
              <a:spLocks noChangeShapeType="1"/>
            </p:cNvSpPr>
            <p:nvPr/>
          </p:nvSpPr>
          <p:spPr bwMode="auto">
            <a:xfrm>
              <a:off x="2112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6635" name="Line 12"/>
            <p:cNvSpPr>
              <a:spLocks noChangeShapeType="1"/>
            </p:cNvSpPr>
            <p:nvPr/>
          </p:nvSpPr>
          <p:spPr bwMode="auto">
            <a:xfrm>
              <a:off x="2976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6636" name="Line 13"/>
            <p:cNvSpPr>
              <a:spLocks noChangeShapeType="1"/>
            </p:cNvSpPr>
            <p:nvPr/>
          </p:nvSpPr>
          <p:spPr bwMode="auto">
            <a:xfrm>
              <a:off x="3360" y="321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42" name="Rectangle 45"/>
          <p:cNvSpPr>
            <a:spLocks noChangeArrowheads="1"/>
          </p:cNvSpPr>
          <p:nvPr/>
        </p:nvSpPr>
        <p:spPr bwMode="auto">
          <a:xfrm rot="16200000">
            <a:off x="3142680" y="5085152"/>
            <a:ext cx="1614609" cy="131105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44" name="Rectangle 47"/>
          <p:cNvSpPr>
            <a:spLocks noChangeArrowheads="1"/>
          </p:cNvSpPr>
          <p:nvPr/>
        </p:nvSpPr>
        <p:spPr bwMode="auto">
          <a:xfrm rot="14016939">
            <a:off x="4747136" y="5113896"/>
            <a:ext cx="1614609" cy="131105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50" name="Rectangle 47"/>
          <p:cNvSpPr>
            <a:spLocks noChangeArrowheads="1"/>
          </p:cNvSpPr>
          <p:nvPr/>
        </p:nvSpPr>
        <p:spPr bwMode="auto">
          <a:xfrm rot="7200000">
            <a:off x="1710518" y="5085970"/>
            <a:ext cx="1614609" cy="131105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51" name="Rectangle 47"/>
          <p:cNvSpPr>
            <a:spLocks noChangeArrowheads="1"/>
          </p:cNvSpPr>
          <p:nvPr/>
        </p:nvSpPr>
        <p:spPr bwMode="auto">
          <a:xfrm>
            <a:off x="6233991" y="4876800"/>
            <a:ext cx="1614609" cy="131105"/>
          </a:xfrm>
          <a:prstGeom prst="rect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t-IT"/>
          </a:p>
        </p:txBody>
      </p:sp>
      <p:sp>
        <p:nvSpPr>
          <p:cNvPr id="4" name="Down Arrow 3"/>
          <p:cNvSpPr/>
          <p:nvPr/>
        </p:nvSpPr>
        <p:spPr>
          <a:xfrm>
            <a:off x="1828800" y="2664854"/>
            <a:ext cx="6019800" cy="1219200"/>
          </a:xfrm>
          <a:prstGeom prst="downArrow">
            <a:avLst>
              <a:gd name="adj1" fmla="val 14058"/>
              <a:gd name="adj2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5720332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" y="914400"/>
            <a:ext cx="7962900" cy="586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539750" y="158750"/>
            <a:ext cx="7772400" cy="83185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019175"/>
            <a:r>
              <a:rPr lang="en-US" sz="3200" dirty="0">
                <a:solidFill>
                  <a:srgbClr val="FF0000"/>
                </a:solidFill>
                <a:latin typeface="Arial" charset="0"/>
              </a:rPr>
              <a:t>Noise is everywhere</a:t>
            </a:r>
          </a:p>
        </p:txBody>
      </p:sp>
    </p:spTree>
    <p:extLst>
      <p:ext uri="{BB962C8B-B14F-4D97-AF65-F5344CB8AC3E}">
        <p14:creationId xmlns:p14="http://schemas.microsoft.com/office/powerpoint/2010/main" val="42708539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asellaDiTesto 2"/>
          <p:cNvSpPr txBox="1">
            <a:spLocks noChangeArrowheads="1"/>
          </p:cNvSpPr>
          <p:nvPr/>
        </p:nvSpPr>
        <p:spPr bwMode="auto">
          <a:xfrm>
            <a:off x="5181600" y="1061621"/>
            <a:ext cx="3748088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A response to an individual trial can be modeled as a sum of two components: the reproducible response  and the ongoing network fluctuations</a:t>
            </a:r>
          </a:p>
          <a:p>
            <a:r>
              <a:rPr lang="en-US" dirty="0">
                <a:latin typeface="Arial" charset="0"/>
                <a:cs typeface="Arial" charset="0"/>
              </a:rPr>
              <a:t>The effect of a stimulus may be likened to the </a:t>
            </a:r>
            <a:r>
              <a:rPr lang="en-US" sz="4000" b="1" dirty="0">
                <a:latin typeface="French Script MT" panose="03020402040607040605" pitchFamily="66" charset="0"/>
                <a:cs typeface="Arial" charset="0"/>
              </a:rPr>
              <a:t>additional ripples caused when throwing a stone</a:t>
            </a:r>
          </a:p>
          <a:p>
            <a:r>
              <a:rPr lang="en-US" sz="4000" b="1" dirty="0">
                <a:latin typeface="French Script MT" panose="03020402040607040605" pitchFamily="66" charset="0"/>
                <a:cs typeface="Arial" charset="0"/>
              </a:rPr>
              <a:t>in a wavy sea</a:t>
            </a:r>
          </a:p>
        </p:txBody>
      </p:sp>
      <p:pic>
        <p:nvPicPr>
          <p:cNvPr id="307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851"/>
          <a:stretch>
            <a:fillRect/>
          </a:stretch>
        </p:blipFill>
        <p:spPr bwMode="auto">
          <a:xfrm>
            <a:off x="304800" y="765932"/>
            <a:ext cx="4572000" cy="6092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sellaDiTesto 3"/>
          <p:cNvSpPr txBox="1">
            <a:spLocks noChangeArrowheads="1"/>
          </p:cNvSpPr>
          <p:nvPr/>
        </p:nvSpPr>
        <p:spPr bwMode="auto">
          <a:xfrm>
            <a:off x="5351463" y="6248400"/>
            <a:ext cx="31067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 dirty="0" err="1">
                <a:latin typeface="Arial" charset="0"/>
                <a:cs typeface="Arial" charset="0"/>
              </a:rPr>
              <a:t>Arieli</a:t>
            </a:r>
            <a:r>
              <a:rPr lang="en-US" sz="2000" dirty="0">
                <a:latin typeface="Arial" charset="0"/>
                <a:cs typeface="Arial" charset="0"/>
              </a:rPr>
              <a:t> et al (1996) Science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539750" y="158750"/>
            <a:ext cx="7772400" cy="83185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1019175"/>
            <a:r>
              <a:rPr lang="en-US" sz="3200" dirty="0">
                <a:solidFill>
                  <a:srgbClr val="FF0000"/>
                </a:solidFill>
                <a:latin typeface="Arial" charset="0"/>
              </a:rPr>
              <a:t>Ongoing activity matters (a lot)</a:t>
            </a: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E8D2A233-E0DC-43A4-9AAA-CB62B17DAE41}"/>
              </a:ext>
            </a:extLst>
          </p:cNvPr>
          <p:cNvSpPr/>
          <p:nvPr/>
        </p:nvSpPr>
        <p:spPr>
          <a:xfrm>
            <a:off x="4516760" y="6035581"/>
            <a:ext cx="720080" cy="72008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/>
              <a:t>SR</a:t>
            </a:r>
          </a:p>
        </p:txBody>
      </p:sp>
    </p:spTree>
    <p:extLst>
      <p:ext uri="{BB962C8B-B14F-4D97-AF65-F5344CB8AC3E}">
        <p14:creationId xmlns:p14="http://schemas.microsoft.com/office/powerpoint/2010/main" val="26248568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6200"/>
            <a:ext cx="8964488" cy="1026157"/>
          </a:xfrm>
          <a:prstGeom prst="rect">
            <a:avLst/>
          </a:prstGeom>
          <a:noFill/>
          <a:ln>
            <a:noFill/>
          </a:ln>
        </p:spPr>
        <p:txBody>
          <a:bodyPr vert="horz" wrap="square" lIns="81639" tIns="40820" rIns="81639" bIns="40820" compatLnSpc="0">
            <a:spAutoFit/>
          </a:bodyPr>
          <a:lstStyle/>
          <a:p>
            <a:pPr algn="ctr" hangingPunct="0">
              <a:spcBef>
                <a:spcPts val="0"/>
              </a:spcBef>
              <a:spcAft>
                <a:spcPts val="0"/>
              </a:spcAft>
            </a:pP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ea typeface="DejaVu Sans" pitchFamily="2"/>
                <a:cs typeface="Arial" panose="020B0604020202020204" pitchFamily="34" charset="0"/>
              </a:rPr>
              <a:t>Response to multiple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ea typeface="DejaVu Sans" pitchFamily="2"/>
                <a:cs typeface="Arial" panose="020B0604020202020204" pitchFamily="34" charset="0"/>
              </a:rPr>
              <a:t>presentations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ea typeface="DejaVu Sans" pitchFamily="2"/>
                <a:cs typeface="Arial" panose="020B0604020202020204" pitchFamily="34" charset="0"/>
              </a:rPr>
              <a:t> </a:t>
            </a:r>
          </a:p>
          <a:p>
            <a:pPr algn="ctr" hangingPunct="0">
              <a:spcBef>
                <a:spcPts val="0"/>
              </a:spcBef>
              <a:spcAft>
                <a:spcPts val="0"/>
              </a:spcAft>
            </a:pP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ea typeface="DejaVu Sans" pitchFamily="2"/>
                <a:cs typeface="Arial" panose="020B0604020202020204" pitchFamily="34" charset="0"/>
              </a:rPr>
              <a:t>of the same movie clip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alphaModFix/>
            <a:lum/>
          </a:blip>
          <a:srcRect t="13812" b="35196"/>
          <a:stretch>
            <a:fillRect/>
          </a:stretch>
        </p:blipFill>
        <p:spPr>
          <a:xfrm>
            <a:off x="-979" y="2251488"/>
            <a:ext cx="4140931" cy="319373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827584" y="5445224"/>
            <a:ext cx="2808312" cy="347895"/>
          </a:xfrm>
          <a:prstGeom prst="rect">
            <a:avLst/>
          </a:prstGeom>
          <a:noFill/>
          <a:ln>
            <a:noFill/>
          </a:ln>
        </p:spPr>
        <p:txBody>
          <a:bodyPr vert="horz" wrap="square" lIns="81639" tIns="40820" rIns="81639" bIns="40820" compatLnSpc="0">
            <a:spAutoFit/>
          </a:bodyPr>
          <a:lstStyle/>
          <a:p>
            <a:pPr hangingPunct="0">
              <a:spcBef>
                <a:spcPts val="0"/>
              </a:spcBef>
              <a:spcAft>
                <a:spcPts val="0"/>
              </a:spcAft>
            </a:pPr>
            <a:r>
              <a:rPr lang="it-IT" dirty="0">
                <a:latin typeface="Nimbus Sans L" pitchFamily="18"/>
                <a:ea typeface="DejaVu Sans" pitchFamily="2"/>
                <a:cs typeface="DejaVu Sans" pitchFamily="2"/>
              </a:rPr>
              <a:t>Single </a:t>
            </a:r>
            <a:r>
              <a:rPr lang="it-IT" dirty="0" err="1">
                <a:latin typeface="Nimbus Sans L" pitchFamily="18"/>
                <a:ea typeface="DejaVu Sans" pitchFamily="2"/>
                <a:cs typeface="DejaVu Sans" pitchFamily="2"/>
              </a:rPr>
              <a:t>unit</a:t>
            </a:r>
            <a:r>
              <a:rPr lang="it-IT" dirty="0">
                <a:latin typeface="Nimbus Sans L" pitchFamily="18"/>
                <a:ea typeface="DejaVu Sans" pitchFamily="2"/>
                <a:cs typeface="DejaVu Sans" pitchFamily="2"/>
              </a:rPr>
              <a:t> </a:t>
            </a:r>
            <a:r>
              <a:rPr lang="it-IT" dirty="0" err="1">
                <a:latin typeface="Nimbus Sans L" pitchFamily="18"/>
                <a:ea typeface="DejaVu Sans" pitchFamily="2"/>
                <a:cs typeface="DejaVu Sans" pitchFamily="2"/>
              </a:rPr>
              <a:t>activity</a:t>
            </a:r>
            <a:r>
              <a:rPr lang="it-IT" dirty="0">
                <a:latin typeface="Nimbus Sans L" pitchFamily="18"/>
                <a:ea typeface="DejaVu Sans" pitchFamily="2"/>
                <a:cs typeface="DejaVu Sans" pitchFamily="2"/>
              </a:rPr>
              <a:t> - 10 </a:t>
            </a:r>
            <a:r>
              <a:rPr lang="it-IT" dirty="0" err="1">
                <a:latin typeface="Nimbus Sans L" pitchFamily="18"/>
                <a:ea typeface="DejaVu Sans" pitchFamily="2"/>
                <a:cs typeface="DejaVu Sans" pitchFamily="2"/>
              </a:rPr>
              <a:t>secs</a:t>
            </a:r>
            <a:endParaRPr lang="it-IT" dirty="0">
              <a:latin typeface="Nimbus Sans L" pitchFamily="18"/>
              <a:ea typeface="DejaVu Sans" pitchFamily="2"/>
              <a:cs typeface="DejaVu Sans" pitchFamily="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alphaModFix/>
            <a:lum/>
          </a:blip>
          <a:srcRect t="32207" r="1954" b="51697"/>
          <a:stretch>
            <a:fillRect/>
          </a:stretch>
        </p:blipFill>
        <p:spPr>
          <a:xfrm>
            <a:off x="35496" y="1340768"/>
            <a:ext cx="4060035" cy="100811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/>
          <p:cNvSpPr/>
          <p:nvPr/>
        </p:nvSpPr>
        <p:spPr>
          <a:xfrm>
            <a:off x="1259632" y="3429000"/>
            <a:ext cx="65225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39752" y="3501008"/>
            <a:ext cx="65225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419872" y="3429000"/>
            <a:ext cx="65225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483768" y="3429000"/>
            <a:ext cx="65225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alphaModFix/>
            <a:lum/>
          </a:blip>
          <a:srcRect l="12212" t="11208" r="8243" b="15020"/>
          <a:stretch>
            <a:fillRect/>
          </a:stretch>
        </p:blipFill>
        <p:spPr>
          <a:xfrm>
            <a:off x="4067944" y="1052736"/>
            <a:ext cx="4896544" cy="44644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4644008" y="5445224"/>
            <a:ext cx="4104456" cy="347895"/>
          </a:xfrm>
          <a:prstGeom prst="rect">
            <a:avLst/>
          </a:prstGeom>
          <a:noFill/>
          <a:ln>
            <a:noFill/>
          </a:ln>
        </p:spPr>
        <p:txBody>
          <a:bodyPr vert="horz" wrap="square" lIns="81639" tIns="40820" rIns="81639" bIns="40820" compatLnSpc="0">
            <a:spAutoFit/>
          </a:bodyPr>
          <a:lstStyle/>
          <a:p>
            <a:pPr hangingPunct="0">
              <a:spcBef>
                <a:spcPts val="0"/>
              </a:spcBef>
              <a:spcAft>
                <a:spcPts val="0"/>
              </a:spcAft>
            </a:pPr>
            <a:r>
              <a:rPr lang="it-IT" dirty="0" err="1">
                <a:latin typeface="Nimbus Sans L" pitchFamily="18"/>
                <a:ea typeface="DejaVu Sans" pitchFamily="2"/>
                <a:cs typeface="DejaVu Sans" pitchFamily="2"/>
              </a:rPr>
              <a:t>Local</a:t>
            </a:r>
            <a:r>
              <a:rPr lang="it-IT" dirty="0">
                <a:latin typeface="Nimbus Sans L" pitchFamily="18"/>
                <a:ea typeface="DejaVu Sans" pitchFamily="2"/>
                <a:cs typeface="DejaVu Sans" pitchFamily="2"/>
              </a:rPr>
              <a:t> </a:t>
            </a:r>
            <a:r>
              <a:rPr lang="it-IT" dirty="0" err="1">
                <a:latin typeface="Nimbus Sans L" pitchFamily="18"/>
                <a:ea typeface="DejaVu Sans" pitchFamily="2"/>
                <a:cs typeface="DejaVu Sans" pitchFamily="2"/>
              </a:rPr>
              <a:t>Field</a:t>
            </a:r>
            <a:r>
              <a:rPr lang="it-IT" dirty="0">
                <a:latin typeface="Nimbus Sans L" pitchFamily="18"/>
                <a:ea typeface="DejaVu Sans" pitchFamily="2"/>
                <a:cs typeface="DejaVu Sans" pitchFamily="2"/>
              </a:rPr>
              <a:t> </a:t>
            </a:r>
            <a:r>
              <a:rPr lang="it-IT" dirty="0" err="1">
                <a:latin typeface="Nimbus Sans L" pitchFamily="18"/>
                <a:ea typeface="DejaVu Sans" pitchFamily="2"/>
                <a:cs typeface="DejaVu Sans" pitchFamily="2"/>
              </a:rPr>
              <a:t>Potential</a:t>
            </a:r>
            <a:r>
              <a:rPr lang="it-IT" dirty="0">
                <a:latin typeface="Nimbus Sans L" pitchFamily="18"/>
                <a:ea typeface="DejaVu Sans" pitchFamily="2"/>
                <a:cs typeface="DejaVu Sans" pitchFamily="2"/>
              </a:rPr>
              <a:t> - 10 </a:t>
            </a:r>
            <a:r>
              <a:rPr lang="it-IT" dirty="0" err="1">
                <a:latin typeface="Nimbus Sans L" pitchFamily="18"/>
                <a:ea typeface="DejaVu Sans" pitchFamily="2"/>
                <a:cs typeface="DejaVu Sans" pitchFamily="2"/>
              </a:rPr>
              <a:t>secs</a:t>
            </a:r>
            <a:endParaRPr lang="it-IT" dirty="0">
              <a:latin typeface="Nimbus Sans L" pitchFamily="18"/>
              <a:ea typeface="DejaVu Sans" pitchFamily="2"/>
              <a:cs typeface="DejaVu Sans" pitchFamily="2"/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179512" y="6021288"/>
            <a:ext cx="857478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cs typeface="Arial" charset="0"/>
              </a:rPr>
              <a:t>The code must be composed by features that are DIFFERENT from scene to scene and SIMILAR across trials</a:t>
            </a:r>
          </a:p>
        </p:txBody>
      </p:sp>
    </p:spTree>
    <p:extLst>
      <p:ext uri="{BB962C8B-B14F-4D97-AF65-F5344CB8AC3E}">
        <p14:creationId xmlns:p14="http://schemas.microsoft.com/office/powerpoint/2010/main" val="1943605464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76200"/>
            <a:ext cx="8964488" cy="1026157"/>
          </a:xfrm>
          <a:prstGeom prst="rect">
            <a:avLst/>
          </a:prstGeom>
          <a:noFill/>
          <a:ln>
            <a:noFill/>
          </a:ln>
        </p:spPr>
        <p:txBody>
          <a:bodyPr vert="horz" wrap="square" lIns="81639" tIns="40820" rIns="81639" bIns="40820" compatLnSpc="0">
            <a:spAutoFit/>
          </a:bodyPr>
          <a:lstStyle/>
          <a:p>
            <a:pPr algn="ctr" hangingPunct="0">
              <a:spcBef>
                <a:spcPts val="0"/>
              </a:spcBef>
              <a:spcAft>
                <a:spcPts val="0"/>
              </a:spcAft>
            </a:pP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ea typeface="DejaVu Sans" pitchFamily="2"/>
                <a:cs typeface="Arial" panose="020B0604020202020204" pitchFamily="34" charset="0"/>
              </a:rPr>
              <a:t>Response to multiple </a:t>
            </a:r>
            <a:r>
              <a:rPr lang="it-IT" sz="3200" dirty="0" err="1">
                <a:solidFill>
                  <a:srgbClr val="FF0000"/>
                </a:solidFill>
                <a:latin typeface="Arial" panose="020B0604020202020204" pitchFamily="34" charset="0"/>
                <a:ea typeface="DejaVu Sans" pitchFamily="2"/>
                <a:cs typeface="Arial" panose="020B0604020202020204" pitchFamily="34" charset="0"/>
              </a:rPr>
              <a:t>presentations</a:t>
            </a: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ea typeface="DejaVu Sans" pitchFamily="2"/>
                <a:cs typeface="Arial" panose="020B0604020202020204" pitchFamily="34" charset="0"/>
              </a:rPr>
              <a:t> </a:t>
            </a:r>
          </a:p>
          <a:p>
            <a:pPr algn="ctr" hangingPunct="0">
              <a:spcBef>
                <a:spcPts val="0"/>
              </a:spcBef>
              <a:spcAft>
                <a:spcPts val="0"/>
              </a:spcAft>
            </a:pPr>
            <a:r>
              <a:rPr lang="it-IT" sz="3200" dirty="0">
                <a:solidFill>
                  <a:srgbClr val="FF0000"/>
                </a:solidFill>
                <a:latin typeface="Arial" panose="020B0604020202020204" pitchFamily="34" charset="0"/>
                <a:ea typeface="DejaVu Sans" pitchFamily="2"/>
                <a:cs typeface="Arial" panose="020B0604020202020204" pitchFamily="34" charset="0"/>
              </a:rPr>
              <a:t>of the same movie clip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alphaModFix/>
            <a:lum/>
          </a:blip>
          <a:srcRect t="13812" b="35196"/>
          <a:stretch>
            <a:fillRect/>
          </a:stretch>
        </p:blipFill>
        <p:spPr>
          <a:xfrm>
            <a:off x="-979" y="2251488"/>
            <a:ext cx="4140931" cy="319373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827584" y="5445224"/>
            <a:ext cx="2808312" cy="347895"/>
          </a:xfrm>
          <a:prstGeom prst="rect">
            <a:avLst/>
          </a:prstGeom>
          <a:noFill/>
          <a:ln>
            <a:noFill/>
          </a:ln>
        </p:spPr>
        <p:txBody>
          <a:bodyPr vert="horz" wrap="square" lIns="81639" tIns="40820" rIns="81639" bIns="40820" compatLnSpc="0">
            <a:spAutoFit/>
          </a:bodyPr>
          <a:lstStyle/>
          <a:p>
            <a:pPr hangingPunct="0">
              <a:spcBef>
                <a:spcPts val="0"/>
              </a:spcBef>
              <a:spcAft>
                <a:spcPts val="0"/>
              </a:spcAft>
            </a:pPr>
            <a:r>
              <a:rPr lang="it-IT" dirty="0">
                <a:latin typeface="Nimbus Sans L" pitchFamily="18"/>
                <a:ea typeface="DejaVu Sans" pitchFamily="2"/>
                <a:cs typeface="DejaVu Sans" pitchFamily="2"/>
              </a:rPr>
              <a:t>Single </a:t>
            </a:r>
            <a:r>
              <a:rPr lang="it-IT" dirty="0" err="1">
                <a:latin typeface="Nimbus Sans L" pitchFamily="18"/>
                <a:ea typeface="DejaVu Sans" pitchFamily="2"/>
                <a:cs typeface="DejaVu Sans" pitchFamily="2"/>
              </a:rPr>
              <a:t>unit</a:t>
            </a:r>
            <a:r>
              <a:rPr lang="it-IT" dirty="0">
                <a:latin typeface="Nimbus Sans L" pitchFamily="18"/>
                <a:ea typeface="DejaVu Sans" pitchFamily="2"/>
                <a:cs typeface="DejaVu Sans" pitchFamily="2"/>
              </a:rPr>
              <a:t> </a:t>
            </a:r>
            <a:r>
              <a:rPr lang="it-IT" dirty="0" err="1">
                <a:latin typeface="Nimbus Sans L" pitchFamily="18"/>
                <a:ea typeface="DejaVu Sans" pitchFamily="2"/>
                <a:cs typeface="DejaVu Sans" pitchFamily="2"/>
              </a:rPr>
              <a:t>activity</a:t>
            </a:r>
            <a:r>
              <a:rPr lang="it-IT" dirty="0">
                <a:latin typeface="Nimbus Sans L" pitchFamily="18"/>
                <a:ea typeface="DejaVu Sans" pitchFamily="2"/>
                <a:cs typeface="DejaVu Sans" pitchFamily="2"/>
              </a:rPr>
              <a:t> - 10 </a:t>
            </a:r>
            <a:r>
              <a:rPr lang="it-IT" dirty="0" err="1">
                <a:latin typeface="Nimbus Sans L" pitchFamily="18"/>
                <a:ea typeface="DejaVu Sans" pitchFamily="2"/>
                <a:cs typeface="DejaVu Sans" pitchFamily="2"/>
              </a:rPr>
              <a:t>secs</a:t>
            </a:r>
            <a:endParaRPr lang="it-IT" dirty="0">
              <a:latin typeface="Nimbus Sans L" pitchFamily="18"/>
              <a:ea typeface="DejaVu Sans" pitchFamily="2"/>
              <a:cs typeface="DejaVu Sans" pitchFamily="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alphaModFix/>
            <a:lum/>
          </a:blip>
          <a:srcRect t="32207" r="1954" b="51697"/>
          <a:stretch>
            <a:fillRect/>
          </a:stretch>
        </p:blipFill>
        <p:spPr>
          <a:xfrm>
            <a:off x="35496" y="1340768"/>
            <a:ext cx="4060035" cy="100811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5"/>
          <p:cNvSpPr/>
          <p:nvPr/>
        </p:nvSpPr>
        <p:spPr>
          <a:xfrm>
            <a:off x="1259632" y="3429000"/>
            <a:ext cx="65225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39752" y="3501008"/>
            <a:ext cx="65225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419872" y="3429000"/>
            <a:ext cx="65225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483768" y="3429000"/>
            <a:ext cx="65225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alphaModFix/>
            <a:lum/>
          </a:blip>
          <a:srcRect l="12212" t="11208" r="8243" b="15020"/>
          <a:stretch>
            <a:fillRect/>
          </a:stretch>
        </p:blipFill>
        <p:spPr>
          <a:xfrm>
            <a:off x="4067944" y="1052736"/>
            <a:ext cx="4896544" cy="44644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4644008" y="5445224"/>
            <a:ext cx="4104456" cy="347895"/>
          </a:xfrm>
          <a:prstGeom prst="rect">
            <a:avLst/>
          </a:prstGeom>
          <a:noFill/>
          <a:ln>
            <a:noFill/>
          </a:ln>
        </p:spPr>
        <p:txBody>
          <a:bodyPr vert="horz" wrap="square" lIns="81639" tIns="40820" rIns="81639" bIns="40820" compatLnSpc="0">
            <a:spAutoFit/>
          </a:bodyPr>
          <a:lstStyle/>
          <a:p>
            <a:pPr hangingPunct="0">
              <a:spcBef>
                <a:spcPts val="0"/>
              </a:spcBef>
              <a:spcAft>
                <a:spcPts val="0"/>
              </a:spcAft>
            </a:pPr>
            <a:r>
              <a:rPr lang="it-IT" dirty="0" err="1">
                <a:latin typeface="Nimbus Sans L" pitchFamily="18"/>
                <a:ea typeface="DejaVu Sans" pitchFamily="2"/>
                <a:cs typeface="DejaVu Sans" pitchFamily="2"/>
              </a:rPr>
              <a:t>Local</a:t>
            </a:r>
            <a:r>
              <a:rPr lang="it-IT" dirty="0">
                <a:latin typeface="Nimbus Sans L" pitchFamily="18"/>
                <a:ea typeface="DejaVu Sans" pitchFamily="2"/>
                <a:cs typeface="DejaVu Sans" pitchFamily="2"/>
              </a:rPr>
              <a:t> </a:t>
            </a:r>
            <a:r>
              <a:rPr lang="it-IT" dirty="0" err="1">
                <a:latin typeface="Nimbus Sans L" pitchFamily="18"/>
                <a:ea typeface="DejaVu Sans" pitchFamily="2"/>
                <a:cs typeface="DejaVu Sans" pitchFamily="2"/>
              </a:rPr>
              <a:t>Field</a:t>
            </a:r>
            <a:r>
              <a:rPr lang="it-IT" dirty="0">
                <a:latin typeface="Nimbus Sans L" pitchFamily="18"/>
                <a:ea typeface="DejaVu Sans" pitchFamily="2"/>
                <a:cs typeface="DejaVu Sans" pitchFamily="2"/>
              </a:rPr>
              <a:t> </a:t>
            </a:r>
            <a:r>
              <a:rPr lang="it-IT" dirty="0" err="1">
                <a:latin typeface="Nimbus Sans L" pitchFamily="18"/>
                <a:ea typeface="DejaVu Sans" pitchFamily="2"/>
                <a:cs typeface="DejaVu Sans" pitchFamily="2"/>
              </a:rPr>
              <a:t>Potential</a:t>
            </a:r>
            <a:r>
              <a:rPr lang="it-IT" dirty="0">
                <a:latin typeface="Nimbus Sans L" pitchFamily="18"/>
                <a:ea typeface="DejaVu Sans" pitchFamily="2"/>
                <a:cs typeface="DejaVu Sans" pitchFamily="2"/>
              </a:rPr>
              <a:t> - 10 </a:t>
            </a:r>
            <a:r>
              <a:rPr lang="it-IT" dirty="0" err="1">
                <a:latin typeface="Nimbus Sans L" pitchFamily="18"/>
                <a:ea typeface="DejaVu Sans" pitchFamily="2"/>
                <a:cs typeface="DejaVu Sans" pitchFamily="2"/>
              </a:rPr>
              <a:t>secs</a:t>
            </a:r>
            <a:endParaRPr lang="it-IT" dirty="0">
              <a:latin typeface="Nimbus Sans L" pitchFamily="18"/>
              <a:ea typeface="DejaVu Sans" pitchFamily="2"/>
              <a:cs typeface="DejaVu Sans" pitchFamily="2"/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179512" y="6021288"/>
            <a:ext cx="857478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cs typeface="Arial" charset="0"/>
              </a:rPr>
              <a:t>The code must be composed by features that are DIFFERENT from scene to scene and SIMILAR across trials</a:t>
            </a:r>
          </a:p>
        </p:txBody>
      </p:sp>
      <p:sp>
        <p:nvSpPr>
          <p:cNvPr id="12" name="Ovale 11">
            <a:extLst>
              <a:ext uri="{FF2B5EF4-FFF2-40B4-BE49-F238E27FC236}">
                <a16:creationId xmlns:a16="http://schemas.microsoft.com/office/drawing/2014/main" id="{9E01F8D9-4DE2-46F1-BF72-99AFE96F685E}"/>
              </a:ext>
            </a:extLst>
          </p:cNvPr>
          <p:cNvSpPr/>
          <p:nvPr/>
        </p:nvSpPr>
        <p:spPr>
          <a:xfrm>
            <a:off x="1210542" y="2023319"/>
            <a:ext cx="6866932" cy="283702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/>
              <a:t>Trial = </a:t>
            </a:r>
            <a:r>
              <a:rPr lang="it-IT" sz="2400" b="1" dirty="0" err="1"/>
              <a:t>presentation</a:t>
            </a:r>
            <a:r>
              <a:rPr lang="it-IT" sz="2400" b="1" dirty="0"/>
              <a:t> = </a:t>
            </a:r>
            <a:r>
              <a:rPr lang="it-IT" sz="2400" b="1" dirty="0" err="1"/>
              <a:t>repetition</a:t>
            </a:r>
            <a:r>
              <a:rPr lang="it-IT" sz="2400" b="1" dirty="0"/>
              <a:t> =…</a:t>
            </a:r>
          </a:p>
          <a:p>
            <a:pPr algn="ctr"/>
            <a:r>
              <a:rPr lang="it-IT" sz="2400" dirty="0"/>
              <a:t>Independent </a:t>
            </a:r>
            <a:r>
              <a:rPr lang="it-IT" sz="2400" dirty="0" err="1"/>
              <a:t>presentation</a:t>
            </a:r>
            <a:r>
              <a:rPr lang="it-IT" sz="2400" dirty="0"/>
              <a:t> of a </a:t>
            </a:r>
            <a:r>
              <a:rPr lang="it-IT" sz="2400" dirty="0" err="1"/>
              <a:t>given</a:t>
            </a:r>
            <a:r>
              <a:rPr lang="it-IT" sz="2400" dirty="0"/>
              <a:t> </a:t>
            </a:r>
            <a:r>
              <a:rPr lang="it-IT" sz="2400" dirty="0" err="1"/>
              <a:t>stimulus</a:t>
            </a:r>
            <a:r>
              <a:rPr lang="it-IT" sz="2400" dirty="0"/>
              <a:t>. The </a:t>
            </a:r>
            <a:r>
              <a:rPr lang="it-IT" sz="2400" dirty="0" err="1"/>
              <a:t>larger</a:t>
            </a:r>
            <a:r>
              <a:rPr lang="it-IT" sz="2400" dirty="0"/>
              <a:t> the </a:t>
            </a:r>
            <a:r>
              <a:rPr lang="it-IT" sz="2400" dirty="0" err="1"/>
              <a:t>number</a:t>
            </a:r>
            <a:r>
              <a:rPr lang="it-IT" sz="2400" dirty="0"/>
              <a:t> of trials, the </a:t>
            </a:r>
            <a:r>
              <a:rPr lang="it-IT" sz="2400" dirty="0" err="1"/>
              <a:t>better</a:t>
            </a:r>
            <a:r>
              <a:rPr lang="it-IT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9774789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273629"/>
            <a:ext cx="5051623" cy="1144921"/>
          </a:xfrm>
          <a:ln/>
        </p:spPr>
        <p:txBody>
          <a:bodyPr tIns="35268">
            <a:normAutofit/>
          </a:bodyPr>
          <a:lstStyle/>
          <a:p>
            <a:pPr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150520" algn="l"/>
              </a:tabLst>
            </a:pPr>
            <a:r>
              <a:rPr lang="en-US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Everything is connected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80" y="1813151"/>
            <a:ext cx="4756320" cy="4717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5224320" y="6211391"/>
            <a:ext cx="1912320" cy="313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39" tIns="55188" rIns="81639" bIns="4082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it-IT" dirty="0"/>
              <a:t>Internet (in 2005!)</a:t>
            </a:r>
          </a:p>
        </p:txBody>
      </p:sp>
      <p:pic>
        <p:nvPicPr>
          <p:cNvPr id="21506" name="Picture 2" descr="http://image.tmdb.org/t/p/original/pbrvWgER8Q2nz4iUSNbXDIDayOt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6850" y="388160"/>
            <a:ext cx="3867150" cy="5810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41935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273629"/>
            <a:ext cx="5051623" cy="1144921"/>
          </a:xfrm>
          <a:ln/>
        </p:spPr>
        <p:txBody>
          <a:bodyPr tIns="35268">
            <a:normAutofit/>
          </a:bodyPr>
          <a:lstStyle/>
          <a:p>
            <a:pPr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150520" algn="l"/>
              </a:tabLst>
            </a:pPr>
            <a:r>
              <a:rPr lang="en-US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Everything is connected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80" y="1813151"/>
            <a:ext cx="4756320" cy="4717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5224320" y="6211391"/>
            <a:ext cx="1912320" cy="313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39" tIns="55188" rIns="81639" bIns="4082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it-IT" dirty="0"/>
              <a:t>Internet (in 2005!)</a:t>
            </a:r>
          </a:p>
        </p:txBody>
      </p:sp>
      <p:pic>
        <p:nvPicPr>
          <p:cNvPr id="21506" name="Picture 2" descr="http://image.tmdb.org/t/p/original/pbrvWgER8Q2nz4iUSNbXDIDayOt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6850" y="388160"/>
            <a:ext cx="3867150" cy="5810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e 2">
            <a:extLst>
              <a:ext uri="{FF2B5EF4-FFF2-40B4-BE49-F238E27FC236}">
                <a16:creationId xmlns:a16="http://schemas.microsoft.com/office/drawing/2014/main" id="{F18575AA-F57E-4841-A123-BA3383C0FFE7}"/>
              </a:ext>
            </a:extLst>
          </p:cNvPr>
          <p:cNvSpPr/>
          <p:nvPr/>
        </p:nvSpPr>
        <p:spPr>
          <a:xfrm>
            <a:off x="1210542" y="2023319"/>
            <a:ext cx="6866932" cy="283702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/>
              <a:t>Watts and </a:t>
            </a:r>
            <a:r>
              <a:rPr lang="it-IT" sz="2400" b="1" dirty="0" err="1"/>
              <a:t>Strogatz</a:t>
            </a:r>
            <a:r>
              <a:rPr lang="it-IT" sz="2400" b="1" dirty="0"/>
              <a:t> – Nature 1998</a:t>
            </a:r>
            <a:endParaRPr lang="it-IT" sz="2400" dirty="0"/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D9C6D41E-C124-485E-916E-262DAD89F19E}"/>
              </a:ext>
            </a:extLst>
          </p:cNvPr>
          <p:cNvSpPr/>
          <p:nvPr/>
        </p:nvSpPr>
        <p:spPr>
          <a:xfrm>
            <a:off x="4363120" y="3861048"/>
            <a:ext cx="720080" cy="72008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/>
              <a:t>SR</a:t>
            </a:r>
          </a:p>
        </p:txBody>
      </p:sp>
    </p:spTree>
    <p:extLst>
      <p:ext uri="{BB962C8B-B14F-4D97-AF65-F5344CB8AC3E}">
        <p14:creationId xmlns:p14="http://schemas.microsoft.com/office/powerpoint/2010/main" val="28219193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80" y="1813151"/>
            <a:ext cx="4756320" cy="4717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5224320" y="6041435"/>
            <a:ext cx="1912320" cy="313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39" tIns="55188" rIns="81639" bIns="4082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it-IT" dirty="0"/>
              <a:t>Internet (in 2005!)</a:t>
            </a:r>
          </a:p>
        </p:txBody>
      </p:sp>
      <p:sp>
        <p:nvSpPr>
          <p:cNvPr id="5124" name="Oval 4"/>
          <p:cNvSpPr>
            <a:spLocks noChangeArrowheads="1"/>
          </p:cNvSpPr>
          <p:nvPr/>
        </p:nvSpPr>
        <p:spPr bwMode="auto">
          <a:xfrm>
            <a:off x="5388480" y="2122783"/>
            <a:ext cx="653760" cy="653829"/>
          </a:xfrm>
          <a:prstGeom prst="ellipse">
            <a:avLst/>
          </a:prstGeom>
          <a:noFill/>
          <a:ln w="144000" cap="sq">
            <a:solidFill>
              <a:srgbClr val="FF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25" name="Oval 5"/>
          <p:cNvSpPr>
            <a:spLocks noChangeArrowheads="1"/>
          </p:cNvSpPr>
          <p:nvPr/>
        </p:nvSpPr>
        <p:spPr bwMode="auto">
          <a:xfrm>
            <a:off x="5616000" y="2122783"/>
            <a:ext cx="653760" cy="653829"/>
          </a:xfrm>
          <a:prstGeom prst="ellipse">
            <a:avLst/>
          </a:prstGeom>
          <a:noFill/>
          <a:ln w="144000" cap="sq">
            <a:solidFill>
              <a:srgbClr val="FF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26" name="Oval 6"/>
          <p:cNvSpPr>
            <a:spLocks noChangeArrowheads="1"/>
          </p:cNvSpPr>
          <p:nvPr/>
        </p:nvSpPr>
        <p:spPr bwMode="auto">
          <a:xfrm>
            <a:off x="5388480" y="3266263"/>
            <a:ext cx="653760" cy="653829"/>
          </a:xfrm>
          <a:prstGeom prst="ellipse">
            <a:avLst/>
          </a:prstGeom>
          <a:noFill/>
          <a:ln w="144000" cap="sq">
            <a:solidFill>
              <a:srgbClr val="FF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27" name="Oval 7"/>
          <p:cNvSpPr>
            <a:spLocks noChangeArrowheads="1"/>
          </p:cNvSpPr>
          <p:nvPr/>
        </p:nvSpPr>
        <p:spPr bwMode="auto">
          <a:xfrm>
            <a:off x="5780160" y="3266263"/>
            <a:ext cx="653760" cy="653829"/>
          </a:xfrm>
          <a:prstGeom prst="ellipse">
            <a:avLst/>
          </a:prstGeom>
          <a:noFill/>
          <a:ln w="144000" cap="sq">
            <a:solidFill>
              <a:srgbClr val="2323D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28" name="Oval 8"/>
          <p:cNvSpPr>
            <a:spLocks noChangeArrowheads="1"/>
          </p:cNvSpPr>
          <p:nvPr/>
        </p:nvSpPr>
        <p:spPr bwMode="auto">
          <a:xfrm>
            <a:off x="5388480" y="4408304"/>
            <a:ext cx="653760" cy="653829"/>
          </a:xfrm>
          <a:prstGeom prst="ellipse">
            <a:avLst/>
          </a:prstGeom>
          <a:noFill/>
          <a:ln w="144000" cap="sq">
            <a:solidFill>
              <a:srgbClr val="FF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29" name="Oval 9"/>
          <p:cNvSpPr>
            <a:spLocks noChangeArrowheads="1"/>
          </p:cNvSpPr>
          <p:nvPr/>
        </p:nvSpPr>
        <p:spPr bwMode="auto">
          <a:xfrm>
            <a:off x="6204961" y="4408304"/>
            <a:ext cx="653760" cy="653829"/>
          </a:xfrm>
          <a:prstGeom prst="ellipse">
            <a:avLst/>
          </a:prstGeom>
          <a:noFill/>
          <a:ln w="144000" cap="sq">
            <a:solidFill>
              <a:srgbClr val="23FF2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30" name="Oval 10"/>
          <p:cNvSpPr>
            <a:spLocks noChangeArrowheads="1"/>
          </p:cNvSpPr>
          <p:nvPr/>
        </p:nvSpPr>
        <p:spPr bwMode="auto">
          <a:xfrm>
            <a:off x="3526560" y="4964202"/>
            <a:ext cx="391680" cy="424844"/>
          </a:xfrm>
          <a:prstGeom prst="ellipse">
            <a:avLst/>
          </a:prstGeom>
          <a:noFill/>
          <a:ln w="72000" cap="sq">
            <a:solidFill>
              <a:srgbClr val="FF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31" name="Oval 11"/>
          <p:cNvSpPr>
            <a:spLocks noChangeArrowheads="1"/>
          </p:cNvSpPr>
          <p:nvPr/>
        </p:nvSpPr>
        <p:spPr bwMode="auto">
          <a:xfrm>
            <a:off x="3755520" y="4572481"/>
            <a:ext cx="391680" cy="424844"/>
          </a:xfrm>
          <a:prstGeom prst="ellipse">
            <a:avLst/>
          </a:prstGeom>
          <a:noFill/>
          <a:ln w="72000" cap="sq">
            <a:solidFill>
              <a:srgbClr val="FF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32" name="Oval 12"/>
          <p:cNvSpPr>
            <a:spLocks noChangeArrowheads="1"/>
          </p:cNvSpPr>
          <p:nvPr/>
        </p:nvSpPr>
        <p:spPr bwMode="auto">
          <a:xfrm>
            <a:off x="2645280" y="4441427"/>
            <a:ext cx="391680" cy="424845"/>
          </a:xfrm>
          <a:prstGeom prst="ellipse">
            <a:avLst/>
          </a:prstGeom>
          <a:noFill/>
          <a:ln w="72000" cap="sq">
            <a:solidFill>
              <a:srgbClr val="2323D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33" name="Oval 13"/>
          <p:cNvSpPr>
            <a:spLocks noChangeArrowheads="1"/>
          </p:cNvSpPr>
          <p:nvPr/>
        </p:nvSpPr>
        <p:spPr bwMode="auto">
          <a:xfrm>
            <a:off x="424800" y="3297947"/>
            <a:ext cx="391680" cy="424845"/>
          </a:xfrm>
          <a:prstGeom prst="ellipse">
            <a:avLst/>
          </a:prstGeom>
          <a:noFill/>
          <a:ln w="72000" cap="sq">
            <a:solidFill>
              <a:srgbClr val="23FF2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34" name="Text Box 14"/>
          <p:cNvSpPr txBox="1">
            <a:spLocks noChangeArrowheads="1"/>
          </p:cNvSpPr>
          <p:nvPr/>
        </p:nvSpPr>
        <p:spPr bwMode="auto">
          <a:xfrm>
            <a:off x="6998400" y="2076698"/>
            <a:ext cx="1656000" cy="698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39" tIns="60086" rIns="81639" bIns="4082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it-IT" sz="2200" dirty="0"/>
              <a:t>Strongly </a:t>
            </a:r>
          </a:p>
          <a:p>
            <a:pPr>
              <a:buClrTx/>
              <a:buFontTx/>
              <a:buNone/>
            </a:pPr>
            <a:r>
              <a:rPr lang="en-US" altLang="it-IT" sz="2200" dirty="0"/>
              <a:t>correlated</a:t>
            </a:r>
          </a:p>
        </p:txBody>
      </p:sp>
      <p:sp>
        <p:nvSpPr>
          <p:cNvPr id="5135" name="Text Box 15"/>
          <p:cNvSpPr txBox="1">
            <a:spLocks noChangeArrowheads="1"/>
          </p:cNvSpPr>
          <p:nvPr/>
        </p:nvSpPr>
        <p:spPr bwMode="auto">
          <a:xfrm>
            <a:off x="7021440" y="3102086"/>
            <a:ext cx="1729440" cy="698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39" tIns="60086" rIns="81639" bIns="4082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it-IT" sz="2200" dirty="0"/>
              <a:t>Weakly </a:t>
            </a:r>
          </a:p>
          <a:p>
            <a:pPr>
              <a:buClrTx/>
              <a:buFontTx/>
              <a:buNone/>
            </a:pPr>
            <a:r>
              <a:rPr lang="en-US" altLang="it-IT" sz="2200" dirty="0"/>
              <a:t>correlated</a:t>
            </a:r>
          </a:p>
        </p:txBody>
      </p:sp>
      <p:sp>
        <p:nvSpPr>
          <p:cNvPr id="5136" name="Text Box 16"/>
          <p:cNvSpPr txBox="1">
            <a:spLocks noChangeArrowheads="1"/>
          </p:cNvSpPr>
          <p:nvPr/>
        </p:nvSpPr>
        <p:spPr bwMode="auto">
          <a:xfrm>
            <a:off x="7012800" y="4376620"/>
            <a:ext cx="1869120" cy="698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39" tIns="60086" rIns="81639" bIns="4082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it-IT" sz="2200" dirty="0"/>
              <a:t>Almost</a:t>
            </a:r>
          </a:p>
          <a:p>
            <a:pPr>
              <a:buClrTx/>
              <a:buFontTx/>
              <a:buNone/>
            </a:pPr>
            <a:r>
              <a:rPr lang="en-US" altLang="it-IT" sz="2200" dirty="0"/>
              <a:t>independent</a:t>
            </a:r>
          </a:p>
        </p:txBody>
      </p:sp>
      <p:sp>
        <p:nvSpPr>
          <p:cNvPr id="5137" name="Text Box 17"/>
          <p:cNvSpPr txBox="1">
            <a:spLocks noChangeArrowheads="1"/>
          </p:cNvSpPr>
          <p:nvPr/>
        </p:nvSpPr>
        <p:spPr bwMode="auto">
          <a:xfrm>
            <a:off x="97920" y="1306217"/>
            <a:ext cx="8985600" cy="390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39" tIns="60086" rIns="81639" bIns="4082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it-IT" sz="2200" dirty="0"/>
              <a:t>Connectivity is a binary feature, correlation is not</a:t>
            </a:r>
          </a:p>
        </p:txBody>
      </p:sp>
      <p:sp>
        <p:nvSpPr>
          <p:cNvPr id="20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273629"/>
            <a:ext cx="8294399" cy="1144921"/>
          </a:xfrm>
          <a:ln/>
        </p:spPr>
        <p:txBody>
          <a:bodyPr tIns="35268">
            <a:normAutofit/>
          </a:bodyPr>
          <a:lstStyle/>
          <a:p>
            <a:pPr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150520" algn="l"/>
              </a:tabLst>
            </a:pPr>
            <a:r>
              <a:rPr lang="en-US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Everything is connected… but how much?</a:t>
            </a:r>
          </a:p>
        </p:txBody>
      </p:sp>
    </p:spTree>
    <p:extLst>
      <p:ext uri="{BB962C8B-B14F-4D97-AF65-F5344CB8AC3E}">
        <p14:creationId xmlns:p14="http://schemas.microsoft.com/office/powerpoint/2010/main" val="35062073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880" y="1813151"/>
            <a:ext cx="4756320" cy="4717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5224320" y="6041435"/>
            <a:ext cx="1912320" cy="313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39" tIns="55188" rIns="81639" bIns="4082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it-IT" dirty="0"/>
              <a:t>Internet (in 2005!)</a:t>
            </a:r>
          </a:p>
        </p:txBody>
      </p:sp>
      <p:sp>
        <p:nvSpPr>
          <p:cNvPr id="5124" name="Oval 4"/>
          <p:cNvSpPr>
            <a:spLocks noChangeArrowheads="1"/>
          </p:cNvSpPr>
          <p:nvPr/>
        </p:nvSpPr>
        <p:spPr bwMode="auto">
          <a:xfrm>
            <a:off x="5388480" y="2122783"/>
            <a:ext cx="653760" cy="653829"/>
          </a:xfrm>
          <a:prstGeom prst="ellipse">
            <a:avLst/>
          </a:prstGeom>
          <a:noFill/>
          <a:ln w="144000" cap="sq">
            <a:solidFill>
              <a:srgbClr val="FF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25" name="Oval 5"/>
          <p:cNvSpPr>
            <a:spLocks noChangeArrowheads="1"/>
          </p:cNvSpPr>
          <p:nvPr/>
        </p:nvSpPr>
        <p:spPr bwMode="auto">
          <a:xfrm>
            <a:off x="5616000" y="2122783"/>
            <a:ext cx="653760" cy="653829"/>
          </a:xfrm>
          <a:prstGeom prst="ellipse">
            <a:avLst/>
          </a:prstGeom>
          <a:noFill/>
          <a:ln w="144000" cap="sq">
            <a:solidFill>
              <a:srgbClr val="FF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26" name="Oval 6"/>
          <p:cNvSpPr>
            <a:spLocks noChangeArrowheads="1"/>
          </p:cNvSpPr>
          <p:nvPr/>
        </p:nvSpPr>
        <p:spPr bwMode="auto">
          <a:xfrm>
            <a:off x="5388480" y="3266263"/>
            <a:ext cx="653760" cy="653829"/>
          </a:xfrm>
          <a:prstGeom prst="ellipse">
            <a:avLst/>
          </a:prstGeom>
          <a:noFill/>
          <a:ln w="144000" cap="sq">
            <a:solidFill>
              <a:srgbClr val="FF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27" name="Oval 7"/>
          <p:cNvSpPr>
            <a:spLocks noChangeArrowheads="1"/>
          </p:cNvSpPr>
          <p:nvPr/>
        </p:nvSpPr>
        <p:spPr bwMode="auto">
          <a:xfrm>
            <a:off x="5780160" y="3266263"/>
            <a:ext cx="653760" cy="653829"/>
          </a:xfrm>
          <a:prstGeom prst="ellipse">
            <a:avLst/>
          </a:prstGeom>
          <a:noFill/>
          <a:ln w="144000" cap="sq">
            <a:solidFill>
              <a:srgbClr val="2323D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28" name="Oval 8"/>
          <p:cNvSpPr>
            <a:spLocks noChangeArrowheads="1"/>
          </p:cNvSpPr>
          <p:nvPr/>
        </p:nvSpPr>
        <p:spPr bwMode="auto">
          <a:xfrm>
            <a:off x="5388480" y="4408304"/>
            <a:ext cx="653760" cy="653829"/>
          </a:xfrm>
          <a:prstGeom prst="ellipse">
            <a:avLst/>
          </a:prstGeom>
          <a:noFill/>
          <a:ln w="144000" cap="sq">
            <a:solidFill>
              <a:srgbClr val="FF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29" name="Oval 9"/>
          <p:cNvSpPr>
            <a:spLocks noChangeArrowheads="1"/>
          </p:cNvSpPr>
          <p:nvPr/>
        </p:nvSpPr>
        <p:spPr bwMode="auto">
          <a:xfrm>
            <a:off x="6204961" y="4408304"/>
            <a:ext cx="653760" cy="653829"/>
          </a:xfrm>
          <a:prstGeom prst="ellipse">
            <a:avLst/>
          </a:prstGeom>
          <a:noFill/>
          <a:ln w="144000" cap="sq">
            <a:solidFill>
              <a:srgbClr val="23FF2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30" name="Oval 10"/>
          <p:cNvSpPr>
            <a:spLocks noChangeArrowheads="1"/>
          </p:cNvSpPr>
          <p:nvPr/>
        </p:nvSpPr>
        <p:spPr bwMode="auto">
          <a:xfrm>
            <a:off x="3526560" y="4964202"/>
            <a:ext cx="391680" cy="424844"/>
          </a:xfrm>
          <a:prstGeom prst="ellipse">
            <a:avLst/>
          </a:prstGeom>
          <a:noFill/>
          <a:ln w="72000" cap="sq">
            <a:solidFill>
              <a:srgbClr val="FF33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31" name="Oval 11"/>
          <p:cNvSpPr>
            <a:spLocks noChangeArrowheads="1"/>
          </p:cNvSpPr>
          <p:nvPr/>
        </p:nvSpPr>
        <p:spPr bwMode="auto">
          <a:xfrm>
            <a:off x="3755520" y="4572481"/>
            <a:ext cx="391680" cy="424844"/>
          </a:xfrm>
          <a:prstGeom prst="ellipse">
            <a:avLst/>
          </a:prstGeom>
          <a:noFill/>
          <a:ln w="72000" cap="sq">
            <a:solidFill>
              <a:srgbClr val="FF66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32" name="Oval 12"/>
          <p:cNvSpPr>
            <a:spLocks noChangeArrowheads="1"/>
          </p:cNvSpPr>
          <p:nvPr/>
        </p:nvSpPr>
        <p:spPr bwMode="auto">
          <a:xfrm>
            <a:off x="2645280" y="4441427"/>
            <a:ext cx="391680" cy="424845"/>
          </a:xfrm>
          <a:prstGeom prst="ellipse">
            <a:avLst/>
          </a:prstGeom>
          <a:noFill/>
          <a:ln w="72000" cap="sq">
            <a:solidFill>
              <a:srgbClr val="2323D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33" name="Oval 13"/>
          <p:cNvSpPr>
            <a:spLocks noChangeArrowheads="1"/>
          </p:cNvSpPr>
          <p:nvPr/>
        </p:nvSpPr>
        <p:spPr bwMode="auto">
          <a:xfrm>
            <a:off x="424800" y="3297947"/>
            <a:ext cx="391680" cy="424845"/>
          </a:xfrm>
          <a:prstGeom prst="ellipse">
            <a:avLst/>
          </a:prstGeom>
          <a:noFill/>
          <a:ln w="72000" cap="sq">
            <a:solidFill>
              <a:srgbClr val="23FF2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5134" name="Text Box 14"/>
          <p:cNvSpPr txBox="1">
            <a:spLocks noChangeArrowheads="1"/>
          </p:cNvSpPr>
          <p:nvPr/>
        </p:nvSpPr>
        <p:spPr bwMode="auto">
          <a:xfrm>
            <a:off x="6998400" y="2076698"/>
            <a:ext cx="1656000" cy="698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39" tIns="60086" rIns="81639" bIns="4082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it-IT" sz="2200" dirty="0"/>
              <a:t>Strongly </a:t>
            </a:r>
          </a:p>
          <a:p>
            <a:pPr>
              <a:buClrTx/>
              <a:buFontTx/>
              <a:buNone/>
            </a:pPr>
            <a:r>
              <a:rPr lang="en-US" altLang="it-IT" sz="2200" dirty="0"/>
              <a:t>correlated</a:t>
            </a:r>
          </a:p>
        </p:txBody>
      </p:sp>
      <p:sp>
        <p:nvSpPr>
          <p:cNvPr id="5135" name="Text Box 15"/>
          <p:cNvSpPr txBox="1">
            <a:spLocks noChangeArrowheads="1"/>
          </p:cNvSpPr>
          <p:nvPr/>
        </p:nvSpPr>
        <p:spPr bwMode="auto">
          <a:xfrm>
            <a:off x="7021440" y="3102086"/>
            <a:ext cx="1729440" cy="6984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39" tIns="60086" rIns="81639" bIns="4082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it-IT" sz="2200" dirty="0"/>
              <a:t>Weakly </a:t>
            </a:r>
          </a:p>
          <a:p>
            <a:pPr>
              <a:buClrTx/>
              <a:buFontTx/>
              <a:buNone/>
            </a:pPr>
            <a:r>
              <a:rPr lang="en-US" altLang="it-IT" sz="2200" dirty="0"/>
              <a:t>correlated</a:t>
            </a:r>
          </a:p>
        </p:txBody>
      </p:sp>
      <p:sp>
        <p:nvSpPr>
          <p:cNvPr id="5136" name="Text Box 16"/>
          <p:cNvSpPr txBox="1">
            <a:spLocks noChangeArrowheads="1"/>
          </p:cNvSpPr>
          <p:nvPr/>
        </p:nvSpPr>
        <p:spPr bwMode="auto">
          <a:xfrm>
            <a:off x="7012800" y="4376620"/>
            <a:ext cx="1869120" cy="698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39" tIns="60086" rIns="81639" bIns="4082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it-IT" sz="2200" dirty="0"/>
              <a:t>Almost</a:t>
            </a:r>
          </a:p>
          <a:p>
            <a:pPr>
              <a:buClrTx/>
              <a:buFontTx/>
              <a:buNone/>
            </a:pPr>
            <a:r>
              <a:rPr lang="en-US" altLang="it-IT" sz="2200" dirty="0"/>
              <a:t>independent</a:t>
            </a:r>
          </a:p>
        </p:txBody>
      </p:sp>
      <p:sp>
        <p:nvSpPr>
          <p:cNvPr id="5137" name="Text Box 17"/>
          <p:cNvSpPr txBox="1">
            <a:spLocks noChangeArrowheads="1"/>
          </p:cNvSpPr>
          <p:nvPr/>
        </p:nvSpPr>
        <p:spPr bwMode="auto">
          <a:xfrm>
            <a:off x="97920" y="1306217"/>
            <a:ext cx="8985600" cy="390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1639" tIns="60086" rIns="81639" bIns="4082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  <a:tab pos="8985250" algn="l"/>
                <a:tab pos="9434513" algn="l"/>
                <a:tab pos="9883775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en-US" altLang="it-IT" sz="2200" dirty="0"/>
              <a:t>Connectivity is a binary feature, correlation is not</a:t>
            </a:r>
          </a:p>
        </p:txBody>
      </p:sp>
      <p:sp>
        <p:nvSpPr>
          <p:cNvPr id="20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273629"/>
            <a:ext cx="8294399" cy="1144921"/>
          </a:xfrm>
          <a:ln/>
        </p:spPr>
        <p:txBody>
          <a:bodyPr tIns="35268">
            <a:normAutofit/>
          </a:bodyPr>
          <a:lstStyle/>
          <a:p>
            <a:pPr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150520" algn="l"/>
              </a:tabLst>
            </a:pPr>
            <a:r>
              <a:rPr lang="en-US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Everything is connected… but how much?</a:t>
            </a: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011D68D7-16CC-4789-97C7-960F0A1E7C51}"/>
              </a:ext>
            </a:extLst>
          </p:cNvPr>
          <p:cNvSpPr/>
          <p:nvPr/>
        </p:nvSpPr>
        <p:spPr>
          <a:xfrm>
            <a:off x="1210542" y="2023319"/>
            <a:ext cx="6866932" cy="283702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/>
              <a:t>Connectivity: </a:t>
            </a:r>
            <a:r>
              <a:rPr lang="it-IT" sz="2400" dirty="0" err="1"/>
              <a:t>there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a link (</a:t>
            </a:r>
            <a:r>
              <a:rPr lang="it-IT" sz="2400" dirty="0" err="1"/>
              <a:t>series</a:t>
            </a:r>
            <a:r>
              <a:rPr lang="it-IT" sz="2400" dirty="0"/>
              <a:t>) </a:t>
            </a:r>
            <a:r>
              <a:rPr lang="it-IT" sz="2400" dirty="0" err="1"/>
              <a:t>between</a:t>
            </a:r>
            <a:r>
              <a:rPr lang="it-IT" sz="2400" dirty="0"/>
              <a:t> the </a:t>
            </a:r>
            <a:r>
              <a:rPr lang="it-IT" sz="2400" dirty="0" err="1"/>
              <a:t>nodes</a:t>
            </a:r>
            <a:r>
              <a:rPr lang="it-IT" sz="2400" dirty="0"/>
              <a:t> A and B</a:t>
            </a:r>
          </a:p>
          <a:p>
            <a:pPr algn="ctr"/>
            <a:endParaRPr lang="it-IT" sz="2400" b="1" dirty="0"/>
          </a:p>
          <a:p>
            <a:pPr algn="ctr"/>
            <a:r>
              <a:rPr lang="it-IT" sz="2400" b="1" dirty="0" err="1"/>
              <a:t>Correlation</a:t>
            </a:r>
            <a:r>
              <a:rPr lang="it-IT" sz="2400" b="1" dirty="0"/>
              <a:t>: </a:t>
            </a:r>
            <a:r>
              <a:rPr lang="it-IT" sz="2400" dirty="0"/>
              <a:t>the state of A </a:t>
            </a:r>
            <a:r>
              <a:rPr lang="it-IT" sz="2400" dirty="0" err="1"/>
              <a:t>affects</a:t>
            </a:r>
            <a:r>
              <a:rPr lang="it-IT" sz="2400" dirty="0"/>
              <a:t> the state of B</a:t>
            </a:r>
            <a:endParaRPr lang="it-IT" sz="2400" b="1" dirty="0"/>
          </a:p>
        </p:txBody>
      </p:sp>
    </p:spTree>
    <p:extLst>
      <p:ext uri="{BB962C8B-B14F-4D97-AF65-F5344CB8AC3E}">
        <p14:creationId xmlns:p14="http://schemas.microsoft.com/office/powerpoint/2010/main" val="35559859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273629"/>
            <a:ext cx="8294399" cy="1144921"/>
          </a:xfrm>
          <a:ln/>
        </p:spPr>
        <p:txBody>
          <a:bodyPr tIns="35268">
            <a:normAutofit/>
          </a:bodyPr>
          <a:lstStyle/>
          <a:p>
            <a:pPr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150520" algn="l"/>
              </a:tabLst>
            </a:pPr>
            <a:r>
              <a:rPr lang="en-US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relationship between any pair of variables depends on other variables</a:t>
            </a:r>
          </a:p>
        </p:txBody>
      </p:sp>
      <p:pic>
        <p:nvPicPr>
          <p:cNvPr id="18434" name="Picture 2" descr="http://sadworldmadworld.files.wordpress.com/2013/01/romeo-juliet-origina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772816"/>
            <a:ext cx="8208912" cy="461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95948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71414"/>
            <a:ext cx="8294399" cy="1643203"/>
          </a:xfrm>
          <a:ln/>
        </p:spPr>
        <p:txBody>
          <a:bodyPr tIns="35268">
            <a:noAutofit/>
          </a:bodyPr>
          <a:lstStyle/>
          <a:p>
            <a:pPr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150520" algn="l"/>
              </a:tabLst>
            </a:pPr>
            <a:r>
              <a:rPr lang="en-US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relationship between </a:t>
            </a:r>
            <a:br>
              <a:rPr lang="en-US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relevant pair of variables (signal) depends on other variables (noise)</a:t>
            </a:r>
          </a:p>
        </p:txBody>
      </p:sp>
      <p:pic>
        <p:nvPicPr>
          <p:cNvPr id="5" name="Picture 2" descr="http://sadworldmadworld.files.wordpress.com/2013/01/romeo-juliet-origina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772816"/>
            <a:ext cx="8208912" cy="461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26287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71414"/>
            <a:ext cx="8294399" cy="1643203"/>
          </a:xfrm>
          <a:ln/>
        </p:spPr>
        <p:txBody>
          <a:bodyPr tIns="35268">
            <a:noAutofit/>
          </a:bodyPr>
          <a:lstStyle/>
          <a:p>
            <a:pPr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150520" algn="l"/>
              </a:tabLst>
            </a:pPr>
            <a:r>
              <a:rPr lang="en-US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relationship between </a:t>
            </a:r>
            <a:br>
              <a:rPr lang="en-US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relevant pair of variables (signal) depends on other variables (noise)</a:t>
            </a:r>
          </a:p>
        </p:txBody>
      </p:sp>
      <p:pic>
        <p:nvPicPr>
          <p:cNvPr id="5" name="Picture 2" descr="http://sadworldmadworld.files.wordpress.com/2013/01/romeo-juliet-origina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772816"/>
            <a:ext cx="8208912" cy="461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e 1">
            <a:extLst>
              <a:ext uri="{FF2B5EF4-FFF2-40B4-BE49-F238E27FC236}">
                <a16:creationId xmlns:a16="http://schemas.microsoft.com/office/drawing/2014/main" id="{3ECA4DEE-466A-4457-A0C6-581803077707}"/>
              </a:ext>
            </a:extLst>
          </p:cNvPr>
          <p:cNvSpPr/>
          <p:nvPr/>
        </p:nvSpPr>
        <p:spPr>
          <a:xfrm>
            <a:off x="1210542" y="2023319"/>
            <a:ext cx="6866932" cy="4619406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Signal</a:t>
            </a:r>
            <a:r>
              <a:rPr lang="it-IT" sz="2400" b="1" dirty="0"/>
              <a:t> </a:t>
            </a:r>
            <a:r>
              <a:rPr lang="it-IT" sz="2400" dirty="0"/>
              <a:t>= </a:t>
            </a:r>
            <a:r>
              <a:rPr lang="it-IT" sz="2400" dirty="0" err="1"/>
              <a:t>what</a:t>
            </a:r>
            <a:r>
              <a:rPr lang="it-IT" sz="2400" dirty="0"/>
              <a:t> </a:t>
            </a:r>
            <a:r>
              <a:rPr lang="it-IT" sz="2400" dirty="0" err="1"/>
              <a:t>you</a:t>
            </a:r>
            <a:r>
              <a:rPr lang="it-IT" sz="2400" dirty="0"/>
              <a:t> are </a:t>
            </a:r>
            <a:r>
              <a:rPr lang="it-IT" sz="2400" dirty="0" err="1"/>
              <a:t>interested</a:t>
            </a:r>
            <a:r>
              <a:rPr lang="it-IT" sz="2400" dirty="0"/>
              <a:t> in (e.g., </a:t>
            </a:r>
            <a:r>
              <a:rPr lang="it-IT" sz="2400" dirty="0" err="1"/>
              <a:t>sensory</a:t>
            </a:r>
            <a:r>
              <a:rPr lang="it-IT" sz="2400" dirty="0"/>
              <a:t> </a:t>
            </a:r>
            <a:r>
              <a:rPr lang="it-IT" sz="2400" dirty="0" err="1"/>
              <a:t>stimulation</a:t>
            </a:r>
            <a:r>
              <a:rPr lang="it-IT" sz="2400" dirty="0"/>
              <a:t>)</a:t>
            </a:r>
          </a:p>
          <a:p>
            <a:pPr algn="ctr"/>
            <a:r>
              <a:rPr lang="it-IT" sz="2400" b="1" dirty="0" err="1"/>
              <a:t>Noise</a:t>
            </a:r>
            <a:r>
              <a:rPr lang="it-IT" sz="2400" b="1" dirty="0"/>
              <a:t> = </a:t>
            </a:r>
            <a:r>
              <a:rPr lang="it-IT" sz="2400" dirty="0" err="1"/>
              <a:t>everything</a:t>
            </a:r>
            <a:r>
              <a:rPr lang="it-IT" sz="2400" dirty="0"/>
              <a:t> else</a:t>
            </a:r>
          </a:p>
          <a:p>
            <a:pPr algn="ctr"/>
            <a:endParaRPr lang="it-IT" sz="2400" b="1" dirty="0"/>
          </a:p>
          <a:p>
            <a:pPr algn="ctr"/>
            <a:r>
              <a:rPr lang="it-IT" sz="2400" dirty="0"/>
              <a:t>In a smart </a:t>
            </a:r>
            <a:r>
              <a:rPr lang="it-IT" sz="2400" dirty="0" err="1"/>
              <a:t>experimental</a:t>
            </a:r>
            <a:r>
              <a:rPr lang="it-IT" sz="2400" dirty="0"/>
              <a:t> design, </a:t>
            </a:r>
            <a:r>
              <a:rPr lang="it-IT" sz="2400" dirty="0" err="1"/>
              <a:t>across</a:t>
            </a:r>
            <a:r>
              <a:rPr lang="it-IT" sz="2400" dirty="0"/>
              <a:t> </a:t>
            </a:r>
            <a:r>
              <a:rPr lang="it-IT" sz="2400" dirty="0" err="1"/>
              <a:t>different</a:t>
            </a:r>
            <a:r>
              <a:rPr lang="it-IT" sz="2400" dirty="0"/>
              <a:t> trials, </a:t>
            </a:r>
            <a:r>
              <a:rPr lang="it-IT" sz="2400" b="1" dirty="0"/>
              <a:t>the </a:t>
            </a:r>
            <a:r>
              <a:rPr lang="it-IT" sz="2400" b="1" dirty="0" err="1"/>
              <a:t>signal</a:t>
            </a:r>
            <a:r>
              <a:rPr lang="it-IT" sz="2400" b="1" dirty="0"/>
              <a:t> </a:t>
            </a:r>
            <a:r>
              <a:rPr lang="it-IT" sz="2400" b="1" dirty="0" err="1"/>
              <a:t>is</a:t>
            </a:r>
            <a:r>
              <a:rPr lang="it-IT" sz="2400" b="1" dirty="0"/>
              <a:t> the </a:t>
            </a:r>
            <a:r>
              <a:rPr lang="it-IT" sz="2400" b="1" dirty="0" err="1"/>
              <a:t>same</a:t>
            </a:r>
            <a:r>
              <a:rPr lang="it-IT" sz="2400" b="1" dirty="0"/>
              <a:t> </a:t>
            </a:r>
            <a:r>
              <a:rPr lang="it-IT" sz="2400" dirty="0"/>
              <a:t>and the </a:t>
            </a:r>
            <a:r>
              <a:rPr lang="it-IT" sz="2400" b="1" dirty="0" err="1"/>
              <a:t>noise</a:t>
            </a:r>
            <a:r>
              <a:rPr lang="it-IT" sz="2400" b="1" dirty="0"/>
              <a:t> </a:t>
            </a:r>
            <a:r>
              <a:rPr lang="it-IT" sz="2400" dirty="0" err="1"/>
              <a:t>you</a:t>
            </a:r>
            <a:r>
              <a:rPr lang="it-IT" sz="2400" dirty="0"/>
              <a:t> </a:t>
            </a:r>
            <a:r>
              <a:rPr lang="it-IT" sz="2400" dirty="0" err="1"/>
              <a:t>dont’know</a:t>
            </a:r>
            <a:r>
              <a:rPr lang="it-IT" sz="2400" dirty="0"/>
              <a:t>, </a:t>
            </a:r>
            <a:r>
              <a:rPr lang="it-IT" sz="2400" dirty="0" err="1"/>
              <a:t>but</a:t>
            </a:r>
            <a:r>
              <a:rPr lang="it-IT" sz="2400" dirty="0"/>
              <a:t> </a:t>
            </a:r>
            <a:r>
              <a:rPr lang="it-IT" sz="2400" dirty="0" err="1"/>
              <a:t>likely</a:t>
            </a:r>
            <a:r>
              <a:rPr lang="it-IT" sz="2400" dirty="0"/>
              <a:t> </a:t>
            </a:r>
            <a:r>
              <a:rPr lang="it-IT" sz="2400" dirty="0" err="1"/>
              <a:t>it</a:t>
            </a:r>
            <a:r>
              <a:rPr lang="it-IT" sz="2400" dirty="0"/>
              <a:t> </a:t>
            </a:r>
            <a:r>
              <a:rPr lang="it-IT" sz="2400" b="1" dirty="0" err="1"/>
              <a:t>is</a:t>
            </a:r>
            <a:r>
              <a:rPr lang="it-IT" sz="2400" b="1" dirty="0"/>
              <a:t> </a:t>
            </a:r>
            <a:r>
              <a:rPr lang="it-IT" sz="2400" b="1" dirty="0" err="1"/>
              <a:t>changing</a:t>
            </a:r>
            <a:r>
              <a:rPr lang="it-IT" sz="2400" b="1" dirty="0"/>
              <a:t>. 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6112928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273629"/>
            <a:ext cx="8226720" cy="1143480"/>
          </a:xfrm>
          <a:ln/>
        </p:spPr>
        <p:txBody>
          <a:bodyPr>
            <a:normAutofit/>
          </a:bodyPr>
          <a:lstStyle/>
          <a:p>
            <a:pPr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150520" algn="l"/>
              </a:tabLst>
            </a:pPr>
            <a:r>
              <a:rPr lang="it-IT" alt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  <a:r>
              <a:rPr lang="it-IT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alt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</a:t>
            </a:r>
            <a:r>
              <a:rPr lang="it-IT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alt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it-IT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alt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imply</a:t>
            </a:r>
            <a:r>
              <a:rPr lang="it-IT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alt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causation</a:t>
            </a:r>
            <a:endParaRPr lang="it-IT" altLang="it-IT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71472" y="2553356"/>
            <a:ext cx="1824480" cy="518454"/>
            <a:chOff x="4490" y="1224"/>
            <a:chExt cx="1267" cy="360"/>
          </a:xfrm>
        </p:grpSpPr>
        <p:sp>
          <p:nvSpPr>
            <p:cNvPr id="7172" name="Oval 4"/>
            <p:cNvSpPr>
              <a:spLocks noChangeArrowheads="1"/>
            </p:cNvSpPr>
            <p:nvPr/>
          </p:nvSpPr>
          <p:spPr bwMode="auto">
            <a:xfrm>
              <a:off x="4490" y="1225"/>
              <a:ext cx="360" cy="359"/>
            </a:xfrm>
            <a:prstGeom prst="ellipse">
              <a:avLst/>
            </a:prstGeom>
            <a:solidFill>
              <a:srgbClr val="CFE7F5"/>
            </a:solidFill>
            <a:ln w="9360" cap="sq">
              <a:solidFill>
                <a:srgbClr val="80808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173" name="Oval 5"/>
            <p:cNvSpPr>
              <a:spLocks noChangeArrowheads="1"/>
            </p:cNvSpPr>
            <p:nvPr/>
          </p:nvSpPr>
          <p:spPr bwMode="auto">
            <a:xfrm>
              <a:off x="5397" y="1224"/>
              <a:ext cx="360" cy="359"/>
            </a:xfrm>
            <a:prstGeom prst="ellipse">
              <a:avLst/>
            </a:prstGeom>
            <a:solidFill>
              <a:srgbClr val="FF3333"/>
            </a:solidFill>
            <a:ln w="9360" cap="sq">
              <a:solidFill>
                <a:srgbClr val="80808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174" name="Line 6"/>
            <p:cNvSpPr>
              <a:spLocks noChangeShapeType="1"/>
            </p:cNvSpPr>
            <p:nvPr/>
          </p:nvSpPr>
          <p:spPr bwMode="auto">
            <a:xfrm>
              <a:off x="4853" y="1405"/>
              <a:ext cx="541" cy="0"/>
            </a:xfrm>
            <a:prstGeom prst="line">
              <a:avLst/>
            </a:prstGeom>
            <a:noFill/>
            <a:ln w="36000" cap="sq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175" name="Oval 7"/>
          <p:cNvSpPr>
            <a:spLocks noChangeArrowheads="1"/>
          </p:cNvSpPr>
          <p:nvPr/>
        </p:nvSpPr>
        <p:spPr bwMode="auto">
          <a:xfrm>
            <a:off x="3529019" y="2514505"/>
            <a:ext cx="522720" cy="522775"/>
          </a:xfrm>
          <a:prstGeom prst="ellipse">
            <a:avLst/>
          </a:prstGeom>
          <a:solidFill>
            <a:srgbClr val="CFE7F5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76" name="Oval 8"/>
          <p:cNvSpPr>
            <a:spLocks noChangeArrowheads="1"/>
          </p:cNvSpPr>
          <p:nvPr/>
        </p:nvSpPr>
        <p:spPr bwMode="auto">
          <a:xfrm>
            <a:off x="4835098" y="2514505"/>
            <a:ext cx="522720" cy="522775"/>
          </a:xfrm>
          <a:prstGeom prst="ellipse">
            <a:avLst/>
          </a:prstGeom>
          <a:solidFill>
            <a:srgbClr val="FF3333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77" name="Line 9"/>
          <p:cNvSpPr>
            <a:spLocks noChangeShapeType="1"/>
          </p:cNvSpPr>
          <p:nvPr/>
        </p:nvSpPr>
        <p:spPr bwMode="auto">
          <a:xfrm>
            <a:off x="4051738" y="2776611"/>
            <a:ext cx="783360" cy="1441"/>
          </a:xfrm>
          <a:prstGeom prst="line">
            <a:avLst/>
          </a:prstGeom>
          <a:noFill/>
          <a:ln w="36000" cap="sq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it-IT"/>
          </a:p>
        </p:txBody>
      </p:sp>
      <p:sp>
        <p:nvSpPr>
          <p:cNvPr id="7178" name="Oval 10"/>
          <p:cNvSpPr>
            <a:spLocks noChangeArrowheads="1"/>
          </p:cNvSpPr>
          <p:nvPr/>
        </p:nvSpPr>
        <p:spPr bwMode="auto">
          <a:xfrm>
            <a:off x="6465601" y="2500306"/>
            <a:ext cx="522720" cy="522775"/>
          </a:xfrm>
          <a:prstGeom prst="ellipse">
            <a:avLst/>
          </a:prstGeom>
          <a:solidFill>
            <a:srgbClr val="CFE7F5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79" name="Oval 11"/>
          <p:cNvSpPr>
            <a:spLocks noChangeArrowheads="1"/>
          </p:cNvSpPr>
          <p:nvPr/>
        </p:nvSpPr>
        <p:spPr bwMode="auto">
          <a:xfrm>
            <a:off x="7771680" y="2500306"/>
            <a:ext cx="522720" cy="522775"/>
          </a:xfrm>
          <a:prstGeom prst="ellipse">
            <a:avLst/>
          </a:prstGeom>
          <a:solidFill>
            <a:srgbClr val="FF3333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80" name="Line 12"/>
          <p:cNvSpPr>
            <a:spLocks noChangeShapeType="1"/>
          </p:cNvSpPr>
          <p:nvPr/>
        </p:nvSpPr>
        <p:spPr bwMode="auto">
          <a:xfrm>
            <a:off x="6988320" y="2762413"/>
            <a:ext cx="783360" cy="1441"/>
          </a:xfrm>
          <a:prstGeom prst="line">
            <a:avLst/>
          </a:prstGeom>
          <a:noFill/>
          <a:ln w="36000" cap="sq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it-IT"/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718560" y="4147636"/>
            <a:ext cx="1791360" cy="2020533"/>
            <a:chOff x="499" y="2880"/>
            <a:chExt cx="1244" cy="1403"/>
          </a:xfrm>
        </p:grpSpPr>
        <p:sp>
          <p:nvSpPr>
            <p:cNvPr id="7182" name="Oval 14"/>
            <p:cNvSpPr>
              <a:spLocks noChangeArrowheads="1"/>
            </p:cNvSpPr>
            <p:nvPr/>
          </p:nvSpPr>
          <p:spPr bwMode="auto">
            <a:xfrm>
              <a:off x="499" y="3424"/>
              <a:ext cx="360" cy="360"/>
            </a:xfrm>
            <a:prstGeom prst="ellipse">
              <a:avLst/>
            </a:prstGeom>
            <a:solidFill>
              <a:srgbClr val="23FF23"/>
            </a:solidFill>
            <a:ln w="9360" cap="sq">
              <a:solidFill>
                <a:srgbClr val="80808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183" name="Oval 15"/>
            <p:cNvSpPr>
              <a:spLocks noChangeArrowheads="1"/>
            </p:cNvSpPr>
            <p:nvPr/>
          </p:nvSpPr>
          <p:spPr bwMode="auto">
            <a:xfrm>
              <a:off x="1383" y="2880"/>
              <a:ext cx="360" cy="360"/>
            </a:xfrm>
            <a:prstGeom prst="ellipse">
              <a:avLst/>
            </a:prstGeom>
            <a:solidFill>
              <a:srgbClr val="FF3333"/>
            </a:solidFill>
            <a:ln w="9360" cap="sq">
              <a:solidFill>
                <a:srgbClr val="80808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184" name="Line 16"/>
            <p:cNvSpPr>
              <a:spLocks noChangeShapeType="1"/>
            </p:cNvSpPr>
            <p:nvPr/>
          </p:nvSpPr>
          <p:spPr bwMode="auto">
            <a:xfrm flipV="1">
              <a:off x="862" y="3127"/>
              <a:ext cx="541" cy="411"/>
            </a:xfrm>
            <a:prstGeom prst="line">
              <a:avLst/>
            </a:prstGeom>
            <a:noFill/>
            <a:ln w="36000" cap="sq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7185" name="Oval 17"/>
            <p:cNvSpPr>
              <a:spLocks noChangeArrowheads="1"/>
            </p:cNvSpPr>
            <p:nvPr/>
          </p:nvSpPr>
          <p:spPr bwMode="auto">
            <a:xfrm>
              <a:off x="1383" y="3923"/>
              <a:ext cx="360" cy="360"/>
            </a:xfrm>
            <a:prstGeom prst="ellipse">
              <a:avLst/>
            </a:prstGeom>
            <a:solidFill>
              <a:srgbClr val="CCFFFF"/>
            </a:solidFill>
            <a:ln w="9360" cap="sq">
              <a:solidFill>
                <a:srgbClr val="80808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186" name="Line 18"/>
            <p:cNvSpPr>
              <a:spLocks noChangeShapeType="1"/>
            </p:cNvSpPr>
            <p:nvPr/>
          </p:nvSpPr>
          <p:spPr bwMode="auto">
            <a:xfrm>
              <a:off x="862" y="3674"/>
              <a:ext cx="518" cy="360"/>
            </a:xfrm>
            <a:prstGeom prst="line">
              <a:avLst/>
            </a:prstGeom>
            <a:noFill/>
            <a:ln w="36000" cap="sq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187" name="Oval 19"/>
          <p:cNvSpPr>
            <a:spLocks noChangeArrowheads="1"/>
          </p:cNvSpPr>
          <p:nvPr/>
        </p:nvSpPr>
        <p:spPr bwMode="auto">
          <a:xfrm>
            <a:off x="3562138" y="4931078"/>
            <a:ext cx="522720" cy="522775"/>
          </a:xfrm>
          <a:prstGeom prst="ellipse">
            <a:avLst/>
          </a:prstGeom>
          <a:solidFill>
            <a:srgbClr val="23FF23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88" name="Oval 20"/>
          <p:cNvSpPr>
            <a:spLocks noChangeArrowheads="1"/>
          </p:cNvSpPr>
          <p:nvPr/>
        </p:nvSpPr>
        <p:spPr bwMode="auto">
          <a:xfrm>
            <a:off x="4835098" y="4147636"/>
            <a:ext cx="522720" cy="522775"/>
          </a:xfrm>
          <a:prstGeom prst="ellipse">
            <a:avLst/>
          </a:prstGeom>
          <a:solidFill>
            <a:srgbClr val="FF3333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89" name="Line 21"/>
          <p:cNvSpPr>
            <a:spLocks noChangeShapeType="1"/>
          </p:cNvSpPr>
          <p:nvPr/>
        </p:nvSpPr>
        <p:spPr bwMode="auto">
          <a:xfrm flipV="1">
            <a:off x="4084858" y="4503353"/>
            <a:ext cx="783360" cy="596223"/>
          </a:xfrm>
          <a:prstGeom prst="line">
            <a:avLst/>
          </a:prstGeom>
          <a:noFill/>
          <a:ln w="36000" cap="sq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it-IT"/>
          </a:p>
        </p:txBody>
      </p:sp>
      <p:sp>
        <p:nvSpPr>
          <p:cNvPr id="7190" name="Oval 22"/>
          <p:cNvSpPr>
            <a:spLocks noChangeArrowheads="1"/>
          </p:cNvSpPr>
          <p:nvPr/>
        </p:nvSpPr>
        <p:spPr bwMode="auto">
          <a:xfrm>
            <a:off x="4835098" y="5649714"/>
            <a:ext cx="522720" cy="522774"/>
          </a:xfrm>
          <a:prstGeom prst="ellipse">
            <a:avLst/>
          </a:prstGeom>
          <a:solidFill>
            <a:srgbClr val="CCFFFF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91" name="Line 23"/>
          <p:cNvSpPr>
            <a:spLocks noChangeShapeType="1"/>
          </p:cNvSpPr>
          <p:nvPr/>
        </p:nvSpPr>
        <p:spPr bwMode="auto">
          <a:xfrm>
            <a:off x="4084858" y="5291116"/>
            <a:ext cx="750240" cy="522775"/>
          </a:xfrm>
          <a:prstGeom prst="line">
            <a:avLst/>
          </a:prstGeom>
          <a:noFill/>
          <a:ln w="36000" cap="sq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it-IT"/>
          </a:p>
        </p:txBody>
      </p:sp>
      <p:sp>
        <p:nvSpPr>
          <p:cNvPr id="7192" name="Oval 24"/>
          <p:cNvSpPr>
            <a:spLocks noChangeArrowheads="1"/>
          </p:cNvSpPr>
          <p:nvPr/>
        </p:nvSpPr>
        <p:spPr bwMode="auto">
          <a:xfrm>
            <a:off x="6419658" y="4931078"/>
            <a:ext cx="522720" cy="522775"/>
          </a:xfrm>
          <a:prstGeom prst="ellipse">
            <a:avLst/>
          </a:prstGeom>
          <a:solidFill>
            <a:srgbClr val="23FF23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93" name="Oval 25"/>
          <p:cNvSpPr>
            <a:spLocks noChangeArrowheads="1"/>
          </p:cNvSpPr>
          <p:nvPr/>
        </p:nvSpPr>
        <p:spPr bwMode="auto">
          <a:xfrm>
            <a:off x="7692618" y="4147636"/>
            <a:ext cx="522720" cy="522775"/>
          </a:xfrm>
          <a:prstGeom prst="ellipse">
            <a:avLst/>
          </a:prstGeom>
          <a:solidFill>
            <a:srgbClr val="FF3333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94" name="Line 26"/>
          <p:cNvSpPr>
            <a:spLocks noChangeShapeType="1"/>
          </p:cNvSpPr>
          <p:nvPr/>
        </p:nvSpPr>
        <p:spPr bwMode="auto">
          <a:xfrm flipV="1">
            <a:off x="6942377" y="4503353"/>
            <a:ext cx="783360" cy="596223"/>
          </a:xfrm>
          <a:prstGeom prst="line">
            <a:avLst/>
          </a:prstGeom>
          <a:noFill/>
          <a:ln w="36000" cap="sq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it-IT"/>
          </a:p>
        </p:txBody>
      </p:sp>
      <p:sp>
        <p:nvSpPr>
          <p:cNvPr id="7195" name="Oval 27"/>
          <p:cNvSpPr>
            <a:spLocks noChangeArrowheads="1"/>
          </p:cNvSpPr>
          <p:nvPr/>
        </p:nvSpPr>
        <p:spPr bwMode="auto">
          <a:xfrm>
            <a:off x="7692618" y="5649714"/>
            <a:ext cx="522720" cy="522774"/>
          </a:xfrm>
          <a:prstGeom prst="ellipse">
            <a:avLst/>
          </a:prstGeom>
          <a:solidFill>
            <a:srgbClr val="CCFFFF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96" name="Line 28"/>
          <p:cNvSpPr>
            <a:spLocks noChangeShapeType="1"/>
          </p:cNvSpPr>
          <p:nvPr/>
        </p:nvSpPr>
        <p:spPr bwMode="auto">
          <a:xfrm>
            <a:off x="6942378" y="5291116"/>
            <a:ext cx="750240" cy="522775"/>
          </a:xfrm>
          <a:prstGeom prst="line">
            <a:avLst/>
          </a:prstGeom>
          <a:noFill/>
          <a:ln w="36000" cap="sq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it-IT"/>
          </a:p>
        </p:txBody>
      </p:sp>
      <p:sp>
        <p:nvSpPr>
          <p:cNvPr id="7197" name="Text Box 29"/>
          <p:cNvSpPr txBox="1">
            <a:spLocks noChangeArrowheads="1"/>
          </p:cNvSpPr>
          <p:nvPr/>
        </p:nvSpPr>
        <p:spPr bwMode="auto">
          <a:xfrm>
            <a:off x="7143768" y="6357958"/>
            <a:ext cx="1632960" cy="31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39" tIns="40820" rIns="81639" bIns="4082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it-IT" altLang="it-IT" dirty="0" err="1"/>
              <a:t>Etc</a:t>
            </a:r>
            <a:r>
              <a:rPr lang="it-IT" altLang="it-IT" dirty="0"/>
              <a:t> </a:t>
            </a:r>
            <a:r>
              <a:rPr lang="it-IT" altLang="it-IT" dirty="0" err="1"/>
              <a:t>etc</a:t>
            </a:r>
            <a:r>
              <a:rPr lang="it-IT" altLang="it-IT" dirty="0"/>
              <a:t> </a:t>
            </a:r>
            <a:r>
              <a:rPr lang="it-IT" altLang="it-IT" dirty="0" err="1"/>
              <a:t>etc</a:t>
            </a:r>
            <a:endParaRPr lang="it-IT" altLang="it-IT" dirty="0"/>
          </a:p>
        </p:txBody>
      </p:sp>
    </p:spTree>
    <p:extLst>
      <p:ext uri="{BB962C8B-B14F-4D97-AF65-F5344CB8AC3E}">
        <p14:creationId xmlns:p14="http://schemas.microsoft.com/office/powerpoint/2010/main" val="363050789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Grp="1" noChangeArrowheads="1"/>
          </p:cNvSpPr>
          <p:nvPr>
            <p:ph type="title"/>
          </p:nvPr>
        </p:nvSpPr>
        <p:spPr>
          <a:xfrm>
            <a:off x="456481" y="273629"/>
            <a:ext cx="8226720" cy="1143480"/>
          </a:xfrm>
          <a:ln/>
        </p:spPr>
        <p:txBody>
          <a:bodyPr>
            <a:normAutofit/>
          </a:bodyPr>
          <a:lstStyle/>
          <a:p>
            <a:pPr>
              <a:tabLst>
                <a:tab pos="0" algn="l"/>
                <a:tab pos="406086" algn="l"/>
                <a:tab pos="813612" algn="l"/>
                <a:tab pos="1221138" algn="l"/>
                <a:tab pos="1628664" algn="l"/>
                <a:tab pos="2036190" algn="l"/>
                <a:tab pos="2443717" algn="l"/>
                <a:tab pos="2851242" algn="l"/>
                <a:tab pos="3258769" algn="l"/>
                <a:tab pos="3666294" algn="l"/>
                <a:tab pos="4073821" algn="l"/>
                <a:tab pos="4481346" algn="l"/>
                <a:tab pos="4888873" algn="l"/>
                <a:tab pos="5296398" algn="l"/>
                <a:tab pos="5703925" algn="l"/>
                <a:tab pos="6111450" algn="l"/>
                <a:tab pos="6518977" algn="l"/>
                <a:tab pos="6926502" algn="l"/>
                <a:tab pos="7334029" algn="l"/>
                <a:tab pos="7741554" algn="l"/>
                <a:tab pos="8149081" algn="l"/>
                <a:tab pos="8150520" algn="l"/>
              </a:tabLst>
            </a:pPr>
            <a:r>
              <a:rPr lang="it-IT" alt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</a:t>
            </a:r>
            <a:r>
              <a:rPr lang="it-IT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alt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does</a:t>
            </a:r>
            <a:r>
              <a:rPr lang="it-IT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alt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it-IT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alt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imply</a:t>
            </a:r>
            <a:r>
              <a:rPr lang="it-IT" altLang="it-IT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altLang="it-IT" sz="32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causation</a:t>
            </a:r>
            <a:endParaRPr lang="it-IT" altLang="it-IT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71472" y="2553356"/>
            <a:ext cx="1824480" cy="518454"/>
            <a:chOff x="4490" y="1224"/>
            <a:chExt cx="1267" cy="360"/>
          </a:xfrm>
        </p:grpSpPr>
        <p:sp>
          <p:nvSpPr>
            <p:cNvPr id="7172" name="Oval 4"/>
            <p:cNvSpPr>
              <a:spLocks noChangeArrowheads="1"/>
            </p:cNvSpPr>
            <p:nvPr/>
          </p:nvSpPr>
          <p:spPr bwMode="auto">
            <a:xfrm>
              <a:off x="4490" y="1225"/>
              <a:ext cx="360" cy="359"/>
            </a:xfrm>
            <a:prstGeom prst="ellipse">
              <a:avLst/>
            </a:prstGeom>
            <a:solidFill>
              <a:srgbClr val="CFE7F5"/>
            </a:solidFill>
            <a:ln w="9360" cap="sq">
              <a:solidFill>
                <a:srgbClr val="80808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173" name="Oval 5"/>
            <p:cNvSpPr>
              <a:spLocks noChangeArrowheads="1"/>
            </p:cNvSpPr>
            <p:nvPr/>
          </p:nvSpPr>
          <p:spPr bwMode="auto">
            <a:xfrm>
              <a:off x="5397" y="1224"/>
              <a:ext cx="360" cy="359"/>
            </a:xfrm>
            <a:prstGeom prst="ellipse">
              <a:avLst/>
            </a:prstGeom>
            <a:solidFill>
              <a:srgbClr val="FF3333"/>
            </a:solidFill>
            <a:ln w="9360" cap="sq">
              <a:solidFill>
                <a:srgbClr val="80808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174" name="Line 6"/>
            <p:cNvSpPr>
              <a:spLocks noChangeShapeType="1"/>
            </p:cNvSpPr>
            <p:nvPr/>
          </p:nvSpPr>
          <p:spPr bwMode="auto">
            <a:xfrm>
              <a:off x="4853" y="1405"/>
              <a:ext cx="541" cy="0"/>
            </a:xfrm>
            <a:prstGeom prst="line">
              <a:avLst/>
            </a:prstGeom>
            <a:noFill/>
            <a:ln w="36000" cap="sq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175" name="Oval 7"/>
          <p:cNvSpPr>
            <a:spLocks noChangeArrowheads="1"/>
          </p:cNvSpPr>
          <p:nvPr/>
        </p:nvSpPr>
        <p:spPr bwMode="auto">
          <a:xfrm>
            <a:off x="3529019" y="2514505"/>
            <a:ext cx="522720" cy="522775"/>
          </a:xfrm>
          <a:prstGeom prst="ellipse">
            <a:avLst/>
          </a:prstGeom>
          <a:solidFill>
            <a:srgbClr val="CFE7F5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76" name="Oval 8"/>
          <p:cNvSpPr>
            <a:spLocks noChangeArrowheads="1"/>
          </p:cNvSpPr>
          <p:nvPr/>
        </p:nvSpPr>
        <p:spPr bwMode="auto">
          <a:xfrm>
            <a:off x="4835098" y="2514505"/>
            <a:ext cx="522720" cy="522775"/>
          </a:xfrm>
          <a:prstGeom prst="ellipse">
            <a:avLst/>
          </a:prstGeom>
          <a:solidFill>
            <a:srgbClr val="FF3333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77" name="Line 9"/>
          <p:cNvSpPr>
            <a:spLocks noChangeShapeType="1"/>
          </p:cNvSpPr>
          <p:nvPr/>
        </p:nvSpPr>
        <p:spPr bwMode="auto">
          <a:xfrm>
            <a:off x="4051738" y="2776611"/>
            <a:ext cx="783360" cy="1441"/>
          </a:xfrm>
          <a:prstGeom prst="line">
            <a:avLst/>
          </a:prstGeom>
          <a:noFill/>
          <a:ln w="36000" cap="sq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it-IT"/>
          </a:p>
        </p:txBody>
      </p:sp>
      <p:sp>
        <p:nvSpPr>
          <p:cNvPr id="7178" name="Oval 10"/>
          <p:cNvSpPr>
            <a:spLocks noChangeArrowheads="1"/>
          </p:cNvSpPr>
          <p:nvPr/>
        </p:nvSpPr>
        <p:spPr bwMode="auto">
          <a:xfrm>
            <a:off x="6465601" y="2500306"/>
            <a:ext cx="522720" cy="522775"/>
          </a:xfrm>
          <a:prstGeom prst="ellipse">
            <a:avLst/>
          </a:prstGeom>
          <a:solidFill>
            <a:srgbClr val="CFE7F5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79" name="Oval 11"/>
          <p:cNvSpPr>
            <a:spLocks noChangeArrowheads="1"/>
          </p:cNvSpPr>
          <p:nvPr/>
        </p:nvSpPr>
        <p:spPr bwMode="auto">
          <a:xfrm>
            <a:off x="7771680" y="2500306"/>
            <a:ext cx="522720" cy="522775"/>
          </a:xfrm>
          <a:prstGeom prst="ellipse">
            <a:avLst/>
          </a:prstGeom>
          <a:solidFill>
            <a:srgbClr val="FF3333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80" name="Line 12"/>
          <p:cNvSpPr>
            <a:spLocks noChangeShapeType="1"/>
          </p:cNvSpPr>
          <p:nvPr/>
        </p:nvSpPr>
        <p:spPr bwMode="auto">
          <a:xfrm>
            <a:off x="6988320" y="2762413"/>
            <a:ext cx="783360" cy="1441"/>
          </a:xfrm>
          <a:prstGeom prst="line">
            <a:avLst/>
          </a:prstGeom>
          <a:noFill/>
          <a:ln w="36000" cap="sq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it-IT"/>
          </a:p>
        </p:txBody>
      </p: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718560" y="4147636"/>
            <a:ext cx="1791360" cy="2020533"/>
            <a:chOff x="499" y="2880"/>
            <a:chExt cx="1244" cy="1403"/>
          </a:xfrm>
        </p:grpSpPr>
        <p:sp>
          <p:nvSpPr>
            <p:cNvPr id="7182" name="Oval 14"/>
            <p:cNvSpPr>
              <a:spLocks noChangeArrowheads="1"/>
            </p:cNvSpPr>
            <p:nvPr/>
          </p:nvSpPr>
          <p:spPr bwMode="auto">
            <a:xfrm>
              <a:off x="499" y="3424"/>
              <a:ext cx="360" cy="360"/>
            </a:xfrm>
            <a:prstGeom prst="ellipse">
              <a:avLst/>
            </a:prstGeom>
            <a:solidFill>
              <a:srgbClr val="23FF23"/>
            </a:solidFill>
            <a:ln w="9360" cap="sq">
              <a:solidFill>
                <a:srgbClr val="80808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183" name="Oval 15"/>
            <p:cNvSpPr>
              <a:spLocks noChangeArrowheads="1"/>
            </p:cNvSpPr>
            <p:nvPr/>
          </p:nvSpPr>
          <p:spPr bwMode="auto">
            <a:xfrm>
              <a:off x="1383" y="2880"/>
              <a:ext cx="360" cy="360"/>
            </a:xfrm>
            <a:prstGeom prst="ellipse">
              <a:avLst/>
            </a:prstGeom>
            <a:solidFill>
              <a:srgbClr val="FF3333"/>
            </a:solidFill>
            <a:ln w="9360" cap="sq">
              <a:solidFill>
                <a:srgbClr val="80808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184" name="Line 16"/>
            <p:cNvSpPr>
              <a:spLocks noChangeShapeType="1"/>
            </p:cNvSpPr>
            <p:nvPr/>
          </p:nvSpPr>
          <p:spPr bwMode="auto">
            <a:xfrm flipV="1">
              <a:off x="862" y="3127"/>
              <a:ext cx="541" cy="411"/>
            </a:xfrm>
            <a:prstGeom prst="line">
              <a:avLst/>
            </a:prstGeom>
            <a:noFill/>
            <a:ln w="36000" cap="sq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7185" name="Oval 17"/>
            <p:cNvSpPr>
              <a:spLocks noChangeArrowheads="1"/>
            </p:cNvSpPr>
            <p:nvPr/>
          </p:nvSpPr>
          <p:spPr bwMode="auto">
            <a:xfrm>
              <a:off x="1383" y="3923"/>
              <a:ext cx="360" cy="360"/>
            </a:xfrm>
            <a:prstGeom prst="ellipse">
              <a:avLst/>
            </a:prstGeom>
            <a:solidFill>
              <a:srgbClr val="CCFFFF"/>
            </a:solidFill>
            <a:ln w="9360" cap="sq">
              <a:solidFill>
                <a:srgbClr val="80808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7186" name="Line 18"/>
            <p:cNvSpPr>
              <a:spLocks noChangeShapeType="1"/>
            </p:cNvSpPr>
            <p:nvPr/>
          </p:nvSpPr>
          <p:spPr bwMode="auto">
            <a:xfrm>
              <a:off x="862" y="3674"/>
              <a:ext cx="518" cy="360"/>
            </a:xfrm>
            <a:prstGeom prst="line">
              <a:avLst/>
            </a:prstGeom>
            <a:noFill/>
            <a:ln w="36000" cap="sq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7187" name="Oval 19"/>
          <p:cNvSpPr>
            <a:spLocks noChangeArrowheads="1"/>
          </p:cNvSpPr>
          <p:nvPr/>
        </p:nvSpPr>
        <p:spPr bwMode="auto">
          <a:xfrm>
            <a:off x="3562138" y="4931078"/>
            <a:ext cx="522720" cy="522775"/>
          </a:xfrm>
          <a:prstGeom prst="ellipse">
            <a:avLst/>
          </a:prstGeom>
          <a:solidFill>
            <a:srgbClr val="23FF23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88" name="Oval 20"/>
          <p:cNvSpPr>
            <a:spLocks noChangeArrowheads="1"/>
          </p:cNvSpPr>
          <p:nvPr/>
        </p:nvSpPr>
        <p:spPr bwMode="auto">
          <a:xfrm>
            <a:off x="4835098" y="4147636"/>
            <a:ext cx="522720" cy="522775"/>
          </a:xfrm>
          <a:prstGeom prst="ellipse">
            <a:avLst/>
          </a:prstGeom>
          <a:solidFill>
            <a:srgbClr val="FF3333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89" name="Line 21"/>
          <p:cNvSpPr>
            <a:spLocks noChangeShapeType="1"/>
          </p:cNvSpPr>
          <p:nvPr/>
        </p:nvSpPr>
        <p:spPr bwMode="auto">
          <a:xfrm flipV="1">
            <a:off x="4084858" y="4503353"/>
            <a:ext cx="783360" cy="596223"/>
          </a:xfrm>
          <a:prstGeom prst="line">
            <a:avLst/>
          </a:prstGeom>
          <a:noFill/>
          <a:ln w="36000" cap="sq">
            <a:solidFill>
              <a:srgbClr val="00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it-IT"/>
          </a:p>
        </p:txBody>
      </p:sp>
      <p:sp>
        <p:nvSpPr>
          <p:cNvPr id="7190" name="Oval 22"/>
          <p:cNvSpPr>
            <a:spLocks noChangeArrowheads="1"/>
          </p:cNvSpPr>
          <p:nvPr/>
        </p:nvSpPr>
        <p:spPr bwMode="auto">
          <a:xfrm>
            <a:off x="4835098" y="5649714"/>
            <a:ext cx="522720" cy="522774"/>
          </a:xfrm>
          <a:prstGeom prst="ellipse">
            <a:avLst/>
          </a:prstGeom>
          <a:solidFill>
            <a:srgbClr val="CCFFFF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91" name="Line 23"/>
          <p:cNvSpPr>
            <a:spLocks noChangeShapeType="1"/>
          </p:cNvSpPr>
          <p:nvPr/>
        </p:nvSpPr>
        <p:spPr bwMode="auto">
          <a:xfrm>
            <a:off x="4084858" y="5291116"/>
            <a:ext cx="750240" cy="522775"/>
          </a:xfrm>
          <a:prstGeom prst="line">
            <a:avLst/>
          </a:prstGeom>
          <a:noFill/>
          <a:ln w="36000" cap="sq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it-IT"/>
          </a:p>
        </p:txBody>
      </p:sp>
      <p:sp>
        <p:nvSpPr>
          <p:cNvPr id="7192" name="Oval 24"/>
          <p:cNvSpPr>
            <a:spLocks noChangeArrowheads="1"/>
          </p:cNvSpPr>
          <p:nvPr/>
        </p:nvSpPr>
        <p:spPr bwMode="auto">
          <a:xfrm>
            <a:off x="6419658" y="4931078"/>
            <a:ext cx="522720" cy="522775"/>
          </a:xfrm>
          <a:prstGeom prst="ellipse">
            <a:avLst/>
          </a:prstGeom>
          <a:solidFill>
            <a:srgbClr val="23FF23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93" name="Oval 25"/>
          <p:cNvSpPr>
            <a:spLocks noChangeArrowheads="1"/>
          </p:cNvSpPr>
          <p:nvPr/>
        </p:nvSpPr>
        <p:spPr bwMode="auto">
          <a:xfrm>
            <a:off x="7692618" y="4147636"/>
            <a:ext cx="522720" cy="522775"/>
          </a:xfrm>
          <a:prstGeom prst="ellipse">
            <a:avLst/>
          </a:prstGeom>
          <a:solidFill>
            <a:srgbClr val="FF3333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94" name="Line 26"/>
          <p:cNvSpPr>
            <a:spLocks noChangeShapeType="1"/>
          </p:cNvSpPr>
          <p:nvPr/>
        </p:nvSpPr>
        <p:spPr bwMode="auto">
          <a:xfrm flipV="1">
            <a:off x="6942377" y="4503353"/>
            <a:ext cx="783360" cy="596223"/>
          </a:xfrm>
          <a:prstGeom prst="line">
            <a:avLst/>
          </a:prstGeom>
          <a:noFill/>
          <a:ln w="36000" cap="sq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it-IT"/>
          </a:p>
        </p:txBody>
      </p:sp>
      <p:sp>
        <p:nvSpPr>
          <p:cNvPr id="7195" name="Oval 27"/>
          <p:cNvSpPr>
            <a:spLocks noChangeArrowheads="1"/>
          </p:cNvSpPr>
          <p:nvPr/>
        </p:nvSpPr>
        <p:spPr bwMode="auto">
          <a:xfrm>
            <a:off x="7692618" y="5649714"/>
            <a:ext cx="522720" cy="522774"/>
          </a:xfrm>
          <a:prstGeom prst="ellipse">
            <a:avLst/>
          </a:prstGeom>
          <a:solidFill>
            <a:srgbClr val="CCFFFF"/>
          </a:solidFill>
          <a:ln w="9360" cap="sq">
            <a:solidFill>
              <a:srgbClr val="80808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2945" tIns="41473" rIns="82945" bIns="41473" anchor="ctr"/>
          <a:lstStyle/>
          <a:p>
            <a:endParaRPr lang="it-IT"/>
          </a:p>
        </p:txBody>
      </p:sp>
      <p:sp>
        <p:nvSpPr>
          <p:cNvPr id="7196" name="Line 28"/>
          <p:cNvSpPr>
            <a:spLocks noChangeShapeType="1"/>
          </p:cNvSpPr>
          <p:nvPr/>
        </p:nvSpPr>
        <p:spPr bwMode="auto">
          <a:xfrm>
            <a:off x="6942378" y="5291116"/>
            <a:ext cx="750240" cy="522775"/>
          </a:xfrm>
          <a:prstGeom prst="line">
            <a:avLst/>
          </a:prstGeom>
          <a:noFill/>
          <a:ln w="36000" cap="sq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it-IT"/>
          </a:p>
        </p:txBody>
      </p:sp>
      <p:sp>
        <p:nvSpPr>
          <p:cNvPr id="7197" name="Text Box 29"/>
          <p:cNvSpPr txBox="1">
            <a:spLocks noChangeArrowheads="1"/>
          </p:cNvSpPr>
          <p:nvPr/>
        </p:nvSpPr>
        <p:spPr bwMode="auto">
          <a:xfrm>
            <a:off x="7143768" y="6357958"/>
            <a:ext cx="1632960" cy="312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1639" tIns="40820" rIns="81639" bIns="40820"/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5pPr>
            <a:lvl6pPr marL="25146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6pPr>
            <a:lvl7pPr marL="29718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7pPr>
            <a:lvl8pPr marL="34290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8pPr>
            <a:lvl9pPr marL="3886200" indent="-228600" defTabSz="449263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000000"/>
                </a:solidFill>
                <a:latin typeface="Arial" charset="0"/>
                <a:cs typeface="Arial Unicode MS" charset="0"/>
              </a:defRPr>
            </a:lvl9pPr>
          </a:lstStyle>
          <a:p>
            <a:pPr>
              <a:buClrTx/>
              <a:buFontTx/>
              <a:buNone/>
            </a:pPr>
            <a:r>
              <a:rPr lang="it-IT" altLang="it-IT" dirty="0" err="1"/>
              <a:t>Etc</a:t>
            </a:r>
            <a:r>
              <a:rPr lang="it-IT" altLang="it-IT" dirty="0"/>
              <a:t> </a:t>
            </a:r>
            <a:r>
              <a:rPr lang="it-IT" altLang="it-IT" dirty="0" err="1"/>
              <a:t>etc</a:t>
            </a:r>
            <a:r>
              <a:rPr lang="it-IT" altLang="it-IT" dirty="0"/>
              <a:t> </a:t>
            </a:r>
            <a:r>
              <a:rPr lang="it-IT" altLang="it-IT" dirty="0" err="1"/>
              <a:t>etc</a:t>
            </a:r>
            <a:endParaRPr lang="it-IT" altLang="it-IT" dirty="0"/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6605BC29-31A4-4EF2-8E51-27D2726AFA67}"/>
              </a:ext>
            </a:extLst>
          </p:cNvPr>
          <p:cNvSpPr/>
          <p:nvPr/>
        </p:nvSpPr>
        <p:spPr>
          <a:xfrm>
            <a:off x="2843808" y="2204864"/>
            <a:ext cx="3600400" cy="4009404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Correlation</a:t>
            </a:r>
            <a:r>
              <a:rPr lang="it-IT" sz="2400" b="1" dirty="0"/>
              <a:t> can </a:t>
            </a:r>
            <a:r>
              <a:rPr lang="it-IT" sz="2400" b="1" dirty="0" err="1"/>
              <a:t>arise</a:t>
            </a:r>
            <a:r>
              <a:rPr lang="it-IT" sz="2400" b="1" dirty="0"/>
              <a:t> from </a:t>
            </a:r>
            <a:r>
              <a:rPr lang="it-IT" sz="2400" b="1" dirty="0" err="1"/>
              <a:t>bidirectional</a:t>
            </a:r>
            <a:r>
              <a:rPr lang="it-IT" sz="2400" b="1" dirty="0"/>
              <a:t> and </a:t>
            </a:r>
            <a:r>
              <a:rPr lang="it-IT" sz="2400" b="1" dirty="0" err="1"/>
              <a:t>unidirectional</a:t>
            </a:r>
            <a:r>
              <a:rPr lang="it-IT" sz="2400" b="1" dirty="0"/>
              <a:t> links</a:t>
            </a:r>
          </a:p>
          <a:p>
            <a:pPr algn="ctr"/>
            <a:endParaRPr lang="it-IT" sz="2400" b="1" dirty="0"/>
          </a:p>
          <a:p>
            <a:pPr algn="ctr"/>
            <a:r>
              <a:rPr lang="it-IT" sz="2400" b="1" dirty="0" err="1"/>
              <a:t>Correlation</a:t>
            </a:r>
            <a:r>
              <a:rPr lang="it-IT" sz="2400" b="1" dirty="0"/>
              <a:t> can be </a:t>
            </a:r>
            <a:r>
              <a:rPr lang="it-IT" sz="2400" b="1" dirty="0" err="1"/>
              <a:t>direct</a:t>
            </a:r>
            <a:r>
              <a:rPr lang="it-IT" sz="2400" b="1" dirty="0"/>
              <a:t> or </a:t>
            </a:r>
            <a:r>
              <a:rPr lang="it-IT" sz="2400" b="1" dirty="0" err="1"/>
              <a:t>mediated</a:t>
            </a:r>
            <a:r>
              <a:rPr lang="it-IT" sz="2400" b="1" dirty="0"/>
              <a:t> 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291698009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105218"/>
            <a:ext cx="8458200" cy="752014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deal with these problems? 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llaDiTesto 1"/>
              <p:cNvSpPr txBox="1"/>
              <p:nvPr/>
            </p:nvSpPr>
            <p:spPr>
              <a:xfrm>
                <a:off x="98464" y="2924944"/>
                <a:ext cx="8947071" cy="3313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800" b="0" i="1" smtClean="0">
                          <a:latin typeface="Cambria Math"/>
                        </a:rPr>
                        <m:t>𝑐𝑜𝑟𝑟</m:t>
                      </m:r>
                      <m:d>
                        <m:dPr>
                          <m:ctrlPr>
                            <a:rPr lang="it-IT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4800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it-IT" sz="4800" b="0" i="1" smtClean="0">
                              <a:latin typeface="Cambria Math"/>
                            </a:rPr>
                            <m:t>,</m:t>
                          </m:r>
                          <m:r>
                            <a:rPr lang="it-IT" sz="48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it-IT" sz="4800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800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it-IT" sz="4800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it-IT" sz="4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it-IT" sz="4800" b="0" i="1" smtClean="0">
                                  <a:latin typeface="Cambria Math"/>
                                </a:rPr>
                                <m:t>𝑡</m:t>
                              </m:r>
                            </m:sub>
                            <m:sup/>
                            <m:e>
                              <m:r>
                                <a:rPr lang="it-IT" sz="4800" b="0" i="1" smtClean="0">
                                  <a:latin typeface="Cambria Math"/>
                                </a:rPr>
                                <m:t>(</m:t>
                              </m:r>
                              <m:d>
                                <m:dPr>
                                  <m:ctrlPr>
                                    <a:rPr lang="it-IT" sz="4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4800" b="0" i="1" smtClean="0">
                                      <a:latin typeface="Cambria Math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it-IT" sz="4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it-IT" sz="4800" b="0" i="1" smtClean="0">
                                      <a:latin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it-IT" sz="4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it-IT" sz="4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4800" b="0" i="1" smtClean="0">
                                      <a:latin typeface="Cambria Math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it-IT" sz="4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it-IT" sz="4800" i="1">
                                      <a:latin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it-IT" sz="4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it-IT" sz="48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it-IT" sz="48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it-IT" sz="4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it-IT" sz="4800" b="0" i="1" smtClean="0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it-IT" sz="4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  <m:d>
                                        <m:dPr>
                                          <m:ctrlPr>
                                            <a:rPr lang="it-IT" sz="4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it-IT" sz="4800" b="0" i="1" smtClean="0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it-IT" sz="4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it-IT" sz="4800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it-IT" sz="4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it-IT" sz="4800" i="1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it-IT" sz="4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it-IT" sz="4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it-IT" sz="4800" i="1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it-IT" sz="4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it-IT" sz="4800" b="0" i="1" smtClean="0">
                                              <a:latin typeface="Cambria Math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it-IT" sz="4800" dirty="0"/>
              </a:p>
            </p:txBody>
          </p:sp>
        </mc:Choice>
        <mc:Fallback xmlns="">
          <p:sp>
            <p:nvSpPr>
              <p:cNvPr id="2" name="CasellaDiTesto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64" y="2924944"/>
                <a:ext cx="8947071" cy="33132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sellaDiTesto 3"/>
          <p:cNvSpPr txBox="1"/>
          <p:nvPr/>
        </p:nvSpPr>
        <p:spPr>
          <a:xfrm>
            <a:off x="642909" y="936980"/>
            <a:ext cx="78581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First, turn the two variables into a “time series” and estimate the linear correlation.</a:t>
            </a:r>
          </a:p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Time series do not need to track the evolution in time necessarily. It can be any series of states.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7758562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/>
              <p:cNvSpPr txBox="1"/>
              <p:nvPr/>
            </p:nvSpPr>
            <p:spPr>
              <a:xfrm>
                <a:off x="17417" y="1556792"/>
                <a:ext cx="8947071" cy="3313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800" b="0" i="1" smtClean="0">
                          <a:latin typeface="Cambria Math"/>
                        </a:rPr>
                        <m:t>𝑐𝑜𝑟𝑟</m:t>
                      </m:r>
                      <m:d>
                        <m:dPr>
                          <m:ctrlPr>
                            <a:rPr lang="it-IT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4800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it-IT" sz="4800" b="0" i="1" smtClean="0">
                              <a:latin typeface="Cambria Math"/>
                            </a:rPr>
                            <m:t>,</m:t>
                          </m:r>
                          <m:r>
                            <a:rPr lang="it-IT" sz="4800" b="0" i="1" smtClean="0">
                              <a:latin typeface="Cambria Math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it-IT" sz="4800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800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it-IT" sz="4800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it-IT" sz="4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it-IT" sz="4800" b="0" i="1" smtClean="0">
                                  <a:latin typeface="Cambria Math"/>
                                </a:rPr>
                                <m:t>𝑡</m:t>
                              </m:r>
                            </m:sub>
                            <m:sup/>
                            <m:e>
                              <m:r>
                                <a:rPr lang="it-IT" sz="4800" b="0" i="1" smtClean="0">
                                  <a:latin typeface="Cambria Math"/>
                                </a:rPr>
                                <m:t>(</m:t>
                              </m:r>
                              <m:d>
                                <m:dPr>
                                  <m:ctrlPr>
                                    <a:rPr lang="it-IT" sz="4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4800" b="0" i="1" smtClean="0">
                                      <a:latin typeface="Cambria Math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it-IT" sz="4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it-IT" sz="4800" b="0" i="1" smtClean="0">
                                      <a:latin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it-IT" sz="4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it-IT" sz="4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4800" b="0" i="1" smtClean="0">
                                      <a:latin typeface="Cambria Math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it-IT" sz="4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it-IT" sz="4800" i="1">
                                      <a:latin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it-IT" sz="4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it-IT" sz="48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it-IT" sz="48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it-IT" sz="4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it-IT" sz="4800" b="0" i="1" smtClean="0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it-IT" sz="4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  <m:d>
                                        <m:dPr>
                                          <m:ctrlPr>
                                            <a:rPr lang="it-IT" sz="4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it-IT" sz="4800" b="0" i="1" smtClean="0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it-IT" sz="4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it-IT" sz="4800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it-IT" sz="4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it-IT" sz="4800" i="1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it-IT" sz="4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it-IT" sz="4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it-IT" sz="4800" i="1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it-IT" sz="4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it-IT" sz="4800" b="0" i="1" smtClean="0">
                                              <a:latin typeface="Cambria Math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it-IT" sz="4800" dirty="0"/>
              </a:p>
            </p:txBody>
          </p:sp>
        </mc:Choice>
        <mc:Fallback xmlns="">
          <p:sp>
            <p:nvSpPr>
              <p:cNvPr id="11" name="CasellaDiTesto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7" y="1556792"/>
                <a:ext cx="8947071" cy="331321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0"/>
            <a:ext cx="8458200" cy="752014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Estimating the linear correlation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971601" y="4005063"/>
            <a:ext cx="3744416" cy="1008113"/>
          </a:xfrm>
          <a:prstGeom prst="rect">
            <a:avLst/>
          </a:prstGeom>
          <a:noFill/>
          <a:ln w="108000" cap="sq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 altLang="it-IT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419872" y="5641017"/>
            <a:ext cx="3671887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1pPr>
            <a:lvl2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2pPr>
            <a:lvl3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3pPr>
            <a:lvl4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4pPr>
            <a:lvl5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9pPr>
          </a:lstStyle>
          <a:p>
            <a:pPr eaLnBrk="1">
              <a:buClrTx/>
              <a:buFontTx/>
              <a:buNone/>
            </a:pPr>
            <a:r>
              <a:rPr lang="it-IT" altLang="it-IT" sz="2800" b="1" dirty="0">
                <a:solidFill>
                  <a:srgbClr val="FF0000"/>
                </a:solidFill>
              </a:rPr>
              <a:t>Standard </a:t>
            </a:r>
            <a:r>
              <a:rPr lang="it-IT" altLang="it-IT" sz="2800" b="1" dirty="0" err="1">
                <a:solidFill>
                  <a:srgbClr val="FF0000"/>
                </a:solidFill>
              </a:rPr>
              <a:t>deviations</a:t>
            </a:r>
            <a:endParaRPr lang="it-IT" altLang="it-IT" sz="2800" b="1" dirty="0">
              <a:solidFill>
                <a:srgbClr val="FF0000"/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187625" y="2996952"/>
            <a:ext cx="6732414" cy="936104"/>
          </a:xfrm>
          <a:prstGeom prst="rect">
            <a:avLst/>
          </a:prstGeom>
          <a:noFill/>
          <a:ln w="108000" cap="sq">
            <a:solidFill>
              <a:srgbClr val="00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 altLang="it-IT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716017" y="4005063"/>
            <a:ext cx="3653283" cy="1008114"/>
          </a:xfrm>
          <a:prstGeom prst="rect">
            <a:avLst/>
          </a:prstGeom>
          <a:noFill/>
          <a:ln w="108000" cap="sq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it-IT" altLang="it-IT"/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6732241" y="2276872"/>
            <a:ext cx="2232248" cy="48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lvl1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1pPr>
            <a:lvl2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2pPr>
            <a:lvl3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3pPr>
            <a:lvl4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4pPr>
            <a:lvl5pPr eaLnBrk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charset="0"/>
                <a:cs typeface="Arial Unicode MS" charset="0"/>
              </a:defRPr>
            </a:lvl9pPr>
          </a:lstStyle>
          <a:p>
            <a:pPr eaLnBrk="1">
              <a:buClrTx/>
              <a:buFontTx/>
              <a:buNone/>
            </a:pPr>
            <a:r>
              <a:rPr lang="it-IT" altLang="it-IT" sz="2800" b="1" dirty="0" err="1">
                <a:solidFill>
                  <a:srgbClr val="0000FF"/>
                </a:solidFill>
              </a:rPr>
              <a:t>Covariance</a:t>
            </a:r>
            <a:endParaRPr lang="it-IT" altLang="it-IT" sz="28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36320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0"/>
            <a:ext cx="8458200" cy="752014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 coefficient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magin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8891"/>
            <a:ext cx="9144000" cy="404021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4F78293C-B6AE-492E-AD11-A59E3D01D4E8}"/>
              </a:ext>
            </a:extLst>
          </p:cNvPr>
          <p:cNvSpPr txBox="1"/>
          <p:nvPr/>
        </p:nvSpPr>
        <p:spPr>
          <a:xfrm>
            <a:off x="642910" y="5844375"/>
            <a:ext cx="7858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All series as a function of time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1321304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0"/>
            <a:ext cx="8458200" cy="752014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 coefficient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967"/>
            <a:ext cx="9144000" cy="4194066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EFA99879-86BC-4433-8EB4-EA2CB1FAD0C8}"/>
              </a:ext>
            </a:extLst>
          </p:cNvPr>
          <p:cNvSpPr txBox="1"/>
          <p:nvPr/>
        </p:nvSpPr>
        <p:spPr>
          <a:xfrm>
            <a:off x="642910" y="5844375"/>
            <a:ext cx="7858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Series 2 and 3 against Series 1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6739325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0"/>
            <a:ext cx="8458200" cy="752014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 coefficient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8891"/>
            <a:ext cx="9144000" cy="4040217"/>
          </a:xfrm>
          <a:prstGeom prst="rect">
            <a:avLst/>
          </a:prstGeom>
        </p:spPr>
      </p:pic>
      <p:sp>
        <p:nvSpPr>
          <p:cNvPr id="3" name="CasellaDiTesto 2"/>
          <p:cNvSpPr txBox="1"/>
          <p:nvPr/>
        </p:nvSpPr>
        <p:spPr>
          <a:xfrm>
            <a:off x="467544" y="5661248"/>
            <a:ext cx="8136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Test of </a:t>
            </a:r>
            <a:r>
              <a:rPr lang="it-IT" dirty="0" err="1"/>
              <a:t>significance</a:t>
            </a:r>
            <a:r>
              <a:rPr lang="it-IT" dirty="0"/>
              <a:t> with </a:t>
            </a:r>
            <a:r>
              <a:rPr lang="it-IT" dirty="0" err="1"/>
              <a:t>null</a:t>
            </a:r>
            <a:r>
              <a:rPr lang="it-IT" dirty="0"/>
              <a:t> </a:t>
            </a:r>
            <a:r>
              <a:rPr lang="it-IT" dirty="0" err="1"/>
              <a:t>hypothesis</a:t>
            </a:r>
            <a:r>
              <a:rPr lang="it-IT" dirty="0"/>
              <a:t> of </a:t>
            </a:r>
            <a:r>
              <a:rPr lang="it-IT" dirty="0" err="1"/>
              <a:t>getting</a:t>
            </a:r>
            <a:r>
              <a:rPr lang="it-IT" dirty="0"/>
              <a:t> the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correlation</a:t>
            </a:r>
            <a:r>
              <a:rPr lang="it-IT" dirty="0"/>
              <a:t> at </a:t>
            </a:r>
            <a:r>
              <a:rPr lang="it-IT" dirty="0" err="1"/>
              <a:t>random</a:t>
            </a:r>
            <a:endParaRPr lang="it-IT" dirty="0"/>
          </a:p>
          <a:p>
            <a:r>
              <a:rPr lang="it-IT" dirty="0"/>
              <a:t>WARNING:  DATA SET SIZE</a:t>
            </a:r>
          </a:p>
        </p:txBody>
      </p:sp>
    </p:spTree>
    <p:extLst>
      <p:ext uri="{BB962C8B-B14F-4D97-AF65-F5344CB8AC3E}">
        <p14:creationId xmlns:p14="http://schemas.microsoft.com/office/powerpoint/2010/main" val="13584152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0"/>
            <a:ext cx="8458200" cy="752014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 coefficient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8891"/>
            <a:ext cx="9144000" cy="4040217"/>
          </a:xfrm>
          <a:prstGeom prst="rect">
            <a:avLst/>
          </a:prstGeom>
        </p:spPr>
      </p:pic>
      <p:sp>
        <p:nvSpPr>
          <p:cNvPr id="3" name="CasellaDiTesto 2"/>
          <p:cNvSpPr txBox="1"/>
          <p:nvPr/>
        </p:nvSpPr>
        <p:spPr>
          <a:xfrm>
            <a:off x="467544" y="5661248"/>
            <a:ext cx="8136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Test of </a:t>
            </a:r>
            <a:r>
              <a:rPr lang="it-IT" dirty="0" err="1"/>
              <a:t>significance</a:t>
            </a:r>
            <a:r>
              <a:rPr lang="it-IT" dirty="0"/>
              <a:t> with </a:t>
            </a:r>
            <a:r>
              <a:rPr lang="it-IT" dirty="0" err="1"/>
              <a:t>null</a:t>
            </a:r>
            <a:r>
              <a:rPr lang="it-IT" dirty="0"/>
              <a:t> </a:t>
            </a:r>
            <a:r>
              <a:rPr lang="it-IT" dirty="0" err="1"/>
              <a:t>hypothesis</a:t>
            </a:r>
            <a:r>
              <a:rPr lang="it-IT" dirty="0"/>
              <a:t> of </a:t>
            </a:r>
            <a:r>
              <a:rPr lang="it-IT" dirty="0" err="1"/>
              <a:t>getting</a:t>
            </a:r>
            <a:r>
              <a:rPr lang="it-IT" dirty="0"/>
              <a:t> the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correlation</a:t>
            </a:r>
            <a:r>
              <a:rPr lang="it-IT" dirty="0"/>
              <a:t> at </a:t>
            </a:r>
            <a:r>
              <a:rPr lang="it-IT" dirty="0" err="1"/>
              <a:t>random</a:t>
            </a:r>
            <a:endParaRPr lang="it-IT" dirty="0"/>
          </a:p>
          <a:p>
            <a:r>
              <a:rPr lang="it-IT" dirty="0"/>
              <a:t>WARNING:  DATA SET SIZE</a:t>
            </a:r>
          </a:p>
        </p:txBody>
      </p:sp>
      <p:sp>
        <p:nvSpPr>
          <p:cNvPr id="4" name="Ovale 3">
            <a:extLst>
              <a:ext uri="{FF2B5EF4-FFF2-40B4-BE49-F238E27FC236}">
                <a16:creationId xmlns:a16="http://schemas.microsoft.com/office/drawing/2014/main" id="{028CC899-3444-47CC-BE47-AE79D68397A2}"/>
              </a:ext>
            </a:extLst>
          </p:cNvPr>
          <p:cNvSpPr/>
          <p:nvPr/>
        </p:nvSpPr>
        <p:spPr>
          <a:xfrm>
            <a:off x="1259632" y="1675968"/>
            <a:ext cx="6866932" cy="4430017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/>
              <a:t>BOOTSTRAP TEST: </a:t>
            </a:r>
          </a:p>
          <a:p>
            <a:pPr algn="ctr"/>
            <a:r>
              <a:rPr lang="it-IT" sz="2400" dirty="0" err="1"/>
              <a:t>You</a:t>
            </a:r>
            <a:r>
              <a:rPr lang="it-IT" sz="2400" dirty="0"/>
              <a:t> do the </a:t>
            </a:r>
            <a:r>
              <a:rPr lang="it-IT" sz="2400" dirty="0" err="1"/>
              <a:t>analysis</a:t>
            </a:r>
            <a:r>
              <a:rPr lang="it-IT" sz="2400" dirty="0"/>
              <a:t> with </a:t>
            </a:r>
            <a:r>
              <a:rPr lang="it-IT" sz="2400" dirty="0" err="1"/>
              <a:t>original</a:t>
            </a:r>
            <a:r>
              <a:rPr lang="it-IT" sz="2400" dirty="0"/>
              <a:t> data and </a:t>
            </a:r>
            <a:r>
              <a:rPr lang="it-IT" sz="2400" dirty="0" err="1"/>
              <a:t>you</a:t>
            </a:r>
            <a:r>
              <a:rPr lang="it-IT" sz="2400" dirty="0"/>
              <a:t> </a:t>
            </a:r>
            <a:r>
              <a:rPr lang="it-IT" sz="2400" dirty="0" err="1"/>
              <a:t>get</a:t>
            </a:r>
            <a:r>
              <a:rPr lang="it-IT" sz="2400" dirty="0"/>
              <a:t> </a:t>
            </a:r>
            <a:r>
              <a:rPr lang="it-IT" sz="2400" dirty="0" err="1"/>
              <a:t>your</a:t>
            </a:r>
            <a:r>
              <a:rPr lang="it-IT" sz="2400" dirty="0"/>
              <a:t> </a:t>
            </a:r>
            <a:r>
              <a:rPr lang="it-IT" sz="2400" dirty="0" err="1"/>
              <a:t>result</a:t>
            </a:r>
            <a:r>
              <a:rPr lang="it-IT" sz="2400" dirty="0"/>
              <a:t>. </a:t>
            </a:r>
            <a:r>
              <a:rPr lang="it-IT" sz="2400" dirty="0" err="1"/>
              <a:t>You</a:t>
            </a:r>
            <a:r>
              <a:rPr lang="it-IT" sz="2400" dirty="0"/>
              <a:t> permute </a:t>
            </a:r>
            <a:r>
              <a:rPr lang="it-IT" sz="2400" dirty="0" err="1"/>
              <a:t>at</a:t>
            </a:r>
            <a:r>
              <a:rPr lang="it-IT" sz="2400" dirty="0"/>
              <a:t> random the data </a:t>
            </a:r>
            <a:r>
              <a:rPr lang="it-IT" sz="2400" u="sng" dirty="0" err="1"/>
              <a:t>along</a:t>
            </a:r>
            <a:r>
              <a:rPr lang="it-IT" sz="2400" u="sng" dirty="0"/>
              <a:t> the </a:t>
            </a:r>
            <a:r>
              <a:rPr lang="it-IT" sz="2400" u="sng" dirty="0" err="1"/>
              <a:t>variable</a:t>
            </a:r>
            <a:r>
              <a:rPr lang="it-IT" sz="2400" u="sng" dirty="0"/>
              <a:t> </a:t>
            </a:r>
            <a:r>
              <a:rPr lang="it-IT" sz="2400" u="sng" dirty="0" err="1"/>
              <a:t>you</a:t>
            </a:r>
            <a:r>
              <a:rPr lang="it-IT" sz="2400" u="sng" dirty="0"/>
              <a:t> </a:t>
            </a:r>
            <a:r>
              <a:rPr lang="it-IT" sz="2400" u="sng" dirty="0" err="1"/>
              <a:t>want</a:t>
            </a:r>
            <a:r>
              <a:rPr lang="it-IT" sz="2400" u="sng" dirty="0"/>
              <a:t> to test</a:t>
            </a:r>
            <a:r>
              <a:rPr lang="it-IT" sz="2400" dirty="0"/>
              <a:t>. </a:t>
            </a:r>
            <a:r>
              <a:rPr lang="it-IT" sz="2400" dirty="0" err="1"/>
              <a:t>You</a:t>
            </a:r>
            <a:r>
              <a:rPr lang="it-IT" sz="2400" dirty="0"/>
              <a:t> do </a:t>
            </a:r>
            <a:r>
              <a:rPr lang="it-IT" sz="2400" dirty="0" err="1"/>
              <a:t>it</a:t>
            </a:r>
            <a:r>
              <a:rPr lang="it-IT" sz="2400" dirty="0"/>
              <a:t> n*20 times. </a:t>
            </a:r>
            <a:r>
              <a:rPr lang="it-IT" sz="2400" dirty="0" err="1"/>
              <a:t>Is</a:t>
            </a:r>
            <a:r>
              <a:rPr lang="it-IT" sz="2400" dirty="0"/>
              <a:t> the n-</a:t>
            </a:r>
            <a:r>
              <a:rPr lang="it-IT" sz="2400" dirty="0" err="1"/>
              <a:t>th</a:t>
            </a:r>
            <a:r>
              <a:rPr lang="it-IT" sz="2400" dirty="0"/>
              <a:t> </a:t>
            </a:r>
            <a:r>
              <a:rPr lang="it-IT" sz="2400" dirty="0" err="1"/>
              <a:t>highest</a:t>
            </a:r>
            <a:r>
              <a:rPr lang="it-IT" sz="2400" dirty="0"/>
              <a:t> </a:t>
            </a:r>
            <a:r>
              <a:rPr lang="it-IT" sz="2400" dirty="0" err="1"/>
              <a:t>value</a:t>
            </a:r>
            <a:r>
              <a:rPr lang="it-IT" sz="2400" dirty="0"/>
              <a:t> </a:t>
            </a:r>
            <a:r>
              <a:rPr lang="it-IT" sz="2400" dirty="0" err="1"/>
              <a:t>as</a:t>
            </a:r>
            <a:r>
              <a:rPr lang="it-IT" sz="2400" dirty="0"/>
              <a:t> high </a:t>
            </a:r>
            <a:r>
              <a:rPr lang="it-IT" sz="2400" dirty="0" err="1"/>
              <a:t>as</a:t>
            </a:r>
            <a:r>
              <a:rPr lang="it-IT" sz="2400" dirty="0"/>
              <a:t> </a:t>
            </a:r>
            <a:r>
              <a:rPr lang="it-IT" sz="2400" dirty="0" err="1"/>
              <a:t>your</a:t>
            </a:r>
            <a:r>
              <a:rPr lang="it-IT" sz="2400" dirty="0"/>
              <a:t> </a:t>
            </a:r>
            <a:r>
              <a:rPr lang="it-IT" sz="2400" dirty="0" err="1"/>
              <a:t>original</a:t>
            </a:r>
            <a:r>
              <a:rPr lang="it-IT" sz="2400" dirty="0"/>
              <a:t> </a:t>
            </a:r>
            <a:r>
              <a:rPr lang="it-IT" sz="2400" dirty="0" err="1"/>
              <a:t>result</a:t>
            </a:r>
            <a:r>
              <a:rPr lang="it-IT" sz="2400" dirty="0"/>
              <a:t>? </a:t>
            </a:r>
            <a:r>
              <a:rPr lang="it-IT" sz="2400" dirty="0" err="1"/>
              <a:t>Is</a:t>
            </a:r>
            <a:r>
              <a:rPr lang="it-IT" sz="2400" dirty="0"/>
              <a:t> p&gt;0.05?</a:t>
            </a:r>
          </a:p>
        </p:txBody>
      </p:sp>
    </p:spTree>
    <p:extLst>
      <p:ext uri="{BB962C8B-B14F-4D97-AF65-F5344CB8AC3E}">
        <p14:creationId xmlns:p14="http://schemas.microsoft.com/office/powerpoint/2010/main" val="4814776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0"/>
            <a:ext cx="8458200" cy="752014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 coefficient and significance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714348" y="1071546"/>
            <a:ext cx="79940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Test of </a:t>
            </a:r>
            <a:r>
              <a:rPr lang="it-IT" sz="2400" dirty="0" err="1"/>
              <a:t>significance</a:t>
            </a:r>
            <a:r>
              <a:rPr lang="it-IT" sz="2400" dirty="0"/>
              <a:t> with </a:t>
            </a:r>
            <a:r>
              <a:rPr lang="it-IT" sz="2400" dirty="0" err="1"/>
              <a:t>null</a:t>
            </a:r>
            <a:r>
              <a:rPr lang="it-IT" sz="2400" dirty="0"/>
              <a:t> </a:t>
            </a:r>
            <a:r>
              <a:rPr lang="it-IT" sz="2400" dirty="0" err="1"/>
              <a:t>hypothesis</a:t>
            </a:r>
            <a:r>
              <a:rPr lang="it-IT" sz="2400" dirty="0"/>
              <a:t> of </a:t>
            </a:r>
            <a:r>
              <a:rPr lang="it-IT" sz="2400" dirty="0" err="1"/>
              <a:t>getting</a:t>
            </a:r>
            <a:r>
              <a:rPr lang="it-IT" sz="2400" dirty="0"/>
              <a:t> the </a:t>
            </a:r>
            <a:r>
              <a:rPr lang="it-IT" sz="2400" dirty="0" err="1"/>
              <a:t>same</a:t>
            </a:r>
            <a:r>
              <a:rPr lang="it-IT" sz="2400" dirty="0"/>
              <a:t> </a:t>
            </a:r>
            <a:r>
              <a:rPr lang="it-IT" sz="2400" dirty="0" err="1"/>
              <a:t>correlation</a:t>
            </a:r>
            <a:r>
              <a:rPr lang="it-IT" sz="2400" dirty="0"/>
              <a:t> </a:t>
            </a:r>
            <a:r>
              <a:rPr lang="it-IT" sz="2400" dirty="0" err="1"/>
              <a:t>by</a:t>
            </a:r>
            <a:r>
              <a:rPr lang="it-IT" sz="2400" dirty="0"/>
              <a:t> chance</a:t>
            </a: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8802"/>
            <a:ext cx="9144000" cy="3998686"/>
          </a:xfrm>
          <a:prstGeom prst="rect">
            <a:avLst/>
          </a:prstGeom>
        </p:spPr>
      </p:pic>
      <p:sp>
        <p:nvSpPr>
          <p:cNvPr id="6" name="CasellaDiTesto 5"/>
          <p:cNvSpPr txBox="1"/>
          <p:nvPr/>
        </p:nvSpPr>
        <p:spPr>
          <a:xfrm>
            <a:off x="428596" y="5715016"/>
            <a:ext cx="4305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p&lt;0.0000000001 &amp; CC=0.902</a:t>
            </a:r>
          </a:p>
        </p:txBody>
      </p:sp>
      <p:sp>
        <p:nvSpPr>
          <p:cNvPr id="7" name="CasellaDiTesto 6"/>
          <p:cNvSpPr txBox="1"/>
          <p:nvPr/>
        </p:nvSpPr>
        <p:spPr>
          <a:xfrm>
            <a:off x="5715008" y="5715016"/>
            <a:ext cx="3314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p=0.69 &amp; CC=-.075</a:t>
            </a:r>
          </a:p>
        </p:txBody>
      </p:sp>
      <p:sp>
        <p:nvSpPr>
          <p:cNvPr id="8" name="CasellaDiTesto 7"/>
          <p:cNvSpPr txBox="1"/>
          <p:nvPr/>
        </p:nvSpPr>
        <p:spPr>
          <a:xfrm>
            <a:off x="2928926" y="6354569"/>
            <a:ext cx="3643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WARNING:  DATA SET SIZE </a:t>
            </a:r>
            <a:r>
              <a:rPr lang="it-IT" dirty="0" err="1"/>
              <a:t>issue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373056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0"/>
            <a:ext cx="8458200" cy="752014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 coefficient and data set size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428596" y="785794"/>
            <a:ext cx="4071966" cy="1214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/>
              <a:t>With</a:t>
            </a:r>
            <a:r>
              <a:rPr lang="it-IT" sz="2400" dirty="0"/>
              <a:t> </a:t>
            </a:r>
            <a:r>
              <a:rPr lang="it-IT" sz="2400" dirty="0" err="1"/>
              <a:t>small</a:t>
            </a:r>
            <a:r>
              <a:rPr lang="it-IT" sz="2400" dirty="0"/>
              <a:t> </a:t>
            </a:r>
            <a:r>
              <a:rPr lang="it-IT" sz="2400" dirty="0" err="1"/>
              <a:t>datasets</a:t>
            </a:r>
            <a:r>
              <a:rPr lang="it-IT" sz="2400" dirty="0"/>
              <a:t>, </a:t>
            </a:r>
            <a:r>
              <a:rPr lang="it-IT" sz="2400" dirty="0" err="1"/>
              <a:t>it</a:t>
            </a:r>
            <a:r>
              <a:rPr lang="it-IT" sz="2400" dirty="0"/>
              <a:t>’s easy </a:t>
            </a:r>
            <a:r>
              <a:rPr lang="it-IT" sz="2400" dirty="0" err="1"/>
              <a:t>to</a:t>
            </a:r>
            <a:r>
              <a:rPr lang="it-IT" sz="2400" dirty="0"/>
              <a:t> </a:t>
            </a:r>
            <a:r>
              <a:rPr lang="it-IT" sz="2400" dirty="0" err="1"/>
              <a:t>get</a:t>
            </a:r>
            <a:r>
              <a:rPr lang="it-IT" sz="2400" dirty="0"/>
              <a:t> a </a:t>
            </a:r>
            <a:r>
              <a:rPr lang="it-IT" sz="2400" dirty="0" err="1"/>
              <a:t>large</a:t>
            </a:r>
            <a:r>
              <a:rPr lang="it-IT" sz="2400" dirty="0"/>
              <a:t> cc. </a:t>
            </a:r>
            <a:r>
              <a:rPr lang="it-IT" sz="2400" dirty="0" err="1"/>
              <a:t>But</a:t>
            </a:r>
            <a:r>
              <a:rPr lang="it-IT" sz="2400" dirty="0"/>
              <a:t> </a:t>
            </a:r>
            <a:r>
              <a:rPr lang="it-IT" sz="2400" dirty="0" err="1"/>
              <a:t>this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not</a:t>
            </a:r>
            <a:r>
              <a:rPr lang="it-IT" sz="2400" dirty="0"/>
              <a:t> informative </a:t>
            </a:r>
            <a:r>
              <a:rPr lang="it-IT" sz="2400" dirty="0" err="1"/>
              <a:t>if</a:t>
            </a:r>
            <a:r>
              <a:rPr lang="it-IT" sz="2400" dirty="0"/>
              <a:t> p&gt;0.05 </a:t>
            </a:r>
          </a:p>
        </p:txBody>
      </p:sp>
      <p:sp>
        <p:nvSpPr>
          <p:cNvPr id="9" name="CasellaDiTesto 8"/>
          <p:cNvSpPr txBox="1"/>
          <p:nvPr/>
        </p:nvSpPr>
        <p:spPr>
          <a:xfrm>
            <a:off x="4857752" y="799911"/>
            <a:ext cx="4071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/>
              <a:t>With</a:t>
            </a:r>
            <a:r>
              <a:rPr lang="it-IT" sz="2400" dirty="0"/>
              <a:t> </a:t>
            </a:r>
            <a:r>
              <a:rPr lang="it-IT" sz="2400" dirty="0" err="1"/>
              <a:t>large</a:t>
            </a:r>
            <a:r>
              <a:rPr lang="it-IT" sz="2400" dirty="0"/>
              <a:t> </a:t>
            </a:r>
            <a:r>
              <a:rPr lang="it-IT" sz="2400" dirty="0" err="1"/>
              <a:t>datasets</a:t>
            </a:r>
            <a:r>
              <a:rPr lang="it-IT" sz="2400" dirty="0"/>
              <a:t>, </a:t>
            </a:r>
            <a:r>
              <a:rPr lang="it-IT" sz="2400" dirty="0" err="1"/>
              <a:t>it</a:t>
            </a:r>
            <a:r>
              <a:rPr lang="it-IT" sz="2400" dirty="0"/>
              <a:t>’s easy </a:t>
            </a:r>
            <a:r>
              <a:rPr lang="it-IT" sz="2400" dirty="0" err="1"/>
              <a:t>to</a:t>
            </a:r>
            <a:r>
              <a:rPr lang="it-IT" sz="2400" dirty="0"/>
              <a:t> </a:t>
            </a:r>
            <a:r>
              <a:rPr lang="it-IT" sz="2400" dirty="0" err="1"/>
              <a:t>get</a:t>
            </a:r>
            <a:r>
              <a:rPr lang="it-IT" sz="2400" dirty="0"/>
              <a:t> p&lt;0.05. </a:t>
            </a:r>
            <a:r>
              <a:rPr lang="it-IT" sz="2400" dirty="0" err="1"/>
              <a:t>But</a:t>
            </a:r>
            <a:r>
              <a:rPr lang="it-IT" sz="2400" dirty="0"/>
              <a:t> </a:t>
            </a:r>
            <a:r>
              <a:rPr lang="it-IT" sz="2400" dirty="0" err="1"/>
              <a:t>this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only</a:t>
            </a:r>
            <a:r>
              <a:rPr lang="it-IT" sz="2400" dirty="0"/>
              <a:t> part </a:t>
            </a:r>
            <a:r>
              <a:rPr lang="it-IT" sz="2400" dirty="0" err="1"/>
              <a:t>of</a:t>
            </a:r>
            <a:r>
              <a:rPr lang="it-IT" sz="2400" dirty="0"/>
              <a:t> the story </a:t>
            </a:r>
            <a:r>
              <a:rPr lang="it-IT" sz="2400" dirty="0" err="1"/>
              <a:t>if</a:t>
            </a:r>
            <a:r>
              <a:rPr lang="it-IT" sz="2400" dirty="0"/>
              <a:t> cc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small</a:t>
            </a:r>
            <a:r>
              <a:rPr lang="it-IT" sz="2400" dirty="0"/>
              <a:t> </a:t>
            </a:r>
          </a:p>
        </p:txBody>
      </p:sp>
      <p:pic>
        <p:nvPicPr>
          <p:cNvPr id="10" name="Immagine 9" descr="esempio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63085"/>
            <a:ext cx="4500562" cy="3321270"/>
          </a:xfrm>
          <a:prstGeom prst="rect">
            <a:avLst/>
          </a:prstGeom>
        </p:spPr>
      </p:pic>
      <p:pic>
        <p:nvPicPr>
          <p:cNvPr id="11" name="Immagine 10" descr="esempio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37" y="2487248"/>
            <a:ext cx="4391554" cy="324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2793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0"/>
            <a:ext cx="8458200" cy="752014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 coefficient and data set size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428596" y="785794"/>
            <a:ext cx="4071966" cy="1214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/>
              <a:t>With</a:t>
            </a:r>
            <a:r>
              <a:rPr lang="it-IT" sz="2400" dirty="0"/>
              <a:t> </a:t>
            </a:r>
            <a:r>
              <a:rPr lang="it-IT" sz="2400" dirty="0" err="1"/>
              <a:t>small</a:t>
            </a:r>
            <a:r>
              <a:rPr lang="it-IT" sz="2400" dirty="0"/>
              <a:t> </a:t>
            </a:r>
            <a:r>
              <a:rPr lang="it-IT" sz="2400" dirty="0" err="1"/>
              <a:t>datasets</a:t>
            </a:r>
            <a:r>
              <a:rPr lang="it-IT" sz="2400" dirty="0"/>
              <a:t>, </a:t>
            </a:r>
            <a:r>
              <a:rPr lang="it-IT" sz="2400" dirty="0" err="1"/>
              <a:t>it</a:t>
            </a:r>
            <a:r>
              <a:rPr lang="it-IT" sz="2400" dirty="0"/>
              <a:t>’s easy </a:t>
            </a:r>
            <a:r>
              <a:rPr lang="it-IT" sz="2400" dirty="0" err="1"/>
              <a:t>to</a:t>
            </a:r>
            <a:r>
              <a:rPr lang="it-IT" sz="2400" dirty="0"/>
              <a:t> </a:t>
            </a:r>
            <a:r>
              <a:rPr lang="it-IT" sz="2400" dirty="0" err="1"/>
              <a:t>get</a:t>
            </a:r>
            <a:r>
              <a:rPr lang="it-IT" sz="2400" dirty="0"/>
              <a:t> a </a:t>
            </a:r>
            <a:r>
              <a:rPr lang="it-IT" sz="2400" dirty="0" err="1"/>
              <a:t>large</a:t>
            </a:r>
            <a:r>
              <a:rPr lang="it-IT" sz="2400" dirty="0"/>
              <a:t> cc. </a:t>
            </a:r>
            <a:r>
              <a:rPr lang="it-IT" sz="2400" dirty="0" err="1"/>
              <a:t>But</a:t>
            </a:r>
            <a:r>
              <a:rPr lang="it-IT" sz="2400" dirty="0"/>
              <a:t> </a:t>
            </a:r>
            <a:r>
              <a:rPr lang="it-IT" sz="2400" dirty="0" err="1"/>
              <a:t>this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not</a:t>
            </a:r>
            <a:r>
              <a:rPr lang="it-IT" sz="2400" dirty="0"/>
              <a:t> informative </a:t>
            </a:r>
            <a:r>
              <a:rPr lang="it-IT" sz="2400" dirty="0" err="1"/>
              <a:t>if</a:t>
            </a:r>
            <a:r>
              <a:rPr lang="it-IT" sz="2400" dirty="0"/>
              <a:t> p&gt;0.05 </a:t>
            </a:r>
          </a:p>
        </p:txBody>
      </p:sp>
      <p:sp>
        <p:nvSpPr>
          <p:cNvPr id="9" name="CasellaDiTesto 8"/>
          <p:cNvSpPr txBox="1"/>
          <p:nvPr/>
        </p:nvSpPr>
        <p:spPr>
          <a:xfrm>
            <a:off x="4857752" y="799911"/>
            <a:ext cx="4071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/>
              <a:t>With</a:t>
            </a:r>
            <a:r>
              <a:rPr lang="it-IT" sz="2400" dirty="0"/>
              <a:t> </a:t>
            </a:r>
            <a:r>
              <a:rPr lang="it-IT" sz="2400" dirty="0" err="1"/>
              <a:t>large</a:t>
            </a:r>
            <a:r>
              <a:rPr lang="it-IT" sz="2400" dirty="0"/>
              <a:t> </a:t>
            </a:r>
            <a:r>
              <a:rPr lang="it-IT" sz="2400" dirty="0" err="1"/>
              <a:t>datasets</a:t>
            </a:r>
            <a:r>
              <a:rPr lang="it-IT" sz="2400" dirty="0"/>
              <a:t>, </a:t>
            </a:r>
            <a:r>
              <a:rPr lang="it-IT" sz="2400" dirty="0" err="1"/>
              <a:t>it</a:t>
            </a:r>
            <a:r>
              <a:rPr lang="it-IT" sz="2400" dirty="0"/>
              <a:t>’s easy </a:t>
            </a:r>
            <a:r>
              <a:rPr lang="it-IT" sz="2400" dirty="0" err="1"/>
              <a:t>to</a:t>
            </a:r>
            <a:r>
              <a:rPr lang="it-IT" sz="2400" dirty="0"/>
              <a:t> </a:t>
            </a:r>
            <a:r>
              <a:rPr lang="it-IT" sz="2400" dirty="0" err="1"/>
              <a:t>get</a:t>
            </a:r>
            <a:r>
              <a:rPr lang="it-IT" sz="2400" dirty="0"/>
              <a:t> p&lt;0.05. </a:t>
            </a:r>
            <a:r>
              <a:rPr lang="it-IT" sz="2400" dirty="0" err="1"/>
              <a:t>But</a:t>
            </a:r>
            <a:r>
              <a:rPr lang="it-IT" sz="2400" dirty="0"/>
              <a:t> </a:t>
            </a:r>
            <a:r>
              <a:rPr lang="it-IT" sz="2400" dirty="0" err="1"/>
              <a:t>this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only</a:t>
            </a:r>
            <a:r>
              <a:rPr lang="it-IT" sz="2400" dirty="0"/>
              <a:t> part </a:t>
            </a:r>
            <a:r>
              <a:rPr lang="it-IT" sz="2400" dirty="0" err="1"/>
              <a:t>of</a:t>
            </a:r>
            <a:r>
              <a:rPr lang="it-IT" sz="2400" dirty="0"/>
              <a:t> the story </a:t>
            </a:r>
            <a:r>
              <a:rPr lang="it-IT" sz="2400" dirty="0" err="1"/>
              <a:t>if</a:t>
            </a:r>
            <a:r>
              <a:rPr lang="it-IT" sz="2400" dirty="0"/>
              <a:t> cc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small</a:t>
            </a:r>
            <a:r>
              <a:rPr lang="it-IT" sz="2400" dirty="0"/>
              <a:t> </a:t>
            </a:r>
          </a:p>
        </p:txBody>
      </p:sp>
      <p:pic>
        <p:nvPicPr>
          <p:cNvPr id="10" name="Immagine 9" descr="esempio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63085"/>
            <a:ext cx="4500562" cy="3321270"/>
          </a:xfrm>
          <a:prstGeom prst="rect">
            <a:avLst/>
          </a:prstGeom>
        </p:spPr>
      </p:pic>
      <p:pic>
        <p:nvPicPr>
          <p:cNvPr id="11" name="Immagine 10" descr="esempio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37" y="2487248"/>
            <a:ext cx="4391554" cy="3240825"/>
          </a:xfrm>
          <a:prstGeom prst="rect">
            <a:avLst/>
          </a:prstGeom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86F9101F-9E1C-4119-AA0A-4E7F98EC6A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2966" y="4221088"/>
            <a:ext cx="6071900" cy="2416019"/>
          </a:xfrm>
          <a:prstGeom prst="rect">
            <a:avLst/>
          </a:prstGeom>
        </p:spPr>
      </p:pic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BA3089CE-AC80-408C-A984-65A6AF76127E}"/>
              </a:ext>
            </a:extLst>
          </p:cNvPr>
          <p:cNvSpPr/>
          <p:nvPr/>
        </p:nvSpPr>
        <p:spPr>
          <a:xfrm>
            <a:off x="1690011" y="5733256"/>
            <a:ext cx="720080" cy="72008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/>
              <a:t>SR</a:t>
            </a:r>
          </a:p>
        </p:txBody>
      </p:sp>
    </p:spTree>
    <p:extLst>
      <p:ext uri="{BB962C8B-B14F-4D97-AF65-F5344CB8AC3E}">
        <p14:creationId xmlns:p14="http://schemas.microsoft.com/office/powerpoint/2010/main" val="12968216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0"/>
            <a:ext cx="8458200" cy="752014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 coefficient and data set size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sellaDiTesto 2"/>
          <p:cNvSpPr txBox="1"/>
          <p:nvPr/>
        </p:nvSpPr>
        <p:spPr>
          <a:xfrm>
            <a:off x="428596" y="785794"/>
            <a:ext cx="4071966" cy="1214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/>
              <a:t>With</a:t>
            </a:r>
            <a:r>
              <a:rPr lang="it-IT" sz="2400" dirty="0"/>
              <a:t> </a:t>
            </a:r>
            <a:r>
              <a:rPr lang="it-IT" sz="2400" dirty="0" err="1"/>
              <a:t>small</a:t>
            </a:r>
            <a:r>
              <a:rPr lang="it-IT" sz="2400" dirty="0"/>
              <a:t> </a:t>
            </a:r>
            <a:r>
              <a:rPr lang="it-IT" sz="2400" dirty="0" err="1"/>
              <a:t>datasets</a:t>
            </a:r>
            <a:r>
              <a:rPr lang="it-IT" sz="2400" dirty="0"/>
              <a:t>, </a:t>
            </a:r>
            <a:r>
              <a:rPr lang="it-IT" sz="2400" dirty="0" err="1"/>
              <a:t>it</a:t>
            </a:r>
            <a:r>
              <a:rPr lang="it-IT" sz="2400" dirty="0"/>
              <a:t>’s easy </a:t>
            </a:r>
            <a:r>
              <a:rPr lang="it-IT" sz="2400" dirty="0" err="1"/>
              <a:t>to</a:t>
            </a:r>
            <a:r>
              <a:rPr lang="it-IT" sz="2400" dirty="0"/>
              <a:t> </a:t>
            </a:r>
            <a:r>
              <a:rPr lang="it-IT" sz="2400" dirty="0" err="1"/>
              <a:t>get</a:t>
            </a:r>
            <a:r>
              <a:rPr lang="it-IT" sz="2400" dirty="0"/>
              <a:t> a </a:t>
            </a:r>
            <a:r>
              <a:rPr lang="it-IT" sz="2400" dirty="0" err="1"/>
              <a:t>large</a:t>
            </a:r>
            <a:r>
              <a:rPr lang="it-IT" sz="2400" dirty="0"/>
              <a:t> cc. </a:t>
            </a:r>
            <a:r>
              <a:rPr lang="it-IT" sz="2400" dirty="0" err="1"/>
              <a:t>But</a:t>
            </a:r>
            <a:r>
              <a:rPr lang="it-IT" sz="2400" dirty="0"/>
              <a:t> </a:t>
            </a:r>
            <a:r>
              <a:rPr lang="it-IT" sz="2400" dirty="0" err="1"/>
              <a:t>this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not</a:t>
            </a:r>
            <a:r>
              <a:rPr lang="it-IT" sz="2400" dirty="0"/>
              <a:t> informative </a:t>
            </a:r>
            <a:r>
              <a:rPr lang="it-IT" sz="2400" dirty="0" err="1"/>
              <a:t>if</a:t>
            </a:r>
            <a:r>
              <a:rPr lang="it-IT" sz="2400" dirty="0"/>
              <a:t> p&gt;0.05 </a:t>
            </a:r>
          </a:p>
        </p:txBody>
      </p:sp>
      <p:sp>
        <p:nvSpPr>
          <p:cNvPr id="9" name="CasellaDiTesto 8"/>
          <p:cNvSpPr txBox="1"/>
          <p:nvPr/>
        </p:nvSpPr>
        <p:spPr>
          <a:xfrm>
            <a:off x="4857752" y="799911"/>
            <a:ext cx="4071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/>
              <a:t>With</a:t>
            </a:r>
            <a:r>
              <a:rPr lang="it-IT" sz="2400" dirty="0"/>
              <a:t> </a:t>
            </a:r>
            <a:r>
              <a:rPr lang="it-IT" sz="2400" dirty="0" err="1"/>
              <a:t>large</a:t>
            </a:r>
            <a:r>
              <a:rPr lang="it-IT" sz="2400" dirty="0"/>
              <a:t> </a:t>
            </a:r>
            <a:r>
              <a:rPr lang="it-IT" sz="2400" dirty="0" err="1"/>
              <a:t>datasets</a:t>
            </a:r>
            <a:r>
              <a:rPr lang="it-IT" sz="2400" dirty="0"/>
              <a:t>, </a:t>
            </a:r>
            <a:r>
              <a:rPr lang="it-IT" sz="2400" dirty="0" err="1"/>
              <a:t>it</a:t>
            </a:r>
            <a:r>
              <a:rPr lang="it-IT" sz="2400" dirty="0"/>
              <a:t>’s easy </a:t>
            </a:r>
            <a:r>
              <a:rPr lang="it-IT" sz="2400" dirty="0" err="1"/>
              <a:t>to</a:t>
            </a:r>
            <a:r>
              <a:rPr lang="it-IT" sz="2400" dirty="0"/>
              <a:t> </a:t>
            </a:r>
            <a:r>
              <a:rPr lang="it-IT" sz="2400" dirty="0" err="1"/>
              <a:t>get</a:t>
            </a:r>
            <a:r>
              <a:rPr lang="it-IT" sz="2400" dirty="0"/>
              <a:t> p&lt;0.05. </a:t>
            </a:r>
            <a:r>
              <a:rPr lang="it-IT" sz="2400" dirty="0" err="1"/>
              <a:t>But</a:t>
            </a:r>
            <a:r>
              <a:rPr lang="it-IT" sz="2400" dirty="0"/>
              <a:t> </a:t>
            </a:r>
            <a:r>
              <a:rPr lang="it-IT" sz="2400" dirty="0" err="1"/>
              <a:t>this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only</a:t>
            </a:r>
            <a:r>
              <a:rPr lang="it-IT" sz="2400" dirty="0"/>
              <a:t> part </a:t>
            </a:r>
            <a:r>
              <a:rPr lang="it-IT" sz="2400" dirty="0" err="1"/>
              <a:t>of</a:t>
            </a:r>
            <a:r>
              <a:rPr lang="it-IT" sz="2400" dirty="0"/>
              <a:t> the story </a:t>
            </a:r>
            <a:r>
              <a:rPr lang="it-IT" sz="2400" dirty="0" err="1"/>
              <a:t>if</a:t>
            </a:r>
            <a:r>
              <a:rPr lang="it-IT" sz="2400" dirty="0"/>
              <a:t> cc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small</a:t>
            </a:r>
            <a:r>
              <a:rPr lang="it-IT" sz="2400" dirty="0"/>
              <a:t> </a:t>
            </a:r>
          </a:p>
        </p:txBody>
      </p:sp>
      <p:pic>
        <p:nvPicPr>
          <p:cNvPr id="10" name="Immagine 9" descr="esempio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63085"/>
            <a:ext cx="4500562" cy="3321270"/>
          </a:xfrm>
          <a:prstGeom prst="rect">
            <a:avLst/>
          </a:prstGeom>
        </p:spPr>
      </p:pic>
      <p:pic>
        <p:nvPicPr>
          <p:cNvPr id="11" name="Immagine 10" descr="esempio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37" y="2487248"/>
            <a:ext cx="4391554" cy="3240825"/>
          </a:xfrm>
          <a:prstGeom prst="rect">
            <a:avLst/>
          </a:prstGeom>
        </p:spPr>
      </p:pic>
      <p:sp>
        <p:nvSpPr>
          <p:cNvPr id="7" name="Simbolo &quot;divieto&quot; 6"/>
          <p:cNvSpPr/>
          <p:nvPr/>
        </p:nvSpPr>
        <p:spPr>
          <a:xfrm>
            <a:off x="7429520" y="2357430"/>
            <a:ext cx="357190" cy="428628"/>
          </a:xfrm>
          <a:prstGeom prst="noSmoking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8" name="CasellaDiTesto 7"/>
          <p:cNvSpPr txBox="1"/>
          <p:nvPr/>
        </p:nvSpPr>
        <p:spPr>
          <a:xfrm>
            <a:off x="7786710" y="2406843"/>
            <a:ext cx="12144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p &lt;&lt;0.001</a:t>
            </a:r>
          </a:p>
        </p:txBody>
      </p:sp>
      <p:sp>
        <p:nvSpPr>
          <p:cNvPr id="12" name="CasellaDiTesto 11"/>
          <p:cNvSpPr txBox="1"/>
          <p:nvPr/>
        </p:nvSpPr>
        <p:spPr>
          <a:xfrm>
            <a:off x="428596" y="6027027"/>
            <a:ext cx="85011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Note: cc</a:t>
            </a:r>
            <a:r>
              <a:rPr lang="it-IT" sz="2400" baseline="30000" dirty="0"/>
              <a:t>2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the FRACTION OF VARIANCE </a:t>
            </a:r>
            <a:r>
              <a:rPr lang="it-IT" sz="2400" dirty="0" err="1"/>
              <a:t>of</a:t>
            </a:r>
            <a:r>
              <a:rPr lang="it-IT" sz="2400" dirty="0"/>
              <a:t> R </a:t>
            </a:r>
            <a:r>
              <a:rPr lang="it-IT" sz="2400" dirty="0" err="1"/>
              <a:t>explained</a:t>
            </a:r>
            <a:r>
              <a:rPr lang="it-IT" sz="2400" dirty="0"/>
              <a:t> </a:t>
            </a:r>
            <a:r>
              <a:rPr lang="it-IT" sz="2400" dirty="0" err="1"/>
              <a:t>by</a:t>
            </a:r>
            <a:r>
              <a:rPr lang="it-IT" sz="2400" dirty="0"/>
              <a:t> S, </a:t>
            </a:r>
            <a:r>
              <a:rPr lang="it-IT" sz="2400" dirty="0" err="1"/>
              <a:t>also</a:t>
            </a:r>
            <a:r>
              <a:rPr lang="it-IT" sz="2400" dirty="0"/>
              <a:t> </a:t>
            </a:r>
            <a:r>
              <a:rPr lang="it-IT" sz="2400" dirty="0" err="1"/>
              <a:t>known</a:t>
            </a:r>
            <a:r>
              <a:rPr lang="it-IT" sz="2400" dirty="0"/>
              <a:t> </a:t>
            </a:r>
            <a:r>
              <a:rPr lang="it-IT" sz="2400" dirty="0" err="1"/>
              <a:t>as</a:t>
            </a:r>
            <a:r>
              <a:rPr lang="it-IT" sz="2400" dirty="0"/>
              <a:t> “</a:t>
            </a:r>
            <a:r>
              <a:rPr lang="it-IT" sz="2400" dirty="0" err="1"/>
              <a:t>coefficient</a:t>
            </a:r>
            <a:r>
              <a:rPr lang="it-IT" sz="2400" dirty="0"/>
              <a:t> </a:t>
            </a:r>
            <a:r>
              <a:rPr lang="it-IT" sz="2400" dirty="0" err="1"/>
              <a:t>of</a:t>
            </a:r>
            <a:r>
              <a:rPr lang="it-IT" sz="2400" dirty="0"/>
              <a:t> </a:t>
            </a:r>
            <a:r>
              <a:rPr lang="it-IT" sz="2400" dirty="0" err="1"/>
              <a:t>determination</a:t>
            </a:r>
            <a:r>
              <a:rPr lang="it-IT" sz="24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213548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0"/>
            <a:ext cx="8458200" cy="752014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Cross-correlation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/>
              <p:cNvSpPr txBox="1"/>
              <p:nvPr/>
            </p:nvSpPr>
            <p:spPr>
              <a:xfrm>
                <a:off x="17417" y="1556792"/>
                <a:ext cx="8947071" cy="3313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800" b="0" i="1" smtClean="0">
                          <a:latin typeface="Cambria Math"/>
                        </a:rPr>
                        <m:t>𝑐𝑟𝑜𝑠𝑠𝑐𝑜𝑟𝑟</m:t>
                      </m:r>
                      <m:d>
                        <m:dPr>
                          <m:ctrlPr>
                            <a:rPr lang="it-IT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4800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it-IT" sz="4800" b="0" i="1" smtClean="0">
                              <a:latin typeface="Cambria Math"/>
                            </a:rPr>
                            <m:t>,</m:t>
                          </m:r>
                          <m:r>
                            <a:rPr lang="it-IT" sz="4800" b="0" i="1" smtClean="0">
                              <a:latin typeface="Cambria Math"/>
                            </a:rPr>
                            <m:t>𝑦</m:t>
                          </m:r>
                          <m:r>
                            <a:rPr lang="it-IT" sz="4800" b="0" i="1" smtClean="0">
                              <a:latin typeface="Cambria Math"/>
                            </a:rPr>
                            <m:t>,</m:t>
                          </m:r>
                          <m:r>
                            <a:rPr lang="it-IT" sz="4800" b="0" i="1" smtClean="0">
                              <a:latin typeface="Cambria Math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it-IT" sz="4800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800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it-IT" sz="4800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it-IT" sz="4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it-IT" sz="4800" b="0" i="1" smtClean="0">
                                  <a:latin typeface="Cambria Math"/>
                                </a:rPr>
                                <m:t>𝑡</m:t>
                              </m:r>
                            </m:sub>
                            <m:sup/>
                            <m:e>
                              <m:r>
                                <a:rPr lang="it-IT" sz="4800" b="0" i="1" smtClean="0">
                                  <a:latin typeface="Cambria Math"/>
                                </a:rPr>
                                <m:t>(</m:t>
                              </m:r>
                              <m:d>
                                <m:dPr>
                                  <m:ctrlPr>
                                    <a:rPr lang="it-IT" sz="4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4800" b="0" i="1" smtClean="0">
                                      <a:latin typeface="Cambria Math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it-IT" sz="4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it-IT" sz="4800" b="0" i="1" smtClean="0">
                                      <a:latin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it-IT" sz="4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it-IT" sz="4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4800" b="0" i="1" smtClean="0">
                                      <a:latin typeface="Cambria Math"/>
                                    </a:rPr>
                                    <m:t>𝑦</m:t>
                                  </m:r>
                                  <m:d>
                                    <m:dPr>
                                      <m:ctrlPr>
                                        <a:rPr lang="it-IT" sz="4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𝑡</m:t>
                                      </m:r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𝑑</m:t>
                                      </m:r>
                                    </m:e>
                                  </m:d>
                                  <m:r>
                                    <a:rPr lang="it-IT" sz="4800" i="1">
                                      <a:latin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it-IT" sz="4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it-IT" sz="48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it-IT" sz="48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it-IT" sz="4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it-IT" sz="4800" b="0" i="1" smtClean="0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it-IT" sz="4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  <m:d>
                                        <m:dPr>
                                          <m:ctrlPr>
                                            <a:rPr lang="it-IT" sz="4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it-IT" sz="4800" b="0" i="1" smtClean="0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it-IT" sz="4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it-IT" sz="4800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it-IT" sz="4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it-IT" sz="4800" i="1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it-IT" sz="4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𝑦</m:t>
                                      </m:r>
                                      <m:d>
                                        <m:dPr>
                                          <m:ctrlPr>
                                            <a:rPr lang="it-IT" sz="4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it-IT" sz="4800" i="1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it-IT" sz="4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it-IT" sz="4800" b="0" i="1" smtClean="0">
                                              <a:latin typeface="Cambria Math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it-IT" sz="4800" dirty="0"/>
              </a:p>
            </p:txBody>
          </p:sp>
        </mc:Choice>
        <mc:Fallback xmlns="">
          <p:sp>
            <p:nvSpPr>
              <p:cNvPr id="5" name="CasellaDiTes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7" y="1556792"/>
                <a:ext cx="8947071" cy="331321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sellaDiTesto 3"/>
          <p:cNvSpPr txBox="1"/>
          <p:nvPr/>
        </p:nvSpPr>
        <p:spPr>
          <a:xfrm>
            <a:off x="785786" y="5214950"/>
            <a:ext cx="7358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/>
              <a:t>To be </a:t>
            </a:r>
            <a:r>
              <a:rPr lang="it-IT" sz="2800" dirty="0" err="1"/>
              <a:t>used</a:t>
            </a:r>
            <a:r>
              <a:rPr lang="it-IT" sz="2800" dirty="0"/>
              <a:t> </a:t>
            </a:r>
            <a:r>
              <a:rPr lang="it-IT" sz="2800" dirty="0" err="1"/>
              <a:t>when</a:t>
            </a:r>
            <a:r>
              <a:rPr lang="it-IT" sz="2800" dirty="0"/>
              <a:t> </a:t>
            </a:r>
            <a:r>
              <a:rPr lang="it-IT" sz="2800" i="1" dirty="0"/>
              <a:t>t</a:t>
            </a:r>
            <a:r>
              <a:rPr lang="it-IT" sz="2800" dirty="0"/>
              <a:t> </a:t>
            </a:r>
            <a:r>
              <a:rPr lang="it-IT" sz="2800" dirty="0" err="1"/>
              <a:t>does</a:t>
            </a:r>
            <a:r>
              <a:rPr lang="it-IT" sz="2800" dirty="0"/>
              <a:t> </a:t>
            </a:r>
            <a:r>
              <a:rPr lang="it-IT" sz="2800" dirty="0" err="1"/>
              <a:t>really</a:t>
            </a:r>
            <a:r>
              <a:rPr lang="it-IT" sz="2800" dirty="0"/>
              <a:t> </a:t>
            </a:r>
            <a:r>
              <a:rPr lang="it-IT" sz="2800" dirty="0" err="1"/>
              <a:t>represent</a:t>
            </a:r>
            <a:r>
              <a:rPr lang="it-IT" sz="2800" dirty="0"/>
              <a:t> </a:t>
            </a:r>
            <a:r>
              <a:rPr lang="it-IT" sz="2800" dirty="0" err="1"/>
              <a:t>time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1396762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0"/>
            <a:ext cx="8458200" cy="752014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Autocorrelation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/>
              <p:cNvSpPr txBox="1"/>
              <p:nvPr/>
            </p:nvSpPr>
            <p:spPr>
              <a:xfrm>
                <a:off x="17417" y="1556792"/>
                <a:ext cx="8947071" cy="33132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800" b="0" i="1" smtClean="0">
                          <a:latin typeface="Cambria Math"/>
                        </a:rPr>
                        <m:t>𝑎𝑢𝑡𝑜𝑐𝑜𝑟𝑟</m:t>
                      </m:r>
                      <m:d>
                        <m:dPr>
                          <m:ctrlPr>
                            <a:rPr lang="it-IT" sz="4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4800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it-IT" sz="4800" b="0" i="1" smtClean="0">
                              <a:latin typeface="Cambria Math"/>
                            </a:rPr>
                            <m:t>,</m:t>
                          </m:r>
                          <m:r>
                            <a:rPr lang="it-IT" sz="4800" b="0" i="1" smtClean="0">
                              <a:latin typeface="Cambria Math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it-IT" sz="4800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4800" b="0" i="1" smtClean="0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it-IT" sz="4800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sz="4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it-IT" sz="4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it-IT" sz="4800" b="0" i="1" smtClean="0">
                                  <a:latin typeface="Cambria Math"/>
                                </a:rPr>
                                <m:t>𝑡</m:t>
                              </m:r>
                            </m:sub>
                            <m:sup/>
                            <m:e>
                              <m:r>
                                <a:rPr lang="it-IT" sz="4800" b="0" i="1" smtClean="0">
                                  <a:latin typeface="Cambria Math"/>
                                </a:rPr>
                                <m:t>(</m:t>
                              </m:r>
                              <m:d>
                                <m:dPr>
                                  <m:ctrlPr>
                                    <a:rPr lang="it-IT" sz="4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4800" b="0" i="1" smtClean="0">
                                      <a:latin typeface="Cambria Math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it-IT" sz="4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it-IT" sz="4800" b="0" i="1" smtClean="0">
                                      <a:latin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it-IT" sz="4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d>
                                <m:dPr>
                                  <m:ctrlPr>
                                    <a:rPr lang="it-IT" sz="4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4800" b="0" i="1" smtClean="0">
                                      <a:latin typeface="Cambria Math"/>
                                    </a:rPr>
                                    <m:t>𝑥</m:t>
                                  </m:r>
                                  <m:d>
                                    <m:dPr>
                                      <m:ctrlPr>
                                        <a:rPr lang="it-IT" sz="4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𝑡</m:t>
                                      </m:r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𝑑</m:t>
                                      </m:r>
                                    </m:e>
                                  </m:d>
                                  <m:r>
                                    <a:rPr lang="it-IT" sz="4800" i="1">
                                      <a:latin typeface="Cambria Math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it-IT" sz="4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</m:acc>
                                </m:e>
                              </m:d>
                              <m:r>
                                <a:rPr lang="it-IT" sz="4800" b="0" i="1" smtClean="0">
                                  <a:latin typeface="Cambria Math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it-IT" sz="48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it-IT" sz="4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it-IT" sz="4800" b="0" i="1" smtClean="0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it-IT" sz="4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  <m:d>
                                        <m:dPr>
                                          <m:ctrlPr>
                                            <a:rPr lang="it-IT" sz="4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it-IT" sz="4800" b="0" i="1" smtClean="0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it-IT" sz="4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it-IT" sz="4800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it-IT" sz="4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it-IT" sz="4800" i="1">
                                      <a:latin typeface="Cambria Math"/>
                                    </a:rPr>
                                    <m:t>𝑡</m:t>
                                  </m:r>
                                </m:sub>
                                <m:sup/>
                                <m:e>
                                  <m:sSup>
                                    <m:sSupPr>
                                      <m:ctrlPr>
                                        <a:rPr lang="it-IT" sz="4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(</m:t>
                                      </m:r>
                                      <m:r>
                                        <a:rPr lang="it-IT" sz="48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  <m:d>
                                        <m:dPr>
                                          <m:ctrlPr>
                                            <a:rPr lang="it-IT" sz="4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it-IT" sz="4800" i="1">
                                              <a:latin typeface="Cambria Math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it-IT" sz="4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it-IT" sz="4800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</m:acc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it-IT" sz="4800" i="1">
                                          <a:latin typeface="Cambria Math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it-IT" sz="4800" dirty="0"/>
              </a:p>
            </p:txBody>
          </p:sp>
        </mc:Choice>
        <mc:Fallback xmlns="">
          <p:sp>
            <p:nvSpPr>
              <p:cNvPr id="5" name="CasellaDiTes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7" y="1556792"/>
                <a:ext cx="8947071" cy="331321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sellaDiTesto 3"/>
          <p:cNvSpPr txBox="1"/>
          <p:nvPr/>
        </p:nvSpPr>
        <p:spPr>
          <a:xfrm>
            <a:off x="785786" y="5214950"/>
            <a:ext cx="7358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err="1"/>
              <a:t>To</a:t>
            </a:r>
            <a:r>
              <a:rPr lang="it-IT" sz="2800" dirty="0"/>
              <a:t> </a:t>
            </a:r>
            <a:r>
              <a:rPr lang="it-IT" sz="2800" dirty="0" err="1"/>
              <a:t>be</a:t>
            </a:r>
            <a:r>
              <a:rPr lang="it-IT" sz="2800" dirty="0"/>
              <a:t> </a:t>
            </a:r>
            <a:r>
              <a:rPr lang="it-IT" sz="2800" dirty="0" err="1"/>
              <a:t>used</a:t>
            </a:r>
            <a:r>
              <a:rPr lang="it-IT" sz="2800" dirty="0"/>
              <a:t> </a:t>
            </a:r>
            <a:r>
              <a:rPr lang="it-IT" sz="2800" dirty="0" err="1"/>
              <a:t>when</a:t>
            </a:r>
            <a:r>
              <a:rPr lang="it-IT" sz="2800" dirty="0"/>
              <a:t> </a:t>
            </a:r>
            <a:r>
              <a:rPr lang="it-IT" sz="2800" i="1" dirty="0"/>
              <a:t>t</a:t>
            </a:r>
            <a:r>
              <a:rPr lang="it-IT" sz="2800" dirty="0"/>
              <a:t> </a:t>
            </a:r>
            <a:r>
              <a:rPr lang="it-IT" sz="2800" dirty="0" err="1"/>
              <a:t>does</a:t>
            </a:r>
            <a:r>
              <a:rPr lang="it-IT" sz="2800" dirty="0"/>
              <a:t> </a:t>
            </a:r>
            <a:r>
              <a:rPr lang="it-IT" sz="2800" dirty="0" err="1"/>
              <a:t>really</a:t>
            </a:r>
            <a:r>
              <a:rPr lang="it-IT" sz="2800" dirty="0"/>
              <a:t> </a:t>
            </a:r>
            <a:r>
              <a:rPr lang="it-IT" sz="2800" dirty="0" err="1"/>
              <a:t>represent</a:t>
            </a:r>
            <a:r>
              <a:rPr lang="it-IT" sz="2800" dirty="0"/>
              <a:t> </a:t>
            </a:r>
            <a:r>
              <a:rPr lang="it-IT" sz="2800" dirty="0" err="1"/>
              <a:t>time</a:t>
            </a: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40856493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0"/>
            <a:ext cx="8458200" cy="752014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 and cross correlation meaning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266700" y="6207695"/>
            <a:ext cx="4305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/>
              <a:t>Autocorrelation</a:t>
            </a:r>
            <a:endParaRPr lang="it-IT" sz="2400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4724400" y="6181264"/>
            <a:ext cx="4305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Cross-</a:t>
            </a:r>
            <a:r>
              <a:rPr lang="it-IT" sz="2400" dirty="0" err="1"/>
              <a:t>correlation</a:t>
            </a:r>
            <a:endParaRPr lang="it-IT" sz="2400" dirty="0"/>
          </a:p>
        </p:txBody>
      </p:sp>
      <p:pic>
        <p:nvPicPr>
          <p:cNvPr id="39938" name="Picture 2" descr="http://static.rogerebert.com/uploads/movie/movie_poster/the-past-2013/large_wIFtsNAvrUh6b9JtHzj17KDA61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13" y="752013"/>
            <a:ext cx="3657600" cy="542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942" name="Picture 6" descr="http://upload.wikimedia.org/wikipedia/en/a/a9/Babel_poster3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0621" y="752012"/>
            <a:ext cx="3600864" cy="53412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04850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AutoShape 9" descr="cid:image001.jpg@01C809A0.2A44ABE0"/>
          <p:cNvSpPr>
            <a:spLocks noChangeAspect="1" noChangeArrowheads="1"/>
          </p:cNvSpPr>
          <p:nvPr/>
        </p:nvSpPr>
        <p:spPr bwMode="auto">
          <a:xfrm>
            <a:off x="168275" y="-419100"/>
            <a:ext cx="6334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  <p:pic>
        <p:nvPicPr>
          <p:cNvPr id="169986" name="Picture 2" descr="C:\Users\alberto\AppData\Local\Temp\chart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1357298"/>
            <a:ext cx="6786610" cy="2675490"/>
          </a:xfrm>
          <a:prstGeom prst="rect">
            <a:avLst/>
          </a:prstGeom>
          <a:noFill/>
        </p:spPr>
      </p:pic>
      <p:pic>
        <p:nvPicPr>
          <p:cNvPr id="169987" name="Picture 3" descr="C:\Users\alberto\AppData\Local\Temp\chart-1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57290" y="4238860"/>
            <a:ext cx="6643734" cy="2619164"/>
          </a:xfrm>
          <a:prstGeom prst="rect">
            <a:avLst/>
          </a:prstGeom>
          <a:noFill/>
        </p:spPr>
      </p:pic>
      <p:sp>
        <p:nvSpPr>
          <p:cNvPr id="7" name="Rectangle 17"/>
          <p:cNvSpPr txBox="1">
            <a:spLocks noChangeArrowheads="1"/>
          </p:cNvSpPr>
          <p:nvPr/>
        </p:nvSpPr>
        <p:spPr>
          <a:xfrm>
            <a:off x="342900" y="0"/>
            <a:ext cx="8458200" cy="75201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Spurious correlations</a:t>
            </a:r>
            <a:endParaRPr kumimoji="0" lang="en-US" sz="3200" b="1" i="0" u="sng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7643834" y="1142984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R=0.95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7643834" y="4572008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R=0.87</a:t>
            </a:r>
          </a:p>
        </p:txBody>
      </p:sp>
    </p:spTree>
    <p:extLst>
      <p:ext uri="{BB962C8B-B14F-4D97-AF65-F5344CB8AC3E}">
        <p14:creationId xmlns:p14="http://schemas.microsoft.com/office/powerpoint/2010/main" val="86558439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AutoShape 9" descr="cid:image001.jpg@01C809A0.2A44ABE0"/>
          <p:cNvSpPr>
            <a:spLocks noChangeAspect="1" noChangeArrowheads="1"/>
          </p:cNvSpPr>
          <p:nvPr/>
        </p:nvSpPr>
        <p:spPr bwMode="auto">
          <a:xfrm>
            <a:off x="168275" y="-419100"/>
            <a:ext cx="6334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  <p:pic>
        <p:nvPicPr>
          <p:cNvPr id="169986" name="Picture 2" descr="C:\Users\alberto\AppData\Local\Temp\chart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1357298"/>
            <a:ext cx="6786610" cy="2675490"/>
          </a:xfrm>
          <a:prstGeom prst="rect">
            <a:avLst/>
          </a:prstGeom>
          <a:noFill/>
        </p:spPr>
      </p:pic>
      <p:pic>
        <p:nvPicPr>
          <p:cNvPr id="169987" name="Picture 3" descr="C:\Users\alberto\AppData\Local\Temp\chart-1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57290" y="4238860"/>
            <a:ext cx="6643734" cy="2619164"/>
          </a:xfrm>
          <a:prstGeom prst="rect">
            <a:avLst/>
          </a:prstGeom>
          <a:noFill/>
        </p:spPr>
      </p:pic>
      <p:sp>
        <p:nvSpPr>
          <p:cNvPr id="7" name="Rectangle 17"/>
          <p:cNvSpPr txBox="1">
            <a:spLocks noChangeArrowheads="1"/>
          </p:cNvSpPr>
          <p:nvPr/>
        </p:nvSpPr>
        <p:spPr>
          <a:xfrm>
            <a:off x="342900" y="0"/>
            <a:ext cx="8458200" cy="75201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Spurious correlations</a:t>
            </a:r>
            <a:endParaRPr kumimoji="0" lang="en-US" sz="3200" b="1" i="0" u="sng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0" name="CasellaDiTesto 9"/>
          <p:cNvSpPr txBox="1"/>
          <p:nvPr/>
        </p:nvSpPr>
        <p:spPr>
          <a:xfrm>
            <a:off x="7643834" y="1142984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R=0.95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7643834" y="4572008"/>
            <a:ext cx="100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R=0.87</a:t>
            </a: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6E59598F-7503-41A0-8B64-23F1DC3CE1A3}"/>
              </a:ext>
            </a:extLst>
          </p:cNvPr>
          <p:cNvSpPr/>
          <p:nvPr/>
        </p:nvSpPr>
        <p:spPr>
          <a:xfrm>
            <a:off x="251520" y="4032788"/>
            <a:ext cx="8280920" cy="2460961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2400" b="1" dirty="0" err="1"/>
              <a:t>Meaning</a:t>
            </a:r>
            <a:r>
              <a:rPr lang="it-IT" sz="2400" b="1" dirty="0"/>
              <a:t>: </a:t>
            </a:r>
          </a:p>
          <a:p>
            <a:pPr algn="ctr"/>
            <a:r>
              <a:rPr lang="it-IT" sz="2400" dirty="0"/>
              <a:t>First </a:t>
            </a:r>
            <a:r>
              <a:rPr lang="it-IT" sz="2400" dirty="0" err="1"/>
              <a:t>you</a:t>
            </a:r>
            <a:r>
              <a:rPr lang="it-IT" sz="2400" dirty="0"/>
              <a:t> </a:t>
            </a:r>
            <a:r>
              <a:rPr lang="it-IT" sz="2400" dirty="0" err="1"/>
              <a:t>write</a:t>
            </a:r>
            <a:r>
              <a:rPr lang="it-IT" sz="2400" dirty="0"/>
              <a:t> down </a:t>
            </a:r>
            <a:r>
              <a:rPr lang="it-IT" sz="2400" dirty="0" err="1"/>
              <a:t>your</a:t>
            </a:r>
            <a:r>
              <a:rPr lang="it-IT" sz="2400" dirty="0"/>
              <a:t> </a:t>
            </a:r>
            <a:r>
              <a:rPr lang="it-IT" sz="2400" dirty="0" err="1"/>
              <a:t>hypothesis</a:t>
            </a:r>
            <a:r>
              <a:rPr lang="it-IT" sz="2400" dirty="0"/>
              <a:t>, </a:t>
            </a:r>
            <a:r>
              <a:rPr lang="it-IT" sz="2400" dirty="0" err="1"/>
              <a:t>then</a:t>
            </a:r>
            <a:r>
              <a:rPr lang="it-IT" sz="2400" dirty="0"/>
              <a:t> </a:t>
            </a:r>
            <a:r>
              <a:rPr lang="it-IT" sz="2400" dirty="0" err="1"/>
              <a:t>you</a:t>
            </a:r>
            <a:r>
              <a:rPr lang="it-IT" sz="2400" dirty="0"/>
              <a:t> compute the </a:t>
            </a:r>
            <a:r>
              <a:rPr lang="it-IT" sz="2400" dirty="0" err="1"/>
              <a:t>correlation</a:t>
            </a:r>
            <a:r>
              <a:rPr lang="it-IT" sz="2400" dirty="0"/>
              <a:t>. </a:t>
            </a:r>
            <a:r>
              <a:rPr lang="it-IT" sz="2400" dirty="0" err="1"/>
              <a:t>Otherwise</a:t>
            </a:r>
            <a:r>
              <a:rPr lang="it-IT" sz="2400" dirty="0"/>
              <a:t> </a:t>
            </a:r>
            <a:r>
              <a:rPr lang="it-IT" sz="2400" dirty="0" err="1"/>
              <a:t>you</a:t>
            </a:r>
            <a:r>
              <a:rPr lang="it-IT" sz="2400" dirty="0"/>
              <a:t> </a:t>
            </a:r>
            <a:r>
              <a:rPr lang="it-IT" sz="2400" dirty="0" err="1"/>
              <a:t>drown</a:t>
            </a:r>
            <a:r>
              <a:rPr lang="it-IT" sz="2400" dirty="0"/>
              <a:t> in </a:t>
            </a:r>
            <a:r>
              <a:rPr lang="it-IT" sz="2400" u="sng" dirty="0"/>
              <a:t>multiple </a:t>
            </a:r>
            <a:r>
              <a:rPr lang="it-IT" sz="2400" u="sng" dirty="0" err="1"/>
              <a:t>comparisons</a:t>
            </a:r>
            <a:r>
              <a:rPr lang="it-IT" sz="2400" dirty="0"/>
              <a:t>. Check for multiple </a:t>
            </a:r>
            <a:r>
              <a:rPr lang="it-IT" sz="2400" dirty="0" err="1"/>
              <a:t>corrections</a:t>
            </a:r>
            <a:r>
              <a:rPr lang="it-IT" sz="2400" dirty="0"/>
              <a:t> (Bonferroni, </a:t>
            </a:r>
            <a:r>
              <a:rPr lang="it-IT" sz="2400" dirty="0" err="1"/>
              <a:t>Tuckey</a:t>
            </a:r>
            <a:r>
              <a:rPr lang="it-IT" sz="2400" dirty="0"/>
              <a:t> </a:t>
            </a:r>
            <a:r>
              <a:rPr lang="it-IT" sz="2400" dirty="0" err="1"/>
              <a:t>etc</a:t>
            </a:r>
            <a:r>
              <a:rPr lang="it-IT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485289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AutoShape 9" descr="cid:image001.jpg@01C809A0.2A44ABE0"/>
          <p:cNvSpPr>
            <a:spLocks noChangeAspect="1" noChangeArrowheads="1"/>
          </p:cNvSpPr>
          <p:nvPr/>
        </p:nvSpPr>
        <p:spPr bwMode="auto">
          <a:xfrm>
            <a:off x="168275" y="-419100"/>
            <a:ext cx="6334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7" name="Rectangle 17"/>
          <p:cNvSpPr txBox="1">
            <a:spLocks noChangeArrowheads="1"/>
          </p:cNvSpPr>
          <p:nvPr/>
        </p:nvSpPr>
        <p:spPr>
          <a:xfrm>
            <a:off x="342900" y="0"/>
            <a:ext cx="8458200" cy="752014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Spurious correlations</a:t>
            </a:r>
            <a:endParaRPr kumimoji="0" lang="en-US" sz="3200" b="1" i="0" u="sng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pic>
        <p:nvPicPr>
          <p:cNvPr id="171010" name="Picture 2" descr="Correlation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182" y="2000240"/>
            <a:ext cx="9039412" cy="3643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50789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-1"/>
            <a:ext cx="8458200" cy="1143001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</a:t>
            </a:r>
            <a:r>
              <a:rPr lang="en-US" sz="320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 </a:t>
            </a: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correlation the whole story?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9657"/>
            <a:ext cx="9144000" cy="3998686"/>
          </a:xfrm>
          <a:prstGeom prst="rect">
            <a:avLst/>
          </a:prstGeom>
        </p:spPr>
      </p:pic>
      <p:sp>
        <p:nvSpPr>
          <p:cNvPr id="10" name="CasellaDiTesto 9"/>
          <p:cNvSpPr txBox="1"/>
          <p:nvPr/>
        </p:nvSpPr>
        <p:spPr>
          <a:xfrm>
            <a:off x="266700" y="5410200"/>
            <a:ext cx="4305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p&lt;0.0000000001 &amp; R=0.902</a:t>
            </a:r>
          </a:p>
          <a:p>
            <a:r>
              <a:rPr lang="it-IT" sz="2400" dirty="0" err="1"/>
              <a:t>means</a:t>
            </a:r>
            <a:r>
              <a:rPr lang="it-IT" sz="2400" dirty="0"/>
              <a:t> </a:t>
            </a:r>
            <a:r>
              <a:rPr lang="it-IT" sz="2400" dirty="0" err="1"/>
              <a:t>related</a:t>
            </a:r>
            <a:r>
              <a:rPr lang="it-IT" sz="2400" dirty="0"/>
              <a:t>..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4724400" y="5410200"/>
            <a:ext cx="4305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/>
              <a:t>…but</a:t>
            </a:r>
            <a:r>
              <a:rPr lang="it-IT" sz="2400" dirty="0"/>
              <a:t> </a:t>
            </a:r>
            <a:r>
              <a:rPr lang="it-IT" sz="2400" dirty="0" err="1"/>
              <a:t>does</a:t>
            </a:r>
            <a:r>
              <a:rPr lang="it-IT" sz="2400" dirty="0"/>
              <a:t> p&lt;=0.69 &amp; R=-.075</a:t>
            </a:r>
          </a:p>
          <a:p>
            <a:r>
              <a:rPr lang="it-IT" sz="2400" dirty="0" err="1"/>
              <a:t>mean</a:t>
            </a:r>
            <a:r>
              <a:rPr lang="it-IT" sz="2400" dirty="0"/>
              <a:t> </a:t>
            </a:r>
            <a:r>
              <a:rPr lang="it-IT" sz="2400" dirty="0" err="1"/>
              <a:t>unrelated</a:t>
            </a:r>
            <a:r>
              <a:rPr lang="it-IT" sz="2400" dirty="0"/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5519879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3" name="Rectangle 17"/>
          <p:cNvSpPr>
            <a:spLocks noGrp="1" noChangeArrowheads="1"/>
          </p:cNvSpPr>
          <p:nvPr>
            <p:ph type="title"/>
          </p:nvPr>
        </p:nvSpPr>
        <p:spPr>
          <a:xfrm>
            <a:off x="342900" y="-1"/>
            <a:ext cx="8458200" cy="1143001"/>
          </a:xfrm>
          <a:noFill/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Sometimes linear correlation </a:t>
            </a:r>
            <a:b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not the whole story</a:t>
            </a:r>
            <a:endParaRPr lang="en-US" sz="3200" b="1" u="sng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9850" y="1077913"/>
            <a:ext cx="9285288" cy="4700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85618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9750" y="80962"/>
            <a:ext cx="8299450" cy="1595438"/>
          </a:xfrm>
        </p:spPr>
        <p:txBody>
          <a:bodyPr/>
          <a:lstStyle/>
          <a:p>
            <a:r>
              <a:rPr lang="en-GB" sz="4000" b="1" dirty="0">
                <a:solidFill>
                  <a:srgbClr val="FF0000"/>
                </a:solidFill>
                <a:latin typeface="Arial" charset="0"/>
                <a:cs typeface="Arial" charset="0"/>
              </a:rPr>
              <a:t> Information</a:t>
            </a:r>
            <a:endParaRPr lang="en-US" sz="4000" b="1" dirty="0">
              <a:solidFill>
                <a:srgbClr val="FF0000"/>
              </a:solidFill>
              <a:latin typeface="Arial" charset="0"/>
              <a:cs typeface="Arial" charset="0"/>
            </a:endParaRPr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771650"/>
            <a:ext cx="8648700" cy="455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536D9800-CCD1-4DF4-9A78-0FF18F05150E}"/>
              </a:ext>
            </a:extLst>
          </p:cNvPr>
          <p:cNvSpPr/>
          <p:nvPr/>
        </p:nvSpPr>
        <p:spPr>
          <a:xfrm>
            <a:off x="1690011" y="5728073"/>
            <a:ext cx="720080" cy="72008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/>
              <a:t>SR</a:t>
            </a:r>
          </a:p>
        </p:txBody>
      </p:sp>
    </p:spTree>
    <p:extLst>
      <p:ext uri="{BB962C8B-B14F-4D97-AF65-F5344CB8AC3E}">
        <p14:creationId xmlns:p14="http://schemas.microsoft.com/office/powerpoint/2010/main" val="3713043538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4"/>
          <p:cNvSpPr txBox="1">
            <a:spLocks noChangeArrowheads="1"/>
          </p:cNvSpPr>
          <p:nvPr/>
        </p:nvSpPr>
        <p:spPr bwMode="auto">
          <a:xfrm>
            <a:off x="430212" y="914400"/>
            <a:ext cx="8104188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 dirty="0">
                <a:latin typeface="Arial" charset="0"/>
              </a:rPr>
              <a:t>Information theory is a branch of mathematics that deals with measures of information and their application to the study of communication, statistics, and complexity. </a:t>
            </a:r>
          </a:p>
          <a:p>
            <a:endParaRPr lang="en-US" sz="2000" dirty="0">
              <a:latin typeface="Arial" charset="0"/>
            </a:endParaRPr>
          </a:p>
          <a:p>
            <a:r>
              <a:rPr lang="en-US" sz="2000" dirty="0">
                <a:latin typeface="Arial" charset="0"/>
              </a:rPr>
              <a:t>It extends the thermodynamic of gas particles to create a “thermodynamic of the symbolic representation”</a:t>
            </a:r>
          </a:p>
          <a:p>
            <a:endParaRPr lang="en-US" sz="2000" dirty="0">
              <a:latin typeface="Arial" charset="0"/>
            </a:endParaRPr>
          </a:p>
          <a:p>
            <a:r>
              <a:rPr lang="en-US" sz="2000" dirty="0">
                <a:latin typeface="Arial" charset="0"/>
              </a:rPr>
              <a:t>Based on the pioneering work of Claude Shannon</a:t>
            </a:r>
          </a:p>
        </p:txBody>
      </p:sp>
      <p:sp>
        <p:nvSpPr>
          <p:cNvPr id="34819" name="Text Box 5"/>
          <p:cNvSpPr txBox="1">
            <a:spLocks noChangeArrowheads="1"/>
          </p:cNvSpPr>
          <p:nvPr/>
        </p:nvSpPr>
        <p:spPr bwMode="auto">
          <a:xfrm>
            <a:off x="2297133" y="214313"/>
            <a:ext cx="532286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cy-GB" sz="3200" dirty="0">
                <a:solidFill>
                  <a:srgbClr val="FF0000"/>
                </a:solidFill>
                <a:latin typeface="Arial" charset="0"/>
              </a:rPr>
              <a:t>What is Information Theory?</a:t>
            </a:r>
            <a:endParaRPr lang="en-US" sz="3200" dirty="0">
              <a:solidFill>
                <a:srgbClr val="FF0000"/>
              </a:solidFill>
              <a:latin typeface="Arial" charset="0"/>
            </a:endParaRPr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7900" y="3913568"/>
            <a:ext cx="2857500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0" y="3962400"/>
            <a:ext cx="571500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dirty="0">
                <a:latin typeface="Arial" charset="0"/>
              </a:rPr>
              <a:t>Shannon, C. E. (1948). A mathematical theory of communication. Bell Sys. Tech. Journal 27:379-423, 623-656.</a:t>
            </a:r>
          </a:p>
          <a:p>
            <a:endParaRPr lang="en-US" sz="1400" dirty="0">
              <a:latin typeface="Arial" charset="0"/>
            </a:endParaRPr>
          </a:p>
          <a:p>
            <a:r>
              <a:rPr lang="en-US" sz="1400" dirty="0">
                <a:latin typeface="Arial" charset="0"/>
              </a:rPr>
              <a:t>PE Latham and Y </a:t>
            </a:r>
            <a:r>
              <a:rPr lang="en-US" sz="1400" dirty="0" err="1">
                <a:latin typeface="Arial" charset="0"/>
              </a:rPr>
              <a:t>Roudi</a:t>
            </a:r>
            <a:r>
              <a:rPr lang="en-US" sz="1400" dirty="0">
                <a:latin typeface="Arial" charset="0"/>
              </a:rPr>
              <a:t> (2008) Mutual Information – </a:t>
            </a:r>
            <a:r>
              <a:rPr lang="en-US" sz="1400" dirty="0" err="1">
                <a:latin typeface="Arial" charset="0"/>
              </a:rPr>
              <a:t>Scholarpedia</a:t>
            </a:r>
            <a:r>
              <a:rPr lang="en-US" sz="1400" dirty="0">
                <a:latin typeface="Arial" charset="0"/>
              </a:rPr>
              <a:t> article (freely accessible)</a:t>
            </a:r>
          </a:p>
          <a:p>
            <a:endParaRPr lang="en-US" sz="1400" dirty="0">
              <a:latin typeface="Arial" charset="0"/>
            </a:endParaRPr>
          </a:p>
          <a:p>
            <a:r>
              <a:rPr lang="en-US" sz="1400" dirty="0">
                <a:latin typeface="Arial" charset="0"/>
              </a:rPr>
              <a:t>R </a:t>
            </a:r>
            <a:r>
              <a:rPr lang="en-US" sz="1400" dirty="0" err="1">
                <a:latin typeface="Arial" charset="0"/>
              </a:rPr>
              <a:t>Quian</a:t>
            </a:r>
            <a:r>
              <a:rPr lang="en-US" sz="1400" dirty="0">
                <a:latin typeface="Arial" charset="0"/>
              </a:rPr>
              <a:t> </a:t>
            </a:r>
            <a:r>
              <a:rPr lang="en-US" sz="1400" dirty="0" err="1">
                <a:latin typeface="Arial" charset="0"/>
              </a:rPr>
              <a:t>Quiroga</a:t>
            </a:r>
            <a:r>
              <a:rPr lang="en-US" sz="1400" dirty="0">
                <a:latin typeface="Arial" charset="0"/>
              </a:rPr>
              <a:t> and S </a:t>
            </a:r>
            <a:r>
              <a:rPr lang="en-US" sz="1400" dirty="0" err="1">
                <a:latin typeface="Arial" charset="0"/>
              </a:rPr>
              <a:t>Panzeri</a:t>
            </a:r>
            <a:r>
              <a:rPr lang="en-US" sz="1400" dirty="0">
                <a:latin typeface="Arial" charset="0"/>
              </a:rPr>
              <a:t> (2009) Extracting information from neuronal populations: </a:t>
            </a:r>
            <a:r>
              <a:rPr lang="en-US" sz="1400" dirty="0" err="1">
                <a:latin typeface="Arial" charset="0"/>
              </a:rPr>
              <a:t>informaiton</a:t>
            </a:r>
            <a:r>
              <a:rPr lang="en-US" sz="1400" dirty="0">
                <a:latin typeface="Arial" charset="0"/>
              </a:rPr>
              <a:t> theory and decoding approaches. Nature Reviews </a:t>
            </a:r>
            <a:r>
              <a:rPr lang="en-US" sz="1400" dirty="0" err="1">
                <a:latin typeface="Arial" charset="0"/>
              </a:rPr>
              <a:t>Neurosci</a:t>
            </a:r>
            <a:endParaRPr lang="en-US" sz="1400" dirty="0">
              <a:latin typeface="Arial" charset="0"/>
            </a:endParaRP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EECFC7A4-34A9-462E-BEA6-3FCE395D1D39}"/>
              </a:ext>
            </a:extLst>
          </p:cNvPr>
          <p:cNvSpPr/>
          <p:nvPr/>
        </p:nvSpPr>
        <p:spPr>
          <a:xfrm>
            <a:off x="3203848" y="5944587"/>
            <a:ext cx="720080" cy="720080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800" dirty="0"/>
              <a:t>SR</a:t>
            </a:r>
          </a:p>
        </p:txBody>
      </p:sp>
    </p:spTree>
    <p:extLst>
      <p:ext uri="{BB962C8B-B14F-4D97-AF65-F5344CB8AC3E}">
        <p14:creationId xmlns:p14="http://schemas.microsoft.com/office/powerpoint/2010/main" val="9799725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4"/>
          <p:cNvSpPr txBox="1">
            <a:spLocks noChangeArrowheads="1"/>
          </p:cNvSpPr>
          <p:nvPr/>
        </p:nvSpPr>
        <p:spPr bwMode="auto">
          <a:xfrm>
            <a:off x="430212" y="914400"/>
            <a:ext cx="8104188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 dirty="0">
                <a:latin typeface="Arial" charset="0"/>
              </a:rPr>
              <a:t>It originally arose out of communication theory and is sometimes used to mean the mathematical theory that underlies communication systems and communication in the presence of noise. </a:t>
            </a:r>
          </a:p>
          <a:p>
            <a:endParaRPr lang="en-US" sz="2000" dirty="0">
              <a:latin typeface="Arial" charset="0"/>
            </a:endParaRPr>
          </a:p>
          <a:p>
            <a:r>
              <a:rPr lang="en-US" sz="2000" dirty="0">
                <a:latin typeface="Arial" charset="0"/>
              </a:rPr>
              <a:t>Based on the pioneering work of Claude Shannon</a:t>
            </a:r>
          </a:p>
        </p:txBody>
      </p:sp>
      <p:sp>
        <p:nvSpPr>
          <p:cNvPr id="34819" name="Text Box 5"/>
          <p:cNvSpPr txBox="1">
            <a:spLocks noChangeArrowheads="1"/>
          </p:cNvSpPr>
          <p:nvPr/>
        </p:nvSpPr>
        <p:spPr bwMode="auto">
          <a:xfrm>
            <a:off x="735003" y="214312"/>
            <a:ext cx="778328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cy-GB" sz="3200" dirty="0">
                <a:solidFill>
                  <a:srgbClr val="FF0000"/>
                </a:solidFill>
                <a:latin typeface="Arial" charset="0"/>
              </a:rPr>
              <a:t>A Mathematical Theory of Communication</a:t>
            </a:r>
            <a:endParaRPr lang="en-US" sz="3200" dirty="0">
              <a:solidFill>
                <a:srgbClr val="FF0000"/>
              </a:solidFill>
              <a:latin typeface="Arial" charset="0"/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7" y="2060848"/>
            <a:ext cx="9134475" cy="466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390310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2"/>
          <p:cNvSpPr txBox="1">
            <a:spLocks noChangeArrowheads="1"/>
          </p:cNvSpPr>
          <p:nvPr/>
        </p:nvSpPr>
        <p:spPr bwMode="auto">
          <a:xfrm>
            <a:off x="3132138" y="260350"/>
            <a:ext cx="501491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3200" dirty="0">
                <a:solidFill>
                  <a:srgbClr val="FF0000"/>
                </a:solidFill>
                <a:latin typeface="Arial" charset="0"/>
              </a:rPr>
              <a:t>What is a code?</a:t>
            </a:r>
            <a:endParaRPr lang="en-US" sz="3200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323850" y="908050"/>
            <a:ext cx="8343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GB" sz="1800">
                <a:latin typeface="Arial" charset="0"/>
              </a:rPr>
              <a:t>A code is transformation of a certain message by using another alphabet</a:t>
            </a:r>
          </a:p>
          <a:p>
            <a:r>
              <a:rPr lang="en-GB" sz="1800">
                <a:latin typeface="Arial" charset="0"/>
              </a:rPr>
              <a:t>For example, you can use your fingers to represent numbers</a:t>
            </a:r>
            <a:endParaRPr lang="en-US" sz="1800">
              <a:latin typeface="Arial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684213" y="1700213"/>
            <a:ext cx="7416800" cy="1146175"/>
            <a:chOff x="431" y="1071"/>
            <a:chExt cx="4672" cy="722"/>
          </a:xfrm>
        </p:grpSpPr>
        <p:pic>
          <p:nvPicPr>
            <p:cNvPr id="18444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529" b="70335"/>
            <a:stretch>
              <a:fillRect/>
            </a:stretch>
          </p:blipFill>
          <p:spPr bwMode="auto">
            <a:xfrm>
              <a:off x="431" y="1071"/>
              <a:ext cx="1360" cy="7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5" name="Rectangle 6"/>
            <p:cNvSpPr>
              <a:spLocks noChangeArrowheads="1"/>
            </p:cNvSpPr>
            <p:nvPr/>
          </p:nvSpPr>
          <p:spPr bwMode="auto">
            <a:xfrm>
              <a:off x="1973" y="1298"/>
              <a:ext cx="313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r>
                <a:rPr lang="en-GB" sz="1800">
                  <a:latin typeface="Arial" charset="0"/>
                </a:rPr>
                <a:t>Use only thumb to code 0 or 1</a:t>
              </a:r>
              <a:endParaRPr lang="en-US" sz="1800">
                <a:latin typeface="Arial" charset="0"/>
              </a:endParaRP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468313" y="2924175"/>
            <a:ext cx="8280400" cy="1620838"/>
            <a:chOff x="295" y="1842"/>
            <a:chExt cx="5216" cy="1021"/>
          </a:xfrm>
        </p:grpSpPr>
        <p:pic>
          <p:nvPicPr>
            <p:cNvPr id="18442" name="Picture 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665" r="22829" b="28435"/>
            <a:stretch>
              <a:fillRect/>
            </a:stretch>
          </p:blipFill>
          <p:spPr bwMode="auto">
            <a:xfrm>
              <a:off x="295" y="1842"/>
              <a:ext cx="2041" cy="1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3" name="Rectangle 9"/>
            <p:cNvSpPr>
              <a:spLocks noChangeArrowheads="1"/>
            </p:cNvSpPr>
            <p:nvPr/>
          </p:nvSpPr>
          <p:spPr bwMode="auto">
            <a:xfrm>
              <a:off x="2381" y="2024"/>
              <a:ext cx="3130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r>
                <a:rPr lang="en-GB" sz="1800">
                  <a:latin typeface="Arial" charset="0"/>
                </a:rPr>
                <a:t>2 fingers are used to encode 3 different numbers by the total amount of extended fingers</a:t>
              </a:r>
              <a:endParaRPr lang="en-US" sz="1800">
                <a:latin typeface="Arial" charset="0"/>
              </a:endParaRP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395288" y="4724400"/>
            <a:ext cx="8389937" cy="1465263"/>
            <a:chOff x="249" y="2976"/>
            <a:chExt cx="5285" cy="923"/>
          </a:xfrm>
        </p:grpSpPr>
        <p:pic>
          <p:nvPicPr>
            <p:cNvPr id="18440" name="Picture 1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1565"/>
            <a:stretch>
              <a:fillRect/>
            </a:stretch>
          </p:blipFill>
          <p:spPr bwMode="auto">
            <a:xfrm>
              <a:off x="249" y="2976"/>
              <a:ext cx="2631" cy="6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41" name="Rectangle 12"/>
            <p:cNvSpPr>
              <a:spLocks noChangeArrowheads="1"/>
            </p:cNvSpPr>
            <p:nvPr/>
          </p:nvSpPr>
          <p:spPr bwMode="auto">
            <a:xfrm>
              <a:off x="2835" y="2976"/>
              <a:ext cx="2699" cy="9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r>
                <a:rPr lang="en-GB" sz="1800">
                  <a:latin typeface="Arial" charset="0"/>
                </a:rPr>
                <a:t>2 fingers are used with a more complex code to encode 4 different numbers. Here the position of the extended finger is also used to signal – this increases the capacity to encode information</a:t>
              </a:r>
              <a:endParaRPr lang="en-US" sz="1800">
                <a:latin typeface="Arial" charset="0"/>
              </a:endParaR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395288" y="6474023"/>
            <a:ext cx="83899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There are only 10 kind of people in the world: those who know the binary code and those who don’t. </a:t>
            </a:r>
          </a:p>
        </p:txBody>
      </p:sp>
    </p:spTree>
    <p:extLst>
      <p:ext uri="{BB962C8B-B14F-4D97-AF65-F5344CB8AC3E}">
        <p14:creationId xmlns:p14="http://schemas.microsoft.com/office/powerpoint/2010/main" val="226355379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ext Box 2"/>
          <p:cNvSpPr txBox="1">
            <a:spLocks noChangeArrowheads="1"/>
          </p:cNvSpPr>
          <p:nvPr/>
        </p:nvSpPr>
        <p:spPr bwMode="auto">
          <a:xfrm>
            <a:off x="395288" y="549275"/>
            <a:ext cx="76073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3200" dirty="0">
                <a:solidFill>
                  <a:srgbClr val="FF0000"/>
                </a:solidFill>
                <a:latin typeface="Arial" charset="0"/>
              </a:rPr>
              <a:t>Morse code</a:t>
            </a:r>
            <a:endParaRPr lang="en-US" sz="3200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250825" y="4076700"/>
            <a:ext cx="8343900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en-GB" sz="1800">
                <a:latin typeface="Arial" charset="0"/>
              </a:rPr>
              <a:t>Telegrams were transmitted by electrical signals over wires by using Morse codes.</a:t>
            </a:r>
          </a:p>
          <a:p>
            <a:r>
              <a:rPr lang="en-GB" sz="1800">
                <a:latin typeface="Arial" charset="0"/>
              </a:rPr>
              <a:t>Morse codes are a correspondence between the pattern of electrical signals and the characters of the English alphabet.</a:t>
            </a:r>
          </a:p>
          <a:p>
            <a:r>
              <a:rPr lang="en-GB" sz="1800">
                <a:latin typeface="Arial" charset="0"/>
              </a:rPr>
              <a:t>There are two types of “symbols”: long (</a:t>
            </a:r>
            <a:r>
              <a:rPr lang="en-GB" sz="1800" b="1">
                <a:latin typeface="Arial" charset="0"/>
              </a:rPr>
              <a:t>_</a:t>
            </a:r>
            <a:r>
              <a:rPr lang="en-GB" sz="1800">
                <a:latin typeface="Arial" charset="0"/>
              </a:rPr>
              <a:t>) and short (</a:t>
            </a:r>
            <a:r>
              <a:rPr lang="en-GB" sz="1800" b="1">
                <a:latin typeface="Arial" charset="0"/>
              </a:rPr>
              <a:t>.</a:t>
            </a:r>
            <a:r>
              <a:rPr lang="en-GB" sz="1800">
                <a:latin typeface="Arial" charset="0"/>
              </a:rPr>
              <a:t>) electrical pulses.</a:t>
            </a:r>
          </a:p>
          <a:p>
            <a:r>
              <a:rPr lang="en-GB" sz="1800">
                <a:latin typeface="Arial" charset="0"/>
              </a:rPr>
              <a:t>Not only the length of the individual signal is important, but also the timing of the individual signals (&gt; for characters between different words) </a:t>
            </a:r>
          </a:p>
        </p:txBody>
      </p:sp>
      <p:pic>
        <p:nvPicPr>
          <p:cNvPr id="19461" name="Picture 4" descr="Morse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6" t="4301" r="2675" b="4488"/>
          <a:stretch>
            <a:fillRect/>
          </a:stretch>
        </p:blipFill>
        <p:spPr bwMode="auto">
          <a:xfrm>
            <a:off x="2627313" y="692150"/>
            <a:ext cx="5329237" cy="322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271304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371600" y="188913"/>
            <a:ext cx="6851650" cy="676275"/>
          </a:xfrm>
          <a:noFill/>
        </p:spPr>
        <p:txBody>
          <a:bodyPr>
            <a:normAutofit/>
          </a:bodyPr>
          <a:lstStyle/>
          <a:p>
            <a:pPr algn="ctr">
              <a:buFontTx/>
              <a:buNone/>
            </a:pP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Entropy of a random variable S</a:t>
            </a:r>
          </a:p>
        </p:txBody>
      </p:sp>
      <p:sp>
        <p:nvSpPr>
          <p:cNvPr id="1029" name="Text Box 3"/>
          <p:cNvSpPr txBox="1">
            <a:spLocks noChangeArrowheads="1"/>
          </p:cNvSpPr>
          <p:nvPr/>
        </p:nvSpPr>
        <p:spPr bwMode="auto">
          <a:xfrm>
            <a:off x="214313" y="1334274"/>
            <a:ext cx="871220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dirty="0">
                <a:latin typeface="Arial" charset="0"/>
                <a:cs typeface="Arial" charset="0"/>
              </a:rPr>
              <a:t>Suppose we want to gain information about the stimulus</a:t>
            </a:r>
          </a:p>
          <a:p>
            <a:r>
              <a:rPr lang="en-US" sz="1800" dirty="0">
                <a:latin typeface="Arial" charset="0"/>
                <a:cs typeface="Arial" charset="0"/>
              </a:rPr>
              <a:t>If there is only one possible stimulus, then no information is gained by knowing that stimulus. The amount of information obtained from knowing something is related to its INITIAL UNCERTAINTY </a:t>
            </a:r>
          </a:p>
          <a:p>
            <a:r>
              <a:rPr lang="en-US" sz="1800" dirty="0">
                <a:latin typeface="Arial" charset="0"/>
                <a:cs typeface="Arial" charset="0"/>
              </a:rPr>
              <a:t>Therefore the first step to define information is to quantify uncertainty.</a:t>
            </a:r>
          </a:p>
          <a:p>
            <a:r>
              <a:rPr lang="en-US" sz="1800" dirty="0">
                <a:latin typeface="Arial" charset="0"/>
                <a:cs typeface="Arial" charset="0"/>
              </a:rPr>
              <a:t>The entropy H of a random variable s is a simple function of its probability distribution P(s):</a:t>
            </a:r>
          </a:p>
        </p:txBody>
      </p:sp>
      <p:sp>
        <p:nvSpPr>
          <p:cNvPr id="1030" name="Text Box 4"/>
          <p:cNvSpPr txBox="1">
            <a:spLocks noChangeArrowheads="1"/>
          </p:cNvSpPr>
          <p:nvPr/>
        </p:nvSpPr>
        <p:spPr bwMode="auto">
          <a:xfrm>
            <a:off x="188913" y="5302949"/>
            <a:ext cx="89947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dirty="0">
                <a:latin typeface="Arial" charset="0"/>
                <a:cs typeface="Arial" charset="0"/>
              </a:rPr>
              <a:t>H(S) measures the amount of uncertainty inherent to a random variable, i.e. the amount of information necessary to describe it completely.</a:t>
            </a:r>
          </a:p>
        </p:txBody>
      </p:sp>
      <p:graphicFrame>
        <p:nvGraphicFramePr>
          <p:cNvPr id="1026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3913038"/>
          <a:ext cx="5297488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51000" imgH="342900" progId="">
                  <p:embed/>
                </p:oleObj>
              </mc:Choice>
              <mc:Fallback>
                <p:oleObj name="Equation" r:id="rId2" imgW="1651000" imgH="342900" progId="">
                  <p:embed/>
                  <p:pic>
                    <p:nvPicPr>
                      <p:cNvPr id="1026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913038"/>
                        <a:ext cx="5297488" cy="1100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3902746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371600" y="188913"/>
            <a:ext cx="6851650" cy="676275"/>
          </a:xfrm>
          <a:noFill/>
        </p:spPr>
        <p:txBody>
          <a:bodyPr>
            <a:normAutofit/>
          </a:bodyPr>
          <a:lstStyle/>
          <a:p>
            <a:pPr algn="ctr">
              <a:buFontTx/>
              <a:buNone/>
            </a:pP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Entropy of a random variable S</a:t>
            </a:r>
          </a:p>
        </p:txBody>
      </p:sp>
      <p:sp>
        <p:nvSpPr>
          <p:cNvPr id="1029" name="Text Box 3"/>
          <p:cNvSpPr txBox="1">
            <a:spLocks noChangeArrowheads="1"/>
          </p:cNvSpPr>
          <p:nvPr/>
        </p:nvSpPr>
        <p:spPr bwMode="auto">
          <a:xfrm>
            <a:off x="214313" y="785813"/>
            <a:ext cx="871220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dirty="0">
                <a:latin typeface="Arial" charset="0"/>
                <a:cs typeface="Arial" charset="0"/>
              </a:rPr>
              <a:t>Suppose we want to gain information about the stimulus</a:t>
            </a:r>
          </a:p>
          <a:p>
            <a:r>
              <a:rPr lang="en-US" sz="1800" dirty="0">
                <a:latin typeface="Arial" charset="0"/>
                <a:cs typeface="Arial" charset="0"/>
              </a:rPr>
              <a:t>If there is only one possible stimulus, then no information is gained by knowing that stimulus. The amount of information obtained from knowing something is related to its INITIAL UNCERTAINTY </a:t>
            </a:r>
          </a:p>
          <a:p>
            <a:r>
              <a:rPr lang="en-US" sz="1800" dirty="0">
                <a:latin typeface="Arial" charset="0"/>
                <a:cs typeface="Arial" charset="0"/>
              </a:rPr>
              <a:t>Therefore the first step to define information is to quantify uncertainty.</a:t>
            </a:r>
          </a:p>
          <a:p>
            <a:r>
              <a:rPr lang="en-US" sz="1800" dirty="0">
                <a:latin typeface="Arial" charset="0"/>
                <a:cs typeface="Arial" charset="0"/>
              </a:rPr>
              <a:t>The entropy H of a random variable s is a simple function of its probability distribution P(s):</a:t>
            </a:r>
          </a:p>
        </p:txBody>
      </p:sp>
      <p:sp>
        <p:nvSpPr>
          <p:cNvPr id="1030" name="Text Box 4"/>
          <p:cNvSpPr txBox="1">
            <a:spLocks noChangeArrowheads="1"/>
          </p:cNvSpPr>
          <p:nvPr/>
        </p:nvSpPr>
        <p:spPr bwMode="auto">
          <a:xfrm>
            <a:off x="188913" y="3962400"/>
            <a:ext cx="899477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dirty="0">
                <a:latin typeface="Arial" charset="0"/>
                <a:cs typeface="Arial" charset="0"/>
              </a:rPr>
              <a:t>H(S) measures the amount of uncertainty inherent to a random variable, i.e. the amount of information necessary to describe it completely.</a:t>
            </a:r>
          </a:p>
        </p:txBody>
      </p:sp>
      <p:graphicFrame>
        <p:nvGraphicFramePr>
          <p:cNvPr id="1026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895600"/>
          <a:ext cx="5297488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51000" imgH="342900" progId="">
                  <p:embed/>
                </p:oleObj>
              </mc:Choice>
              <mc:Fallback>
                <p:oleObj name="Equation" r:id="rId2" imgW="1651000" imgH="342900" progId="">
                  <p:embed/>
                  <p:pic>
                    <p:nvPicPr>
                      <p:cNvPr id="1026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895600"/>
                        <a:ext cx="5297488" cy="1100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72" name="Picture 3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789714"/>
            <a:ext cx="2133600" cy="1589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5" name="Object 4"/>
          <p:cNvGraphicFramePr>
            <a:graphicFrameLocks noGrp="1" noChangeAspect="1"/>
          </p:cNvGraphicFramePr>
          <p:nvPr/>
        </p:nvGraphicFramePr>
        <p:xfrm>
          <a:off x="3348038" y="5129213"/>
          <a:ext cx="5402262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01640" imgH="431640" progId="">
                  <p:embed/>
                </p:oleObj>
              </mc:Choice>
              <mc:Fallback>
                <p:oleObj name="Equation" r:id="rId5" imgW="2501640" imgH="431640" progId="">
                  <p:embed/>
                  <p:pic>
                    <p:nvPicPr>
                      <p:cNvPr id="5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5129213"/>
                        <a:ext cx="5402262" cy="931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5406853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371600" y="188913"/>
            <a:ext cx="6851650" cy="676275"/>
          </a:xfrm>
          <a:noFill/>
        </p:spPr>
        <p:txBody>
          <a:bodyPr>
            <a:normAutofit/>
          </a:bodyPr>
          <a:lstStyle/>
          <a:p>
            <a:pPr algn="ctr">
              <a:buFontTx/>
              <a:buNone/>
            </a:pP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One bit = one yes or no question</a:t>
            </a:r>
          </a:p>
        </p:txBody>
      </p:sp>
      <p:sp>
        <p:nvSpPr>
          <p:cNvPr id="2" name="CasellaDiTesto 1"/>
          <p:cNvSpPr txBox="1"/>
          <p:nvPr/>
        </p:nvSpPr>
        <p:spPr>
          <a:xfrm>
            <a:off x="6444208" y="6165304"/>
            <a:ext cx="2448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Thanks</a:t>
            </a:r>
            <a:r>
              <a:rPr lang="it-IT" dirty="0"/>
              <a:t> to Dr. </a:t>
            </a:r>
            <a:r>
              <a:rPr lang="it-IT" dirty="0" err="1"/>
              <a:t>Miloro</a:t>
            </a:r>
            <a:endParaRPr lang="it-IT" dirty="0"/>
          </a:p>
        </p:txBody>
      </p:sp>
      <p:pic>
        <p:nvPicPr>
          <p:cNvPr id="21506" name="Picture 2" descr="http://thumb.sitigiochi.it/akinato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140968"/>
            <a:ext cx="5676900" cy="355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Oggetto 2"/>
          <p:cNvGraphicFramePr>
            <a:graphicFrameLocks noGrp="1" noChangeAspect="1"/>
          </p:cNvGraphicFramePr>
          <p:nvPr/>
        </p:nvGraphicFramePr>
        <p:xfrm>
          <a:off x="585242" y="1268760"/>
          <a:ext cx="5297488" cy="1100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51000" imgH="342900" progId="">
                  <p:embed/>
                </p:oleObj>
              </mc:Choice>
              <mc:Fallback>
                <p:oleObj name="Equation" r:id="rId3" imgW="1651000" imgH="342900" progId="">
                  <p:embed/>
                  <p:pic>
                    <p:nvPicPr>
                      <p:cNvPr id="3" name="Oggetto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242" y="1268760"/>
                        <a:ext cx="5297488" cy="11001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Connettore 2 7"/>
          <p:cNvCxnSpPr/>
          <p:nvPr/>
        </p:nvCxnSpPr>
        <p:spPr>
          <a:xfrm flipH="1" flipV="1">
            <a:off x="4932040" y="2132856"/>
            <a:ext cx="504056" cy="5040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3260962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188913"/>
            <a:ext cx="6851650" cy="676275"/>
          </a:xfrm>
          <a:noFill/>
        </p:spPr>
        <p:txBody>
          <a:bodyPr>
            <a:normAutofit/>
          </a:bodyPr>
          <a:lstStyle/>
          <a:p>
            <a:pPr algn="ctr">
              <a:buFontTx/>
              <a:buNone/>
            </a:pPr>
            <a:r>
              <a:rPr lang="en-US" dirty="0">
                <a:solidFill>
                  <a:srgbClr val="FF0000"/>
                </a:solidFill>
                <a:latin typeface="Arial" charset="0"/>
                <a:cs typeface="Arial" charset="0"/>
              </a:rPr>
              <a:t>Entropy and description length</a:t>
            </a:r>
          </a:p>
        </p:txBody>
      </p:sp>
      <p:sp>
        <p:nvSpPr>
          <p:cNvPr id="32772" name="Text Box 3"/>
          <p:cNvSpPr txBox="1">
            <a:spLocks noChangeArrowheads="1"/>
          </p:cNvSpPr>
          <p:nvPr/>
        </p:nvSpPr>
        <p:spPr bwMode="auto">
          <a:xfrm>
            <a:off x="214312" y="785813"/>
            <a:ext cx="8777287" cy="295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dirty="0">
                <a:latin typeface="Arial" charset="0"/>
                <a:cs typeface="Arial" charset="0"/>
              </a:rPr>
              <a:t>H(S) has a very concrete interpretation: Suppose s is chosen randomly from the distribution P(s) , and someone who knows the distribution  is asked to guess which  was chosen. If the guesser uses the optimal question-asking strategy -- which is to divide the probability in half on each guess by asking questions like "is s greater than .. ?", then the average number of yes/no questions it takes to guess  lies between H(S)  and H(S)+1. </a:t>
            </a:r>
          </a:p>
          <a:p>
            <a:endParaRPr lang="en-US" b="1" dirty="0">
              <a:latin typeface="Arial" charset="0"/>
              <a:cs typeface="Arial" charset="0"/>
            </a:endParaRPr>
          </a:p>
          <a:p>
            <a:r>
              <a:rPr lang="en-US" sz="1800" dirty="0">
                <a:solidFill>
                  <a:srgbClr val="3333CC"/>
                </a:solidFill>
                <a:latin typeface="Arial" charset="0"/>
                <a:cs typeface="Arial" charset="0"/>
              </a:rPr>
              <a:t>This gives quantitative meaning to "uncertainty": it is the number of yes/no questions it takes to guess a random variables, given knowledge of the underlying distribution and taking the optimal question-asking strategy</a:t>
            </a: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810000"/>
            <a:ext cx="3734869" cy="2773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114800" y="4191000"/>
            <a:ext cx="4648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H(Guess Who)=4.585</a:t>
            </a:r>
          </a:p>
          <a:p>
            <a:endParaRPr lang="en-US" dirty="0"/>
          </a:p>
          <a:p>
            <a:r>
              <a:rPr lang="en-US" dirty="0"/>
              <a:t>So you really should win with 5 questions….</a:t>
            </a:r>
          </a:p>
          <a:p>
            <a:endParaRPr lang="en-US" dirty="0"/>
          </a:p>
          <a:p>
            <a:r>
              <a:rPr lang="en-US" dirty="0"/>
              <a:t>Demonstration is left to the audience</a:t>
            </a:r>
          </a:p>
        </p:txBody>
      </p:sp>
    </p:spTree>
    <p:extLst>
      <p:ext uri="{BB962C8B-B14F-4D97-AF65-F5344CB8AC3E}">
        <p14:creationId xmlns:p14="http://schemas.microsoft.com/office/powerpoint/2010/main" val="3244152930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9665" y="152400"/>
            <a:ext cx="6000135" cy="676275"/>
          </a:xfrm>
          <a:noFill/>
        </p:spPr>
        <p:txBody>
          <a:bodyPr/>
          <a:lstStyle/>
          <a:p>
            <a:pPr algn="ctr">
              <a:buFontTx/>
              <a:buNone/>
            </a:pPr>
            <a:r>
              <a:rPr lang="en-US" sz="2800" dirty="0">
                <a:solidFill>
                  <a:srgbClr val="FF0000"/>
                </a:solidFill>
                <a:latin typeface="Arial" charset="0"/>
                <a:cs typeface="Arial" charset="0"/>
              </a:rPr>
              <a:t>Entropy of the stimulus distribution</a:t>
            </a:r>
          </a:p>
        </p:txBody>
      </p:sp>
      <p:sp>
        <p:nvSpPr>
          <p:cNvPr id="2054" name="Text Box 4"/>
          <p:cNvSpPr txBox="1">
            <a:spLocks noChangeArrowheads="1"/>
          </p:cNvSpPr>
          <p:nvPr/>
        </p:nvSpPr>
        <p:spPr bwMode="auto">
          <a:xfrm>
            <a:off x="4495800" y="838200"/>
            <a:ext cx="4421188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800" dirty="0">
                <a:latin typeface="Arial" charset="0"/>
                <a:cs typeface="Arial" charset="0"/>
              </a:rPr>
              <a:t>H(S) expresses the uncertainty about the stimulus (or equivalently, the information needed to specify the stimulus) prior to the observation of a neural response</a:t>
            </a:r>
          </a:p>
        </p:txBody>
      </p:sp>
      <p:graphicFrame>
        <p:nvGraphicFramePr>
          <p:cNvPr id="2050" name="Object 2"/>
          <p:cNvGraphicFramePr>
            <a:graphicFrameLocks noGrp="1" noChangeAspect="1"/>
          </p:cNvGraphicFramePr>
          <p:nvPr>
            <p:ph sz="half" idx="2"/>
          </p:nvPr>
        </p:nvGraphicFramePr>
        <p:xfrm>
          <a:off x="183638" y="1199953"/>
          <a:ext cx="3702562" cy="7683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51000" imgH="342900" progId="">
                  <p:embed/>
                </p:oleObj>
              </mc:Choice>
              <mc:Fallback>
                <p:oleObj name="Equation" r:id="rId2" imgW="1651000" imgH="342900" progId="">
                  <p:embed/>
                  <p:pic>
                    <p:nvPicPr>
                      <p:cNvPr id="2050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38" y="1199953"/>
                        <a:ext cx="3702562" cy="76834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0" y="2166937"/>
            <a:ext cx="7391399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>
              <a:spcBef>
                <a:spcPct val="20000"/>
              </a:spcBef>
              <a:defRPr/>
            </a:pPr>
            <a:r>
              <a:rPr lang="en-US" sz="2400" kern="0" dirty="0">
                <a:solidFill>
                  <a:srgbClr val="FF0000"/>
                </a:solidFill>
                <a:latin typeface="Arial" charset="0"/>
                <a:cs typeface="Arial" charset="0"/>
              </a:rPr>
              <a:t>Residual entropy (equivocation) of the stimulus after observing the neural response</a:t>
            </a:r>
          </a:p>
        </p:txBody>
      </p:sp>
      <p:sp>
        <p:nvSpPr>
          <p:cNvPr id="2056" name="Text Box 4"/>
          <p:cNvSpPr txBox="1">
            <a:spLocks noChangeArrowheads="1"/>
          </p:cNvSpPr>
          <p:nvPr/>
        </p:nvSpPr>
        <p:spPr bwMode="auto">
          <a:xfrm>
            <a:off x="5334000" y="3185232"/>
            <a:ext cx="37338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2000" dirty="0">
                <a:latin typeface="Arial" charset="0"/>
                <a:cs typeface="Arial" charset="0"/>
              </a:rPr>
              <a:t>H(S|R) expresses the residual uncertainty about the stimulus after the observation of a neural response.</a:t>
            </a:r>
          </a:p>
        </p:txBody>
      </p:sp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173806" y="3276600"/>
          <a:ext cx="4962652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16200" imgH="342900" progId="">
                  <p:embed/>
                </p:oleObj>
              </mc:Choice>
              <mc:Fallback>
                <p:oleObj name="Equation" r:id="rId4" imgW="2616200" imgH="342900" progId="">
                  <p:embed/>
                  <p:pic>
                    <p:nvPicPr>
                      <p:cNvPr id="20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06" y="3276600"/>
                        <a:ext cx="4962652" cy="650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"/>
          <p:cNvGrpSpPr/>
          <p:nvPr/>
        </p:nvGrpSpPr>
        <p:grpSpPr>
          <a:xfrm>
            <a:off x="457201" y="4038600"/>
            <a:ext cx="8153399" cy="2619495"/>
            <a:chOff x="457201" y="4038600"/>
            <a:chExt cx="8153399" cy="2619495"/>
          </a:xfrm>
        </p:grpSpPr>
        <p:pic>
          <p:nvPicPr>
            <p:cNvPr id="11320" name="Picture 5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1" y="4038600"/>
              <a:ext cx="3472826" cy="25817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&quot;No&quot; Symbol 1"/>
            <p:cNvSpPr/>
            <p:nvPr/>
          </p:nvSpPr>
          <p:spPr>
            <a:xfrm>
              <a:off x="3456212" y="4394371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&quot;No&quot; Symbol 11"/>
            <p:cNvSpPr/>
            <p:nvPr/>
          </p:nvSpPr>
          <p:spPr>
            <a:xfrm>
              <a:off x="2957284" y="4713685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&quot;No&quot; Symbol 12"/>
            <p:cNvSpPr/>
            <p:nvPr/>
          </p:nvSpPr>
          <p:spPr>
            <a:xfrm>
              <a:off x="1700129" y="4165771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&quot;No&quot; Symbol 13"/>
            <p:cNvSpPr/>
            <p:nvPr/>
          </p:nvSpPr>
          <p:spPr>
            <a:xfrm>
              <a:off x="2064800" y="4235379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&quot;No&quot; Symbol 14"/>
            <p:cNvSpPr/>
            <p:nvPr/>
          </p:nvSpPr>
          <p:spPr>
            <a:xfrm>
              <a:off x="2405885" y="4264408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&quot;No&quot; Symbol 15"/>
            <p:cNvSpPr/>
            <p:nvPr/>
          </p:nvSpPr>
          <p:spPr>
            <a:xfrm>
              <a:off x="2734125" y="4264408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7" name="&quot;No&quot; Symbol 16"/>
            <p:cNvSpPr/>
            <p:nvPr/>
          </p:nvSpPr>
          <p:spPr>
            <a:xfrm>
              <a:off x="2734125" y="5100857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8" name="&quot;No&quot; Symbol 17"/>
            <p:cNvSpPr/>
            <p:nvPr/>
          </p:nvSpPr>
          <p:spPr>
            <a:xfrm>
              <a:off x="2581871" y="4653986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9" name="&quot;No&quot; Symbol 18"/>
            <p:cNvSpPr/>
            <p:nvPr/>
          </p:nvSpPr>
          <p:spPr>
            <a:xfrm>
              <a:off x="1562100" y="4485085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&quot;No&quot; Symbol 19"/>
            <p:cNvSpPr/>
            <p:nvPr/>
          </p:nvSpPr>
          <p:spPr>
            <a:xfrm>
              <a:off x="1981200" y="4986557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&quot;No&quot; Symbol 20"/>
            <p:cNvSpPr/>
            <p:nvPr/>
          </p:nvSpPr>
          <p:spPr>
            <a:xfrm>
              <a:off x="2957284" y="5526300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&quot;No&quot; Symbol 21"/>
            <p:cNvSpPr/>
            <p:nvPr/>
          </p:nvSpPr>
          <p:spPr>
            <a:xfrm>
              <a:off x="1333500" y="5294086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&quot;No&quot; Symbol 22"/>
            <p:cNvSpPr/>
            <p:nvPr/>
          </p:nvSpPr>
          <p:spPr>
            <a:xfrm>
              <a:off x="3044654" y="4370785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&quot;No&quot; Symbol 23"/>
            <p:cNvSpPr/>
            <p:nvPr/>
          </p:nvSpPr>
          <p:spPr>
            <a:xfrm>
              <a:off x="1865086" y="4539686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5" name="&quot;No&quot; Symbol 24"/>
            <p:cNvSpPr/>
            <p:nvPr/>
          </p:nvSpPr>
          <p:spPr>
            <a:xfrm>
              <a:off x="2211614" y="4599385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&quot;No&quot; Symbol 25"/>
            <p:cNvSpPr/>
            <p:nvPr/>
          </p:nvSpPr>
          <p:spPr>
            <a:xfrm>
              <a:off x="1271814" y="4872257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&quot;No&quot; Symbol 26"/>
            <p:cNvSpPr/>
            <p:nvPr/>
          </p:nvSpPr>
          <p:spPr>
            <a:xfrm>
              <a:off x="1638300" y="4876800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&quot;No&quot; Symbol 27"/>
            <p:cNvSpPr/>
            <p:nvPr/>
          </p:nvSpPr>
          <p:spPr>
            <a:xfrm>
              <a:off x="1752600" y="5361214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&quot;No&quot; Symbol 28"/>
            <p:cNvSpPr/>
            <p:nvPr/>
          </p:nvSpPr>
          <p:spPr>
            <a:xfrm>
              <a:off x="2520185" y="5475514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962400" y="4626770"/>
              <a:ext cx="4648200" cy="2031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“Are you a woman?” </a:t>
              </a:r>
            </a:p>
            <a:p>
              <a:r>
                <a:rPr lang="en-US" dirty="0"/>
                <a:t>P(yes)=5/24; P(no)=19/24; </a:t>
              </a:r>
            </a:p>
            <a:p>
              <a:r>
                <a:rPr lang="en-US" dirty="0"/>
                <a:t>P(</a:t>
              </a:r>
              <a:r>
                <a:rPr lang="en-US" dirty="0" err="1"/>
                <a:t>face|no</a:t>
              </a:r>
              <a:r>
                <a:rPr lang="en-US" dirty="0"/>
                <a:t>)= 0 or 1/19;  P(</a:t>
              </a:r>
              <a:r>
                <a:rPr lang="en-US" dirty="0" err="1"/>
                <a:t>face|yes</a:t>
              </a:r>
              <a:r>
                <a:rPr lang="en-US" dirty="0"/>
                <a:t>)= 1/5 or 0</a:t>
              </a:r>
            </a:p>
            <a:p>
              <a:endParaRPr lang="en-US" dirty="0"/>
            </a:p>
            <a:p>
              <a:r>
                <a:rPr lang="en-US" dirty="0"/>
                <a:t>H(Guess </a:t>
              </a:r>
              <a:r>
                <a:rPr lang="en-US" dirty="0" err="1"/>
                <a:t>Who|woman</a:t>
              </a:r>
              <a:r>
                <a:rPr lang="en-US" dirty="0"/>
                <a:t>)=3.85;</a:t>
              </a:r>
            </a:p>
            <a:p>
              <a:endParaRPr lang="en-US" dirty="0"/>
            </a:p>
            <a:p>
              <a:r>
                <a:rPr lang="en-US" dirty="0"/>
                <a:t>Questions left for optimal strategy:  at most 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796820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2"/>
          <p:cNvSpPr>
            <a:spLocks noGrp="1" noChangeArrowheads="1"/>
          </p:cNvSpPr>
          <p:nvPr>
            <p:ph type="body" sz="half" idx="1"/>
          </p:nvPr>
        </p:nvSpPr>
        <p:spPr>
          <a:xfrm>
            <a:off x="19665" y="152400"/>
            <a:ext cx="6000135" cy="676275"/>
          </a:xfrm>
          <a:noFill/>
        </p:spPr>
        <p:txBody>
          <a:bodyPr/>
          <a:lstStyle/>
          <a:p>
            <a:pPr algn="ctr">
              <a:buFontTx/>
              <a:buNone/>
            </a:pPr>
            <a:r>
              <a:rPr lang="en-US" sz="2800" dirty="0">
                <a:solidFill>
                  <a:srgbClr val="FF0000"/>
                </a:solidFill>
                <a:latin typeface="Arial" charset="0"/>
                <a:cs typeface="Arial" charset="0"/>
              </a:rPr>
              <a:t>Conditional probability</a:t>
            </a:r>
          </a:p>
        </p:txBody>
      </p:sp>
      <p:graphicFrame>
        <p:nvGraphicFramePr>
          <p:cNvPr id="2051" name="Object 3"/>
          <p:cNvGraphicFramePr>
            <a:graphicFrameLocks noChangeAspect="1"/>
          </p:cNvGraphicFramePr>
          <p:nvPr/>
        </p:nvGraphicFramePr>
        <p:xfrm>
          <a:off x="323527" y="836712"/>
          <a:ext cx="8235467" cy="1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16200" imgH="342900" progId="">
                  <p:embed/>
                </p:oleObj>
              </mc:Choice>
              <mc:Fallback>
                <p:oleObj name="Equation" r:id="rId2" imgW="2616200" imgH="342900" progId="">
                  <p:embed/>
                  <p:pic>
                    <p:nvPicPr>
                      <p:cNvPr id="20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7" y="836712"/>
                        <a:ext cx="8235467" cy="10801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1" name="Connettore 2 30"/>
          <p:cNvCxnSpPr/>
          <p:nvPr/>
        </p:nvCxnSpPr>
        <p:spPr>
          <a:xfrm flipH="1" flipV="1">
            <a:off x="6048164" y="1487419"/>
            <a:ext cx="504056" cy="5040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650" name="Picture 2" descr="Conditional Risk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21" y="1991476"/>
            <a:ext cx="5646632" cy="478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sellaDiTesto 5"/>
          <p:cNvSpPr txBox="1"/>
          <p:nvPr/>
        </p:nvSpPr>
        <p:spPr>
          <a:xfrm>
            <a:off x="6552220" y="1991476"/>
            <a:ext cx="241226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 err="1"/>
              <a:t>It</a:t>
            </a:r>
            <a:r>
              <a:rPr lang="it-IT" sz="2800" dirty="0"/>
              <a:t> </a:t>
            </a:r>
            <a:r>
              <a:rPr lang="it-IT" sz="2800" dirty="0" err="1"/>
              <a:t>is</a:t>
            </a:r>
            <a:r>
              <a:rPr lang="it-IT" sz="2800" dirty="0"/>
              <a:t> </a:t>
            </a:r>
            <a:r>
              <a:rPr lang="it-IT" sz="2800" dirty="0" err="1"/>
              <a:t>all</a:t>
            </a:r>
            <a:r>
              <a:rPr lang="it-IT" sz="2800" dirty="0"/>
              <a:t> </a:t>
            </a:r>
            <a:r>
              <a:rPr lang="it-IT" sz="2800" dirty="0" err="1"/>
              <a:t>about</a:t>
            </a:r>
            <a:r>
              <a:rPr lang="it-IT" sz="2800" dirty="0"/>
              <a:t> the </a:t>
            </a:r>
            <a:r>
              <a:rPr lang="it-IT" sz="2800" dirty="0" err="1"/>
              <a:t>difference</a:t>
            </a:r>
            <a:r>
              <a:rPr lang="it-IT" sz="2800" dirty="0"/>
              <a:t> </a:t>
            </a:r>
            <a:r>
              <a:rPr lang="it-IT" sz="2800" dirty="0" err="1"/>
              <a:t>between</a:t>
            </a:r>
            <a:r>
              <a:rPr lang="it-IT" sz="2800" dirty="0"/>
              <a:t> </a:t>
            </a:r>
            <a:r>
              <a:rPr lang="it-IT" sz="2800" dirty="0" err="1"/>
              <a:t>unconditional</a:t>
            </a:r>
            <a:r>
              <a:rPr lang="it-IT" sz="2800" dirty="0"/>
              <a:t> and </a:t>
            </a:r>
            <a:r>
              <a:rPr lang="it-IT" sz="2800" dirty="0" err="1"/>
              <a:t>conditional</a:t>
            </a:r>
            <a:endParaRPr lang="it-IT" sz="2800" dirty="0"/>
          </a:p>
          <a:p>
            <a:endParaRPr lang="it-IT" sz="2800" dirty="0"/>
          </a:p>
          <a:p>
            <a:r>
              <a:rPr lang="it-IT" sz="2800" dirty="0"/>
              <a:t>Note: </a:t>
            </a:r>
            <a:r>
              <a:rPr lang="it-IT" sz="2800" dirty="0" err="1"/>
              <a:t>needs</a:t>
            </a:r>
            <a:r>
              <a:rPr lang="it-IT" sz="2800" dirty="0"/>
              <a:t> more data to be </a:t>
            </a:r>
            <a:r>
              <a:rPr lang="it-IT" sz="2800" dirty="0" err="1"/>
              <a:t>computed</a:t>
            </a:r>
            <a:r>
              <a:rPr lang="it-IT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5645261"/>
      </p:ext>
    </p:extLst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457200" y="274638"/>
            <a:ext cx="8229600" cy="490537"/>
          </a:xfrm>
        </p:spPr>
        <p:txBody>
          <a:bodyPr>
            <a:noAutofit/>
          </a:bodyPr>
          <a:lstStyle/>
          <a:p>
            <a:r>
              <a:rPr lang="en-GB" sz="3200" dirty="0">
                <a:solidFill>
                  <a:srgbClr val="FF0000"/>
                </a:solidFill>
              </a:rPr>
              <a:t>Shannon’s Information</a:t>
            </a:r>
            <a:endParaRPr lang="en-US" sz="3200" dirty="0">
              <a:solidFill>
                <a:srgbClr val="FF0000"/>
              </a:solidFill>
            </a:endParaRPr>
          </a:p>
        </p:txBody>
      </p:sp>
      <p:graphicFrame>
        <p:nvGraphicFramePr>
          <p:cNvPr id="3074" name="Object 2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2000250" y="1312862"/>
          <a:ext cx="4681538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25600" imgH="203200" progId="">
                  <p:embed/>
                </p:oleObj>
              </mc:Choice>
              <mc:Fallback>
                <p:oleObj name="Equation" r:id="rId2" imgW="1625600" imgH="203200" progId="">
                  <p:embed/>
                  <p:pic>
                    <p:nvPicPr>
                      <p:cNvPr id="3074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1312862"/>
                        <a:ext cx="4681538" cy="585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803900" y="885825"/>
          <a:ext cx="16256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91000" imgH="330120" progId="Equation.3">
                  <p:embed/>
                </p:oleObj>
              </mc:Choice>
              <mc:Fallback>
                <p:oleObj name="Equation" r:id="rId4" imgW="2691000" imgH="330120" progId="Equation.3">
                  <p:embed/>
                  <p:pic>
                    <p:nvPicPr>
                      <p:cNvPr id="3075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0" y="885825"/>
                        <a:ext cx="16256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1797050" y="914400"/>
            <a:ext cx="5049838" cy="152400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3079" name="Line 7"/>
          <p:cNvSpPr>
            <a:spLocks noChangeShapeType="1"/>
          </p:cNvSpPr>
          <p:nvPr/>
        </p:nvSpPr>
        <p:spPr bwMode="auto">
          <a:xfrm>
            <a:off x="636588" y="1624012"/>
            <a:ext cx="1131887" cy="0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080" name="Text Box 8"/>
          <p:cNvSpPr txBox="1">
            <a:spLocks noChangeArrowheads="1"/>
          </p:cNvSpPr>
          <p:nvPr/>
        </p:nvSpPr>
        <p:spPr bwMode="auto">
          <a:xfrm>
            <a:off x="927100" y="1019175"/>
            <a:ext cx="3937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3200" b="1">
                <a:latin typeface="Tahoma" pitchFamily="34" charset="0"/>
              </a:rPr>
              <a:t>s</a:t>
            </a:r>
            <a:endParaRPr lang="en-US" sz="3200" b="1">
              <a:latin typeface="Tahoma" pitchFamily="34" charset="0"/>
            </a:endParaRPr>
          </a:p>
        </p:txBody>
      </p:sp>
      <p:sp>
        <p:nvSpPr>
          <p:cNvPr id="3081" name="Line 9"/>
          <p:cNvSpPr>
            <a:spLocks noChangeShapeType="1"/>
          </p:cNvSpPr>
          <p:nvPr/>
        </p:nvSpPr>
        <p:spPr bwMode="auto">
          <a:xfrm>
            <a:off x="6899275" y="1635125"/>
            <a:ext cx="1373188" cy="11112"/>
          </a:xfrm>
          <a:prstGeom prst="line">
            <a:avLst/>
          </a:prstGeom>
          <a:noFill/>
          <a:ln w="50800">
            <a:solidFill>
              <a:srgbClr val="0000FF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082" name="Text Box 10"/>
          <p:cNvSpPr txBox="1">
            <a:spLocks noChangeArrowheads="1"/>
          </p:cNvSpPr>
          <p:nvPr/>
        </p:nvSpPr>
        <p:spPr bwMode="auto">
          <a:xfrm>
            <a:off x="7834313" y="1019175"/>
            <a:ext cx="3540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GB" sz="3200" b="1">
                <a:latin typeface="Tahoma" pitchFamily="34" charset="0"/>
              </a:rPr>
              <a:t>r</a:t>
            </a:r>
            <a:endParaRPr lang="en-US" sz="3200" b="1">
              <a:latin typeface="Tahoma" pitchFamily="34" charset="0"/>
            </a:endParaRPr>
          </a:p>
        </p:txBody>
      </p:sp>
      <p:sp>
        <p:nvSpPr>
          <p:cNvPr id="3083" name="Line 11"/>
          <p:cNvSpPr>
            <a:spLocks noChangeShapeType="1"/>
          </p:cNvSpPr>
          <p:nvPr/>
        </p:nvSpPr>
        <p:spPr bwMode="auto">
          <a:xfrm>
            <a:off x="7196138" y="1270000"/>
            <a:ext cx="0" cy="70961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084" name="Line 12"/>
          <p:cNvSpPr>
            <a:spLocks noChangeShapeType="1"/>
          </p:cNvSpPr>
          <p:nvPr/>
        </p:nvSpPr>
        <p:spPr bwMode="auto">
          <a:xfrm>
            <a:off x="7373938" y="1270000"/>
            <a:ext cx="0" cy="70961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085" name="Line 13"/>
          <p:cNvSpPr>
            <a:spLocks noChangeShapeType="1"/>
          </p:cNvSpPr>
          <p:nvPr/>
        </p:nvSpPr>
        <p:spPr bwMode="auto">
          <a:xfrm>
            <a:off x="7523163" y="1270000"/>
            <a:ext cx="0" cy="70961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3086" name="Text Box 14"/>
          <p:cNvSpPr txBox="1">
            <a:spLocks noChangeArrowheads="1"/>
          </p:cNvSpPr>
          <p:nvPr/>
        </p:nvSpPr>
        <p:spPr bwMode="auto">
          <a:xfrm>
            <a:off x="386217" y="2895600"/>
            <a:ext cx="8348662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en-GB" sz="1800" dirty="0">
                <a:latin typeface="Arial" charset="0"/>
              </a:rPr>
              <a:t>Shannon’s Information : it quantifies the average reduction of uncertainty (=information gained) after a single-trial observation of the neural response</a:t>
            </a:r>
          </a:p>
          <a:p>
            <a:pPr>
              <a:lnSpc>
                <a:spcPct val="105000"/>
              </a:lnSpc>
              <a:spcBef>
                <a:spcPct val="20000"/>
              </a:spcBef>
            </a:pPr>
            <a:r>
              <a:rPr lang="en-GB" sz="1800" dirty="0">
                <a:latin typeface="Arial" charset="0"/>
              </a:rPr>
              <a:t>Measured in bits. 1 bit = reduction of uncertainty by a factor of 2 (like a correct answer to a yes/no question)</a:t>
            </a:r>
            <a:endParaRPr lang="en-US" sz="1800" dirty="0">
              <a:latin typeface="Arial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457201" y="4768286"/>
            <a:ext cx="2701753" cy="1852028"/>
            <a:chOff x="457201" y="4038600"/>
            <a:chExt cx="3472826" cy="2581714"/>
          </a:xfrm>
        </p:grpSpPr>
        <p:pic>
          <p:nvPicPr>
            <p:cNvPr id="18" name="Picture 5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1" y="4038600"/>
              <a:ext cx="3472826" cy="25817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9" name="&quot;No&quot; Symbol 18"/>
            <p:cNvSpPr/>
            <p:nvPr/>
          </p:nvSpPr>
          <p:spPr>
            <a:xfrm>
              <a:off x="3456212" y="4394371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0" name="&quot;No&quot; Symbol 19"/>
            <p:cNvSpPr/>
            <p:nvPr/>
          </p:nvSpPr>
          <p:spPr>
            <a:xfrm>
              <a:off x="2957284" y="4713685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1" name="&quot;No&quot; Symbol 20"/>
            <p:cNvSpPr/>
            <p:nvPr/>
          </p:nvSpPr>
          <p:spPr>
            <a:xfrm>
              <a:off x="1700129" y="4165771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&quot;No&quot; Symbol 21"/>
            <p:cNvSpPr/>
            <p:nvPr/>
          </p:nvSpPr>
          <p:spPr>
            <a:xfrm>
              <a:off x="2064800" y="4235379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3" name="&quot;No&quot; Symbol 22"/>
            <p:cNvSpPr/>
            <p:nvPr/>
          </p:nvSpPr>
          <p:spPr>
            <a:xfrm>
              <a:off x="2405885" y="4264408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4" name="&quot;No&quot; Symbol 23"/>
            <p:cNvSpPr/>
            <p:nvPr/>
          </p:nvSpPr>
          <p:spPr>
            <a:xfrm>
              <a:off x="2734125" y="4264408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5" name="&quot;No&quot; Symbol 24"/>
            <p:cNvSpPr/>
            <p:nvPr/>
          </p:nvSpPr>
          <p:spPr>
            <a:xfrm>
              <a:off x="2734125" y="5100857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6" name="&quot;No&quot; Symbol 25"/>
            <p:cNvSpPr/>
            <p:nvPr/>
          </p:nvSpPr>
          <p:spPr>
            <a:xfrm>
              <a:off x="2581871" y="4653986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&quot;No&quot; Symbol 26"/>
            <p:cNvSpPr/>
            <p:nvPr/>
          </p:nvSpPr>
          <p:spPr>
            <a:xfrm>
              <a:off x="1562100" y="4485085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8" name="&quot;No&quot; Symbol 27"/>
            <p:cNvSpPr/>
            <p:nvPr/>
          </p:nvSpPr>
          <p:spPr>
            <a:xfrm>
              <a:off x="1981200" y="4986557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9" name="&quot;No&quot; Symbol 28"/>
            <p:cNvSpPr/>
            <p:nvPr/>
          </p:nvSpPr>
          <p:spPr>
            <a:xfrm>
              <a:off x="2957284" y="5526300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0" name="&quot;No&quot; Symbol 29"/>
            <p:cNvSpPr/>
            <p:nvPr/>
          </p:nvSpPr>
          <p:spPr>
            <a:xfrm>
              <a:off x="1333500" y="5294086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&quot;No&quot; Symbol 30"/>
            <p:cNvSpPr/>
            <p:nvPr/>
          </p:nvSpPr>
          <p:spPr>
            <a:xfrm>
              <a:off x="3044654" y="4370785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2" name="&quot;No&quot; Symbol 31"/>
            <p:cNvSpPr/>
            <p:nvPr/>
          </p:nvSpPr>
          <p:spPr>
            <a:xfrm>
              <a:off x="1865086" y="4539686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3" name="&quot;No&quot; Symbol 32"/>
            <p:cNvSpPr/>
            <p:nvPr/>
          </p:nvSpPr>
          <p:spPr>
            <a:xfrm>
              <a:off x="2211614" y="4599385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4" name="&quot;No&quot; Symbol 33"/>
            <p:cNvSpPr/>
            <p:nvPr/>
          </p:nvSpPr>
          <p:spPr>
            <a:xfrm>
              <a:off x="1271814" y="4872257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5" name="&quot;No&quot; Symbol 34"/>
            <p:cNvSpPr/>
            <p:nvPr/>
          </p:nvSpPr>
          <p:spPr>
            <a:xfrm>
              <a:off x="1638300" y="4876800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6" name="&quot;No&quot; Symbol 35"/>
            <p:cNvSpPr/>
            <p:nvPr/>
          </p:nvSpPr>
          <p:spPr>
            <a:xfrm>
              <a:off x="1752600" y="5361214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7" name="&quot;No&quot; Symbol 36"/>
            <p:cNvSpPr/>
            <p:nvPr/>
          </p:nvSpPr>
          <p:spPr>
            <a:xfrm>
              <a:off x="2520185" y="5475514"/>
              <a:ext cx="228600" cy="228600"/>
            </a:xfrm>
            <a:prstGeom prst="noSmoking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3646034" y="5206454"/>
            <a:ext cx="4648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I(Guess </a:t>
            </a:r>
            <a:r>
              <a:rPr lang="en-US" dirty="0" err="1"/>
              <a:t>Who|woman</a:t>
            </a:r>
            <a:r>
              <a:rPr lang="en-US" dirty="0"/>
              <a:t>) = 4.58 - 3.97 = 0.61 bits ;</a:t>
            </a:r>
          </a:p>
          <a:p>
            <a:endParaRPr lang="en-US" dirty="0"/>
          </a:p>
          <a:p>
            <a:r>
              <a:rPr lang="en-US" dirty="0"/>
              <a:t>I(Real </a:t>
            </a:r>
            <a:r>
              <a:rPr lang="en-US" dirty="0" err="1"/>
              <a:t>World|woman</a:t>
            </a:r>
            <a:r>
              <a:rPr lang="en-US" dirty="0"/>
              <a:t>) = 1 bit;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661159"/>
      </p:ext>
    </p:extLst>
  </p:cSld>
  <p:clrMapOvr>
    <a:masterClrMapping/>
  </p:clrMapOvr>
  <p:transition spd="slow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457200" y="274638"/>
            <a:ext cx="8229600" cy="490537"/>
          </a:xfrm>
        </p:spPr>
        <p:txBody>
          <a:bodyPr>
            <a:noAutofit/>
          </a:bodyPr>
          <a:lstStyle/>
          <a:p>
            <a:r>
              <a:rPr lang="en-GB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key equations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075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803900" y="885825"/>
          <a:ext cx="16256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91000" imgH="330120" progId="Equation.3">
                  <p:embed/>
                </p:oleObj>
              </mc:Choice>
              <mc:Fallback>
                <p:oleObj name="Equation" r:id="rId2" imgW="2691000" imgH="330120" progId="Equation.3">
                  <p:embed/>
                  <p:pic>
                    <p:nvPicPr>
                      <p:cNvPr id="3075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0" y="885825"/>
                        <a:ext cx="16256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Grp="1" noChangeAspect="1"/>
          </p:cNvGraphicFramePr>
          <p:nvPr/>
        </p:nvGraphicFramePr>
        <p:xfrm>
          <a:off x="73785" y="1143000"/>
          <a:ext cx="9048750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52680" imgH="203040" progId="">
                  <p:embed/>
                </p:oleObj>
              </mc:Choice>
              <mc:Fallback>
                <p:oleObj name="Equation" r:id="rId4" imgW="3352680" imgH="203040" progId="">
                  <p:embed/>
                  <p:pic>
                    <p:nvPicPr>
                      <p:cNvPr id="3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85" y="1143000"/>
                        <a:ext cx="9048750" cy="515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Grp="1" noChangeAspect="1"/>
          </p:cNvGraphicFramePr>
          <p:nvPr/>
        </p:nvGraphicFramePr>
        <p:xfrm>
          <a:off x="0" y="1905000"/>
          <a:ext cx="8888412" cy="1571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89200" imgH="419100" progId="">
                  <p:embed/>
                </p:oleObj>
              </mc:Choice>
              <mc:Fallback>
                <p:oleObj name="Equation" r:id="rId6" imgW="2489200" imgH="419100" progId="">
                  <p:embed/>
                  <p:pic>
                    <p:nvPicPr>
                      <p:cNvPr id="4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905000"/>
                        <a:ext cx="8888412" cy="1571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581150" y="3733800"/>
          <a:ext cx="268605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baseline="0" dirty="0"/>
                        <a:t> 2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</a:t>
                      </a:r>
                      <a:r>
                        <a:rPr lang="en-US" sz="1600" baseline="0" dirty="0"/>
                        <a:t> 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4629150" y="3733800"/>
          <a:ext cx="268605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baseline="0" dirty="0"/>
                        <a:t> 2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</a:t>
                      </a:r>
                      <a:r>
                        <a:rPr lang="en-US" sz="1600" baseline="0" dirty="0"/>
                        <a:t> 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981200" y="5875436"/>
            <a:ext cx="259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I(S;R) =1 bit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24400" y="5888838"/>
            <a:ext cx="259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I(S;R) =0.045 bit</a:t>
            </a:r>
          </a:p>
        </p:txBody>
      </p:sp>
    </p:spTree>
    <p:extLst>
      <p:ext uri="{BB962C8B-B14F-4D97-AF65-F5344CB8AC3E}">
        <p14:creationId xmlns:p14="http://schemas.microsoft.com/office/powerpoint/2010/main" val="975135486"/>
      </p:ext>
    </p:extLst>
  </p:cSld>
  <p:clrMapOvr>
    <a:masterClrMapping/>
  </p:clrMapOvr>
  <p:transition spd="slow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457200" y="274638"/>
            <a:ext cx="8229600" cy="490537"/>
          </a:xfrm>
        </p:spPr>
        <p:txBody>
          <a:bodyPr>
            <a:noAutofit/>
          </a:bodyPr>
          <a:lstStyle/>
          <a:p>
            <a:r>
              <a:rPr lang="en-GB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processing inequality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074" name="Object 2"/>
          <p:cNvGraphicFramePr>
            <a:graphicFrameLocks noGrp="1" noChangeAspect="1"/>
          </p:cNvGraphicFramePr>
          <p:nvPr>
            <p:ph sz="quarter" idx="1"/>
          </p:nvPr>
        </p:nvGraphicFramePr>
        <p:xfrm>
          <a:off x="320674" y="1295400"/>
          <a:ext cx="366077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9720" imgH="203040" progId="">
                  <p:embed/>
                </p:oleObj>
              </mc:Choice>
              <mc:Fallback>
                <p:oleObj name="Equation" r:id="rId2" imgW="1269720" imgH="203040" progId="">
                  <p:embed/>
                  <p:pic>
                    <p:nvPicPr>
                      <p:cNvPr id="3074" name="Object 2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674" y="1295400"/>
                        <a:ext cx="3660775" cy="585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803900" y="885825"/>
          <a:ext cx="16256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91000" imgH="330120" progId="Equation.3">
                  <p:embed/>
                </p:oleObj>
              </mc:Choice>
              <mc:Fallback>
                <p:oleObj name="Equation" r:id="rId4" imgW="2691000" imgH="330120" progId="Equation.3">
                  <p:embed/>
                  <p:pic>
                    <p:nvPicPr>
                      <p:cNvPr id="3075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0" y="885825"/>
                        <a:ext cx="16256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9940" name="Picture 4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5" t="18313" r="10612" b="39420"/>
          <a:stretch/>
        </p:blipFill>
        <p:spPr bwMode="auto">
          <a:xfrm>
            <a:off x="4199667" y="990600"/>
            <a:ext cx="4791933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41668" y="3219271"/>
            <a:ext cx="8915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 means that you will not increase information by decimating or squaring or taking the logarithm of your data, </a:t>
            </a:r>
            <a:r>
              <a:rPr lang="en-US" sz="2400" u="sng" dirty="0"/>
              <a:t>but does not mean that you can not filter off noise (or extract spikes from raw data) , because </a:t>
            </a:r>
          </a:p>
        </p:txBody>
      </p:sp>
      <p:graphicFrame>
        <p:nvGraphicFramePr>
          <p:cNvPr id="4" name="Object 3"/>
          <p:cNvGraphicFramePr>
            <a:graphicFrameLocks noGrp="1" noChangeAspect="1"/>
          </p:cNvGraphicFramePr>
          <p:nvPr/>
        </p:nvGraphicFramePr>
        <p:xfrm>
          <a:off x="152400" y="5181600"/>
          <a:ext cx="3838987" cy="529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73120" imgH="203040" progId="">
                  <p:embed/>
                </p:oleObj>
              </mc:Choice>
              <mc:Fallback>
                <p:oleObj name="Equation" r:id="rId7" imgW="1473120" imgH="203040" progId="">
                  <p:embed/>
                  <p:pic>
                    <p:nvPicPr>
                      <p:cNvPr id="4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5181600"/>
                        <a:ext cx="3838987" cy="5295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Grp="1" noChangeAspect="1"/>
          </p:cNvGraphicFramePr>
          <p:nvPr/>
        </p:nvGraphicFramePr>
        <p:xfrm>
          <a:off x="5943600" y="5181600"/>
          <a:ext cx="26812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28520" imgH="203040" progId="">
                  <p:embed/>
                </p:oleObj>
              </mc:Choice>
              <mc:Fallback>
                <p:oleObj name="Equation" r:id="rId9" imgW="1028520" imgH="203040" progId="">
                  <p:embed/>
                  <p:pic>
                    <p:nvPicPr>
                      <p:cNvPr id="5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5181600"/>
                        <a:ext cx="2681288" cy="530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17377" y="5257800"/>
            <a:ext cx="769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since</a:t>
            </a:r>
          </a:p>
        </p:txBody>
      </p:sp>
    </p:spTree>
    <p:extLst>
      <p:ext uri="{BB962C8B-B14F-4D97-AF65-F5344CB8AC3E}">
        <p14:creationId xmlns:p14="http://schemas.microsoft.com/office/powerpoint/2010/main" val="2362622618"/>
      </p:ext>
    </p:extLst>
  </p:cSld>
  <p:clrMapOvr>
    <a:masterClrMapping/>
  </p:clrMapOvr>
  <p:transition spd="slow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457200" y="274638"/>
            <a:ext cx="8229600" cy="490537"/>
          </a:xfrm>
        </p:spPr>
        <p:txBody>
          <a:bodyPr>
            <a:noAutofit/>
          </a:bodyPr>
          <a:lstStyle/>
          <a:p>
            <a:r>
              <a:rPr lang="en-GB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Combining different responses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075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803900" y="885825"/>
          <a:ext cx="16256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91000" imgH="330120" progId="Equation.3">
                  <p:embed/>
                </p:oleObj>
              </mc:Choice>
              <mc:Fallback>
                <p:oleObj name="Equation" r:id="rId2" imgW="2691000" imgH="330120" progId="Equation.3">
                  <p:embed/>
                  <p:pic>
                    <p:nvPicPr>
                      <p:cNvPr id="3075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0" y="885825"/>
                        <a:ext cx="16256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Grp="1" noChangeAspect="1"/>
          </p:cNvGraphicFramePr>
          <p:nvPr/>
        </p:nvGraphicFramePr>
        <p:xfrm>
          <a:off x="-1" y="914400"/>
          <a:ext cx="9144001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24080" imgH="431640" progId="">
                  <p:embed/>
                </p:oleObj>
              </mc:Choice>
              <mc:Fallback>
                <p:oleObj name="Equation" r:id="rId4" imgW="3124080" imgH="431640" progId="">
                  <p:embed/>
                  <p:pic>
                    <p:nvPicPr>
                      <p:cNvPr id="7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" y="914400"/>
                        <a:ext cx="9144001" cy="1090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2133600"/>
          <a:ext cx="35814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baseline="0" dirty="0"/>
                        <a:t> 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dirty="0"/>
                        <a:t>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</a:t>
                      </a:r>
                      <a:r>
                        <a:rPr lang="en-US" sz="1600" baseline="0" dirty="0"/>
                        <a:t> 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4038600"/>
          <a:ext cx="3581400" cy="17526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9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baseline="0" dirty="0"/>
                        <a:t> 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dirty="0"/>
                        <a:t>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</a:t>
                      </a:r>
                      <a:r>
                        <a:rPr lang="en-US" sz="1600" baseline="0" dirty="0"/>
                        <a:t> 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816" y="2286000"/>
            <a:ext cx="5289481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653154"/>
      </p:ext>
    </p:extLst>
  </p:cSld>
  <p:clrMapOvr>
    <a:masterClrMapping/>
  </p:clrMapOvr>
  <p:transition spd="slow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0816" y="2286000"/>
            <a:ext cx="5289481" cy="4267200"/>
          </a:xfrm>
          <a:prstGeom prst="rect">
            <a:avLst/>
          </a:prstGeom>
        </p:spPr>
      </p:pic>
      <p:sp>
        <p:nvSpPr>
          <p:cNvPr id="3077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457200" y="274638"/>
            <a:ext cx="8229600" cy="490537"/>
          </a:xfrm>
        </p:spPr>
        <p:txBody>
          <a:bodyPr>
            <a:noAutofit/>
          </a:bodyPr>
          <a:lstStyle/>
          <a:p>
            <a:r>
              <a:rPr lang="en-GB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Redundancy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075" name="Object 3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5803900" y="885825"/>
          <a:ext cx="16256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91000" imgH="330120" progId="Equation.3">
                  <p:embed/>
                </p:oleObj>
              </mc:Choice>
              <mc:Fallback>
                <p:oleObj name="Equation" r:id="rId3" imgW="2691000" imgH="330120" progId="Equation.3">
                  <p:embed/>
                  <p:pic>
                    <p:nvPicPr>
                      <p:cNvPr id="3075" name="Object 3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0" y="885825"/>
                        <a:ext cx="16256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Grp="1" noChangeAspect="1"/>
          </p:cNvGraphicFramePr>
          <p:nvPr/>
        </p:nvGraphicFramePr>
        <p:xfrm>
          <a:off x="185738" y="1169988"/>
          <a:ext cx="877252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97000" imgH="228600" progId="">
                  <p:embed/>
                </p:oleObj>
              </mc:Choice>
              <mc:Fallback>
                <p:oleObj name="Equation" r:id="rId5" imgW="2997000" imgH="228600" progId="">
                  <p:embed/>
                  <p:pic>
                    <p:nvPicPr>
                      <p:cNvPr id="7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8" y="1169988"/>
                        <a:ext cx="8772525" cy="577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52400" y="2133600"/>
          <a:ext cx="35814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baseline="0" dirty="0"/>
                        <a:t> 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dirty="0"/>
                        <a:t>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</a:t>
                      </a:r>
                      <a:r>
                        <a:rPr lang="en-US" sz="1600" baseline="0" dirty="0"/>
                        <a:t> 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52400" y="4038600"/>
          <a:ext cx="3581400" cy="17526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dirty="0"/>
                        <a:t>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baseline="0" dirty="0"/>
                        <a:t> 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/>
                        <a:t>Stim</a:t>
                      </a:r>
                      <a:r>
                        <a:rPr lang="en-US" sz="1600" dirty="0"/>
                        <a:t>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sz="1600" dirty="0"/>
                        <a:t>Trial</a:t>
                      </a:r>
                      <a:r>
                        <a:rPr lang="en-US" sz="1600" baseline="0" dirty="0"/>
                        <a:t> 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40835" y="5972613"/>
            <a:ext cx="34353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Redundancy&gt;0</a:t>
            </a:r>
          </a:p>
        </p:txBody>
      </p:sp>
      <p:sp>
        <p:nvSpPr>
          <p:cNvPr id="10" name="CasellaDiTesto 9"/>
          <p:cNvSpPr txBox="1"/>
          <p:nvPr/>
        </p:nvSpPr>
        <p:spPr>
          <a:xfrm>
            <a:off x="3857620" y="1702346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11" name="CasellaDiTesto 10"/>
          <p:cNvSpPr txBox="1"/>
          <p:nvPr/>
        </p:nvSpPr>
        <p:spPr>
          <a:xfrm>
            <a:off x="5643570" y="1714488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</a:t>
            </a:r>
          </a:p>
        </p:txBody>
      </p:sp>
      <p:sp>
        <p:nvSpPr>
          <p:cNvPr id="13" name="CasellaDiTesto 12"/>
          <p:cNvSpPr txBox="1"/>
          <p:nvPr/>
        </p:nvSpPr>
        <p:spPr>
          <a:xfrm>
            <a:off x="7572396" y="1643050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1.585</a:t>
            </a:r>
          </a:p>
        </p:txBody>
      </p:sp>
    </p:spTree>
    <p:extLst>
      <p:ext uri="{BB962C8B-B14F-4D97-AF65-F5344CB8AC3E}">
        <p14:creationId xmlns:p14="http://schemas.microsoft.com/office/powerpoint/2010/main" val="4232747142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54833CCD4C2FF43A3A3C271054A5EB0" ma:contentTypeVersion="3" ma:contentTypeDescription="Creare un nuovo documento." ma:contentTypeScope="" ma:versionID="b70027fdb4c1b1eb2bab3914881cac99">
  <xsd:schema xmlns:xsd="http://www.w3.org/2001/XMLSchema" xmlns:xs="http://www.w3.org/2001/XMLSchema" xmlns:p="http://schemas.microsoft.com/office/2006/metadata/properties" xmlns:ns2="8442ee31-cce1-422a-bc66-5370dcdeec33" targetNamespace="http://schemas.microsoft.com/office/2006/metadata/properties" ma:root="true" ma:fieldsID="10f8f216c52543ac433b769f5bf7bd55" ns2:_="">
    <xsd:import namespace="8442ee31-cce1-422a-bc66-5370dcdeec3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42ee31-cce1-422a-bc66-5370dcdeec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702935C-D185-44FD-95F6-BA76A74EE8C7}"/>
</file>

<file path=customXml/itemProps2.xml><?xml version="1.0" encoding="utf-8"?>
<ds:datastoreItem xmlns:ds="http://schemas.openxmlformats.org/officeDocument/2006/customXml" ds:itemID="{F93EBDFB-3F3C-4C6F-8BE4-F7734CC1DBA1}"/>
</file>

<file path=customXml/itemProps3.xml><?xml version="1.0" encoding="utf-8"?>
<ds:datastoreItem xmlns:ds="http://schemas.openxmlformats.org/officeDocument/2006/customXml" ds:itemID="{90EE67AD-407E-42A4-A45D-7C91B82E9DC0}"/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3653</Words>
  <Application>Microsoft Office PowerPoint</Application>
  <PresentationFormat>Presentazione su schermo (4:3)</PresentationFormat>
  <Paragraphs>661</Paragraphs>
  <Slides>78</Slides>
  <Notes>35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78</vt:i4>
      </vt:variant>
    </vt:vector>
  </HeadingPairs>
  <TitlesOfParts>
    <vt:vector size="87" baseType="lpstr">
      <vt:lpstr>Arial</vt:lpstr>
      <vt:lpstr>Calibri</vt:lpstr>
      <vt:lpstr>Cambria Math</vt:lpstr>
      <vt:lpstr>French Script MT</vt:lpstr>
      <vt:lpstr>Nimbus Sans L</vt:lpstr>
      <vt:lpstr>Tahoma</vt:lpstr>
      <vt:lpstr>Times New Roman</vt:lpstr>
      <vt:lpstr>Tema di Office</vt:lpstr>
      <vt:lpstr>Equation</vt:lpstr>
      <vt:lpstr>Neuromorphic engineering: computational neuroengineering module </vt:lpstr>
      <vt:lpstr>Neuronal Models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Network response to constant input</vt:lpstr>
      <vt:lpstr>Network response to constant input</vt:lpstr>
      <vt:lpstr>Network response to constant input</vt:lpstr>
      <vt:lpstr>Delta oscillations origin</vt:lpstr>
      <vt:lpstr>Network response to periodic input</vt:lpstr>
      <vt:lpstr>Cross-frequency coupling</vt:lpstr>
      <vt:lpstr>Responses of the simulated network to input stimuli matching LGN spiking activity during naturalistic movies presentations</vt:lpstr>
      <vt:lpstr>Responses of the simulated network to input stimuli matching LGN spiking activity during naturalistic movies presentations</vt:lpstr>
      <vt:lpstr>Take home message(s)</vt:lpstr>
      <vt:lpstr>Spike trains encode stimuli</vt:lpstr>
      <vt:lpstr>Single Neuron Variability</vt:lpstr>
      <vt:lpstr>Decoding brain activity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Everything is connected</vt:lpstr>
      <vt:lpstr>Everything is connected</vt:lpstr>
      <vt:lpstr>Everything is connected… but how much?</vt:lpstr>
      <vt:lpstr>Everything is connected… but how much?</vt:lpstr>
      <vt:lpstr>The relationship between any pair of variables depends on other variables</vt:lpstr>
      <vt:lpstr>The relationship between  the relevant pair of variables (signal) depends on other variables (noise)</vt:lpstr>
      <vt:lpstr>The relationship between  the relevant pair of variables (signal) depends on other variables (noise)</vt:lpstr>
      <vt:lpstr>Correlation does not imply causation</vt:lpstr>
      <vt:lpstr>Correlation does not imply causation</vt:lpstr>
      <vt:lpstr>How to deal with these problems? </vt:lpstr>
      <vt:lpstr>Estimating the linear correlation</vt:lpstr>
      <vt:lpstr>Correlation coefficient</vt:lpstr>
      <vt:lpstr>Correlation coefficient</vt:lpstr>
      <vt:lpstr>Correlation coefficient</vt:lpstr>
      <vt:lpstr>Correlation coefficient</vt:lpstr>
      <vt:lpstr>Correlation coefficient and significance</vt:lpstr>
      <vt:lpstr>Correlation coefficient and data set size</vt:lpstr>
      <vt:lpstr>Correlation coefficient and data set size</vt:lpstr>
      <vt:lpstr>Correlation coefficient and data set size</vt:lpstr>
      <vt:lpstr>Cross-correlation</vt:lpstr>
      <vt:lpstr>Autocorrelation</vt:lpstr>
      <vt:lpstr>Auto and cross correlation meaning</vt:lpstr>
      <vt:lpstr>Presentazione standard di PowerPoint</vt:lpstr>
      <vt:lpstr>Presentazione standard di PowerPoint</vt:lpstr>
      <vt:lpstr>Presentazione standard di PowerPoint</vt:lpstr>
      <vt:lpstr>Is linear correlation the whole story?</vt:lpstr>
      <vt:lpstr>Sometimes linear correlation  is not the whole story</vt:lpstr>
      <vt:lpstr> Information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Shannon’s Information</vt:lpstr>
      <vt:lpstr>Information key equations</vt:lpstr>
      <vt:lpstr>Data processing inequality</vt:lpstr>
      <vt:lpstr>Combining different responses</vt:lpstr>
      <vt:lpstr>Redundancy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Models</dc:title>
  <dc:creator>alberto</dc:creator>
  <cp:lastModifiedBy>Alberto Mazzoni</cp:lastModifiedBy>
  <cp:revision>47</cp:revision>
  <dcterms:created xsi:type="dcterms:W3CDTF">2016-10-12T06:46:34Z</dcterms:created>
  <dcterms:modified xsi:type="dcterms:W3CDTF">2026-04-17T14:05:36Z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0x010100D54833CCD4C2FF43A3A3C271054A5EB0</vt:lpwstr>
  </property>
</Properties>
</file>