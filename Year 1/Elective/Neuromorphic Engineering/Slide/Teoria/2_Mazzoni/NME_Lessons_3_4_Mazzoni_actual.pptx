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539" r:id="rId3"/>
    <p:sldId id="472" r:id="rId4"/>
    <p:sldId id="473" r:id="rId5"/>
    <p:sldId id="474" r:id="rId6"/>
    <p:sldId id="475" r:id="rId7"/>
    <p:sldId id="482" r:id="rId8"/>
    <p:sldId id="622" r:id="rId9"/>
    <p:sldId id="476" r:id="rId10"/>
    <p:sldId id="477" r:id="rId11"/>
    <p:sldId id="478" r:id="rId12"/>
    <p:sldId id="479" r:id="rId13"/>
    <p:sldId id="481" r:id="rId14"/>
    <p:sldId id="483" r:id="rId15"/>
    <p:sldId id="484" r:id="rId16"/>
    <p:sldId id="485" r:id="rId17"/>
    <p:sldId id="564" r:id="rId18"/>
    <p:sldId id="486" r:id="rId19"/>
    <p:sldId id="487" r:id="rId20"/>
    <p:sldId id="488" r:id="rId21"/>
    <p:sldId id="489" r:id="rId22"/>
    <p:sldId id="490" r:id="rId23"/>
    <p:sldId id="263" r:id="rId24"/>
    <p:sldId id="264" r:id="rId25"/>
    <p:sldId id="265" r:id="rId26"/>
    <p:sldId id="266" r:id="rId27"/>
    <p:sldId id="267" r:id="rId28"/>
    <p:sldId id="268" r:id="rId29"/>
    <p:sldId id="541" r:id="rId30"/>
    <p:sldId id="273" r:id="rId31"/>
    <p:sldId id="542" r:id="rId32"/>
    <p:sldId id="274" r:id="rId33"/>
    <p:sldId id="543" r:id="rId34"/>
    <p:sldId id="275" r:id="rId35"/>
    <p:sldId id="544" r:id="rId36"/>
    <p:sldId id="276" r:id="rId37"/>
    <p:sldId id="277" r:id="rId38"/>
    <p:sldId id="545" r:id="rId39"/>
    <p:sldId id="280" r:id="rId40"/>
    <p:sldId id="281" r:id="rId41"/>
    <p:sldId id="282" r:id="rId42"/>
    <p:sldId id="283" r:id="rId43"/>
    <p:sldId id="284" r:id="rId44"/>
    <p:sldId id="547" r:id="rId45"/>
    <p:sldId id="285" r:id="rId46"/>
    <p:sldId id="286" r:id="rId47"/>
    <p:sldId id="548" r:id="rId48"/>
    <p:sldId id="287" r:id="rId49"/>
    <p:sldId id="288" r:id="rId50"/>
    <p:sldId id="549" r:id="rId51"/>
    <p:sldId id="290" r:id="rId52"/>
    <p:sldId id="293" r:id="rId53"/>
    <p:sldId id="550" r:id="rId54"/>
    <p:sldId id="294" r:id="rId55"/>
    <p:sldId id="295" r:id="rId56"/>
    <p:sldId id="296" r:id="rId57"/>
    <p:sldId id="297" r:id="rId58"/>
    <p:sldId id="298" r:id="rId59"/>
    <p:sldId id="299" r:id="rId60"/>
    <p:sldId id="551" r:id="rId61"/>
    <p:sldId id="552" r:id="rId62"/>
    <p:sldId id="553" r:id="rId63"/>
    <p:sldId id="554" r:id="rId64"/>
    <p:sldId id="555" r:id="rId65"/>
    <p:sldId id="556" r:id="rId66"/>
    <p:sldId id="557" r:id="rId67"/>
    <p:sldId id="558" r:id="rId68"/>
    <p:sldId id="559" r:id="rId69"/>
    <p:sldId id="560" r:id="rId70"/>
    <p:sldId id="561" r:id="rId71"/>
    <p:sldId id="562" r:id="rId72"/>
    <p:sldId id="563" r:id="rId73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3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8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9496D-ADBF-4A18-95D4-AE7277CC9CD7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D7BA-C0FF-4E3D-A591-4EB38D80A8E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4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714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5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6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4F7CDD-071E-4E44-BC09-EBE6C70F8E48}" type="slidenum">
              <a:rPr lang="fi-FI" smtClean="0"/>
              <a:pPr/>
              <a:t>20</a:t>
            </a:fld>
            <a:endParaRPr lang="fi-FI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693"/>
            <a:ext cx="5486400" cy="4036356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0550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588E74D-8A51-4383-8C78-4749E4E44A18}" type="slidenum">
              <a:rPr lang="en-US" sz="1200"/>
              <a:pPr/>
              <a:t>23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398838" cy="2549525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81" y="3228554"/>
            <a:ext cx="7938708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AEFA3C4-4D2D-4E86-92BA-1F7BA29324C2}" type="slidenum">
              <a:rPr lang="en-US" sz="1200"/>
              <a:pPr/>
              <a:t>24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398838" cy="254952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81" y="3228554"/>
            <a:ext cx="7938708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79B5EAF-90FF-418F-8FC2-051603C4917B}" type="slidenum">
              <a:rPr lang="en-US" sz="1200"/>
              <a:pPr/>
              <a:t>25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398838" cy="2549525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81" y="3228554"/>
            <a:ext cx="7938708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3262313" y="517525"/>
            <a:ext cx="3398837" cy="25479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92549" y="3228838"/>
            <a:ext cx="7939906" cy="3001557"/>
          </a:xfrm>
        </p:spPr>
        <p:txBody>
          <a:bodyPr/>
          <a:lstStyle/>
          <a:p>
            <a:r>
              <a:rPr lang="it-IT" dirty="0" err="1"/>
              <a:t>Remember</a:t>
            </a:r>
            <a:r>
              <a:rPr lang="it-IT" dirty="0"/>
              <a:t> the </a:t>
            </a:r>
            <a:r>
              <a:rPr lang="it-IT" dirty="0" err="1"/>
              <a:t>monkeys</a:t>
            </a:r>
            <a:endParaRPr lang="it-IT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3262313" y="517525"/>
            <a:ext cx="3398837" cy="25479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92549" y="3228838"/>
            <a:ext cx="7939906" cy="3001557"/>
          </a:xfrm>
        </p:spPr>
        <p:txBody>
          <a:bodyPr/>
          <a:lstStyle/>
          <a:p>
            <a:r>
              <a:rPr lang="it-IT" dirty="0" err="1"/>
              <a:t>Remember</a:t>
            </a:r>
            <a:r>
              <a:rPr lang="it-IT" dirty="0"/>
              <a:t> the </a:t>
            </a:r>
            <a:r>
              <a:rPr lang="it-IT" dirty="0" err="1"/>
              <a:t>monkeys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77921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4B340D-D9B7-4B0C-A8BE-59AE4E64436A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4B340D-D9B7-4B0C-A8BE-59AE4E64436A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650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33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6319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2652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EA0F2B-C5F3-4A26-851F-73EFA5B5EE8E}" type="slidenum">
              <a:rPr lang="en-US" altLang="it-IT"/>
              <a:pPr/>
              <a:t>37</a:t>
            </a:fld>
            <a:endParaRPr lang="en-US" altLang="it-IT"/>
          </a:p>
        </p:txBody>
      </p:sp>
      <p:sp>
        <p:nvSpPr>
          <p:cNvPr id="276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5662" cy="25463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38790" cy="3058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EA0F2B-C5F3-4A26-851F-73EFA5B5EE8E}" type="slidenum">
              <a:rPr lang="en-US" altLang="it-IT"/>
              <a:pPr/>
              <a:t>38</a:t>
            </a:fld>
            <a:endParaRPr lang="en-US" altLang="it-IT"/>
          </a:p>
        </p:txBody>
      </p:sp>
      <p:sp>
        <p:nvSpPr>
          <p:cNvPr id="276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5662" cy="25463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38790" cy="3058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7633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39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40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41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42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43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44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32883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45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46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47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862126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48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49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50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51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55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56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04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5F6BE1E-F716-40D1-A8F0-1B2E584D8CB8}" type="slidenum">
              <a:rPr lang="en-US" sz="1200"/>
              <a:pPr/>
              <a:t>60</a:t>
            </a:fld>
            <a:endParaRPr lang="en-US" sz="1200"/>
          </a:p>
        </p:txBody>
      </p:sp>
      <p:sp>
        <p:nvSpPr>
          <p:cNvPr id="604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CD1A2-63D4-421C-8FE1-EAF5557659B8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46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69C09-0978-46E5-9FA0-232C9C074754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3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C56D-4454-4717-98EA-B8EE0FABF145}" type="datetimeFigureOut">
              <a:rPr lang="it-IT" smtClean="0"/>
              <a:pPr/>
              <a:t>26/04/2026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5" Type="http://schemas.openxmlformats.org/officeDocument/2006/relationships/image" Target="../media/image54.wmf"/><Relationship Id="rId4" Type="http://schemas.openxmlformats.org/officeDocument/2006/relationships/oleObject" Target="../embeddings/oleObject6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png"/><Relationship Id="rId5" Type="http://schemas.openxmlformats.org/officeDocument/2006/relationships/image" Target="../media/image59.emf"/><Relationship Id="rId4" Type="http://schemas.openxmlformats.org/officeDocument/2006/relationships/oleObject" Target="../embeddings/oleObject9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11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62.wmf"/><Relationship Id="rId7" Type="http://schemas.openxmlformats.org/officeDocument/2006/relationships/oleObject" Target="../embeddings/oleObject15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59.emf"/><Relationship Id="rId10" Type="http://schemas.openxmlformats.org/officeDocument/2006/relationships/image" Target="../media/image65.w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tiff"/><Relationship Id="rId5" Type="http://schemas.openxmlformats.org/officeDocument/2006/relationships/image" Target="../media/image66.wmf"/><Relationship Id="rId4" Type="http://schemas.openxmlformats.org/officeDocument/2006/relationships/oleObject" Target="../embeddings/oleObject18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67.tif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5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o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5975"/>
          <a:stretch/>
        </p:blipFill>
        <p:spPr bwMode="auto">
          <a:xfrm>
            <a:off x="482318" y="4943127"/>
            <a:ext cx="2392127" cy="11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2318" y="227176"/>
            <a:ext cx="8410162" cy="5506080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Neuromorphic</a:t>
            </a:r>
            <a:r>
              <a:rPr lang="it-IT" sz="6000" b="1" dirty="0">
                <a:solidFill>
                  <a:srgbClr val="FF0000"/>
                </a:solidFill>
              </a:rPr>
              <a:t> engineering: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computational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neuroengineering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module</a:t>
            </a:r>
            <a:br>
              <a:rPr lang="it-IT" sz="6000" b="1" dirty="0">
                <a:solidFill>
                  <a:srgbClr val="FF0000"/>
                </a:solidFill>
              </a:rPr>
            </a:br>
            <a:endParaRPr lang="it-IT" sz="6000" b="1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347864" y="5131249"/>
            <a:ext cx="5688632" cy="792088"/>
          </a:xfrm>
        </p:spPr>
        <p:txBody>
          <a:bodyPr>
            <a:normAutofit/>
          </a:bodyPr>
          <a:lstStyle/>
          <a:p>
            <a:r>
              <a:rPr lang="it-IT" dirty="0" err="1"/>
              <a:t>Mazzoni@Bionics</a:t>
            </a:r>
            <a:r>
              <a:rPr lang="it-IT"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B51B-CF0A-6033-E7B9-808730DA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E849C-E6D2-9317-41A3-205130520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696" y="4005064"/>
            <a:ext cx="5148064" cy="1470025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Models</a:t>
            </a:r>
            <a:endParaRPr lang="it-IT" sz="6000" b="1" dirty="0">
              <a:solidFill>
                <a:srgbClr val="FF0000"/>
              </a:solidFill>
            </a:endParaRPr>
          </a:p>
        </p:txBody>
      </p:sp>
      <p:pic>
        <p:nvPicPr>
          <p:cNvPr id="7" name="Picture 2" descr="http://www.inmondadori.it/img/Kill-Bill-Volume-1-DVD-Quentin-Tarantino/ea803117993243/BL/BL/10/NZO/?tit=Kill+Bill+-+Volume+1+(DVD)&amp;aut=Quentin+Tarantino">
            <a:extLst>
              <a:ext uri="{FF2B5EF4-FFF2-40B4-BE49-F238E27FC236}">
                <a16:creationId xmlns:a16="http://schemas.microsoft.com/office/drawing/2014/main" id="{B0F6ED58-3944-BC02-E59C-A8912AB1E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" t="63461" r="61272" b="847"/>
          <a:stretch/>
        </p:blipFill>
        <p:spPr bwMode="auto">
          <a:xfrm>
            <a:off x="3851920" y="764704"/>
            <a:ext cx="1857388" cy="239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18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75783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C2F2AA4B-1F0F-4F64-8E48-BD564977595D}"/>
              </a:ext>
            </a:extLst>
          </p:cNvPr>
          <p:cNvSpPr/>
          <p:nvPr/>
        </p:nvSpPr>
        <p:spPr>
          <a:xfrm>
            <a:off x="208326" y="1412776"/>
            <a:ext cx="4647431" cy="4320479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4:1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r>
              <a:rPr lang="it-IT" sz="2400" dirty="0"/>
              <a:t> ratio and strong </a:t>
            </a:r>
            <a:r>
              <a:rPr lang="it-IT" sz="2400" dirty="0" err="1"/>
              <a:t>inhibition</a:t>
            </a:r>
            <a:r>
              <a:rPr lang="it-IT" sz="2400" dirty="0"/>
              <a:t> combine to </a:t>
            </a:r>
            <a:r>
              <a:rPr lang="it-IT" sz="2400" dirty="0" err="1"/>
              <a:t>achieve</a:t>
            </a:r>
            <a:r>
              <a:rPr lang="it-IT" sz="2400" dirty="0"/>
              <a:t>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endParaRPr lang="it-IT" sz="2400" dirty="0"/>
          </a:p>
          <a:p>
            <a:pPr algn="ctr"/>
            <a:r>
              <a:rPr lang="it-IT" sz="2400" dirty="0"/>
              <a:t>balance  </a:t>
            </a:r>
          </a:p>
        </p:txBody>
      </p:sp>
    </p:spTree>
    <p:extLst>
      <p:ext uri="{BB962C8B-B14F-4D97-AF65-F5344CB8AC3E}">
        <p14:creationId xmlns:p14="http://schemas.microsoft.com/office/powerpoint/2010/main" val="14685204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external stimuli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5072063" y="928688"/>
            <a:ext cx="3927475" cy="630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Sensory thalamic inputs 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(stronger on Inhibitory neurons)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Stimulus unspecific slowly varying inputs modeling ongoing cortical fluctuations.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57188" y="5443538"/>
            <a:ext cx="43561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Each thalamic input is injected many times -  each time with a different ongoing activity.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357313"/>
            <a:ext cx="4254500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CasellaDiTesto 5"/>
          <p:cNvSpPr txBox="1"/>
          <p:nvPr/>
        </p:nvSpPr>
        <p:spPr>
          <a:xfrm>
            <a:off x="369418" y="1600200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1518096" y="2502932"/>
            <a:ext cx="11489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 err="1"/>
              <a:t>Excitatory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6863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external stimuli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14313" y="5715000"/>
            <a:ext cx="4713287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al. 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PLoS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Comp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Biol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2008 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al.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Neuroimage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2010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 J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Physiol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2012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143500" y="2571750"/>
            <a:ext cx="35702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“Ongoing activity” cortical inputs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286375" y="5345113"/>
            <a:ext cx="29987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“Sensory” thalamic inputs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072063" y="4662488"/>
            <a:ext cx="3213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</a:rPr>
              <a:t>Ornstein Uhlenbeck process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3213100"/>
            <a:ext cx="3071813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5981700"/>
            <a:ext cx="3276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4064000"/>
            <a:ext cx="4572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22400"/>
            <a:ext cx="4633913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357313"/>
            <a:ext cx="4254500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" name="CasellaDiTesto 15"/>
          <p:cNvSpPr txBox="1"/>
          <p:nvPr/>
        </p:nvSpPr>
        <p:spPr>
          <a:xfrm>
            <a:off x="369418" y="1600200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1518096" y="2502932"/>
            <a:ext cx="11489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 err="1"/>
              <a:t>Excitatory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7783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Interlude: noise</a:t>
            </a:r>
          </a:p>
        </p:txBody>
      </p:sp>
      <p:pic>
        <p:nvPicPr>
          <p:cNvPr id="3" name="Immagine 2" descr="Immagine che contiene libro, testo&#10;&#10;Descrizione generata automaticamente">
            <a:extLst>
              <a:ext uri="{FF2B5EF4-FFF2-40B4-BE49-F238E27FC236}">
                <a16:creationId xmlns:a16="http://schemas.microsoft.com/office/drawing/2014/main" id="{D6BB2412-BCFF-455C-B3DB-FA4F756C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048672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8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Interlude: noise</a:t>
            </a:r>
          </a:p>
        </p:txBody>
      </p:sp>
      <p:pic>
        <p:nvPicPr>
          <p:cNvPr id="3" name="Immagine 2" descr="Immagine che contiene libro, testo&#10;&#10;Descrizione generata automaticamente">
            <a:extLst>
              <a:ext uri="{FF2B5EF4-FFF2-40B4-BE49-F238E27FC236}">
                <a16:creationId xmlns:a16="http://schemas.microsoft.com/office/drawing/2014/main" id="{D6BB2412-BCFF-455C-B3DB-FA4F756C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048672" cy="6048672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B516BEB3-EC4C-422E-8CF6-8D4A45435909}"/>
              </a:ext>
            </a:extLst>
          </p:cNvPr>
          <p:cNvSpPr/>
          <p:nvPr/>
        </p:nvSpPr>
        <p:spPr>
          <a:xfrm>
            <a:off x="5003125" y="188641"/>
            <a:ext cx="4140875" cy="648549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 err="1"/>
              <a:t>It’s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possible</a:t>
            </a:r>
            <a:r>
              <a:rPr lang="it-IT" sz="2400" dirty="0"/>
              <a:t> to estimate the </a:t>
            </a:r>
            <a:r>
              <a:rPr lang="it-IT" sz="2400" b="1" dirty="0" err="1"/>
              <a:t>temporal</a:t>
            </a:r>
            <a:r>
              <a:rPr lang="it-IT" sz="2400" b="1" dirty="0"/>
              <a:t> </a:t>
            </a:r>
            <a:r>
              <a:rPr lang="it-IT" sz="2400" b="1" dirty="0" err="1"/>
              <a:t>structure</a:t>
            </a:r>
            <a:r>
              <a:rPr lang="it-IT" sz="2400" b="1" dirty="0"/>
              <a:t> of </a:t>
            </a:r>
            <a:r>
              <a:rPr lang="it-IT" sz="2400" b="1" dirty="0" err="1"/>
              <a:t>spontaneous</a:t>
            </a:r>
            <a:r>
              <a:rPr lang="it-IT" sz="2400" b="1" dirty="0"/>
              <a:t> </a:t>
            </a:r>
            <a:r>
              <a:rPr lang="it-IT" sz="2400" b="1" dirty="0" err="1"/>
              <a:t>cortical</a:t>
            </a:r>
            <a:r>
              <a:rPr lang="it-IT" sz="2400" b="1" dirty="0"/>
              <a:t> activity </a:t>
            </a:r>
            <a:r>
              <a:rPr lang="it-IT" sz="2400" dirty="0"/>
              <a:t>by </a:t>
            </a:r>
            <a:r>
              <a:rPr lang="it-IT" sz="2400" dirty="0" err="1"/>
              <a:t>measuring</a:t>
            </a:r>
            <a:r>
              <a:rPr lang="it-IT" sz="2400" dirty="0"/>
              <a:t> the </a:t>
            </a:r>
            <a:r>
              <a:rPr lang="it-IT" sz="2400" dirty="0" err="1"/>
              <a:t>firing</a:t>
            </a:r>
            <a:r>
              <a:rPr lang="it-IT" sz="2400" dirty="0"/>
              <a:t> of large (&gt;10^3) pools of </a:t>
            </a:r>
            <a:r>
              <a:rPr lang="it-IT" sz="2400" dirty="0" err="1"/>
              <a:t>neurons</a:t>
            </a:r>
            <a:r>
              <a:rPr lang="it-IT" sz="2400" dirty="0"/>
              <a:t> – </a:t>
            </a:r>
            <a:r>
              <a:rPr lang="it-IT" sz="2400" b="1" dirty="0" err="1"/>
              <a:t>extracellular</a:t>
            </a:r>
            <a:r>
              <a:rPr lang="it-IT" sz="2400" b="1" dirty="0"/>
              <a:t> </a:t>
            </a:r>
            <a:r>
              <a:rPr lang="it-IT" sz="2400" b="1" dirty="0" err="1"/>
              <a:t>signals</a:t>
            </a:r>
            <a:r>
              <a:rPr lang="it-IT" sz="2400" b="1" dirty="0"/>
              <a:t> show a 1/f^2 </a:t>
            </a:r>
            <a:r>
              <a:rPr lang="it-IT" sz="2400" b="1" dirty="0" err="1"/>
              <a:t>spectrum</a:t>
            </a:r>
            <a:r>
              <a:rPr lang="it-IT" sz="2400" b="1" dirty="0"/>
              <a:t> </a:t>
            </a:r>
            <a:r>
              <a:rPr lang="it-IT" sz="2400" dirty="0"/>
              <a:t>(due to </a:t>
            </a:r>
            <a:r>
              <a:rPr lang="it-IT" sz="2400" dirty="0" err="1"/>
              <a:t>different</a:t>
            </a:r>
            <a:r>
              <a:rPr lang="it-IT" sz="2400" dirty="0"/>
              <a:t> size of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activated</a:t>
            </a:r>
            <a:r>
              <a:rPr lang="it-IT" sz="2400" dirty="0"/>
              <a:t> in </a:t>
            </a:r>
            <a:r>
              <a:rPr lang="it-IT" sz="2400" dirty="0" err="1"/>
              <a:t>phase</a:t>
            </a:r>
            <a:r>
              <a:rPr lang="it-IT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069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03682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9BF4F501-E07B-491C-8BD6-5F96D1B4464F}"/>
              </a:ext>
            </a:extLst>
          </p:cNvPr>
          <p:cNvSpPr/>
          <p:nvPr/>
        </p:nvSpPr>
        <p:spPr>
          <a:xfrm>
            <a:off x="4860249" y="908720"/>
            <a:ext cx="4140875" cy="583264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Purely</a:t>
            </a:r>
            <a:r>
              <a:rPr lang="it-IT" sz="2400" b="1" dirty="0"/>
              <a:t> </a:t>
            </a:r>
            <a:r>
              <a:rPr lang="it-IT" sz="2400" b="1" dirty="0" err="1"/>
              <a:t>inhibitory</a:t>
            </a:r>
            <a:r>
              <a:rPr lang="it-IT" sz="2400" b="1" dirty="0"/>
              <a:t> network</a:t>
            </a:r>
            <a:r>
              <a:rPr lang="it-IT" sz="2400" dirty="0"/>
              <a:t>: </a:t>
            </a:r>
          </a:p>
          <a:p>
            <a:pPr algn="ctr"/>
            <a:r>
              <a:rPr lang="it-IT" sz="2400" dirty="0"/>
              <a:t>1- </a:t>
            </a:r>
            <a:r>
              <a:rPr lang="it-IT" sz="2400" dirty="0" err="1"/>
              <a:t>neurons</a:t>
            </a:r>
            <a:r>
              <a:rPr lang="it-IT" sz="2400" dirty="0"/>
              <a:t> are </a:t>
            </a:r>
            <a:r>
              <a:rPr lang="it-IT" sz="2400" dirty="0" err="1"/>
              <a:t>silent</a:t>
            </a:r>
            <a:endParaRPr lang="it-IT" sz="2400" dirty="0"/>
          </a:p>
          <a:p>
            <a:pPr algn="ctr"/>
            <a:r>
              <a:rPr lang="it-IT" sz="2400" dirty="0"/>
              <a:t>2- </a:t>
            </a:r>
            <a:r>
              <a:rPr lang="it-IT" sz="2400" dirty="0" err="1"/>
              <a:t>external</a:t>
            </a:r>
            <a:r>
              <a:rPr lang="it-IT" sz="2400" dirty="0"/>
              <a:t> input </a:t>
            </a:r>
            <a:r>
              <a:rPr lang="it-IT" sz="2400" dirty="0" err="1"/>
              <a:t>activates</a:t>
            </a:r>
            <a:r>
              <a:rPr lang="it-IT" sz="2400" dirty="0"/>
              <a:t> </a:t>
            </a:r>
            <a:r>
              <a:rPr lang="it-IT" sz="2400" dirty="0" err="1"/>
              <a:t>neuron</a:t>
            </a:r>
            <a:endParaRPr lang="it-IT" sz="2400" dirty="0"/>
          </a:p>
          <a:p>
            <a:pPr algn="ctr"/>
            <a:r>
              <a:rPr lang="it-IT" sz="2400" dirty="0"/>
              <a:t>3 – </a:t>
            </a:r>
            <a:r>
              <a:rPr lang="it-IT" sz="2400" dirty="0" err="1"/>
              <a:t>neurons</a:t>
            </a:r>
            <a:r>
              <a:rPr lang="it-IT" sz="2400" dirty="0"/>
              <a:t> self-</a:t>
            </a:r>
            <a:r>
              <a:rPr lang="it-IT" sz="2400" dirty="0" err="1"/>
              <a:t>inhibit</a:t>
            </a:r>
            <a:endParaRPr lang="it-IT" sz="2400" dirty="0"/>
          </a:p>
          <a:p>
            <a:pPr algn="ctr"/>
            <a:r>
              <a:rPr lang="it-IT" sz="2400" dirty="0"/>
              <a:t>4- </a:t>
            </a:r>
            <a:r>
              <a:rPr lang="it-IT" sz="2400" dirty="0" err="1"/>
              <a:t>neurons</a:t>
            </a:r>
            <a:r>
              <a:rPr lang="it-IT" sz="2400" dirty="0"/>
              <a:t> are </a:t>
            </a:r>
            <a:r>
              <a:rPr lang="it-IT" sz="2400" dirty="0" err="1"/>
              <a:t>silent</a:t>
            </a:r>
            <a:r>
              <a:rPr lang="it-IT" sz="2400" dirty="0"/>
              <a:t>-&gt; back to step 1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fast</a:t>
            </a:r>
          </a:p>
        </p:txBody>
      </p:sp>
    </p:spTree>
    <p:extLst>
      <p:ext uri="{BB962C8B-B14F-4D97-AF65-F5344CB8AC3E}">
        <p14:creationId xmlns:p14="http://schemas.microsoft.com/office/powerpoint/2010/main" val="3605770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CA5C5FB-515F-41E6-BC21-3B73F3747D12}"/>
              </a:ext>
            </a:extLst>
          </p:cNvPr>
          <p:cNvSpPr/>
          <p:nvPr/>
        </p:nvSpPr>
        <p:spPr>
          <a:xfrm>
            <a:off x="360916" y="188640"/>
            <a:ext cx="3638018" cy="6412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 err="1"/>
              <a:t>Excitatory-inhibitory</a:t>
            </a:r>
            <a:r>
              <a:rPr lang="it-IT" sz="2000" b="1" dirty="0"/>
              <a:t> network</a:t>
            </a:r>
            <a:r>
              <a:rPr lang="it-IT" sz="2000" dirty="0"/>
              <a:t>: </a:t>
            </a:r>
          </a:p>
          <a:p>
            <a:pPr algn="ctr"/>
            <a:r>
              <a:rPr lang="it-IT" sz="2000" dirty="0"/>
              <a:t>1- E and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2- </a:t>
            </a:r>
            <a:r>
              <a:rPr lang="it-IT" sz="2000" dirty="0" err="1"/>
              <a:t>external</a:t>
            </a:r>
            <a:r>
              <a:rPr lang="it-IT" sz="2000" dirty="0"/>
              <a:t> input </a:t>
            </a:r>
            <a:r>
              <a:rPr lang="it-IT" sz="2000" dirty="0" err="1"/>
              <a:t>activates</a:t>
            </a:r>
            <a:r>
              <a:rPr lang="it-IT" sz="2000" dirty="0"/>
              <a:t> E </a:t>
            </a:r>
            <a:r>
              <a:rPr lang="it-IT" sz="2000" dirty="0" err="1"/>
              <a:t>neurons</a:t>
            </a:r>
            <a:endParaRPr lang="it-IT" sz="2000" dirty="0"/>
          </a:p>
          <a:p>
            <a:pPr algn="ctr"/>
            <a:r>
              <a:rPr lang="it-IT" sz="2000" dirty="0"/>
              <a:t>3 – E </a:t>
            </a:r>
            <a:r>
              <a:rPr lang="it-IT" sz="2000" dirty="0" err="1"/>
              <a:t>neurons</a:t>
            </a:r>
            <a:r>
              <a:rPr lang="it-IT" sz="2000" dirty="0"/>
              <a:t> trigger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activation</a:t>
            </a:r>
            <a:r>
              <a:rPr lang="it-IT" sz="2000" dirty="0"/>
              <a:t>: </a:t>
            </a:r>
            <a:r>
              <a:rPr lang="it-IT" sz="2000" dirty="0" err="1"/>
              <a:t>both</a:t>
            </a:r>
            <a:r>
              <a:rPr lang="it-IT" sz="2000" dirty="0"/>
              <a:t> sets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4-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inhibit</a:t>
            </a:r>
            <a:r>
              <a:rPr lang="it-IT" sz="2000" dirty="0"/>
              <a:t> E </a:t>
            </a:r>
            <a:r>
              <a:rPr lang="it-IT" sz="2000" dirty="0" err="1"/>
              <a:t>neurons</a:t>
            </a:r>
            <a:r>
              <a:rPr lang="it-IT" sz="2000" dirty="0"/>
              <a:t>: </a:t>
            </a:r>
            <a:r>
              <a:rPr lang="it-IT" sz="2000" dirty="0" err="1"/>
              <a:t>only</a:t>
            </a:r>
            <a:r>
              <a:rPr lang="it-IT" sz="2000" dirty="0"/>
              <a:t> I </a:t>
            </a:r>
            <a:r>
              <a:rPr lang="it-IT" sz="2000" dirty="0" err="1"/>
              <a:t>neurons</a:t>
            </a:r>
            <a:r>
              <a:rPr lang="it-IT" sz="2000" dirty="0"/>
              <a:t>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5- I </a:t>
            </a:r>
            <a:r>
              <a:rPr lang="it-IT" sz="2000" dirty="0" err="1"/>
              <a:t>neurons</a:t>
            </a:r>
            <a:r>
              <a:rPr lang="it-IT" sz="2000" dirty="0"/>
              <a:t> do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receive</a:t>
            </a:r>
            <a:r>
              <a:rPr lang="it-IT" sz="2000" dirty="0"/>
              <a:t> </a:t>
            </a:r>
            <a:r>
              <a:rPr lang="it-IT" sz="2000" dirty="0" err="1"/>
              <a:t>excitatory</a:t>
            </a:r>
            <a:r>
              <a:rPr lang="it-IT" sz="2000" dirty="0"/>
              <a:t> inputs </a:t>
            </a:r>
            <a:r>
              <a:rPr lang="it-IT" sz="2000" dirty="0" err="1"/>
              <a:t>anymore</a:t>
            </a:r>
            <a:r>
              <a:rPr lang="it-IT" sz="2000" dirty="0"/>
              <a:t>. </a:t>
            </a:r>
          </a:p>
          <a:p>
            <a:pPr algn="ctr"/>
            <a:r>
              <a:rPr lang="it-IT" sz="2000" dirty="0"/>
              <a:t>6 - E and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-&gt; back to step 1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 err="1"/>
              <a:t>Oscillations</a:t>
            </a:r>
            <a:r>
              <a:rPr lang="it-IT" sz="2000" dirty="0"/>
              <a:t> are slow</a:t>
            </a:r>
          </a:p>
        </p:txBody>
      </p:sp>
    </p:spTree>
    <p:extLst>
      <p:ext uri="{BB962C8B-B14F-4D97-AF65-F5344CB8AC3E}">
        <p14:creationId xmlns:p14="http://schemas.microsoft.com/office/powerpoint/2010/main" val="167477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2A56EEB-ED8B-4EA9-9918-D9A0FC1FC2D1}"/>
              </a:ext>
            </a:extLst>
          </p:cNvPr>
          <p:cNvSpPr/>
          <p:nvPr/>
        </p:nvSpPr>
        <p:spPr>
          <a:xfrm>
            <a:off x="360916" y="1775834"/>
            <a:ext cx="8675580" cy="17962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Complete network</a:t>
            </a:r>
            <a:r>
              <a:rPr lang="it-IT" sz="2400" dirty="0"/>
              <a:t>: </a:t>
            </a:r>
            <a:r>
              <a:rPr lang="it-IT" sz="2400" dirty="0" err="1"/>
              <a:t>both</a:t>
            </a:r>
            <a:r>
              <a:rPr lang="it-IT" sz="2400" dirty="0"/>
              <a:t> </a:t>
            </a:r>
            <a:r>
              <a:rPr lang="it-IT" sz="2400" dirty="0" err="1"/>
              <a:t>resonances</a:t>
            </a:r>
            <a:r>
              <a:rPr lang="it-IT" sz="2400" dirty="0"/>
              <a:t> are </a:t>
            </a:r>
            <a:r>
              <a:rPr lang="it-IT" sz="2400" dirty="0" err="1"/>
              <a:t>present</a:t>
            </a:r>
            <a:r>
              <a:rPr lang="it-IT" sz="2400" dirty="0"/>
              <a:t>. The input </a:t>
            </a:r>
            <a:r>
              <a:rPr lang="it-IT" sz="2400" dirty="0" err="1"/>
              <a:t>determines</a:t>
            </a:r>
            <a:r>
              <a:rPr lang="it-IT" sz="2400" dirty="0"/>
              <a:t> </a:t>
            </a:r>
            <a:r>
              <a:rPr lang="it-IT" sz="2400" dirty="0" err="1"/>
              <a:t>their</a:t>
            </a:r>
            <a:r>
              <a:rPr lang="it-IT" sz="2400" dirty="0"/>
              <a:t> </a:t>
            </a:r>
            <a:r>
              <a:rPr lang="it-IT" sz="2400" dirty="0" err="1"/>
              <a:t>interplay</a:t>
            </a:r>
            <a:r>
              <a:rPr lang="it-IT" sz="2400" dirty="0"/>
              <a:t> and </a:t>
            </a:r>
            <a:r>
              <a:rPr lang="it-IT" sz="2400" dirty="0" err="1"/>
              <a:t>hence</a:t>
            </a:r>
            <a:r>
              <a:rPr lang="it-IT" sz="2400" dirty="0"/>
              <a:t> the </a:t>
            </a:r>
            <a:r>
              <a:rPr lang="it-IT" sz="2400" dirty="0" err="1"/>
              <a:t>final</a:t>
            </a:r>
            <a:r>
              <a:rPr lang="it-IT" sz="2400" dirty="0"/>
              <a:t> frequency.</a:t>
            </a:r>
          </a:p>
        </p:txBody>
      </p:sp>
    </p:spTree>
    <p:extLst>
      <p:ext uri="{BB962C8B-B14F-4D97-AF65-F5344CB8AC3E}">
        <p14:creationId xmlns:p14="http://schemas.microsoft.com/office/powerpoint/2010/main" val="1234818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97929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1902" y="1060473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</p:spTree>
    <p:extLst>
      <p:ext uri="{BB962C8B-B14F-4D97-AF65-F5344CB8AC3E}">
        <p14:creationId xmlns:p14="http://schemas.microsoft.com/office/powerpoint/2010/main" val="423829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1902" y="1060473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C66E411E-9922-4470-9466-AD1A4C8DB139}"/>
              </a:ext>
            </a:extLst>
          </p:cNvPr>
          <p:cNvSpPr/>
          <p:nvPr/>
        </p:nvSpPr>
        <p:spPr>
          <a:xfrm>
            <a:off x="4572000" y="1753923"/>
            <a:ext cx="1994005" cy="33340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Dipole</a:t>
            </a:r>
            <a:r>
              <a:rPr lang="it-IT" sz="2400" b="1" dirty="0"/>
              <a:t> </a:t>
            </a:r>
            <a:r>
              <a:rPr lang="it-IT" sz="2400" b="1" dirty="0" err="1"/>
              <a:t>effect</a:t>
            </a:r>
            <a:r>
              <a:rPr lang="it-IT" sz="2400" dirty="0"/>
              <a:t>: the </a:t>
            </a:r>
            <a:r>
              <a:rPr lang="it-IT" sz="2400" dirty="0" err="1"/>
              <a:t>distance</a:t>
            </a:r>
            <a:r>
              <a:rPr lang="it-IT" sz="2400" dirty="0"/>
              <a:t> </a:t>
            </a:r>
            <a:r>
              <a:rPr lang="it-IT" sz="2400" dirty="0" err="1"/>
              <a:t>between</a:t>
            </a:r>
            <a:r>
              <a:rPr lang="it-IT" sz="2400" dirty="0"/>
              <a:t> </a:t>
            </a:r>
            <a:r>
              <a:rPr lang="it-IT" sz="2400" dirty="0" err="1"/>
              <a:t>sink</a:t>
            </a:r>
            <a:r>
              <a:rPr lang="it-IT" sz="2400" dirty="0"/>
              <a:t> and source </a:t>
            </a:r>
            <a:r>
              <a:rPr lang="it-IT" sz="2400" dirty="0" err="1"/>
              <a:t>creates</a:t>
            </a:r>
            <a:r>
              <a:rPr lang="it-IT" sz="2400" dirty="0"/>
              <a:t> a </a:t>
            </a:r>
            <a:r>
              <a:rPr lang="it-IT" sz="2400" dirty="0" err="1"/>
              <a:t>dipole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58185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9592" y="1156418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C66E411E-9922-4470-9466-AD1A4C8DB139}"/>
              </a:ext>
            </a:extLst>
          </p:cNvPr>
          <p:cNvSpPr/>
          <p:nvPr/>
        </p:nvSpPr>
        <p:spPr>
          <a:xfrm>
            <a:off x="323531" y="1595337"/>
            <a:ext cx="3312364" cy="40146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Dipoles</a:t>
            </a:r>
            <a:r>
              <a:rPr lang="it-IT" sz="2400" b="1" dirty="0"/>
              <a:t> sum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Parallel</a:t>
            </a:r>
            <a:r>
              <a:rPr lang="it-IT" sz="2400" dirty="0"/>
              <a:t> </a:t>
            </a:r>
            <a:r>
              <a:rPr lang="it-IT" sz="2400" dirty="0" err="1"/>
              <a:t>dipoles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excitatory</a:t>
            </a:r>
            <a:r>
              <a:rPr lang="it-IT" sz="2400" dirty="0"/>
              <a:t> </a:t>
            </a:r>
            <a:r>
              <a:rPr lang="it-IT" sz="2400" dirty="0" err="1"/>
              <a:t>neurons</a:t>
            </a:r>
            <a:r>
              <a:rPr lang="it-IT" sz="2400" dirty="0"/>
              <a:t> sum up </a:t>
            </a:r>
            <a:r>
              <a:rPr lang="it-IT" sz="2400" dirty="0" err="1"/>
              <a:t>linearly</a:t>
            </a:r>
            <a:endParaRPr lang="it-IT" sz="2400" dirty="0"/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Isotropic</a:t>
            </a:r>
            <a:r>
              <a:rPr lang="it-IT" sz="2400" dirty="0"/>
              <a:t> </a:t>
            </a:r>
            <a:r>
              <a:rPr lang="it-IT" sz="2400" dirty="0" err="1"/>
              <a:t>dipoles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inhibitory</a:t>
            </a:r>
            <a:r>
              <a:rPr lang="it-IT" sz="2400" dirty="0"/>
              <a:t> </a:t>
            </a:r>
            <a:r>
              <a:rPr lang="it-IT" sz="2400" dirty="0" err="1"/>
              <a:t>neurons</a:t>
            </a:r>
            <a:r>
              <a:rPr lang="it-IT" sz="2400" dirty="0"/>
              <a:t> sum up to zero over a </a:t>
            </a:r>
            <a:r>
              <a:rPr lang="it-IT" sz="2400" dirty="0" err="1"/>
              <a:t>sufficiently</a:t>
            </a:r>
            <a:r>
              <a:rPr lang="it-IT" sz="2400" dirty="0"/>
              <a:t> large volume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025160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40919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265800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74A4E3E-8003-4AC1-AE91-F67267E53BDB}"/>
              </a:ext>
            </a:extLst>
          </p:cNvPr>
          <p:cNvSpPr/>
          <p:nvPr/>
        </p:nvSpPr>
        <p:spPr>
          <a:xfrm>
            <a:off x="323531" y="1595336"/>
            <a:ext cx="2698468" cy="47139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Weak</a:t>
            </a:r>
            <a:r>
              <a:rPr lang="it-IT" sz="2400" b="1" dirty="0"/>
              <a:t> </a:t>
            </a:r>
            <a:r>
              <a:rPr lang="it-IT" sz="2400" b="1" dirty="0" err="1"/>
              <a:t>synchronization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Oscillations</a:t>
            </a:r>
            <a:r>
              <a:rPr lang="it-IT" sz="2400" dirty="0"/>
              <a:t> are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visible</a:t>
            </a:r>
            <a:r>
              <a:rPr lang="it-IT" sz="2400" dirty="0"/>
              <a:t> in single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on </a:t>
            </a:r>
            <a:r>
              <a:rPr lang="it-IT" sz="2400" dirty="0" err="1"/>
              <a:t>local</a:t>
            </a:r>
            <a:r>
              <a:rPr lang="it-IT" sz="2400" dirty="0"/>
              <a:t> field </a:t>
            </a:r>
            <a:r>
              <a:rPr lang="it-IT" sz="2400" dirty="0" err="1"/>
              <a:t>potentials</a:t>
            </a:r>
            <a:r>
              <a:rPr lang="it-IT" sz="2400" dirty="0"/>
              <a:t> (or </a:t>
            </a:r>
            <a:r>
              <a:rPr lang="it-IT" sz="2400" dirty="0" err="1"/>
              <a:t>total</a:t>
            </a:r>
            <a:r>
              <a:rPr lang="it-IT" sz="2400" dirty="0"/>
              <a:t> </a:t>
            </a:r>
            <a:r>
              <a:rPr lang="it-IT" sz="2400" dirty="0" err="1"/>
              <a:t>firing</a:t>
            </a:r>
            <a:r>
              <a:rPr lang="it-IT" sz="2400" dirty="0"/>
              <a:t> rate,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accessible</a:t>
            </a:r>
            <a:r>
              <a:rPr lang="it-IT" sz="2400" dirty="0"/>
              <a:t> to </a:t>
            </a:r>
            <a:r>
              <a:rPr lang="it-IT" sz="2400" dirty="0" err="1"/>
              <a:t>experimenters</a:t>
            </a:r>
            <a:r>
              <a:rPr lang="it-IT" sz="2400" dirty="0"/>
              <a:t>)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539973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/>
          <p:cNvPicPr>
            <a:picLocks noChangeAspect="1" noChangeArrowheads="1"/>
          </p:cNvPicPr>
          <p:nvPr/>
        </p:nvPicPr>
        <p:blipFill>
          <a:blip r:embed="rId3" cstate="print"/>
          <a:srcRect l="51688" t="4166"/>
          <a:stretch>
            <a:fillRect/>
          </a:stretch>
        </p:blipFill>
        <p:spPr bwMode="auto">
          <a:xfrm>
            <a:off x="214313" y="285750"/>
            <a:ext cx="2840037" cy="6572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786063" y="0"/>
            <a:ext cx="6357937" cy="1308100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3068638" y="20955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3068638" y="48387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3068638" y="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33338" y="0"/>
            <a:ext cx="203200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33338" y="20589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auto">
          <a:xfrm>
            <a:off x="33338" y="48783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10" name="Text Box 9"/>
          <p:cNvSpPr txBox="1">
            <a:spLocks noChangeArrowheads="1"/>
          </p:cNvSpPr>
          <p:nvPr/>
        </p:nvSpPr>
        <p:spPr bwMode="auto">
          <a:xfrm>
            <a:off x="2928938" y="2500313"/>
            <a:ext cx="1893887" cy="8080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Inhibitory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000" dirty="0">
              <a:solidFill>
                <a:schemeClr val="bg1"/>
              </a:solidFill>
            </a:endParaRPr>
          </a:p>
        </p:txBody>
      </p:sp>
      <p:sp>
        <p:nvSpPr>
          <p:cNvPr id="25611" name="Text Box 10"/>
          <p:cNvSpPr txBox="1">
            <a:spLocks noChangeArrowheads="1"/>
          </p:cNvSpPr>
          <p:nvPr/>
        </p:nvSpPr>
        <p:spPr bwMode="auto">
          <a:xfrm>
            <a:off x="2419350" y="5786438"/>
            <a:ext cx="2938463" cy="712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LFP=|I</a:t>
            </a:r>
            <a:r>
              <a:rPr lang="fi-FI" sz="2000" baseline="-33000" dirty="0"/>
              <a:t>Excitatory</a:t>
            </a:r>
            <a:r>
              <a:rPr lang="fi-FI" sz="2000" dirty="0"/>
              <a:t>|+|I</a:t>
            </a:r>
            <a:r>
              <a:rPr lang="fi-FI" sz="2000" baseline="-33000" dirty="0"/>
              <a:t>Inhibitory</a:t>
            </a:r>
            <a:r>
              <a:rPr lang="fi-FI" sz="2000" dirty="0"/>
              <a:t>|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on Excitatory neurons</a:t>
            </a: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286000" y="2357438"/>
            <a:ext cx="654050" cy="1587"/>
          </a:xfrm>
          <a:prstGeom prst="line">
            <a:avLst/>
          </a:prstGeom>
          <a:noFill/>
          <a:ln w="72000">
            <a:solidFill>
              <a:srgbClr val="2300DC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3071813" y="3643313"/>
            <a:ext cx="1816100" cy="1106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Excitatory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200" dirty="0">
              <a:solidFill>
                <a:schemeClr val="bg1"/>
              </a:solidFill>
            </a:endParaRPr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2286000" y="3857625"/>
            <a:ext cx="654050" cy="3175"/>
          </a:xfrm>
          <a:prstGeom prst="line">
            <a:avLst/>
          </a:prstGeom>
          <a:noFill/>
          <a:ln w="72000">
            <a:solidFill>
              <a:srgbClr val="FF0000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5" name="Text Box 18"/>
          <p:cNvSpPr txBox="1">
            <a:spLocks noChangeArrowheads="1"/>
          </p:cNvSpPr>
          <p:nvPr/>
        </p:nvSpPr>
        <p:spPr bwMode="auto">
          <a:xfrm>
            <a:off x="5786438" y="6237312"/>
            <a:ext cx="3152775" cy="583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43" tIns="41471" rIns="82943" bIns="41471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, </a:t>
            </a:r>
            <a:r>
              <a:rPr lang="it-IT" sz="1300" i="1" dirty="0" err="1"/>
              <a:t>et</a:t>
            </a:r>
            <a:r>
              <a:rPr lang="it-IT" sz="1300" i="1" dirty="0"/>
              <a:t> al – </a:t>
            </a:r>
            <a:r>
              <a:rPr lang="it-IT" sz="1300" i="1" dirty="0" err="1"/>
              <a:t>PLoS</a:t>
            </a:r>
            <a:r>
              <a:rPr lang="it-IT" sz="1300" i="1" dirty="0"/>
              <a:t> </a:t>
            </a:r>
            <a:r>
              <a:rPr lang="it-IT" sz="1300" i="1" dirty="0" err="1"/>
              <a:t>Comp</a:t>
            </a:r>
            <a:r>
              <a:rPr lang="it-IT" sz="1300" i="1" dirty="0"/>
              <a:t> </a:t>
            </a:r>
            <a:r>
              <a:rPr lang="it-IT" sz="1300" i="1" dirty="0" err="1"/>
              <a:t>Biol</a:t>
            </a:r>
            <a:r>
              <a:rPr lang="it-IT" sz="1300" i="1" dirty="0"/>
              <a:t>    (2008)</a:t>
            </a:r>
          </a:p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 </a:t>
            </a:r>
            <a:r>
              <a:rPr lang="it-IT" sz="1300" i="1" dirty="0" err="1"/>
              <a:t>et</a:t>
            </a:r>
            <a:r>
              <a:rPr lang="it-IT" sz="1300" i="1" dirty="0"/>
              <a:t> al (2010) </a:t>
            </a:r>
            <a:r>
              <a:rPr lang="it-IT" sz="1300" i="1" dirty="0" err="1"/>
              <a:t>Neuroimage</a:t>
            </a:r>
            <a:endParaRPr lang="it-IT" sz="1300" i="1" dirty="0"/>
          </a:p>
        </p:txBody>
      </p:sp>
      <p:pic>
        <p:nvPicPr>
          <p:cNvPr id="25616" name="Picture 2"/>
          <p:cNvPicPr>
            <a:picLocks noChangeAspect="1" noChangeArrowheads="1"/>
          </p:cNvPicPr>
          <p:nvPr/>
        </p:nvPicPr>
        <p:blipFill>
          <a:blip r:embed="rId4" cstate="print"/>
          <a:srcRect r="50000" b="50000"/>
          <a:stretch>
            <a:fillRect/>
          </a:stretch>
        </p:blipFill>
        <p:spPr bwMode="auto">
          <a:xfrm>
            <a:off x="4929188" y="1428750"/>
            <a:ext cx="35814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7" name="CasellaDiTesto 19"/>
          <p:cNvSpPr txBox="1">
            <a:spLocks noChangeArrowheads="1"/>
          </p:cNvSpPr>
          <p:nvPr/>
        </p:nvSpPr>
        <p:spPr bwMode="auto">
          <a:xfrm>
            <a:off x="5357813" y="4214813"/>
            <a:ext cx="3786187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>
                <a:latin typeface="Arial" charset="0"/>
                <a:cs typeface="Arial" charset="0"/>
              </a:rPr>
              <a:t>The network internally generates only gamma-range (40-100 Hz)  oscillations </a:t>
            </a:r>
          </a:p>
          <a:p>
            <a:r>
              <a:rPr lang="en-US" sz="2200">
                <a:latin typeface="Arial" charset="0"/>
                <a:cs typeface="Arial" charset="0"/>
              </a:rPr>
              <a:t>The gamma power encodes the strength of the input</a:t>
            </a:r>
          </a:p>
        </p:txBody>
      </p:sp>
    </p:spTree>
    <p:extLst>
      <p:ext uri="{BB962C8B-B14F-4D97-AF65-F5344CB8AC3E}">
        <p14:creationId xmlns:p14="http://schemas.microsoft.com/office/powerpoint/2010/main" val="32287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52324" y="782626"/>
            <a:ext cx="6963368" cy="27560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4"/>
          <p:cNvSpPr/>
          <p:nvPr/>
        </p:nvSpPr>
        <p:spPr>
          <a:xfrm>
            <a:off x="159604" y="775338"/>
            <a:ext cx="316517" cy="33126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3641287" y="775338"/>
            <a:ext cx="316517" cy="33126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  <a:alphaModFix/>
          </a:blip>
          <a:srcRect/>
          <a:stretch>
            <a:fillRect/>
          </a:stretch>
        </p:blipFill>
        <p:spPr>
          <a:xfrm>
            <a:off x="3641287" y="3591060"/>
            <a:ext cx="4588227" cy="29621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222907" y="4485466"/>
            <a:ext cx="3481684" cy="1270689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Modulation of the spectrum of LFP </a:t>
            </a:r>
            <a:r>
              <a:rPr lang="fi-FI" sz="2000" b="0" i="0" u="sng" strike="noStrike" dirty="0">
                <a:ln>
                  <a:noFill/>
                </a:ln>
                <a:uFillTx/>
                <a:latin typeface="Arial" pitchFamily="18"/>
                <a:ea typeface="DejaVu Sans" pitchFamily="2"/>
                <a:cs typeface="DejaVu Sans" pitchFamily="2"/>
              </a:rPr>
              <a:t>recorded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 in monkey V1 (</a:t>
            </a:r>
            <a:r>
              <a:rPr lang="fi-FI" sz="2000" b="0" i="1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Henrie and Shapley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1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J Neurophysiol 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6275" y="808464"/>
            <a:ext cx="1424325" cy="1270689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 from simulated cortical circuit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942397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76200" y="975276"/>
            <a:ext cx="5614248" cy="28917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traight Connector 4"/>
          <p:cNvSpPr/>
          <p:nvPr/>
        </p:nvSpPr>
        <p:spPr>
          <a:xfrm>
            <a:off x="825702" y="3194447"/>
            <a:ext cx="4366637" cy="0"/>
          </a:xfrm>
          <a:prstGeom prst="line">
            <a:avLst/>
          </a:prstGeom>
          <a:noFill/>
          <a:ln w="0">
            <a:solidFill>
              <a:srgbClr val="FF0000"/>
            </a:solidFill>
            <a:custDash>
              <a:ds d="144567" sp="144567"/>
              <a:ds d="144567" sp="144567"/>
            </a:custDash>
          </a:ln>
        </p:spPr>
        <p:txBody>
          <a:bodyPr vert="horz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507360" y="3768047"/>
            <a:ext cx="3455881" cy="30600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753764" y="1052390"/>
            <a:ext cx="2963075" cy="2479994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Each constant signal is injected 20 times, every time with a different noise. In this way we can compute the information content of the spectrum. Since 8 different rates are injected the total entropy is 3 bits.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897" y="4357280"/>
            <a:ext cx="4990442" cy="141816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The peak of information is at ~70 Hz, slightly higher than the peak of the oscillations.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The information contained in the frequencies of the gamma band is highly redundant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4972" y="1450201"/>
            <a:ext cx="1635628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18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4972" y="2888439"/>
            <a:ext cx="1247611" cy="31763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1800" b="0" i="0" u="none" strike="noStrike">
                <a:ln>
                  <a:noFill/>
                </a:ln>
                <a:solidFill>
                  <a:srgbClr val="00FF00"/>
                </a:solidFill>
                <a:latin typeface="Arial" pitchFamily="18"/>
                <a:ea typeface="DejaVu Sans" pitchFamily="2"/>
                <a:cs typeface="DejaVu Sans" pitchFamily="2"/>
              </a:rPr>
              <a:t>power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633944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831850"/>
          </a:xfrm>
        </p:spPr>
        <p:txBody>
          <a:bodyPr>
            <a:normAutofit/>
          </a:bodyPr>
          <a:lstStyle/>
          <a:p>
            <a:pPr defTabSz="1019175" eaLnBrk="1" hangingPunct="1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Spike trains encode stimuli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 rot="-2589736">
            <a:off x="1316038" y="2487613"/>
            <a:ext cx="1108075" cy="739775"/>
          </a:xfrm>
          <a:prstGeom prst="rect">
            <a:avLst/>
          </a:prstGeom>
          <a:noFill/>
          <a:ln w="38100" algn="ctr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 rot="-2498013">
            <a:off x="323850" y="2276475"/>
            <a:ext cx="1939925" cy="6667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08075" y="4505325"/>
            <a:ext cx="5126038" cy="268288"/>
            <a:chOff x="768" y="3216"/>
            <a:chExt cx="3552" cy="192"/>
          </a:xfrm>
        </p:grpSpPr>
        <p:sp>
          <p:nvSpPr>
            <p:cNvPr id="24609" name="Line 6"/>
            <p:cNvSpPr>
              <a:spLocks noChangeShapeType="1"/>
            </p:cNvSpPr>
            <p:nvPr/>
          </p:nvSpPr>
          <p:spPr bwMode="auto">
            <a:xfrm>
              <a:off x="768" y="3408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0" name="Line 7"/>
            <p:cNvSpPr>
              <a:spLocks noChangeShapeType="1"/>
            </p:cNvSpPr>
            <p:nvPr/>
          </p:nvSpPr>
          <p:spPr bwMode="auto">
            <a:xfrm>
              <a:off x="129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1" name="Line 8"/>
            <p:cNvSpPr>
              <a:spLocks noChangeShapeType="1"/>
            </p:cNvSpPr>
            <p:nvPr/>
          </p:nvSpPr>
          <p:spPr bwMode="auto">
            <a:xfrm>
              <a:off x="139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2" name="Line 9"/>
            <p:cNvSpPr>
              <a:spLocks noChangeShapeType="1"/>
            </p:cNvSpPr>
            <p:nvPr/>
          </p:nvSpPr>
          <p:spPr bwMode="auto">
            <a:xfrm>
              <a:off x="182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3" name="Line 10"/>
            <p:cNvSpPr>
              <a:spLocks noChangeShapeType="1"/>
            </p:cNvSpPr>
            <p:nvPr/>
          </p:nvSpPr>
          <p:spPr bwMode="auto">
            <a:xfrm>
              <a:off x="307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4" name="Line 11"/>
            <p:cNvSpPr>
              <a:spLocks noChangeShapeType="1"/>
            </p:cNvSpPr>
            <p:nvPr/>
          </p:nvSpPr>
          <p:spPr bwMode="auto">
            <a:xfrm>
              <a:off x="211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5" name="Line 12"/>
            <p:cNvSpPr>
              <a:spLocks noChangeShapeType="1"/>
            </p:cNvSpPr>
            <p:nvPr/>
          </p:nvSpPr>
          <p:spPr bwMode="auto">
            <a:xfrm>
              <a:off x="297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6" name="Line 13"/>
            <p:cNvSpPr>
              <a:spLocks noChangeShapeType="1"/>
            </p:cNvSpPr>
            <p:nvPr/>
          </p:nvSpPr>
          <p:spPr bwMode="auto">
            <a:xfrm>
              <a:off x="3360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72076" name="Rectangle 44"/>
          <p:cNvSpPr>
            <a:spLocks noChangeArrowheads="1"/>
          </p:cNvSpPr>
          <p:nvPr/>
        </p:nvSpPr>
        <p:spPr bwMode="auto">
          <a:xfrm rot="-2498013">
            <a:off x="6300788" y="4652963"/>
            <a:ext cx="431800" cy="71437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1108075" y="4959350"/>
            <a:ext cx="5695950" cy="1204913"/>
            <a:chOff x="698" y="3124"/>
            <a:chExt cx="3588" cy="759"/>
          </a:xfrm>
        </p:grpSpPr>
        <p:sp>
          <p:nvSpPr>
            <p:cNvPr id="24584" name="Line 15"/>
            <p:cNvSpPr>
              <a:spLocks noChangeShapeType="1"/>
            </p:cNvSpPr>
            <p:nvPr/>
          </p:nvSpPr>
          <p:spPr bwMode="auto">
            <a:xfrm>
              <a:off x="698" y="3304"/>
              <a:ext cx="3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5" name="Line 16"/>
            <p:cNvSpPr>
              <a:spLocks noChangeShapeType="1"/>
            </p:cNvSpPr>
            <p:nvPr/>
          </p:nvSpPr>
          <p:spPr bwMode="auto">
            <a:xfrm>
              <a:off x="1265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6" name="Line 17"/>
            <p:cNvSpPr>
              <a:spLocks noChangeShapeType="1"/>
            </p:cNvSpPr>
            <p:nvPr/>
          </p:nvSpPr>
          <p:spPr bwMode="auto">
            <a:xfrm>
              <a:off x="2225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7" name="Line 18"/>
            <p:cNvSpPr>
              <a:spLocks noChangeShapeType="1"/>
            </p:cNvSpPr>
            <p:nvPr/>
          </p:nvSpPr>
          <p:spPr bwMode="auto">
            <a:xfrm>
              <a:off x="2574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8" name="Line 19"/>
            <p:cNvSpPr>
              <a:spLocks noChangeShapeType="1"/>
            </p:cNvSpPr>
            <p:nvPr/>
          </p:nvSpPr>
          <p:spPr bwMode="auto">
            <a:xfrm>
              <a:off x="2094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9" name="Line 20"/>
            <p:cNvSpPr>
              <a:spLocks noChangeShapeType="1"/>
            </p:cNvSpPr>
            <p:nvPr/>
          </p:nvSpPr>
          <p:spPr bwMode="auto">
            <a:xfrm>
              <a:off x="2967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703" y="3430"/>
              <a:ext cx="3229" cy="169"/>
              <a:chOff x="768" y="3888"/>
              <a:chExt cx="3552" cy="192"/>
            </a:xfrm>
          </p:grpSpPr>
          <p:sp>
            <p:nvSpPr>
              <p:cNvPr id="24605" name="Line 22"/>
              <p:cNvSpPr>
                <a:spLocks noChangeShapeType="1"/>
              </p:cNvSpPr>
              <p:nvPr/>
            </p:nvSpPr>
            <p:spPr bwMode="auto">
              <a:xfrm>
                <a:off x="768" y="4080"/>
                <a:ext cx="35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606" name="Line 23"/>
              <p:cNvSpPr>
                <a:spLocks noChangeShapeType="1"/>
              </p:cNvSpPr>
              <p:nvPr/>
            </p:nvSpPr>
            <p:spPr bwMode="auto">
              <a:xfrm>
                <a:off x="1152" y="388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607" name="Line 24"/>
              <p:cNvSpPr>
                <a:spLocks noChangeShapeType="1"/>
              </p:cNvSpPr>
              <p:nvPr/>
            </p:nvSpPr>
            <p:spPr bwMode="auto">
              <a:xfrm>
                <a:off x="1824" y="388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608" name="Line 25"/>
              <p:cNvSpPr>
                <a:spLocks noChangeShapeType="1"/>
              </p:cNvSpPr>
              <p:nvPr/>
            </p:nvSpPr>
            <p:spPr bwMode="auto">
              <a:xfrm>
                <a:off x="3120" y="388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24591" name="Line 26"/>
            <p:cNvSpPr>
              <a:spLocks noChangeShapeType="1"/>
            </p:cNvSpPr>
            <p:nvPr/>
          </p:nvSpPr>
          <p:spPr bwMode="auto">
            <a:xfrm>
              <a:off x="698" y="3854"/>
              <a:ext cx="3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2" name="Line 29"/>
            <p:cNvSpPr>
              <a:spLocks noChangeShapeType="1"/>
            </p:cNvSpPr>
            <p:nvPr/>
          </p:nvSpPr>
          <p:spPr bwMode="auto">
            <a:xfrm>
              <a:off x="2095" y="3430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3" name="Line 30"/>
            <p:cNvSpPr>
              <a:spLocks noChangeShapeType="1"/>
            </p:cNvSpPr>
            <p:nvPr/>
          </p:nvSpPr>
          <p:spPr bwMode="auto">
            <a:xfrm>
              <a:off x="2426" y="3430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4" name="Line 31"/>
            <p:cNvSpPr>
              <a:spLocks noChangeShapeType="1"/>
            </p:cNvSpPr>
            <p:nvPr/>
          </p:nvSpPr>
          <p:spPr bwMode="auto">
            <a:xfrm>
              <a:off x="2051" y="3685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5" name="Line 32"/>
            <p:cNvSpPr>
              <a:spLocks noChangeShapeType="1"/>
            </p:cNvSpPr>
            <p:nvPr/>
          </p:nvSpPr>
          <p:spPr bwMode="auto">
            <a:xfrm>
              <a:off x="2744" y="3125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6" name="Line 33"/>
            <p:cNvSpPr>
              <a:spLocks noChangeShapeType="1"/>
            </p:cNvSpPr>
            <p:nvPr/>
          </p:nvSpPr>
          <p:spPr bwMode="auto">
            <a:xfrm>
              <a:off x="3185" y="3125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7" name="Line 39"/>
            <p:cNvSpPr>
              <a:spLocks noChangeShapeType="1"/>
            </p:cNvSpPr>
            <p:nvPr/>
          </p:nvSpPr>
          <p:spPr bwMode="auto">
            <a:xfrm>
              <a:off x="1401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8" name="Line 40"/>
            <p:cNvSpPr>
              <a:spLocks noChangeShapeType="1"/>
            </p:cNvSpPr>
            <p:nvPr/>
          </p:nvSpPr>
          <p:spPr bwMode="auto">
            <a:xfrm>
              <a:off x="1519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9" name="Line 41"/>
            <p:cNvSpPr>
              <a:spLocks noChangeShapeType="1"/>
            </p:cNvSpPr>
            <p:nvPr/>
          </p:nvSpPr>
          <p:spPr bwMode="auto">
            <a:xfrm>
              <a:off x="1673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00" name="Line 42"/>
            <p:cNvSpPr>
              <a:spLocks noChangeShapeType="1"/>
            </p:cNvSpPr>
            <p:nvPr/>
          </p:nvSpPr>
          <p:spPr bwMode="auto">
            <a:xfrm>
              <a:off x="1837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01" name="Line 43"/>
            <p:cNvSpPr>
              <a:spLocks noChangeShapeType="1"/>
            </p:cNvSpPr>
            <p:nvPr/>
          </p:nvSpPr>
          <p:spPr bwMode="auto">
            <a:xfrm>
              <a:off x="2018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02" name="Rectangle 45"/>
            <p:cNvSpPr>
              <a:spLocks noChangeArrowheads="1"/>
            </p:cNvSpPr>
            <p:nvPr/>
          </p:nvSpPr>
          <p:spPr bwMode="auto">
            <a:xfrm rot="-5400000">
              <a:off x="3992" y="3271"/>
              <a:ext cx="272" cy="45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603" name="Rectangle 46"/>
            <p:cNvSpPr>
              <a:spLocks noChangeArrowheads="1"/>
            </p:cNvSpPr>
            <p:nvPr/>
          </p:nvSpPr>
          <p:spPr bwMode="auto">
            <a:xfrm rot="10643846">
              <a:off x="4014" y="3838"/>
              <a:ext cx="272" cy="45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604" name="Rectangle 47"/>
            <p:cNvSpPr>
              <a:spLocks noChangeArrowheads="1"/>
            </p:cNvSpPr>
            <p:nvPr/>
          </p:nvSpPr>
          <p:spPr bwMode="auto">
            <a:xfrm rot="-7583061">
              <a:off x="3946" y="3589"/>
              <a:ext cx="272" cy="45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6FD96B35-745E-43FF-A327-0BBB62F34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442" y="1144586"/>
            <a:ext cx="4571998" cy="1479176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C35C609-3A3E-4E3F-B237-DB4E07E31F50}"/>
              </a:ext>
            </a:extLst>
          </p:cNvPr>
          <p:cNvSpPr/>
          <p:nvPr/>
        </p:nvSpPr>
        <p:spPr>
          <a:xfrm>
            <a:off x="8237255" y="1843410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32102E-3957-4139-AB53-CE36640BA043}"/>
              </a:ext>
            </a:extLst>
          </p:cNvPr>
          <p:cNvSpPr txBox="1"/>
          <p:nvPr/>
        </p:nvSpPr>
        <p:spPr>
          <a:xfrm>
            <a:off x="3679031" y="3212976"/>
            <a:ext cx="492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Receptive</a:t>
            </a:r>
            <a:r>
              <a:rPr lang="it-IT" dirty="0"/>
              <a:t> field of </a:t>
            </a:r>
            <a:r>
              <a:rPr lang="it-IT" dirty="0" err="1"/>
              <a:t>neuron</a:t>
            </a:r>
            <a:r>
              <a:rPr lang="it-IT" dirty="0"/>
              <a:t> x: </a:t>
            </a:r>
            <a:r>
              <a:rPr lang="it-IT" dirty="0" err="1"/>
              <a:t>sensorial</a:t>
            </a:r>
            <a:r>
              <a:rPr lang="it-IT" dirty="0"/>
              <a:t> set to </a:t>
            </a:r>
            <a:r>
              <a:rPr lang="it-IT" dirty="0" err="1"/>
              <a:t>whom</a:t>
            </a:r>
            <a:r>
              <a:rPr lang="it-IT" dirty="0"/>
              <a:t> the </a:t>
            </a:r>
            <a:r>
              <a:rPr lang="it-IT" dirty="0" err="1"/>
              <a:t>neuron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sensitive to (</a:t>
            </a:r>
            <a:r>
              <a:rPr lang="it-IT" dirty="0" err="1"/>
              <a:t>vision</a:t>
            </a:r>
            <a:r>
              <a:rPr lang="it-IT" dirty="0"/>
              <a:t>, touch)</a:t>
            </a:r>
          </a:p>
        </p:txBody>
      </p:sp>
    </p:spTree>
    <p:extLst>
      <p:ext uri="{BB962C8B-B14F-4D97-AF65-F5344CB8AC3E}">
        <p14:creationId xmlns:p14="http://schemas.microsoft.com/office/powerpoint/2010/main" val="418937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06061E-7 4.70588E-6 L 0.11364 0.142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82" y="71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6" grpId="0" animBg="1"/>
      <p:bldP spid="17207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7772400" cy="831850"/>
          </a:xfrm>
        </p:spPr>
        <p:txBody>
          <a:bodyPr>
            <a:normAutofit/>
          </a:bodyPr>
          <a:lstStyle/>
          <a:p>
            <a:pPr defTabSz="1019175" eaLnBrk="1" hangingPunct="1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Single Neuron Variability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 rot="-2589736">
            <a:off x="1316038" y="2487613"/>
            <a:ext cx="1108075" cy="739775"/>
          </a:xfrm>
          <a:prstGeom prst="rect">
            <a:avLst/>
          </a:prstGeom>
          <a:noFill/>
          <a:ln w="38100" algn="ctr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 rot="-2498013">
            <a:off x="346075" y="2286000"/>
            <a:ext cx="1939925" cy="6667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08075" y="4505325"/>
            <a:ext cx="5126038" cy="268288"/>
            <a:chOff x="768" y="3216"/>
            <a:chExt cx="3552" cy="192"/>
          </a:xfrm>
        </p:grpSpPr>
        <p:sp>
          <p:nvSpPr>
            <p:cNvPr id="25630" name="Line 6"/>
            <p:cNvSpPr>
              <a:spLocks noChangeShapeType="1"/>
            </p:cNvSpPr>
            <p:nvPr/>
          </p:nvSpPr>
          <p:spPr bwMode="auto">
            <a:xfrm>
              <a:off x="768" y="3408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1" name="Line 7"/>
            <p:cNvSpPr>
              <a:spLocks noChangeShapeType="1"/>
            </p:cNvSpPr>
            <p:nvPr/>
          </p:nvSpPr>
          <p:spPr bwMode="auto">
            <a:xfrm>
              <a:off x="129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2" name="Line 8"/>
            <p:cNvSpPr>
              <a:spLocks noChangeShapeType="1"/>
            </p:cNvSpPr>
            <p:nvPr/>
          </p:nvSpPr>
          <p:spPr bwMode="auto">
            <a:xfrm>
              <a:off x="139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3" name="Line 9"/>
            <p:cNvSpPr>
              <a:spLocks noChangeShapeType="1"/>
            </p:cNvSpPr>
            <p:nvPr/>
          </p:nvSpPr>
          <p:spPr bwMode="auto">
            <a:xfrm>
              <a:off x="182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4" name="Line 10"/>
            <p:cNvSpPr>
              <a:spLocks noChangeShapeType="1"/>
            </p:cNvSpPr>
            <p:nvPr/>
          </p:nvSpPr>
          <p:spPr bwMode="auto">
            <a:xfrm>
              <a:off x="307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5" name="Line 11"/>
            <p:cNvSpPr>
              <a:spLocks noChangeShapeType="1"/>
            </p:cNvSpPr>
            <p:nvPr/>
          </p:nvSpPr>
          <p:spPr bwMode="auto">
            <a:xfrm>
              <a:off x="211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6" name="Line 12"/>
            <p:cNvSpPr>
              <a:spLocks noChangeShapeType="1"/>
            </p:cNvSpPr>
            <p:nvPr/>
          </p:nvSpPr>
          <p:spPr bwMode="auto">
            <a:xfrm>
              <a:off x="297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7" name="Line 13"/>
            <p:cNvSpPr>
              <a:spLocks noChangeShapeType="1"/>
            </p:cNvSpPr>
            <p:nvPr/>
          </p:nvSpPr>
          <p:spPr bwMode="auto">
            <a:xfrm>
              <a:off x="3360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108075" y="4975225"/>
            <a:ext cx="5126038" cy="269875"/>
            <a:chOff x="768" y="3552"/>
            <a:chExt cx="3552" cy="192"/>
          </a:xfrm>
        </p:grpSpPr>
        <p:sp>
          <p:nvSpPr>
            <p:cNvPr id="25624" name="Line 15"/>
            <p:cNvSpPr>
              <a:spLocks noChangeShapeType="1"/>
            </p:cNvSpPr>
            <p:nvPr/>
          </p:nvSpPr>
          <p:spPr bwMode="auto">
            <a:xfrm>
              <a:off x="768" y="3744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5" name="Line 16"/>
            <p:cNvSpPr>
              <a:spLocks noChangeShapeType="1"/>
            </p:cNvSpPr>
            <p:nvPr/>
          </p:nvSpPr>
          <p:spPr bwMode="auto">
            <a:xfrm>
              <a:off x="1392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6" name="Line 17"/>
            <p:cNvSpPr>
              <a:spLocks noChangeShapeType="1"/>
            </p:cNvSpPr>
            <p:nvPr/>
          </p:nvSpPr>
          <p:spPr bwMode="auto">
            <a:xfrm>
              <a:off x="2448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7" name="Line 18"/>
            <p:cNvSpPr>
              <a:spLocks noChangeShapeType="1"/>
            </p:cNvSpPr>
            <p:nvPr/>
          </p:nvSpPr>
          <p:spPr bwMode="auto">
            <a:xfrm>
              <a:off x="2832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8" name="Line 19"/>
            <p:cNvSpPr>
              <a:spLocks noChangeShapeType="1"/>
            </p:cNvSpPr>
            <p:nvPr/>
          </p:nvSpPr>
          <p:spPr bwMode="auto">
            <a:xfrm>
              <a:off x="2304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9" name="Line 20"/>
            <p:cNvSpPr>
              <a:spLocks noChangeShapeType="1"/>
            </p:cNvSpPr>
            <p:nvPr/>
          </p:nvSpPr>
          <p:spPr bwMode="auto">
            <a:xfrm>
              <a:off x="3264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108075" y="5446713"/>
            <a:ext cx="5126038" cy="268287"/>
            <a:chOff x="768" y="3888"/>
            <a:chExt cx="3552" cy="192"/>
          </a:xfrm>
        </p:grpSpPr>
        <p:sp>
          <p:nvSpPr>
            <p:cNvPr id="25620" name="Line 22"/>
            <p:cNvSpPr>
              <a:spLocks noChangeShapeType="1"/>
            </p:cNvSpPr>
            <p:nvPr/>
          </p:nvSpPr>
          <p:spPr bwMode="auto">
            <a:xfrm>
              <a:off x="768" y="4080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1" name="Line 23"/>
            <p:cNvSpPr>
              <a:spLocks noChangeShapeType="1"/>
            </p:cNvSpPr>
            <p:nvPr/>
          </p:nvSpPr>
          <p:spPr bwMode="auto">
            <a:xfrm>
              <a:off x="1152" y="38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2" name="Line 24"/>
            <p:cNvSpPr>
              <a:spLocks noChangeShapeType="1"/>
            </p:cNvSpPr>
            <p:nvPr/>
          </p:nvSpPr>
          <p:spPr bwMode="auto">
            <a:xfrm>
              <a:off x="1824" y="38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3" name="Line 25"/>
            <p:cNvSpPr>
              <a:spLocks noChangeShapeType="1"/>
            </p:cNvSpPr>
            <p:nvPr/>
          </p:nvSpPr>
          <p:spPr bwMode="auto">
            <a:xfrm>
              <a:off x="3120" y="38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76154" name="Line 26"/>
          <p:cNvSpPr>
            <a:spLocks noChangeShapeType="1"/>
          </p:cNvSpPr>
          <p:nvPr/>
        </p:nvSpPr>
        <p:spPr bwMode="auto">
          <a:xfrm>
            <a:off x="1108075" y="6118225"/>
            <a:ext cx="5126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5" name="Line 27"/>
          <p:cNvSpPr>
            <a:spLocks noChangeShapeType="1"/>
          </p:cNvSpPr>
          <p:nvPr/>
        </p:nvSpPr>
        <p:spPr bwMode="auto">
          <a:xfrm>
            <a:off x="1939925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6" name="Line 28"/>
          <p:cNvSpPr>
            <a:spLocks noChangeShapeType="1"/>
          </p:cNvSpPr>
          <p:nvPr/>
        </p:nvSpPr>
        <p:spPr bwMode="auto">
          <a:xfrm>
            <a:off x="2216150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7" name="Line 29"/>
          <p:cNvSpPr>
            <a:spLocks noChangeShapeType="1"/>
          </p:cNvSpPr>
          <p:nvPr/>
        </p:nvSpPr>
        <p:spPr bwMode="auto">
          <a:xfrm>
            <a:off x="3325813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8" name="Line 30"/>
          <p:cNvSpPr>
            <a:spLocks noChangeShapeType="1"/>
          </p:cNvSpPr>
          <p:nvPr/>
        </p:nvSpPr>
        <p:spPr bwMode="auto">
          <a:xfrm>
            <a:off x="4779963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9" name="Line 31"/>
          <p:cNvSpPr>
            <a:spLocks noChangeShapeType="1"/>
          </p:cNvSpPr>
          <p:nvPr/>
        </p:nvSpPr>
        <p:spPr bwMode="auto">
          <a:xfrm>
            <a:off x="3255963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60" name="Line 32"/>
          <p:cNvSpPr>
            <a:spLocks noChangeShapeType="1"/>
          </p:cNvSpPr>
          <p:nvPr/>
        </p:nvSpPr>
        <p:spPr bwMode="auto">
          <a:xfrm>
            <a:off x="4502150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61" name="Line 33"/>
          <p:cNvSpPr>
            <a:spLocks noChangeShapeType="1"/>
          </p:cNvSpPr>
          <p:nvPr/>
        </p:nvSpPr>
        <p:spPr bwMode="auto">
          <a:xfrm>
            <a:off x="5056188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62" name="Text Box 34"/>
          <p:cNvSpPr txBox="1">
            <a:spLocks noChangeArrowheads="1"/>
          </p:cNvSpPr>
          <p:nvPr/>
        </p:nvSpPr>
        <p:spPr bwMode="auto">
          <a:xfrm>
            <a:off x="6405563" y="4464050"/>
            <a:ext cx="10064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39" tIns="41020" rIns="82039" bIns="410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cs typeface="Arial" charset="0"/>
              </a:rPr>
              <a:t>Trial 1</a:t>
            </a:r>
          </a:p>
        </p:txBody>
      </p:sp>
      <p:sp>
        <p:nvSpPr>
          <p:cNvPr id="176163" name="Text Box 35"/>
          <p:cNvSpPr txBox="1">
            <a:spLocks noChangeArrowheads="1"/>
          </p:cNvSpPr>
          <p:nvPr/>
        </p:nvSpPr>
        <p:spPr bwMode="auto">
          <a:xfrm>
            <a:off x="6405563" y="4975225"/>
            <a:ext cx="10064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39" tIns="41020" rIns="82039" bIns="410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cs typeface="Arial" charset="0"/>
              </a:rPr>
              <a:t>Trial 2</a:t>
            </a:r>
          </a:p>
        </p:txBody>
      </p:sp>
      <p:sp>
        <p:nvSpPr>
          <p:cNvPr id="176164" name="Text Box 36"/>
          <p:cNvSpPr txBox="1">
            <a:spLocks noChangeArrowheads="1"/>
          </p:cNvSpPr>
          <p:nvPr/>
        </p:nvSpPr>
        <p:spPr bwMode="auto">
          <a:xfrm>
            <a:off x="6405563" y="5419725"/>
            <a:ext cx="10064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39" tIns="41020" rIns="82039" bIns="410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cs typeface="Arial" charset="0"/>
              </a:rPr>
              <a:t>Trial 3</a:t>
            </a:r>
          </a:p>
        </p:txBody>
      </p:sp>
      <p:sp>
        <p:nvSpPr>
          <p:cNvPr id="176165" name="Text Box 37"/>
          <p:cNvSpPr txBox="1">
            <a:spLocks noChangeArrowheads="1"/>
          </p:cNvSpPr>
          <p:nvPr/>
        </p:nvSpPr>
        <p:spPr bwMode="auto">
          <a:xfrm>
            <a:off x="6405563" y="5889625"/>
            <a:ext cx="10064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39" tIns="41020" rIns="82039" bIns="410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cs typeface="Arial" charset="0"/>
              </a:rPr>
              <a:t>Trial 4</a:t>
            </a:r>
          </a:p>
        </p:txBody>
      </p:sp>
    </p:spTree>
    <p:extLst>
      <p:ext uri="{BB962C8B-B14F-4D97-AF65-F5344CB8AC3E}">
        <p14:creationId xmlns:p14="http://schemas.microsoft.com/office/powerpoint/2010/main" val="163619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06061E-7 4.70588E-6 L 0.11364 0.142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82" y="71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06061E-7 4.70588E-6 L 0.11364 0.1421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82" y="710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nimBg="1"/>
      <p:bldP spid="176132" grpId="1" animBg="1"/>
      <p:bldP spid="176154" grpId="0" animBg="1"/>
      <p:bldP spid="176155" grpId="0" animBg="1"/>
      <p:bldP spid="176156" grpId="0" animBg="1"/>
      <p:bldP spid="176157" grpId="0" animBg="1"/>
      <p:bldP spid="176158" grpId="0" animBg="1"/>
      <p:bldP spid="176159" grpId="0" animBg="1"/>
      <p:bldP spid="176160" grpId="0" animBg="1"/>
      <p:bldP spid="176161" grpId="0" animBg="1"/>
      <p:bldP spid="176162" grpId="0"/>
      <p:bldP spid="176163" grpId="0"/>
      <p:bldP spid="176164" grpId="0"/>
      <p:bldP spid="17616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831850"/>
          </a:xfrm>
        </p:spPr>
        <p:txBody>
          <a:bodyPr>
            <a:normAutofit/>
          </a:bodyPr>
          <a:lstStyle/>
          <a:p>
            <a:pPr defTabSz="1019175" eaLnBrk="1" hangingPunct="1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Decoding brain activity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85678" y="1847056"/>
            <a:ext cx="5126038" cy="268288"/>
            <a:chOff x="768" y="3216"/>
            <a:chExt cx="3552" cy="192"/>
          </a:xfrm>
        </p:grpSpPr>
        <p:sp>
          <p:nvSpPr>
            <p:cNvPr id="26629" name="Line 6"/>
            <p:cNvSpPr>
              <a:spLocks noChangeShapeType="1"/>
            </p:cNvSpPr>
            <p:nvPr/>
          </p:nvSpPr>
          <p:spPr bwMode="auto">
            <a:xfrm>
              <a:off x="768" y="3408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0" name="Line 7"/>
            <p:cNvSpPr>
              <a:spLocks noChangeShapeType="1"/>
            </p:cNvSpPr>
            <p:nvPr/>
          </p:nvSpPr>
          <p:spPr bwMode="auto">
            <a:xfrm>
              <a:off x="129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1" name="Line 8"/>
            <p:cNvSpPr>
              <a:spLocks noChangeShapeType="1"/>
            </p:cNvSpPr>
            <p:nvPr/>
          </p:nvSpPr>
          <p:spPr bwMode="auto">
            <a:xfrm>
              <a:off x="139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2" name="Line 9"/>
            <p:cNvSpPr>
              <a:spLocks noChangeShapeType="1"/>
            </p:cNvSpPr>
            <p:nvPr/>
          </p:nvSpPr>
          <p:spPr bwMode="auto">
            <a:xfrm>
              <a:off x="182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3" name="Line 10"/>
            <p:cNvSpPr>
              <a:spLocks noChangeShapeType="1"/>
            </p:cNvSpPr>
            <p:nvPr/>
          </p:nvSpPr>
          <p:spPr bwMode="auto">
            <a:xfrm>
              <a:off x="307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4" name="Line 11"/>
            <p:cNvSpPr>
              <a:spLocks noChangeShapeType="1"/>
            </p:cNvSpPr>
            <p:nvPr/>
          </p:nvSpPr>
          <p:spPr bwMode="auto">
            <a:xfrm>
              <a:off x="211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5" name="Line 12"/>
            <p:cNvSpPr>
              <a:spLocks noChangeShapeType="1"/>
            </p:cNvSpPr>
            <p:nvPr/>
          </p:nvSpPr>
          <p:spPr bwMode="auto">
            <a:xfrm>
              <a:off x="297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6" name="Line 13"/>
            <p:cNvSpPr>
              <a:spLocks noChangeShapeType="1"/>
            </p:cNvSpPr>
            <p:nvPr/>
          </p:nvSpPr>
          <p:spPr bwMode="auto">
            <a:xfrm>
              <a:off x="3360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2" name="Rectangle 45"/>
          <p:cNvSpPr>
            <a:spLocks noChangeArrowheads="1"/>
          </p:cNvSpPr>
          <p:nvPr/>
        </p:nvSpPr>
        <p:spPr bwMode="auto">
          <a:xfrm rot="16200000">
            <a:off x="3142680" y="5085152"/>
            <a:ext cx="1614609" cy="1311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44" name="Rectangle 47"/>
          <p:cNvSpPr>
            <a:spLocks noChangeArrowheads="1"/>
          </p:cNvSpPr>
          <p:nvPr/>
        </p:nvSpPr>
        <p:spPr bwMode="auto">
          <a:xfrm rot="14016939">
            <a:off x="4747136" y="5113896"/>
            <a:ext cx="1614609" cy="1311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0" name="Rectangle 47"/>
          <p:cNvSpPr>
            <a:spLocks noChangeArrowheads="1"/>
          </p:cNvSpPr>
          <p:nvPr/>
        </p:nvSpPr>
        <p:spPr bwMode="auto">
          <a:xfrm rot="7200000">
            <a:off x="1710518" y="5085970"/>
            <a:ext cx="1614609" cy="1311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1" name="Rectangle 47"/>
          <p:cNvSpPr>
            <a:spLocks noChangeArrowheads="1"/>
          </p:cNvSpPr>
          <p:nvPr/>
        </p:nvSpPr>
        <p:spPr bwMode="auto">
          <a:xfrm>
            <a:off x="6233991" y="4876800"/>
            <a:ext cx="1614609" cy="1311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4" name="Down Arrow 3"/>
          <p:cNvSpPr/>
          <p:nvPr/>
        </p:nvSpPr>
        <p:spPr>
          <a:xfrm>
            <a:off x="1828800" y="2664854"/>
            <a:ext cx="6019800" cy="1219200"/>
          </a:xfrm>
          <a:prstGeom prst="downArrow">
            <a:avLst>
              <a:gd name="adj1" fmla="val 14058"/>
              <a:gd name="adj2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572033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914400"/>
            <a:ext cx="79629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539750" y="158750"/>
            <a:ext cx="7772400" cy="8318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19175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Noise is everywhere</a:t>
            </a:r>
          </a:p>
        </p:txBody>
      </p:sp>
    </p:spTree>
    <p:extLst>
      <p:ext uri="{BB962C8B-B14F-4D97-AF65-F5344CB8AC3E}">
        <p14:creationId xmlns:p14="http://schemas.microsoft.com/office/powerpoint/2010/main" val="4270853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asellaDiTesto 2"/>
          <p:cNvSpPr txBox="1">
            <a:spLocks noChangeArrowheads="1"/>
          </p:cNvSpPr>
          <p:nvPr/>
        </p:nvSpPr>
        <p:spPr bwMode="auto">
          <a:xfrm>
            <a:off x="5181600" y="1061621"/>
            <a:ext cx="374808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A response to an individual trial can be modeled as a sum of two components: the reproducible response  and the ongoing network fluctuations</a:t>
            </a:r>
          </a:p>
          <a:p>
            <a:r>
              <a:rPr lang="en-US" dirty="0">
                <a:latin typeface="Arial" charset="0"/>
                <a:cs typeface="Arial" charset="0"/>
              </a:rPr>
              <a:t>The effect of a stimulus may be likened to the </a:t>
            </a:r>
            <a:r>
              <a:rPr lang="en-US" sz="4000" b="1" dirty="0">
                <a:latin typeface="French Script MT" panose="03020402040607040605" pitchFamily="66" charset="0"/>
                <a:cs typeface="Arial" charset="0"/>
              </a:rPr>
              <a:t>additional ripples caused when throwing a stone</a:t>
            </a:r>
          </a:p>
          <a:p>
            <a:r>
              <a:rPr lang="en-US" sz="4000" b="1" dirty="0">
                <a:latin typeface="French Script MT" panose="03020402040607040605" pitchFamily="66" charset="0"/>
                <a:cs typeface="Arial" charset="0"/>
              </a:rPr>
              <a:t>in a wavy sea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51"/>
          <a:stretch>
            <a:fillRect/>
          </a:stretch>
        </p:blipFill>
        <p:spPr bwMode="auto">
          <a:xfrm>
            <a:off x="304800" y="765932"/>
            <a:ext cx="4572000" cy="609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>
            <a:spLocks noChangeArrowheads="1"/>
          </p:cNvSpPr>
          <p:nvPr/>
        </p:nvSpPr>
        <p:spPr bwMode="auto">
          <a:xfrm>
            <a:off x="5351463" y="6248400"/>
            <a:ext cx="3106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 err="1">
                <a:latin typeface="Arial" charset="0"/>
                <a:cs typeface="Arial" charset="0"/>
              </a:rPr>
              <a:t>Arieli</a:t>
            </a:r>
            <a:r>
              <a:rPr lang="en-US" sz="2000" dirty="0">
                <a:latin typeface="Arial" charset="0"/>
                <a:cs typeface="Arial" charset="0"/>
              </a:rPr>
              <a:t> et al (1996) Science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39750" y="158750"/>
            <a:ext cx="7772400" cy="8318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19175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Ongoing activity matters (a lot)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8D2A233-E0DC-43A4-9AAA-CB62B17DAE41}"/>
              </a:ext>
            </a:extLst>
          </p:cNvPr>
          <p:cNvSpPr/>
          <p:nvPr/>
        </p:nvSpPr>
        <p:spPr>
          <a:xfrm>
            <a:off x="4516760" y="6035581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2624856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6200"/>
            <a:ext cx="8964488" cy="1026157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algn="ctr" hangingPunct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Response to multiple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presentations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 </a:t>
            </a:r>
          </a:p>
          <a:p>
            <a:pPr algn="ctr" hangingPunct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of the same movie clip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 t="13812" b="35196"/>
          <a:stretch>
            <a:fillRect/>
          </a:stretch>
        </p:blipFill>
        <p:spPr>
          <a:xfrm>
            <a:off x="-979" y="2251488"/>
            <a:ext cx="4140931" cy="319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827584" y="5445224"/>
            <a:ext cx="2808312" cy="34789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hangingPunct="0">
              <a:spcBef>
                <a:spcPts val="0"/>
              </a:spcBef>
              <a:spcAft>
                <a:spcPts val="0"/>
              </a:spcAft>
            </a:pP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Single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unit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activity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- 10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secs</a:t>
            </a:r>
            <a:endParaRPr lang="it-IT" dirty="0">
              <a:latin typeface="Nimbus Sans 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 t="32207" r="1954" b="51697"/>
          <a:stretch>
            <a:fillRect/>
          </a:stretch>
        </p:blipFill>
        <p:spPr>
          <a:xfrm>
            <a:off x="35496" y="1340768"/>
            <a:ext cx="4060035" cy="10081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1259632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39752" y="3501008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19872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83768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alphaModFix/>
            <a:lum/>
          </a:blip>
          <a:srcRect l="12212" t="11208" r="8243" b="15020"/>
          <a:stretch>
            <a:fillRect/>
          </a:stretch>
        </p:blipFill>
        <p:spPr>
          <a:xfrm>
            <a:off x="4067944" y="1052736"/>
            <a:ext cx="4896544" cy="446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644008" y="5445224"/>
            <a:ext cx="4104456" cy="34789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hangingPunct="0">
              <a:spcBef>
                <a:spcPts val="0"/>
              </a:spcBef>
              <a:spcAft>
                <a:spcPts val="0"/>
              </a:spcAft>
            </a:pP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Local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Field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Potential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- 10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secs</a:t>
            </a:r>
            <a:endParaRPr lang="it-IT" dirty="0">
              <a:latin typeface="Nimbus Sans 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79512" y="6021288"/>
            <a:ext cx="857478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cs typeface="Arial" charset="0"/>
              </a:rPr>
              <a:t>The code must be composed by features that are DIFFERENT from scene to scene and SIMILAR across trials</a:t>
            </a:r>
          </a:p>
        </p:txBody>
      </p:sp>
    </p:spTree>
    <p:extLst>
      <p:ext uri="{BB962C8B-B14F-4D97-AF65-F5344CB8AC3E}">
        <p14:creationId xmlns:p14="http://schemas.microsoft.com/office/powerpoint/2010/main" val="194360546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6200"/>
            <a:ext cx="8964488" cy="1026157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algn="ctr" hangingPunct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Response to multiple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presentations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 </a:t>
            </a:r>
          </a:p>
          <a:p>
            <a:pPr algn="ctr" hangingPunct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of the same movie clip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 t="13812" b="35196"/>
          <a:stretch>
            <a:fillRect/>
          </a:stretch>
        </p:blipFill>
        <p:spPr>
          <a:xfrm>
            <a:off x="-979" y="2251488"/>
            <a:ext cx="4140931" cy="319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827584" y="5445224"/>
            <a:ext cx="2808312" cy="34789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hangingPunct="0">
              <a:spcBef>
                <a:spcPts val="0"/>
              </a:spcBef>
              <a:spcAft>
                <a:spcPts val="0"/>
              </a:spcAft>
            </a:pP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Single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unit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activity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- 10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secs</a:t>
            </a:r>
            <a:endParaRPr lang="it-IT" dirty="0">
              <a:latin typeface="Nimbus Sans 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 t="32207" r="1954" b="51697"/>
          <a:stretch>
            <a:fillRect/>
          </a:stretch>
        </p:blipFill>
        <p:spPr>
          <a:xfrm>
            <a:off x="35496" y="1340768"/>
            <a:ext cx="4060035" cy="10081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1259632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39752" y="3501008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19872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83768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alphaModFix/>
            <a:lum/>
          </a:blip>
          <a:srcRect l="12212" t="11208" r="8243" b="15020"/>
          <a:stretch>
            <a:fillRect/>
          </a:stretch>
        </p:blipFill>
        <p:spPr>
          <a:xfrm>
            <a:off x="4067944" y="1052736"/>
            <a:ext cx="4896544" cy="446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644008" y="5445224"/>
            <a:ext cx="4104456" cy="34789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hangingPunct="0">
              <a:spcBef>
                <a:spcPts val="0"/>
              </a:spcBef>
              <a:spcAft>
                <a:spcPts val="0"/>
              </a:spcAft>
            </a:pP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Local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Field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Potential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- 10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secs</a:t>
            </a:r>
            <a:endParaRPr lang="it-IT" dirty="0">
              <a:latin typeface="Nimbus Sans 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79512" y="6021288"/>
            <a:ext cx="857478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cs typeface="Arial" charset="0"/>
              </a:rPr>
              <a:t>The code must be composed by features that are DIFFERENT from scene to scene and SIMILAR across trials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9E01F8D9-4DE2-46F1-BF72-99AFE96F685E}"/>
              </a:ext>
            </a:extLst>
          </p:cNvPr>
          <p:cNvSpPr/>
          <p:nvPr/>
        </p:nvSpPr>
        <p:spPr>
          <a:xfrm>
            <a:off x="1210542" y="2023319"/>
            <a:ext cx="6866932" cy="283702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Trial = </a:t>
            </a:r>
            <a:r>
              <a:rPr lang="it-IT" sz="2400" b="1" dirty="0" err="1"/>
              <a:t>presentation</a:t>
            </a:r>
            <a:r>
              <a:rPr lang="it-IT" sz="2400" b="1" dirty="0"/>
              <a:t> = </a:t>
            </a:r>
            <a:r>
              <a:rPr lang="it-IT" sz="2400" b="1" dirty="0" err="1"/>
              <a:t>repetition</a:t>
            </a:r>
            <a:r>
              <a:rPr lang="it-IT" sz="2400" b="1" dirty="0"/>
              <a:t> =…</a:t>
            </a:r>
          </a:p>
          <a:p>
            <a:pPr algn="ctr"/>
            <a:r>
              <a:rPr lang="it-IT" sz="2400" dirty="0"/>
              <a:t>Independent </a:t>
            </a:r>
            <a:r>
              <a:rPr lang="it-IT" sz="2400" dirty="0" err="1"/>
              <a:t>presentation</a:t>
            </a:r>
            <a:r>
              <a:rPr lang="it-IT" sz="2400" dirty="0"/>
              <a:t> of a </a:t>
            </a:r>
            <a:r>
              <a:rPr lang="it-IT" sz="2400" dirty="0" err="1"/>
              <a:t>given</a:t>
            </a:r>
            <a:r>
              <a:rPr lang="it-IT" sz="2400" dirty="0"/>
              <a:t> </a:t>
            </a:r>
            <a:r>
              <a:rPr lang="it-IT" sz="2400" dirty="0" err="1"/>
              <a:t>stimulus</a:t>
            </a:r>
            <a:r>
              <a:rPr lang="it-IT" sz="2400" dirty="0"/>
              <a:t>. The </a:t>
            </a:r>
            <a:r>
              <a:rPr lang="it-IT" sz="2400" dirty="0" err="1"/>
              <a:t>larger</a:t>
            </a:r>
            <a:r>
              <a:rPr lang="it-IT" sz="2400" dirty="0"/>
              <a:t> the </a:t>
            </a:r>
            <a:r>
              <a:rPr lang="it-IT" sz="2400" dirty="0" err="1"/>
              <a:t>number</a:t>
            </a:r>
            <a:r>
              <a:rPr lang="it-IT" sz="2400" dirty="0"/>
              <a:t> of trials, the </a:t>
            </a:r>
            <a:r>
              <a:rPr lang="it-IT" sz="2400" dirty="0" err="1"/>
              <a:t>better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977478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5051623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connected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0" y="1813151"/>
            <a:ext cx="4756320" cy="47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5224320" y="6211391"/>
            <a:ext cx="1912320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55188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dirty="0"/>
              <a:t>Internet (in 2005!)</a:t>
            </a:r>
          </a:p>
        </p:txBody>
      </p:sp>
      <p:pic>
        <p:nvPicPr>
          <p:cNvPr id="21506" name="Picture 2" descr="http://image.tmdb.org/t/p/original/pbrvWgER8Q2nz4iUSNbXDIDayO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0" y="388160"/>
            <a:ext cx="3867150" cy="581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1935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5051623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connected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0" y="1813151"/>
            <a:ext cx="4756320" cy="47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5224320" y="6211391"/>
            <a:ext cx="1912320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55188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dirty="0"/>
              <a:t>Internet (in 2005!)</a:t>
            </a:r>
          </a:p>
        </p:txBody>
      </p:sp>
      <p:pic>
        <p:nvPicPr>
          <p:cNvPr id="21506" name="Picture 2" descr="http://image.tmdb.org/t/p/original/pbrvWgER8Q2nz4iUSNbXDIDayO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0" y="388160"/>
            <a:ext cx="3867150" cy="581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F18575AA-F57E-4841-A123-BA3383C0FFE7}"/>
              </a:ext>
            </a:extLst>
          </p:cNvPr>
          <p:cNvSpPr/>
          <p:nvPr/>
        </p:nvSpPr>
        <p:spPr>
          <a:xfrm>
            <a:off x="1210542" y="2023319"/>
            <a:ext cx="6866932" cy="283702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Watts and </a:t>
            </a:r>
            <a:r>
              <a:rPr lang="it-IT" sz="2400" b="1" dirty="0" err="1"/>
              <a:t>Strogatz</a:t>
            </a:r>
            <a:r>
              <a:rPr lang="it-IT" sz="2400" b="1" dirty="0"/>
              <a:t> – Nature 1998</a:t>
            </a:r>
            <a:endParaRPr lang="it-IT" sz="2400" dirty="0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D9C6D41E-C124-485E-916E-262DAD89F19E}"/>
              </a:ext>
            </a:extLst>
          </p:cNvPr>
          <p:cNvSpPr/>
          <p:nvPr/>
        </p:nvSpPr>
        <p:spPr>
          <a:xfrm>
            <a:off x="4363120" y="3861048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28219193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0" y="1813151"/>
            <a:ext cx="4756320" cy="47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24320" y="6041435"/>
            <a:ext cx="1912320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55188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dirty="0"/>
              <a:t>Internet (in 2005!)</a:t>
            </a:r>
          </a:p>
        </p:txBody>
      </p:sp>
      <p:sp>
        <p:nvSpPr>
          <p:cNvPr id="5124" name="Oval 4"/>
          <p:cNvSpPr>
            <a:spLocks noChangeArrowheads="1"/>
          </p:cNvSpPr>
          <p:nvPr/>
        </p:nvSpPr>
        <p:spPr bwMode="auto">
          <a:xfrm>
            <a:off x="5388480" y="2122783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5" name="Oval 5"/>
          <p:cNvSpPr>
            <a:spLocks noChangeArrowheads="1"/>
          </p:cNvSpPr>
          <p:nvPr/>
        </p:nvSpPr>
        <p:spPr bwMode="auto">
          <a:xfrm>
            <a:off x="5616000" y="2122783"/>
            <a:ext cx="653760" cy="653829"/>
          </a:xfrm>
          <a:prstGeom prst="ellipse">
            <a:avLst/>
          </a:prstGeom>
          <a:noFill/>
          <a:ln w="144000" cap="sq">
            <a:solidFill>
              <a:srgbClr val="FF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6" name="Oval 6"/>
          <p:cNvSpPr>
            <a:spLocks noChangeArrowheads="1"/>
          </p:cNvSpPr>
          <p:nvPr/>
        </p:nvSpPr>
        <p:spPr bwMode="auto">
          <a:xfrm>
            <a:off x="5388480" y="3266263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7" name="Oval 7"/>
          <p:cNvSpPr>
            <a:spLocks noChangeArrowheads="1"/>
          </p:cNvSpPr>
          <p:nvPr/>
        </p:nvSpPr>
        <p:spPr bwMode="auto">
          <a:xfrm>
            <a:off x="5780160" y="3266263"/>
            <a:ext cx="653760" cy="653829"/>
          </a:xfrm>
          <a:prstGeom prst="ellipse">
            <a:avLst/>
          </a:prstGeom>
          <a:noFill/>
          <a:ln w="144000" cap="sq">
            <a:solidFill>
              <a:srgbClr val="2323D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8" name="Oval 8"/>
          <p:cNvSpPr>
            <a:spLocks noChangeArrowheads="1"/>
          </p:cNvSpPr>
          <p:nvPr/>
        </p:nvSpPr>
        <p:spPr bwMode="auto">
          <a:xfrm>
            <a:off x="5388480" y="4408304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9" name="Oval 9"/>
          <p:cNvSpPr>
            <a:spLocks noChangeArrowheads="1"/>
          </p:cNvSpPr>
          <p:nvPr/>
        </p:nvSpPr>
        <p:spPr bwMode="auto">
          <a:xfrm>
            <a:off x="6204961" y="4408304"/>
            <a:ext cx="653760" cy="653829"/>
          </a:xfrm>
          <a:prstGeom prst="ellipse">
            <a:avLst/>
          </a:prstGeom>
          <a:noFill/>
          <a:ln w="144000" cap="sq">
            <a:solidFill>
              <a:srgbClr val="23FF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0" name="Oval 10"/>
          <p:cNvSpPr>
            <a:spLocks noChangeArrowheads="1"/>
          </p:cNvSpPr>
          <p:nvPr/>
        </p:nvSpPr>
        <p:spPr bwMode="auto">
          <a:xfrm>
            <a:off x="3526560" y="4964202"/>
            <a:ext cx="391680" cy="424844"/>
          </a:xfrm>
          <a:prstGeom prst="ellipse">
            <a:avLst/>
          </a:prstGeom>
          <a:noFill/>
          <a:ln w="72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1" name="Oval 11"/>
          <p:cNvSpPr>
            <a:spLocks noChangeArrowheads="1"/>
          </p:cNvSpPr>
          <p:nvPr/>
        </p:nvSpPr>
        <p:spPr bwMode="auto">
          <a:xfrm>
            <a:off x="3755520" y="4572481"/>
            <a:ext cx="391680" cy="424844"/>
          </a:xfrm>
          <a:prstGeom prst="ellipse">
            <a:avLst/>
          </a:prstGeom>
          <a:noFill/>
          <a:ln w="72000" cap="sq">
            <a:solidFill>
              <a:srgbClr val="FF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2" name="Oval 12"/>
          <p:cNvSpPr>
            <a:spLocks noChangeArrowheads="1"/>
          </p:cNvSpPr>
          <p:nvPr/>
        </p:nvSpPr>
        <p:spPr bwMode="auto">
          <a:xfrm>
            <a:off x="2645280" y="4441427"/>
            <a:ext cx="391680" cy="424845"/>
          </a:xfrm>
          <a:prstGeom prst="ellipse">
            <a:avLst/>
          </a:prstGeom>
          <a:noFill/>
          <a:ln w="72000" cap="sq">
            <a:solidFill>
              <a:srgbClr val="2323D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3" name="Oval 13"/>
          <p:cNvSpPr>
            <a:spLocks noChangeArrowheads="1"/>
          </p:cNvSpPr>
          <p:nvPr/>
        </p:nvSpPr>
        <p:spPr bwMode="auto">
          <a:xfrm>
            <a:off x="424800" y="3297947"/>
            <a:ext cx="391680" cy="424845"/>
          </a:xfrm>
          <a:prstGeom prst="ellipse">
            <a:avLst/>
          </a:prstGeom>
          <a:noFill/>
          <a:ln w="72000" cap="sq">
            <a:solidFill>
              <a:srgbClr val="23FF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6998400" y="2076698"/>
            <a:ext cx="1656000" cy="6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Strongly 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correlated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7021440" y="3102086"/>
            <a:ext cx="1729440" cy="6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Weakly 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correlated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7012800" y="4376620"/>
            <a:ext cx="1869120" cy="698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Almost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independent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97920" y="1306217"/>
            <a:ext cx="8985600" cy="39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Connectivity is a binary feature, correlation is not</a:t>
            </a:r>
          </a:p>
        </p:txBody>
      </p:sp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94399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connected… but how much?</a:t>
            </a:r>
          </a:p>
        </p:txBody>
      </p:sp>
    </p:spTree>
    <p:extLst>
      <p:ext uri="{BB962C8B-B14F-4D97-AF65-F5344CB8AC3E}">
        <p14:creationId xmlns:p14="http://schemas.microsoft.com/office/powerpoint/2010/main" val="35062073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0" y="1813151"/>
            <a:ext cx="4756320" cy="47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24320" y="6041435"/>
            <a:ext cx="1912320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55188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dirty="0"/>
              <a:t>Internet (in 2005!)</a:t>
            </a:r>
          </a:p>
        </p:txBody>
      </p:sp>
      <p:sp>
        <p:nvSpPr>
          <p:cNvPr id="5124" name="Oval 4"/>
          <p:cNvSpPr>
            <a:spLocks noChangeArrowheads="1"/>
          </p:cNvSpPr>
          <p:nvPr/>
        </p:nvSpPr>
        <p:spPr bwMode="auto">
          <a:xfrm>
            <a:off x="5388480" y="2122783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5" name="Oval 5"/>
          <p:cNvSpPr>
            <a:spLocks noChangeArrowheads="1"/>
          </p:cNvSpPr>
          <p:nvPr/>
        </p:nvSpPr>
        <p:spPr bwMode="auto">
          <a:xfrm>
            <a:off x="5616000" y="2122783"/>
            <a:ext cx="653760" cy="653829"/>
          </a:xfrm>
          <a:prstGeom prst="ellipse">
            <a:avLst/>
          </a:prstGeom>
          <a:noFill/>
          <a:ln w="144000" cap="sq">
            <a:solidFill>
              <a:srgbClr val="FF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6" name="Oval 6"/>
          <p:cNvSpPr>
            <a:spLocks noChangeArrowheads="1"/>
          </p:cNvSpPr>
          <p:nvPr/>
        </p:nvSpPr>
        <p:spPr bwMode="auto">
          <a:xfrm>
            <a:off x="5388480" y="3266263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7" name="Oval 7"/>
          <p:cNvSpPr>
            <a:spLocks noChangeArrowheads="1"/>
          </p:cNvSpPr>
          <p:nvPr/>
        </p:nvSpPr>
        <p:spPr bwMode="auto">
          <a:xfrm>
            <a:off x="5780160" y="3266263"/>
            <a:ext cx="653760" cy="653829"/>
          </a:xfrm>
          <a:prstGeom prst="ellipse">
            <a:avLst/>
          </a:prstGeom>
          <a:noFill/>
          <a:ln w="144000" cap="sq">
            <a:solidFill>
              <a:srgbClr val="2323D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8" name="Oval 8"/>
          <p:cNvSpPr>
            <a:spLocks noChangeArrowheads="1"/>
          </p:cNvSpPr>
          <p:nvPr/>
        </p:nvSpPr>
        <p:spPr bwMode="auto">
          <a:xfrm>
            <a:off x="5388480" y="4408304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9" name="Oval 9"/>
          <p:cNvSpPr>
            <a:spLocks noChangeArrowheads="1"/>
          </p:cNvSpPr>
          <p:nvPr/>
        </p:nvSpPr>
        <p:spPr bwMode="auto">
          <a:xfrm>
            <a:off x="6204961" y="4408304"/>
            <a:ext cx="653760" cy="653829"/>
          </a:xfrm>
          <a:prstGeom prst="ellipse">
            <a:avLst/>
          </a:prstGeom>
          <a:noFill/>
          <a:ln w="144000" cap="sq">
            <a:solidFill>
              <a:srgbClr val="23FF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0" name="Oval 10"/>
          <p:cNvSpPr>
            <a:spLocks noChangeArrowheads="1"/>
          </p:cNvSpPr>
          <p:nvPr/>
        </p:nvSpPr>
        <p:spPr bwMode="auto">
          <a:xfrm>
            <a:off x="3526560" y="4964202"/>
            <a:ext cx="391680" cy="424844"/>
          </a:xfrm>
          <a:prstGeom prst="ellipse">
            <a:avLst/>
          </a:prstGeom>
          <a:noFill/>
          <a:ln w="72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1" name="Oval 11"/>
          <p:cNvSpPr>
            <a:spLocks noChangeArrowheads="1"/>
          </p:cNvSpPr>
          <p:nvPr/>
        </p:nvSpPr>
        <p:spPr bwMode="auto">
          <a:xfrm>
            <a:off x="3755520" y="4572481"/>
            <a:ext cx="391680" cy="424844"/>
          </a:xfrm>
          <a:prstGeom prst="ellipse">
            <a:avLst/>
          </a:prstGeom>
          <a:noFill/>
          <a:ln w="72000" cap="sq">
            <a:solidFill>
              <a:srgbClr val="FF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2" name="Oval 12"/>
          <p:cNvSpPr>
            <a:spLocks noChangeArrowheads="1"/>
          </p:cNvSpPr>
          <p:nvPr/>
        </p:nvSpPr>
        <p:spPr bwMode="auto">
          <a:xfrm>
            <a:off x="2645280" y="4441427"/>
            <a:ext cx="391680" cy="424845"/>
          </a:xfrm>
          <a:prstGeom prst="ellipse">
            <a:avLst/>
          </a:prstGeom>
          <a:noFill/>
          <a:ln w="72000" cap="sq">
            <a:solidFill>
              <a:srgbClr val="2323D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3" name="Oval 13"/>
          <p:cNvSpPr>
            <a:spLocks noChangeArrowheads="1"/>
          </p:cNvSpPr>
          <p:nvPr/>
        </p:nvSpPr>
        <p:spPr bwMode="auto">
          <a:xfrm>
            <a:off x="424800" y="3297947"/>
            <a:ext cx="391680" cy="424845"/>
          </a:xfrm>
          <a:prstGeom prst="ellipse">
            <a:avLst/>
          </a:prstGeom>
          <a:noFill/>
          <a:ln w="72000" cap="sq">
            <a:solidFill>
              <a:srgbClr val="23FF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6998400" y="2076698"/>
            <a:ext cx="1656000" cy="6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Strongly 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correlated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7021440" y="3102086"/>
            <a:ext cx="1729440" cy="6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Weakly 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correlated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7012800" y="4376620"/>
            <a:ext cx="1869120" cy="698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Almost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independent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97920" y="1306217"/>
            <a:ext cx="8985600" cy="39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Connectivity is a binary feature, correlation is not</a:t>
            </a:r>
          </a:p>
        </p:txBody>
      </p:sp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94399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connected… but how much?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011D68D7-16CC-4789-97C7-960F0A1E7C51}"/>
              </a:ext>
            </a:extLst>
          </p:cNvPr>
          <p:cNvSpPr/>
          <p:nvPr/>
        </p:nvSpPr>
        <p:spPr>
          <a:xfrm>
            <a:off x="1210542" y="2023319"/>
            <a:ext cx="6866932" cy="283702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Connectivity: </a:t>
            </a:r>
            <a:r>
              <a:rPr lang="it-IT" sz="2400" dirty="0" err="1"/>
              <a:t>there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link (</a:t>
            </a:r>
            <a:r>
              <a:rPr lang="it-IT" sz="2400" dirty="0" err="1"/>
              <a:t>series</a:t>
            </a:r>
            <a:r>
              <a:rPr lang="it-IT" sz="2400" dirty="0"/>
              <a:t>) </a:t>
            </a:r>
            <a:r>
              <a:rPr lang="it-IT" sz="2400" dirty="0" err="1"/>
              <a:t>between</a:t>
            </a:r>
            <a:r>
              <a:rPr lang="it-IT" sz="2400" dirty="0"/>
              <a:t> the </a:t>
            </a:r>
            <a:r>
              <a:rPr lang="it-IT" sz="2400" dirty="0" err="1"/>
              <a:t>nodes</a:t>
            </a:r>
            <a:r>
              <a:rPr lang="it-IT" sz="2400" dirty="0"/>
              <a:t> A and B</a:t>
            </a:r>
          </a:p>
          <a:p>
            <a:pPr algn="ctr"/>
            <a:endParaRPr lang="it-IT" sz="2400" b="1" dirty="0"/>
          </a:p>
          <a:p>
            <a:pPr algn="ctr"/>
            <a:r>
              <a:rPr lang="it-IT" sz="2400" b="1" dirty="0" err="1"/>
              <a:t>Correlation</a:t>
            </a:r>
            <a:r>
              <a:rPr lang="it-IT" sz="2400" b="1" dirty="0"/>
              <a:t>: </a:t>
            </a:r>
            <a:r>
              <a:rPr lang="it-IT" sz="2400" dirty="0"/>
              <a:t>the state of A </a:t>
            </a:r>
            <a:r>
              <a:rPr lang="it-IT" sz="2400" dirty="0" err="1"/>
              <a:t>affects</a:t>
            </a:r>
            <a:r>
              <a:rPr lang="it-IT" sz="2400" dirty="0"/>
              <a:t> the state of B</a:t>
            </a: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35559859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94399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any pair of variables depends on other variables</a:t>
            </a:r>
          </a:p>
        </p:txBody>
      </p:sp>
      <p:pic>
        <p:nvPicPr>
          <p:cNvPr id="18434" name="Picture 2" descr="http://sadworldmadworld.files.wordpress.com/2013/01/romeo-juliet-origin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08912" cy="46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5948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71414"/>
            <a:ext cx="8294399" cy="1643203"/>
          </a:xfrm>
          <a:ln/>
        </p:spPr>
        <p:txBody>
          <a:bodyPr tIns="35268">
            <a:no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</a:t>
            </a:r>
            <a:b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relevant pair of variables (signal) depends on other variables (noise)</a:t>
            </a:r>
          </a:p>
        </p:txBody>
      </p:sp>
      <p:pic>
        <p:nvPicPr>
          <p:cNvPr id="5" name="Picture 2" descr="http://sadworldmadworld.files.wordpress.com/2013/01/romeo-juliet-origin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08912" cy="46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6287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71414"/>
            <a:ext cx="8294399" cy="1643203"/>
          </a:xfrm>
          <a:ln/>
        </p:spPr>
        <p:txBody>
          <a:bodyPr tIns="35268">
            <a:no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</a:t>
            </a:r>
            <a:b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relevant pair of variables (signal) depends on other variables (noise)</a:t>
            </a:r>
          </a:p>
        </p:txBody>
      </p:sp>
      <p:pic>
        <p:nvPicPr>
          <p:cNvPr id="5" name="Picture 2" descr="http://sadworldmadworld.files.wordpress.com/2013/01/romeo-juliet-origin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08912" cy="46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3ECA4DEE-466A-4457-A0C6-581803077707}"/>
              </a:ext>
            </a:extLst>
          </p:cNvPr>
          <p:cNvSpPr/>
          <p:nvPr/>
        </p:nvSpPr>
        <p:spPr>
          <a:xfrm>
            <a:off x="1210542" y="2023319"/>
            <a:ext cx="6866932" cy="461940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Signal</a:t>
            </a:r>
            <a:r>
              <a:rPr lang="it-IT" sz="2400" b="1" dirty="0"/>
              <a:t> </a:t>
            </a:r>
            <a:r>
              <a:rPr lang="it-IT" sz="2400" dirty="0"/>
              <a:t>= </a:t>
            </a:r>
            <a:r>
              <a:rPr lang="it-IT" sz="2400" dirty="0" err="1"/>
              <a:t>what</a:t>
            </a:r>
            <a:r>
              <a:rPr lang="it-IT" sz="2400" dirty="0"/>
              <a:t> </a:t>
            </a:r>
            <a:r>
              <a:rPr lang="it-IT" sz="2400" dirty="0" err="1"/>
              <a:t>you</a:t>
            </a:r>
            <a:r>
              <a:rPr lang="it-IT" sz="2400" dirty="0"/>
              <a:t> are </a:t>
            </a:r>
            <a:r>
              <a:rPr lang="it-IT" sz="2400" dirty="0" err="1"/>
              <a:t>interested</a:t>
            </a:r>
            <a:r>
              <a:rPr lang="it-IT" sz="2400" dirty="0"/>
              <a:t> in (e.g., </a:t>
            </a:r>
            <a:r>
              <a:rPr lang="it-IT" sz="2400" dirty="0" err="1"/>
              <a:t>sensory</a:t>
            </a:r>
            <a:r>
              <a:rPr lang="it-IT" sz="2400" dirty="0"/>
              <a:t> </a:t>
            </a:r>
            <a:r>
              <a:rPr lang="it-IT" sz="2400" dirty="0" err="1"/>
              <a:t>stimulation</a:t>
            </a:r>
            <a:r>
              <a:rPr lang="it-IT" sz="2400" dirty="0"/>
              <a:t>)</a:t>
            </a:r>
          </a:p>
          <a:p>
            <a:pPr algn="ctr"/>
            <a:r>
              <a:rPr lang="it-IT" sz="2400" b="1" dirty="0" err="1"/>
              <a:t>Noise</a:t>
            </a:r>
            <a:r>
              <a:rPr lang="it-IT" sz="2400" b="1" dirty="0"/>
              <a:t> = </a:t>
            </a:r>
            <a:r>
              <a:rPr lang="it-IT" sz="2400" dirty="0" err="1"/>
              <a:t>everything</a:t>
            </a:r>
            <a:r>
              <a:rPr lang="it-IT" sz="2400" dirty="0"/>
              <a:t> else</a:t>
            </a:r>
          </a:p>
          <a:p>
            <a:pPr algn="ctr"/>
            <a:endParaRPr lang="it-IT" sz="2400" b="1" dirty="0"/>
          </a:p>
          <a:p>
            <a:pPr algn="ctr"/>
            <a:r>
              <a:rPr lang="it-IT" sz="2400" dirty="0"/>
              <a:t>In a smart </a:t>
            </a:r>
            <a:r>
              <a:rPr lang="it-IT" sz="2400" dirty="0" err="1"/>
              <a:t>experimental</a:t>
            </a:r>
            <a:r>
              <a:rPr lang="it-IT" sz="2400" dirty="0"/>
              <a:t> design, </a:t>
            </a:r>
            <a:r>
              <a:rPr lang="it-IT" sz="2400" dirty="0" err="1"/>
              <a:t>across</a:t>
            </a:r>
            <a:r>
              <a:rPr lang="it-IT" sz="2400" dirty="0"/>
              <a:t> </a:t>
            </a:r>
            <a:r>
              <a:rPr lang="it-IT" sz="2400" dirty="0" err="1"/>
              <a:t>different</a:t>
            </a:r>
            <a:r>
              <a:rPr lang="it-IT" sz="2400" dirty="0"/>
              <a:t> trials, </a:t>
            </a:r>
            <a:r>
              <a:rPr lang="it-IT" sz="2400" b="1" dirty="0"/>
              <a:t>the </a:t>
            </a:r>
            <a:r>
              <a:rPr lang="it-IT" sz="2400" b="1" dirty="0" err="1"/>
              <a:t>signal</a:t>
            </a:r>
            <a:r>
              <a:rPr lang="it-IT" sz="2400" b="1" dirty="0"/>
              <a:t> </a:t>
            </a:r>
            <a:r>
              <a:rPr lang="it-IT" sz="2400" b="1" dirty="0" err="1"/>
              <a:t>is</a:t>
            </a:r>
            <a:r>
              <a:rPr lang="it-IT" sz="2400" b="1" dirty="0"/>
              <a:t> the </a:t>
            </a:r>
            <a:r>
              <a:rPr lang="it-IT" sz="2400" b="1" dirty="0" err="1"/>
              <a:t>same</a:t>
            </a:r>
            <a:r>
              <a:rPr lang="it-IT" sz="2400" b="1" dirty="0"/>
              <a:t> </a:t>
            </a:r>
            <a:r>
              <a:rPr lang="it-IT" sz="2400" dirty="0"/>
              <a:t>and the </a:t>
            </a:r>
            <a:r>
              <a:rPr lang="it-IT" sz="2400" b="1" dirty="0" err="1"/>
              <a:t>noise</a:t>
            </a:r>
            <a:r>
              <a:rPr lang="it-IT" sz="2400" b="1" dirty="0"/>
              <a:t> </a:t>
            </a:r>
            <a:r>
              <a:rPr lang="it-IT" sz="2400" dirty="0" err="1"/>
              <a:t>you</a:t>
            </a:r>
            <a:r>
              <a:rPr lang="it-IT" sz="2400" dirty="0"/>
              <a:t> </a:t>
            </a:r>
            <a:r>
              <a:rPr lang="it-IT" sz="2400" dirty="0" err="1"/>
              <a:t>dont’know</a:t>
            </a:r>
            <a:r>
              <a:rPr lang="it-IT" sz="2400" dirty="0"/>
              <a:t>,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likely</a:t>
            </a:r>
            <a:r>
              <a:rPr lang="it-IT" sz="2400" dirty="0"/>
              <a:t>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b="1" dirty="0" err="1"/>
              <a:t>is</a:t>
            </a:r>
            <a:r>
              <a:rPr lang="it-IT" sz="2400" b="1" dirty="0"/>
              <a:t> </a:t>
            </a:r>
            <a:r>
              <a:rPr lang="it-IT" sz="2400" b="1" dirty="0" err="1"/>
              <a:t>changing</a:t>
            </a:r>
            <a:r>
              <a:rPr lang="it-IT" sz="2400" b="1" dirty="0"/>
              <a:t>. 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6112928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26720" cy="1143480"/>
          </a:xfrm>
          <a:ln/>
        </p:spPr>
        <p:txBody>
          <a:bodyPr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imply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causation</a:t>
            </a:r>
            <a:endParaRPr lang="it-IT" altLang="it-IT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71472" y="2553356"/>
            <a:ext cx="1824480" cy="518454"/>
            <a:chOff x="4490" y="1224"/>
            <a:chExt cx="1267" cy="360"/>
          </a:xfrm>
        </p:grpSpPr>
        <p:sp>
          <p:nvSpPr>
            <p:cNvPr id="7172" name="Oval 4"/>
            <p:cNvSpPr>
              <a:spLocks noChangeArrowheads="1"/>
            </p:cNvSpPr>
            <p:nvPr/>
          </p:nvSpPr>
          <p:spPr bwMode="auto">
            <a:xfrm>
              <a:off x="4490" y="1225"/>
              <a:ext cx="360" cy="359"/>
            </a:xfrm>
            <a:prstGeom prst="ellipse">
              <a:avLst/>
            </a:prstGeom>
            <a:solidFill>
              <a:srgbClr val="CFE7F5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3" name="Oval 5"/>
            <p:cNvSpPr>
              <a:spLocks noChangeArrowheads="1"/>
            </p:cNvSpPr>
            <p:nvPr/>
          </p:nvSpPr>
          <p:spPr bwMode="auto">
            <a:xfrm>
              <a:off x="5397" y="1224"/>
              <a:ext cx="360" cy="359"/>
            </a:xfrm>
            <a:prstGeom prst="ellipse">
              <a:avLst/>
            </a:prstGeom>
            <a:solidFill>
              <a:srgbClr val="FF333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4" name="Line 6"/>
            <p:cNvSpPr>
              <a:spLocks noChangeShapeType="1"/>
            </p:cNvSpPr>
            <p:nvPr/>
          </p:nvSpPr>
          <p:spPr bwMode="auto">
            <a:xfrm>
              <a:off x="4853" y="1405"/>
              <a:ext cx="541" cy="0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3529019" y="2514505"/>
            <a:ext cx="522720" cy="522775"/>
          </a:xfrm>
          <a:prstGeom prst="ellipse">
            <a:avLst/>
          </a:prstGeom>
          <a:solidFill>
            <a:srgbClr val="CFE7F5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4835098" y="2514505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>
            <a:off x="4051738" y="2776611"/>
            <a:ext cx="783360" cy="1441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6465601" y="2500306"/>
            <a:ext cx="522720" cy="522775"/>
          </a:xfrm>
          <a:prstGeom prst="ellipse">
            <a:avLst/>
          </a:prstGeom>
          <a:solidFill>
            <a:srgbClr val="CFE7F5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9" name="Oval 11"/>
          <p:cNvSpPr>
            <a:spLocks noChangeArrowheads="1"/>
          </p:cNvSpPr>
          <p:nvPr/>
        </p:nvSpPr>
        <p:spPr bwMode="auto">
          <a:xfrm>
            <a:off x="7771680" y="250030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6988320" y="2762413"/>
            <a:ext cx="783360" cy="1441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18560" y="4147636"/>
            <a:ext cx="1791360" cy="2020533"/>
            <a:chOff x="499" y="2880"/>
            <a:chExt cx="1244" cy="1403"/>
          </a:xfrm>
        </p:grpSpPr>
        <p:sp>
          <p:nvSpPr>
            <p:cNvPr id="7182" name="Oval 14"/>
            <p:cNvSpPr>
              <a:spLocks noChangeArrowheads="1"/>
            </p:cNvSpPr>
            <p:nvPr/>
          </p:nvSpPr>
          <p:spPr bwMode="auto">
            <a:xfrm>
              <a:off x="499" y="3424"/>
              <a:ext cx="360" cy="360"/>
            </a:xfrm>
            <a:prstGeom prst="ellipse">
              <a:avLst/>
            </a:prstGeom>
            <a:solidFill>
              <a:srgbClr val="23FF2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3" name="Oval 15"/>
            <p:cNvSpPr>
              <a:spLocks noChangeArrowheads="1"/>
            </p:cNvSpPr>
            <p:nvPr/>
          </p:nvSpPr>
          <p:spPr bwMode="auto">
            <a:xfrm>
              <a:off x="1383" y="2880"/>
              <a:ext cx="360" cy="360"/>
            </a:xfrm>
            <a:prstGeom prst="ellipse">
              <a:avLst/>
            </a:prstGeom>
            <a:solidFill>
              <a:srgbClr val="FF333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4" name="Line 16"/>
            <p:cNvSpPr>
              <a:spLocks noChangeShapeType="1"/>
            </p:cNvSpPr>
            <p:nvPr/>
          </p:nvSpPr>
          <p:spPr bwMode="auto">
            <a:xfrm flipV="1">
              <a:off x="862" y="3127"/>
              <a:ext cx="541" cy="411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85" name="Oval 17"/>
            <p:cNvSpPr>
              <a:spLocks noChangeArrowheads="1"/>
            </p:cNvSpPr>
            <p:nvPr/>
          </p:nvSpPr>
          <p:spPr bwMode="auto">
            <a:xfrm>
              <a:off x="1383" y="3923"/>
              <a:ext cx="360" cy="360"/>
            </a:xfrm>
            <a:prstGeom prst="ellipse">
              <a:avLst/>
            </a:prstGeom>
            <a:solidFill>
              <a:srgbClr val="CCFFFF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6" name="Line 18"/>
            <p:cNvSpPr>
              <a:spLocks noChangeShapeType="1"/>
            </p:cNvSpPr>
            <p:nvPr/>
          </p:nvSpPr>
          <p:spPr bwMode="auto">
            <a:xfrm>
              <a:off x="862" y="3674"/>
              <a:ext cx="518" cy="360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187" name="Oval 19"/>
          <p:cNvSpPr>
            <a:spLocks noChangeArrowheads="1"/>
          </p:cNvSpPr>
          <p:nvPr/>
        </p:nvSpPr>
        <p:spPr bwMode="auto">
          <a:xfrm>
            <a:off x="3562138" y="4931078"/>
            <a:ext cx="522720" cy="522775"/>
          </a:xfrm>
          <a:prstGeom prst="ellipse">
            <a:avLst/>
          </a:prstGeom>
          <a:solidFill>
            <a:srgbClr val="23FF2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8" name="Oval 20"/>
          <p:cNvSpPr>
            <a:spLocks noChangeArrowheads="1"/>
          </p:cNvSpPr>
          <p:nvPr/>
        </p:nvSpPr>
        <p:spPr bwMode="auto">
          <a:xfrm>
            <a:off x="4835098" y="414763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 flipV="1">
            <a:off x="4084858" y="4503353"/>
            <a:ext cx="783360" cy="596223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0" name="Oval 22"/>
          <p:cNvSpPr>
            <a:spLocks noChangeArrowheads="1"/>
          </p:cNvSpPr>
          <p:nvPr/>
        </p:nvSpPr>
        <p:spPr bwMode="auto">
          <a:xfrm>
            <a:off x="4835098" y="5649714"/>
            <a:ext cx="522720" cy="522774"/>
          </a:xfrm>
          <a:prstGeom prst="ellipse">
            <a:avLst/>
          </a:prstGeom>
          <a:solidFill>
            <a:srgbClr val="CCFFFF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4084858" y="5291116"/>
            <a:ext cx="750240" cy="522775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2" name="Oval 24"/>
          <p:cNvSpPr>
            <a:spLocks noChangeArrowheads="1"/>
          </p:cNvSpPr>
          <p:nvPr/>
        </p:nvSpPr>
        <p:spPr bwMode="auto">
          <a:xfrm>
            <a:off x="6419658" y="4931078"/>
            <a:ext cx="522720" cy="522775"/>
          </a:xfrm>
          <a:prstGeom prst="ellipse">
            <a:avLst/>
          </a:prstGeom>
          <a:solidFill>
            <a:srgbClr val="23FF2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3" name="Oval 25"/>
          <p:cNvSpPr>
            <a:spLocks noChangeArrowheads="1"/>
          </p:cNvSpPr>
          <p:nvPr/>
        </p:nvSpPr>
        <p:spPr bwMode="auto">
          <a:xfrm>
            <a:off x="7692618" y="414763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942377" y="4503353"/>
            <a:ext cx="783360" cy="596223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5" name="Oval 27"/>
          <p:cNvSpPr>
            <a:spLocks noChangeArrowheads="1"/>
          </p:cNvSpPr>
          <p:nvPr/>
        </p:nvSpPr>
        <p:spPr bwMode="auto">
          <a:xfrm>
            <a:off x="7692618" y="5649714"/>
            <a:ext cx="522720" cy="522774"/>
          </a:xfrm>
          <a:prstGeom prst="ellipse">
            <a:avLst/>
          </a:prstGeom>
          <a:solidFill>
            <a:srgbClr val="CCFFFF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6942378" y="5291116"/>
            <a:ext cx="750240" cy="522775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7143768" y="6357958"/>
            <a:ext cx="1632960" cy="31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9" tIns="40820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36305078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26720" cy="1143480"/>
          </a:xfrm>
          <a:ln/>
        </p:spPr>
        <p:txBody>
          <a:bodyPr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imply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causation</a:t>
            </a:r>
            <a:endParaRPr lang="it-IT" altLang="it-IT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71472" y="2553356"/>
            <a:ext cx="1824480" cy="518454"/>
            <a:chOff x="4490" y="1224"/>
            <a:chExt cx="1267" cy="360"/>
          </a:xfrm>
        </p:grpSpPr>
        <p:sp>
          <p:nvSpPr>
            <p:cNvPr id="7172" name="Oval 4"/>
            <p:cNvSpPr>
              <a:spLocks noChangeArrowheads="1"/>
            </p:cNvSpPr>
            <p:nvPr/>
          </p:nvSpPr>
          <p:spPr bwMode="auto">
            <a:xfrm>
              <a:off x="4490" y="1225"/>
              <a:ext cx="360" cy="359"/>
            </a:xfrm>
            <a:prstGeom prst="ellipse">
              <a:avLst/>
            </a:prstGeom>
            <a:solidFill>
              <a:srgbClr val="CFE7F5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3" name="Oval 5"/>
            <p:cNvSpPr>
              <a:spLocks noChangeArrowheads="1"/>
            </p:cNvSpPr>
            <p:nvPr/>
          </p:nvSpPr>
          <p:spPr bwMode="auto">
            <a:xfrm>
              <a:off x="5397" y="1224"/>
              <a:ext cx="360" cy="359"/>
            </a:xfrm>
            <a:prstGeom prst="ellipse">
              <a:avLst/>
            </a:prstGeom>
            <a:solidFill>
              <a:srgbClr val="FF333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4" name="Line 6"/>
            <p:cNvSpPr>
              <a:spLocks noChangeShapeType="1"/>
            </p:cNvSpPr>
            <p:nvPr/>
          </p:nvSpPr>
          <p:spPr bwMode="auto">
            <a:xfrm>
              <a:off x="4853" y="1405"/>
              <a:ext cx="541" cy="0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3529019" y="2514505"/>
            <a:ext cx="522720" cy="522775"/>
          </a:xfrm>
          <a:prstGeom prst="ellipse">
            <a:avLst/>
          </a:prstGeom>
          <a:solidFill>
            <a:srgbClr val="CFE7F5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4835098" y="2514505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>
            <a:off x="4051738" y="2776611"/>
            <a:ext cx="783360" cy="1441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6465601" y="2500306"/>
            <a:ext cx="522720" cy="522775"/>
          </a:xfrm>
          <a:prstGeom prst="ellipse">
            <a:avLst/>
          </a:prstGeom>
          <a:solidFill>
            <a:srgbClr val="CFE7F5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9" name="Oval 11"/>
          <p:cNvSpPr>
            <a:spLocks noChangeArrowheads="1"/>
          </p:cNvSpPr>
          <p:nvPr/>
        </p:nvSpPr>
        <p:spPr bwMode="auto">
          <a:xfrm>
            <a:off x="7771680" y="250030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6988320" y="2762413"/>
            <a:ext cx="783360" cy="1441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18560" y="4147636"/>
            <a:ext cx="1791360" cy="2020533"/>
            <a:chOff x="499" y="2880"/>
            <a:chExt cx="1244" cy="1403"/>
          </a:xfrm>
        </p:grpSpPr>
        <p:sp>
          <p:nvSpPr>
            <p:cNvPr id="7182" name="Oval 14"/>
            <p:cNvSpPr>
              <a:spLocks noChangeArrowheads="1"/>
            </p:cNvSpPr>
            <p:nvPr/>
          </p:nvSpPr>
          <p:spPr bwMode="auto">
            <a:xfrm>
              <a:off x="499" y="3424"/>
              <a:ext cx="360" cy="360"/>
            </a:xfrm>
            <a:prstGeom prst="ellipse">
              <a:avLst/>
            </a:prstGeom>
            <a:solidFill>
              <a:srgbClr val="23FF2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3" name="Oval 15"/>
            <p:cNvSpPr>
              <a:spLocks noChangeArrowheads="1"/>
            </p:cNvSpPr>
            <p:nvPr/>
          </p:nvSpPr>
          <p:spPr bwMode="auto">
            <a:xfrm>
              <a:off x="1383" y="2880"/>
              <a:ext cx="360" cy="360"/>
            </a:xfrm>
            <a:prstGeom prst="ellipse">
              <a:avLst/>
            </a:prstGeom>
            <a:solidFill>
              <a:srgbClr val="FF333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4" name="Line 16"/>
            <p:cNvSpPr>
              <a:spLocks noChangeShapeType="1"/>
            </p:cNvSpPr>
            <p:nvPr/>
          </p:nvSpPr>
          <p:spPr bwMode="auto">
            <a:xfrm flipV="1">
              <a:off x="862" y="3127"/>
              <a:ext cx="541" cy="411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85" name="Oval 17"/>
            <p:cNvSpPr>
              <a:spLocks noChangeArrowheads="1"/>
            </p:cNvSpPr>
            <p:nvPr/>
          </p:nvSpPr>
          <p:spPr bwMode="auto">
            <a:xfrm>
              <a:off x="1383" y="3923"/>
              <a:ext cx="360" cy="360"/>
            </a:xfrm>
            <a:prstGeom prst="ellipse">
              <a:avLst/>
            </a:prstGeom>
            <a:solidFill>
              <a:srgbClr val="CCFFFF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6" name="Line 18"/>
            <p:cNvSpPr>
              <a:spLocks noChangeShapeType="1"/>
            </p:cNvSpPr>
            <p:nvPr/>
          </p:nvSpPr>
          <p:spPr bwMode="auto">
            <a:xfrm>
              <a:off x="862" y="3674"/>
              <a:ext cx="518" cy="360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187" name="Oval 19"/>
          <p:cNvSpPr>
            <a:spLocks noChangeArrowheads="1"/>
          </p:cNvSpPr>
          <p:nvPr/>
        </p:nvSpPr>
        <p:spPr bwMode="auto">
          <a:xfrm>
            <a:off x="3562138" y="4931078"/>
            <a:ext cx="522720" cy="522775"/>
          </a:xfrm>
          <a:prstGeom prst="ellipse">
            <a:avLst/>
          </a:prstGeom>
          <a:solidFill>
            <a:srgbClr val="23FF2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8" name="Oval 20"/>
          <p:cNvSpPr>
            <a:spLocks noChangeArrowheads="1"/>
          </p:cNvSpPr>
          <p:nvPr/>
        </p:nvSpPr>
        <p:spPr bwMode="auto">
          <a:xfrm>
            <a:off x="4835098" y="414763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 flipV="1">
            <a:off x="4084858" y="4503353"/>
            <a:ext cx="783360" cy="596223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0" name="Oval 22"/>
          <p:cNvSpPr>
            <a:spLocks noChangeArrowheads="1"/>
          </p:cNvSpPr>
          <p:nvPr/>
        </p:nvSpPr>
        <p:spPr bwMode="auto">
          <a:xfrm>
            <a:off x="4835098" y="5649714"/>
            <a:ext cx="522720" cy="522774"/>
          </a:xfrm>
          <a:prstGeom prst="ellipse">
            <a:avLst/>
          </a:prstGeom>
          <a:solidFill>
            <a:srgbClr val="CCFFFF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4084858" y="5291116"/>
            <a:ext cx="750240" cy="522775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2" name="Oval 24"/>
          <p:cNvSpPr>
            <a:spLocks noChangeArrowheads="1"/>
          </p:cNvSpPr>
          <p:nvPr/>
        </p:nvSpPr>
        <p:spPr bwMode="auto">
          <a:xfrm>
            <a:off x="6419658" y="4931078"/>
            <a:ext cx="522720" cy="522775"/>
          </a:xfrm>
          <a:prstGeom prst="ellipse">
            <a:avLst/>
          </a:prstGeom>
          <a:solidFill>
            <a:srgbClr val="23FF2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3" name="Oval 25"/>
          <p:cNvSpPr>
            <a:spLocks noChangeArrowheads="1"/>
          </p:cNvSpPr>
          <p:nvPr/>
        </p:nvSpPr>
        <p:spPr bwMode="auto">
          <a:xfrm>
            <a:off x="7692618" y="414763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942377" y="4503353"/>
            <a:ext cx="783360" cy="596223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5" name="Oval 27"/>
          <p:cNvSpPr>
            <a:spLocks noChangeArrowheads="1"/>
          </p:cNvSpPr>
          <p:nvPr/>
        </p:nvSpPr>
        <p:spPr bwMode="auto">
          <a:xfrm>
            <a:off x="7692618" y="5649714"/>
            <a:ext cx="522720" cy="522774"/>
          </a:xfrm>
          <a:prstGeom prst="ellipse">
            <a:avLst/>
          </a:prstGeom>
          <a:solidFill>
            <a:srgbClr val="CCFFFF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6942378" y="5291116"/>
            <a:ext cx="750240" cy="522775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7143768" y="6357958"/>
            <a:ext cx="1632960" cy="31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9" tIns="40820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endParaRPr lang="it-IT" altLang="it-IT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6605BC29-31A4-4EF2-8E51-27D2726AFA67}"/>
              </a:ext>
            </a:extLst>
          </p:cNvPr>
          <p:cNvSpPr/>
          <p:nvPr/>
        </p:nvSpPr>
        <p:spPr>
          <a:xfrm>
            <a:off x="2843808" y="2204864"/>
            <a:ext cx="3600400" cy="400940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Correlation</a:t>
            </a:r>
            <a:r>
              <a:rPr lang="it-IT" sz="2400" b="1" dirty="0"/>
              <a:t> can </a:t>
            </a:r>
            <a:r>
              <a:rPr lang="it-IT" sz="2400" b="1" dirty="0" err="1"/>
              <a:t>arise</a:t>
            </a:r>
            <a:r>
              <a:rPr lang="it-IT" sz="2400" b="1" dirty="0"/>
              <a:t> from </a:t>
            </a:r>
            <a:r>
              <a:rPr lang="it-IT" sz="2400" b="1" dirty="0" err="1"/>
              <a:t>bidirectional</a:t>
            </a:r>
            <a:r>
              <a:rPr lang="it-IT" sz="2400" b="1" dirty="0"/>
              <a:t> and </a:t>
            </a:r>
            <a:r>
              <a:rPr lang="it-IT" sz="2400" b="1" dirty="0" err="1"/>
              <a:t>unidirectional</a:t>
            </a:r>
            <a:r>
              <a:rPr lang="it-IT" sz="2400" b="1" dirty="0"/>
              <a:t> links</a:t>
            </a:r>
          </a:p>
          <a:p>
            <a:pPr algn="ctr"/>
            <a:endParaRPr lang="it-IT" sz="2400" b="1" dirty="0"/>
          </a:p>
          <a:p>
            <a:pPr algn="ctr"/>
            <a:r>
              <a:rPr lang="it-IT" sz="2400" b="1" dirty="0" err="1"/>
              <a:t>Correlation</a:t>
            </a:r>
            <a:r>
              <a:rPr lang="it-IT" sz="2400" b="1" dirty="0"/>
              <a:t> can be </a:t>
            </a:r>
            <a:r>
              <a:rPr lang="it-IT" sz="2400" b="1" dirty="0" err="1"/>
              <a:t>direct</a:t>
            </a:r>
            <a:r>
              <a:rPr lang="it-IT" sz="2400" b="1" dirty="0"/>
              <a:t> or </a:t>
            </a:r>
            <a:r>
              <a:rPr lang="it-IT" sz="2400" b="1" dirty="0" err="1"/>
              <a:t>mediated</a:t>
            </a:r>
            <a:r>
              <a:rPr lang="it-IT" sz="2400" b="1" dirty="0"/>
              <a:t> 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9169800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105218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deal with these problems? 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/>
              <p:cNvSpPr txBox="1"/>
              <p:nvPr/>
            </p:nvSpPr>
            <p:spPr>
              <a:xfrm>
                <a:off x="98464" y="2924944"/>
                <a:ext cx="8947071" cy="3313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𝑐𝑜𝑟𝑟</m:t>
                      </m:r>
                      <m:d>
                        <m:dPr>
                          <m:ctrlPr>
                            <a:rPr lang="it-IT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48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it-IT" sz="4800" b="0" i="1" smtClean="0"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it-IT" sz="4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it-IT" sz="4800" dirty="0"/>
              </a:p>
            </p:txBody>
          </p:sp>
        </mc:Choice>
        <mc:Fallback xmlns="">
          <p:sp>
            <p:nvSpPr>
              <p:cNvPr id="2" name="CasellaDiTes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4" y="2924944"/>
                <a:ext cx="8947071" cy="3313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/>
          <p:cNvSpPr txBox="1"/>
          <p:nvPr/>
        </p:nvSpPr>
        <p:spPr>
          <a:xfrm>
            <a:off x="642909" y="936980"/>
            <a:ext cx="7858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First, turn the two variables into a “time series” and estimate the linear correlation.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 series do not need to track the evolution in time necessarily. It can be any series of states.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7758562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𝑐𝑜𝑟𝑟</m:t>
                      </m:r>
                      <m:d>
                        <m:dPr>
                          <m:ctrlPr>
                            <a:rPr lang="it-IT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48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it-IT" sz="4800" b="0" i="1" smtClean="0"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it-IT" sz="4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it-IT" sz="4800" dirty="0"/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Estimating the linear correlation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71601" y="4005063"/>
            <a:ext cx="3744416" cy="1008113"/>
          </a:xfrm>
          <a:prstGeom prst="rect">
            <a:avLst/>
          </a:prstGeom>
          <a:noFill/>
          <a:ln w="1080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 altLang="it-IT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419872" y="5641017"/>
            <a:ext cx="3671887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it-IT" altLang="it-IT" sz="2800" b="1" dirty="0">
                <a:solidFill>
                  <a:srgbClr val="FF0000"/>
                </a:solidFill>
              </a:rPr>
              <a:t>Standard </a:t>
            </a:r>
            <a:r>
              <a:rPr lang="it-IT" altLang="it-IT" sz="2800" b="1" dirty="0" err="1">
                <a:solidFill>
                  <a:srgbClr val="FF0000"/>
                </a:solidFill>
              </a:rPr>
              <a:t>deviations</a:t>
            </a:r>
            <a:endParaRPr lang="it-IT" altLang="it-IT" sz="2800" b="1" dirty="0">
              <a:solidFill>
                <a:srgbClr val="FF000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87625" y="2996952"/>
            <a:ext cx="6732414" cy="936104"/>
          </a:xfrm>
          <a:prstGeom prst="rect">
            <a:avLst/>
          </a:prstGeom>
          <a:noFill/>
          <a:ln w="108000" cap="sq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 altLang="it-IT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716017" y="4005063"/>
            <a:ext cx="3653283" cy="1008114"/>
          </a:xfrm>
          <a:prstGeom prst="rect">
            <a:avLst/>
          </a:prstGeom>
          <a:noFill/>
          <a:ln w="1080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 altLang="it-IT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732241" y="2276872"/>
            <a:ext cx="2232248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it-IT" altLang="it-IT" sz="2800" b="1" dirty="0" err="1">
                <a:solidFill>
                  <a:srgbClr val="0000FF"/>
                </a:solidFill>
              </a:rPr>
              <a:t>Covariance</a:t>
            </a:r>
            <a:endParaRPr lang="it-IT" altLang="it-IT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632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8891"/>
            <a:ext cx="9144000" cy="404021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F78293C-B6AE-492E-AD11-A59E3D01D4E8}"/>
              </a:ext>
            </a:extLst>
          </p:cNvPr>
          <p:cNvSpPr txBox="1"/>
          <p:nvPr/>
        </p:nvSpPr>
        <p:spPr>
          <a:xfrm>
            <a:off x="642910" y="5844375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series as a function of time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1321304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967"/>
            <a:ext cx="9144000" cy="419406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A99879-86BC-4433-8EB4-EA2CB1FAD0C8}"/>
              </a:ext>
            </a:extLst>
          </p:cNvPr>
          <p:cNvSpPr txBox="1"/>
          <p:nvPr/>
        </p:nvSpPr>
        <p:spPr>
          <a:xfrm>
            <a:off x="642910" y="5844375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Series 2 and 3 against Series 1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6739325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8891"/>
            <a:ext cx="9144000" cy="4040217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467544" y="5661248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of </a:t>
            </a:r>
            <a:r>
              <a:rPr lang="it-IT" dirty="0" err="1"/>
              <a:t>significance</a:t>
            </a:r>
            <a:r>
              <a:rPr lang="it-IT" dirty="0"/>
              <a:t> with </a:t>
            </a:r>
            <a:r>
              <a:rPr lang="it-IT" dirty="0" err="1"/>
              <a:t>null</a:t>
            </a:r>
            <a:r>
              <a:rPr lang="it-IT" dirty="0"/>
              <a:t> </a:t>
            </a:r>
            <a:r>
              <a:rPr lang="it-IT" dirty="0" err="1"/>
              <a:t>hypothesis</a:t>
            </a:r>
            <a:r>
              <a:rPr lang="it-IT" dirty="0"/>
              <a:t> of </a:t>
            </a:r>
            <a:r>
              <a:rPr lang="it-IT" dirty="0" err="1"/>
              <a:t>getting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correlation</a:t>
            </a:r>
            <a:r>
              <a:rPr lang="it-IT" dirty="0"/>
              <a:t> at </a:t>
            </a:r>
            <a:r>
              <a:rPr lang="it-IT" dirty="0" err="1"/>
              <a:t>random</a:t>
            </a:r>
            <a:endParaRPr lang="it-IT" dirty="0"/>
          </a:p>
          <a:p>
            <a:r>
              <a:rPr lang="it-IT" dirty="0"/>
              <a:t>WARNING:  DATA SET SIZE</a:t>
            </a:r>
          </a:p>
        </p:txBody>
      </p:sp>
    </p:spTree>
    <p:extLst>
      <p:ext uri="{BB962C8B-B14F-4D97-AF65-F5344CB8AC3E}">
        <p14:creationId xmlns:p14="http://schemas.microsoft.com/office/powerpoint/2010/main" val="1358415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8891"/>
            <a:ext cx="9144000" cy="4040217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467544" y="5661248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of </a:t>
            </a:r>
            <a:r>
              <a:rPr lang="it-IT" dirty="0" err="1"/>
              <a:t>significance</a:t>
            </a:r>
            <a:r>
              <a:rPr lang="it-IT" dirty="0"/>
              <a:t> with </a:t>
            </a:r>
            <a:r>
              <a:rPr lang="it-IT" dirty="0" err="1"/>
              <a:t>null</a:t>
            </a:r>
            <a:r>
              <a:rPr lang="it-IT" dirty="0"/>
              <a:t> </a:t>
            </a:r>
            <a:r>
              <a:rPr lang="it-IT" dirty="0" err="1"/>
              <a:t>hypothesis</a:t>
            </a:r>
            <a:r>
              <a:rPr lang="it-IT" dirty="0"/>
              <a:t> of </a:t>
            </a:r>
            <a:r>
              <a:rPr lang="it-IT" dirty="0" err="1"/>
              <a:t>getting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correlation</a:t>
            </a:r>
            <a:r>
              <a:rPr lang="it-IT" dirty="0"/>
              <a:t> at </a:t>
            </a:r>
            <a:r>
              <a:rPr lang="it-IT" dirty="0" err="1"/>
              <a:t>random</a:t>
            </a:r>
            <a:endParaRPr lang="it-IT" dirty="0"/>
          </a:p>
          <a:p>
            <a:r>
              <a:rPr lang="it-IT" dirty="0"/>
              <a:t>WARNING:  DATA SET SIZE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028CC899-3444-47CC-BE47-AE79D68397A2}"/>
              </a:ext>
            </a:extLst>
          </p:cNvPr>
          <p:cNvSpPr/>
          <p:nvPr/>
        </p:nvSpPr>
        <p:spPr>
          <a:xfrm>
            <a:off x="1259632" y="1675968"/>
            <a:ext cx="6866932" cy="443001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BOOTSTRAP TEST: </a:t>
            </a:r>
          </a:p>
          <a:p>
            <a:pPr algn="ctr"/>
            <a:r>
              <a:rPr lang="it-IT" sz="2400" dirty="0" err="1"/>
              <a:t>You</a:t>
            </a:r>
            <a:r>
              <a:rPr lang="it-IT" sz="2400" dirty="0"/>
              <a:t> do the </a:t>
            </a:r>
            <a:r>
              <a:rPr lang="it-IT" sz="2400" dirty="0" err="1"/>
              <a:t>analysis</a:t>
            </a:r>
            <a:r>
              <a:rPr lang="it-IT" sz="2400" dirty="0"/>
              <a:t> with </a:t>
            </a:r>
            <a:r>
              <a:rPr lang="it-IT" sz="2400" dirty="0" err="1"/>
              <a:t>original</a:t>
            </a:r>
            <a:r>
              <a:rPr lang="it-IT" sz="2400" dirty="0"/>
              <a:t> data and </a:t>
            </a:r>
            <a:r>
              <a:rPr lang="it-IT" sz="2400" dirty="0" err="1"/>
              <a:t>you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</a:t>
            </a:r>
            <a:r>
              <a:rPr lang="it-IT" sz="2400" dirty="0" err="1"/>
              <a:t>your</a:t>
            </a:r>
            <a:r>
              <a:rPr lang="it-IT" sz="2400" dirty="0"/>
              <a:t> </a:t>
            </a:r>
            <a:r>
              <a:rPr lang="it-IT" sz="2400" dirty="0" err="1"/>
              <a:t>result</a:t>
            </a:r>
            <a:r>
              <a:rPr lang="it-IT" sz="2400" dirty="0"/>
              <a:t>. </a:t>
            </a:r>
            <a:r>
              <a:rPr lang="it-IT" sz="2400" dirty="0" err="1"/>
              <a:t>You</a:t>
            </a:r>
            <a:r>
              <a:rPr lang="it-IT" sz="2400" dirty="0"/>
              <a:t> permute </a:t>
            </a:r>
            <a:r>
              <a:rPr lang="it-IT" sz="2400" dirty="0" err="1"/>
              <a:t>at</a:t>
            </a:r>
            <a:r>
              <a:rPr lang="it-IT" sz="2400" dirty="0"/>
              <a:t> random the data </a:t>
            </a:r>
            <a:r>
              <a:rPr lang="it-IT" sz="2400" u="sng" dirty="0" err="1"/>
              <a:t>along</a:t>
            </a:r>
            <a:r>
              <a:rPr lang="it-IT" sz="2400" u="sng" dirty="0"/>
              <a:t> the </a:t>
            </a:r>
            <a:r>
              <a:rPr lang="it-IT" sz="2400" u="sng" dirty="0" err="1"/>
              <a:t>variable</a:t>
            </a:r>
            <a:r>
              <a:rPr lang="it-IT" sz="2400" u="sng" dirty="0"/>
              <a:t> </a:t>
            </a:r>
            <a:r>
              <a:rPr lang="it-IT" sz="2400" u="sng" dirty="0" err="1"/>
              <a:t>you</a:t>
            </a:r>
            <a:r>
              <a:rPr lang="it-IT" sz="2400" u="sng" dirty="0"/>
              <a:t> </a:t>
            </a:r>
            <a:r>
              <a:rPr lang="it-IT" sz="2400" u="sng" dirty="0" err="1"/>
              <a:t>want</a:t>
            </a:r>
            <a:r>
              <a:rPr lang="it-IT" sz="2400" u="sng" dirty="0"/>
              <a:t> to test</a:t>
            </a:r>
            <a:r>
              <a:rPr lang="it-IT" sz="2400" dirty="0"/>
              <a:t>. </a:t>
            </a:r>
            <a:r>
              <a:rPr lang="it-IT" sz="2400" dirty="0" err="1"/>
              <a:t>You</a:t>
            </a:r>
            <a:r>
              <a:rPr lang="it-IT" sz="2400" dirty="0"/>
              <a:t> do </a:t>
            </a:r>
            <a:r>
              <a:rPr lang="it-IT" sz="2400" dirty="0" err="1"/>
              <a:t>it</a:t>
            </a:r>
            <a:r>
              <a:rPr lang="it-IT" sz="2400" dirty="0"/>
              <a:t> n*20 times. </a:t>
            </a:r>
            <a:r>
              <a:rPr lang="it-IT" sz="2400" dirty="0" err="1"/>
              <a:t>Is</a:t>
            </a:r>
            <a:r>
              <a:rPr lang="it-IT" sz="2400" dirty="0"/>
              <a:t> the n-</a:t>
            </a:r>
            <a:r>
              <a:rPr lang="it-IT" sz="2400" dirty="0" err="1"/>
              <a:t>th</a:t>
            </a:r>
            <a:r>
              <a:rPr lang="it-IT" sz="2400" dirty="0"/>
              <a:t> </a:t>
            </a:r>
            <a:r>
              <a:rPr lang="it-IT" sz="2400" dirty="0" err="1"/>
              <a:t>highest</a:t>
            </a:r>
            <a:r>
              <a:rPr lang="it-IT" sz="2400" dirty="0"/>
              <a:t> </a:t>
            </a:r>
            <a:r>
              <a:rPr lang="it-IT" sz="2400" dirty="0" err="1"/>
              <a:t>value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high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your</a:t>
            </a:r>
            <a:r>
              <a:rPr lang="it-IT" sz="2400" dirty="0"/>
              <a:t> </a:t>
            </a:r>
            <a:r>
              <a:rPr lang="it-IT" sz="2400" dirty="0" err="1"/>
              <a:t>original</a:t>
            </a:r>
            <a:r>
              <a:rPr lang="it-IT" sz="2400" dirty="0"/>
              <a:t> </a:t>
            </a:r>
            <a:r>
              <a:rPr lang="it-IT" sz="2400" dirty="0" err="1"/>
              <a:t>result</a:t>
            </a:r>
            <a:r>
              <a:rPr lang="it-IT" sz="2400" dirty="0"/>
              <a:t>? </a:t>
            </a:r>
            <a:r>
              <a:rPr lang="it-IT" sz="2400" dirty="0" err="1"/>
              <a:t>Is</a:t>
            </a:r>
            <a:r>
              <a:rPr lang="it-IT" sz="2400" dirty="0"/>
              <a:t> p&gt;0.05?</a:t>
            </a:r>
          </a:p>
        </p:txBody>
      </p:sp>
    </p:spTree>
    <p:extLst>
      <p:ext uri="{BB962C8B-B14F-4D97-AF65-F5344CB8AC3E}">
        <p14:creationId xmlns:p14="http://schemas.microsoft.com/office/powerpoint/2010/main" val="481477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 and significance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714348" y="1071546"/>
            <a:ext cx="7994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Test of </a:t>
            </a:r>
            <a:r>
              <a:rPr lang="it-IT" sz="2400" dirty="0" err="1"/>
              <a:t>significance</a:t>
            </a:r>
            <a:r>
              <a:rPr lang="it-IT" sz="2400" dirty="0"/>
              <a:t> with </a:t>
            </a:r>
            <a:r>
              <a:rPr lang="it-IT" sz="2400" dirty="0" err="1"/>
              <a:t>null</a:t>
            </a:r>
            <a:r>
              <a:rPr lang="it-IT" sz="2400" dirty="0"/>
              <a:t> </a:t>
            </a:r>
            <a:r>
              <a:rPr lang="it-IT" sz="2400" dirty="0" err="1"/>
              <a:t>hypothesis</a:t>
            </a:r>
            <a:r>
              <a:rPr lang="it-IT" sz="2400" dirty="0"/>
              <a:t> of </a:t>
            </a:r>
            <a:r>
              <a:rPr lang="it-IT" sz="2400" dirty="0" err="1"/>
              <a:t>getting</a:t>
            </a:r>
            <a:r>
              <a:rPr lang="it-IT" sz="2400" dirty="0"/>
              <a:t> the </a:t>
            </a:r>
            <a:r>
              <a:rPr lang="it-IT" sz="2400" dirty="0" err="1"/>
              <a:t>same</a:t>
            </a:r>
            <a:r>
              <a:rPr lang="it-IT" sz="2400" dirty="0"/>
              <a:t> </a:t>
            </a:r>
            <a:r>
              <a:rPr lang="it-IT" sz="2400" dirty="0" err="1"/>
              <a:t>correlation</a:t>
            </a:r>
            <a:r>
              <a:rPr lang="it-IT" sz="2400" dirty="0"/>
              <a:t> </a:t>
            </a:r>
            <a:r>
              <a:rPr lang="it-IT" sz="2400" dirty="0" err="1"/>
              <a:t>by</a:t>
            </a:r>
            <a:r>
              <a:rPr lang="it-IT" sz="2400" dirty="0"/>
              <a:t> chance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8802"/>
            <a:ext cx="9144000" cy="3998686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428596" y="5715016"/>
            <a:ext cx="430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p&lt;0.0000000001 &amp; CC=0.902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715008" y="5715016"/>
            <a:ext cx="3314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p=0.69 &amp; CC=-.075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2928926" y="6354569"/>
            <a:ext cx="3643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WARNING:  DATA SET SIZE </a:t>
            </a:r>
            <a:r>
              <a:rPr lang="it-IT" dirty="0" err="1"/>
              <a:t>issue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7305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 and data set size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28596" y="785794"/>
            <a:ext cx="407196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a </a:t>
            </a:r>
            <a:r>
              <a:rPr lang="it-IT" sz="2400" dirty="0" err="1"/>
              <a:t>large</a:t>
            </a:r>
            <a:r>
              <a:rPr lang="it-IT" sz="2400" dirty="0"/>
              <a:t> cc.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informative </a:t>
            </a:r>
            <a:r>
              <a:rPr lang="it-IT" sz="2400" dirty="0" err="1"/>
              <a:t>if</a:t>
            </a:r>
            <a:r>
              <a:rPr lang="it-IT" sz="2400" dirty="0"/>
              <a:t> p&gt;0.05 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4857752" y="799911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large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p&lt;0.05.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part </a:t>
            </a:r>
            <a:r>
              <a:rPr lang="it-IT" sz="2400" dirty="0" err="1"/>
              <a:t>of</a:t>
            </a:r>
            <a:r>
              <a:rPr lang="it-IT" sz="2400" dirty="0"/>
              <a:t> the story </a:t>
            </a:r>
            <a:r>
              <a:rPr lang="it-IT" sz="2400" dirty="0" err="1"/>
              <a:t>if</a:t>
            </a:r>
            <a:r>
              <a:rPr lang="it-IT" sz="2400" dirty="0"/>
              <a:t> cc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</a:p>
        </p:txBody>
      </p:sp>
      <p:pic>
        <p:nvPicPr>
          <p:cNvPr id="10" name="Immagine 9" descr="esempi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3085"/>
            <a:ext cx="4500562" cy="3321270"/>
          </a:xfrm>
          <a:prstGeom prst="rect">
            <a:avLst/>
          </a:prstGeom>
        </p:spPr>
      </p:pic>
      <p:pic>
        <p:nvPicPr>
          <p:cNvPr id="11" name="Immagine 10" descr="esempi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7" y="2487248"/>
            <a:ext cx="4391554" cy="324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793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 and data set size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28596" y="785794"/>
            <a:ext cx="407196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a </a:t>
            </a:r>
            <a:r>
              <a:rPr lang="it-IT" sz="2400" dirty="0" err="1"/>
              <a:t>large</a:t>
            </a:r>
            <a:r>
              <a:rPr lang="it-IT" sz="2400" dirty="0"/>
              <a:t> cc.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informative </a:t>
            </a:r>
            <a:r>
              <a:rPr lang="it-IT" sz="2400" dirty="0" err="1"/>
              <a:t>if</a:t>
            </a:r>
            <a:r>
              <a:rPr lang="it-IT" sz="2400" dirty="0"/>
              <a:t> p&gt;0.05 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4857752" y="799911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large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p&lt;0.05.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part </a:t>
            </a:r>
            <a:r>
              <a:rPr lang="it-IT" sz="2400" dirty="0" err="1"/>
              <a:t>of</a:t>
            </a:r>
            <a:r>
              <a:rPr lang="it-IT" sz="2400" dirty="0"/>
              <a:t> the story </a:t>
            </a:r>
            <a:r>
              <a:rPr lang="it-IT" sz="2400" dirty="0" err="1"/>
              <a:t>if</a:t>
            </a:r>
            <a:r>
              <a:rPr lang="it-IT" sz="2400" dirty="0"/>
              <a:t> cc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</a:p>
        </p:txBody>
      </p:sp>
      <p:pic>
        <p:nvPicPr>
          <p:cNvPr id="10" name="Immagine 9" descr="esempi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3085"/>
            <a:ext cx="4500562" cy="3321270"/>
          </a:xfrm>
          <a:prstGeom prst="rect">
            <a:avLst/>
          </a:prstGeom>
        </p:spPr>
      </p:pic>
      <p:pic>
        <p:nvPicPr>
          <p:cNvPr id="11" name="Immagine 10" descr="esempi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7" y="2487248"/>
            <a:ext cx="4391554" cy="3240825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86F9101F-9E1C-4119-AA0A-4E7F98EC6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966" y="4221088"/>
            <a:ext cx="6071900" cy="2416019"/>
          </a:xfrm>
          <a:prstGeom prst="rect">
            <a:avLst/>
          </a:prstGeom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BA3089CE-AC80-408C-A984-65A6AF76127E}"/>
              </a:ext>
            </a:extLst>
          </p:cNvPr>
          <p:cNvSpPr/>
          <p:nvPr/>
        </p:nvSpPr>
        <p:spPr>
          <a:xfrm>
            <a:off x="1690011" y="5733256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12968216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 and data set size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28596" y="785794"/>
            <a:ext cx="407196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a </a:t>
            </a:r>
            <a:r>
              <a:rPr lang="it-IT" sz="2400" dirty="0" err="1"/>
              <a:t>large</a:t>
            </a:r>
            <a:r>
              <a:rPr lang="it-IT" sz="2400" dirty="0"/>
              <a:t> cc.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informative </a:t>
            </a:r>
            <a:r>
              <a:rPr lang="it-IT" sz="2400" dirty="0" err="1"/>
              <a:t>if</a:t>
            </a:r>
            <a:r>
              <a:rPr lang="it-IT" sz="2400" dirty="0"/>
              <a:t> p&gt;0.05 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4857752" y="799911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large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p&lt;0.05.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part </a:t>
            </a:r>
            <a:r>
              <a:rPr lang="it-IT" sz="2400" dirty="0" err="1"/>
              <a:t>of</a:t>
            </a:r>
            <a:r>
              <a:rPr lang="it-IT" sz="2400" dirty="0"/>
              <a:t> the story </a:t>
            </a:r>
            <a:r>
              <a:rPr lang="it-IT" sz="2400" dirty="0" err="1"/>
              <a:t>if</a:t>
            </a:r>
            <a:r>
              <a:rPr lang="it-IT" sz="2400" dirty="0"/>
              <a:t> cc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</a:p>
        </p:txBody>
      </p:sp>
      <p:pic>
        <p:nvPicPr>
          <p:cNvPr id="10" name="Immagine 9" descr="esempi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3085"/>
            <a:ext cx="4500562" cy="3321270"/>
          </a:xfrm>
          <a:prstGeom prst="rect">
            <a:avLst/>
          </a:prstGeom>
        </p:spPr>
      </p:pic>
      <p:pic>
        <p:nvPicPr>
          <p:cNvPr id="11" name="Immagine 10" descr="esempi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7" y="2487248"/>
            <a:ext cx="4391554" cy="3240825"/>
          </a:xfrm>
          <a:prstGeom prst="rect">
            <a:avLst/>
          </a:prstGeom>
        </p:spPr>
      </p:pic>
      <p:sp>
        <p:nvSpPr>
          <p:cNvPr id="7" name="Simbolo &quot;divieto&quot; 6"/>
          <p:cNvSpPr/>
          <p:nvPr/>
        </p:nvSpPr>
        <p:spPr>
          <a:xfrm>
            <a:off x="7429520" y="2357430"/>
            <a:ext cx="357190" cy="428628"/>
          </a:xfrm>
          <a:prstGeom prst="noSmoking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7786710" y="2406843"/>
            <a:ext cx="1214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p &lt;&lt;0.001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428596" y="6027027"/>
            <a:ext cx="8501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Note: cc</a:t>
            </a:r>
            <a:r>
              <a:rPr lang="it-IT" sz="2400" baseline="30000" dirty="0"/>
              <a:t>2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the FRACTION OF VARIANCE </a:t>
            </a:r>
            <a:r>
              <a:rPr lang="it-IT" sz="2400" dirty="0" err="1"/>
              <a:t>of</a:t>
            </a:r>
            <a:r>
              <a:rPr lang="it-IT" sz="2400" dirty="0"/>
              <a:t> R </a:t>
            </a:r>
            <a:r>
              <a:rPr lang="it-IT" sz="2400" dirty="0" err="1"/>
              <a:t>explained</a:t>
            </a:r>
            <a:r>
              <a:rPr lang="it-IT" sz="2400" dirty="0"/>
              <a:t> </a:t>
            </a:r>
            <a:r>
              <a:rPr lang="it-IT" sz="2400" dirty="0" err="1"/>
              <a:t>by</a:t>
            </a:r>
            <a:r>
              <a:rPr lang="it-IT" sz="2400" dirty="0"/>
              <a:t> S, </a:t>
            </a:r>
            <a:r>
              <a:rPr lang="it-IT" sz="2400" dirty="0" err="1"/>
              <a:t>also</a:t>
            </a:r>
            <a:r>
              <a:rPr lang="it-IT" sz="2400" dirty="0"/>
              <a:t> </a:t>
            </a:r>
            <a:r>
              <a:rPr lang="it-IT" sz="2400" dirty="0" err="1"/>
              <a:t>known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“</a:t>
            </a:r>
            <a:r>
              <a:rPr lang="it-IT" sz="2400" dirty="0" err="1"/>
              <a:t>coefficient</a:t>
            </a:r>
            <a:r>
              <a:rPr lang="it-IT" sz="2400" dirty="0"/>
              <a:t> </a:t>
            </a:r>
            <a:r>
              <a:rPr lang="it-IT" sz="2400" dirty="0" err="1"/>
              <a:t>of</a:t>
            </a:r>
            <a:r>
              <a:rPr lang="it-IT" sz="2400" dirty="0"/>
              <a:t> </a:t>
            </a:r>
            <a:r>
              <a:rPr lang="it-IT" sz="2400" dirty="0" err="1"/>
              <a:t>determination</a:t>
            </a:r>
            <a:r>
              <a:rPr lang="it-IT" sz="2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13548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Cross-correlation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𝑐𝑟𝑜𝑠𝑠𝑐𝑜𝑟𝑟</m:t>
                      </m:r>
                      <m:d>
                        <m:dPr>
                          <m:ctrlPr>
                            <a:rPr lang="it-IT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48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it-IT" sz="4800" b="0" i="1" smtClean="0"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</m:d>
                                  <m:r>
                                    <a:rPr lang="it-IT" sz="48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it-IT" sz="4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it-IT" sz="4800" dirty="0"/>
              </a:p>
            </p:txBody>
          </p:sp>
        </mc:Choice>
        <mc:Fallback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/>
          <p:cNvSpPr txBox="1"/>
          <p:nvPr/>
        </p:nvSpPr>
        <p:spPr>
          <a:xfrm>
            <a:off x="785786" y="5214950"/>
            <a:ext cx="7358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To be </a:t>
            </a:r>
            <a:r>
              <a:rPr lang="it-IT" sz="2800" dirty="0" err="1"/>
              <a:t>used</a:t>
            </a:r>
            <a:r>
              <a:rPr lang="it-IT" sz="2800" dirty="0"/>
              <a:t> </a:t>
            </a:r>
            <a:r>
              <a:rPr lang="it-IT" sz="2800" dirty="0" err="1"/>
              <a:t>when</a:t>
            </a:r>
            <a:r>
              <a:rPr lang="it-IT" sz="2800" dirty="0"/>
              <a:t> </a:t>
            </a:r>
            <a:r>
              <a:rPr lang="it-IT" sz="2800" i="1" dirty="0"/>
              <a:t>t</a:t>
            </a:r>
            <a:r>
              <a:rPr lang="it-IT" sz="2800" dirty="0"/>
              <a:t> </a:t>
            </a:r>
            <a:r>
              <a:rPr lang="it-IT" sz="2800" dirty="0" err="1"/>
              <a:t>does</a:t>
            </a:r>
            <a:r>
              <a:rPr lang="it-IT" sz="2800" dirty="0"/>
              <a:t> </a:t>
            </a:r>
            <a:r>
              <a:rPr lang="it-IT" sz="2800" dirty="0" err="1"/>
              <a:t>really</a:t>
            </a:r>
            <a:r>
              <a:rPr lang="it-IT" sz="2800" dirty="0"/>
              <a:t> </a:t>
            </a:r>
            <a:r>
              <a:rPr lang="it-IT" sz="2800" dirty="0" err="1"/>
              <a:t>represent</a:t>
            </a:r>
            <a:r>
              <a:rPr lang="it-IT" sz="2800" dirty="0"/>
              <a:t> </a:t>
            </a:r>
            <a:r>
              <a:rPr lang="it-IT" sz="2800" dirty="0" err="1"/>
              <a:t>time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1396762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Autocorrelation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𝑎𝑢𝑡𝑜𝑐𝑜𝑟𝑟</m:t>
                      </m:r>
                      <m:d>
                        <m:dPr>
                          <m:ctrlPr>
                            <a:rPr lang="it-IT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48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it-IT" sz="4800" b="0" i="1" smtClean="0"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</m:d>
                                  <m:r>
                                    <a:rPr lang="it-IT" sz="48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it-IT" sz="4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it-IT" sz="4800" dirty="0"/>
              </a:p>
            </p:txBody>
          </p:sp>
        </mc:Choice>
        <mc:Fallback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/>
          <p:cNvSpPr txBox="1"/>
          <p:nvPr/>
        </p:nvSpPr>
        <p:spPr>
          <a:xfrm>
            <a:off x="785786" y="5214950"/>
            <a:ext cx="7358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To</a:t>
            </a:r>
            <a:r>
              <a:rPr lang="it-IT" sz="2800" dirty="0"/>
              <a:t> </a:t>
            </a:r>
            <a:r>
              <a:rPr lang="it-IT" sz="2800" dirty="0" err="1"/>
              <a:t>be</a:t>
            </a:r>
            <a:r>
              <a:rPr lang="it-IT" sz="2800" dirty="0"/>
              <a:t> </a:t>
            </a:r>
            <a:r>
              <a:rPr lang="it-IT" sz="2800" dirty="0" err="1"/>
              <a:t>used</a:t>
            </a:r>
            <a:r>
              <a:rPr lang="it-IT" sz="2800" dirty="0"/>
              <a:t> </a:t>
            </a:r>
            <a:r>
              <a:rPr lang="it-IT" sz="2800" dirty="0" err="1"/>
              <a:t>when</a:t>
            </a:r>
            <a:r>
              <a:rPr lang="it-IT" sz="2800" dirty="0"/>
              <a:t> </a:t>
            </a:r>
            <a:r>
              <a:rPr lang="it-IT" sz="2800" i="1" dirty="0"/>
              <a:t>t</a:t>
            </a:r>
            <a:r>
              <a:rPr lang="it-IT" sz="2800" dirty="0"/>
              <a:t> </a:t>
            </a:r>
            <a:r>
              <a:rPr lang="it-IT" sz="2800" dirty="0" err="1"/>
              <a:t>does</a:t>
            </a:r>
            <a:r>
              <a:rPr lang="it-IT" sz="2800" dirty="0"/>
              <a:t> </a:t>
            </a:r>
            <a:r>
              <a:rPr lang="it-IT" sz="2800" dirty="0" err="1"/>
              <a:t>really</a:t>
            </a:r>
            <a:r>
              <a:rPr lang="it-IT" sz="2800" dirty="0"/>
              <a:t> </a:t>
            </a:r>
            <a:r>
              <a:rPr lang="it-IT" sz="2800" dirty="0" err="1"/>
              <a:t>represent</a:t>
            </a:r>
            <a:r>
              <a:rPr lang="it-IT" sz="2800" dirty="0"/>
              <a:t> </a:t>
            </a:r>
            <a:r>
              <a:rPr lang="it-IT" sz="2800" dirty="0" err="1"/>
              <a:t>time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40856493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and cross correlation meaning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266700" y="6207695"/>
            <a:ext cx="430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Autocorrelation</a:t>
            </a:r>
            <a:endParaRPr lang="it-IT" sz="24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4724400" y="6181264"/>
            <a:ext cx="430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Cross-</a:t>
            </a:r>
            <a:r>
              <a:rPr lang="it-IT" sz="2400" dirty="0" err="1"/>
              <a:t>correlation</a:t>
            </a:r>
            <a:endParaRPr lang="it-IT" sz="2400" dirty="0"/>
          </a:p>
        </p:txBody>
      </p:sp>
      <p:pic>
        <p:nvPicPr>
          <p:cNvPr id="39938" name="Picture 2" descr="http://static.rogerebert.com/uploads/movie/movie_poster/the-past-2013/large_wIFtsNAvrUh6b9JtHzj17KDA6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13" y="752013"/>
            <a:ext cx="3657600" cy="542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2" name="Picture 6" descr="http://upload.wikimedia.org/wikipedia/en/a/a9/Babel_poster3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621" y="752012"/>
            <a:ext cx="3600864" cy="534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4850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AutoShape 9" descr="cid:image001.jpg@01C809A0.2A44ABE0"/>
          <p:cNvSpPr>
            <a:spLocks noChangeAspect="1" noChangeArrowheads="1"/>
          </p:cNvSpPr>
          <p:nvPr/>
        </p:nvSpPr>
        <p:spPr bwMode="auto">
          <a:xfrm>
            <a:off x="168275" y="-419100"/>
            <a:ext cx="6334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  <p:pic>
        <p:nvPicPr>
          <p:cNvPr id="169986" name="Picture 2" descr="C:\Users\alberto\AppData\Local\Temp\chart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357298"/>
            <a:ext cx="6786610" cy="2675490"/>
          </a:xfrm>
          <a:prstGeom prst="rect">
            <a:avLst/>
          </a:prstGeom>
          <a:noFill/>
        </p:spPr>
      </p:pic>
      <p:pic>
        <p:nvPicPr>
          <p:cNvPr id="169987" name="Picture 3" descr="C:\Users\alberto\AppData\Local\Temp\chart-1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4238860"/>
            <a:ext cx="6643734" cy="2619164"/>
          </a:xfrm>
          <a:prstGeom prst="rect">
            <a:avLst/>
          </a:prstGeom>
          <a:noFill/>
        </p:spPr>
      </p:pic>
      <p:sp>
        <p:nvSpPr>
          <p:cNvPr id="7" name="Rectangle 17"/>
          <p:cNvSpPr txBox="1">
            <a:spLocks noChangeArrowheads="1"/>
          </p:cNvSpPr>
          <p:nvPr/>
        </p:nvSpPr>
        <p:spPr>
          <a:xfrm>
            <a:off x="342900" y="0"/>
            <a:ext cx="8458200" cy="7520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Spurious correlations</a:t>
            </a: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7643834" y="114298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R=0.95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7643834" y="457200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R=0.87</a:t>
            </a:r>
          </a:p>
        </p:txBody>
      </p:sp>
    </p:spTree>
    <p:extLst>
      <p:ext uri="{BB962C8B-B14F-4D97-AF65-F5344CB8AC3E}">
        <p14:creationId xmlns:p14="http://schemas.microsoft.com/office/powerpoint/2010/main" val="865584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AutoShape 9" descr="cid:image001.jpg@01C809A0.2A44ABE0"/>
          <p:cNvSpPr>
            <a:spLocks noChangeAspect="1" noChangeArrowheads="1"/>
          </p:cNvSpPr>
          <p:nvPr/>
        </p:nvSpPr>
        <p:spPr bwMode="auto">
          <a:xfrm>
            <a:off x="168275" y="-419100"/>
            <a:ext cx="6334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  <p:pic>
        <p:nvPicPr>
          <p:cNvPr id="169986" name="Picture 2" descr="C:\Users\alberto\AppData\Local\Temp\chart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357298"/>
            <a:ext cx="6786610" cy="2675490"/>
          </a:xfrm>
          <a:prstGeom prst="rect">
            <a:avLst/>
          </a:prstGeom>
          <a:noFill/>
        </p:spPr>
      </p:pic>
      <p:pic>
        <p:nvPicPr>
          <p:cNvPr id="169987" name="Picture 3" descr="C:\Users\alberto\AppData\Local\Temp\chart-1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4238860"/>
            <a:ext cx="6643734" cy="2619164"/>
          </a:xfrm>
          <a:prstGeom prst="rect">
            <a:avLst/>
          </a:prstGeom>
          <a:noFill/>
        </p:spPr>
      </p:pic>
      <p:sp>
        <p:nvSpPr>
          <p:cNvPr id="7" name="Rectangle 17"/>
          <p:cNvSpPr txBox="1">
            <a:spLocks noChangeArrowheads="1"/>
          </p:cNvSpPr>
          <p:nvPr/>
        </p:nvSpPr>
        <p:spPr>
          <a:xfrm>
            <a:off x="342900" y="0"/>
            <a:ext cx="8458200" cy="7520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Spurious correlations</a:t>
            </a: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7643834" y="114298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R=0.95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7643834" y="457200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R=0.87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6E59598F-7503-41A0-8B64-23F1DC3CE1A3}"/>
              </a:ext>
            </a:extLst>
          </p:cNvPr>
          <p:cNvSpPr/>
          <p:nvPr/>
        </p:nvSpPr>
        <p:spPr>
          <a:xfrm>
            <a:off x="251520" y="4032788"/>
            <a:ext cx="8280920" cy="2460961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Meaning</a:t>
            </a:r>
            <a:r>
              <a:rPr lang="it-IT" sz="2400" b="1" dirty="0"/>
              <a:t>: </a:t>
            </a:r>
          </a:p>
          <a:p>
            <a:pPr algn="ctr"/>
            <a:r>
              <a:rPr lang="it-IT" sz="2400" dirty="0"/>
              <a:t>First </a:t>
            </a:r>
            <a:r>
              <a:rPr lang="it-IT" sz="2400" dirty="0" err="1"/>
              <a:t>you</a:t>
            </a:r>
            <a:r>
              <a:rPr lang="it-IT" sz="2400" dirty="0"/>
              <a:t> </a:t>
            </a:r>
            <a:r>
              <a:rPr lang="it-IT" sz="2400" dirty="0" err="1"/>
              <a:t>write</a:t>
            </a:r>
            <a:r>
              <a:rPr lang="it-IT" sz="2400" dirty="0"/>
              <a:t> down </a:t>
            </a:r>
            <a:r>
              <a:rPr lang="it-IT" sz="2400" dirty="0" err="1"/>
              <a:t>your</a:t>
            </a:r>
            <a:r>
              <a:rPr lang="it-IT" sz="2400" dirty="0"/>
              <a:t> </a:t>
            </a:r>
            <a:r>
              <a:rPr lang="it-IT" sz="2400" dirty="0" err="1"/>
              <a:t>hypothesis</a:t>
            </a:r>
            <a:r>
              <a:rPr lang="it-IT" sz="2400" dirty="0"/>
              <a:t>, </a:t>
            </a:r>
            <a:r>
              <a:rPr lang="it-IT" sz="2400" dirty="0" err="1"/>
              <a:t>then</a:t>
            </a:r>
            <a:r>
              <a:rPr lang="it-IT" sz="2400" dirty="0"/>
              <a:t> </a:t>
            </a:r>
            <a:r>
              <a:rPr lang="it-IT" sz="2400" dirty="0" err="1"/>
              <a:t>you</a:t>
            </a:r>
            <a:r>
              <a:rPr lang="it-IT" sz="2400" dirty="0"/>
              <a:t> compute the </a:t>
            </a:r>
            <a:r>
              <a:rPr lang="it-IT" sz="2400" dirty="0" err="1"/>
              <a:t>correlation</a:t>
            </a:r>
            <a:r>
              <a:rPr lang="it-IT" sz="2400" dirty="0"/>
              <a:t>. </a:t>
            </a:r>
            <a:r>
              <a:rPr lang="it-IT" sz="2400" dirty="0" err="1"/>
              <a:t>Otherwise</a:t>
            </a:r>
            <a:r>
              <a:rPr lang="it-IT" sz="2400" dirty="0"/>
              <a:t> </a:t>
            </a:r>
            <a:r>
              <a:rPr lang="it-IT" sz="2400" dirty="0" err="1"/>
              <a:t>you</a:t>
            </a:r>
            <a:r>
              <a:rPr lang="it-IT" sz="2400" dirty="0"/>
              <a:t> </a:t>
            </a:r>
            <a:r>
              <a:rPr lang="it-IT" sz="2400" dirty="0" err="1"/>
              <a:t>drown</a:t>
            </a:r>
            <a:r>
              <a:rPr lang="it-IT" sz="2400" dirty="0"/>
              <a:t> in </a:t>
            </a:r>
            <a:r>
              <a:rPr lang="it-IT" sz="2400" u="sng" dirty="0"/>
              <a:t>multiple </a:t>
            </a:r>
            <a:r>
              <a:rPr lang="it-IT" sz="2400" u="sng" dirty="0" err="1"/>
              <a:t>comparisons</a:t>
            </a:r>
            <a:r>
              <a:rPr lang="it-IT" sz="2400" dirty="0"/>
              <a:t>. Check for multiple </a:t>
            </a:r>
            <a:r>
              <a:rPr lang="it-IT" sz="2400" dirty="0" err="1"/>
              <a:t>corrections</a:t>
            </a:r>
            <a:r>
              <a:rPr lang="it-IT" sz="2400" dirty="0"/>
              <a:t> (Bonferroni, </a:t>
            </a:r>
            <a:r>
              <a:rPr lang="it-IT" sz="2400" dirty="0" err="1"/>
              <a:t>Tuckey</a:t>
            </a:r>
            <a:r>
              <a:rPr lang="it-IT" sz="2400" dirty="0"/>
              <a:t> </a:t>
            </a:r>
            <a:r>
              <a:rPr lang="it-IT" sz="2400" dirty="0" err="1"/>
              <a:t>etc</a:t>
            </a:r>
            <a:r>
              <a:rPr lang="it-IT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85289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AutoShape 9" descr="cid:image001.jpg@01C809A0.2A44ABE0"/>
          <p:cNvSpPr>
            <a:spLocks noChangeAspect="1" noChangeArrowheads="1"/>
          </p:cNvSpPr>
          <p:nvPr/>
        </p:nvSpPr>
        <p:spPr bwMode="auto">
          <a:xfrm>
            <a:off x="168275" y="-419100"/>
            <a:ext cx="6334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17"/>
          <p:cNvSpPr txBox="1">
            <a:spLocks noChangeArrowheads="1"/>
          </p:cNvSpPr>
          <p:nvPr/>
        </p:nvSpPr>
        <p:spPr>
          <a:xfrm>
            <a:off x="342900" y="0"/>
            <a:ext cx="8458200" cy="7520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Spurious correlations</a:t>
            </a: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71010" name="Picture 2" descr="Correl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82" y="2000240"/>
            <a:ext cx="9039412" cy="3643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50789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-1"/>
            <a:ext cx="8458200" cy="1143001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the whole story?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9657"/>
            <a:ext cx="9144000" cy="3998686"/>
          </a:xfrm>
          <a:prstGeom prst="rect">
            <a:avLst/>
          </a:prstGeom>
        </p:spPr>
      </p:pic>
      <p:sp>
        <p:nvSpPr>
          <p:cNvPr id="10" name="CasellaDiTesto 9"/>
          <p:cNvSpPr txBox="1"/>
          <p:nvPr/>
        </p:nvSpPr>
        <p:spPr>
          <a:xfrm>
            <a:off x="266700" y="5410200"/>
            <a:ext cx="4305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p&lt;0.0000000001 &amp; R=0.902</a:t>
            </a:r>
          </a:p>
          <a:p>
            <a:r>
              <a:rPr lang="it-IT" sz="2400" dirty="0" err="1"/>
              <a:t>means</a:t>
            </a:r>
            <a:r>
              <a:rPr lang="it-IT" sz="2400" dirty="0"/>
              <a:t> </a:t>
            </a:r>
            <a:r>
              <a:rPr lang="it-IT" sz="2400" dirty="0" err="1"/>
              <a:t>related</a:t>
            </a:r>
            <a:r>
              <a:rPr lang="it-IT" sz="2400" dirty="0"/>
              <a:t>..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4724400" y="5410200"/>
            <a:ext cx="4305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…but</a:t>
            </a:r>
            <a:r>
              <a:rPr lang="it-IT" sz="2400" dirty="0"/>
              <a:t> </a:t>
            </a:r>
            <a:r>
              <a:rPr lang="it-IT" sz="2400" dirty="0" err="1"/>
              <a:t>does</a:t>
            </a:r>
            <a:r>
              <a:rPr lang="it-IT" sz="2400" dirty="0"/>
              <a:t> p&lt;=0.69 &amp; R=-.075</a:t>
            </a:r>
          </a:p>
          <a:p>
            <a:r>
              <a:rPr lang="it-IT" sz="2400" dirty="0" err="1"/>
              <a:t>mean</a:t>
            </a:r>
            <a:r>
              <a:rPr lang="it-IT" sz="2400" dirty="0"/>
              <a:t> </a:t>
            </a:r>
            <a:r>
              <a:rPr lang="it-IT" sz="2400" dirty="0" err="1"/>
              <a:t>unrelated</a:t>
            </a:r>
            <a:r>
              <a:rPr lang="it-IT" sz="24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551987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-1"/>
            <a:ext cx="8458200" cy="1143001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Sometimes linear correlation </a:t>
            </a:r>
            <a:b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not the whole story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1077913"/>
            <a:ext cx="9285288" cy="470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8561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80962"/>
            <a:ext cx="8299450" cy="1595438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 Information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771650"/>
            <a:ext cx="8648700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536D9800-CCD1-4DF4-9A78-0FF18F05150E}"/>
              </a:ext>
            </a:extLst>
          </p:cNvPr>
          <p:cNvSpPr/>
          <p:nvPr/>
        </p:nvSpPr>
        <p:spPr>
          <a:xfrm>
            <a:off x="1690011" y="5728073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3713043538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430212" y="914400"/>
            <a:ext cx="8104188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>
                <a:latin typeface="Arial" charset="0"/>
              </a:rPr>
              <a:t>Information theory is a branch of mathematics that deals with measures of information and their application to the study of communication, statistics, and complexity. 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000" dirty="0">
                <a:latin typeface="Arial" charset="0"/>
              </a:rPr>
              <a:t>It extends the thermodynamic of gas particles to create a “thermodynamic of the symbolic representation”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000" dirty="0">
                <a:latin typeface="Arial" charset="0"/>
              </a:rPr>
              <a:t>Based on the pioneering work of Claude Shannon</a:t>
            </a: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2297133" y="214313"/>
            <a:ext cx="53228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cy-GB" sz="3200" dirty="0">
                <a:solidFill>
                  <a:srgbClr val="FF0000"/>
                </a:solidFill>
                <a:latin typeface="Arial" charset="0"/>
              </a:rPr>
              <a:t>What is Information Theory?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3913568"/>
            <a:ext cx="28575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3962400"/>
            <a:ext cx="57150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latin typeface="Arial" charset="0"/>
              </a:rPr>
              <a:t>Shannon, C. E. (1948). A mathematical theory of communication. Bell Sys. Tech. Journal 27:379-423, 623-656.</a:t>
            </a:r>
          </a:p>
          <a:p>
            <a:endParaRPr lang="en-US" sz="1400" dirty="0">
              <a:latin typeface="Arial" charset="0"/>
            </a:endParaRPr>
          </a:p>
          <a:p>
            <a:r>
              <a:rPr lang="en-US" sz="1400" dirty="0">
                <a:latin typeface="Arial" charset="0"/>
              </a:rPr>
              <a:t>PE Latham and Y </a:t>
            </a:r>
            <a:r>
              <a:rPr lang="en-US" sz="1400" dirty="0" err="1">
                <a:latin typeface="Arial" charset="0"/>
              </a:rPr>
              <a:t>Roudi</a:t>
            </a:r>
            <a:r>
              <a:rPr lang="en-US" sz="1400" dirty="0">
                <a:latin typeface="Arial" charset="0"/>
              </a:rPr>
              <a:t> (2008) Mutual Information – </a:t>
            </a:r>
            <a:r>
              <a:rPr lang="en-US" sz="1400" dirty="0" err="1">
                <a:latin typeface="Arial" charset="0"/>
              </a:rPr>
              <a:t>Scholarpedia</a:t>
            </a:r>
            <a:r>
              <a:rPr lang="en-US" sz="1400" dirty="0">
                <a:latin typeface="Arial" charset="0"/>
              </a:rPr>
              <a:t> article (freely accessible)</a:t>
            </a:r>
          </a:p>
          <a:p>
            <a:endParaRPr lang="en-US" sz="1400" dirty="0">
              <a:latin typeface="Arial" charset="0"/>
            </a:endParaRPr>
          </a:p>
          <a:p>
            <a:r>
              <a:rPr lang="en-US" sz="1400" dirty="0">
                <a:latin typeface="Arial" charset="0"/>
              </a:rPr>
              <a:t>R </a:t>
            </a:r>
            <a:r>
              <a:rPr lang="en-US" sz="1400" dirty="0" err="1">
                <a:latin typeface="Arial" charset="0"/>
              </a:rPr>
              <a:t>Quian</a:t>
            </a:r>
            <a:r>
              <a:rPr lang="en-US" sz="1400" dirty="0">
                <a:latin typeface="Arial" charset="0"/>
              </a:rPr>
              <a:t> </a:t>
            </a:r>
            <a:r>
              <a:rPr lang="en-US" sz="1400" dirty="0" err="1">
                <a:latin typeface="Arial" charset="0"/>
              </a:rPr>
              <a:t>Quiroga</a:t>
            </a:r>
            <a:r>
              <a:rPr lang="en-US" sz="1400" dirty="0">
                <a:latin typeface="Arial" charset="0"/>
              </a:rPr>
              <a:t> and S </a:t>
            </a:r>
            <a:r>
              <a:rPr lang="en-US" sz="1400" dirty="0" err="1">
                <a:latin typeface="Arial" charset="0"/>
              </a:rPr>
              <a:t>Panzeri</a:t>
            </a:r>
            <a:r>
              <a:rPr lang="en-US" sz="1400" dirty="0">
                <a:latin typeface="Arial" charset="0"/>
              </a:rPr>
              <a:t> (2009) Extracting information from neuronal populations: </a:t>
            </a:r>
            <a:r>
              <a:rPr lang="en-US" sz="1400" dirty="0" err="1">
                <a:latin typeface="Arial" charset="0"/>
              </a:rPr>
              <a:t>informaiton</a:t>
            </a:r>
            <a:r>
              <a:rPr lang="en-US" sz="1400" dirty="0">
                <a:latin typeface="Arial" charset="0"/>
              </a:rPr>
              <a:t> theory and decoding approaches. Nature Reviews </a:t>
            </a:r>
            <a:r>
              <a:rPr lang="en-US" sz="1400" dirty="0" err="1">
                <a:latin typeface="Arial" charset="0"/>
              </a:rPr>
              <a:t>Neurosci</a:t>
            </a:r>
            <a:endParaRPr lang="en-US" sz="1400" dirty="0">
              <a:latin typeface="Arial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ECFC7A4-34A9-462E-BEA6-3FCE395D1D39}"/>
              </a:ext>
            </a:extLst>
          </p:cNvPr>
          <p:cNvSpPr/>
          <p:nvPr/>
        </p:nvSpPr>
        <p:spPr>
          <a:xfrm>
            <a:off x="3203848" y="5944587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9799725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430212" y="914400"/>
            <a:ext cx="8104188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>
                <a:latin typeface="Arial" charset="0"/>
              </a:rPr>
              <a:t>It originally arose out of communication theory and is sometimes used to mean the mathematical theory that underlies communication systems and communication in the presence of noise. 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000" dirty="0">
                <a:latin typeface="Arial" charset="0"/>
              </a:rPr>
              <a:t>Based on the pioneering work of Claude Shannon</a:t>
            </a: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735003" y="214312"/>
            <a:ext cx="77832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cy-GB" sz="3200" dirty="0">
                <a:solidFill>
                  <a:srgbClr val="FF0000"/>
                </a:solidFill>
                <a:latin typeface="Arial" charset="0"/>
              </a:rPr>
              <a:t>A Mathematical Theory of Communication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7" y="2060848"/>
            <a:ext cx="9134475" cy="46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90310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3132138" y="260350"/>
            <a:ext cx="50149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dirty="0">
                <a:solidFill>
                  <a:srgbClr val="FF0000"/>
                </a:solidFill>
                <a:latin typeface="Arial" charset="0"/>
              </a:rPr>
              <a:t>What is a code?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23850" y="908050"/>
            <a:ext cx="834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latin typeface="Arial" charset="0"/>
              </a:rPr>
              <a:t>A code is transformation of a certain message by using another alphabet</a:t>
            </a:r>
          </a:p>
          <a:p>
            <a:r>
              <a:rPr lang="en-GB" sz="1800">
                <a:latin typeface="Arial" charset="0"/>
              </a:rPr>
              <a:t>For example, you can use your fingers to represent numbers</a:t>
            </a:r>
            <a:endParaRPr lang="en-US" sz="1800">
              <a:latin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4213" y="1700213"/>
            <a:ext cx="7416800" cy="1146175"/>
            <a:chOff x="431" y="1071"/>
            <a:chExt cx="4672" cy="722"/>
          </a:xfrm>
        </p:grpSpPr>
        <p:pic>
          <p:nvPicPr>
            <p:cNvPr id="18444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529" b="70335"/>
            <a:stretch>
              <a:fillRect/>
            </a:stretch>
          </p:blipFill>
          <p:spPr bwMode="auto">
            <a:xfrm>
              <a:off x="431" y="1071"/>
              <a:ext cx="1360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5" name="Rectangle 6"/>
            <p:cNvSpPr>
              <a:spLocks noChangeArrowheads="1"/>
            </p:cNvSpPr>
            <p:nvPr/>
          </p:nvSpPr>
          <p:spPr bwMode="auto">
            <a:xfrm>
              <a:off x="1973" y="1298"/>
              <a:ext cx="313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>
                  <a:latin typeface="Arial" charset="0"/>
                </a:rPr>
                <a:t>Use only thumb to code 0 or 1</a:t>
              </a:r>
              <a:endParaRPr lang="en-US" sz="1800">
                <a:latin typeface="Arial" charset="0"/>
              </a:endParaRP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68313" y="2924175"/>
            <a:ext cx="8280400" cy="1620838"/>
            <a:chOff x="295" y="1842"/>
            <a:chExt cx="5216" cy="1021"/>
          </a:xfrm>
        </p:grpSpPr>
        <p:pic>
          <p:nvPicPr>
            <p:cNvPr id="18442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665" r="22829" b="28435"/>
            <a:stretch>
              <a:fillRect/>
            </a:stretch>
          </p:blipFill>
          <p:spPr bwMode="auto">
            <a:xfrm>
              <a:off x="295" y="1842"/>
              <a:ext cx="204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3" name="Rectangle 9"/>
            <p:cNvSpPr>
              <a:spLocks noChangeArrowheads="1"/>
            </p:cNvSpPr>
            <p:nvPr/>
          </p:nvSpPr>
          <p:spPr bwMode="auto">
            <a:xfrm>
              <a:off x="2381" y="2024"/>
              <a:ext cx="3130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>
                  <a:latin typeface="Arial" charset="0"/>
                </a:rPr>
                <a:t>2 fingers are used to encode 3 different numbers by the total amount of extended fingers</a:t>
              </a:r>
              <a:endParaRPr lang="en-US" sz="1800">
                <a:latin typeface="Arial" charset="0"/>
              </a:endParaRP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95288" y="4724400"/>
            <a:ext cx="8389937" cy="1465263"/>
            <a:chOff x="249" y="2976"/>
            <a:chExt cx="5285" cy="923"/>
          </a:xfrm>
        </p:grpSpPr>
        <p:pic>
          <p:nvPicPr>
            <p:cNvPr id="18440" name="Picture 1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565"/>
            <a:stretch>
              <a:fillRect/>
            </a:stretch>
          </p:blipFill>
          <p:spPr bwMode="auto">
            <a:xfrm>
              <a:off x="249" y="2976"/>
              <a:ext cx="2631" cy="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" name="Rectangle 12"/>
            <p:cNvSpPr>
              <a:spLocks noChangeArrowheads="1"/>
            </p:cNvSpPr>
            <p:nvPr/>
          </p:nvSpPr>
          <p:spPr bwMode="auto">
            <a:xfrm>
              <a:off x="2835" y="2976"/>
              <a:ext cx="2699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>
                  <a:latin typeface="Arial" charset="0"/>
                </a:rPr>
                <a:t>2 fingers are used with a more complex code to encode 4 different numbers. Here the position of the extended finger is also used to signal – this increases the capacity to encode information</a:t>
              </a:r>
              <a:endParaRPr lang="en-US" sz="1800">
                <a:latin typeface="Arial" charset="0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95288" y="6474023"/>
            <a:ext cx="8389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There are only 10 kind of people in the world: those who know the binary code and those who don’t. </a:t>
            </a:r>
          </a:p>
        </p:txBody>
      </p:sp>
    </p:spTree>
    <p:extLst>
      <p:ext uri="{BB962C8B-B14F-4D97-AF65-F5344CB8AC3E}">
        <p14:creationId xmlns:p14="http://schemas.microsoft.com/office/powerpoint/2010/main" val="22635537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395288" y="549275"/>
            <a:ext cx="76073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dirty="0">
                <a:solidFill>
                  <a:srgbClr val="FF0000"/>
                </a:solidFill>
                <a:latin typeface="Arial" charset="0"/>
              </a:rPr>
              <a:t>Morse code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250825" y="4076700"/>
            <a:ext cx="83439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latin typeface="Arial" charset="0"/>
              </a:rPr>
              <a:t>Telegrams were transmitted by electrical signals over wires by using Morse codes.</a:t>
            </a:r>
          </a:p>
          <a:p>
            <a:r>
              <a:rPr lang="en-GB" sz="1800">
                <a:latin typeface="Arial" charset="0"/>
              </a:rPr>
              <a:t>Morse codes are a correspondence between the pattern of electrical signals and the characters of the English alphabet.</a:t>
            </a:r>
          </a:p>
          <a:p>
            <a:r>
              <a:rPr lang="en-GB" sz="1800">
                <a:latin typeface="Arial" charset="0"/>
              </a:rPr>
              <a:t>There are two types of “symbols”: long (</a:t>
            </a:r>
            <a:r>
              <a:rPr lang="en-GB" sz="1800" b="1">
                <a:latin typeface="Arial" charset="0"/>
              </a:rPr>
              <a:t>_</a:t>
            </a:r>
            <a:r>
              <a:rPr lang="en-GB" sz="1800">
                <a:latin typeface="Arial" charset="0"/>
              </a:rPr>
              <a:t>) and short (</a:t>
            </a:r>
            <a:r>
              <a:rPr lang="en-GB" sz="1800" b="1">
                <a:latin typeface="Arial" charset="0"/>
              </a:rPr>
              <a:t>.</a:t>
            </a:r>
            <a:r>
              <a:rPr lang="en-GB" sz="1800">
                <a:latin typeface="Arial" charset="0"/>
              </a:rPr>
              <a:t>) electrical pulses.</a:t>
            </a:r>
          </a:p>
          <a:p>
            <a:r>
              <a:rPr lang="en-GB" sz="1800">
                <a:latin typeface="Arial" charset="0"/>
              </a:rPr>
              <a:t>Not only the length of the individual signal is important, but also the timing of the individual signals (&gt; for characters between different words) </a:t>
            </a:r>
          </a:p>
        </p:txBody>
      </p:sp>
      <p:pic>
        <p:nvPicPr>
          <p:cNvPr id="19461" name="Picture 4" descr="Mors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" t="4301" r="2675" b="4488"/>
          <a:stretch>
            <a:fillRect/>
          </a:stretch>
        </p:blipFill>
        <p:spPr bwMode="auto">
          <a:xfrm>
            <a:off x="2627313" y="692150"/>
            <a:ext cx="5329237" cy="322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7130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371600" y="188913"/>
            <a:ext cx="6851650" cy="676275"/>
          </a:xfrm>
          <a:noFill/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Entropy of a random variable S</a:t>
            </a:r>
          </a:p>
        </p:txBody>
      </p:sp>
      <p:sp>
        <p:nvSpPr>
          <p:cNvPr id="1029" name="Text Box 3"/>
          <p:cNvSpPr txBox="1">
            <a:spLocks noChangeArrowheads="1"/>
          </p:cNvSpPr>
          <p:nvPr/>
        </p:nvSpPr>
        <p:spPr bwMode="auto">
          <a:xfrm>
            <a:off x="214313" y="1334274"/>
            <a:ext cx="8712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Suppose we want to gain information about the stimulus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If there is only one possible stimulus, then no information is gained by knowing that stimulus. The amount of information obtained from knowing something is related to its INITIAL UNCERTAINTY 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Therefore the first step to define information is to quantify uncertainty.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The entropy H of a random variable s is a simple function of its probability distribution P(s):</a:t>
            </a:r>
          </a:p>
        </p:txBody>
      </p:sp>
      <p:sp>
        <p:nvSpPr>
          <p:cNvPr id="1030" name="Text Box 4"/>
          <p:cNvSpPr txBox="1">
            <a:spLocks noChangeArrowheads="1"/>
          </p:cNvSpPr>
          <p:nvPr/>
        </p:nvSpPr>
        <p:spPr bwMode="auto">
          <a:xfrm>
            <a:off x="188913" y="5302949"/>
            <a:ext cx="89947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H(S) measures the amount of uncertainty inherent to a random variable, i.e. the amount of information necessary to describe it completely.</a:t>
            </a:r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3913038"/>
          <a:ext cx="529748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342900" progId="">
                  <p:embed/>
                </p:oleObj>
              </mc:Choice>
              <mc:Fallback>
                <p:oleObj name="Equation" r:id="rId2" imgW="1651000" imgH="342900" progId="">
                  <p:embed/>
                  <p:pic>
                    <p:nvPicPr>
                      <p:cNvPr id="1026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913038"/>
                        <a:ext cx="5297488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3902746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371600" y="188913"/>
            <a:ext cx="6851650" cy="676275"/>
          </a:xfrm>
          <a:noFill/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Entropy of a random variable S</a:t>
            </a:r>
          </a:p>
        </p:txBody>
      </p:sp>
      <p:sp>
        <p:nvSpPr>
          <p:cNvPr id="1029" name="Text Box 3"/>
          <p:cNvSpPr txBox="1">
            <a:spLocks noChangeArrowheads="1"/>
          </p:cNvSpPr>
          <p:nvPr/>
        </p:nvSpPr>
        <p:spPr bwMode="auto">
          <a:xfrm>
            <a:off x="214313" y="785813"/>
            <a:ext cx="8712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Suppose we want to gain information about the stimulus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If there is only one possible stimulus, then no information is gained by knowing that stimulus. The amount of information obtained from knowing something is related to its INITIAL UNCERTAINTY 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Therefore the first step to define information is to quantify uncertainty.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The entropy H of a random variable s is a simple function of its probability distribution P(s):</a:t>
            </a:r>
          </a:p>
        </p:txBody>
      </p:sp>
      <p:sp>
        <p:nvSpPr>
          <p:cNvPr id="1030" name="Text Box 4"/>
          <p:cNvSpPr txBox="1">
            <a:spLocks noChangeArrowheads="1"/>
          </p:cNvSpPr>
          <p:nvPr/>
        </p:nvSpPr>
        <p:spPr bwMode="auto">
          <a:xfrm>
            <a:off x="188913" y="3962400"/>
            <a:ext cx="89947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H(S) measures the amount of uncertainty inherent to a random variable, i.e. the amount of information necessary to describe it completely.</a:t>
            </a:r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895600"/>
          <a:ext cx="529748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342900" progId="">
                  <p:embed/>
                </p:oleObj>
              </mc:Choice>
              <mc:Fallback>
                <p:oleObj name="Equation" r:id="rId2" imgW="1651000" imgH="342900" progId="">
                  <p:embed/>
                  <p:pic>
                    <p:nvPicPr>
                      <p:cNvPr id="1026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95600"/>
                        <a:ext cx="5297488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2" name="Picture 3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789714"/>
            <a:ext cx="2133600" cy="1589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Object 4"/>
          <p:cNvGraphicFramePr>
            <a:graphicFrameLocks noGrp="1" noChangeAspect="1"/>
          </p:cNvGraphicFramePr>
          <p:nvPr/>
        </p:nvGraphicFramePr>
        <p:xfrm>
          <a:off x="3348038" y="5129213"/>
          <a:ext cx="54022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1640" imgH="431640" progId="">
                  <p:embed/>
                </p:oleObj>
              </mc:Choice>
              <mc:Fallback>
                <p:oleObj name="Equation" r:id="rId5" imgW="2501640" imgH="431640" progId="">
                  <p:embed/>
                  <p:pic>
                    <p:nvPicPr>
                      <p:cNvPr id="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129213"/>
                        <a:ext cx="5402262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5406853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371600" y="188913"/>
            <a:ext cx="6851650" cy="676275"/>
          </a:xfrm>
          <a:noFill/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One bit = one yes or no question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6444208" y="616530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Thanks</a:t>
            </a:r>
            <a:r>
              <a:rPr lang="it-IT" dirty="0"/>
              <a:t> to Dr. </a:t>
            </a:r>
            <a:r>
              <a:rPr lang="it-IT" dirty="0" err="1"/>
              <a:t>Miloro</a:t>
            </a:r>
            <a:endParaRPr lang="it-IT" dirty="0"/>
          </a:p>
        </p:txBody>
      </p:sp>
      <p:pic>
        <p:nvPicPr>
          <p:cNvPr id="21506" name="Picture 2" descr="http://thumb.sitigiochi.it/akinat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140968"/>
            <a:ext cx="56769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ggetto 2"/>
          <p:cNvGraphicFramePr>
            <a:graphicFrameLocks noGrp="1" noChangeAspect="1"/>
          </p:cNvGraphicFramePr>
          <p:nvPr/>
        </p:nvGraphicFramePr>
        <p:xfrm>
          <a:off x="585242" y="1268760"/>
          <a:ext cx="529748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1000" imgH="342900" progId="">
                  <p:embed/>
                </p:oleObj>
              </mc:Choice>
              <mc:Fallback>
                <p:oleObj name="Equation" r:id="rId3" imgW="1651000" imgH="342900" progId="">
                  <p:embed/>
                  <p:pic>
                    <p:nvPicPr>
                      <p:cNvPr id="3" name="Oggetto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242" y="1268760"/>
                        <a:ext cx="5297488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Connettore 2 7"/>
          <p:cNvCxnSpPr/>
          <p:nvPr/>
        </p:nvCxnSpPr>
        <p:spPr>
          <a:xfrm flipH="1" flipV="1">
            <a:off x="4932040" y="2132856"/>
            <a:ext cx="5040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260962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88913"/>
            <a:ext cx="6851650" cy="676275"/>
          </a:xfrm>
          <a:noFill/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Entropy and description length</a:t>
            </a:r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214312" y="785813"/>
            <a:ext cx="8777287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H(S) has a very concrete interpretation: Suppose s is chosen randomly from the distribution P(s) , and someone who knows the distribution  is asked to guess which  was chosen. If the guesser uses the optimal question-asking strategy -- which is to divide the probability in half on each guess by asking questions like "is s greater than .. ?", then the average number of yes/no questions it takes to guess  lies between H(S)  and H(S)+1. </a:t>
            </a:r>
          </a:p>
          <a:p>
            <a:endParaRPr lang="en-US" b="1" dirty="0">
              <a:latin typeface="Arial" charset="0"/>
              <a:cs typeface="Arial" charset="0"/>
            </a:endParaRPr>
          </a:p>
          <a:p>
            <a:r>
              <a:rPr lang="en-US" sz="1800" dirty="0">
                <a:solidFill>
                  <a:srgbClr val="3333CC"/>
                </a:solidFill>
                <a:latin typeface="Arial" charset="0"/>
                <a:cs typeface="Arial" charset="0"/>
              </a:rPr>
              <a:t>This gives quantitative meaning to "uncertainty": it is the number of yes/no questions it takes to guess a random variables, given knowledge of the underlying distribution and taking the optimal question-asking strategy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810000"/>
            <a:ext cx="3734869" cy="277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14800" y="4191000"/>
            <a:ext cx="464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H(Guess Who)=4.585</a:t>
            </a:r>
          </a:p>
          <a:p>
            <a:endParaRPr lang="en-US" dirty="0"/>
          </a:p>
          <a:p>
            <a:r>
              <a:rPr lang="en-US" dirty="0"/>
              <a:t>So you really should win with 5 questions….</a:t>
            </a:r>
          </a:p>
          <a:p>
            <a:endParaRPr lang="en-US" dirty="0"/>
          </a:p>
          <a:p>
            <a:r>
              <a:rPr lang="en-US" dirty="0"/>
              <a:t>Demonstration is left to the audience</a:t>
            </a:r>
          </a:p>
        </p:txBody>
      </p:sp>
    </p:spTree>
    <p:extLst>
      <p:ext uri="{BB962C8B-B14F-4D97-AF65-F5344CB8AC3E}">
        <p14:creationId xmlns:p14="http://schemas.microsoft.com/office/powerpoint/2010/main" val="324415293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9665" y="152400"/>
            <a:ext cx="6000135" cy="676275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</a:rPr>
              <a:t>Entropy of the stimulus distribution</a:t>
            </a:r>
          </a:p>
        </p:txBody>
      </p:sp>
      <p:sp>
        <p:nvSpPr>
          <p:cNvPr id="2054" name="Text Box 4"/>
          <p:cNvSpPr txBox="1">
            <a:spLocks noChangeArrowheads="1"/>
          </p:cNvSpPr>
          <p:nvPr/>
        </p:nvSpPr>
        <p:spPr bwMode="auto">
          <a:xfrm>
            <a:off x="4495800" y="838200"/>
            <a:ext cx="44211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H(S) expresses the uncertainty about the stimulus (or equivalently, the information needed to specify the stimulus) prior to the observation of a neural response</a:t>
            </a:r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83638" y="1199953"/>
          <a:ext cx="3702562" cy="768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342900" progId="">
                  <p:embed/>
                </p:oleObj>
              </mc:Choice>
              <mc:Fallback>
                <p:oleObj name="Equation" r:id="rId2" imgW="1651000" imgH="342900" progId="">
                  <p:embed/>
                  <p:pic>
                    <p:nvPicPr>
                      <p:cNvPr id="205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38" y="1199953"/>
                        <a:ext cx="3702562" cy="7683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2166937"/>
            <a:ext cx="7391399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>
              <a:spcBef>
                <a:spcPct val="20000"/>
              </a:spcBef>
              <a:defRPr/>
            </a:pPr>
            <a:r>
              <a:rPr lang="en-US" sz="2400" kern="0" dirty="0">
                <a:solidFill>
                  <a:srgbClr val="FF0000"/>
                </a:solidFill>
                <a:latin typeface="Arial" charset="0"/>
                <a:cs typeface="Arial" charset="0"/>
              </a:rPr>
              <a:t>Residual entropy (equivocation) of the stimulus after observing the neural response</a:t>
            </a:r>
          </a:p>
        </p:txBody>
      </p:sp>
      <p:sp>
        <p:nvSpPr>
          <p:cNvPr id="2056" name="Text Box 4"/>
          <p:cNvSpPr txBox="1">
            <a:spLocks noChangeArrowheads="1"/>
          </p:cNvSpPr>
          <p:nvPr/>
        </p:nvSpPr>
        <p:spPr bwMode="auto">
          <a:xfrm>
            <a:off x="5334000" y="3185232"/>
            <a:ext cx="3733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>
                <a:latin typeface="Arial" charset="0"/>
                <a:cs typeface="Arial" charset="0"/>
              </a:rPr>
              <a:t>H(S|R) expresses the residual uncertainty about the stimulus after the observation of a neural response.</a:t>
            </a: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73806" y="3276600"/>
          <a:ext cx="496265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200" imgH="342900" progId="">
                  <p:embed/>
                </p:oleObj>
              </mc:Choice>
              <mc:Fallback>
                <p:oleObj name="Equation" r:id="rId4" imgW="2616200" imgH="342900" progId="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06" y="3276600"/>
                        <a:ext cx="4962652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457201" y="4038600"/>
            <a:ext cx="8153399" cy="2619495"/>
            <a:chOff x="457201" y="4038600"/>
            <a:chExt cx="8153399" cy="2619495"/>
          </a:xfrm>
        </p:grpSpPr>
        <p:pic>
          <p:nvPicPr>
            <p:cNvPr id="11320" name="Picture 5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1" y="4038600"/>
              <a:ext cx="3472826" cy="2581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&quot;No&quot; Symbol 1"/>
            <p:cNvSpPr/>
            <p:nvPr/>
          </p:nvSpPr>
          <p:spPr>
            <a:xfrm>
              <a:off x="3456212" y="4394371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&quot;No&quot; Symbol 11"/>
            <p:cNvSpPr/>
            <p:nvPr/>
          </p:nvSpPr>
          <p:spPr>
            <a:xfrm>
              <a:off x="2957284" y="47136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&quot;No&quot; Symbol 12"/>
            <p:cNvSpPr/>
            <p:nvPr/>
          </p:nvSpPr>
          <p:spPr>
            <a:xfrm>
              <a:off x="1700129" y="4165771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&quot;No&quot; Symbol 13"/>
            <p:cNvSpPr/>
            <p:nvPr/>
          </p:nvSpPr>
          <p:spPr>
            <a:xfrm>
              <a:off x="2064800" y="4235379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&quot;No&quot; Symbol 14"/>
            <p:cNvSpPr/>
            <p:nvPr/>
          </p:nvSpPr>
          <p:spPr>
            <a:xfrm>
              <a:off x="2405885" y="4264408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&quot;No&quot; Symbol 15"/>
            <p:cNvSpPr/>
            <p:nvPr/>
          </p:nvSpPr>
          <p:spPr>
            <a:xfrm>
              <a:off x="2734125" y="4264408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&quot;No&quot; Symbol 16"/>
            <p:cNvSpPr/>
            <p:nvPr/>
          </p:nvSpPr>
          <p:spPr>
            <a:xfrm>
              <a:off x="2734125" y="51008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&quot;No&quot; Symbol 17"/>
            <p:cNvSpPr/>
            <p:nvPr/>
          </p:nvSpPr>
          <p:spPr>
            <a:xfrm>
              <a:off x="2581871" y="46539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&quot;No&quot; Symbol 18"/>
            <p:cNvSpPr/>
            <p:nvPr/>
          </p:nvSpPr>
          <p:spPr>
            <a:xfrm>
              <a:off x="1562100" y="44850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&quot;No&quot; Symbol 19"/>
            <p:cNvSpPr/>
            <p:nvPr/>
          </p:nvSpPr>
          <p:spPr>
            <a:xfrm>
              <a:off x="1981200" y="49865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&quot;No&quot; Symbol 20"/>
            <p:cNvSpPr/>
            <p:nvPr/>
          </p:nvSpPr>
          <p:spPr>
            <a:xfrm>
              <a:off x="2957284" y="5526300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&quot;No&quot; Symbol 21"/>
            <p:cNvSpPr/>
            <p:nvPr/>
          </p:nvSpPr>
          <p:spPr>
            <a:xfrm>
              <a:off x="1333500" y="52940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&quot;No&quot; Symbol 22"/>
            <p:cNvSpPr/>
            <p:nvPr/>
          </p:nvSpPr>
          <p:spPr>
            <a:xfrm>
              <a:off x="3044654" y="43707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&quot;No&quot; Symbol 23"/>
            <p:cNvSpPr/>
            <p:nvPr/>
          </p:nvSpPr>
          <p:spPr>
            <a:xfrm>
              <a:off x="1865086" y="45396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&quot;No&quot; Symbol 24"/>
            <p:cNvSpPr/>
            <p:nvPr/>
          </p:nvSpPr>
          <p:spPr>
            <a:xfrm>
              <a:off x="2211614" y="45993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&quot;No&quot; Symbol 25"/>
            <p:cNvSpPr/>
            <p:nvPr/>
          </p:nvSpPr>
          <p:spPr>
            <a:xfrm>
              <a:off x="1271814" y="48722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&quot;No&quot; Symbol 26"/>
            <p:cNvSpPr/>
            <p:nvPr/>
          </p:nvSpPr>
          <p:spPr>
            <a:xfrm>
              <a:off x="1638300" y="4876800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&quot;No&quot; Symbol 27"/>
            <p:cNvSpPr/>
            <p:nvPr/>
          </p:nvSpPr>
          <p:spPr>
            <a:xfrm>
              <a:off x="1752600" y="5361214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&quot;No&quot; Symbol 28"/>
            <p:cNvSpPr/>
            <p:nvPr/>
          </p:nvSpPr>
          <p:spPr>
            <a:xfrm>
              <a:off x="2520185" y="5475514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62400" y="4626770"/>
              <a:ext cx="464820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“Are you a woman?” </a:t>
              </a:r>
            </a:p>
            <a:p>
              <a:r>
                <a:rPr lang="en-US" dirty="0"/>
                <a:t>P(yes)=5/24; P(no)=19/24; </a:t>
              </a:r>
            </a:p>
            <a:p>
              <a:r>
                <a:rPr lang="en-US" dirty="0"/>
                <a:t>P(</a:t>
              </a:r>
              <a:r>
                <a:rPr lang="en-US" dirty="0" err="1"/>
                <a:t>face|no</a:t>
              </a:r>
              <a:r>
                <a:rPr lang="en-US" dirty="0"/>
                <a:t>)= 0 or 1/19;  P(</a:t>
              </a:r>
              <a:r>
                <a:rPr lang="en-US" dirty="0" err="1"/>
                <a:t>face|yes</a:t>
              </a:r>
              <a:r>
                <a:rPr lang="en-US" dirty="0"/>
                <a:t>)= 1/5 or 0</a:t>
              </a:r>
            </a:p>
            <a:p>
              <a:endParaRPr lang="en-US" dirty="0"/>
            </a:p>
            <a:p>
              <a:r>
                <a:rPr lang="en-US" dirty="0"/>
                <a:t>H(Guess </a:t>
              </a:r>
              <a:r>
                <a:rPr lang="en-US" dirty="0" err="1"/>
                <a:t>Who|woman</a:t>
              </a:r>
              <a:r>
                <a:rPr lang="en-US" dirty="0"/>
                <a:t>)=3.85;</a:t>
              </a:r>
            </a:p>
            <a:p>
              <a:endParaRPr lang="en-US" dirty="0"/>
            </a:p>
            <a:p>
              <a:r>
                <a:rPr lang="en-US" dirty="0"/>
                <a:t>Questions left for optimal strategy:  at most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796820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9665" y="152400"/>
            <a:ext cx="6000135" cy="676275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</a:rPr>
              <a:t>Conditional probability</a:t>
            </a: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323527" y="836712"/>
          <a:ext cx="8235467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200" imgH="342900" progId="">
                  <p:embed/>
                </p:oleObj>
              </mc:Choice>
              <mc:Fallback>
                <p:oleObj name="Equation" r:id="rId2" imgW="2616200" imgH="342900" progId="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7" y="836712"/>
                        <a:ext cx="8235467" cy="108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Connettore 2 30"/>
          <p:cNvCxnSpPr/>
          <p:nvPr/>
        </p:nvCxnSpPr>
        <p:spPr>
          <a:xfrm flipH="1" flipV="1">
            <a:off x="6048164" y="1487419"/>
            <a:ext cx="5040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50" name="Picture 2" descr="Conditional Ris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21" y="1991476"/>
            <a:ext cx="5646632" cy="478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/>
          <p:cNvSpPr txBox="1"/>
          <p:nvPr/>
        </p:nvSpPr>
        <p:spPr>
          <a:xfrm>
            <a:off x="6552220" y="1991476"/>
            <a:ext cx="24122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It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all</a:t>
            </a:r>
            <a:r>
              <a:rPr lang="it-IT" sz="2800" dirty="0"/>
              <a:t> </a:t>
            </a:r>
            <a:r>
              <a:rPr lang="it-IT" sz="2800" dirty="0" err="1"/>
              <a:t>about</a:t>
            </a:r>
            <a:r>
              <a:rPr lang="it-IT" sz="2800" dirty="0"/>
              <a:t> the </a:t>
            </a:r>
            <a:r>
              <a:rPr lang="it-IT" sz="2800" dirty="0" err="1"/>
              <a:t>difference</a:t>
            </a:r>
            <a:r>
              <a:rPr lang="it-IT" sz="2800" dirty="0"/>
              <a:t> </a:t>
            </a:r>
            <a:r>
              <a:rPr lang="it-IT" sz="2800" dirty="0" err="1"/>
              <a:t>between</a:t>
            </a:r>
            <a:r>
              <a:rPr lang="it-IT" sz="2800" dirty="0"/>
              <a:t> </a:t>
            </a:r>
            <a:r>
              <a:rPr lang="it-IT" sz="2800" dirty="0" err="1"/>
              <a:t>unconditional</a:t>
            </a:r>
            <a:r>
              <a:rPr lang="it-IT" sz="2800" dirty="0"/>
              <a:t> and </a:t>
            </a:r>
            <a:r>
              <a:rPr lang="it-IT" sz="2800" dirty="0" err="1"/>
              <a:t>conditional</a:t>
            </a:r>
            <a:endParaRPr lang="it-IT" sz="2800" dirty="0"/>
          </a:p>
          <a:p>
            <a:endParaRPr lang="it-IT" sz="2800" dirty="0"/>
          </a:p>
          <a:p>
            <a:r>
              <a:rPr lang="it-IT" sz="2800" dirty="0"/>
              <a:t>Note: </a:t>
            </a:r>
            <a:r>
              <a:rPr lang="it-IT" sz="2800" dirty="0" err="1"/>
              <a:t>needs</a:t>
            </a:r>
            <a:r>
              <a:rPr lang="it-IT" sz="2800" dirty="0"/>
              <a:t> more data to be </a:t>
            </a:r>
            <a:r>
              <a:rPr lang="it-IT" sz="2800" dirty="0" err="1"/>
              <a:t>computed</a:t>
            </a:r>
            <a:r>
              <a:rPr lang="it-IT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5645261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Shannon’s Information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3074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000250" y="1312862"/>
          <a:ext cx="468153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600" imgH="203200" progId="">
                  <p:embed/>
                </p:oleObj>
              </mc:Choice>
              <mc:Fallback>
                <p:oleObj name="Equation" r:id="rId2" imgW="1625600" imgH="203200" progId="">
                  <p:embed/>
                  <p:pic>
                    <p:nvPicPr>
                      <p:cNvPr id="3074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312862"/>
                        <a:ext cx="4681538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1000" imgH="330120" progId="Equation.3">
                  <p:embed/>
                </p:oleObj>
              </mc:Choice>
              <mc:Fallback>
                <p:oleObj name="Equation" r:id="rId4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797050" y="914400"/>
            <a:ext cx="5049838" cy="15240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636588" y="1624012"/>
            <a:ext cx="1131887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927100" y="1019175"/>
            <a:ext cx="393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b="1">
                <a:latin typeface="Tahoma" pitchFamily="34" charset="0"/>
              </a:rPr>
              <a:t>s</a:t>
            </a:r>
            <a:endParaRPr lang="en-US" sz="3200" b="1">
              <a:latin typeface="Tahoma" pitchFamily="34" charset="0"/>
            </a:endParaRPr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6899275" y="1635125"/>
            <a:ext cx="1373188" cy="1111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7834313" y="1019175"/>
            <a:ext cx="3540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b="1">
                <a:latin typeface="Tahoma" pitchFamily="34" charset="0"/>
              </a:rPr>
              <a:t>r</a:t>
            </a:r>
            <a:endParaRPr lang="en-US" sz="3200" b="1">
              <a:latin typeface="Tahoma" pitchFamily="34" charset="0"/>
            </a:endParaRPr>
          </a:p>
        </p:txBody>
      </p:sp>
      <p:sp>
        <p:nvSpPr>
          <p:cNvPr id="3083" name="Line 11"/>
          <p:cNvSpPr>
            <a:spLocks noChangeShapeType="1"/>
          </p:cNvSpPr>
          <p:nvPr/>
        </p:nvSpPr>
        <p:spPr bwMode="auto">
          <a:xfrm>
            <a:off x="7196138" y="1270000"/>
            <a:ext cx="0" cy="7096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>
            <a:off x="7373938" y="1270000"/>
            <a:ext cx="0" cy="7096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5" name="Line 13"/>
          <p:cNvSpPr>
            <a:spLocks noChangeShapeType="1"/>
          </p:cNvSpPr>
          <p:nvPr/>
        </p:nvSpPr>
        <p:spPr bwMode="auto">
          <a:xfrm>
            <a:off x="7523163" y="1270000"/>
            <a:ext cx="0" cy="7096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386217" y="2895600"/>
            <a:ext cx="8348662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GB" sz="1800" dirty="0">
                <a:latin typeface="Arial" charset="0"/>
              </a:rPr>
              <a:t>Shannon’s Information : it quantifies the average reduction of uncertainty (=information gained) after a single-trial observation of the neural response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GB" sz="1800" dirty="0">
                <a:latin typeface="Arial" charset="0"/>
              </a:rPr>
              <a:t>Measured in bits. 1 bit = reduction of uncertainty by a factor of 2 (like a correct answer to a yes/no question)</a:t>
            </a:r>
            <a:endParaRPr lang="en-US" sz="1800" dirty="0">
              <a:latin typeface="Arial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7201" y="4768286"/>
            <a:ext cx="2701753" cy="1852028"/>
            <a:chOff x="457201" y="4038600"/>
            <a:chExt cx="3472826" cy="2581714"/>
          </a:xfrm>
        </p:grpSpPr>
        <p:pic>
          <p:nvPicPr>
            <p:cNvPr id="18" name="Picture 5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1" y="4038600"/>
              <a:ext cx="3472826" cy="2581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&quot;No&quot; Symbol 18"/>
            <p:cNvSpPr/>
            <p:nvPr/>
          </p:nvSpPr>
          <p:spPr>
            <a:xfrm>
              <a:off x="3456212" y="4394371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&quot;No&quot; Symbol 19"/>
            <p:cNvSpPr/>
            <p:nvPr/>
          </p:nvSpPr>
          <p:spPr>
            <a:xfrm>
              <a:off x="2957284" y="47136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&quot;No&quot; Symbol 20"/>
            <p:cNvSpPr/>
            <p:nvPr/>
          </p:nvSpPr>
          <p:spPr>
            <a:xfrm>
              <a:off x="1700129" y="4165771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&quot;No&quot; Symbol 21"/>
            <p:cNvSpPr/>
            <p:nvPr/>
          </p:nvSpPr>
          <p:spPr>
            <a:xfrm>
              <a:off x="2064800" y="4235379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&quot;No&quot; Symbol 22"/>
            <p:cNvSpPr/>
            <p:nvPr/>
          </p:nvSpPr>
          <p:spPr>
            <a:xfrm>
              <a:off x="2405885" y="4264408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&quot;No&quot; Symbol 23"/>
            <p:cNvSpPr/>
            <p:nvPr/>
          </p:nvSpPr>
          <p:spPr>
            <a:xfrm>
              <a:off x="2734125" y="4264408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&quot;No&quot; Symbol 24"/>
            <p:cNvSpPr/>
            <p:nvPr/>
          </p:nvSpPr>
          <p:spPr>
            <a:xfrm>
              <a:off x="2734125" y="51008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&quot;No&quot; Symbol 25"/>
            <p:cNvSpPr/>
            <p:nvPr/>
          </p:nvSpPr>
          <p:spPr>
            <a:xfrm>
              <a:off x="2581871" y="46539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&quot;No&quot; Symbol 26"/>
            <p:cNvSpPr/>
            <p:nvPr/>
          </p:nvSpPr>
          <p:spPr>
            <a:xfrm>
              <a:off x="1562100" y="44850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&quot;No&quot; Symbol 27"/>
            <p:cNvSpPr/>
            <p:nvPr/>
          </p:nvSpPr>
          <p:spPr>
            <a:xfrm>
              <a:off x="1981200" y="49865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&quot;No&quot; Symbol 28"/>
            <p:cNvSpPr/>
            <p:nvPr/>
          </p:nvSpPr>
          <p:spPr>
            <a:xfrm>
              <a:off x="2957284" y="5526300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&quot;No&quot; Symbol 29"/>
            <p:cNvSpPr/>
            <p:nvPr/>
          </p:nvSpPr>
          <p:spPr>
            <a:xfrm>
              <a:off x="1333500" y="52940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&quot;No&quot; Symbol 30"/>
            <p:cNvSpPr/>
            <p:nvPr/>
          </p:nvSpPr>
          <p:spPr>
            <a:xfrm>
              <a:off x="3044654" y="43707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&quot;No&quot; Symbol 31"/>
            <p:cNvSpPr/>
            <p:nvPr/>
          </p:nvSpPr>
          <p:spPr>
            <a:xfrm>
              <a:off x="1865086" y="45396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&quot;No&quot; Symbol 32"/>
            <p:cNvSpPr/>
            <p:nvPr/>
          </p:nvSpPr>
          <p:spPr>
            <a:xfrm>
              <a:off x="2211614" y="45993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&quot;No&quot; Symbol 33"/>
            <p:cNvSpPr/>
            <p:nvPr/>
          </p:nvSpPr>
          <p:spPr>
            <a:xfrm>
              <a:off x="1271814" y="48722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&quot;No&quot; Symbol 34"/>
            <p:cNvSpPr/>
            <p:nvPr/>
          </p:nvSpPr>
          <p:spPr>
            <a:xfrm>
              <a:off x="1638300" y="4876800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&quot;No&quot; Symbol 35"/>
            <p:cNvSpPr/>
            <p:nvPr/>
          </p:nvSpPr>
          <p:spPr>
            <a:xfrm>
              <a:off x="1752600" y="5361214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&quot;No&quot; Symbol 36"/>
            <p:cNvSpPr/>
            <p:nvPr/>
          </p:nvSpPr>
          <p:spPr>
            <a:xfrm>
              <a:off x="2520185" y="5475514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646034" y="5206454"/>
            <a:ext cx="464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I(Guess </a:t>
            </a:r>
            <a:r>
              <a:rPr lang="en-US" dirty="0" err="1"/>
              <a:t>Who|woman</a:t>
            </a:r>
            <a:r>
              <a:rPr lang="en-US" dirty="0"/>
              <a:t>) = 4.58 - 3.97 = 0.61 bits ;</a:t>
            </a:r>
          </a:p>
          <a:p>
            <a:endParaRPr lang="en-US" dirty="0"/>
          </a:p>
          <a:p>
            <a:r>
              <a:rPr lang="en-US" dirty="0"/>
              <a:t>I(Real </a:t>
            </a:r>
            <a:r>
              <a:rPr lang="en-US" dirty="0" err="1"/>
              <a:t>World|woman</a:t>
            </a:r>
            <a:r>
              <a:rPr lang="en-US" dirty="0"/>
              <a:t>) = 1 bit;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661159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key equations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1000" imgH="330120" progId="Equation.3">
                  <p:embed/>
                </p:oleObj>
              </mc:Choice>
              <mc:Fallback>
                <p:oleObj name="Equation" r:id="rId2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Grp="1" noChangeAspect="1"/>
          </p:cNvGraphicFramePr>
          <p:nvPr/>
        </p:nvGraphicFramePr>
        <p:xfrm>
          <a:off x="73785" y="1143000"/>
          <a:ext cx="90487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52680" imgH="203040" progId="">
                  <p:embed/>
                </p:oleObj>
              </mc:Choice>
              <mc:Fallback>
                <p:oleObj name="Equation" r:id="rId4" imgW="3352680" imgH="203040" progId="">
                  <p:embed/>
                  <p:pic>
                    <p:nvPicPr>
                      <p:cNvPr id="3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85" y="1143000"/>
                        <a:ext cx="9048750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Grp="1" noChangeAspect="1"/>
          </p:cNvGraphicFramePr>
          <p:nvPr/>
        </p:nvGraphicFramePr>
        <p:xfrm>
          <a:off x="0" y="1905000"/>
          <a:ext cx="8888412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89200" imgH="419100" progId="">
                  <p:embed/>
                </p:oleObj>
              </mc:Choice>
              <mc:Fallback>
                <p:oleObj name="Equation" r:id="rId6" imgW="2489200" imgH="419100" progId="">
                  <p:embed/>
                  <p:pic>
                    <p:nvPicPr>
                      <p:cNvPr id="4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05000"/>
                        <a:ext cx="8888412" cy="157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581150" y="3733800"/>
          <a:ext cx="268605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629150" y="3733800"/>
          <a:ext cx="268605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81200" y="5875436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I(S;R) =1 bit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4400" y="5888838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I(S;R) =0.045 bit</a:t>
            </a:r>
          </a:p>
        </p:txBody>
      </p:sp>
    </p:spTree>
    <p:extLst>
      <p:ext uri="{BB962C8B-B14F-4D97-AF65-F5344CB8AC3E}">
        <p14:creationId xmlns:p14="http://schemas.microsoft.com/office/powerpoint/2010/main" val="975135486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processing inequality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4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20674" y="1295400"/>
          <a:ext cx="36607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03040" progId="">
                  <p:embed/>
                </p:oleObj>
              </mc:Choice>
              <mc:Fallback>
                <p:oleObj name="Equation" r:id="rId2" imgW="1269720" imgH="203040" progId="">
                  <p:embed/>
                  <p:pic>
                    <p:nvPicPr>
                      <p:cNvPr id="3074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4" y="1295400"/>
                        <a:ext cx="3660775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1000" imgH="330120" progId="Equation.3">
                  <p:embed/>
                </p:oleObj>
              </mc:Choice>
              <mc:Fallback>
                <p:oleObj name="Equation" r:id="rId4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940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5" t="18313" r="10612" b="39420"/>
          <a:stretch/>
        </p:blipFill>
        <p:spPr bwMode="auto">
          <a:xfrm>
            <a:off x="4199667" y="990600"/>
            <a:ext cx="4791933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1668" y="3219271"/>
            <a:ext cx="8915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 means that you will not increase information by decimating or squaring or taking the logarithm of your data, </a:t>
            </a:r>
            <a:r>
              <a:rPr lang="en-US" sz="2400" u="sng" dirty="0"/>
              <a:t>but does not mean that you can not filter off noise (or extract spikes from raw data) , because </a:t>
            </a:r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/>
        </p:nvGraphicFramePr>
        <p:xfrm>
          <a:off x="152400" y="5181600"/>
          <a:ext cx="3838987" cy="529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120" imgH="203040" progId="">
                  <p:embed/>
                </p:oleObj>
              </mc:Choice>
              <mc:Fallback>
                <p:oleObj name="Equation" r:id="rId7" imgW="1473120" imgH="203040" progId="">
                  <p:embed/>
                  <p:pic>
                    <p:nvPicPr>
                      <p:cNvPr id="4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181600"/>
                        <a:ext cx="3838987" cy="5295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Grp="1" noChangeAspect="1"/>
          </p:cNvGraphicFramePr>
          <p:nvPr/>
        </p:nvGraphicFramePr>
        <p:xfrm>
          <a:off x="5943600" y="5181600"/>
          <a:ext cx="26812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8520" imgH="203040" progId="">
                  <p:embed/>
                </p:oleObj>
              </mc:Choice>
              <mc:Fallback>
                <p:oleObj name="Equation" r:id="rId9" imgW="1028520" imgH="203040" progId="">
                  <p:embed/>
                  <p:pic>
                    <p:nvPicPr>
                      <p:cNvPr id="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181600"/>
                        <a:ext cx="2681288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17377" y="5257800"/>
            <a:ext cx="76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</a:t>
            </a:r>
          </a:p>
        </p:txBody>
      </p:sp>
    </p:spTree>
    <p:extLst>
      <p:ext uri="{BB962C8B-B14F-4D97-AF65-F5344CB8AC3E}">
        <p14:creationId xmlns:p14="http://schemas.microsoft.com/office/powerpoint/2010/main" val="2362622618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Combining different responses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1000" imgH="330120" progId="Equation.3">
                  <p:embed/>
                </p:oleObj>
              </mc:Choice>
              <mc:Fallback>
                <p:oleObj name="Equation" r:id="rId2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Grp="1" noChangeAspect="1"/>
          </p:cNvGraphicFramePr>
          <p:nvPr/>
        </p:nvGraphicFramePr>
        <p:xfrm>
          <a:off x="-1" y="914400"/>
          <a:ext cx="9144001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080" imgH="431640" progId="">
                  <p:embed/>
                </p:oleObj>
              </mc:Choice>
              <mc:Fallback>
                <p:oleObj name="Equation" r:id="rId4" imgW="3124080" imgH="431640" progId="">
                  <p:embed/>
                  <p:pic>
                    <p:nvPicPr>
                      <p:cNvPr id="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" y="914400"/>
                        <a:ext cx="9144001" cy="1090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2133600"/>
          <a:ext cx="3581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4038600"/>
          <a:ext cx="3581400" cy="175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816" y="2286000"/>
            <a:ext cx="5289481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53154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816" y="2286000"/>
            <a:ext cx="5289481" cy="4267200"/>
          </a:xfrm>
          <a:prstGeom prst="rect">
            <a:avLst/>
          </a:prstGeom>
        </p:spPr>
      </p:pic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Redundancy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91000" imgH="330120" progId="Equation.3">
                  <p:embed/>
                </p:oleObj>
              </mc:Choice>
              <mc:Fallback>
                <p:oleObj name="Equation" r:id="rId3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Grp="1" noChangeAspect="1"/>
          </p:cNvGraphicFramePr>
          <p:nvPr/>
        </p:nvGraphicFramePr>
        <p:xfrm>
          <a:off x="185738" y="1169988"/>
          <a:ext cx="87725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97000" imgH="228600" progId="">
                  <p:embed/>
                </p:oleObj>
              </mc:Choice>
              <mc:Fallback>
                <p:oleObj name="Equation" r:id="rId5" imgW="2997000" imgH="228600" progId="">
                  <p:embed/>
                  <p:pic>
                    <p:nvPicPr>
                      <p:cNvPr id="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8" y="1169988"/>
                        <a:ext cx="8772525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2133600"/>
          <a:ext cx="3581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4038600"/>
          <a:ext cx="3581400" cy="175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40835" y="5972613"/>
            <a:ext cx="343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Redundancy&gt;0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3857620" y="1702346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5643570" y="1714488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7572396" y="164305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1.585</a:t>
            </a:r>
          </a:p>
        </p:txBody>
      </p:sp>
    </p:spTree>
    <p:extLst>
      <p:ext uri="{BB962C8B-B14F-4D97-AF65-F5344CB8AC3E}">
        <p14:creationId xmlns:p14="http://schemas.microsoft.com/office/powerpoint/2010/main" val="423274714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4833CCD4C2FF43A3A3C271054A5EB0" ma:contentTypeVersion="3" ma:contentTypeDescription="Creare un nuovo documento." ma:contentTypeScope="" ma:versionID="b70027fdb4c1b1eb2bab3914881cac99">
  <xsd:schema xmlns:xsd="http://www.w3.org/2001/XMLSchema" xmlns:xs="http://www.w3.org/2001/XMLSchema" xmlns:p="http://schemas.microsoft.com/office/2006/metadata/properties" xmlns:ns2="8442ee31-cce1-422a-bc66-5370dcdeec33" targetNamespace="http://schemas.microsoft.com/office/2006/metadata/properties" ma:root="true" ma:fieldsID="10f8f216c52543ac433b769f5bf7bd55" ns2:_="">
    <xsd:import namespace="8442ee31-cce1-422a-bc66-5370dcdee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2ee31-cce1-422a-bc66-5370dcdee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1AE789-F363-45E4-BE33-AAF2F8662CF7}"/>
</file>

<file path=customXml/itemProps2.xml><?xml version="1.0" encoding="utf-8"?>
<ds:datastoreItem xmlns:ds="http://schemas.openxmlformats.org/officeDocument/2006/customXml" ds:itemID="{4B683B1E-44FA-4411-B1C4-B875BECF5415}"/>
</file>

<file path=customXml/itemProps3.xml><?xml version="1.0" encoding="utf-8"?>
<ds:datastoreItem xmlns:ds="http://schemas.openxmlformats.org/officeDocument/2006/customXml" ds:itemID="{72F941C1-091B-4AF7-A6BB-9DFD7EA9B7A1}"/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3205</Words>
  <Application>Microsoft Office PowerPoint</Application>
  <PresentationFormat>Presentazione su schermo (4:3)</PresentationFormat>
  <Paragraphs>629</Paragraphs>
  <Slides>72</Slides>
  <Notes>35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72</vt:i4>
      </vt:variant>
    </vt:vector>
  </HeadingPairs>
  <TitlesOfParts>
    <vt:vector size="81" baseType="lpstr">
      <vt:lpstr>Arial</vt:lpstr>
      <vt:lpstr>Calibri</vt:lpstr>
      <vt:lpstr>Cambria Math</vt:lpstr>
      <vt:lpstr>French Script MT</vt:lpstr>
      <vt:lpstr>Nimbus Sans L</vt:lpstr>
      <vt:lpstr>Tahoma</vt:lpstr>
      <vt:lpstr>Times New Roman</vt:lpstr>
      <vt:lpstr>Tema di Office</vt:lpstr>
      <vt:lpstr>Equation</vt:lpstr>
      <vt:lpstr>Neuromorphic engineering: computational neuroengineering module </vt:lpstr>
      <vt:lpstr>Neuronal Models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Network response to constant input</vt:lpstr>
      <vt:lpstr>Network response to constant input</vt:lpstr>
      <vt:lpstr>Network response to constant input</vt:lpstr>
      <vt:lpstr>Spike trains encode stimuli</vt:lpstr>
      <vt:lpstr>Single Neuron Variability</vt:lpstr>
      <vt:lpstr>Decoding brain activity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Everything is connected</vt:lpstr>
      <vt:lpstr>Everything is connected</vt:lpstr>
      <vt:lpstr>Everything is connected… but how much?</vt:lpstr>
      <vt:lpstr>Everything is connected… but how much?</vt:lpstr>
      <vt:lpstr>The relationship between any pair of variables depends on other variables</vt:lpstr>
      <vt:lpstr>The relationship between  the relevant pair of variables (signal) depends on other variables (noise)</vt:lpstr>
      <vt:lpstr>The relationship between  the relevant pair of variables (signal) depends on other variables (noise)</vt:lpstr>
      <vt:lpstr>Correlation does not imply causation</vt:lpstr>
      <vt:lpstr>Correlation does not imply causation</vt:lpstr>
      <vt:lpstr>How to deal with these problems? </vt:lpstr>
      <vt:lpstr>Estimating the linear correlation</vt:lpstr>
      <vt:lpstr>Correlation coefficient</vt:lpstr>
      <vt:lpstr>Correlation coefficient</vt:lpstr>
      <vt:lpstr>Correlation coefficient</vt:lpstr>
      <vt:lpstr>Correlation coefficient</vt:lpstr>
      <vt:lpstr>Correlation coefficient and significance</vt:lpstr>
      <vt:lpstr>Correlation coefficient and data set size</vt:lpstr>
      <vt:lpstr>Correlation coefficient and data set size</vt:lpstr>
      <vt:lpstr>Correlation coefficient and data set size</vt:lpstr>
      <vt:lpstr>Cross-correlation</vt:lpstr>
      <vt:lpstr>Autocorrelation</vt:lpstr>
      <vt:lpstr>Auto and cross correlation meaning</vt:lpstr>
      <vt:lpstr>Presentazione standard di PowerPoint</vt:lpstr>
      <vt:lpstr>Presentazione standard di PowerPoint</vt:lpstr>
      <vt:lpstr>Presentazione standard di PowerPoint</vt:lpstr>
      <vt:lpstr>Is linear correlation the whole story?</vt:lpstr>
      <vt:lpstr>Sometimes linear correlation  is not the whole story</vt:lpstr>
      <vt:lpstr> Information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Shannon’s Information</vt:lpstr>
      <vt:lpstr>Information key equations</vt:lpstr>
      <vt:lpstr>Data processing inequality</vt:lpstr>
      <vt:lpstr>Combining different responses</vt:lpstr>
      <vt:lpstr>Redundancy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Models</dc:title>
  <dc:creator>alberto</dc:creator>
  <cp:lastModifiedBy>Alberto Mazzoni</cp:lastModifiedBy>
  <cp:revision>48</cp:revision>
  <dcterms:created xsi:type="dcterms:W3CDTF">2016-10-12T06:46:34Z</dcterms:created>
  <dcterms:modified xsi:type="dcterms:W3CDTF">2026-04-26T10:09:49Z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0x010100D54833CCD4C2FF43A3A3C271054A5EB0</vt:lpwstr>
  </property>
</Properties>
</file>