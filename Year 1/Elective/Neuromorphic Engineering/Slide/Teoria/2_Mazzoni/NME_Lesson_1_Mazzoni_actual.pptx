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625" r:id="rId3"/>
    <p:sldId id="626" r:id="rId4"/>
    <p:sldId id="627" r:id="rId5"/>
    <p:sldId id="628" r:id="rId6"/>
    <p:sldId id="629" r:id="rId7"/>
    <p:sldId id="630" r:id="rId8"/>
    <p:sldId id="631" r:id="rId9"/>
    <p:sldId id="632" r:id="rId10"/>
    <p:sldId id="633" r:id="rId11"/>
    <p:sldId id="634" r:id="rId12"/>
    <p:sldId id="635" r:id="rId13"/>
    <p:sldId id="636" r:id="rId14"/>
    <p:sldId id="539" r:id="rId15"/>
    <p:sldId id="637" r:id="rId16"/>
    <p:sldId id="638" r:id="rId17"/>
    <p:sldId id="639" r:id="rId18"/>
    <p:sldId id="640" r:id="rId19"/>
    <p:sldId id="438" r:id="rId20"/>
    <p:sldId id="439" r:id="rId21"/>
    <p:sldId id="440" r:id="rId22"/>
    <p:sldId id="441" r:id="rId23"/>
    <p:sldId id="442" r:id="rId24"/>
    <p:sldId id="443" r:id="rId25"/>
    <p:sldId id="541" r:id="rId26"/>
    <p:sldId id="532" r:id="rId27"/>
    <p:sldId id="444" r:id="rId28"/>
    <p:sldId id="445" r:id="rId29"/>
    <p:sldId id="446" r:id="rId30"/>
    <p:sldId id="447" r:id="rId31"/>
    <p:sldId id="448" r:id="rId32"/>
    <p:sldId id="449" r:id="rId33"/>
    <p:sldId id="450" r:id="rId34"/>
    <p:sldId id="451" r:id="rId3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63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9496D-ADBF-4A18-95D4-AE7277CC9CD7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9D7BA-C0FF-4E3D-A591-4EB38D80A8EE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31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32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106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33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68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34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6684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EC56D-4454-4717-98EA-B8EE0FABF145}" type="datetimeFigureOut">
              <a:rPr lang="it-IT" smtClean="0"/>
              <a:pPr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gif"/><Relationship Id="rId4" Type="http://schemas.openxmlformats.org/officeDocument/2006/relationships/image" Target="../media/image28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37.jpeg"/><Relationship Id="rId7" Type="http://schemas.openxmlformats.org/officeDocument/2006/relationships/image" Target="../media/image4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37.jpeg"/><Relationship Id="rId7" Type="http://schemas.openxmlformats.org/officeDocument/2006/relationships/image" Target="../media/image4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o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5975"/>
          <a:stretch/>
        </p:blipFill>
        <p:spPr bwMode="auto">
          <a:xfrm>
            <a:off x="482318" y="4943127"/>
            <a:ext cx="2392127" cy="116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2318" y="227176"/>
            <a:ext cx="8410162" cy="5506080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Neuromorphic</a:t>
            </a:r>
            <a:r>
              <a:rPr lang="it-IT" sz="6000" b="1" dirty="0">
                <a:solidFill>
                  <a:srgbClr val="FF0000"/>
                </a:solidFill>
              </a:rPr>
              <a:t> engineering: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computational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neuroengineering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module</a:t>
            </a:r>
            <a:br>
              <a:rPr lang="it-IT" sz="6000" b="1" dirty="0">
                <a:solidFill>
                  <a:srgbClr val="FF0000"/>
                </a:solidFill>
              </a:rPr>
            </a:br>
            <a:endParaRPr lang="it-IT" sz="6000" b="1" dirty="0">
              <a:solidFill>
                <a:srgbClr val="FF0000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347864" y="5131249"/>
            <a:ext cx="5688632" cy="792088"/>
          </a:xfrm>
        </p:spPr>
        <p:txBody>
          <a:bodyPr>
            <a:normAutofit/>
          </a:bodyPr>
          <a:lstStyle/>
          <a:p>
            <a:r>
              <a:rPr lang="it-IT" dirty="0" err="1"/>
              <a:t>Mazzoni@Bionics</a:t>
            </a:r>
            <a:r>
              <a:rPr lang="it-IT" dirty="0"/>
              <a:t>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magine 4">
            <a:extLst>
              <a:ext uri="{FF2B5EF4-FFF2-40B4-BE49-F238E27FC236}">
                <a16:creationId xmlns:a16="http://schemas.microsoft.com/office/drawing/2014/main" id="{B4A9FBBA-AF4E-118D-D514-F2BB70B59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38628" b="58153"/>
          <a:stretch>
            <a:fillRect/>
          </a:stretch>
        </p:blipFill>
        <p:spPr bwMode="auto">
          <a:xfrm>
            <a:off x="2339752" y="5126568"/>
            <a:ext cx="4730502" cy="876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itolo 5">
            <a:extLst>
              <a:ext uri="{FF2B5EF4-FFF2-40B4-BE49-F238E27FC236}">
                <a16:creationId xmlns:a16="http://schemas.microsoft.com/office/drawing/2014/main" id="{4D5AEE94-235B-0AE1-223E-F06FC858D81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4294" tIns="32147" rIns="64294" bIns="32147" numCol="1" rtlCol="0" anchor="t" anchorCtr="0" compatLnSpc="1">
            <a:prstTxWarp prst="textNoShape">
              <a:avLst/>
            </a:prstTxWarp>
            <a:normAutofit/>
          </a:bodyPr>
          <a:lstStyle/>
          <a:p>
            <a:endParaRPr lang="it-IT" altLang="it-IT"/>
          </a:p>
        </p:txBody>
      </p:sp>
      <p:pic>
        <p:nvPicPr>
          <p:cNvPr id="3076" name="Immagine 8">
            <a:extLst>
              <a:ext uri="{FF2B5EF4-FFF2-40B4-BE49-F238E27FC236}">
                <a16:creationId xmlns:a16="http://schemas.microsoft.com/office/drawing/2014/main" id="{72DD6A8B-7194-BE2A-AAF9-1F9201C9D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869"/>
            <a:ext cx="9144000" cy="4919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Immagine 9">
            <a:extLst>
              <a:ext uri="{FF2B5EF4-FFF2-40B4-BE49-F238E27FC236}">
                <a16:creationId xmlns:a16="http://schemas.microsoft.com/office/drawing/2014/main" id="{D34CCA45-6D20-BEB3-87DA-CA1F296A6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098" y="5799644"/>
            <a:ext cx="4547443" cy="911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magine 1">
            <a:extLst>
              <a:ext uri="{FF2B5EF4-FFF2-40B4-BE49-F238E27FC236}">
                <a16:creationId xmlns:a16="http://schemas.microsoft.com/office/drawing/2014/main" id="{E1727736-0659-4669-CC9B-D62DAD267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1" y="0"/>
            <a:ext cx="9144001" cy="18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Immagine 8">
            <a:extLst>
              <a:ext uri="{FF2B5EF4-FFF2-40B4-BE49-F238E27FC236}">
                <a16:creationId xmlns:a16="http://schemas.microsoft.com/office/drawing/2014/main" id="{8EA2C512-4508-FB4C-FBA5-5518852E9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6" y="1799332"/>
            <a:ext cx="7849195" cy="2453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Immagine 4">
            <a:extLst>
              <a:ext uri="{FF2B5EF4-FFF2-40B4-BE49-F238E27FC236}">
                <a16:creationId xmlns:a16="http://schemas.microsoft.com/office/drawing/2014/main" id="{067076B3-89B9-4BFA-A884-9D1B7B4A2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6" y="3985989"/>
            <a:ext cx="6104558" cy="24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65AD6-FAF9-4AE2-3C16-A3812FACB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magine 1">
            <a:extLst>
              <a:ext uri="{FF2B5EF4-FFF2-40B4-BE49-F238E27FC236}">
                <a16:creationId xmlns:a16="http://schemas.microsoft.com/office/drawing/2014/main" id="{D1EE2A28-1F8D-54A4-3482-717ECA8B0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1" y="0"/>
            <a:ext cx="9144001" cy="18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Immagine 8">
            <a:extLst>
              <a:ext uri="{FF2B5EF4-FFF2-40B4-BE49-F238E27FC236}">
                <a16:creationId xmlns:a16="http://schemas.microsoft.com/office/drawing/2014/main" id="{6C7CDA1B-E0F3-0B2D-0BBB-67E56FC07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6" y="1799332"/>
            <a:ext cx="7849195" cy="2453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Immagine 4">
            <a:extLst>
              <a:ext uri="{FF2B5EF4-FFF2-40B4-BE49-F238E27FC236}">
                <a16:creationId xmlns:a16="http://schemas.microsoft.com/office/drawing/2014/main" id="{5CB3F741-53F8-F4AA-30D7-C8EA55EE8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6" y="3985989"/>
            <a:ext cx="6104558" cy="24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22AD3F1-305F-F5CF-AA9C-04ABA4A7F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821525">
            <a:off x="-6200" y="2281535"/>
            <a:ext cx="9173117" cy="2487636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93018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71603" y="76200"/>
            <a:ext cx="6143669" cy="852470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Arial" charset="0"/>
                <a:cs typeface="Arial" charset="0"/>
              </a:rPr>
              <a:t>Neural Coding</a:t>
            </a:r>
            <a:endParaRPr lang="en-US" sz="40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pic>
        <p:nvPicPr>
          <p:cNvPr id="116738" name="Picture 2" descr="http://static.megustaleer.com.ar/images/libros_650_x/978950075575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5565" y="785794"/>
            <a:ext cx="4048137" cy="60722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5525455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static.megustaleer.com.ar/images/libros_650_x/978950075575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5565" y="785794"/>
            <a:ext cx="4048137" cy="6072206"/>
          </a:xfrm>
          <a:prstGeom prst="rect">
            <a:avLst/>
          </a:prstGeom>
          <a:noFill/>
        </p:spPr>
      </p:pic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71603" y="76200"/>
            <a:ext cx="6143669" cy="852470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Arial" charset="0"/>
                <a:cs typeface="Arial" charset="0"/>
              </a:rPr>
              <a:t>Neural Coding</a:t>
            </a:r>
            <a:endParaRPr lang="en-US" sz="40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701384" y="3614475"/>
            <a:ext cx="7848872" cy="2016224"/>
            <a:chOff x="683568" y="3645024"/>
            <a:chExt cx="6984776" cy="2376264"/>
          </a:xfrm>
        </p:grpSpPr>
        <p:pic>
          <p:nvPicPr>
            <p:cNvPr id="6" name="Picture 11" descr="features.tif"/>
            <p:cNvPicPr>
              <a:picLocks noChangeAspect="1"/>
            </p:cNvPicPr>
            <p:nvPr/>
          </p:nvPicPr>
          <p:blipFill>
            <a:blip r:embed="rId3" cstate="print"/>
            <a:srcRect l="13235" t="3893" r="5479" b="71514"/>
            <a:stretch>
              <a:fillRect/>
            </a:stretch>
          </p:blipFill>
          <p:spPr bwMode="auto">
            <a:xfrm>
              <a:off x="683568" y="3645024"/>
              <a:ext cx="6984776" cy="1152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11" descr="features.tif"/>
            <p:cNvPicPr>
              <a:picLocks noChangeAspect="1"/>
            </p:cNvPicPr>
            <p:nvPr/>
          </p:nvPicPr>
          <p:blipFill>
            <a:blip r:embed="rId3" cstate="print"/>
            <a:srcRect l="13235" t="54620" r="5479" b="25398"/>
            <a:stretch>
              <a:fillRect/>
            </a:stretch>
          </p:blipFill>
          <p:spPr bwMode="auto">
            <a:xfrm>
              <a:off x="827584" y="5085184"/>
              <a:ext cx="6697662" cy="936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70929384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50875" y="76200"/>
            <a:ext cx="7315200" cy="823913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Neuronal Coding</a:t>
            </a:r>
            <a:endParaRPr lang="en-US" sz="3200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914400"/>
            <a:ext cx="8358188" cy="2819400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rial" charset="0"/>
                <a:cs typeface="Arial" charset="0"/>
              </a:rPr>
              <a:t>How do neurons encode and transmit sensory and motor  information?</a:t>
            </a:r>
          </a:p>
          <a:p>
            <a:r>
              <a:rPr lang="en-US" sz="2400" dirty="0">
                <a:latin typeface="Arial" charset="0"/>
                <a:cs typeface="Arial" charset="0"/>
              </a:rPr>
              <a:t>What is the language (“code”) used by the neurons to transmit information to one another?</a:t>
            </a:r>
            <a:r>
              <a:rPr lang="en-GB" sz="2400" dirty="0">
                <a:latin typeface="Arial" charset="0"/>
                <a:cs typeface="Arial" charset="0"/>
              </a:rPr>
              <a:t> 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22"/>
          <a:stretch/>
        </p:blipFill>
        <p:spPr bwMode="auto">
          <a:xfrm>
            <a:off x="100013" y="2881168"/>
            <a:ext cx="8943975" cy="359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2803415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28"/>
          <a:stretch>
            <a:fillRect/>
          </a:stretch>
        </p:blipFill>
        <p:spPr bwMode="auto">
          <a:xfrm>
            <a:off x="900113" y="1341438"/>
            <a:ext cx="2303462" cy="410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 Box 3"/>
          <p:cNvSpPr txBox="1">
            <a:spLocks noChangeArrowheads="1"/>
          </p:cNvSpPr>
          <p:nvPr/>
        </p:nvSpPr>
        <p:spPr bwMode="auto">
          <a:xfrm>
            <a:off x="539750" y="260350"/>
            <a:ext cx="82232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3200" dirty="0">
                <a:solidFill>
                  <a:srgbClr val="FF0000"/>
                </a:solidFill>
                <a:latin typeface="Arial" charset="0"/>
              </a:rPr>
              <a:t>The neuronal code is a sequence of spikes</a:t>
            </a:r>
            <a:endParaRPr lang="en-US" sz="3200" dirty="0">
              <a:solidFill>
                <a:srgbClr val="FF0000"/>
              </a:solidFill>
              <a:latin typeface="Arial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132138" y="1341438"/>
            <a:ext cx="5834062" cy="1727200"/>
            <a:chOff x="1973" y="845"/>
            <a:chExt cx="3675" cy="1088"/>
          </a:xfrm>
        </p:grpSpPr>
        <p:pic>
          <p:nvPicPr>
            <p:cNvPr id="20492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356" b="57912"/>
            <a:stretch>
              <a:fillRect/>
            </a:stretch>
          </p:blipFill>
          <p:spPr bwMode="auto">
            <a:xfrm>
              <a:off x="1973" y="845"/>
              <a:ext cx="1563" cy="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3" name="Rectangle 6"/>
            <p:cNvSpPr>
              <a:spLocks noChangeArrowheads="1"/>
            </p:cNvSpPr>
            <p:nvPr/>
          </p:nvSpPr>
          <p:spPr bwMode="auto">
            <a:xfrm>
              <a:off x="3560" y="981"/>
              <a:ext cx="2088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GB" sz="1800" b="1">
                  <a:solidFill>
                    <a:srgbClr val="FF0000"/>
                  </a:solidFill>
                  <a:latin typeface="Arial" charset="0"/>
                </a:rPr>
                <a:t>Somatic electrode</a:t>
              </a:r>
              <a:r>
                <a:rPr lang="en-GB" sz="1800">
                  <a:latin typeface="Arial" charset="0"/>
                </a:rPr>
                <a:t> – subthreshold membrane potential plus Action Potentials (spikes)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203575" y="3789363"/>
            <a:ext cx="5762625" cy="1655762"/>
            <a:chOff x="2018" y="2387"/>
            <a:chExt cx="3630" cy="1043"/>
          </a:xfrm>
        </p:grpSpPr>
        <p:pic>
          <p:nvPicPr>
            <p:cNvPr id="20490" name="Picture 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72" t="59651"/>
            <a:stretch>
              <a:fillRect/>
            </a:stretch>
          </p:blipFill>
          <p:spPr bwMode="auto">
            <a:xfrm>
              <a:off x="2018" y="2387"/>
              <a:ext cx="1518" cy="1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1" name="Rectangle 9"/>
            <p:cNvSpPr>
              <a:spLocks noChangeArrowheads="1"/>
            </p:cNvSpPr>
            <p:nvPr/>
          </p:nvSpPr>
          <p:spPr bwMode="auto">
            <a:xfrm>
              <a:off x="3560" y="2432"/>
              <a:ext cx="2088" cy="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GB" sz="1800" b="1">
                  <a:solidFill>
                    <a:srgbClr val="FF0000"/>
                  </a:solidFill>
                  <a:latin typeface="Arial" charset="0"/>
                </a:rPr>
                <a:t>Axonal electrode</a:t>
              </a:r>
              <a:r>
                <a:rPr lang="en-GB" sz="1800">
                  <a:latin typeface="Arial" charset="0"/>
                </a:rPr>
                <a:t>– subthreshold membrane potential are attenuated and only spikes propagate long distance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059113" y="2924175"/>
            <a:ext cx="5516562" cy="865188"/>
            <a:chOff x="1927" y="1842"/>
            <a:chExt cx="3475" cy="545"/>
          </a:xfrm>
        </p:grpSpPr>
        <p:pic>
          <p:nvPicPr>
            <p:cNvPr id="20488" name="Picture 1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807" t="38568" b="40349"/>
            <a:stretch>
              <a:fillRect/>
            </a:stretch>
          </p:blipFill>
          <p:spPr bwMode="auto">
            <a:xfrm>
              <a:off x="1927" y="1842"/>
              <a:ext cx="1609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89" name="Rectangle 12"/>
            <p:cNvSpPr>
              <a:spLocks noChangeArrowheads="1"/>
            </p:cNvSpPr>
            <p:nvPr/>
          </p:nvSpPr>
          <p:spPr bwMode="auto">
            <a:xfrm>
              <a:off x="3742" y="2024"/>
              <a:ext cx="1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800" b="1">
                  <a:solidFill>
                    <a:srgbClr val="FF0000"/>
                  </a:solidFill>
                  <a:latin typeface="Arial" charset="0"/>
                </a:rPr>
                <a:t>Extracellular electrode</a:t>
              </a:r>
              <a:endParaRPr lang="en-US" sz="1800" b="1">
                <a:solidFill>
                  <a:srgbClr val="FF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928965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288" y="316720"/>
            <a:ext cx="5268912" cy="3340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395288" y="4221163"/>
            <a:ext cx="8343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it-IT" sz="1800">
              <a:latin typeface="Arial" charset="0"/>
            </a:endParaRP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395288" y="3860800"/>
            <a:ext cx="8343900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>
                <a:latin typeface="Arial" charset="0"/>
              </a:rPr>
              <a:t>The synaptic vesicles in the axon terminal release neurotransmitters only when an action potential arrives from the presynaptic neuron</a:t>
            </a:r>
          </a:p>
          <a:p>
            <a:r>
              <a:rPr lang="en-GB">
                <a:latin typeface="Arial" charset="0"/>
              </a:rPr>
              <a:t>Thus, neurons communicate information only through action potentials, not through subthreshold membrane fluctuations. </a:t>
            </a:r>
          </a:p>
          <a:p>
            <a:r>
              <a:rPr lang="en-GB" b="1">
                <a:latin typeface="Arial" charset="0"/>
              </a:rPr>
              <a:t>Thus, the neuronal code consists of a time series of stereotyped action potentials</a:t>
            </a:r>
            <a:endParaRPr lang="en-US" b="1">
              <a:latin typeface="Arial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39750" y="6044625"/>
            <a:ext cx="82232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3200" dirty="0">
                <a:solidFill>
                  <a:srgbClr val="FF0000"/>
                </a:solidFill>
                <a:latin typeface="Arial" charset="0"/>
              </a:rPr>
              <a:t>The neuronal code is a sequence of spikes</a:t>
            </a:r>
            <a:endParaRPr lang="en-US" sz="3200" dirty="0">
              <a:solidFill>
                <a:srgbClr val="FF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197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" y="831850"/>
            <a:ext cx="4127500" cy="335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029200"/>
            <a:ext cx="2337348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458628"/>
            <a:ext cx="1905000" cy="2323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3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0" r="4000" b="71254"/>
          <a:stretch/>
        </p:blipFill>
        <p:spPr bwMode="auto">
          <a:xfrm>
            <a:off x="7086600" y="228600"/>
            <a:ext cx="1828800" cy="54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69900" y="260350"/>
            <a:ext cx="7607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dirty="0">
                <a:solidFill>
                  <a:srgbClr val="FF0000"/>
                </a:solidFill>
                <a:latin typeface="Arial" charset="0"/>
              </a:rPr>
              <a:t>… but on our perspective, the code is</a:t>
            </a:r>
            <a:endParaRPr lang="en-US" sz="28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371600" y="4433887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b="1" dirty="0" err="1">
                <a:solidFill>
                  <a:srgbClr val="FF0000"/>
                </a:solidFill>
                <a:latin typeface="Arial" charset="0"/>
              </a:rPr>
              <a:t>ECoG</a:t>
            </a:r>
            <a:endParaRPr lang="en-US" sz="2800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7467600" y="3824287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Arial" charset="0"/>
              </a:rPr>
              <a:t>fMRI</a:t>
            </a:r>
            <a:endParaRPr lang="en-US" sz="2800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800600"/>
            <a:ext cx="211516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4198334" y="35052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Arial" charset="0"/>
              </a:rPr>
              <a:t>spikes</a:t>
            </a:r>
            <a:endParaRPr lang="en-US" sz="2800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372280" y="12954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Arial" charset="0"/>
              </a:rPr>
              <a:t>LFP</a:t>
            </a:r>
            <a:endParaRPr lang="en-US" sz="2800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4648200" y="4357687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Arial" charset="0"/>
              </a:rPr>
              <a:t>EEG</a:t>
            </a:r>
            <a:endParaRPr lang="en-US" sz="2800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43017" name="Picture 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725" y="1143000"/>
            <a:ext cx="3152605" cy="219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Arrow Connector 2"/>
          <p:cNvCxnSpPr>
            <a:stCxn id="13" idx="2"/>
            <a:endCxn id="43017" idx="1"/>
          </p:cNvCxnSpPr>
          <p:nvPr/>
        </p:nvCxnSpPr>
        <p:spPr>
          <a:xfrm>
            <a:off x="5096180" y="1814513"/>
            <a:ext cx="831545" cy="4270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11" idx="0"/>
            <a:endCxn id="43017" idx="1"/>
          </p:cNvCxnSpPr>
          <p:nvPr/>
        </p:nvCxnSpPr>
        <p:spPr>
          <a:xfrm flipV="1">
            <a:off x="4922234" y="2241538"/>
            <a:ext cx="1005491" cy="12636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3"/>
            <a:endCxn id="43017" idx="2"/>
          </p:cNvCxnSpPr>
          <p:nvPr/>
        </p:nvCxnSpPr>
        <p:spPr>
          <a:xfrm flipV="1">
            <a:off x="2819400" y="3340075"/>
            <a:ext cx="4684628" cy="13533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4" idx="0"/>
            <a:endCxn id="43017" idx="2"/>
          </p:cNvCxnSpPr>
          <p:nvPr/>
        </p:nvCxnSpPr>
        <p:spPr>
          <a:xfrm flipV="1">
            <a:off x="5372100" y="3340075"/>
            <a:ext cx="2131928" cy="10176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0"/>
            <a:endCxn id="43017" idx="2"/>
          </p:cNvCxnSpPr>
          <p:nvPr/>
        </p:nvCxnSpPr>
        <p:spPr>
          <a:xfrm flipH="1" flipV="1">
            <a:off x="7504028" y="3340075"/>
            <a:ext cx="687472" cy="4842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658" name="AutoShape 2" descr="Risultati immagini per recording methods brain scales"/>
          <p:cNvSpPr>
            <a:spLocks noChangeAspect="1" noChangeArrowheads="1"/>
          </p:cNvSpPr>
          <p:nvPr/>
        </p:nvSpPr>
        <p:spPr bwMode="auto">
          <a:xfrm>
            <a:off x="155575" y="-1790700"/>
            <a:ext cx="55721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9137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C6248-C409-3B77-4F00-245FD29D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58C1D9C0-EB0D-EA5C-47BC-416955113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260350"/>
            <a:ext cx="7607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dirty="0">
                <a:solidFill>
                  <a:srgbClr val="FF0000"/>
                </a:solidFill>
                <a:latin typeface="Arial" charset="0"/>
              </a:rPr>
              <a:t>Neurons act in networks</a:t>
            </a:r>
            <a:endParaRPr lang="en-US" sz="28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70658" name="AutoShape 2" descr="Risultati immagini per recording methods brain scales">
            <a:extLst>
              <a:ext uri="{FF2B5EF4-FFF2-40B4-BE49-F238E27FC236}">
                <a16:creationId xmlns:a16="http://schemas.microsoft.com/office/drawing/2014/main" id="{F63F94F4-B532-DAE4-FFD8-8E15525DA1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790700"/>
            <a:ext cx="55721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4" name="Immagine 3" descr="Immagine che contiene diagramma, design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695A179C-C4D3-F247-EADC-55C496EB01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3382351"/>
            <a:ext cx="5148064" cy="3432043"/>
          </a:xfrm>
          <a:prstGeom prst="rect">
            <a:avLst/>
          </a:prstGeom>
        </p:spPr>
      </p:pic>
      <p:pic>
        <p:nvPicPr>
          <p:cNvPr id="12" name="Immagine 11" descr="Immagine che contiene disegno, schizzo, arte, albero&#10;&#10;Il contenuto generato dall'IA potrebbe non essere corretto.">
            <a:extLst>
              <a:ext uri="{FF2B5EF4-FFF2-40B4-BE49-F238E27FC236}">
                <a16:creationId xmlns:a16="http://schemas.microsoft.com/office/drawing/2014/main" id="{15CA9718-B635-BC40-7A06-5B3BE51DC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93" y="812188"/>
            <a:ext cx="4066209" cy="6078537"/>
          </a:xfrm>
          <a:prstGeom prst="rect">
            <a:avLst/>
          </a:prstGeom>
        </p:spPr>
      </p:pic>
      <p:pic>
        <p:nvPicPr>
          <p:cNvPr id="15" name="Immagine 8">
            <a:extLst>
              <a:ext uri="{FF2B5EF4-FFF2-40B4-BE49-F238E27FC236}">
                <a16:creationId xmlns:a16="http://schemas.microsoft.com/office/drawing/2014/main" id="{A424C61C-2340-0224-18C9-27F98525A0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" t="9226" r="59450" b="26365"/>
          <a:stretch/>
        </p:blipFill>
        <p:spPr bwMode="auto">
          <a:xfrm>
            <a:off x="4928100" y="227625"/>
            <a:ext cx="3558211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3288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AutoShape 2" descr="Risultati immagini per recording methods brain scales"/>
          <p:cNvSpPr>
            <a:spLocks noChangeAspect="1" noChangeArrowheads="1"/>
          </p:cNvSpPr>
          <p:nvPr/>
        </p:nvSpPr>
        <p:spPr bwMode="auto">
          <a:xfrm>
            <a:off x="155575" y="-1790700"/>
            <a:ext cx="55721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32100" name="AutoShape 4" descr="Risultati immagini per recording methods brain scales"/>
          <p:cNvSpPr>
            <a:spLocks noChangeAspect="1" noChangeArrowheads="1"/>
          </p:cNvSpPr>
          <p:nvPr/>
        </p:nvSpPr>
        <p:spPr bwMode="auto">
          <a:xfrm>
            <a:off x="155575" y="-1790700"/>
            <a:ext cx="55721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32102" name="AutoShape 6" descr="Risultati immagini per recording methods brain scales"/>
          <p:cNvSpPr>
            <a:spLocks noChangeAspect="1" noChangeArrowheads="1"/>
          </p:cNvSpPr>
          <p:nvPr/>
        </p:nvSpPr>
        <p:spPr bwMode="auto">
          <a:xfrm>
            <a:off x="155575" y="-1790700"/>
            <a:ext cx="55721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5" name="Immagine 4" descr="sca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4" y="500042"/>
            <a:ext cx="8726910" cy="58579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76200"/>
            <a:ext cx="8247063" cy="1219200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Arial" charset="0"/>
                <a:cs typeface="Arial" charset="0"/>
              </a:rPr>
              <a:t>How do we know what we know</a:t>
            </a:r>
            <a:endParaRPr lang="en-US" sz="40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pic>
        <p:nvPicPr>
          <p:cNvPr id="38914" name="Picture 2" descr="http://www.perrymecium.com/wp-content/uploads/2014/08/picasso_bul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95400"/>
            <a:ext cx="5646402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63054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B51B-CF0A-6033-E7B9-808730DA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AE849C-E6D2-9317-41A3-205130520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5696" y="4005064"/>
            <a:ext cx="5148064" cy="1470025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Models</a:t>
            </a:r>
            <a:endParaRPr lang="it-IT" sz="6000" b="1" dirty="0">
              <a:solidFill>
                <a:srgbClr val="FF0000"/>
              </a:solidFill>
            </a:endParaRPr>
          </a:p>
        </p:txBody>
      </p:sp>
      <p:pic>
        <p:nvPicPr>
          <p:cNvPr id="7" name="Picture 2" descr="http://www.inmondadori.it/img/Kill-Bill-Volume-1-DVD-Quentin-Tarantino/ea803117993243/BL/BL/10/NZO/?tit=Kill+Bill+-+Volume+1+(DVD)&amp;aut=Quentin+Tarantino">
            <a:extLst>
              <a:ext uri="{FF2B5EF4-FFF2-40B4-BE49-F238E27FC236}">
                <a16:creationId xmlns:a16="http://schemas.microsoft.com/office/drawing/2014/main" id="{B0F6ED58-3944-BC02-E59C-A8912AB1E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" t="63461" r="61272" b="847"/>
          <a:stretch/>
        </p:blipFill>
        <p:spPr bwMode="auto">
          <a:xfrm>
            <a:off x="3851920" y="764704"/>
            <a:ext cx="1857388" cy="239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180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8636" y="13513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should I model neurons?</a:t>
            </a:r>
          </a:p>
        </p:txBody>
      </p:sp>
      <p:sp>
        <p:nvSpPr>
          <p:cNvPr id="7" name="Rettangolo 6"/>
          <p:cNvSpPr/>
          <p:nvPr/>
        </p:nvSpPr>
        <p:spPr>
          <a:xfrm>
            <a:off x="251520" y="980728"/>
            <a:ext cx="87129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1) To get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01960" y="1382557"/>
            <a:ext cx="88120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800" dirty="0">
                <a:latin typeface="Impact" panose="020B0806030902050204" pitchFamily="34" charset="0"/>
              </a:rPr>
              <a:t>ONE </a:t>
            </a:r>
            <a:r>
              <a:rPr lang="it-IT" sz="12000" dirty="0">
                <a:latin typeface="Impact" panose="020B0806030902050204" pitchFamily="34" charset="0"/>
              </a:rPr>
              <a:t>B</a:t>
            </a:r>
            <a:r>
              <a:rPr lang="it-IT" sz="8800" dirty="0">
                <a:latin typeface="Impact" panose="020B0806030902050204" pitchFamily="34" charset="0"/>
              </a:rPr>
              <a:t>ILLION EUROS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2267744" y="3405040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From the </a:t>
            </a:r>
            <a:r>
              <a:rPr lang="it-IT" sz="2800" dirty="0" err="1"/>
              <a:t>European</a:t>
            </a:r>
            <a:r>
              <a:rPr lang="it-IT" sz="2800" dirty="0"/>
              <a:t> Community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B194FB6-C880-4381-B6EC-05D13C3B1082}"/>
              </a:ext>
            </a:extLst>
          </p:cNvPr>
          <p:cNvSpPr txBox="1"/>
          <p:nvPr/>
        </p:nvSpPr>
        <p:spPr>
          <a:xfrm>
            <a:off x="3059832" y="6093296"/>
            <a:ext cx="4926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https://www.humanbrainproject.eu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A2127DB-1049-4596-B5EB-BF9F8B7259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440" y="3938817"/>
            <a:ext cx="2843808" cy="193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875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040" y="2428868"/>
            <a:ext cx="2286812" cy="3529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8636" y="13513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should I model neurons?</a:t>
            </a:r>
          </a:p>
        </p:txBody>
      </p:sp>
      <p:sp>
        <p:nvSpPr>
          <p:cNvPr id="7" name="Rettangolo 6"/>
          <p:cNvSpPr/>
          <p:nvPr/>
        </p:nvSpPr>
        <p:spPr>
          <a:xfrm>
            <a:off x="251520" y="980728"/>
            <a:ext cx="87129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2) To win the Nobel prize</a:t>
            </a:r>
          </a:p>
        </p:txBody>
      </p:sp>
      <p:pic>
        <p:nvPicPr>
          <p:cNvPr id="1026" name="Picture 2" descr="http://www.swarthmore.edu/NatSci/echeeve1/Ref/HH/huxley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16" y="3845949"/>
            <a:ext cx="1680187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swarthmore.edu/NatSci/echeeve1/Ref/HH/hodgkin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16" y="980728"/>
            <a:ext cx="1680187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math.pitt.edu/~bard/bardware/tut/gif/hh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986" y="1700808"/>
            <a:ext cx="4591050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/>
          <p:cNvSpPr txBox="1"/>
          <p:nvPr/>
        </p:nvSpPr>
        <p:spPr>
          <a:xfrm>
            <a:off x="6858016" y="6000768"/>
            <a:ext cx="2071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Tested</a:t>
            </a:r>
            <a:r>
              <a:rPr lang="it-IT" dirty="0"/>
              <a:t> on </a:t>
            </a:r>
            <a:r>
              <a:rPr lang="it-IT" dirty="0" err="1"/>
              <a:t>giant</a:t>
            </a:r>
            <a:r>
              <a:rPr lang="it-IT" dirty="0"/>
              <a:t> </a:t>
            </a:r>
            <a:r>
              <a:rPr lang="it-IT" dirty="0" err="1"/>
              <a:t>squid</a:t>
            </a:r>
            <a:r>
              <a:rPr lang="it-IT" dirty="0"/>
              <a:t> </a:t>
            </a:r>
            <a:r>
              <a:rPr lang="it-IT" dirty="0" err="1"/>
              <a:t>axon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B6BFD78-865C-49FC-9A99-DE8C9806E712}"/>
              </a:ext>
            </a:extLst>
          </p:cNvPr>
          <p:cNvSpPr txBox="1"/>
          <p:nvPr/>
        </p:nvSpPr>
        <p:spPr>
          <a:xfrm>
            <a:off x="270220" y="3356992"/>
            <a:ext cx="160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Hodgkin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D9337C8-ED90-4AB9-9F0F-6225B043758D}"/>
              </a:ext>
            </a:extLst>
          </p:cNvPr>
          <p:cNvSpPr txBox="1"/>
          <p:nvPr/>
        </p:nvSpPr>
        <p:spPr>
          <a:xfrm>
            <a:off x="270220" y="6375401"/>
            <a:ext cx="160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Huxley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702C324-6215-4E8D-B1FF-F999CBD96AD7}"/>
              </a:ext>
            </a:extLst>
          </p:cNvPr>
          <p:cNvSpPr txBox="1"/>
          <p:nvPr/>
        </p:nvSpPr>
        <p:spPr>
          <a:xfrm>
            <a:off x="2483768" y="4992157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Hodgkin and Huxley </a:t>
            </a:r>
            <a:r>
              <a:rPr lang="it-IT" dirty="0" err="1"/>
              <a:t>equations</a:t>
            </a:r>
            <a:r>
              <a:rPr lang="it-IT" dirty="0"/>
              <a:t> </a:t>
            </a:r>
            <a:r>
              <a:rPr lang="it-IT" dirty="0" err="1"/>
              <a:t>describing</a:t>
            </a:r>
            <a:r>
              <a:rPr lang="it-IT" dirty="0"/>
              <a:t> single </a:t>
            </a:r>
            <a:r>
              <a:rPr lang="it-IT" dirty="0" err="1"/>
              <a:t>neuron</a:t>
            </a:r>
            <a:r>
              <a:rPr lang="it-IT" dirty="0"/>
              <a:t> dynamics</a:t>
            </a:r>
          </a:p>
        </p:txBody>
      </p:sp>
    </p:spTree>
    <p:extLst>
      <p:ext uri="{BB962C8B-B14F-4D97-AF65-F5344CB8AC3E}">
        <p14:creationId xmlns:p14="http://schemas.microsoft.com/office/powerpoint/2010/main" val="1662483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BC7E-18C8-13F5-9C44-F02511F8F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BAC58C-B3C8-77BB-E679-EECD55337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36" y="13513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should I model neurons?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5C57471-2128-B3D4-9092-4A31D0E49AB8}"/>
              </a:ext>
            </a:extLst>
          </p:cNvPr>
          <p:cNvSpPr/>
          <p:nvPr/>
        </p:nvSpPr>
        <p:spPr>
          <a:xfrm>
            <a:off x="251520" y="980728"/>
            <a:ext cx="87129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2) To win the Nobel prize </a:t>
            </a:r>
            <a:r>
              <a:rPr lang="en-US" sz="4000" dirty="0"/>
              <a:t>IN PHYSICS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76D1A18-69E4-AC5E-B8DB-BD1ADD58B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8" y="1916832"/>
            <a:ext cx="3900689" cy="482453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4F5FF8A9-D3FA-3277-5231-74F471F44E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00"/>
          <a:stretch/>
        </p:blipFill>
        <p:spPr>
          <a:xfrm>
            <a:off x="3899288" y="1624266"/>
            <a:ext cx="4392488" cy="4178776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9A0B133B-B8A6-0447-746F-925335456F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338" t="54411"/>
          <a:stretch/>
        </p:blipFill>
        <p:spPr>
          <a:xfrm>
            <a:off x="4326107" y="4824350"/>
            <a:ext cx="4605513" cy="1917018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478DCECC-E009-9AB2-58AA-511CAB225F84}"/>
              </a:ext>
            </a:extLst>
          </p:cNvPr>
          <p:cNvSpPr/>
          <p:nvPr/>
        </p:nvSpPr>
        <p:spPr>
          <a:xfrm>
            <a:off x="7092280" y="3933056"/>
            <a:ext cx="1800200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9703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1D40-773C-2811-BC90-08D68B2E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30083B-8EBA-B559-4652-7B4E8D66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36" y="13513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should I model neurons?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6679890-B891-BF55-D79E-724CAF0C55F9}"/>
              </a:ext>
            </a:extLst>
          </p:cNvPr>
          <p:cNvSpPr/>
          <p:nvPr/>
        </p:nvSpPr>
        <p:spPr>
          <a:xfrm>
            <a:off x="251520" y="980728"/>
            <a:ext cx="87129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2) To win the Nobel prize </a:t>
            </a:r>
            <a:r>
              <a:rPr lang="en-US" sz="4000" dirty="0"/>
              <a:t>IN PHYSICS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D4E13E-E4F8-917D-2FC1-7195C40A1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9276"/>
            <a:ext cx="9144000" cy="510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87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8636" y="13513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should I model neurons?</a:t>
            </a:r>
          </a:p>
        </p:txBody>
      </p:sp>
      <p:sp>
        <p:nvSpPr>
          <p:cNvPr id="7" name="Rettangolo 6"/>
          <p:cNvSpPr/>
          <p:nvPr/>
        </p:nvSpPr>
        <p:spPr>
          <a:xfrm>
            <a:off x="251520" y="980728"/>
            <a:ext cx="87129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3) To become the best </a:t>
            </a:r>
            <a:r>
              <a:rPr lang="en-US" sz="2800" dirty="0" err="1"/>
              <a:t>neuroengineer</a:t>
            </a:r>
            <a:r>
              <a:rPr lang="en-US" sz="2800" dirty="0"/>
              <a:t> in the room</a:t>
            </a:r>
          </a:p>
        </p:txBody>
      </p:sp>
      <p:pic>
        <p:nvPicPr>
          <p:cNvPr id="200706" name="Picture 2"/>
          <p:cNvPicPr>
            <a:picLocks noChangeAspect="1" noChangeArrowheads="1"/>
          </p:cNvPicPr>
          <p:nvPr/>
        </p:nvPicPr>
        <p:blipFill>
          <a:blip r:embed="rId2" cstate="print"/>
          <a:srcRect b="34093"/>
          <a:stretch>
            <a:fillRect/>
          </a:stretch>
        </p:blipFill>
        <p:spPr bwMode="auto">
          <a:xfrm>
            <a:off x="2000232" y="1428736"/>
            <a:ext cx="5929354" cy="5258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38065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8636" y="13513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William of Ockham (c. 1287–1347)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29" b="21646"/>
          <a:stretch/>
        </p:blipFill>
        <p:spPr bwMode="auto">
          <a:xfrm>
            <a:off x="35496" y="2636912"/>
            <a:ext cx="9075880" cy="413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tangolo 3"/>
          <p:cNvSpPr/>
          <p:nvPr/>
        </p:nvSpPr>
        <p:spPr>
          <a:xfrm>
            <a:off x="1333076" y="1111442"/>
            <a:ext cx="64807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/>
              <a:t> </a:t>
            </a:r>
            <a:r>
              <a:rPr lang="it-IT" sz="2400" i="1" dirty="0" err="1"/>
              <a:t>entia</a:t>
            </a:r>
            <a:r>
              <a:rPr lang="it-IT" sz="2400" i="1" dirty="0"/>
              <a:t> non </a:t>
            </a:r>
            <a:r>
              <a:rPr lang="it-IT" sz="2400" i="1" dirty="0" err="1"/>
              <a:t>sunt</a:t>
            </a:r>
            <a:r>
              <a:rPr lang="it-IT" sz="2400" i="1" dirty="0"/>
              <a:t> </a:t>
            </a:r>
            <a:r>
              <a:rPr lang="it-IT" sz="2400" i="1" dirty="0" err="1"/>
              <a:t>multiplicanda</a:t>
            </a:r>
            <a:r>
              <a:rPr lang="it-IT" sz="2400" i="1" dirty="0"/>
              <a:t> </a:t>
            </a:r>
            <a:r>
              <a:rPr lang="it-IT" sz="2400" i="1" dirty="0" err="1"/>
              <a:t>praeter</a:t>
            </a:r>
            <a:r>
              <a:rPr lang="it-IT" sz="2400" i="1" dirty="0"/>
              <a:t> </a:t>
            </a:r>
            <a:r>
              <a:rPr lang="it-IT" sz="2400" i="1" dirty="0" err="1"/>
              <a:t>necessitatem</a:t>
            </a:r>
            <a:endParaRPr lang="en-US" sz="2400" i="1" dirty="0"/>
          </a:p>
        </p:txBody>
      </p:sp>
      <p:sp>
        <p:nvSpPr>
          <p:cNvPr id="7" name="Rettangolo 6"/>
          <p:cNvSpPr/>
          <p:nvPr/>
        </p:nvSpPr>
        <p:spPr>
          <a:xfrm>
            <a:off x="251520" y="1628800"/>
            <a:ext cx="87129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800" u="sng" dirty="0"/>
              <a:t> </a:t>
            </a:r>
            <a:r>
              <a:rPr lang="it-IT" sz="2800" u="sng" dirty="0" err="1"/>
              <a:t>among</a:t>
            </a:r>
            <a:r>
              <a:rPr lang="it-IT" sz="2800" u="sng" dirty="0"/>
              <a:t> </a:t>
            </a:r>
            <a:r>
              <a:rPr lang="it-IT" sz="2800" u="sng" dirty="0" err="1"/>
              <a:t>all</a:t>
            </a:r>
            <a:r>
              <a:rPr lang="it-IT" sz="2800" u="sng" dirty="0"/>
              <a:t> the </a:t>
            </a:r>
            <a:r>
              <a:rPr lang="it-IT" sz="2800" u="sng" dirty="0" err="1"/>
              <a:t>models</a:t>
            </a:r>
            <a:r>
              <a:rPr lang="it-IT" sz="2800" u="sng" dirty="0"/>
              <a:t> </a:t>
            </a:r>
            <a:r>
              <a:rPr lang="it-IT" sz="2800" u="sng" dirty="0" err="1"/>
              <a:t>explaining</a:t>
            </a:r>
            <a:r>
              <a:rPr lang="it-IT" sz="2800" u="sng" dirty="0"/>
              <a:t> the </a:t>
            </a:r>
            <a:r>
              <a:rPr lang="it-IT" sz="2800" u="sng" dirty="0" err="1"/>
              <a:t>phenomenon</a:t>
            </a:r>
            <a:r>
              <a:rPr lang="it-IT" sz="2800" u="sng" dirty="0"/>
              <a:t> under </a:t>
            </a:r>
            <a:r>
              <a:rPr lang="it-IT" sz="2800" u="sng" dirty="0" err="1"/>
              <a:t>investigation</a:t>
            </a:r>
            <a:r>
              <a:rPr lang="it-IT" sz="2800" u="sng" dirty="0"/>
              <a:t>, </a:t>
            </a:r>
            <a:r>
              <a:rPr lang="it-IT" sz="2800" u="sng" dirty="0" err="1"/>
              <a:t>always</a:t>
            </a:r>
            <a:r>
              <a:rPr lang="it-IT" sz="2800" u="sng" dirty="0"/>
              <a:t> </a:t>
            </a:r>
            <a:r>
              <a:rPr lang="it-IT" sz="2800" u="sng" dirty="0" err="1"/>
              <a:t>choose</a:t>
            </a:r>
            <a:r>
              <a:rPr lang="it-IT" sz="2800" u="sng" dirty="0"/>
              <a:t> the </a:t>
            </a:r>
            <a:r>
              <a:rPr lang="it-IT" sz="2800" u="sng" dirty="0" err="1"/>
              <a:t>simplest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335166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78098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simplest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323528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ttangolo 4"/>
          <p:cNvSpPr/>
          <p:nvPr/>
        </p:nvSpPr>
        <p:spPr>
          <a:xfrm>
            <a:off x="6732240" y="1556792"/>
            <a:ext cx="216024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Each</a:t>
            </a:r>
            <a:r>
              <a:rPr lang="it-IT" sz="2400" i="1" dirty="0"/>
              <a:t> </a:t>
            </a:r>
            <a:r>
              <a:rPr lang="it-IT" sz="2400" i="1" dirty="0" err="1"/>
              <a:t>cell</a:t>
            </a:r>
            <a:r>
              <a:rPr lang="it-IT" sz="2400" i="1" dirty="0"/>
              <a:t> </a:t>
            </a:r>
            <a:r>
              <a:rPr lang="it-IT" sz="2400" i="1" dirty="0" err="1"/>
              <a:t>is</a:t>
            </a:r>
            <a:r>
              <a:rPr lang="it-IT" sz="2400" i="1" dirty="0"/>
              <a:t> a </a:t>
            </a:r>
            <a:r>
              <a:rPr lang="it-IT" sz="2400" i="1" dirty="0" err="1"/>
              <a:t>neuron</a:t>
            </a:r>
            <a:r>
              <a:rPr lang="it-IT" sz="2400" i="1" dirty="0"/>
              <a:t>: </a:t>
            </a:r>
            <a:r>
              <a:rPr lang="it-IT" sz="2400" i="1" dirty="0" err="1"/>
              <a:t>black</a:t>
            </a:r>
            <a:r>
              <a:rPr lang="it-IT" sz="2400" i="1" dirty="0"/>
              <a:t> </a:t>
            </a:r>
            <a:r>
              <a:rPr lang="it-IT" sz="2400" i="1" dirty="0" err="1"/>
              <a:t>active</a:t>
            </a:r>
            <a:r>
              <a:rPr lang="it-IT" sz="2400" i="1" dirty="0"/>
              <a:t>, </a:t>
            </a:r>
            <a:r>
              <a:rPr lang="it-IT" sz="2400" i="1" dirty="0" err="1"/>
              <a:t>white</a:t>
            </a:r>
            <a:r>
              <a:rPr lang="it-IT" sz="2400" i="1" dirty="0"/>
              <a:t> </a:t>
            </a:r>
            <a:r>
              <a:rPr lang="it-IT" sz="2400" i="1" dirty="0" err="1"/>
              <a:t>inactive</a:t>
            </a:r>
            <a:r>
              <a:rPr lang="it-IT" sz="2400" i="1" dirty="0"/>
              <a:t>.</a:t>
            </a:r>
          </a:p>
          <a:p>
            <a:r>
              <a:rPr lang="it-IT" sz="2400" i="1" dirty="0" err="1"/>
              <a:t>Whenever</a:t>
            </a:r>
            <a:r>
              <a:rPr lang="it-IT" sz="2400" i="1" dirty="0"/>
              <a:t> a </a:t>
            </a:r>
            <a:r>
              <a:rPr lang="it-IT" sz="2400" i="1" dirty="0" err="1"/>
              <a:t>cell</a:t>
            </a:r>
            <a:r>
              <a:rPr lang="it-IT" sz="2400" i="1" dirty="0"/>
              <a:t> turns black (from </a:t>
            </a:r>
            <a:r>
              <a:rPr lang="it-IT" sz="2400" i="1" dirty="0" err="1"/>
              <a:t>inactive</a:t>
            </a:r>
            <a:r>
              <a:rPr lang="it-IT" sz="2400" i="1" dirty="0"/>
              <a:t> to </a:t>
            </a:r>
            <a:r>
              <a:rPr lang="it-IT" sz="2400" i="1" dirty="0" err="1"/>
              <a:t>active</a:t>
            </a:r>
            <a:r>
              <a:rPr lang="it-IT" sz="2400" i="1" dirty="0"/>
              <a:t>), triggers on </a:t>
            </a:r>
            <a:r>
              <a:rPr lang="it-IT" sz="2400" i="1" dirty="0" err="1"/>
              <a:t>average</a:t>
            </a:r>
            <a:r>
              <a:rPr lang="it-IT" sz="2400" i="1" dirty="0"/>
              <a:t> N </a:t>
            </a:r>
            <a:r>
              <a:rPr lang="it-IT" sz="2400" i="1" dirty="0" err="1"/>
              <a:t>neighbors</a:t>
            </a:r>
            <a:endParaRPr lang="en-US" sz="2400" i="1" dirty="0"/>
          </a:p>
        </p:txBody>
      </p:sp>
      <p:sp>
        <p:nvSpPr>
          <p:cNvPr id="6" name="Rettangolo 5"/>
          <p:cNvSpPr/>
          <p:nvPr/>
        </p:nvSpPr>
        <p:spPr>
          <a:xfrm>
            <a:off x="323528" y="92436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Observation</a:t>
            </a:r>
            <a:r>
              <a:rPr lang="it-IT" sz="2400" i="1" dirty="0"/>
              <a:t>: </a:t>
            </a:r>
            <a:r>
              <a:rPr lang="it-IT" sz="2400" i="1" dirty="0" err="1"/>
              <a:t>neurons</a:t>
            </a:r>
            <a:r>
              <a:rPr lang="it-IT" sz="2400" i="1" dirty="0"/>
              <a:t> </a:t>
            </a:r>
            <a:r>
              <a:rPr lang="it-IT" sz="2400" i="1" dirty="0" err="1"/>
              <a:t>communicate</a:t>
            </a:r>
            <a:r>
              <a:rPr lang="it-IT" sz="2400" i="1" dirty="0"/>
              <a:t> </a:t>
            </a:r>
            <a:r>
              <a:rPr lang="it-IT" sz="2400" i="1" dirty="0" err="1"/>
              <a:t>throug</a:t>
            </a:r>
            <a:r>
              <a:rPr lang="it-IT" sz="2400" i="1" dirty="0"/>
              <a:t> discrete </a:t>
            </a:r>
            <a:r>
              <a:rPr lang="it-IT" sz="2400" i="1" dirty="0" err="1"/>
              <a:t>events</a:t>
            </a:r>
            <a:r>
              <a:rPr lang="it-IT" sz="2400" i="1" dirty="0"/>
              <a:t>.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759178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78098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model,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334234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ttangolo 4"/>
          <p:cNvSpPr/>
          <p:nvPr/>
        </p:nvSpPr>
        <p:spPr>
          <a:xfrm>
            <a:off x="6732240" y="1556792"/>
            <a:ext cx="216024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/>
              <a:t>Finite </a:t>
            </a:r>
            <a:r>
              <a:rPr lang="it-IT" sz="2400" i="1" dirty="0" err="1"/>
              <a:t>size</a:t>
            </a:r>
            <a:r>
              <a:rPr lang="it-IT" sz="2400" i="1" dirty="0"/>
              <a:t>, finite </a:t>
            </a:r>
            <a:r>
              <a:rPr lang="it-IT" sz="2400" i="1" dirty="0" err="1"/>
              <a:t>duration</a:t>
            </a:r>
            <a:r>
              <a:rPr lang="it-IT" sz="2400" i="1" dirty="0"/>
              <a:t> </a:t>
            </a:r>
            <a:r>
              <a:rPr lang="it-IT" sz="2400" i="1" dirty="0" err="1"/>
              <a:t>events</a:t>
            </a:r>
            <a:endParaRPr lang="it-IT" sz="2400" i="1" dirty="0"/>
          </a:p>
          <a:p>
            <a:endParaRPr lang="it-IT" sz="2400" i="1" dirty="0"/>
          </a:p>
          <a:p>
            <a:r>
              <a:rPr lang="it-IT" sz="2400" i="1" dirty="0"/>
              <a:t>No </a:t>
            </a:r>
            <a:r>
              <a:rPr lang="it-IT" sz="2400" i="1" dirty="0" err="1"/>
              <a:t>communication</a:t>
            </a:r>
            <a:r>
              <a:rPr lang="it-IT" sz="2400" i="1" dirty="0"/>
              <a:t> </a:t>
            </a:r>
            <a:r>
              <a:rPr lang="it-IT" sz="2400" i="1" dirty="0" err="1"/>
              <a:t>is</a:t>
            </a:r>
            <a:r>
              <a:rPr lang="it-IT" sz="2400" i="1" dirty="0"/>
              <a:t> </a:t>
            </a:r>
            <a:r>
              <a:rPr lang="it-IT" sz="2400" i="1" dirty="0" err="1"/>
              <a:t>possible</a:t>
            </a:r>
            <a:r>
              <a:rPr lang="it-IT" sz="2400" i="1" dirty="0"/>
              <a:t> </a:t>
            </a:r>
            <a:r>
              <a:rPr lang="it-IT" sz="2400" i="1" dirty="0" err="1"/>
              <a:t>between</a:t>
            </a:r>
            <a:r>
              <a:rPr lang="it-IT" sz="2400" i="1" dirty="0"/>
              <a:t> </a:t>
            </a:r>
            <a:r>
              <a:rPr lang="it-IT" sz="2400" i="1" dirty="0" err="1"/>
              <a:t>different</a:t>
            </a:r>
            <a:r>
              <a:rPr lang="it-IT" sz="2400" i="1" dirty="0"/>
              <a:t> </a:t>
            </a:r>
            <a:r>
              <a:rPr lang="it-IT" sz="2400" i="1" dirty="0" err="1"/>
              <a:t>areas</a:t>
            </a:r>
            <a:r>
              <a:rPr lang="it-IT" sz="2400" i="1" dirty="0"/>
              <a:t>.</a:t>
            </a:r>
          </a:p>
          <a:p>
            <a:endParaRPr lang="it-IT" sz="2400" i="1" dirty="0"/>
          </a:p>
          <a:p>
            <a:r>
              <a:rPr lang="it-IT" sz="2400" i="1" dirty="0"/>
              <a:t>Band-</a:t>
            </a:r>
            <a:r>
              <a:rPr lang="it-IT" sz="2400" i="1" dirty="0" err="1"/>
              <a:t>limited</a:t>
            </a:r>
            <a:r>
              <a:rPr lang="it-IT" sz="2400" i="1" dirty="0"/>
              <a:t> </a:t>
            </a:r>
            <a:r>
              <a:rPr lang="it-IT" sz="2400" i="1" dirty="0" err="1"/>
              <a:t>power</a:t>
            </a:r>
            <a:r>
              <a:rPr lang="it-IT" sz="2400" i="1" dirty="0"/>
              <a:t> </a:t>
            </a:r>
            <a:r>
              <a:rPr lang="it-IT" sz="2400" i="1" dirty="0" err="1"/>
              <a:t>spectrum</a:t>
            </a:r>
            <a:endParaRPr lang="en-US" sz="2400" i="1" dirty="0"/>
          </a:p>
        </p:txBody>
      </p:sp>
      <p:sp>
        <p:nvSpPr>
          <p:cNvPr id="6" name="Rettangolo 5"/>
          <p:cNvSpPr/>
          <p:nvPr/>
        </p:nvSpPr>
        <p:spPr>
          <a:xfrm>
            <a:off x="323528" y="92436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Condition</a:t>
            </a:r>
            <a:r>
              <a:rPr lang="it-IT" sz="2400" i="1" dirty="0"/>
              <a:t> 1: N&lt;1 – </a:t>
            </a:r>
            <a:r>
              <a:rPr lang="it-IT" sz="2400" i="1" dirty="0" err="1"/>
              <a:t>Inhibition</a:t>
            </a:r>
            <a:r>
              <a:rPr lang="it-IT" sz="2400" i="1" dirty="0"/>
              <a:t> </a:t>
            </a:r>
            <a:r>
              <a:rPr lang="it-IT" sz="2400" i="1" dirty="0" err="1"/>
              <a:t>dominating</a:t>
            </a:r>
            <a:endParaRPr lang="en-US" sz="2400" i="1" dirty="0"/>
          </a:p>
        </p:txBody>
      </p:sp>
      <p:graphicFrame>
        <p:nvGraphicFramePr>
          <p:cNvPr id="7" name="Tabella 6"/>
          <p:cNvGraphicFramePr>
            <a:graphicFrameLocks noGrp="1"/>
          </p:cNvGraphicFramePr>
          <p:nvPr/>
        </p:nvGraphicFramePr>
        <p:xfrm>
          <a:off x="334234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ella 7"/>
          <p:cNvGraphicFramePr>
            <a:graphicFrameLocks noGrp="1"/>
          </p:cNvGraphicFramePr>
          <p:nvPr/>
        </p:nvGraphicFramePr>
        <p:xfrm>
          <a:off x="334234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83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78098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model,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324973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ttangolo 4"/>
          <p:cNvSpPr/>
          <p:nvPr/>
        </p:nvSpPr>
        <p:spPr>
          <a:xfrm>
            <a:off x="6732240" y="1412776"/>
            <a:ext cx="216024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Any</a:t>
            </a:r>
            <a:r>
              <a:rPr lang="it-IT" sz="2400" i="1" dirty="0"/>
              <a:t> </a:t>
            </a:r>
            <a:r>
              <a:rPr lang="it-IT" sz="2400" i="1" dirty="0" err="1"/>
              <a:t>stimulation</a:t>
            </a:r>
            <a:r>
              <a:rPr lang="it-IT" sz="2400" i="1" dirty="0"/>
              <a:t> </a:t>
            </a:r>
            <a:r>
              <a:rPr lang="it-IT" sz="2400" i="1" dirty="0" err="1"/>
              <a:t>ends</a:t>
            </a:r>
            <a:r>
              <a:rPr lang="it-IT" sz="2400" i="1" dirty="0"/>
              <a:t> with the </a:t>
            </a:r>
            <a:r>
              <a:rPr lang="it-IT" sz="2400" i="1" dirty="0" err="1"/>
              <a:t>whole</a:t>
            </a:r>
            <a:r>
              <a:rPr lang="it-IT" sz="2400" i="1" dirty="0"/>
              <a:t> network </a:t>
            </a:r>
            <a:r>
              <a:rPr lang="it-IT" sz="2400" i="1" dirty="0" err="1"/>
              <a:t>active</a:t>
            </a:r>
            <a:r>
              <a:rPr lang="it-IT" sz="2400" i="1" dirty="0"/>
              <a:t> (</a:t>
            </a:r>
            <a:r>
              <a:rPr lang="it-IT" sz="2400" i="1" dirty="0" err="1"/>
              <a:t>epilepsy</a:t>
            </a:r>
            <a:r>
              <a:rPr lang="it-IT" sz="2400" i="1" dirty="0"/>
              <a:t>)</a:t>
            </a:r>
          </a:p>
          <a:p>
            <a:endParaRPr lang="it-IT" sz="2400" i="1" dirty="0"/>
          </a:p>
          <a:p>
            <a:r>
              <a:rPr lang="it-IT" sz="2400" i="1" dirty="0" err="1"/>
              <a:t>Again</a:t>
            </a:r>
            <a:r>
              <a:rPr lang="it-IT" sz="2400" i="1" dirty="0"/>
              <a:t> no </a:t>
            </a:r>
            <a:r>
              <a:rPr lang="it-IT" sz="2400" i="1" dirty="0" err="1"/>
              <a:t>communication</a:t>
            </a:r>
            <a:r>
              <a:rPr lang="it-IT" sz="2400" i="1" dirty="0"/>
              <a:t> </a:t>
            </a:r>
            <a:r>
              <a:rPr lang="it-IT" sz="2400" i="1" dirty="0" err="1"/>
              <a:t>is</a:t>
            </a:r>
            <a:r>
              <a:rPr lang="it-IT" sz="2400" i="1" dirty="0"/>
              <a:t> </a:t>
            </a:r>
            <a:r>
              <a:rPr lang="it-IT" sz="2400" i="1" dirty="0" err="1"/>
              <a:t>possible</a:t>
            </a:r>
            <a:r>
              <a:rPr lang="it-IT" sz="2400" i="1" dirty="0"/>
              <a:t> </a:t>
            </a:r>
          </a:p>
          <a:p>
            <a:endParaRPr lang="it-IT" sz="2400" i="1" dirty="0"/>
          </a:p>
          <a:p>
            <a:r>
              <a:rPr lang="it-IT" sz="2400" i="1" dirty="0" err="1"/>
              <a:t>Bimodal</a:t>
            </a:r>
            <a:r>
              <a:rPr lang="it-IT" sz="2400" i="1" dirty="0"/>
              <a:t> </a:t>
            </a:r>
            <a:r>
              <a:rPr lang="it-IT" sz="2400" i="1" dirty="0" err="1"/>
              <a:t>power</a:t>
            </a:r>
            <a:r>
              <a:rPr lang="it-IT" sz="2400" i="1" dirty="0"/>
              <a:t> </a:t>
            </a:r>
            <a:r>
              <a:rPr lang="it-IT" sz="2400" i="1" dirty="0" err="1"/>
              <a:t>spectrum</a:t>
            </a:r>
            <a:r>
              <a:rPr lang="it-IT" sz="2400" i="1" dirty="0"/>
              <a:t> (no </a:t>
            </a:r>
            <a:r>
              <a:rPr lang="it-IT" sz="2400" i="1" dirty="0" err="1"/>
              <a:t>events</a:t>
            </a:r>
            <a:r>
              <a:rPr lang="it-IT" sz="2400" i="1" dirty="0"/>
              <a:t> AUT strong </a:t>
            </a:r>
            <a:r>
              <a:rPr lang="it-IT" sz="2400" i="1" dirty="0" err="1"/>
              <a:t>events</a:t>
            </a:r>
            <a:r>
              <a:rPr lang="it-IT" sz="2400" i="1" dirty="0"/>
              <a:t>)</a:t>
            </a:r>
            <a:endParaRPr lang="en-US" sz="2400" i="1" dirty="0"/>
          </a:p>
        </p:txBody>
      </p:sp>
      <p:sp>
        <p:nvSpPr>
          <p:cNvPr id="6" name="Rettangolo 5"/>
          <p:cNvSpPr/>
          <p:nvPr/>
        </p:nvSpPr>
        <p:spPr>
          <a:xfrm>
            <a:off x="323528" y="92436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Condition</a:t>
            </a:r>
            <a:r>
              <a:rPr lang="it-IT" sz="2400" i="1" dirty="0"/>
              <a:t> 2: N&gt;1 – </a:t>
            </a:r>
            <a:r>
              <a:rPr lang="it-IT" sz="2400" i="1" dirty="0" err="1"/>
              <a:t>Excitation</a:t>
            </a:r>
            <a:r>
              <a:rPr lang="it-IT" sz="2400" i="1" dirty="0"/>
              <a:t> </a:t>
            </a:r>
            <a:r>
              <a:rPr lang="it-IT" sz="2400" i="1" dirty="0" err="1"/>
              <a:t>dominating</a:t>
            </a:r>
            <a:endParaRPr lang="en-US" sz="2400" i="1" dirty="0"/>
          </a:p>
        </p:txBody>
      </p:sp>
      <p:graphicFrame>
        <p:nvGraphicFramePr>
          <p:cNvPr id="7" name="Tabella 6"/>
          <p:cNvGraphicFramePr>
            <a:graphicFrameLocks noGrp="1"/>
          </p:cNvGraphicFramePr>
          <p:nvPr/>
        </p:nvGraphicFramePr>
        <p:xfrm>
          <a:off x="324973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ella 7"/>
          <p:cNvGraphicFramePr>
            <a:graphicFrameLocks noGrp="1"/>
          </p:cNvGraphicFramePr>
          <p:nvPr/>
        </p:nvGraphicFramePr>
        <p:xfrm>
          <a:off x="324973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ella 8"/>
          <p:cNvGraphicFramePr>
            <a:graphicFrameLocks noGrp="1"/>
          </p:cNvGraphicFramePr>
          <p:nvPr/>
        </p:nvGraphicFramePr>
        <p:xfrm>
          <a:off x="324973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Tabella 9"/>
          <p:cNvGraphicFramePr>
            <a:graphicFrameLocks noGrp="1"/>
          </p:cNvGraphicFramePr>
          <p:nvPr/>
        </p:nvGraphicFramePr>
        <p:xfrm>
          <a:off x="324973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98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78098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model,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324973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ttangolo 4"/>
          <p:cNvSpPr/>
          <p:nvPr/>
        </p:nvSpPr>
        <p:spPr>
          <a:xfrm>
            <a:off x="6817366" y="1365433"/>
            <a:ext cx="216024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Virtually</a:t>
            </a:r>
            <a:r>
              <a:rPr lang="it-IT" sz="2400" i="1" dirty="0"/>
              <a:t> </a:t>
            </a:r>
            <a:r>
              <a:rPr lang="it-IT" sz="2400" i="1" dirty="0" err="1"/>
              <a:t>endless</a:t>
            </a:r>
            <a:r>
              <a:rPr lang="it-IT" sz="2400" i="1" dirty="0"/>
              <a:t> </a:t>
            </a:r>
            <a:r>
              <a:rPr lang="it-IT" sz="2400" i="1" dirty="0" err="1"/>
              <a:t>possible</a:t>
            </a:r>
            <a:r>
              <a:rPr lang="it-IT" sz="2400" i="1" dirty="0"/>
              <a:t> </a:t>
            </a:r>
            <a:r>
              <a:rPr lang="it-IT" sz="2400" i="1" dirty="0" err="1"/>
              <a:t>patterns</a:t>
            </a:r>
            <a:endParaRPr lang="it-IT" sz="2400" i="1" dirty="0"/>
          </a:p>
          <a:p>
            <a:endParaRPr lang="it-IT" sz="2400" i="1" dirty="0"/>
          </a:p>
          <a:p>
            <a:r>
              <a:rPr lang="it-IT" sz="2400" i="1" dirty="0" err="1"/>
              <a:t>Optimal</a:t>
            </a:r>
            <a:r>
              <a:rPr lang="it-IT" sz="2400" i="1" dirty="0"/>
              <a:t> </a:t>
            </a:r>
            <a:r>
              <a:rPr lang="it-IT" sz="2400" i="1" dirty="0" err="1"/>
              <a:t>communication</a:t>
            </a:r>
            <a:endParaRPr lang="it-IT" sz="2400" i="1" dirty="0"/>
          </a:p>
          <a:p>
            <a:endParaRPr lang="it-IT" sz="2400" i="1" dirty="0"/>
          </a:p>
          <a:p>
            <a:r>
              <a:rPr lang="it-IT" sz="2400" i="1" dirty="0" err="1"/>
              <a:t>Power</a:t>
            </a:r>
            <a:r>
              <a:rPr lang="it-IT" sz="2400" i="1" dirty="0"/>
              <a:t> law </a:t>
            </a:r>
            <a:r>
              <a:rPr lang="it-IT" sz="2400" i="1" dirty="0" err="1"/>
              <a:t>power</a:t>
            </a:r>
            <a:r>
              <a:rPr lang="it-IT" sz="2400" i="1" dirty="0"/>
              <a:t> </a:t>
            </a:r>
            <a:r>
              <a:rPr lang="it-IT" sz="2400" i="1" dirty="0" err="1"/>
              <a:t>spectrum</a:t>
            </a:r>
            <a:r>
              <a:rPr lang="it-IT" sz="2400" i="1" dirty="0"/>
              <a:t> (no </a:t>
            </a:r>
            <a:r>
              <a:rPr lang="it-IT" sz="2400" i="1" dirty="0" err="1"/>
              <a:t>characteristic</a:t>
            </a:r>
            <a:r>
              <a:rPr lang="it-IT" sz="2400" i="1" dirty="0"/>
              <a:t> </a:t>
            </a:r>
            <a:r>
              <a:rPr lang="it-IT" sz="2400" i="1" dirty="0" err="1"/>
              <a:t>timescale</a:t>
            </a:r>
            <a:r>
              <a:rPr lang="it-IT" sz="2400" i="1" dirty="0"/>
              <a:t>/</a:t>
            </a:r>
            <a:r>
              <a:rPr lang="it-IT" sz="2400" i="1" dirty="0" err="1"/>
              <a:t>size</a:t>
            </a:r>
            <a:r>
              <a:rPr lang="it-IT" sz="2400" i="1" dirty="0"/>
              <a:t>)</a:t>
            </a:r>
            <a:endParaRPr lang="en-US" sz="2400" i="1" dirty="0"/>
          </a:p>
        </p:txBody>
      </p:sp>
      <p:sp>
        <p:nvSpPr>
          <p:cNvPr id="6" name="Rettangolo 5"/>
          <p:cNvSpPr/>
          <p:nvPr/>
        </p:nvSpPr>
        <p:spPr>
          <a:xfrm>
            <a:off x="323528" y="92436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Condition</a:t>
            </a:r>
            <a:r>
              <a:rPr lang="it-IT" sz="2400" i="1" dirty="0"/>
              <a:t> 3: N=1 – </a:t>
            </a:r>
            <a:r>
              <a:rPr lang="it-IT" sz="2400" i="1" dirty="0" err="1"/>
              <a:t>Excitation-Inhibition</a:t>
            </a:r>
            <a:r>
              <a:rPr lang="it-IT" sz="2400" i="1" dirty="0"/>
              <a:t> balance</a:t>
            </a:r>
            <a:endParaRPr lang="en-US" sz="2400" i="1" dirty="0"/>
          </a:p>
        </p:txBody>
      </p:sp>
      <p:graphicFrame>
        <p:nvGraphicFramePr>
          <p:cNvPr id="7" name="Tabella 6"/>
          <p:cNvGraphicFramePr>
            <a:graphicFrameLocks noGrp="1"/>
          </p:cNvGraphicFramePr>
          <p:nvPr/>
        </p:nvGraphicFramePr>
        <p:xfrm>
          <a:off x="323528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ella 10"/>
          <p:cNvGraphicFramePr>
            <a:graphicFrameLocks noGrp="1"/>
          </p:cNvGraphicFramePr>
          <p:nvPr/>
        </p:nvGraphicFramePr>
        <p:xfrm>
          <a:off x="323528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" name="Tabella 11"/>
          <p:cNvGraphicFramePr>
            <a:graphicFrameLocks noGrp="1"/>
          </p:cNvGraphicFramePr>
          <p:nvPr/>
        </p:nvGraphicFramePr>
        <p:xfrm>
          <a:off x="323528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ella 12"/>
          <p:cNvGraphicFramePr>
            <a:graphicFrameLocks noGrp="1"/>
          </p:cNvGraphicFramePr>
          <p:nvPr/>
        </p:nvGraphicFramePr>
        <p:xfrm>
          <a:off x="323528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" name="Tabella 13"/>
          <p:cNvGraphicFramePr>
            <a:graphicFrameLocks noGrp="1"/>
          </p:cNvGraphicFramePr>
          <p:nvPr/>
        </p:nvGraphicFramePr>
        <p:xfrm>
          <a:off x="323528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36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time: rate models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AE4B4C3-50AF-4B79-8FC5-F61410C4B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858270"/>
            <a:ext cx="8697144" cy="573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33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time: rate models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429714B-8382-4B99-98C7-AE5E92DA0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865"/>
            <a:ext cx="9144000" cy="424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98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integrate and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neuron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igura a mano libera 3"/>
          <p:cNvSpPr/>
          <p:nvPr/>
        </p:nvSpPr>
        <p:spPr>
          <a:xfrm>
            <a:off x="158643" y="3059652"/>
            <a:ext cx="5874330" cy="3236358"/>
          </a:xfrm>
          <a:custGeom>
            <a:avLst/>
            <a:gdLst>
              <a:gd name="connsiteX0" fmla="*/ 0 w 5624946"/>
              <a:gd name="connsiteY0" fmla="*/ 2355273 h 2889629"/>
              <a:gd name="connsiteX1" fmla="*/ 831273 w 5624946"/>
              <a:gd name="connsiteY1" fmla="*/ 2881746 h 2889629"/>
              <a:gd name="connsiteX2" fmla="*/ 1510146 w 5624946"/>
              <a:gd name="connsiteY2" fmla="*/ 1995055 h 2889629"/>
              <a:gd name="connsiteX3" fmla="*/ 2867891 w 5624946"/>
              <a:gd name="connsiteY3" fmla="*/ 2382982 h 2889629"/>
              <a:gd name="connsiteX4" fmla="*/ 3297382 w 5624946"/>
              <a:gd name="connsiteY4" fmla="*/ 1108364 h 2889629"/>
              <a:gd name="connsiteX5" fmla="*/ 4114800 w 5624946"/>
              <a:gd name="connsiteY5" fmla="*/ 1579418 h 2889629"/>
              <a:gd name="connsiteX6" fmla="*/ 4890655 w 5624946"/>
              <a:gd name="connsiteY6" fmla="*/ 554182 h 2889629"/>
              <a:gd name="connsiteX7" fmla="*/ 5514109 w 5624946"/>
              <a:gd name="connsiteY7" fmla="*/ 83127 h 2889629"/>
              <a:gd name="connsiteX8" fmla="*/ 5624946 w 5624946"/>
              <a:gd name="connsiteY8" fmla="*/ 0 h 2889629"/>
              <a:gd name="connsiteX0" fmla="*/ 5 w 5624951"/>
              <a:gd name="connsiteY0" fmla="*/ 2355273 h 3236358"/>
              <a:gd name="connsiteX1" fmla="*/ 284704 w 5624951"/>
              <a:gd name="connsiteY1" fmla="*/ 3216458 h 3236358"/>
              <a:gd name="connsiteX2" fmla="*/ 831278 w 5624951"/>
              <a:gd name="connsiteY2" fmla="*/ 2881746 h 3236358"/>
              <a:gd name="connsiteX3" fmla="*/ 1510151 w 5624951"/>
              <a:gd name="connsiteY3" fmla="*/ 1995055 h 3236358"/>
              <a:gd name="connsiteX4" fmla="*/ 2867896 w 5624951"/>
              <a:gd name="connsiteY4" fmla="*/ 2382982 h 3236358"/>
              <a:gd name="connsiteX5" fmla="*/ 3297387 w 5624951"/>
              <a:gd name="connsiteY5" fmla="*/ 1108364 h 3236358"/>
              <a:gd name="connsiteX6" fmla="*/ 4114805 w 5624951"/>
              <a:gd name="connsiteY6" fmla="*/ 1579418 h 3236358"/>
              <a:gd name="connsiteX7" fmla="*/ 4890660 w 5624951"/>
              <a:gd name="connsiteY7" fmla="*/ 554182 h 3236358"/>
              <a:gd name="connsiteX8" fmla="*/ 5514114 w 5624951"/>
              <a:gd name="connsiteY8" fmla="*/ 83127 h 3236358"/>
              <a:gd name="connsiteX9" fmla="*/ 5624951 w 5624951"/>
              <a:gd name="connsiteY9" fmla="*/ 0 h 3236358"/>
              <a:gd name="connsiteX0" fmla="*/ 3 w 5694222"/>
              <a:gd name="connsiteY0" fmla="*/ 3505200 h 3505302"/>
              <a:gd name="connsiteX1" fmla="*/ 353975 w 5694222"/>
              <a:gd name="connsiteY1" fmla="*/ 3216458 h 3505302"/>
              <a:gd name="connsiteX2" fmla="*/ 900549 w 5694222"/>
              <a:gd name="connsiteY2" fmla="*/ 2881746 h 3505302"/>
              <a:gd name="connsiteX3" fmla="*/ 1579422 w 5694222"/>
              <a:gd name="connsiteY3" fmla="*/ 1995055 h 3505302"/>
              <a:gd name="connsiteX4" fmla="*/ 2937167 w 5694222"/>
              <a:gd name="connsiteY4" fmla="*/ 2382982 h 3505302"/>
              <a:gd name="connsiteX5" fmla="*/ 3366658 w 5694222"/>
              <a:gd name="connsiteY5" fmla="*/ 1108364 h 3505302"/>
              <a:gd name="connsiteX6" fmla="*/ 4184076 w 5694222"/>
              <a:gd name="connsiteY6" fmla="*/ 1579418 h 3505302"/>
              <a:gd name="connsiteX7" fmla="*/ 4959931 w 5694222"/>
              <a:gd name="connsiteY7" fmla="*/ 554182 h 3505302"/>
              <a:gd name="connsiteX8" fmla="*/ 5583385 w 5694222"/>
              <a:gd name="connsiteY8" fmla="*/ 83127 h 3505302"/>
              <a:gd name="connsiteX9" fmla="*/ 5694222 w 5694222"/>
              <a:gd name="connsiteY9" fmla="*/ 0 h 3505302"/>
              <a:gd name="connsiteX0" fmla="*/ 3 w 5694222"/>
              <a:gd name="connsiteY0" fmla="*/ 3505200 h 3505302"/>
              <a:gd name="connsiteX1" fmla="*/ 353975 w 5694222"/>
              <a:gd name="connsiteY1" fmla="*/ 3216458 h 3505302"/>
              <a:gd name="connsiteX2" fmla="*/ 900549 w 5694222"/>
              <a:gd name="connsiteY2" fmla="*/ 2881746 h 3505302"/>
              <a:gd name="connsiteX3" fmla="*/ 1579422 w 5694222"/>
              <a:gd name="connsiteY3" fmla="*/ 1995055 h 3505302"/>
              <a:gd name="connsiteX4" fmla="*/ 2854040 w 5694222"/>
              <a:gd name="connsiteY4" fmla="*/ 1856510 h 3505302"/>
              <a:gd name="connsiteX5" fmla="*/ 3366658 w 5694222"/>
              <a:gd name="connsiteY5" fmla="*/ 1108364 h 3505302"/>
              <a:gd name="connsiteX6" fmla="*/ 4184076 w 5694222"/>
              <a:gd name="connsiteY6" fmla="*/ 1579418 h 3505302"/>
              <a:gd name="connsiteX7" fmla="*/ 4959931 w 5694222"/>
              <a:gd name="connsiteY7" fmla="*/ 554182 h 3505302"/>
              <a:gd name="connsiteX8" fmla="*/ 5583385 w 5694222"/>
              <a:gd name="connsiteY8" fmla="*/ 83127 h 3505302"/>
              <a:gd name="connsiteX9" fmla="*/ 5694222 w 5694222"/>
              <a:gd name="connsiteY9" fmla="*/ 0 h 3505302"/>
              <a:gd name="connsiteX0" fmla="*/ 3 w 5694222"/>
              <a:gd name="connsiteY0" fmla="*/ 3505200 h 3505302"/>
              <a:gd name="connsiteX1" fmla="*/ 353975 w 5694222"/>
              <a:gd name="connsiteY1" fmla="*/ 3216458 h 3505302"/>
              <a:gd name="connsiteX2" fmla="*/ 900549 w 5694222"/>
              <a:gd name="connsiteY2" fmla="*/ 2881746 h 3505302"/>
              <a:gd name="connsiteX3" fmla="*/ 1579422 w 5694222"/>
              <a:gd name="connsiteY3" fmla="*/ 1995055 h 3505302"/>
              <a:gd name="connsiteX4" fmla="*/ 2854040 w 5694222"/>
              <a:gd name="connsiteY4" fmla="*/ 1856510 h 3505302"/>
              <a:gd name="connsiteX5" fmla="*/ 3366658 w 5694222"/>
              <a:gd name="connsiteY5" fmla="*/ 1108364 h 3505302"/>
              <a:gd name="connsiteX6" fmla="*/ 4281058 w 5694222"/>
              <a:gd name="connsiteY6" fmla="*/ 1039090 h 3505302"/>
              <a:gd name="connsiteX7" fmla="*/ 4959931 w 5694222"/>
              <a:gd name="connsiteY7" fmla="*/ 554182 h 3505302"/>
              <a:gd name="connsiteX8" fmla="*/ 5583385 w 5694222"/>
              <a:gd name="connsiteY8" fmla="*/ 83127 h 3505302"/>
              <a:gd name="connsiteX9" fmla="*/ 5694222 w 5694222"/>
              <a:gd name="connsiteY9" fmla="*/ 0 h 3505302"/>
              <a:gd name="connsiteX0" fmla="*/ 2 w 5874330"/>
              <a:gd name="connsiteY0" fmla="*/ 3214255 h 3236358"/>
              <a:gd name="connsiteX1" fmla="*/ 534083 w 5874330"/>
              <a:gd name="connsiteY1" fmla="*/ 3216458 h 3236358"/>
              <a:gd name="connsiteX2" fmla="*/ 1080657 w 5874330"/>
              <a:gd name="connsiteY2" fmla="*/ 2881746 h 3236358"/>
              <a:gd name="connsiteX3" fmla="*/ 1759530 w 5874330"/>
              <a:gd name="connsiteY3" fmla="*/ 1995055 h 3236358"/>
              <a:gd name="connsiteX4" fmla="*/ 3034148 w 5874330"/>
              <a:gd name="connsiteY4" fmla="*/ 1856510 h 3236358"/>
              <a:gd name="connsiteX5" fmla="*/ 3546766 w 5874330"/>
              <a:gd name="connsiteY5" fmla="*/ 1108364 h 3236358"/>
              <a:gd name="connsiteX6" fmla="*/ 4461166 w 5874330"/>
              <a:gd name="connsiteY6" fmla="*/ 1039090 h 3236358"/>
              <a:gd name="connsiteX7" fmla="*/ 5140039 w 5874330"/>
              <a:gd name="connsiteY7" fmla="*/ 554182 h 3236358"/>
              <a:gd name="connsiteX8" fmla="*/ 5763493 w 5874330"/>
              <a:gd name="connsiteY8" fmla="*/ 83127 h 3236358"/>
              <a:gd name="connsiteX9" fmla="*/ 5874330 w 5874330"/>
              <a:gd name="connsiteY9" fmla="*/ 0 h 323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74330" h="3236358">
                <a:moveTo>
                  <a:pt x="2" y="3214255"/>
                </a:moveTo>
                <a:cubicBezTo>
                  <a:pt x="-1039" y="3221549"/>
                  <a:pt x="395537" y="3128713"/>
                  <a:pt x="534083" y="3216458"/>
                </a:cubicBezTo>
                <a:cubicBezTo>
                  <a:pt x="672629" y="3304204"/>
                  <a:pt x="876416" y="3085313"/>
                  <a:pt x="1080657" y="2881746"/>
                </a:cubicBezTo>
                <a:cubicBezTo>
                  <a:pt x="1284898" y="2678179"/>
                  <a:pt x="1433948" y="2165928"/>
                  <a:pt x="1759530" y="1995055"/>
                </a:cubicBezTo>
                <a:cubicBezTo>
                  <a:pt x="2085112" y="1824182"/>
                  <a:pt x="2736275" y="2004292"/>
                  <a:pt x="3034148" y="1856510"/>
                </a:cubicBezTo>
                <a:cubicBezTo>
                  <a:pt x="3332021" y="1708728"/>
                  <a:pt x="3308930" y="1244601"/>
                  <a:pt x="3546766" y="1108364"/>
                </a:cubicBezTo>
                <a:cubicBezTo>
                  <a:pt x="3784602" y="972127"/>
                  <a:pt x="4195621" y="1131454"/>
                  <a:pt x="4461166" y="1039090"/>
                </a:cubicBezTo>
                <a:cubicBezTo>
                  <a:pt x="4726711" y="946726"/>
                  <a:pt x="4922985" y="713509"/>
                  <a:pt x="5140039" y="554182"/>
                </a:cubicBezTo>
                <a:cubicBezTo>
                  <a:pt x="5357093" y="394855"/>
                  <a:pt x="5763493" y="83127"/>
                  <a:pt x="5763493" y="83127"/>
                </a:cubicBezTo>
                <a:lnTo>
                  <a:pt x="587433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1 5"/>
          <p:cNvCxnSpPr>
            <a:stCxn id="4" idx="9"/>
          </p:cNvCxnSpPr>
          <p:nvPr/>
        </p:nvCxnSpPr>
        <p:spPr>
          <a:xfrm>
            <a:off x="6032973" y="3059652"/>
            <a:ext cx="1" cy="23561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igura a mano libera 8"/>
          <p:cNvSpPr/>
          <p:nvPr/>
        </p:nvSpPr>
        <p:spPr>
          <a:xfrm>
            <a:off x="6060683" y="4220000"/>
            <a:ext cx="2687781" cy="1401285"/>
          </a:xfrm>
          <a:custGeom>
            <a:avLst/>
            <a:gdLst>
              <a:gd name="connsiteX0" fmla="*/ 0 w 2687781"/>
              <a:gd name="connsiteY0" fmla="*/ 1179612 h 1401285"/>
              <a:gd name="connsiteX1" fmla="*/ 928254 w 2687781"/>
              <a:gd name="connsiteY1" fmla="*/ 1976 h 1401285"/>
              <a:gd name="connsiteX2" fmla="*/ 1440872 w 2687781"/>
              <a:gd name="connsiteY2" fmla="*/ 888667 h 1401285"/>
              <a:gd name="connsiteX3" fmla="*/ 1648691 w 2687781"/>
              <a:gd name="connsiteY3" fmla="*/ 459176 h 1401285"/>
              <a:gd name="connsiteX4" fmla="*/ 2493818 w 2687781"/>
              <a:gd name="connsiteY4" fmla="*/ 306776 h 1401285"/>
              <a:gd name="connsiteX5" fmla="*/ 2687781 w 2687781"/>
              <a:gd name="connsiteY5" fmla="*/ 1401285 h 140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7781" h="1401285">
                <a:moveTo>
                  <a:pt x="0" y="1179612"/>
                </a:moveTo>
                <a:cubicBezTo>
                  <a:pt x="344054" y="615039"/>
                  <a:pt x="688109" y="50467"/>
                  <a:pt x="928254" y="1976"/>
                </a:cubicBezTo>
                <a:cubicBezTo>
                  <a:pt x="1168399" y="-46515"/>
                  <a:pt x="1320799" y="812467"/>
                  <a:pt x="1440872" y="888667"/>
                </a:cubicBezTo>
                <a:cubicBezTo>
                  <a:pt x="1560945" y="964867"/>
                  <a:pt x="1473200" y="556158"/>
                  <a:pt x="1648691" y="459176"/>
                </a:cubicBezTo>
                <a:cubicBezTo>
                  <a:pt x="1824182" y="362194"/>
                  <a:pt x="2320636" y="149758"/>
                  <a:pt x="2493818" y="306776"/>
                </a:cubicBezTo>
                <a:cubicBezTo>
                  <a:pt x="2667000" y="463794"/>
                  <a:pt x="2657763" y="1216558"/>
                  <a:pt x="2687781" y="140128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1 11"/>
          <p:cNvCxnSpPr/>
          <p:nvPr/>
        </p:nvCxnSpPr>
        <p:spPr>
          <a:xfrm>
            <a:off x="251520" y="3059651"/>
            <a:ext cx="8712968" cy="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08028" y="2492896"/>
            <a:ext cx="1211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potential</a:t>
            </a:r>
            <a:endParaRPr lang="it-IT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1810296" y="5253198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Membrane</a:t>
            </a:r>
          </a:p>
          <a:p>
            <a:r>
              <a:rPr lang="it-IT" dirty="0" err="1"/>
              <a:t>potential</a:t>
            </a:r>
            <a:endParaRPr lang="it-IT" dirty="0"/>
          </a:p>
        </p:txBody>
      </p:sp>
      <p:cxnSp>
        <p:nvCxnSpPr>
          <p:cNvPr id="16" name="Connettore 1 15"/>
          <p:cNvCxnSpPr/>
          <p:nvPr/>
        </p:nvCxnSpPr>
        <p:spPr>
          <a:xfrm>
            <a:off x="6032974" y="1628800"/>
            <a:ext cx="0" cy="1080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6156176" y="19168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Spike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6156175" y="3429000"/>
            <a:ext cx="124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Reset</a:t>
            </a:r>
          </a:p>
        </p:txBody>
      </p:sp>
      <p:cxnSp>
        <p:nvCxnSpPr>
          <p:cNvPr id="21" name="Connettore 2 20"/>
          <p:cNvCxnSpPr/>
          <p:nvPr/>
        </p:nvCxnSpPr>
        <p:spPr>
          <a:xfrm>
            <a:off x="1907704" y="6165304"/>
            <a:ext cx="4896544" cy="0"/>
          </a:xfrm>
          <a:prstGeom prst="straightConnector1">
            <a:avLst/>
          </a:prstGeom>
          <a:ln w="762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3707904" y="57239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Time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158643" y="5106633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3743908" y="3152001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2134332" y="422000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AB15BADD-E8CA-45DA-92BF-FC8053379C47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770711" y="5752964"/>
            <a:ext cx="118447" cy="4123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6D3022E0-E3C6-4E96-B24B-1665890D8977}"/>
              </a:ext>
            </a:extLst>
          </p:cNvPr>
          <p:cNvCxnSpPr/>
          <p:nvPr/>
        </p:nvCxnSpPr>
        <p:spPr>
          <a:xfrm>
            <a:off x="4407689" y="3775066"/>
            <a:ext cx="288032" cy="1755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230B174-80BF-4BBA-9F1F-7564B288D3B3}"/>
              </a:ext>
            </a:extLst>
          </p:cNvPr>
          <p:cNvCxnSpPr/>
          <p:nvPr/>
        </p:nvCxnSpPr>
        <p:spPr>
          <a:xfrm>
            <a:off x="2956264" y="4646754"/>
            <a:ext cx="288032" cy="1755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088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integrate and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neuron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igura a mano libera 3"/>
          <p:cNvSpPr/>
          <p:nvPr/>
        </p:nvSpPr>
        <p:spPr>
          <a:xfrm>
            <a:off x="158643" y="3059652"/>
            <a:ext cx="5874330" cy="3236358"/>
          </a:xfrm>
          <a:custGeom>
            <a:avLst/>
            <a:gdLst>
              <a:gd name="connsiteX0" fmla="*/ 0 w 5624946"/>
              <a:gd name="connsiteY0" fmla="*/ 2355273 h 2889629"/>
              <a:gd name="connsiteX1" fmla="*/ 831273 w 5624946"/>
              <a:gd name="connsiteY1" fmla="*/ 2881746 h 2889629"/>
              <a:gd name="connsiteX2" fmla="*/ 1510146 w 5624946"/>
              <a:gd name="connsiteY2" fmla="*/ 1995055 h 2889629"/>
              <a:gd name="connsiteX3" fmla="*/ 2867891 w 5624946"/>
              <a:gd name="connsiteY3" fmla="*/ 2382982 h 2889629"/>
              <a:gd name="connsiteX4" fmla="*/ 3297382 w 5624946"/>
              <a:gd name="connsiteY4" fmla="*/ 1108364 h 2889629"/>
              <a:gd name="connsiteX5" fmla="*/ 4114800 w 5624946"/>
              <a:gd name="connsiteY5" fmla="*/ 1579418 h 2889629"/>
              <a:gd name="connsiteX6" fmla="*/ 4890655 w 5624946"/>
              <a:gd name="connsiteY6" fmla="*/ 554182 h 2889629"/>
              <a:gd name="connsiteX7" fmla="*/ 5514109 w 5624946"/>
              <a:gd name="connsiteY7" fmla="*/ 83127 h 2889629"/>
              <a:gd name="connsiteX8" fmla="*/ 5624946 w 5624946"/>
              <a:gd name="connsiteY8" fmla="*/ 0 h 2889629"/>
              <a:gd name="connsiteX0" fmla="*/ 5 w 5624951"/>
              <a:gd name="connsiteY0" fmla="*/ 2355273 h 3236358"/>
              <a:gd name="connsiteX1" fmla="*/ 284704 w 5624951"/>
              <a:gd name="connsiteY1" fmla="*/ 3216458 h 3236358"/>
              <a:gd name="connsiteX2" fmla="*/ 831278 w 5624951"/>
              <a:gd name="connsiteY2" fmla="*/ 2881746 h 3236358"/>
              <a:gd name="connsiteX3" fmla="*/ 1510151 w 5624951"/>
              <a:gd name="connsiteY3" fmla="*/ 1995055 h 3236358"/>
              <a:gd name="connsiteX4" fmla="*/ 2867896 w 5624951"/>
              <a:gd name="connsiteY4" fmla="*/ 2382982 h 3236358"/>
              <a:gd name="connsiteX5" fmla="*/ 3297387 w 5624951"/>
              <a:gd name="connsiteY5" fmla="*/ 1108364 h 3236358"/>
              <a:gd name="connsiteX6" fmla="*/ 4114805 w 5624951"/>
              <a:gd name="connsiteY6" fmla="*/ 1579418 h 3236358"/>
              <a:gd name="connsiteX7" fmla="*/ 4890660 w 5624951"/>
              <a:gd name="connsiteY7" fmla="*/ 554182 h 3236358"/>
              <a:gd name="connsiteX8" fmla="*/ 5514114 w 5624951"/>
              <a:gd name="connsiteY8" fmla="*/ 83127 h 3236358"/>
              <a:gd name="connsiteX9" fmla="*/ 5624951 w 5624951"/>
              <a:gd name="connsiteY9" fmla="*/ 0 h 3236358"/>
              <a:gd name="connsiteX0" fmla="*/ 3 w 5694222"/>
              <a:gd name="connsiteY0" fmla="*/ 3505200 h 3505302"/>
              <a:gd name="connsiteX1" fmla="*/ 353975 w 5694222"/>
              <a:gd name="connsiteY1" fmla="*/ 3216458 h 3505302"/>
              <a:gd name="connsiteX2" fmla="*/ 900549 w 5694222"/>
              <a:gd name="connsiteY2" fmla="*/ 2881746 h 3505302"/>
              <a:gd name="connsiteX3" fmla="*/ 1579422 w 5694222"/>
              <a:gd name="connsiteY3" fmla="*/ 1995055 h 3505302"/>
              <a:gd name="connsiteX4" fmla="*/ 2937167 w 5694222"/>
              <a:gd name="connsiteY4" fmla="*/ 2382982 h 3505302"/>
              <a:gd name="connsiteX5" fmla="*/ 3366658 w 5694222"/>
              <a:gd name="connsiteY5" fmla="*/ 1108364 h 3505302"/>
              <a:gd name="connsiteX6" fmla="*/ 4184076 w 5694222"/>
              <a:gd name="connsiteY6" fmla="*/ 1579418 h 3505302"/>
              <a:gd name="connsiteX7" fmla="*/ 4959931 w 5694222"/>
              <a:gd name="connsiteY7" fmla="*/ 554182 h 3505302"/>
              <a:gd name="connsiteX8" fmla="*/ 5583385 w 5694222"/>
              <a:gd name="connsiteY8" fmla="*/ 83127 h 3505302"/>
              <a:gd name="connsiteX9" fmla="*/ 5694222 w 5694222"/>
              <a:gd name="connsiteY9" fmla="*/ 0 h 3505302"/>
              <a:gd name="connsiteX0" fmla="*/ 3 w 5694222"/>
              <a:gd name="connsiteY0" fmla="*/ 3505200 h 3505302"/>
              <a:gd name="connsiteX1" fmla="*/ 353975 w 5694222"/>
              <a:gd name="connsiteY1" fmla="*/ 3216458 h 3505302"/>
              <a:gd name="connsiteX2" fmla="*/ 900549 w 5694222"/>
              <a:gd name="connsiteY2" fmla="*/ 2881746 h 3505302"/>
              <a:gd name="connsiteX3" fmla="*/ 1579422 w 5694222"/>
              <a:gd name="connsiteY3" fmla="*/ 1995055 h 3505302"/>
              <a:gd name="connsiteX4" fmla="*/ 2854040 w 5694222"/>
              <a:gd name="connsiteY4" fmla="*/ 1856510 h 3505302"/>
              <a:gd name="connsiteX5" fmla="*/ 3366658 w 5694222"/>
              <a:gd name="connsiteY5" fmla="*/ 1108364 h 3505302"/>
              <a:gd name="connsiteX6" fmla="*/ 4184076 w 5694222"/>
              <a:gd name="connsiteY6" fmla="*/ 1579418 h 3505302"/>
              <a:gd name="connsiteX7" fmla="*/ 4959931 w 5694222"/>
              <a:gd name="connsiteY7" fmla="*/ 554182 h 3505302"/>
              <a:gd name="connsiteX8" fmla="*/ 5583385 w 5694222"/>
              <a:gd name="connsiteY8" fmla="*/ 83127 h 3505302"/>
              <a:gd name="connsiteX9" fmla="*/ 5694222 w 5694222"/>
              <a:gd name="connsiteY9" fmla="*/ 0 h 3505302"/>
              <a:gd name="connsiteX0" fmla="*/ 3 w 5694222"/>
              <a:gd name="connsiteY0" fmla="*/ 3505200 h 3505302"/>
              <a:gd name="connsiteX1" fmla="*/ 353975 w 5694222"/>
              <a:gd name="connsiteY1" fmla="*/ 3216458 h 3505302"/>
              <a:gd name="connsiteX2" fmla="*/ 900549 w 5694222"/>
              <a:gd name="connsiteY2" fmla="*/ 2881746 h 3505302"/>
              <a:gd name="connsiteX3" fmla="*/ 1579422 w 5694222"/>
              <a:gd name="connsiteY3" fmla="*/ 1995055 h 3505302"/>
              <a:gd name="connsiteX4" fmla="*/ 2854040 w 5694222"/>
              <a:gd name="connsiteY4" fmla="*/ 1856510 h 3505302"/>
              <a:gd name="connsiteX5" fmla="*/ 3366658 w 5694222"/>
              <a:gd name="connsiteY5" fmla="*/ 1108364 h 3505302"/>
              <a:gd name="connsiteX6" fmla="*/ 4281058 w 5694222"/>
              <a:gd name="connsiteY6" fmla="*/ 1039090 h 3505302"/>
              <a:gd name="connsiteX7" fmla="*/ 4959931 w 5694222"/>
              <a:gd name="connsiteY7" fmla="*/ 554182 h 3505302"/>
              <a:gd name="connsiteX8" fmla="*/ 5583385 w 5694222"/>
              <a:gd name="connsiteY8" fmla="*/ 83127 h 3505302"/>
              <a:gd name="connsiteX9" fmla="*/ 5694222 w 5694222"/>
              <a:gd name="connsiteY9" fmla="*/ 0 h 3505302"/>
              <a:gd name="connsiteX0" fmla="*/ 2 w 5874330"/>
              <a:gd name="connsiteY0" fmla="*/ 3214255 h 3236358"/>
              <a:gd name="connsiteX1" fmla="*/ 534083 w 5874330"/>
              <a:gd name="connsiteY1" fmla="*/ 3216458 h 3236358"/>
              <a:gd name="connsiteX2" fmla="*/ 1080657 w 5874330"/>
              <a:gd name="connsiteY2" fmla="*/ 2881746 h 3236358"/>
              <a:gd name="connsiteX3" fmla="*/ 1759530 w 5874330"/>
              <a:gd name="connsiteY3" fmla="*/ 1995055 h 3236358"/>
              <a:gd name="connsiteX4" fmla="*/ 3034148 w 5874330"/>
              <a:gd name="connsiteY4" fmla="*/ 1856510 h 3236358"/>
              <a:gd name="connsiteX5" fmla="*/ 3546766 w 5874330"/>
              <a:gd name="connsiteY5" fmla="*/ 1108364 h 3236358"/>
              <a:gd name="connsiteX6" fmla="*/ 4461166 w 5874330"/>
              <a:gd name="connsiteY6" fmla="*/ 1039090 h 3236358"/>
              <a:gd name="connsiteX7" fmla="*/ 5140039 w 5874330"/>
              <a:gd name="connsiteY7" fmla="*/ 554182 h 3236358"/>
              <a:gd name="connsiteX8" fmla="*/ 5763493 w 5874330"/>
              <a:gd name="connsiteY8" fmla="*/ 83127 h 3236358"/>
              <a:gd name="connsiteX9" fmla="*/ 5874330 w 5874330"/>
              <a:gd name="connsiteY9" fmla="*/ 0 h 323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74330" h="3236358">
                <a:moveTo>
                  <a:pt x="2" y="3214255"/>
                </a:moveTo>
                <a:cubicBezTo>
                  <a:pt x="-1039" y="3221549"/>
                  <a:pt x="395537" y="3128713"/>
                  <a:pt x="534083" y="3216458"/>
                </a:cubicBezTo>
                <a:cubicBezTo>
                  <a:pt x="672629" y="3304204"/>
                  <a:pt x="876416" y="3085313"/>
                  <a:pt x="1080657" y="2881746"/>
                </a:cubicBezTo>
                <a:cubicBezTo>
                  <a:pt x="1284898" y="2678179"/>
                  <a:pt x="1433948" y="2165928"/>
                  <a:pt x="1759530" y="1995055"/>
                </a:cubicBezTo>
                <a:cubicBezTo>
                  <a:pt x="2085112" y="1824182"/>
                  <a:pt x="2736275" y="2004292"/>
                  <a:pt x="3034148" y="1856510"/>
                </a:cubicBezTo>
                <a:cubicBezTo>
                  <a:pt x="3332021" y="1708728"/>
                  <a:pt x="3308930" y="1244601"/>
                  <a:pt x="3546766" y="1108364"/>
                </a:cubicBezTo>
                <a:cubicBezTo>
                  <a:pt x="3784602" y="972127"/>
                  <a:pt x="4195621" y="1131454"/>
                  <a:pt x="4461166" y="1039090"/>
                </a:cubicBezTo>
                <a:cubicBezTo>
                  <a:pt x="4726711" y="946726"/>
                  <a:pt x="4922985" y="713509"/>
                  <a:pt x="5140039" y="554182"/>
                </a:cubicBezTo>
                <a:cubicBezTo>
                  <a:pt x="5357093" y="394855"/>
                  <a:pt x="5763493" y="83127"/>
                  <a:pt x="5763493" y="83127"/>
                </a:cubicBezTo>
                <a:lnTo>
                  <a:pt x="587433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1 5"/>
          <p:cNvCxnSpPr>
            <a:stCxn id="4" idx="9"/>
          </p:cNvCxnSpPr>
          <p:nvPr/>
        </p:nvCxnSpPr>
        <p:spPr>
          <a:xfrm>
            <a:off x="6032973" y="3059652"/>
            <a:ext cx="1" cy="23561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igura a mano libera 8"/>
          <p:cNvSpPr/>
          <p:nvPr/>
        </p:nvSpPr>
        <p:spPr>
          <a:xfrm>
            <a:off x="6060683" y="4220000"/>
            <a:ext cx="2687781" cy="1401285"/>
          </a:xfrm>
          <a:custGeom>
            <a:avLst/>
            <a:gdLst>
              <a:gd name="connsiteX0" fmla="*/ 0 w 2687781"/>
              <a:gd name="connsiteY0" fmla="*/ 1179612 h 1401285"/>
              <a:gd name="connsiteX1" fmla="*/ 928254 w 2687781"/>
              <a:gd name="connsiteY1" fmla="*/ 1976 h 1401285"/>
              <a:gd name="connsiteX2" fmla="*/ 1440872 w 2687781"/>
              <a:gd name="connsiteY2" fmla="*/ 888667 h 1401285"/>
              <a:gd name="connsiteX3" fmla="*/ 1648691 w 2687781"/>
              <a:gd name="connsiteY3" fmla="*/ 459176 h 1401285"/>
              <a:gd name="connsiteX4" fmla="*/ 2493818 w 2687781"/>
              <a:gd name="connsiteY4" fmla="*/ 306776 h 1401285"/>
              <a:gd name="connsiteX5" fmla="*/ 2687781 w 2687781"/>
              <a:gd name="connsiteY5" fmla="*/ 1401285 h 140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7781" h="1401285">
                <a:moveTo>
                  <a:pt x="0" y="1179612"/>
                </a:moveTo>
                <a:cubicBezTo>
                  <a:pt x="344054" y="615039"/>
                  <a:pt x="688109" y="50467"/>
                  <a:pt x="928254" y="1976"/>
                </a:cubicBezTo>
                <a:cubicBezTo>
                  <a:pt x="1168399" y="-46515"/>
                  <a:pt x="1320799" y="812467"/>
                  <a:pt x="1440872" y="888667"/>
                </a:cubicBezTo>
                <a:cubicBezTo>
                  <a:pt x="1560945" y="964867"/>
                  <a:pt x="1473200" y="556158"/>
                  <a:pt x="1648691" y="459176"/>
                </a:cubicBezTo>
                <a:cubicBezTo>
                  <a:pt x="1824182" y="362194"/>
                  <a:pt x="2320636" y="149758"/>
                  <a:pt x="2493818" y="306776"/>
                </a:cubicBezTo>
                <a:cubicBezTo>
                  <a:pt x="2667000" y="463794"/>
                  <a:pt x="2657763" y="1216558"/>
                  <a:pt x="2687781" y="140128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1 11"/>
          <p:cNvCxnSpPr/>
          <p:nvPr/>
        </p:nvCxnSpPr>
        <p:spPr>
          <a:xfrm>
            <a:off x="251520" y="3059651"/>
            <a:ext cx="8712968" cy="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08028" y="2492896"/>
            <a:ext cx="1211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potential</a:t>
            </a:r>
            <a:endParaRPr lang="it-IT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1810296" y="5253198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Membrane</a:t>
            </a:r>
          </a:p>
          <a:p>
            <a:r>
              <a:rPr lang="it-IT" dirty="0" err="1"/>
              <a:t>potential</a:t>
            </a:r>
            <a:endParaRPr lang="it-IT" dirty="0"/>
          </a:p>
        </p:txBody>
      </p:sp>
      <p:cxnSp>
        <p:nvCxnSpPr>
          <p:cNvPr id="16" name="Connettore 1 15"/>
          <p:cNvCxnSpPr/>
          <p:nvPr/>
        </p:nvCxnSpPr>
        <p:spPr>
          <a:xfrm>
            <a:off x="6032974" y="1628800"/>
            <a:ext cx="0" cy="1080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6156176" y="19168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Spike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6156175" y="3429000"/>
            <a:ext cx="124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Reset</a:t>
            </a:r>
          </a:p>
        </p:txBody>
      </p:sp>
      <p:cxnSp>
        <p:nvCxnSpPr>
          <p:cNvPr id="21" name="Connettore 2 20"/>
          <p:cNvCxnSpPr/>
          <p:nvPr/>
        </p:nvCxnSpPr>
        <p:spPr>
          <a:xfrm>
            <a:off x="1907704" y="6165304"/>
            <a:ext cx="4896544" cy="0"/>
          </a:xfrm>
          <a:prstGeom prst="straightConnector1">
            <a:avLst/>
          </a:prstGeom>
          <a:ln w="762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3707904" y="57239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Time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158643" y="5106633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3743908" y="3152001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2134332" y="422000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04B29901-0134-4D4B-B836-E84456423E78}"/>
              </a:ext>
            </a:extLst>
          </p:cNvPr>
          <p:cNvSpPr/>
          <p:nvPr/>
        </p:nvSpPr>
        <p:spPr>
          <a:xfrm>
            <a:off x="158642" y="3328133"/>
            <a:ext cx="5665147" cy="270398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 err="1"/>
              <a:t>This</a:t>
            </a:r>
            <a:r>
              <a:rPr lang="it-IT" sz="2400" dirty="0"/>
              <a:t> model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much</a:t>
            </a:r>
            <a:r>
              <a:rPr lang="it-IT" sz="2400" dirty="0"/>
              <a:t> </a:t>
            </a:r>
            <a:r>
              <a:rPr lang="it-IT" sz="2400" dirty="0" err="1"/>
              <a:t>simpler</a:t>
            </a:r>
            <a:r>
              <a:rPr lang="it-IT" sz="2400" dirty="0"/>
              <a:t> </a:t>
            </a:r>
            <a:r>
              <a:rPr lang="it-IT" sz="2400" dirty="0" err="1"/>
              <a:t>than</a:t>
            </a:r>
            <a:r>
              <a:rPr lang="it-IT" sz="2400" dirty="0"/>
              <a:t> HH </a:t>
            </a:r>
            <a:r>
              <a:rPr lang="it-IT" sz="2400" dirty="0" err="1"/>
              <a:t>since</a:t>
            </a:r>
            <a:r>
              <a:rPr lang="it-IT" sz="2400" dirty="0"/>
              <a:t> </a:t>
            </a:r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does</a:t>
            </a:r>
            <a:r>
              <a:rPr lang="it-IT" sz="2400" dirty="0"/>
              <a:t> NOT simulate </a:t>
            </a:r>
            <a:r>
              <a:rPr lang="it-IT" sz="2400" dirty="0" err="1"/>
              <a:t>active</a:t>
            </a:r>
            <a:r>
              <a:rPr lang="it-IT" sz="2400" dirty="0"/>
              <a:t> </a:t>
            </a:r>
            <a:r>
              <a:rPr lang="it-IT" sz="2400" dirty="0" err="1"/>
              <a:t>sodium</a:t>
            </a:r>
            <a:r>
              <a:rPr lang="it-IT" sz="2400" dirty="0"/>
              <a:t> and </a:t>
            </a:r>
            <a:r>
              <a:rPr lang="it-IT" sz="2400" dirty="0" err="1"/>
              <a:t>potassium</a:t>
            </a:r>
            <a:r>
              <a:rPr lang="it-IT" sz="2400" dirty="0"/>
              <a:t> </a:t>
            </a:r>
            <a:r>
              <a:rPr lang="it-IT" sz="2400" dirty="0" err="1"/>
              <a:t>channels</a:t>
            </a:r>
            <a:r>
              <a:rPr lang="it-IT" sz="2400" dirty="0"/>
              <a:t> </a:t>
            </a:r>
            <a:r>
              <a:rPr lang="it-IT" sz="2400" dirty="0" err="1"/>
              <a:t>originating</a:t>
            </a:r>
            <a:r>
              <a:rPr lang="it-IT" sz="2400" dirty="0"/>
              <a:t> the action </a:t>
            </a:r>
            <a:r>
              <a:rPr lang="it-IT" sz="2400" dirty="0" err="1"/>
              <a:t>potential</a:t>
            </a:r>
            <a:r>
              <a:rPr lang="it-IT" sz="2400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565473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inhibitory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inputs </a:t>
            </a:r>
            <a:b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integrate and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neuron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igura a mano libera 3"/>
          <p:cNvSpPr/>
          <p:nvPr/>
        </p:nvSpPr>
        <p:spPr>
          <a:xfrm>
            <a:off x="242928" y="3059652"/>
            <a:ext cx="5790046" cy="3064692"/>
          </a:xfrm>
          <a:custGeom>
            <a:avLst/>
            <a:gdLst>
              <a:gd name="connsiteX0" fmla="*/ 0 w 5624946"/>
              <a:gd name="connsiteY0" fmla="*/ 2355273 h 2889629"/>
              <a:gd name="connsiteX1" fmla="*/ 831273 w 5624946"/>
              <a:gd name="connsiteY1" fmla="*/ 2881746 h 2889629"/>
              <a:gd name="connsiteX2" fmla="*/ 1510146 w 5624946"/>
              <a:gd name="connsiteY2" fmla="*/ 1995055 h 2889629"/>
              <a:gd name="connsiteX3" fmla="*/ 2867891 w 5624946"/>
              <a:gd name="connsiteY3" fmla="*/ 2382982 h 2889629"/>
              <a:gd name="connsiteX4" fmla="*/ 3297382 w 5624946"/>
              <a:gd name="connsiteY4" fmla="*/ 1108364 h 2889629"/>
              <a:gd name="connsiteX5" fmla="*/ 4114800 w 5624946"/>
              <a:gd name="connsiteY5" fmla="*/ 1579418 h 2889629"/>
              <a:gd name="connsiteX6" fmla="*/ 4890655 w 5624946"/>
              <a:gd name="connsiteY6" fmla="*/ 554182 h 2889629"/>
              <a:gd name="connsiteX7" fmla="*/ 5514109 w 5624946"/>
              <a:gd name="connsiteY7" fmla="*/ 83127 h 2889629"/>
              <a:gd name="connsiteX8" fmla="*/ 5624946 w 5624946"/>
              <a:gd name="connsiteY8" fmla="*/ 0 h 2889629"/>
              <a:gd name="connsiteX0" fmla="*/ 0 w 5713846"/>
              <a:gd name="connsiteY0" fmla="*/ 2685473 h 2947626"/>
              <a:gd name="connsiteX1" fmla="*/ 920173 w 5713846"/>
              <a:gd name="connsiteY1" fmla="*/ 2881746 h 2947626"/>
              <a:gd name="connsiteX2" fmla="*/ 1599046 w 5713846"/>
              <a:gd name="connsiteY2" fmla="*/ 1995055 h 2947626"/>
              <a:gd name="connsiteX3" fmla="*/ 2956791 w 5713846"/>
              <a:gd name="connsiteY3" fmla="*/ 2382982 h 2947626"/>
              <a:gd name="connsiteX4" fmla="*/ 3386282 w 5713846"/>
              <a:gd name="connsiteY4" fmla="*/ 1108364 h 2947626"/>
              <a:gd name="connsiteX5" fmla="*/ 4203700 w 5713846"/>
              <a:gd name="connsiteY5" fmla="*/ 1579418 h 2947626"/>
              <a:gd name="connsiteX6" fmla="*/ 4979555 w 5713846"/>
              <a:gd name="connsiteY6" fmla="*/ 554182 h 2947626"/>
              <a:gd name="connsiteX7" fmla="*/ 5603009 w 5713846"/>
              <a:gd name="connsiteY7" fmla="*/ 83127 h 2947626"/>
              <a:gd name="connsiteX8" fmla="*/ 5713846 w 5713846"/>
              <a:gd name="connsiteY8" fmla="*/ 0 h 2947626"/>
              <a:gd name="connsiteX0" fmla="*/ 0 w 5790046"/>
              <a:gd name="connsiteY0" fmla="*/ 2901373 h 3064692"/>
              <a:gd name="connsiteX1" fmla="*/ 996373 w 5790046"/>
              <a:gd name="connsiteY1" fmla="*/ 2881746 h 3064692"/>
              <a:gd name="connsiteX2" fmla="*/ 1675246 w 5790046"/>
              <a:gd name="connsiteY2" fmla="*/ 1995055 h 3064692"/>
              <a:gd name="connsiteX3" fmla="*/ 3032991 w 5790046"/>
              <a:gd name="connsiteY3" fmla="*/ 2382982 h 3064692"/>
              <a:gd name="connsiteX4" fmla="*/ 3462482 w 5790046"/>
              <a:gd name="connsiteY4" fmla="*/ 1108364 h 3064692"/>
              <a:gd name="connsiteX5" fmla="*/ 4279900 w 5790046"/>
              <a:gd name="connsiteY5" fmla="*/ 1579418 h 3064692"/>
              <a:gd name="connsiteX6" fmla="*/ 5055755 w 5790046"/>
              <a:gd name="connsiteY6" fmla="*/ 554182 h 3064692"/>
              <a:gd name="connsiteX7" fmla="*/ 5679209 w 5790046"/>
              <a:gd name="connsiteY7" fmla="*/ 83127 h 3064692"/>
              <a:gd name="connsiteX8" fmla="*/ 5790046 w 5790046"/>
              <a:gd name="connsiteY8" fmla="*/ 0 h 306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90046" h="3064692">
                <a:moveTo>
                  <a:pt x="0" y="2901373"/>
                </a:moveTo>
                <a:cubicBezTo>
                  <a:pt x="289791" y="3194627"/>
                  <a:pt x="717165" y="3032799"/>
                  <a:pt x="996373" y="2881746"/>
                </a:cubicBezTo>
                <a:cubicBezTo>
                  <a:pt x="1275581" y="2730693"/>
                  <a:pt x="1335810" y="2078182"/>
                  <a:pt x="1675246" y="1995055"/>
                </a:cubicBezTo>
                <a:cubicBezTo>
                  <a:pt x="2014682" y="1911928"/>
                  <a:pt x="2735118" y="2530764"/>
                  <a:pt x="3032991" y="2382982"/>
                </a:cubicBezTo>
                <a:cubicBezTo>
                  <a:pt x="3330864" y="2235200"/>
                  <a:pt x="3254664" y="1242291"/>
                  <a:pt x="3462482" y="1108364"/>
                </a:cubicBezTo>
                <a:cubicBezTo>
                  <a:pt x="3670300" y="974437"/>
                  <a:pt x="4014355" y="1671782"/>
                  <a:pt x="4279900" y="1579418"/>
                </a:cubicBezTo>
                <a:cubicBezTo>
                  <a:pt x="4545445" y="1487054"/>
                  <a:pt x="4822537" y="803564"/>
                  <a:pt x="5055755" y="554182"/>
                </a:cubicBezTo>
                <a:cubicBezTo>
                  <a:pt x="5288973" y="304800"/>
                  <a:pt x="5679209" y="83127"/>
                  <a:pt x="5679209" y="83127"/>
                </a:cubicBezTo>
                <a:lnTo>
                  <a:pt x="5790046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1 5"/>
          <p:cNvCxnSpPr>
            <a:stCxn id="4" idx="8"/>
          </p:cNvCxnSpPr>
          <p:nvPr/>
        </p:nvCxnSpPr>
        <p:spPr>
          <a:xfrm>
            <a:off x="6032974" y="3059652"/>
            <a:ext cx="0" cy="23561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igura a mano libera 8"/>
          <p:cNvSpPr/>
          <p:nvPr/>
        </p:nvSpPr>
        <p:spPr>
          <a:xfrm>
            <a:off x="6060683" y="4220000"/>
            <a:ext cx="2687781" cy="1401285"/>
          </a:xfrm>
          <a:custGeom>
            <a:avLst/>
            <a:gdLst>
              <a:gd name="connsiteX0" fmla="*/ 0 w 2687781"/>
              <a:gd name="connsiteY0" fmla="*/ 1179612 h 1401285"/>
              <a:gd name="connsiteX1" fmla="*/ 928254 w 2687781"/>
              <a:gd name="connsiteY1" fmla="*/ 1976 h 1401285"/>
              <a:gd name="connsiteX2" fmla="*/ 1440872 w 2687781"/>
              <a:gd name="connsiteY2" fmla="*/ 888667 h 1401285"/>
              <a:gd name="connsiteX3" fmla="*/ 1648691 w 2687781"/>
              <a:gd name="connsiteY3" fmla="*/ 459176 h 1401285"/>
              <a:gd name="connsiteX4" fmla="*/ 2493818 w 2687781"/>
              <a:gd name="connsiteY4" fmla="*/ 306776 h 1401285"/>
              <a:gd name="connsiteX5" fmla="*/ 2687781 w 2687781"/>
              <a:gd name="connsiteY5" fmla="*/ 1401285 h 140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7781" h="1401285">
                <a:moveTo>
                  <a:pt x="0" y="1179612"/>
                </a:moveTo>
                <a:cubicBezTo>
                  <a:pt x="344054" y="615039"/>
                  <a:pt x="688109" y="50467"/>
                  <a:pt x="928254" y="1976"/>
                </a:cubicBezTo>
                <a:cubicBezTo>
                  <a:pt x="1168399" y="-46515"/>
                  <a:pt x="1320799" y="812467"/>
                  <a:pt x="1440872" y="888667"/>
                </a:cubicBezTo>
                <a:cubicBezTo>
                  <a:pt x="1560945" y="964867"/>
                  <a:pt x="1473200" y="556158"/>
                  <a:pt x="1648691" y="459176"/>
                </a:cubicBezTo>
                <a:cubicBezTo>
                  <a:pt x="1824182" y="362194"/>
                  <a:pt x="2320636" y="149758"/>
                  <a:pt x="2493818" y="306776"/>
                </a:cubicBezTo>
                <a:cubicBezTo>
                  <a:pt x="2667000" y="463794"/>
                  <a:pt x="2657763" y="1216558"/>
                  <a:pt x="2687781" y="140128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1 11"/>
          <p:cNvCxnSpPr/>
          <p:nvPr/>
        </p:nvCxnSpPr>
        <p:spPr>
          <a:xfrm>
            <a:off x="251520" y="3059651"/>
            <a:ext cx="8712968" cy="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08028" y="2492896"/>
            <a:ext cx="1211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potential</a:t>
            </a:r>
            <a:endParaRPr lang="it-IT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1619672" y="5399111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Membrane</a:t>
            </a:r>
          </a:p>
          <a:p>
            <a:r>
              <a:rPr lang="it-IT" dirty="0" err="1"/>
              <a:t>potential</a:t>
            </a:r>
            <a:endParaRPr lang="it-IT" dirty="0"/>
          </a:p>
        </p:txBody>
      </p:sp>
      <p:cxnSp>
        <p:nvCxnSpPr>
          <p:cNvPr id="16" name="Connettore 1 15"/>
          <p:cNvCxnSpPr/>
          <p:nvPr/>
        </p:nvCxnSpPr>
        <p:spPr>
          <a:xfrm>
            <a:off x="6032974" y="1628800"/>
            <a:ext cx="0" cy="1080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6156176" y="19168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Spike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6156175" y="3429000"/>
            <a:ext cx="124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Reset</a:t>
            </a:r>
          </a:p>
        </p:txBody>
      </p:sp>
      <p:cxnSp>
        <p:nvCxnSpPr>
          <p:cNvPr id="21" name="Connettore 2 20"/>
          <p:cNvCxnSpPr/>
          <p:nvPr/>
        </p:nvCxnSpPr>
        <p:spPr>
          <a:xfrm>
            <a:off x="1907704" y="6165304"/>
            <a:ext cx="4896544" cy="0"/>
          </a:xfrm>
          <a:prstGeom prst="straightConnector1">
            <a:avLst/>
          </a:prstGeom>
          <a:ln w="762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3707904" y="57239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Time</a:t>
            </a:r>
          </a:p>
        </p:txBody>
      </p:sp>
      <p:sp>
        <p:nvSpPr>
          <p:cNvPr id="24" name="CasellaDiTesto 23"/>
          <p:cNvSpPr txBox="1"/>
          <p:nvPr/>
        </p:nvSpPr>
        <p:spPr>
          <a:xfrm>
            <a:off x="1727683" y="4078813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002060"/>
                </a:solidFill>
              </a:rPr>
              <a:t>Inhibitory</a:t>
            </a:r>
            <a:r>
              <a:rPr lang="it-IT" dirty="0">
                <a:solidFill>
                  <a:srgbClr val="002060"/>
                </a:solidFill>
              </a:rPr>
              <a:t> input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2951819" y="342900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272336" y="503309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3769684" y="485109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002060"/>
                </a:solidFill>
              </a:rPr>
              <a:t>Inhibitory</a:t>
            </a:r>
            <a:r>
              <a:rPr lang="it-IT" dirty="0">
                <a:solidFill>
                  <a:srgbClr val="002060"/>
                </a:solidFill>
              </a:rPr>
              <a:t> input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4C7E16E4-ECE1-4009-8DBD-3E8A21D0FF77}"/>
              </a:ext>
            </a:extLst>
          </p:cNvPr>
          <p:cNvCxnSpPr>
            <a:cxnSpLocks/>
          </p:cNvCxnSpPr>
          <p:nvPr/>
        </p:nvCxnSpPr>
        <p:spPr>
          <a:xfrm>
            <a:off x="2117173" y="4690886"/>
            <a:ext cx="0" cy="317663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B0BD2447-96CC-486F-9544-0EF0AB642097}"/>
              </a:ext>
            </a:extLst>
          </p:cNvPr>
          <p:cNvCxnSpPr>
            <a:cxnSpLocks/>
          </p:cNvCxnSpPr>
          <p:nvPr/>
        </p:nvCxnSpPr>
        <p:spPr>
          <a:xfrm flipH="1" flipV="1">
            <a:off x="3841691" y="4216406"/>
            <a:ext cx="219821" cy="608383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A08287C0-71BE-4F85-BBB6-A3DF9CED95DB}"/>
              </a:ext>
            </a:extLst>
          </p:cNvPr>
          <p:cNvCxnSpPr>
            <a:cxnSpLocks/>
          </p:cNvCxnSpPr>
          <p:nvPr/>
        </p:nvCxnSpPr>
        <p:spPr>
          <a:xfrm>
            <a:off x="1013850" y="5621285"/>
            <a:ext cx="212183" cy="2643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C99A476D-F04A-4999-A4F9-97ACA229A3EB}"/>
              </a:ext>
            </a:extLst>
          </p:cNvPr>
          <p:cNvCxnSpPr>
            <a:cxnSpLocks/>
          </p:cNvCxnSpPr>
          <p:nvPr/>
        </p:nvCxnSpPr>
        <p:spPr>
          <a:xfrm>
            <a:off x="3275856" y="4088119"/>
            <a:ext cx="0" cy="12392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58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</a:rPr>
              <a:t>Introducing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resting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potential</a:t>
            </a:r>
            <a:r>
              <a:rPr lang="it-IT" sz="3200" dirty="0">
                <a:solidFill>
                  <a:srgbClr val="FF0000"/>
                </a:solidFill>
              </a:rPr>
              <a:t>: </a:t>
            </a:r>
            <a:br>
              <a:rPr lang="it-IT" sz="3200" dirty="0">
                <a:solidFill>
                  <a:srgbClr val="FF0000"/>
                </a:solidFill>
              </a:rPr>
            </a:br>
            <a:r>
              <a:rPr lang="it-IT" sz="3200" dirty="0">
                <a:solidFill>
                  <a:srgbClr val="FF0000"/>
                </a:solidFill>
              </a:rPr>
              <a:t>the 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LEAKY</a:t>
            </a:r>
            <a:r>
              <a:rPr lang="it-IT" sz="3200" dirty="0">
                <a:solidFill>
                  <a:srgbClr val="FF0000"/>
                </a:solidFill>
              </a:rPr>
              <a:t> integrate and </a:t>
            </a:r>
            <a:r>
              <a:rPr lang="it-IT" sz="3200" dirty="0" err="1">
                <a:solidFill>
                  <a:srgbClr val="FF0000"/>
                </a:solidFill>
              </a:rPr>
              <a:t>fire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neuron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Figura a mano libera 3"/>
          <p:cNvSpPr/>
          <p:nvPr/>
        </p:nvSpPr>
        <p:spPr>
          <a:xfrm>
            <a:off x="255628" y="3059651"/>
            <a:ext cx="5777346" cy="2943033"/>
          </a:xfrm>
          <a:custGeom>
            <a:avLst/>
            <a:gdLst>
              <a:gd name="connsiteX0" fmla="*/ 0 w 5624946"/>
              <a:gd name="connsiteY0" fmla="*/ 2355273 h 2889629"/>
              <a:gd name="connsiteX1" fmla="*/ 831273 w 5624946"/>
              <a:gd name="connsiteY1" fmla="*/ 2881746 h 2889629"/>
              <a:gd name="connsiteX2" fmla="*/ 1510146 w 5624946"/>
              <a:gd name="connsiteY2" fmla="*/ 1995055 h 2889629"/>
              <a:gd name="connsiteX3" fmla="*/ 2867891 w 5624946"/>
              <a:gd name="connsiteY3" fmla="*/ 2382982 h 2889629"/>
              <a:gd name="connsiteX4" fmla="*/ 3297382 w 5624946"/>
              <a:gd name="connsiteY4" fmla="*/ 1108364 h 2889629"/>
              <a:gd name="connsiteX5" fmla="*/ 4114800 w 5624946"/>
              <a:gd name="connsiteY5" fmla="*/ 1579418 h 2889629"/>
              <a:gd name="connsiteX6" fmla="*/ 4890655 w 5624946"/>
              <a:gd name="connsiteY6" fmla="*/ 554182 h 2889629"/>
              <a:gd name="connsiteX7" fmla="*/ 5514109 w 5624946"/>
              <a:gd name="connsiteY7" fmla="*/ 83127 h 2889629"/>
              <a:gd name="connsiteX8" fmla="*/ 5624946 w 5624946"/>
              <a:gd name="connsiteY8" fmla="*/ 0 h 2889629"/>
              <a:gd name="connsiteX0" fmla="*/ 0 w 5777346"/>
              <a:gd name="connsiteY0" fmla="*/ 2672773 h 2943033"/>
              <a:gd name="connsiteX1" fmla="*/ 983673 w 5777346"/>
              <a:gd name="connsiteY1" fmla="*/ 2881746 h 2943033"/>
              <a:gd name="connsiteX2" fmla="*/ 1662546 w 5777346"/>
              <a:gd name="connsiteY2" fmla="*/ 1995055 h 2943033"/>
              <a:gd name="connsiteX3" fmla="*/ 3020291 w 5777346"/>
              <a:gd name="connsiteY3" fmla="*/ 2382982 h 2943033"/>
              <a:gd name="connsiteX4" fmla="*/ 3449782 w 5777346"/>
              <a:gd name="connsiteY4" fmla="*/ 1108364 h 2943033"/>
              <a:gd name="connsiteX5" fmla="*/ 4267200 w 5777346"/>
              <a:gd name="connsiteY5" fmla="*/ 1579418 h 2943033"/>
              <a:gd name="connsiteX6" fmla="*/ 5043055 w 5777346"/>
              <a:gd name="connsiteY6" fmla="*/ 554182 h 2943033"/>
              <a:gd name="connsiteX7" fmla="*/ 5666509 w 5777346"/>
              <a:gd name="connsiteY7" fmla="*/ 83127 h 2943033"/>
              <a:gd name="connsiteX8" fmla="*/ 5777346 w 5777346"/>
              <a:gd name="connsiteY8" fmla="*/ 0 h 2943033"/>
              <a:gd name="connsiteX0" fmla="*/ 0 w 5777346"/>
              <a:gd name="connsiteY0" fmla="*/ 2672773 h 2943033"/>
              <a:gd name="connsiteX1" fmla="*/ 983673 w 5777346"/>
              <a:gd name="connsiteY1" fmla="*/ 2881746 h 2943033"/>
              <a:gd name="connsiteX2" fmla="*/ 1662546 w 5777346"/>
              <a:gd name="connsiteY2" fmla="*/ 1995055 h 2943033"/>
              <a:gd name="connsiteX3" fmla="*/ 3071091 w 5777346"/>
              <a:gd name="connsiteY3" fmla="*/ 2154382 h 2943033"/>
              <a:gd name="connsiteX4" fmla="*/ 3449782 w 5777346"/>
              <a:gd name="connsiteY4" fmla="*/ 1108364 h 2943033"/>
              <a:gd name="connsiteX5" fmla="*/ 4267200 w 5777346"/>
              <a:gd name="connsiteY5" fmla="*/ 1579418 h 2943033"/>
              <a:gd name="connsiteX6" fmla="*/ 5043055 w 5777346"/>
              <a:gd name="connsiteY6" fmla="*/ 554182 h 2943033"/>
              <a:gd name="connsiteX7" fmla="*/ 5666509 w 5777346"/>
              <a:gd name="connsiteY7" fmla="*/ 83127 h 2943033"/>
              <a:gd name="connsiteX8" fmla="*/ 5777346 w 5777346"/>
              <a:gd name="connsiteY8" fmla="*/ 0 h 2943033"/>
              <a:gd name="connsiteX0" fmla="*/ 0 w 5777346"/>
              <a:gd name="connsiteY0" fmla="*/ 2672773 h 2943033"/>
              <a:gd name="connsiteX1" fmla="*/ 983673 w 5777346"/>
              <a:gd name="connsiteY1" fmla="*/ 2881746 h 2943033"/>
              <a:gd name="connsiteX2" fmla="*/ 1662546 w 5777346"/>
              <a:gd name="connsiteY2" fmla="*/ 1995055 h 2943033"/>
              <a:gd name="connsiteX3" fmla="*/ 3071091 w 5777346"/>
              <a:gd name="connsiteY3" fmla="*/ 2154382 h 2943033"/>
              <a:gd name="connsiteX4" fmla="*/ 3449782 w 5777346"/>
              <a:gd name="connsiteY4" fmla="*/ 1108364 h 2943033"/>
              <a:gd name="connsiteX5" fmla="*/ 4279900 w 5777346"/>
              <a:gd name="connsiteY5" fmla="*/ 2049318 h 2943033"/>
              <a:gd name="connsiteX6" fmla="*/ 5043055 w 5777346"/>
              <a:gd name="connsiteY6" fmla="*/ 554182 h 2943033"/>
              <a:gd name="connsiteX7" fmla="*/ 5666509 w 5777346"/>
              <a:gd name="connsiteY7" fmla="*/ 83127 h 2943033"/>
              <a:gd name="connsiteX8" fmla="*/ 5777346 w 5777346"/>
              <a:gd name="connsiteY8" fmla="*/ 0 h 294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7346" h="2943033">
                <a:moveTo>
                  <a:pt x="0" y="2672773"/>
                </a:moveTo>
                <a:cubicBezTo>
                  <a:pt x="289791" y="2966027"/>
                  <a:pt x="706582" y="2994699"/>
                  <a:pt x="983673" y="2881746"/>
                </a:cubicBezTo>
                <a:cubicBezTo>
                  <a:pt x="1260764" y="2768793"/>
                  <a:pt x="1314643" y="2116282"/>
                  <a:pt x="1662546" y="1995055"/>
                </a:cubicBezTo>
                <a:cubicBezTo>
                  <a:pt x="2010449" y="1873828"/>
                  <a:pt x="2773218" y="2302164"/>
                  <a:pt x="3071091" y="2154382"/>
                </a:cubicBezTo>
                <a:cubicBezTo>
                  <a:pt x="3368964" y="2006600"/>
                  <a:pt x="3248314" y="1125875"/>
                  <a:pt x="3449782" y="1108364"/>
                </a:cubicBezTo>
                <a:cubicBezTo>
                  <a:pt x="3651250" y="1090853"/>
                  <a:pt x="4014355" y="2141682"/>
                  <a:pt x="4279900" y="2049318"/>
                </a:cubicBezTo>
                <a:cubicBezTo>
                  <a:pt x="4545445" y="1956954"/>
                  <a:pt x="4811954" y="881880"/>
                  <a:pt x="5043055" y="554182"/>
                </a:cubicBezTo>
                <a:cubicBezTo>
                  <a:pt x="5274156" y="226484"/>
                  <a:pt x="5666509" y="83127"/>
                  <a:pt x="5666509" y="83127"/>
                </a:cubicBezTo>
                <a:lnTo>
                  <a:pt x="5777346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1 5"/>
          <p:cNvCxnSpPr>
            <a:stCxn id="4" idx="8"/>
          </p:cNvCxnSpPr>
          <p:nvPr/>
        </p:nvCxnSpPr>
        <p:spPr>
          <a:xfrm>
            <a:off x="6032974" y="3059651"/>
            <a:ext cx="0" cy="235619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igura a mano libera 8"/>
          <p:cNvSpPr/>
          <p:nvPr/>
        </p:nvSpPr>
        <p:spPr>
          <a:xfrm>
            <a:off x="6060683" y="4220000"/>
            <a:ext cx="2687781" cy="1401285"/>
          </a:xfrm>
          <a:custGeom>
            <a:avLst/>
            <a:gdLst>
              <a:gd name="connsiteX0" fmla="*/ 0 w 2687781"/>
              <a:gd name="connsiteY0" fmla="*/ 1179612 h 1401285"/>
              <a:gd name="connsiteX1" fmla="*/ 928254 w 2687781"/>
              <a:gd name="connsiteY1" fmla="*/ 1976 h 1401285"/>
              <a:gd name="connsiteX2" fmla="*/ 1440872 w 2687781"/>
              <a:gd name="connsiteY2" fmla="*/ 888667 h 1401285"/>
              <a:gd name="connsiteX3" fmla="*/ 1648691 w 2687781"/>
              <a:gd name="connsiteY3" fmla="*/ 459176 h 1401285"/>
              <a:gd name="connsiteX4" fmla="*/ 2493818 w 2687781"/>
              <a:gd name="connsiteY4" fmla="*/ 306776 h 1401285"/>
              <a:gd name="connsiteX5" fmla="*/ 2687781 w 2687781"/>
              <a:gd name="connsiteY5" fmla="*/ 1401285 h 140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7781" h="1401285">
                <a:moveTo>
                  <a:pt x="0" y="1179612"/>
                </a:moveTo>
                <a:cubicBezTo>
                  <a:pt x="344054" y="615039"/>
                  <a:pt x="688109" y="50467"/>
                  <a:pt x="928254" y="1976"/>
                </a:cubicBezTo>
                <a:cubicBezTo>
                  <a:pt x="1168399" y="-46515"/>
                  <a:pt x="1320799" y="812467"/>
                  <a:pt x="1440872" y="888667"/>
                </a:cubicBezTo>
                <a:cubicBezTo>
                  <a:pt x="1560945" y="964867"/>
                  <a:pt x="1473200" y="556158"/>
                  <a:pt x="1648691" y="459176"/>
                </a:cubicBezTo>
                <a:cubicBezTo>
                  <a:pt x="1824182" y="362194"/>
                  <a:pt x="2320636" y="149758"/>
                  <a:pt x="2493818" y="306776"/>
                </a:cubicBezTo>
                <a:cubicBezTo>
                  <a:pt x="2667000" y="463794"/>
                  <a:pt x="2657763" y="1216558"/>
                  <a:pt x="2687781" y="140128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1 11"/>
          <p:cNvCxnSpPr/>
          <p:nvPr/>
        </p:nvCxnSpPr>
        <p:spPr>
          <a:xfrm>
            <a:off x="251520" y="3059651"/>
            <a:ext cx="8712968" cy="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08028" y="2492896"/>
            <a:ext cx="1211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potential</a:t>
            </a:r>
            <a:endParaRPr lang="it-IT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1619672" y="5446965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Membrane</a:t>
            </a:r>
          </a:p>
          <a:p>
            <a:r>
              <a:rPr lang="it-IT" dirty="0" err="1"/>
              <a:t>potential</a:t>
            </a:r>
            <a:endParaRPr lang="it-IT" dirty="0"/>
          </a:p>
        </p:txBody>
      </p:sp>
      <p:cxnSp>
        <p:nvCxnSpPr>
          <p:cNvPr id="16" name="Connettore 1 15"/>
          <p:cNvCxnSpPr/>
          <p:nvPr/>
        </p:nvCxnSpPr>
        <p:spPr>
          <a:xfrm>
            <a:off x="6032974" y="1628800"/>
            <a:ext cx="0" cy="1080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6156176" y="19168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Spike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6156175" y="3429000"/>
            <a:ext cx="124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Reset</a:t>
            </a:r>
          </a:p>
        </p:txBody>
      </p:sp>
      <p:cxnSp>
        <p:nvCxnSpPr>
          <p:cNvPr id="21" name="Connettore 2 20"/>
          <p:cNvCxnSpPr/>
          <p:nvPr/>
        </p:nvCxnSpPr>
        <p:spPr>
          <a:xfrm>
            <a:off x="1907704" y="6165304"/>
            <a:ext cx="4896544" cy="0"/>
          </a:xfrm>
          <a:prstGeom prst="straightConnector1">
            <a:avLst/>
          </a:prstGeom>
          <a:ln w="762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3707904" y="57239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Time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3306898" y="342900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2590800" y="4191000"/>
            <a:ext cx="122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Comes</a:t>
            </a:r>
            <a:r>
              <a:rPr lang="it-IT" dirty="0"/>
              <a:t> back to </a:t>
            </a:r>
            <a:r>
              <a:rPr lang="it-IT" dirty="0" err="1"/>
              <a:t>resting</a:t>
            </a:r>
            <a:endParaRPr lang="it-IT" dirty="0"/>
          </a:p>
        </p:txBody>
      </p:sp>
      <p:sp>
        <p:nvSpPr>
          <p:cNvPr id="20" name="CasellaDiTesto 19"/>
          <p:cNvSpPr txBox="1"/>
          <p:nvPr/>
        </p:nvSpPr>
        <p:spPr>
          <a:xfrm>
            <a:off x="4719464" y="476386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002060"/>
                </a:solidFill>
              </a:rPr>
              <a:t>Inhibitory</a:t>
            </a:r>
            <a:r>
              <a:rPr lang="it-IT" dirty="0">
                <a:solidFill>
                  <a:srgbClr val="002060"/>
                </a:solidFill>
              </a:rPr>
              <a:t> input</a:t>
            </a:r>
          </a:p>
        </p:txBody>
      </p:sp>
      <p:sp>
        <p:nvSpPr>
          <p:cNvPr id="22" name="CasellaDiTesto 21"/>
          <p:cNvSpPr txBox="1"/>
          <p:nvPr/>
        </p:nvSpPr>
        <p:spPr>
          <a:xfrm>
            <a:off x="5176664" y="384946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4" name="CasellaDiTesto 23"/>
          <p:cNvSpPr txBox="1"/>
          <p:nvPr/>
        </p:nvSpPr>
        <p:spPr>
          <a:xfrm>
            <a:off x="1214264" y="438286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452264" y="5020270"/>
            <a:ext cx="122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Comes</a:t>
            </a:r>
            <a:r>
              <a:rPr lang="it-IT" dirty="0"/>
              <a:t> back to </a:t>
            </a:r>
            <a:r>
              <a:rPr lang="it-IT" dirty="0" err="1"/>
              <a:t>resting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6711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41770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/>
              <p:nvPr/>
            </p:nvSpPr>
            <p:spPr>
              <a:xfrm>
                <a:off x="214313" y="2217758"/>
                <a:ext cx="8918613" cy="4398942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it-IT" sz="2400" dirty="0"/>
                  <a:t>= </a:t>
                </a:r>
                <a:r>
                  <a:rPr lang="it-IT" sz="2400" dirty="0" err="1"/>
                  <a:t>relaxation</a:t>
                </a:r>
                <a:r>
                  <a:rPr lang="it-IT" sz="2400" dirty="0"/>
                  <a:t> time of membrane </a:t>
                </a:r>
                <a:r>
                  <a:rPr lang="it-IT" sz="2400" dirty="0" err="1"/>
                  <a:t>potential</a:t>
                </a:r>
                <a:r>
                  <a:rPr lang="it-IT" sz="2400" dirty="0"/>
                  <a:t> (</a:t>
                </a:r>
                <a:r>
                  <a:rPr lang="it-IT" sz="2400" dirty="0" err="1"/>
                  <a:t>usually</a:t>
                </a:r>
                <a:r>
                  <a:rPr lang="it-IT" sz="2400" dirty="0"/>
                  <a:t> 20 </a:t>
                </a:r>
                <a:r>
                  <a:rPr lang="it-IT" sz="2400" dirty="0" err="1"/>
                  <a:t>ms</a:t>
                </a:r>
                <a:r>
                  <a:rPr lang="it-IT" sz="2400" dirty="0"/>
                  <a:t> or so, </a:t>
                </a:r>
                <a:r>
                  <a:rPr lang="it-IT" sz="2400" dirty="0" err="1"/>
                  <a:t>depends</a:t>
                </a:r>
                <a:r>
                  <a:rPr lang="it-IT" sz="2400" dirty="0"/>
                  <a:t> on the size of the soma)</a:t>
                </a:r>
              </a:p>
              <a:p>
                <a:pPr algn="ctr"/>
                <a:r>
                  <a:rPr lang="it-IT" sz="2400" dirty="0"/>
                  <a:t>Reset </a:t>
                </a:r>
                <a:r>
                  <a:rPr lang="it-IT" sz="2400" dirty="0" err="1"/>
                  <a:t>potential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set </a:t>
                </a:r>
                <a:r>
                  <a:rPr lang="it-IT" sz="2400" dirty="0" err="1"/>
                  <a:t>at</a:t>
                </a:r>
                <a:r>
                  <a:rPr lang="it-IT" sz="2400" dirty="0"/>
                  <a:t> 0 </a:t>
                </a:r>
                <a:r>
                  <a:rPr lang="it-IT" sz="2400" dirty="0" err="1"/>
                  <a:t>mV</a:t>
                </a:r>
                <a:endParaRPr lang="it-IT" sz="24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indicates</a:t>
                </a:r>
                <a:r>
                  <a:rPr lang="it-IT" sz="2400" dirty="0"/>
                  <a:t> AMPA (</a:t>
                </a:r>
                <a:r>
                  <a:rPr lang="it-IT" sz="2400" dirty="0" err="1"/>
                  <a:t>excitatory</a:t>
                </a:r>
                <a:r>
                  <a:rPr lang="it-IT" sz="2400" dirty="0"/>
                  <a:t>) post-</a:t>
                </a:r>
                <a:r>
                  <a:rPr lang="it-IT" sz="2400" dirty="0" err="1"/>
                  <a:t>synaptic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potentials</a:t>
                </a:r>
                <a:r>
                  <a:rPr lang="it-IT" sz="2400" dirty="0"/>
                  <a:t> (PSP)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indicates</a:t>
                </a:r>
                <a:r>
                  <a:rPr lang="it-IT" sz="2400" dirty="0"/>
                  <a:t> GABA (</a:t>
                </a:r>
                <a:r>
                  <a:rPr lang="it-IT" sz="2400" dirty="0" err="1"/>
                  <a:t>inhibitory</a:t>
                </a:r>
                <a:r>
                  <a:rPr lang="it-IT" sz="2400" dirty="0"/>
                  <a:t>) post-</a:t>
                </a:r>
                <a:r>
                  <a:rPr lang="it-IT" sz="2400" dirty="0" err="1"/>
                  <a:t>synaptic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potentials</a:t>
                </a:r>
                <a:r>
                  <a:rPr lang="it-IT" sz="2400" dirty="0"/>
                  <a:t> (PSP)</a:t>
                </a:r>
              </a:p>
            </p:txBody>
          </p:sp>
        </mc:Choice>
        <mc:Fallback xmlns="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3" y="2217758"/>
                <a:ext cx="8918613" cy="439894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2689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/>
              <p:nvPr/>
            </p:nvSpPr>
            <p:spPr>
              <a:xfrm>
                <a:off x="5251450" y="1"/>
                <a:ext cx="3881476" cy="6616700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 sz="2400" i="1" dirty="0">
                  <a:latin typeface="Cambria Math" panose="02040503050406030204" pitchFamily="18" charset="0"/>
                </a:endParaRPr>
              </a:p>
              <a:p>
                <a:pPr algn="ctr"/>
                <a:endParaRPr lang="it-IT" sz="2400" i="1" dirty="0">
                  <a:latin typeface="Cambria Math" panose="02040503050406030204" pitchFamily="18" charset="0"/>
                </a:endParaRPr>
              </a:p>
              <a:p>
                <a:pPr algn="ctr"/>
                <a:endParaRPr lang="it-IT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indicates</a:t>
                </a:r>
                <a:r>
                  <a:rPr lang="it-IT" sz="2400" dirty="0"/>
                  <a:t> rise time of the PSP (1-5 </a:t>
                </a:r>
                <a:r>
                  <a:rPr lang="it-IT" sz="2400" dirty="0" err="1"/>
                  <a:t>ms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usually</a:t>
                </a:r>
                <a:r>
                  <a:rPr lang="it-IT" sz="2400" dirty="0"/>
                  <a:t>) due to </a:t>
                </a:r>
                <a:r>
                  <a:rPr lang="it-IT" sz="2400" dirty="0" err="1"/>
                  <a:t>channel</a:t>
                </a:r>
                <a:r>
                  <a:rPr lang="it-IT" sz="2400" dirty="0"/>
                  <a:t> opening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it-IT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400" dirty="0"/>
                  <a:t>indicates </a:t>
                </a:r>
                <a:r>
                  <a:rPr lang="it-IT" sz="2400" dirty="0" err="1"/>
                  <a:t>decay</a:t>
                </a:r>
                <a:r>
                  <a:rPr lang="it-IT" sz="2400" dirty="0"/>
                  <a:t> time of the PSP (3-10 </a:t>
                </a:r>
                <a:r>
                  <a:rPr lang="it-IT" sz="2400" dirty="0" err="1"/>
                  <a:t>ms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usually</a:t>
                </a:r>
                <a:r>
                  <a:rPr lang="it-IT" sz="2400" dirty="0"/>
                  <a:t>) due to </a:t>
                </a:r>
                <a:r>
                  <a:rPr lang="it-IT" sz="2400" dirty="0" err="1"/>
                  <a:t>channel</a:t>
                </a:r>
                <a:r>
                  <a:rPr lang="it-IT" sz="2400" dirty="0"/>
                  <a:t> closing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𝑠𝑡𝑖𝑚</m:t>
                        </m:r>
                      </m:sup>
                    </m:sSubSup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0 </a:t>
                </a:r>
                <a:r>
                  <a:rPr lang="it-IT" sz="2400" dirty="0" err="1"/>
                  <a:t>except</a:t>
                </a:r>
                <a:r>
                  <a:rPr lang="it-IT" sz="2400" dirty="0"/>
                  <a:t> </a:t>
                </a:r>
                <a:r>
                  <a:rPr lang="it-IT" sz="2400" dirty="0" err="1"/>
                  <a:t>when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neuron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receiving</a:t>
                </a:r>
                <a:r>
                  <a:rPr lang="it-IT" sz="2400" dirty="0"/>
                  <a:t> an input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𝑠𝑡𝑖𝑚</m:t>
                        </m:r>
                      </m:sup>
                    </m:sSubSup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strength</a:t>
                </a:r>
                <a:r>
                  <a:rPr lang="it-IT" sz="2400" dirty="0"/>
                  <a:t> of the input</a:t>
                </a:r>
              </a:p>
              <a:p>
                <a:pPr algn="ctr"/>
                <a:endParaRPr lang="it-IT" sz="2400" dirty="0"/>
              </a:p>
              <a:p>
                <a:pPr algn="ctr"/>
                <a:endParaRPr lang="it-IT" sz="2400" dirty="0"/>
              </a:p>
              <a:p>
                <a:pPr algn="ctr"/>
                <a:endParaRPr lang="it-IT" sz="2400" dirty="0"/>
              </a:p>
            </p:txBody>
          </p:sp>
        </mc:Choice>
        <mc:Fallback xmlns="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450" y="1"/>
                <a:ext cx="3881476" cy="66167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2499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9C96A087-4DB7-4D80-AD8F-BA10B099C053}"/>
              </a:ext>
            </a:extLst>
          </p:cNvPr>
          <p:cNvSpPr/>
          <p:nvPr/>
        </p:nvSpPr>
        <p:spPr>
          <a:xfrm>
            <a:off x="507962" y="1297690"/>
            <a:ext cx="3881476" cy="439124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r>
              <a:rPr lang="it-IT" sz="2400" dirty="0"/>
              <a:t>The </a:t>
            </a:r>
            <a:r>
              <a:rPr lang="it-IT" sz="2400" dirty="0" err="1"/>
              <a:t>solution</a:t>
            </a:r>
            <a:r>
              <a:rPr lang="it-IT" sz="2400" dirty="0"/>
              <a:t> of the </a:t>
            </a:r>
            <a:r>
              <a:rPr lang="it-IT" sz="2400" dirty="0" err="1"/>
              <a:t>coupled</a:t>
            </a:r>
            <a:r>
              <a:rPr lang="it-IT" sz="2400" dirty="0"/>
              <a:t> </a:t>
            </a:r>
            <a:r>
              <a:rPr lang="it-IT" sz="2400" dirty="0" err="1"/>
              <a:t>differential</a:t>
            </a:r>
            <a:r>
              <a:rPr lang="it-IT" sz="2400" dirty="0"/>
              <a:t> </a:t>
            </a:r>
            <a:r>
              <a:rPr lang="it-IT" sz="2400" dirty="0" err="1"/>
              <a:t>equation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a </a:t>
            </a:r>
            <a:r>
              <a:rPr lang="it-IT" sz="2400" dirty="0" err="1"/>
              <a:t>difference</a:t>
            </a:r>
            <a:r>
              <a:rPr lang="it-IT" sz="2400" dirty="0"/>
              <a:t> of </a:t>
            </a:r>
            <a:r>
              <a:rPr lang="it-IT" sz="2400" dirty="0" err="1"/>
              <a:t>exponential</a:t>
            </a:r>
            <a:r>
              <a:rPr lang="it-IT" sz="2400" dirty="0"/>
              <a:t> following the </a:t>
            </a:r>
            <a:r>
              <a:rPr lang="it-IT" sz="2400" dirty="0" err="1"/>
              <a:t>onset</a:t>
            </a:r>
            <a:r>
              <a:rPr lang="it-IT" sz="2400" dirty="0"/>
              <a:t> of </a:t>
            </a:r>
            <a:r>
              <a:rPr lang="it-IT" sz="2400" dirty="0" err="1"/>
              <a:t>each</a:t>
            </a:r>
            <a:r>
              <a:rPr lang="it-IT" sz="2400" dirty="0"/>
              <a:t> </a:t>
            </a:r>
            <a:r>
              <a:rPr lang="it-IT" sz="2400" dirty="0" err="1"/>
              <a:t>stimulus</a:t>
            </a:r>
            <a:r>
              <a:rPr lang="it-IT" sz="2400" dirty="0"/>
              <a:t>, with </a:t>
            </a:r>
            <a:r>
              <a:rPr lang="it-IT" sz="2400" dirty="0" err="1"/>
              <a:t>amplitude</a:t>
            </a:r>
            <a:r>
              <a:rPr lang="it-IT" sz="2400" dirty="0"/>
              <a:t> J.</a:t>
            </a:r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1219949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54833CCD4C2FF43A3A3C271054A5EB0" ma:contentTypeVersion="3" ma:contentTypeDescription="Creare un nuovo documento." ma:contentTypeScope="" ma:versionID="b70027fdb4c1b1eb2bab3914881cac99">
  <xsd:schema xmlns:xsd="http://www.w3.org/2001/XMLSchema" xmlns:xs="http://www.w3.org/2001/XMLSchema" xmlns:p="http://schemas.microsoft.com/office/2006/metadata/properties" xmlns:ns2="8442ee31-cce1-422a-bc66-5370dcdeec33" targetNamespace="http://schemas.microsoft.com/office/2006/metadata/properties" ma:root="true" ma:fieldsID="10f8f216c52543ac433b769f5bf7bd55" ns2:_="">
    <xsd:import namespace="8442ee31-cce1-422a-bc66-5370dcdeec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2ee31-cce1-422a-bc66-5370dcdeec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3D4647-AE14-4CD3-9D67-31E79BC54AC1}"/>
</file>

<file path=customXml/itemProps2.xml><?xml version="1.0" encoding="utf-8"?>
<ds:datastoreItem xmlns:ds="http://schemas.openxmlformats.org/officeDocument/2006/customXml" ds:itemID="{0AE17EB2-DB08-4171-8F92-4D2995B72806}"/>
</file>

<file path=customXml/itemProps3.xml><?xml version="1.0" encoding="utf-8"?>
<ds:datastoreItem xmlns:ds="http://schemas.openxmlformats.org/officeDocument/2006/customXml" ds:itemID="{6FF221BE-A29E-40C1-B81F-59732CD19351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887</Words>
  <Application>Microsoft Office PowerPoint</Application>
  <PresentationFormat>Presentazione su schermo (4:3)</PresentationFormat>
  <Paragraphs>196</Paragraphs>
  <Slides>34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1" baseType="lpstr">
      <vt:lpstr>Arial</vt:lpstr>
      <vt:lpstr>Calibri</vt:lpstr>
      <vt:lpstr>Cambria Math</vt:lpstr>
      <vt:lpstr>Impact</vt:lpstr>
      <vt:lpstr>Symbol</vt:lpstr>
      <vt:lpstr>Times New Roman</vt:lpstr>
      <vt:lpstr>Tema di Office</vt:lpstr>
      <vt:lpstr>Neuromorphic engineering: computational neuroengineering module </vt:lpstr>
      <vt:lpstr>Presentazione standard di PowerPoint</vt:lpstr>
      <vt:lpstr>Presentazione standard di PowerPoint</vt:lpstr>
      <vt:lpstr>Presentazione standard di PowerPoint</vt:lpstr>
      <vt:lpstr>Neural Coding</vt:lpstr>
      <vt:lpstr>Neural Coding</vt:lpstr>
      <vt:lpstr>Neuronal Coding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How do we know what we know</vt:lpstr>
      <vt:lpstr>Neuronal Models</vt:lpstr>
      <vt:lpstr>Why should I model neurons?</vt:lpstr>
      <vt:lpstr>Why should I model neurons?</vt:lpstr>
      <vt:lpstr>Why should I model neurons?</vt:lpstr>
      <vt:lpstr>Why should I model neurons?</vt:lpstr>
      <vt:lpstr>Why should I model neurons?</vt:lpstr>
      <vt:lpstr>William of Ockham (c. 1287–1347)</vt:lpstr>
      <vt:lpstr>The simplest model</vt:lpstr>
      <vt:lpstr>Simple model, complex consequences</vt:lpstr>
      <vt:lpstr>Simple model, complex consequences</vt:lpstr>
      <vt:lpstr>Simple model, complex consequences</vt:lpstr>
      <vt:lpstr>Introducing time: rate models</vt:lpstr>
      <vt:lpstr>Introducing time: rate models</vt:lpstr>
      <vt:lpstr>Introducing potential: the integrate and fire neuron</vt:lpstr>
      <vt:lpstr>Introducing potential: the integrate and fire neuron</vt:lpstr>
      <vt:lpstr>Introducing inhibitory inputs  the integrate and fire neuron</vt:lpstr>
      <vt:lpstr>Introducing resting potential:  the LEAKY integrate and fire neuron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Models</dc:title>
  <dc:creator>alberto</dc:creator>
  <cp:lastModifiedBy>Alberto Mazzoni</cp:lastModifiedBy>
  <cp:revision>42</cp:revision>
  <dcterms:created xsi:type="dcterms:W3CDTF">2016-10-12T06:46:34Z</dcterms:created>
  <dcterms:modified xsi:type="dcterms:W3CDTF">2026-03-15T11:23:10Z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0x010100D54833CCD4C2FF43A3A3C271054A5EB0</vt:lpwstr>
  </property>
</Properties>
</file>