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539" r:id="rId3"/>
    <p:sldId id="447" r:id="rId4"/>
    <p:sldId id="448" r:id="rId5"/>
    <p:sldId id="449" r:id="rId6"/>
    <p:sldId id="450" r:id="rId7"/>
    <p:sldId id="451" r:id="rId8"/>
    <p:sldId id="459" r:id="rId9"/>
    <p:sldId id="460" r:id="rId10"/>
    <p:sldId id="461" r:id="rId11"/>
    <p:sldId id="462" r:id="rId12"/>
    <p:sldId id="463" r:id="rId13"/>
    <p:sldId id="464" r:id="rId14"/>
    <p:sldId id="465" r:id="rId15"/>
    <p:sldId id="466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26" r:id="rId24"/>
    <p:sldId id="467" r:id="rId25"/>
    <p:sldId id="468" r:id="rId26"/>
    <p:sldId id="469" r:id="rId27"/>
    <p:sldId id="470" r:id="rId28"/>
    <p:sldId id="471" r:id="rId29"/>
    <p:sldId id="472" r:id="rId30"/>
    <p:sldId id="473" r:id="rId31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63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9496D-ADBF-4A18-95D4-AE7277CC9CD7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9D7BA-C0FF-4E3D-A591-4EB38D80A8E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4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5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106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6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68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7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684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29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30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71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3.jpeg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3.jpeg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on" TargetMode="External"/><Relationship Id="rId13" Type="http://schemas.openxmlformats.org/officeDocument/2006/relationships/hyperlink" Target="https://en.wikipedia.org/wiki/Receptor_(biochemistry)" TargetMode="External"/><Relationship Id="rId3" Type="http://schemas.openxmlformats.org/officeDocument/2006/relationships/image" Target="../media/image16.png"/><Relationship Id="rId7" Type="http://schemas.openxmlformats.org/officeDocument/2006/relationships/hyperlink" Target="https://en.wikipedia.org/wiki/Biological_membrane" TargetMode="External"/><Relationship Id="rId12" Type="http://schemas.openxmlformats.org/officeDocument/2006/relationships/hyperlink" Target="https://en.wikipedia.org/wiki/Neurotransmitter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hyperlink" Target="https://en.wikipedia.org/wiki/Neuron" TargetMode="External"/><Relationship Id="rId5" Type="http://schemas.openxmlformats.org/officeDocument/2006/relationships/image" Target="../media/image18.png"/><Relationship Id="rId10" Type="http://schemas.openxmlformats.org/officeDocument/2006/relationships/hyperlink" Target="https://en.wikipedia.org/wiki/Post-synaptic" TargetMode="External"/><Relationship Id="rId4" Type="http://schemas.openxmlformats.org/officeDocument/2006/relationships/image" Target="../media/image17.png"/><Relationship Id="rId9" Type="http://schemas.openxmlformats.org/officeDocument/2006/relationships/hyperlink" Target="https://en.wikipedia.org/wiki/Membrane_potential" TargetMode="External"/><Relationship Id="rId14" Type="http://schemas.openxmlformats.org/officeDocument/2006/relationships/hyperlink" Target="https://en.wikipedia.org/wiki/Ion_channe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o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5975"/>
          <a:stretch/>
        </p:blipFill>
        <p:spPr bwMode="auto">
          <a:xfrm>
            <a:off x="482318" y="4943127"/>
            <a:ext cx="2392127" cy="116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2318" y="227176"/>
            <a:ext cx="8410162" cy="5506080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Neuromorphic</a:t>
            </a:r>
            <a:r>
              <a:rPr lang="it-IT" sz="6000" b="1" dirty="0">
                <a:solidFill>
                  <a:srgbClr val="FF0000"/>
                </a:solidFill>
              </a:rPr>
              <a:t> engineering: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computational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neuroengineering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module</a:t>
            </a:r>
            <a:br>
              <a:rPr lang="it-IT" sz="6000" b="1" dirty="0">
                <a:solidFill>
                  <a:srgbClr val="FF0000"/>
                </a:solidFill>
              </a:rPr>
            </a:br>
            <a:endParaRPr lang="it-IT" sz="6000" b="1" dirty="0">
              <a:solidFill>
                <a:srgbClr val="FF0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347864" y="5131249"/>
            <a:ext cx="5688632" cy="792088"/>
          </a:xfrm>
        </p:spPr>
        <p:txBody>
          <a:bodyPr>
            <a:normAutofit/>
          </a:bodyPr>
          <a:lstStyle/>
          <a:p>
            <a:r>
              <a:rPr lang="it-IT" dirty="0" err="1"/>
              <a:t>Mazzoni@Bionics</a:t>
            </a:r>
            <a:r>
              <a:rPr lang="it-IT" dirty="0"/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B51B-CF0A-6033-E7B9-808730DA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E849C-E6D2-9317-41A3-205130520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696" y="4005064"/>
            <a:ext cx="5148064" cy="1470025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Models</a:t>
            </a:r>
            <a:endParaRPr lang="it-IT" sz="6000" b="1" dirty="0">
              <a:solidFill>
                <a:srgbClr val="FF0000"/>
              </a:solidFill>
            </a:endParaRPr>
          </a:p>
        </p:txBody>
      </p:sp>
      <p:pic>
        <p:nvPicPr>
          <p:cNvPr id="7" name="Picture 2" descr="http://www.inmondadori.it/img/Kill-Bill-Volume-1-DVD-Quentin-Tarantino/ea803117993243/BL/BL/10/NZO/?tit=Kill+Bill+-+Volume+1+(DVD)&amp;aut=Quentin+Tarantino">
            <a:extLst>
              <a:ext uri="{FF2B5EF4-FFF2-40B4-BE49-F238E27FC236}">
                <a16:creationId xmlns:a16="http://schemas.microsoft.com/office/drawing/2014/main" id="{B0F6ED58-3944-BC02-E59C-A8912AB1E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" t="63461" r="61272" b="847"/>
          <a:stretch/>
        </p:blipFill>
        <p:spPr bwMode="auto">
          <a:xfrm>
            <a:off x="3851920" y="764704"/>
            <a:ext cx="1857388" cy="239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18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</a:rPr>
              <a:t>Introducing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resting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potential</a:t>
            </a:r>
            <a:r>
              <a:rPr lang="it-IT" sz="3200" dirty="0">
                <a:solidFill>
                  <a:srgbClr val="FF0000"/>
                </a:solidFill>
              </a:rPr>
              <a:t>: </a:t>
            </a:r>
            <a:br>
              <a:rPr lang="it-IT" sz="3200" dirty="0">
                <a:solidFill>
                  <a:srgbClr val="FF0000"/>
                </a:solidFill>
              </a:rPr>
            </a:br>
            <a:r>
              <a:rPr lang="it-IT" sz="3200" dirty="0">
                <a:solidFill>
                  <a:srgbClr val="FF0000"/>
                </a:solidFill>
              </a:rPr>
              <a:t>the 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LEAKY</a:t>
            </a:r>
            <a:r>
              <a:rPr lang="it-IT" sz="3200" dirty="0">
                <a:solidFill>
                  <a:srgbClr val="FF0000"/>
                </a:solidFill>
              </a:rPr>
              <a:t> integrate and </a:t>
            </a:r>
            <a:r>
              <a:rPr lang="it-IT" sz="3200" dirty="0" err="1">
                <a:solidFill>
                  <a:srgbClr val="FF0000"/>
                </a:solidFill>
              </a:rPr>
              <a:t>fire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neuron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Figura a mano libera 3"/>
          <p:cNvSpPr/>
          <p:nvPr/>
        </p:nvSpPr>
        <p:spPr>
          <a:xfrm>
            <a:off x="255628" y="3059651"/>
            <a:ext cx="5777346" cy="2943033"/>
          </a:xfrm>
          <a:custGeom>
            <a:avLst/>
            <a:gdLst>
              <a:gd name="connsiteX0" fmla="*/ 0 w 5624946"/>
              <a:gd name="connsiteY0" fmla="*/ 2355273 h 2889629"/>
              <a:gd name="connsiteX1" fmla="*/ 831273 w 5624946"/>
              <a:gd name="connsiteY1" fmla="*/ 2881746 h 2889629"/>
              <a:gd name="connsiteX2" fmla="*/ 1510146 w 5624946"/>
              <a:gd name="connsiteY2" fmla="*/ 1995055 h 2889629"/>
              <a:gd name="connsiteX3" fmla="*/ 2867891 w 5624946"/>
              <a:gd name="connsiteY3" fmla="*/ 2382982 h 2889629"/>
              <a:gd name="connsiteX4" fmla="*/ 3297382 w 5624946"/>
              <a:gd name="connsiteY4" fmla="*/ 1108364 h 2889629"/>
              <a:gd name="connsiteX5" fmla="*/ 4114800 w 5624946"/>
              <a:gd name="connsiteY5" fmla="*/ 1579418 h 2889629"/>
              <a:gd name="connsiteX6" fmla="*/ 4890655 w 5624946"/>
              <a:gd name="connsiteY6" fmla="*/ 554182 h 2889629"/>
              <a:gd name="connsiteX7" fmla="*/ 5514109 w 5624946"/>
              <a:gd name="connsiteY7" fmla="*/ 83127 h 2889629"/>
              <a:gd name="connsiteX8" fmla="*/ 5624946 w 5624946"/>
              <a:gd name="connsiteY8" fmla="*/ 0 h 2889629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20291 w 5777346"/>
              <a:gd name="connsiteY3" fmla="*/ 2382982 h 2943033"/>
              <a:gd name="connsiteX4" fmla="*/ 3449782 w 5777346"/>
              <a:gd name="connsiteY4" fmla="*/ 1108364 h 2943033"/>
              <a:gd name="connsiteX5" fmla="*/ 4267200 w 5777346"/>
              <a:gd name="connsiteY5" fmla="*/ 15794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71091 w 5777346"/>
              <a:gd name="connsiteY3" fmla="*/ 2154382 h 2943033"/>
              <a:gd name="connsiteX4" fmla="*/ 3449782 w 5777346"/>
              <a:gd name="connsiteY4" fmla="*/ 1108364 h 2943033"/>
              <a:gd name="connsiteX5" fmla="*/ 4267200 w 5777346"/>
              <a:gd name="connsiteY5" fmla="*/ 15794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71091 w 5777346"/>
              <a:gd name="connsiteY3" fmla="*/ 2154382 h 2943033"/>
              <a:gd name="connsiteX4" fmla="*/ 3449782 w 5777346"/>
              <a:gd name="connsiteY4" fmla="*/ 1108364 h 2943033"/>
              <a:gd name="connsiteX5" fmla="*/ 4279900 w 5777346"/>
              <a:gd name="connsiteY5" fmla="*/ 20493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7346" h="2943033">
                <a:moveTo>
                  <a:pt x="0" y="2672773"/>
                </a:moveTo>
                <a:cubicBezTo>
                  <a:pt x="289791" y="2966027"/>
                  <a:pt x="706582" y="2994699"/>
                  <a:pt x="983673" y="2881746"/>
                </a:cubicBezTo>
                <a:cubicBezTo>
                  <a:pt x="1260764" y="2768793"/>
                  <a:pt x="1314643" y="2116282"/>
                  <a:pt x="1662546" y="1995055"/>
                </a:cubicBezTo>
                <a:cubicBezTo>
                  <a:pt x="2010449" y="1873828"/>
                  <a:pt x="2773218" y="2302164"/>
                  <a:pt x="3071091" y="2154382"/>
                </a:cubicBezTo>
                <a:cubicBezTo>
                  <a:pt x="3368964" y="2006600"/>
                  <a:pt x="3248314" y="1125875"/>
                  <a:pt x="3449782" y="1108364"/>
                </a:cubicBezTo>
                <a:cubicBezTo>
                  <a:pt x="3651250" y="1090853"/>
                  <a:pt x="4014355" y="2141682"/>
                  <a:pt x="4279900" y="2049318"/>
                </a:cubicBezTo>
                <a:cubicBezTo>
                  <a:pt x="4545445" y="1956954"/>
                  <a:pt x="4811954" y="881880"/>
                  <a:pt x="5043055" y="554182"/>
                </a:cubicBezTo>
                <a:cubicBezTo>
                  <a:pt x="5274156" y="226484"/>
                  <a:pt x="5666509" y="83127"/>
                  <a:pt x="5666509" y="83127"/>
                </a:cubicBezTo>
                <a:lnTo>
                  <a:pt x="5777346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8"/>
          </p:cNvCxnSpPr>
          <p:nvPr/>
        </p:nvCxnSpPr>
        <p:spPr>
          <a:xfrm>
            <a:off x="6032974" y="3059651"/>
            <a:ext cx="0" cy="235619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igura a mano libera 8"/>
          <p:cNvSpPr/>
          <p:nvPr/>
        </p:nvSpPr>
        <p:spPr>
          <a:xfrm>
            <a:off x="6060683" y="4220000"/>
            <a:ext cx="2687781" cy="1401285"/>
          </a:xfrm>
          <a:custGeom>
            <a:avLst/>
            <a:gdLst>
              <a:gd name="connsiteX0" fmla="*/ 0 w 2687781"/>
              <a:gd name="connsiteY0" fmla="*/ 1179612 h 1401285"/>
              <a:gd name="connsiteX1" fmla="*/ 928254 w 2687781"/>
              <a:gd name="connsiteY1" fmla="*/ 1976 h 1401285"/>
              <a:gd name="connsiteX2" fmla="*/ 1440872 w 2687781"/>
              <a:gd name="connsiteY2" fmla="*/ 888667 h 1401285"/>
              <a:gd name="connsiteX3" fmla="*/ 1648691 w 2687781"/>
              <a:gd name="connsiteY3" fmla="*/ 459176 h 1401285"/>
              <a:gd name="connsiteX4" fmla="*/ 2493818 w 2687781"/>
              <a:gd name="connsiteY4" fmla="*/ 306776 h 1401285"/>
              <a:gd name="connsiteX5" fmla="*/ 2687781 w 2687781"/>
              <a:gd name="connsiteY5" fmla="*/ 1401285 h 140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7781" h="1401285">
                <a:moveTo>
                  <a:pt x="0" y="1179612"/>
                </a:moveTo>
                <a:cubicBezTo>
                  <a:pt x="344054" y="615039"/>
                  <a:pt x="688109" y="50467"/>
                  <a:pt x="928254" y="1976"/>
                </a:cubicBezTo>
                <a:cubicBezTo>
                  <a:pt x="1168399" y="-46515"/>
                  <a:pt x="1320799" y="812467"/>
                  <a:pt x="1440872" y="888667"/>
                </a:cubicBezTo>
                <a:cubicBezTo>
                  <a:pt x="1560945" y="964867"/>
                  <a:pt x="1473200" y="556158"/>
                  <a:pt x="1648691" y="459176"/>
                </a:cubicBezTo>
                <a:cubicBezTo>
                  <a:pt x="1824182" y="362194"/>
                  <a:pt x="2320636" y="149758"/>
                  <a:pt x="2493818" y="306776"/>
                </a:cubicBezTo>
                <a:cubicBezTo>
                  <a:pt x="2667000" y="463794"/>
                  <a:pt x="2657763" y="1216558"/>
                  <a:pt x="2687781" y="14012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251520" y="3059651"/>
            <a:ext cx="8712968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08028" y="2492896"/>
            <a:ext cx="121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potential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619672" y="5446965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Membrane</a:t>
            </a:r>
          </a:p>
          <a:p>
            <a:r>
              <a:rPr lang="it-IT" dirty="0" err="1"/>
              <a:t>potential</a:t>
            </a:r>
            <a:endParaRPr lang="it-IT" dirty="0"/>
          </a:p>
        </p:txBody>
      </p:sp>
      <p:cxnSp>
        <p:nvCxnSpPr>
          <p:cNvPr id="16" name="Connettore 1 15"/>
          <p:cNvCxnSpPr/>
          <p:nvPr/>
        </p:nvCxnSpPr>
        <p:spPr>
          <a:xfrm>
            <a:off x="6032974" y="1628800"/>
            <a:ext cx="0" cy="1080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6156176" y="19168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156175" y="3429000"/>
            <a:ext cx="124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Reset</a:t>
            </a:r>
          </a:p>
        </p:txBody>
      </p:sp>
      <p:cxnSp>
        <p:nvCxnSpPr>
          <p:cNvPr id="21" name="Connettore 2 20"/>
          <p:cNvCxnSpPr/>
          <p:nvPr/>
        </p:nvCxnSpPr>
        <p:spPr>
          <a:xfrm>
            <a:off x="1907704" y="6165304"/>
            <a:ext cx="4896544" cy="0"/>
          </a:xfrm>
          <a:prstGeom prst="straightConnector1">
            <a:avLst/>
          </a:prstGeom>
          <a:ln w="762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3707904" y="57239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3306898" y="3429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2590800" y="4191000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Comes</a:t>
            </a:r>
            <a:r>
              <a:rPr lang="it-IT" dirty="0"/>
              <a:t> back to </a:t>
            </a:r>
            <a:r>
              <a:rPr lang="it-IT" dirty="0" err="1"/>
              <a:t>resting</a:t>
            </a:r>
            <a:endParaRPr lang="it-IT" dirty="0"/>
          </a:p>
        </p:txBody>
      </p:sp>
      <p:sp>
        <p:nvSpPr>
          <p:cNvPr id="20" name="CasellaDiTesto 19"/>
          <p:cNvSpPr txBox="1"/>
          <p:nvPr/>
        </p:nvSpPr>
        <p:spPr>
          <a:xfrm>
            <a:off x="4719464" y="47638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02060"/>
                </a:solidFill>
              </a:rPr>
              <a:t>Inhibitory</a:t>
            </a:r>
            <a:r>
              <a:rPr lang="it-IT" dirty="0">
                <a:solidFill>
                  <a:srgbClr val="002060"/>
                </a:solidFill>
              </a:rPr>
              <a:t> input</a:t>
            </a:r>
          </a:p>
        </p:txBody>
      </p:sp>
      <p:sp>
        <p:nvSpPr>
          <p:cNvPr id="22" name="CasellaDiTesto 21"/>
          <p:cNvSpPr txBox="1"/>
          <p:nvPr/>
        </p:nvSpPr>
        <p:spPr>
          <a:xfrm>
            <a:off x="5176664" y="38494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4" name="CasellaDiTesto 23"/>
          <p:cNvSpPr txBox="1"/>
          <p:nvPr/>
        </p:nvSpPr>
        <p:spPr>
          <a:xfrm>
            <a:off x="1214264" y="43828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452264" y="5020270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Comes</a:t>
            </a:r>
            <a:r>
              <a:rPr lang="it-IT" dirty="0"/>
              <a:t> back to </a:t>
            </a:r>
            <a:r>
              <a:rPr lang="it-IT" dirty="0" err="1"/>
              <a:t>resting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671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41770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/>
              <p:nvPr/>
            </p:nvSpPr>
            <p:spPr>
              <a:xfrm>
                <a:off x="214313" y="2217758"/>
                <a:ext cx="8918613" cy="4398942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sz="2400" dirty="0"/>
                  <a:t>= </a:t>
                </a:r>
                <a:r>
                  <a:rPr lang="it-IT" sz="2400" dirty="0" err="1"/>
                  <a:t>relaxation</a:t>
                </a:r>
                <a:r>
                  <a:rPr lang="it-IT" sz="2400" dirty="0"/>
                  <a:t> time of membrane </a:t>
                </a:r>
                <a:r>
                  <a:rPr lang="it-IT" sz="2400" dirty="0" err="1"/>
                  <a:t>potential</a:t>
                </a:r>
                <a:r>
                  <a:rPr lang="it-IT" sz="2400" dirty="0"/>
                  <a:t> (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 20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or so, </a:t>
                </a:r>
                <a:r>
                  <a:rPr lang="it-IT" sz="2400" dirty="0" err="1"/>
                  <a:t>depends</a:t>
                </a:r>
                <a:r>
                  <a:rPr lang="it-IT" sz="2400" dirty="0"/>
                  <a:t> on the size of the soma)</a:t>
                </a:r>
              </a:p>
              <a:p>
                <a:pPr algn="ctr"/>
                <a:r>
                  <a:rPr lang="it-IT" sz="2400" dirty="0"/>
                  <a:t>Reset </a:t>
                </a:r>
                <a:r>
                  <a:rPr lang="it-IT" sz="2400" dirty="0" err="1"/>
                  <a:t>potential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set </a:t>
                </a:r>
                <a:r>
                  <a:rPr lang="it-IT" sz="2400" dirty="0" err="1"/>
                  <a:t>at</a:t>
                </a:r>
                <a:r>
                  <a:rPr lang="it-IT" sz="2400" dirty="0"/>
                  <a:t> 0 </a:t>
                </a:r>
                <a:r>
                  <a:rPr lang="it-IT" sz="2400" dirty="0" err="1"/>
                  <a:t>mV</a:t>
                </a:r>
                <a:endParaRPr lang="it-IT" sz="24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AMPA (</a:t>
                </a:r>
                <a:r>
                  <a:rPr lang="it-IT" sz="2400" dirty="0" err="1"/>
                  <a:t>excitatory</a:t>
                </a:r>
                <a:r>
                  <a:rPr lang="it-IT" sz="2400" dirty="0"/>
                  <a:t>) post-</a:t>
                </a:r>
                <a:r>
                  <a:rPr lang="it-IT" sz="2400" dirty="0" err="1"/>
                  <a:t>synaptic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potentials</a:t>
                </a:r>
                <a:r>
                  <a:rPr lang="it-IT" sz="2400" dirty="0"/>
                  <a:t> (PSP)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GABA (</a:t>
                </a:r>
                <a:r>
                  <a:rPr lang="it-IT" sz="2400" dirty="0" err="1"/>
                  <a:t>inhibitory</a:t>
                </a:r>
                <a:r>
                  <a:rPr lang="it-IT" sz="2400" dirty="0"/>
                  <a:t>) post-</a:t>
                </a:r>
                <a:r>
                  <a:rPr lang="it-IT" sz="2400" dirty="0" err="1"/>
                  <a:t>synaptic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potentials</a:t>
                </a:r>
                <a:r>
                  <a:rPr lang="it-IT" sz="2400" dirty="0"/>
                  <a:t> (PSP)</a:t>
                </a:r>
              </a:p>
            </p:txBody>
          </p:sp>
        </mc:Choice>
        <mc:Fallback xmlns="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3" y="2217758"/>
                <a:ext cx="8918613" cy="439894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2689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/>
              <p:nvPr/>
            </p:nvSpPr>
            <p:spPr>
              <a:xfrm>
                <a:off x="5251450" y="1"/>
                <a:ext cx="3881476" cy="6616700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rise time of the PSP (1-5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) due to </a:t>
                </a:r>
                <a:r>
                  <a:rPr lang="it-IT" sz="2400" dirty="0" err="1"/>
                  <a:t>channel</a:t>
                </a:r>
                <a:r>
                  <a:rPr lang="it-IT" sz="2400" dirty="0"/>
                  <a:t> opening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it-IT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400" dirty="0"/>
                  <a:t>indicates </a:t>
                </a:r>
                <a:r>
                  <a:rPr lang="it-IT" sz="2400" dirty="0" err="1"/>
                  <a:t>decay</a:t>
                </a:r>
                <a:r>
                  <a:rPr lang="it-IT" sz="2400" dirty="0"/>
                  <a:t> time of the PSP (3-10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) due to </a:t>
                </a:r>
                <a:r>
                  <a:rPr lang="it-IT" sz="2400" dirty="0" err="1"/>
                  <a:t>channel</a:t>
                </a:r>
                <a:r>
                  <a:rPr lang="it-IT" sz="2400" dirty="0"/>
                  <a:t> closing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𝑠𝑡𝑖𝑚</m:t>
                        </m:r>
                      </m:sup>
                    </m:sSubSup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0 </a:t>
                </a:r>
                <a:r>
                  <a:rPr lang="it-IT" sz="2400" dirty="0" err="1"/>
                  <a:t>except</a:t>
                </a:r>
                <a:r>
                  <a:rPr lang="it-IT" sz="2400" dirty="0"/>
                  <a:t> </a:t>
                </a:r>
                <a:r>
                  <a:rPr lang="it-IT" sz="2400" dirty="0" err="1"/>
                  <a:t>when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neuron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receiving</a:t>
                </a:r>
                <a:r>
                  <a:rPr lang="it-IT" sz="2400" dirty="0"/>
                  <a:t> an input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𝑠𝑡𝑖𝑚</m:t>
                        </m:r>
                      </m:sup>
                    </m:sSubSup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strength</a:t>
                </a:r>
                <a:r>
                  <a:rPr lang="it-IT" sz="2400" dirty="0"/>
                  <a:t> of the input</a:t>
                </a:r>
              </a:p>
              <a:p>
                <a:pPr algn="ctr"/>
                <a:endParaRPr lang="it-IT" sz="2400" dirty="0"/>
              </a:p>
              <a:p>
                <a:pPr algn="ctr"/>
                <a:endParaRPr lang="it-IT" sz="2400" dirty="0"/>
              </a:p>
              <a:p>
                <a:pPr algn="ctr"/>
                <a:endParaRPr lang="it-IT" sz="2400" dirty="0"/>
              </a:p>
            </p:txBody>
          </p:sp>
        </mc:Choice>
        <mc:Fallback xmlns="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50" y="1"/>
                <a:ext cx="3881476" cy="66167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2499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9C96A087-4DB7-4D80-AD8F-BA10B099C053}"/>
              </a:ext>
            </a:extLst>
          </p:cNvPr>
          <p:cNvSpPr/>
          <p:nvPr/>
        </p:nvSpPr>
        <p:spPr>
          <a:xfrm>
            <a:off x="507962" y="1297690"/>
            <a:ext cx="3881476" cy="439124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r>
              <a:rPr lang="it-IT" sz="2400" dirty="0"/>
              <a:t>The </a:t>
            </a:r>
            <a:r>
              <a:rPr lang="it-IT" sz="2400" dirty="0" err="1"/>
              <a:t>solution</a:t>
            </a:r>
            <a:r>
              <a:rPr lang="it-IT" sz="2400" dirty="0"/>
              <a:t> of the </a:t>
            </a:r>
            <a:r>
              <a:rPr lang="it-IT" sz="2400" dirty="0" err="1"/>
              <a:t>coupled</a:t>
            </a:r>
            <a:r>
              <a:rPr lang="it-IT" sz="2400" dirty="0"/>
              <a:t> </a:t>
            </a:r>
            <a:r>
              <a:rPr lang="it-IT" sz="2400" dirty="0" err="1"/>
              <a:t>differential</a:t>
            </a:r>
            <a:r>
              <a:rPr lang="it-IT" sz="2400" dirty="0"/>
              <a:t> </a:t>
            </a:r>
            <a:r>
              <a:rPr lang="it-IT" sz="2400" dirty="0" err="1"/>
              <a:t>equation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a </a:t>
            </a:r>
            <a:r>
              <a:rPr lang="it-IT" sz="2400" dirty="0" err="1"/>
              <a:t>difference</a:t>
            </a:r>
            <a:r>
              <a:rPr lang="it-IT" sz="2400" dirty="0"/>
              <a:t> of </a:t>
            </a:r>
            <a:r>
              <a:rPr lang="it-IT" sz="2400" dirty="0" err="1"/>
              <a:t>exponential</a:t>
            </a:r>
            <a:r>
              <a:rPr lang="it-IT" sz="2400" dirty="0"/>
              <a:t> following the </a:t>
            </a:r>
            <a:r>
              <a:rPr lang="it-IT" sz="2400" dirty="0" err="1"/>
              <a:t>onset</a:t>
            </a:r>
            <a:r>
              <a:rPr lang="it-IT" sz="2400" dirty="0"/>
              <a:t> of </a:t>
            </a:r>
            <a:r>
              <a:rPr lang="it-IT" sz="2400" dirty="0" err="1"/>
              <a:t>each</a:t>
            </a:r>
            <a:r>
              <a:rPr lang="it-IT" sz="2400" dirty="0"/>
              <a:t> </a:t>
            </a:r>
            <a:r>
              <a:rPr lang="it-IT" sz="2400" dirty="0" err="1"/>
              <a:t>stimulus</a:t>
            </a:r>
            <a:r>
              <a:rPr lang="it-IT" sz="2400" dirty="0"/>
              <a:t>, with </a:t>
            </a:r>
            <a:r>
              <a:rPr lang="it-IT" sz="2400" dirty="0" err="1"/>
              <a:t>amplitude</a:t>
            </a:r>
            <a:r>
              <a:rPr lang="it-IT" sz="2400" dirty="0"/>
              <a:t> J.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1219949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2686"/>
            <a:ext cx="9144000" cy="686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2686"/>
            <a:ext cx="9144000" cy="686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5523232D-DB03-42C4-A1D6-98EF2C9A5B36}"/>
              </a:ext>
            </a:extLst>
          </p:cNvPr>
          <p:cNvSpPr/>
          <p:nvPr/>
        </p:nvSpPr>
        <p:spPr>
          <a:xfrm>
            <a:off x="755576" y="3933056"/>
            <a:ext cx="8064896" cy="191288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Adaptation: the input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constant</a:t>
            </a:r>
            <a:r>
              <a:rPr lang="it-IT" sz="2400" dirty="0"/>
              <a:t> </a:t>
            </a:r>
            <a:r>
              <a:rPr lang="it-IT" sz="2400" dirty="0" err="1"/>
              <a:t>but</a:t>
            </a:r>
            <a:r>
              <a:rPr lang="it-IT" sz="2400" dirty="0"/>
              <a:t> the inter-spike </a:t>
            </a:r>
            <a:r>
              <a:rPr lang="it-IT" sz="2400" dirty="0" err="1"/>
              <a:t>interval</a:t>
            </a:r>
            <a:r>
              <a:rPr lang="it-IT" sz="2400" dirty="0"/>
              <a:t> </a:t>
            </a:r>
            <a:r>
              <a:rPr lang="it-IT" sz="2400" dirty="0" err="1"/>
              <a:t>increases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201255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3502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-24"/>
            <a:ext cx="8929718" cy="6846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5"/>
            <a:ext cx="9143999" cy="6860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-24"/>
            <a:ext cx="9151210" cy="685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916" y="-24"/>
            <a:ext cx="8998678" cy="6751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3999" cy="6809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571604" y="1785926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Conductance</a:t>
            </a:r>
            <a:r>
              <a:rPr lang="it-IT" dirty="0"/>
              <a:t> </a:t>
            </a:r>
            <a:r>
              <a:rPr lang="it-IT" dirty="0" err="1"/>
              <a:t>based</a:t>
            </a:r>
            <a:endParaRPr lang="it-IT" dirty="0"/>
          </a:p>
        </p:txBody>
      </p:sp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01156" cy="2332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4867286" cy="116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3786190"/>
            <a:ext cx="723265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857760"/>
            <a:ext cx="37623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12" y="5643578"/>
            <a:ext cx="61722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48577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571604" y="1785926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Conductance</a:t>
            </a:r>
            <a:r>
              <a:rPr lang="it-IT" dirty="0"/>
              <a:t> </a:t>
            </a:r>
            <a:r>
              <a:rPr lang="it-IT" dirty="0" err="1"/>
              <a:t>based</a:t>
            </a:r>
            <a:endParaRPr lang="it-IT" dirty="0"/>
          </a:p>
        </p:txBody>
      </p:sp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01156" cy="2332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4867286" cy="116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3786190"/>
            <a:ext cx="723265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857760"/>
            <a:ext cx="37623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12" y="5643578"/>
            <a:ext cx="61722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54E1D94-6E2A-4600-BA32-63732C6CC9A8}"/>
              </a:ext>
            </a:extLst>
          </p:cNvPr>
          <p:cNvSpPr txBox="1"/>
          <p:nvPr/>
        </p:nvSpPr>
        <p:spPr>
          <a:xfrm>
            <a:off x="2931160" y="1304453"/>
            <a:ext cx="5958408" cy="4154984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REVERSAL POTENTIAL (from Wikipedia)</a:t>
            </a:r>
            <a:r>
              <a:rPr lang="en-US" sz="4000" dirty="0">
                <a:latin typeface="Bodoni MT Condensed" panose="02070606080606020203" pitchFamily="18" charset="0"/>
              </a:rPr>
              <a:t> </a:t>
            </a:r>
            <a:r>
              <a:rPr lang="en-US" sz="2800" dirty="0">
                <a:latin typeface="Bodoni MT Condensed" panose="02070606080606020203" pitchFamily="18" charset="0"/>
              </a:rPr>
              <a:t>In a </a:t>
            </a:r>
            <a:r>
              <a:rPr lang="en-US" sz="2800" dirty="0">
                <a:latin typeface="Bodoni MT Condensed" panose="02070606080606020203" pitchFamily="18" charset="0"/>
                <a:hlinkClick r:id="rId7" tooltip="Biological membrane"/>
              </a:rPr>
              <a:t>biological membrane</a:t>
            </a:r>
            <a:r>
              <a:rPr lang="en-US" sz="2800" dirty="0">
                <a:latin typeface="Bodoni MT Condensed" panose="02070606080606020203" pitchFamily="18" charset="0"/>
              </a:rPr>
              <a:t>, the </a:t>
            </a:r>
            <a:r>
              <a:rPr lang="en-US" sz="2800" b="1" dirty="0">
                <a:latin typeface="Bodoni MT Condensed" panose="02070606080606020203" pitchFamily="18" charset="0"/>
              </a:rPr>
              <a:t>reversal potential</a:t>
            </a:r>
            <a:r>
              <a:rPr lang="en-US" sz="2800" dirty="0">
                <a:latin typeface="Bodoni MT Condensed" panose="02070606080606020203" pitchFamily="18" charset="0"/>
              </a:rPr>
              <a:t> (also known as the </a:t>
            </a:r>
            <a:r>
              <a:rPr lang="en-US" sz="2800" b="1" dirty="0">
                <a:latin typeface="Bodoni MT Condensed" panose="02070606080606020203" pitchFamily="18" charset="0"/>
              </a:rPr>
              <a:t>Nernst potential</a:t>
            </a:r>
            <a:r>
              <a:rPr lang="en-US" sz="2800" dirty="0">
                <a:latin typeface="Bodoni MT Condensed" panose="02070606080606020203" pitchFamily="18" charset="0"/>
              </a:rPr>
              <a:t>) of an </a:t>
            </a:r>
            <a:r>
              <a:rPr lang="en-US" sz="2800" dirty="0">
                <a:latin typeface="Bodoni MT Condensed" panose="02070606080606020203" pitchFamily="18" charset="0"/>
                <a:hlinkClick r:id="rId8" tooltip="Ion"/>
              </a:rPr>
              <a:t>ion</a:t>
            </a:r>
            <a:r>
              <a:rPr lang="en-US" sz="2800" dirty="0">
                <a:latin typeface="Bodoni MT Condensed" panose="02070606080606020203" pitchFamily="18" charset="0"/>
              </a:rPr>
              <a:t> is the </a:t>
            </a:r>
            <a:r>
              <a:rPr lang="en-US" sz="2800" dirty="0">
                <a:latin typeface="Bodoni MT Condensed" panose="02070606080606020203" pitchFamily="18" charset="0"/>
                <a:hlinkClick r:id="rId9" tooltip="Membrane potential"/>
              </a:rPr>
              <a:t>membrane potential</a:t>
            </a:r>
            <a:r>
              <a:rPr lang="en-US" sz="2800" dirty="0">
                <a:latin typeface="Bodoni MT Condensed" panose="02070606080606020203" pitchFamily="18" charset="0"/>
              </a:rPr>
              <a:t> at which there is no net (overall) flow of that particular ion from one side of the membrane to the other. In the case of </a:t>
            </a:r>
            <a:r>
              <a:rPr lang="en-US" sz="2800" dirty="0">
                <a:latin typeface="Bodoni MT Condensed" panose="02070606080606020203" pitchFamily="18" charset="0"/>
                <a:hlinkClick r:id="rId10" tooltip="Post-synaptic"/>
              </a:rPr>
              <a:t>post-synaptic</a:t>
            </a:r>
            <a:r>
              <a:rPr lang="en-US" sz="2800" dirty="0">
                <a:latin typeface="Bodoni MT Condensed" panose="02070606080606020203" pitchFamily="18" charset="0"/>
              </a:rPr>
              <a:t> </a:t>
            </a:r>
            <a:r>
              <a:rPr lang="en-US" sz="2800" dirty="0">
                <a:latin typeface="Bodoni MT Condensed" panose="02070606080606020203" pitchFamily="18" charset="0"/>
                <a:hlinkClick r:id="rId11" tooltip="Neuron"/>
              </a:rPr>
              <a:t>neurons</a:t>
            </a:r>
            <a:r>
              <a:rPr lang="en-US" sz="2800" dirty="0">
                <a:latin typeface="Bodoni MT Condensed" panose="02070606080606020203" pitchFamily="18" charset="0"/>
              </a:rPr>
              <a:t>, the reversal potential is the membrane potential at which a given </a:t>
            </a:r>
            <a:r>
              <a:rPr lang="en-US" sz="2800" dirty="0">
                <a:latin typeface="Bodoni MT Condensed" panose="02070606080606020203" pitchFamily="18" charset="0"/>
                <a:hlinkClick r:id="rId12" tooltip="Neurotransmitter"/>
              </a:rPr>
              <a:t>neurotransmitter</a:t>
            </a:r>
            <a:r>
              <a:rPr lang="en-US" sz="2800" dirty="0">
                <a:latin typeface="Bodoni MT Condensed" panose="02070606080606020203" pitchFamily="18" charset="0"/>
              </a:rPr>
              <a:t> causes no net current flow of ions through that neurotransmitter </a:t>
            </a:r>
            <a:r>
              <a:rPr lang="en-US" sz="2800" dirty="0">
                <a:latin typeface="Bodoni MT Condensed" panose="02070606080606020203" pitchFamily="18" charset="0"/>
                <a:hlinkClick r:id="rId13" tooltip="Receptor (biochemistry)"/>
              </a:rPr>
              <a:t>receptor's</a:t>
            </a:r>
            <a:r>
              <a:rPr lang="en-US" sz="2800" dirty="0">
                <a:latin typeface="Bodoni MT Condensed" panose="02070606080606020203" pitchFamily="18" charset="0"/>
              </a:rPr>
              <a:t> </a:t>
            </a:r>
            <a:r>
              <a:rPr lang="en-US" sz="2800" dirty="0">
                <a:latin typeface="Bodoni MT Condensed" panose="02070606080606020203" pitchFamily="18" charset="0"/>
                <a:hlinkClick r:id="rId14" tooltip="Ion channel"/>
              </a:rPr>
              <a:t>ion channel</a:t>
            </a:r>
            <a:endParaRPr lang="it-IT" dirty="0">
              <a:latin typeface="Bodoni MT Condensed" panose="02070606080606020203" pitchFamily="18" charset="0"/>
            </a:endParaRP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1949749-1524-4357-8DD3-0745E14760BD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910364" y="5459437"/>
            <a:ext cx="2046012" cy="4178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64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571604" y="1785926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Conductance</a:t>
            </a:r>
            <a:r>
              <a:rPr lang="it-IT" dirty="0"/>
              <a:t> </a:t>
            </a:r>
            <a:r>
              <a:rPr lang="it-IT" dirty="0" err="1"/>
              <a:t>based</a:t>
            </a:r>
            <a:endParaRPr lang="it-IT" dirty="0"/>
          </a:p>
        </p:txBody>
      </p:sp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01156" cy="2332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4867286" cy="116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3786190"/>
            <a:ext cx="723265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857760"/>
            <a:ext cx="37623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12" y="5643578"/>
            <a:ext cx="61722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8C0C0FCE-AEE2-4A50-A067-0B1AD8C5F0A7}"/>
              </a:ext>
            </a:extLst>
          </p:cNvPr>
          <p:cNvSpPr/>
          <p:nvPr/>
        </p:nvSpPr>
        <p:spPr>
          <a:xfrm>
            <a:off x="4071934" y="1252332"/>
            <a:ext cx="4425453" cy="439124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r>
              <a:rPr lang="it-IT" sz="2400" i="1" dirty="0"/>
              <a:t>Key Idea: </a:t>
            </a:r>
          </a:p>
          <a:p>
            <a:pPr algn="ctr"/>
            <a:endParaRPr lang="it-IT" sz="2400" i="1" dirty="0"/>
          </a:p>
          <a:p>
            <a:pPr algn="ctr"/>
            <a:r>
              <a:rPr lang="it-IT" sz="2400" i="1" dirty="0"/>
              <a:t>in CURRENT_BASED models the PSP </a:t>
            </a:r>
            <a:r>
              <a:rPr lang="it-IT" sz="2400" i="1" dirty="0" err="1"/>
              <a:t>does</a:t>
            </a:r>
            <a:r>
              <a:rPr lang="it-IT" sz="2400" i="1" dirty="0"/>
              <a:t> NOT </a:t>
            </a:r>
            <a:r>
              <a:rPr lang="it-IT" sz="2400" i="1" dirty="0" err="1"/>
              <a:t>depend</a:t>
            </a:r>
            <a:r>
              <a:rPr lang="it-IT" sz="2400" i="1" dirty="0"/>
              <a:t> on V(t)</a:t>
            </a:r>
          </a:p>
          <a:p>
            <a:pPr algn="ctr"/>
            <a:endParaRPr lang="it-IT" sz="2400" i="1" dirty="0"/>
          </a:p>
          <a:p>
            <a:pPr algn="ctr"/>
            <a:r>
              <a:rPr lang="it-IT" sz="2400" i="1" dirty="0"/>
              <a:t>in CONDUCTANCE_BASED models the PSP DOES  </a:t>
            </a:r>
            <a:r>
              <a:rPr lang="it-IT" sz="2400" i="1" dirty="0" err="1"/>
              <a:t>depend</a:t>
            </a:r>
            <a:r>
              <a:rPr lang="it-IT" sz="2400" i="1" dirty="0"/>
              <a:t> on V(t)</a:t>
            </a:r>
            <a:endParaRPr lang="it-IT" sz="2400" dirty="0"/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358121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6643702" cy="172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28802"/>
            <a:ext cx="8969263" cy="2035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168773"/>
            <a:ext cx="2554233" cy="268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43174" y="4643446"/>
            <a:ext cx="6406033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77899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6643702" cy="172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41111"/>
            <a:ext cx="4860032" cy="5116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D9D73CBC-3F87-451D-85E0-0639F75F3377}"/>
              </a:ext>
            </a:extLst>
          </p:cNvPr>
          <p:cNvSpPr/>
          <p:nvPr/>
        </p:nvSpPr>
        <p:spPr>
          <a:xfrm>
            <a:off x="4932040" y="404664"/>
            <a:ext cx="3960440" cy="633670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dirty="0"/>
          </a:p>
          <a:p>
            <a:pPr algn="ctr"/>
            <a:r>
              <a:rPr lang="it-IT" sz="2400" dirty="0"/>
              <a:t>in CURRENT_BASED models V(t) can go </a:t>
            </a:r>
            <a:r>
              <a:rPr lang="it-IT" sz="2400" dirty="0" err="1"/>
              <a:t>arbitrarily</a:t>
            </a:r>
            <a:r>
              <a:rPr lang="it-IT" sz="2400" dirty="0"/>
              <a:t> low </a:t>
            </a:r>
            <a:r>
              <a:rPr lang="it-IT" sz="2400" dirty="0" err="1"/>
              <a:t>if</a:t>
            </a:r>
            <a:r>
              <a:rPr lang="it-IT" sz="2400" dirty="0"/>
              <a:t> </a:t>
            </a:r>
            <a:r>
              <a:rPr lang="it-IT" sz="2400" dirty="0" err="1"/>
              <a:t>inhibition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dominant</a:t>
            </a:r>
            <a:r>
              <a:rPr lang="it-IT" sz="2400" dirty="0"/>
              <a:t> (like </a:t>
            </a:r>
            <a:r>
              <a:rPr lang="it-IT" sz="2400" dirty="0" err="1"/>
              <a:t>here</a:t>
            </a:r>
            <a:r>
              <a:rPr lang="it-IT" sz="2400" dirty="0"/>
              <a:t>)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does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happen</a:t>
            </a:r>
            <a:r>
              <a:rPr lang="it-IT" sz="2400" dirty="0"/>
              <a:t> in CONDUCTANCE BASED models,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inhibitory</a:t>
            </a:r>
            <a:r>
              <a:rPr lang="it-IT" sz="2400" dirty="0"/>
              <a:t> </a:t>
            </a:r>
            <a:r>
              <a:rPr lang="it-IT" sz="2400" dirty="0" err="1"/>
              <a:t>PSP’s</a:t>
            </a:r>
            <a:r>
              <a:rPr lang="it-IT" sz="2400" dirty="0"/>
              <a:t> </a:t>
            </a:r>
            <a:r>
              <a:rPr lang="it-IT" sz="2400" dirty="0" err="1"/>
              <a:t>amplitude</a:t>
            </a:r>
            <a:r>
              <a:rPr lang="it-IT" sz="2400" dirty="0"/>
              <a:t> </a:t>
            </a:r>
            <a:r>
              <a:rPr lang="it-IT" sz="2400" dirty="0" err="1"/>
              <a:t>decreases</a:t>
            </a:r>
            <a:r>
              <a:rPr lang="it-IT" sz="2400" dirty="0"/>
              <a:t> for low V(t) 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338365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6643702" cy="172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472" y="3861048"/>
            <a:ext cx="8911736" cy="27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3D633455-71DF-4161-91B3-4EA893A0277D}"/>
              </a:ext>
            </a:extLst>
          </p:cNvPr>
          <p:cNvSpPr/>
          <p:nvPr/>
        </p:nvSpPr>
        <p:spPr>
          <a:xfrm>
            <a:off x="94793" y="404664"/>
            <a:ext cx="8797687" cy="338437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Firing</a:t>
            </a:r>
            <a:r>
              <a:rPr lang="it-IT" sz="2400" dirty="0"/>
              <a:t> rate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similar</a:t>
            </a:r>
            <a:r>
              <a:rPr lang="it-IT" sz="2400" dirty="0"/>
              <a:t> in the </a:t>
            </a:r>
            <a:r>
              <a:rPr lang="it-IT" sz="2400" dirty="0" err="1"/>
              <a:t>two</a:t>
            </a:r>
            <a:r>
              <a:rPr lang="it-IT" sz="2400" dirty="0"/>
              <a:t> models</a:t>
            </a:r>
          </a:p>
          <a:p>
            <a:pPr algn="ctr"/>
            <a:r>
              <a:rPr lang="it-IT" sz="2400" dirty="0" err="1"/>
              <a:t>but</a:t>
            </a:r>
            <a:endParaRPr lang="it-IT" sz="2400" dirty="0"/>
          </a:p>
          <a:p>
            <a:pPr algn="ctr"/>
            <a:r>
              <a:rPr lang="it-IT" sz="2400" dirty="0"/>
              <a:t>The </a:t>
            </a:r>
            <a:r>
              <a:rPr lang="it-IT" sz="2400" dirty="0" err="1"/>
              <a:t>coefficient</a:t>
            </a:r>
            <a:r>
              <a:rPr lang="it-IT" sz="2400" dirty="0"/>
              <a:t> of </a:t>
            </a:r>
            <a:r>
              <a:rPr lang="it-IT" sz="2400" dirty="0" err="1"/>
              <a:t>variation</a:t>
            </a:r>
            <a:r>
              <a:rPr lang="it-IT" sz="2400" dirty="0"/>
              <a:t> (CV)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much</a:t>
            </a:r>
            <a:r>
              <a:rPr lang="it-IT" sz="2400" dirty="0"/>
              <a:t> </a:t>
            </a:r>
            <a:r>
              <a:rPr lang="it-IT" sz="2400" dirty="0" err="1"/>
              <a:t>larger</a:t>
            </a:r>
            <a:r>
              <a:rPr lang="it-IT" sz="2400" dirty="0"/>
              <a:t> in CURRENT_BASED models – </a:t>
            </a:r>
            <a:r>
              <a:rPr lang="it-IT" sz="2400" dirty="0" err="1"/>
              <a:t>while</a:t>
            </a:r>
            <a:r>
              <a:rPr lang="it-IT" sz="2400" dirty="0"/>
              <a:t> for CONDUCTANCE_BASED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always</a:t>
            </a:r>
            <a:r>
              <a:rPr lang="it-IT" sz="2400" dirty="0"/>
              <a:t> 1 (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observed</a:t>
            </a:r>
            <a:r>
              <a:rPr lang="it-IT" sz="2400" dirty="0"/>
              <a:t> </a:t>
            </a:r>
            <a:r>
              <a:rPr lang="it-IT" sz="2400" dirty="0" err="1"/>
              <a:t>experimentally</a:t>
            </a:r>
            <a:r>
              <a:rPr lang="it-IT" sz="2400" dirty="0"/>
              <a:t>).  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801652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312"/>
            <a:ext cx="9144000" cy="683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10694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312"/>
            <a:ext cx="9144000" cy="683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3EA4C0C5-818D-49D6-AE74-EC0514D87128}"/>
              </a:ext>
            </a:extLst>
          </p:cNvPr>
          <p:cNvSpPr/>
          <p:nvPr/>
        </p:nvSpPr>
        <p:spPr>
          <a:xfrm>
            <a:off x="3563888" y="2634291"/>
            <a:ext cx="4752528" cy="421976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Note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now</a:t>
            </a:r>
            <a:r>
              <a:rPr lang="it-IT" sz="2400" dirty="0"/>
              <a:t> </a:t>
            </a:r>
            <a:r>
              <a:rPr lang="it-IT" sz="2400" dirty="0" err="1"/>
              <a:t>we</a:t>
            </a:r>
            <a:r>
              <a:rPr lang="it-IT" sz="2400" dirty="0"/>
              <a:t> </a:t>
            </a:r>
            <a:r>
              <a:rPr lang="it-IT" sz="2400" dirty="0" err="1"/>
              <a:t>have</a:t>
            </a:r>
            <a:r>
              <a:rPr lang="it-IT" sz="2400" dirty="0"/>
              <a:t> </a:t>
            </a:r>
            <a:r>
              <a:rPr lang="it-IT" sz="2400" dirty="0" err="1"/>
              <a:t>two</a:t>
            </a:r>
            <a:r>
              <a:rPr lang="it-IT" sz="2400" dirty="0"/>
              <a:t> </a:t>
            </a:r>
            <a:r>
              <a:rPr lang="it-IT" sz="2400" dirty="0" err="1"/>
              <a:t>thresholds</a:t>
            </a:r>
            <a:r>
              <a:rPr lang="it-IT" sz="2400" dirty="0"/>
              <a:t>: one for </a:t>
            </a:r>
            <a:r>
              <a:rPr lang="it-IT" sz="2400" dirty="0" err="1"/>
              <a:t>triggering</a:t>
            </a:r>
            <a:r>
              <a:rPr lang="it-IT" sz="2400" dirty="0"/>
              <a:t> the </a:t>
            </a:r>
            <a:r>
              <a:rPr lang="it-IT" sz="2400" dirty="0" err="1"/>
              <a:t>exponential</a:t>
            </a:r>
            <a:r>
              <a:rPr lang="it-IT" sz="2400" dirty="0"/>
              <a:t> rise  (</a:t>
            </a:r>
            <a:r>
              <a:rPr lang="it-IT" sz="2400" dirty="0" err="1"/>
              <a:t>V_t</a:t>
            </a:r>
            <a:r>
              <a:rPr lang="it-IT" sz="2400" dirty="0"/>
              <a:t> in the </a:t>
            </a:r>
            <a:r>
              <a:rPr lang="it-IT" sz="2400" dirty="0" err="1"/>
              <a:t>equation</a:t>
            </a:r>
            <a:r>
              <a:rPr lang="it-IT" sz="2400" dirty="0"/>
              <a:t> in the </a:t>
            </a:r>
            <a:r>
              <a:rPr lang="it-IT" sz="2400" dirty="0" err="1"/>
              <a:t>left</a:t>
            </a:r>
            <a:r>
              <a:rPr lang="it-IT" sz="2400" dirty="0"/>
              <a:t>) and a second one (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explicited</a:t>
            </a:r>
            <a:r>
              <a:rPr lang="it-IT" sz="2400" dirty="0"/>
              <a:t> </a:t>
            </a:r>
            <a:r>
              <a:rPr lang="it-IT" sz="2400" dirty="0" err="1"/>
              <a:t>here</a:t>
            </a:r>
            <a:r>
              <a:rPr lang="it-IT" sz="2400" dirty="0"/>
              <a:t>) to </a:t>
            </a:r>
            <a:r>
              <a:rPr lang="it-IT" sz="2400" dirty="0" err="1"/>
              <a:t>cut</a:t>
            </a:r>
            <a:r>
              <a:rPr lang="it-IT" sz="2400" dirty="0"/>
              <a:t> the </a:t>
            </a:r>
            <a:r>
              <a:rPr lang="it-IT" sz="2400" dirty="0" err="1"/>
              <a:t>acton</a:t>
            </a:r>
            <a:r>
              <a:rPr lang="it-IT" sz="2400" dirty="0"/>
              <a:t> </a:t>
            </a:r>
            <a:r>
              <a:rPr lang="it-IT" sz="2400" dirty="0" err="1"/>
              <a:t>potential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30 </a:t>
            </a:r>
            <a:r>
              <a:rPr lang="it-IT" sz="2400" dirty="0" err="1"/>
              <a:t>mV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7056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851805"/>
            <a:ext cx="6519878" cy="2077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" y="2857496"/>
            <a:ext cx="8729673" cy="1123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77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022495"/>
            <a:ext cx="9144000" cy="276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1435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785794"/>
            <a:ext cx="6519878" cy="2077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56" y="2857496"/>
            <a:ext cx="7786710" cy="3951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08412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1142984"/>
            <a:ext cx="8715404" cy="5007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05172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1142984"/>
            <a:ext cx="8715404" cy="5007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920521F4-68AC-46A2-9C59-16B50ADF25C2}"/>
              </a:ext>
            </a:extLst>
          </p:cNvPr>
          <p:cNvSpPr/>
          <p:nvPr/>
        </p:nvSpPr>
        <p:spPr>
          <a:xfrm>
            <a:off x="428625" y="908721"/>
            <a:ext cx="8572499" cy="273630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Firing</a:t>
            </a:r>
            <a:r>
              <a:rPr lang="it-IT" sz="2400" b="1" dirty="0"/>
              <a:t> for rebound from </a:t>
            </a:r>
            <a:r>
              <a:rPr lang="it-IT" sz="2400" b="1" dirty="0" err="1"/>
              <a:t>inhibition</a:t>
            </a:r>
            <a:r>
              <a:rPr lang="it-IT" sz="2400" dirty="0"/>
              <a:t>: </a:t>
            </a:r>
            <a:r>
              <a:rPr lang="it-IT" sz="2400" dirty="0" err="1"/>
              <a:t>if</a:t>
            </a:r>
            <a:r>
              <a:rPr lang="it-IT" sz="2400" dirty="0"/>
              <a:t> </a:t>
            </a:r>
            <a:r>
              <a:rPr lang="it-IT" sz="2400" dirty="0" err="1"/>
              <a:t>there’s</a:t>
            </a:r>
            <a:r>
              <a:rPr lang="it-IT" sz="2400" dirty="0"/>
              <a:t> a </a:t>
            </a:r>
            <a:r>
              <a:rPr lang="it-IT" sz="2400" dirty="0" err="1"/>
              <a:t>sustained</a:t>
            </a:r>
            <a:r>
              <a:rPr lang="it-IT" sz="2400" dirty="0"/>
              <a:t> </a:t>
            </a:r>
            <a:r>
              <a:rPr lang="it-IT" sz="2400" dirty="0" err="1"/>
              <a:t>inhibitory</a:t>
            </a:r>
            <a:r>
              <a:rPr lang="it-IT" sz="2400" dirty="0"/>
              <a:t> input the </a:t>
            </a:r>
            <a:r>
              <a:rPr lang="it-IT" sz="2400" dirty="0" err="1"/>
              <a:t>adaptation</a:t>
            </a:r>
            <a:r>
              <a:rPr lang="it-IT" sz="2400" dirty="0"/>
              <a:t> </a:t>
            </a:r>
            <a:r>
              <a:rPr lang="it-IT" sz="2400" dirty="0" err="1"/>
              <a:t>current</a:t>
            </a:r>
            <a:r>
              <a:rPr lang="it-IT" sz="2400" dirty="0"/>
              <a:t> </a:t>
            </a:r>
            <a:r>
              <a:rPr lang="it-IT" sz="2400" dirty="0" err="1"/>
              <a:t>becomes</a:t>
            </a:r>
            <a:r>
              <a:rPr lang="it-IT" sz="2400" dirty="0"/>
              <a:t> negative </a:t>
            </a:r>
            <a:r>
              <a:rPr lang="it-IT" sz="2400" dirty="0" err="1"/>
              <a:t>hence</a:t>
            </a:r>
            <a:r>
              <a:rPr lang="it-IT" sz="2400" dirty="0"/>
              <a:t> </a:t>
            </a:r>
            <a:r>
              <a:rPr lang="it-IT" sz="2400" dirty="0" err="1"/>
              <a:t>excitatory</a:t>
            </a:r>
            <a:r>
              <a:rPr lang="it-IT" sz="2400" dirty="0"/>
              <a:t>. </a:t>
            </a:r>
            <a:r>
              <a:rPr lang="it-IT" sz="2400" dirty="0" err="1"/>
              <a:t>When</a:t>
            </a:r>
            <a:r>
              <a:rPr lang="it-IT" sz="2400" dirty="0"/>
              <a:t> </a:t>
            </a:r>
            <a:r>
              <a:rPr lang="it-IT" sz="2400" dirty="0" err="1"/>
              <a:t>inhibition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released</a:t>
            </a:r>
            <a:r>
              <a:rPr lang="it-IT" sz="2400" dirty="0"/>
              <a:t>, the </a:t>
            </a:r>
            <a:r>
              <a:rPr lang="it-IT" sz="2400" dirty="0" err="1"/>
              <a:t>neuron</a:t>
            </a:r>
            <a:r>
              <a:rPr lang="it-IT" sz="2400" dirty="0"/>
              <a:t> </a:t>
            </a:r>
            <a:r>
              <a:rPr lang="it-IT" sz="2400" dirty="0" err="1"/>
              <a:t>emits</a:t>
            </a:r>
            <a:r>
              <a:rPr lang="it-IT" sz="2400" dirty="0"/>
              <a:t> a </a:t>
            </a:r>
            <a:r>
              <a:rPr lang="it-IT" sz="2400" dirty="0" err="1"/>
              <a:t>burst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158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level of realism starting from LIF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28601" y="1219200"/>
            <a:ext cx="2209799" cy="48320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i="1" dirty="0" err="1"/>
              <a:t>Introducing</a:t>
            </a:r>
            <a:r>
              <a:rPr lang="it-IT" sz="2800" i="1" dirty="0"/>
              <a:t> ADAPTATION:</a:t>
            </a:r>
          </a:p>
          <a:p>
            <a:endParaRPr lang="it-IT" sz="2800" dirty="0"/>
          </a:p>
          <a:p>
            <a:r>
              <a:rPr lang="it-IT" sz="2800" dirty="0" err="1"/>
              <a:t>Izhikevich</a:t>
            </a:r>
            <a:r>
              <a:rPr lang="it-IT" sz="2800" dirty="0"/>
              <a:t> </a:t>
            </a:r>
            <a:r>
              <a:rPr lang="it-IT" sz="2800" dirty="0" err="1"/>
              <a:t>models</a:t>
            </a:r>
            <a:r>
              <a:rPr lang="it-IT" sz="2800" dirty="0"/>
              <a:t> (</a:t>
            </a:r>
            <a:r>
              <a:rPr lang="it-IT" sz="2800" dirty="0" err="1"/>
              <a:t>integrated</a:t>
            </a:r>
            <a:r>
              <a:rPr lang="it-IT" sz="2800" dirty="0"/>
              <a:t>)</a:t>
            </a:r>
          </a:p>
          <a:p>
            <a:endParaRPr lang="it-IT" sz="2800" dirty="0"/>
          </a:p>
          <a:p>
            <a:r>
              <a:rPr lang="it-IT" sz="2800" dirty="0" err="1"/>
              <a:t>Adaptive</a:t>
            </a:r>
            <a:r>
              <a:rPr lang="it-IT" sz="2800" dirty="0"/>
              <a:t> </a:t>
            </a:r>
            <a:r>
              <a:rPr lang="it-IT" sz="2800" dirty="0" err="1"/>
              <a:t>Exponential</a:t>
            </a:r>
            <a:r>
              <a:rPr lang="it-IT" sz="2800" dirty="0"/>
              <a:t> Integrate and </a:t>
            </a:r>
            <a:r>
              <a:rPr lang="it-IT" sz="2800" dirty="0" err="1"/>
              <a:t>Fire</a:t>
            </a:r>
            <a:r>
              <a:rPr lang="it-IT" sz="2800" dirty="0"/>
              <a:t> (plug-in)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2667000" y="1219200"/>
            <a:ext cx="6232748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i="1" dirty="0" err="1"/>
              <a:t>Introducing</a:t>
            </a:r>
            <a:r>
              <a:rPr lang="it-IT" sz="2800" i="1" dirty="0"/>
              <a:t> ACTIVE CURRENTS:</a:t>
            </a:r>
            <a:endParaRPr lang="it-IT" sz="2800" dirty="0"/>
          </a:p>
          <a:p>
            <a:r>
              <a:rPr lang="it-IT" sz="2800" dirty="0"/>
              <a:t>HH </a:t>
            </a:r>
            <a:r>
              <a:rPr lang="it-IT" sz="2800" dirty="0" err="1"/>
              <a:t>models</a:t>
            </a:r>
            <a:r>
              <a:rPr lang="it-IT" sz="2800" dirty="0"/>
              <a:t> (the Nobel-</a:t>
            </a:r>
            <a:r>
              <a:rPr lang="it-IT" sz="2800" dirty="0" err="1"/>
              <a:t>prize</a:t>
            </a:r>
            <a:r>
              <a:rPr lang="it-IT" sz="2800" dirty="0"/>
              <a:t> </a:t>
            </a:r>
            <a:r>
              <a:rPr lang="it-IT" sz="2800" dirty="0" err="1"/>
              <a:t>squid</a:t>
            </a:r>
            <a:r>
              <a:rPr lang="it-IT" sz="2800" dirty="0"/>
              <a:t>)</a:t>
            </a:r>
          </a:p>
        </p:txBody>
      </p:sp>
      <p:sp>
        <p:nvSpPr>
          <p:cNvPr id="5" name="Freccia a destra 4"/>
          <p:cNvSpPr/>
          <p:nvPr/>
        </p:nvSpPr>
        <p:spPr>
          <a:xfrm>
            <a:off x="2667000" y="3352800"/>
            <a:ext cx="2513181" cy="1775400"/>
          </a:xfrm>
          <a:prstGeom prst="rightArrow">
            <a:avLst>
              <a:gd name="adj1" fmla="val 100000"/>
              <a:gd name="adj2" fmla="val 2424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i="1" dirty="0" err="1">
                <a:solidFill>
                  <a:schemeClr val="tx1"/>
                </a:solidFill>
              </a:rPr>
              <a:t>Introducing</a:t>
            </a:r>
            <a:r>
              <a:rPr lang="it-IT" sz="2800" i="1" dirty="0">
                <a:solidFill>
                  <a:schemeClr val="tx1"/>
                </a:solidFill>
              </a:rPr>
              <a:t> </a:t>
            </a:r>
            <a:r>
              <a:rPr lang="it-IT" sz="2800" i="1" dirty="0" err="1">
                <a:solidFill>
                  <a:schemeClr val="tx1"/>
                </a:solidFill>
              </a:rPr>
              <a:t>morphology</a:t>
            </a:r>
            <a:r>
              <a:rPr lang="it-IT" sz="2800" i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NEURON 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(and me)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7" r="35416"/>
          <a:stretch/>
        </p:blipFill>
        <p:spPr>
          <a:xfrm>
            <a:off x="5180181" y="2286000"/>
            <a:ext cx="3719567" cy="4495800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5410200" y="2438400"/>
            <a:ext cx="99059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EXC.</a:t>
            </a:r>
          </a:p>
          <a:p>
            <a:r>
              <a:rPr lang="it-IT" dirty="0"/>
              <a:t>INH.</a:t>
            </a:r>
          </a:p>
        </p:txBody>
      </p:sp>
    </p:spTree>
    <p:extLst>
      <p:ext uri="{BB962C8B-B14F-4D97-AF65-F5344CB8AC3E}">
        <p14:creationId xmlns:p14="http://schemas.microsoft.com/office/powerpoint/2010/main" val="2878121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interaction: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Cortical recurring networks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6228184" y="1815236"/>
            <a:ext cx="2648471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79" b="31040"/>
          <a:stretch/>
        </p:blipFill>
        <p:spPr bwMode="auto">
          <a:xfrm>
            <a:off x="82914" y="1412776"/>
            <a:ext cx="59543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609600" y="2133600"/>
            <a:ext cx="10903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990578" y="3834825"/>
            <a:ext cx="188622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Excitatory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75783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interaction: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Cortical recurring networks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6228184" y="1815236"/>
            <a:ext cx="2648471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79" b="31040"/>
          <a:stretch/>
        </p:blipFill>
        <p:spPr bwMode="auto">
          <a:xfrm>
            <a:off x="82914" y="1412776"/>
            <a:ext cx="59543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609600" y="2133600"/>
            <a:ext cx="10903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990578" y="3834825"/>
            <a:ext cx="188622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Excitatory</a:t>
            </a:r>
            <a:r>
              <a:rPr lang="it-IT" dirty="0"/>
              <a:t>.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C2F2AA4B-1F0F-4F64-8E48-BD564977595D}"/>
              </a:ext>
            </a:extLst>
          </p:cNvPr>
          <p:cNvSpPr/>
          <p:nvPr/>
        </p:nvSpPr>
        <p:spPr>
          <a:xfrm>
            <a:off x="208326" y="1412776"/>
            <a:ext cx="4647431" cy="4320479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4:1 </a:t>
            </a:r>
            <a:r>
              <a:rPr lang="it-IT" sz="2400" dirty="0" err="1"/>
              <a:t>excitatory</a:t>
            </a:r>
            <a:r>
              <a:rPr lang="it-IT" sz="2400" dirty="0"/>
              <a:t>/</a:t>
            </a:r>
            <a:r>
              <a:rPr lang="it-IT" sz="2400" dirty="0" err="1"/>
              <a:t>inhibitory</a:t>
            </a:r>
            <a:r>
              <a:rPr lang="it-IT" sz="2400" dirty="0"/>
              <a:t> ratio and strong </a:t>
            </a:r>
            <a:r>
              <a:rPr lang="it-IT" sz="2400" dirty="0" err="1"/>
              <a:t>inhibition</a:t>
            </a:r>
            <a:r>
              <a:rPr lang="it-IT" sz="2400" dirty="0"/>
              <a:t> combine to </a:t>
            </a:r>
            <a:r>
              <a:rPr lang="it-IT" sz="2400" dirty="0" err="1"/>
              <a:t>achieve</a:t>
            </a:r>
            <a:r>
              <a:rPr lang="it-IT" sz="2400" dirty="0"/>
              <a:t> </a:t>
            </a:r>
            <a:r>
              <a:rPr lang="it-IT" sz="2400" dirty="0" err="1"/>
              <a:t>excitatory</a:t>
            </a:r>
            <a:r>
              <a:rPr lang="it-IT" sz="2400" dirty="0"/>
              <a:t>/</a:t>
            </a:r>
            <a:r>
              <a:rPr lang="it-IT" sz="2400" dirty="0" err="1"/>
              <a:t>inhibitory</a:t>
            </a:r>
            <a:endParaRPr lang="it-IT" sz="2400" dirty="0"/>
          </a:p>
          <a:p>
            <a:pPr algn="ctr"/>
            <a:r>
              <a:rPr lang="it-IT" sz="2400" dirty="0"/>
              <a:t>balance  </a:t>
            </a:r>
          </a:p>
        </p:txBody>
      </p:sp>
    </p:spTree>
    <p:extLst>
      <p:ext uri="{BB962C8B-B14F-4D97-AF65-F5344CB8AC3E}">
        <p14:creationId xmlns:p14="http://schemas.microsoft.com/office/powerpoint/2010/main" val="14685204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4833CCD4C2FF43A3A3C271054A5EB0" ma:contentTypeVersion="3" ma:contentTypeDescription="Creare un nuovo documento." ma:contentTypeScope="" ma:versionID="b70027fdb4c1b1eb2bab3914881cac99">
  <xsd:schema xmlns:xsd="http://www.w3.org/2001/XMLSchema" xmlns:xs="http://www.w3.org/2001/XMLSchema" xmlns:p="http://schemas.microsoft.com/office/2006/metadata/properties" xmlns:ns2="8442ee31-cce1-422a-bc66-5370dcdeec33" targetNamespace="http://schemas.microsoft.com/office/2006/metadata/properties" ma:root="true" ma:fieldsID="10f8f216c52543ac433b769f5bf7bd55" ns2:_="">
    <xsd:import namespace="8442ee31-cce1-422a-bc66-5370dcdeec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2ee31-cce1-422a-bc66-5370dcdeec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31FC1F-7F40-4A79-BF89-CCAEA46329F6}"/>
</file>

<file path=customXml/itemProps2.xml><?xml version="1.0" encoding="utf-8"?>
<ds:datastoreItem xmlns:ds="http://schemas.openxmlformats.org/officeDocument/2006/customXml" ds:itemID="{D15E02AA-9B25-4CDA-B502-9EC267C08E09}"/>
</file>

<file path=customXml/itemProps3.xml><?xml version="1.0" encoding="utf-8"?>
<ds:datastoreItem xmlns:ds="http://schemas.openxmlformats.org/officeDocument/2006/customXml" ds:itemID="{192AF8AA-273C-4478-A093-FC4FAC47491A}"/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785</Words>
  <Application>Microsoft Office PowerPoint</Application>
  <PresentationFormat>Presentazione su schermo (4:3)</PresentationFormat>
  <Paragraphs>164</Paragraphs>
  <Slides>30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7" baseType="lpstr">
      <vt:lpstr>Arial</vt:lpstr>
      <vt:lpstr>Bodoni MT Condensed</vt:lpstr>
      <vt:lpstr>Calibri</vt:lpstr>
      <vt:lpstr>Cambria Math</vt:lpstr>
      <vt:lpstr>Symbol</vt:lpstr>
      <vt:lpstr>Times New Roman</vt:lpstr>
      <vt:lpstr>Tema di Office</vt:lpstr>
      <vt:lpstr>Neuromorphic engineering: computational neuroengineering module </vt:lpstr>
      <vt:lpstr>Neuronal Models</vt:lpstr>
      <vt:lpstr>Introducing resting potential:  the LEAKY integrate and fire neuron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Models</dc:title>
  <dc:creator>alberto</dc:creator>
  <cp:lastModifiedBy>Alberto Mazzoni</cp:lastModifiedBy>
  <cp:revision>45</cp:revision>
  <dcterms:created xsi:type="dcterms:W3CDTF">2016-10-12T06:46:34Z</dcterms:created>
  <dcterms:modified xsi:type="dcterms:W3CDTF">2026-04-17T14:02:12Z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0x010100D54833CCD4C2FF43A3A3C271054A5EB0</vt:lpwstr>
  </property>
</Properties>
</file>