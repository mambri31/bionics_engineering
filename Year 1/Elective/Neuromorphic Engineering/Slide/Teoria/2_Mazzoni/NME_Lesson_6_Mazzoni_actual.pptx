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346" r:id="rId3"/>
    <p:sldId id="347" r:id="rId4"/>
    <p:sldId id="352" r:id="rId5"/>
    <p:sldId id="353" r:id="rId6"/>
    <p:sldId id="388" r:id="rId7"/>
    <p:sldId id="354" r:id="rId8"/>
    <p:sldId id="636" r:id="rId9"/>
    <p:sldId id="637" r:id="rId10"/>
    <p:sldId id="374" r:id="rId11"/>
    <p:sldId id="375" r:id="rId12"/>
    <p:sldId id="376" r:id="rId13"/>
    <p:sldId id="377" r:id="rId14"/>
    <p:sldId id="384" r:id="rId15"/>
    <p:sldId id="385" r:id="rId16"/>
    <p:sldId id="386" r:id="rId17"/>
    <p:sldId id="387" r:id="rId18"/>
    <p:sldId id="358" r:id="rId19"/>
    <p:sldId id="360" r:id="rId20"/>
    <p:sldId id="367" r:id="rId21"/>
    <p:sldId id="368" r:id="rId22"/>
    <p:sldId id="361" r:id="rId23"/>
    <p:sldId id="369" r:id="rId24"/>
    <p:sldId id="362" r:id="rId25"/>
    <p:sldId id="363" r:id="rId26"/>
    <p:sldId id="370" r:id="rId27"/>
    <p:sldId id="364" r:id="rId28"/>
    <p:sldId id="372" r:id="rId29"/>
    <p:sldId id="366" r:id="rId30"/>
    <p:sldId id="638" r:id="rId31"/>
    <p:sldId id="640" r:id="rId32"/>
    <p:sldId id="641" r:id="rId33"/>
    <p:sldId id="642" r:id="rId34"/>
    <p:sldId id="643" r:id="rId35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8" d="100"/>
          <a:sy n="68" d="100"/>
        </p:scale>
        <p:origin x="1638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ustomXml" Target="../customXml/item3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A9496D-ADBF-4A18-95D4-AE7277CC9CD7}" type="datetimeFigureOut">
              <a:rPr lang="it-IT" smtClean="0"/>
              <a:pPr/>
              <a:t>08/05/2026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29D7BA-C0FF-4E3D-A591-4EB38D80A8EE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08/05/2026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08/05/2026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08/05/2026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08/05/2026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08/05/2026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08/05/2026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08/05/2026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08/05/2026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08/05/2026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08/05/2026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08/05/2026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EC56D-4454-4717-98EA-B8EE0FABF145}" type="datetimeFigureOut">
              <a:rPr lang="it-IT" smtClean="0"/>
              <a:pPr/>
              <a:t>08/05/2026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Hom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75975"/>
          <a:stretch/>
        </p:blipFill>
        <p:spPr bwMode="auto">
          <a:xfrm>
            <a:off x="482318" y="4943127"/>
            <a:ext cx="2392127" cy="1168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482318" y="227176"/>
            <a:ext cx="8410162" cy="5506080"/>
          </a:xfrm>
        </p:spPr>
        <p:txBody>
          <a:bodyPr>
            <a:normAutofit fontScale="90000"/>
          </a:bodyPr>
          <a:lstStyle/>
          <a:p>
            <a:r>
              <a:rPr lang="it-IT" sz="6000" b="1" dirty="0" err="1">
                <a:solidFill>
                  <a:srgbClr val="FF0000"/>
                </a:solidFill>
              </a:rPr>
              <a:t>Neuromorphic</a:t>
            </a:r>
            <a:r>
              <a:rPr lang="it-IT" sz="6000" b="1" dirty="0">
                <a:solidFill>
                  <a:srgbClr val="FF0000"/>
                </a:solidFill>
              </a:rPr>
              <a:t> engineering:</a:t>
            </a:r>
            <a:br>
              <a:rPr lang="it-IT" sz="6000" b="1" dirty="0">
                <a:solidFill>
                  <a:srgbClr val="FF0000"/>
                </a:solidFill>
              </a:rPr>
            </a:br>
            <a:r>
              <a:rPr lang="it-IT" sz="6000" b="1" dirty="0" err="1">
                <a:solidFill>
                  <a:srgbClr val="FF0000"/>
                </a:solidFill>
              </a:rPr>
              <a:t>computational</a:t>
            </a:r>
            <a:r>
              <a:rPr lang="it-IT" sz="6000" b="1" dirty="0">
                <a:solidFill>
                  <a:srgbClr val="FF0000"/>
                </a:solidFill>
              </a:rPr>
              <a:t> </a:t>
            </a:r>
            <a:r>
              <a:rPr lang="it-IT" sz="6000" b="1" dirty="0" err="1">
                <a:solidFill>
                  <a:srgbClr val="FF0000"/>
                </a:solidFill>
              </a:rPr>
              <a:t>neuroscience</a:t>
            </a:r>
            <a:br>
              <a:rPr lang="it-IT" sz="6000" b="1" dirty="0">
                <a:solidFill>
                  <a:srgbClr val="FF0000"/>
                </a:solidFill>
              </a:rPr>
            </a:br>
            <a:r>
              <a:rPr lang="it-IT" sz="6000" b="1" dirty="0" err="1">
                <a:solidFill>
                  <a:srgbClr val="FF0000"/>
                </a:solidFill>
              </a:rPr>
              <a:t>module</a:t>
            </a:r>
            <a:br>
              <a:rPr lang="it-IT" sz="6000" b="1" dirty="0">
                <a:solidFill>
                  <a:srgbClr val="FF0000"/>
                </a:solidFill>
              </a:rPr>
            </a:br>
            <a:endParaRPr lang="it-IT" sz="6000" b="1" dirty="0">
              <a:solidFill>
                <a:srgbClr val="FF0000"/>
              </a:solidFill>
            </a:endParaRP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3347864" y="5131249"/>
            <a:ext cx="5688632" cy="792088"/>
          </a:xfrm>
        </p:spPr>
        <p:txBody>
          <a:bodyPr>
            <a:normAutofit/>
          </a:bodyPr>
          <a:lstStyle/>
          <a:p>
            <a:r>
              <a:rPr lang="it-IT" dirty="0" err="1"/>
              <a:t>Mazzoni@Bionics</a:t>
            </a:r>
            <a:r>
              <a:rPr lang="it-IT" dirty="0"/>
              <a:t>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uppo 7">
            <a:extLst>
              <a:ext uri="{FF2B5EF4-FFF2-40B4-BE49-F238E27FC236}">
                <a16:creationId xmlns:a16="http://schemas.microsoft.com/office/drawing/2014/main" id="{1072BCC1-8EE1-4917-A209-315AE18D8103}"/>
              </a:ext>
            </a:extLst>
          </p:cNvPr>
          <p:cNvGrpSpPr>
            <a:grpSpLocks/>
          </p:cNvGrpSpPr>
          <p:nvPr/>
        </p:nvGrpSpPr>
        <p:grpSpPr bwMode="auto">
          <a:xfrm>
            <a:off x="1848445" y="291332"/>
            <a:ext cx="7224117" cy="6556623"/>
            <a:chOff x="1848115" y="291641"/>
            <a:chExt cx="7224448" cy="6556451"/>
          </a:xfrm>
        </p:grpSpPr>
        <p:pic>
          <p:nvPicPr>
            <p:cNvPr id="4103" name="Picture 3">
              <a:extLst>
                <a:ext uri="{FF2B5EF4-FFF2-40B4-BE49-F238E27FC236}">
                  <a16:creationId xmlns:a16="http://schemas.microsoft.com/office/drawing/2014/main" id="{217FCCF3-FA6F-4347-8FCD-FF28D4AAE1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7727"/>
            <a:stretch>
              <a:fillRect/>
            </a:stretch>
          </p:blipFill>
          <p:spPr bwMode="auto">
            <a:xfrm>
              <a:off x="1848115" y="291641"/>
              <a:ext cx="7224448" cy="6556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Rettangolo 6">
              <a:extLst>
                <a:ext uri="{FF2B5EF4-FFF2-40B4-BE49-F238E27FC236}">
                  <a16:creationId xmlns:a16="http://schemas.microsoft.com/office/drawing/2014/main" id="{97B9FCA0-8E74-4622-AABD-4373629B6877}"/>
                </a:ext>
              </a:extLst>
            </p:cNvPr>
            <p:cNvSpPr/>
            <p:nvPr/>
          </p:nvSpPr>
          <p:spPr bwMode="auto">
            <a:xfrm>
              <a:off x="2013322" y="340753"/>
              <a:ext cx="4212773" cy="1964480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1440" tIns="45720" rIns="91440" bIns="45720"/>
            <a:lstStyle/>
            <a:p>
              <a:pPr algn="ctr" defTabSz="914353">
                <a:defRPr/>
              </a:pPr>
              <a:endParaRPr lang="it-IT" sz="4200"/>
            </a:p>
          </p:txBody>
        </p:sp>
      </p:grpSp>
      <p:sp>
        <p:nvSpPr>
          <p:cNvPr id="6" name="Rectangle 1">
            <a:extLst>
              <a:ext uri="{FF2B5EF4-FFF2-40B4-BE49-F238E27FC236}">
                <a16:creationId xmlns:a16="http://schemas.microsoft.com/office/drawing/2014/main" id="{441B0865-39C1-4AED-9488-1D41645D51D7}"/>
              </a:ext>
            </a:extLst>
          </p:cNvPr>
          <p:cNvSpPr txBox="1">
            <a:spLocks noChangeArrowheads="1"/>
          </p:cNvSpPr>
          <p:nvPr/>
        </p:nvSpPr>
        <p:spPr>
          <a:xfrm>
            <a:off x="456531" y="273473"/>
            <a:ext cx="8227590" cy="1145232"/>
          </a:xfrm>
          <a:prstGeom prst="rect">
            <a:avLst/>
          </a:prstGeom>
        </p:spPr>
        <p:txBody>
          <a:bodyPr lIns="82945" tIns="35268" rIns="82945" bIns="41473"/>
          <a:lstStyle/>
          <a:p>
            <a:pPr defTabSz="914353">
              <a:tabLst>
                <a:tab pos="0" algn="l"/>
                <a:tab pos="414705" algn="l"/>
                <a:tab pos="829410" algn="l"/>
                <a:tab pos="1244114" algn="l"/>
                <a:tab pos="1658819" algn="l"/>
                <a:tab pos="2073525" algn="l"/>
                <a:tab pos="2488229" algn="l"/>
                <a:tab pos="2902935" algn="l"/>
                <a:tab pos="3317639" algn="l"/>
                <a:tab pos="3732344" algn="l"/>
                <a:tab pos="4147049" algn="l"/>
                <a:tab pos="4561754" algn="l"/>
                <a:tab pos="4976458" algn="l"/>
                <a:tab pos="5391164" algn="l"/>
                <a:tab pos="5805869" algn="l"/>
                <a:tab pos="6220574" algn="l"/>
                <a:tab pos="6635278" algn="l"/>
                <a:tab pos="7049983" algn="l"/>
                <a:tab pos="7464688" algn="l"/>
                <a:tab pos="7879393" algn="l"/>
                <a:tab pos="8294097" algn="l"/>
              </a:tabLst>
              <a:defRPr/>
            </a:pPr>
            <a:r>
              <a:rPr lang="en-US" altLang="it-IT" sz="3600" kern="0" dirty="0">
                <a:solidFill>
                  <a:srgbClr val="565656"/>
                </a:solidFill>
                <a:latin typeface="+mj-lt"/>
                <a:ea typeface="+mj-ea"/>
                <a:cs typeface="+mj-cs"/>
              </a:rPr>
              <a:t>Restoring touch: hardware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E3E8B718-030A-4B65-9C6C-76098E9DD967}"/>
              </a:ext>
            </a:extLst>
          </p:cNvPr>
          <p:cNvSpPr txBox="1"/>
          <p:nvPr/>
        </p:nvSpPr>
        <p:spPr>
          <a:xfrm>
            <a:off x="2256979" y="1418705"/>
            <a:ext cx="396924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it-IT" sz="3200" i="1" dirty="0"/>
              <a:t>The right </a:t>
            </a:r>
            <a:r>
              <a:rPr lang="it-IT" sz="3200" i="1" dirty="0" err="1"/>
              <a:t>algorithm</a:t>
            </a:r>
            <a:endParaRPr lang="it-IT" sz="3200" i="1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E9B66D0-55D6-4E8B-A957-F273E3770B29}"/>
              </a:ext>
            </a:extLst>
          </p:cNvPr>
          <p:cNvSpPr txBox="1"/>
          <p:nvPr/>
        </p:nvSpPr>
        <p:spPr>
          <a:xfrm>
            <a:off x="39068" y="1877467"/>
            <a:ext cx="1780356" cy="473975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it-IT" sz="2000" dirty="0"/>
              <a:t>PRENSILIA</a:t>
            </a:r>
          </a:p>
          <a:p>
            <a:pPr>
              <a:defRPr/>
            </a:pPr>
            <a:r>
              <a:rPr lang="it-IT" sz="2000" dirty="0" err="1"/>
              <a:t>hand</a:t>
            </a:r>
            <a:endParaRPr lang="it-IT" sz="2000" dirty="0"/>
          </a:p>
          <a:p>
            <a:pPr>
              <a:defRPr/>
            </a:pPr>
            <a:endParaRPr lang="it-IT" sz="2000" dirty="0"/>
          </a:p>
          <a:p>
            <a:pPr>
              <a:defRPr/>
            </a:pPr>
            <a:r>
              <a:rPr lang="it-IT" sz="2000" dirty="0" err="1"/>
              <a:t>Transverse</a:t>
            </a:r>
            <a:r>
              <a:rPr lang="it-IT" sz="2000" dirty="0"/>
              <a:t> </a:t>
            </a:r>
            <a:r>
              <a:rPr lang="it-IT" sz="2000" dirty="0" err="1"/>
              <a:t>Intrafascicular</a:t>
            </a:r>
            <a:r>
              <a:rPr lang="it-IT" sz="2000" dirty="0"/>
              <a:t> </a:t>
            </a:r>
            <a:r>
              <a:rPr lang="it-IT" sz="2000" dirty="0" err="1"/>
              <a:t>Multichannel</a:t>
            </a:r>
            <a:r>
              <a:rPr lang="it-IT" sz="2000" dirty="0"/>
              <a:t> </a:t>
            </a:r>
            <a:r>
              <a:rPr lang="it-IT" sz="2000" dirty="0" err="1"/>
              <a:t>Electrodes</a:t>
            </a:r>
            <a:endParaRPr lang="it-IT" sz="2000" dirty="0"/>
          </a:p>
          <a:p>
            <a:pPr>
              <a:defRPr/>
            </a:pPr>
            <a:endParaRPr lang="it-IT" sz="2000" dirty="0"/>
          </a:p>
          <a:p>
            <a:pPr>
              <a:defRPr/>
            </a:pPr>
            <a:r>
              <a:rPr lang="it-IT" sz="2000" dirty="0" err="1"/>
              <a:t>Surgery</a:t>
            </a:r>
            <a:r>
              <a:rPr lang="it-IT" sz="2000" dirty="0"/>
              <a:t> (and </a:t>
            </a:r>
            <a:r>
              <a:rPr lang="it-IT" sz="2000" dirty="0" err="1"/>
              <a:t>tasks</a:t>
            </a:r>
            <a:r>
              <a:rPr lang="it-IT" sz="2000" dirty="0"/>
              <a:t>) </a:t>
            </a:r>
            <a:r>
              <a:rPr lang="it-IT" sz="2000" dirty="0" err="1"/>
              <a:t>performed</a:t>
            </a:r>
            <a:r>
              <a:rPr lang="it-IT" sz="2000" dirty="0"/>
              <a:t> @ </a:t>
            </a:r>
            <a:r>
              <a:rPr lang="it-IT" sz="2000" dirty="0" err="1"/>
              <a:t>Policnico</a:t>
            </a:r>
            <a:r>
              <a:rPr lang="it-IT" sz="2000" dirty="0"/>
              <a:t> Gemelli</a:t>
            </a:r>
          </a:p>
          <a:p>
            <a:pPr>
              <a:defRPr/>
            </a:pPr>
            <a:r>
              <a:rPr lang="it-IT" sz="4200" dirty="0"/>
              <a:t> </a:t>
            </a:r>
          </a:p>
        </p:txBody>
      </p:sp>
      <p:sp>
        <p:nvSpPr>
          <p:cNvPr id="4102" name="CasellaDiTesto 10">
            <a:extLst>
              <a:ext uri="{FF2B5EF4-FFF2-40B4-BE49-F238E27FC236}">
                <a16:creationId xmlns:a16="http://schemas.microsoft.com/office/drawing/2014/main" id="{2CC83D02-831E-49AF-B540-446F8790AD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56" y="929804"/>
            <a:ext cx="4124400" cy="611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r>
              <a:rPr lang="it-IT" altLang="it-IT" sz="1687"/>
              <a:t>Raspopovic et al. 2014 – Science Translational Medicine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B9ECCAAC-83EC-4527-8C54-0758010DBC7E}"/>
              </a:ext>
            </a:extLst>
          </p:cNvPr>
          <p:cNvSpPr txBox="1">
            <a:spLocks noChangeArrowheads="1"/>
          </p:cNvSpPr>
          <p:nvPr/>
        </p:nvSpPr>
        <p:spPr>
          <a:xfrm>
            <a:off x="456531" y="273473"/>
            <a:ext cx="8227590" cy="1145232"/>
          </a:xfrm>
          <a:prstGeom prst="rect">
            <a:avLst/>
          </a:prstGeom>
        </p:spPr>
        <p:txBody>
          <a:bodyPr lIns="82945" tIns="35268" rIns="82945" bIns="41473"/>
          <a:lstStyle/>
          <a:p>
            <a:pPr defTabSz="914353">
              <a:tabLst>
                <a:tab pos="0" algn="l"/>
                <a:tab pos="414705" algn="l"/>
                <a:tab pos="829410" algn="l"/>
                <a:tab pos="1244114" algn="l"/>
                <a:tab pos="1658819" algn="l"/>
                <a:tab pos="2073525" algn="l"/>
                <a:tab pos="2488229" algn="l"/>
                <a:tab pos="2902935" algn="l"/>
                <a:tab pos="3317639" algn="l"/>
                <a:tab pos="3732344" algn="l"/>
                <a:tab pos="4147049" algn="l"/>
                <a:tab pos="4561754" algn="l"/>
                <a:tab pos="4976458" algn="l"/>
                <a:tab pos="5391164" algn="l"/>
                <a:tab pos="5805869" algn="l"/>
                <a:tab pos="6220574" algn="l"/>
                <a:tab pos="6635278" algn="l"/>
                <a:tab pos="7049983" algn="l"/>
                <a:tab pos="7464688" algn="l"/>
                <a:tab pos="7879393" algn="l"/>
                <a:tab pos="8294097" algn="l"/>
              </a:tabLst>
              <a:defRPr/>
            </a:pPr>
            <a:r>
              <a:rPr lang="en-US" altLang="it-IT" sz="3600" kern="0" dirty="0">
                <a:solidFill>
                  <a:srgbClr val="565656"/>
                </a:solidFill>
                <a:latin typeface="+mj-lt"/>
                <a:ea typeface="+mj-ea"/>
                <a:cs typeface="+mj-cs"/>
              </a:rPr>
              <a:t>Restoring touch: algorithms</a:t>
            </a:r>
          </a:p>
        </p:txBody>
      </p:sp>
      <p:sp>
        <p:nvSpPr>
          <p:cNvPr id="5123" name="CasellaDiTesto 9">
            <a:extLst>
              <a:ext uri="{FF2B5EF4-FFF2-40B4-BE49-F238E27FC236}">
                <a16:creationId xmlns:a16="http://schemas.microsoft.com/office/drawing/2014/main" id="{B2FDA7A1-5F44-4918-83C6-17A6B90747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7153" y="1253505"/>
            <a:ext cx="4125516" cy="1650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r>
              <a:rPr lang="it-IT" altLang="it-IT" sz="1687" u="sng"/>
              <a:t>Raspopovic et al. 2014 – Science Translational Medicine</a:t>
            </a:r>
          </a:p>
          <a:p>
            <a:endParaRPr lang="it-IT" altLang="it-IT" sz="1687"/>
          </a:p>
          <a:p>
            <a:r>
              <a:rPr lang="it-IT" altLang="it-IT" sz="1687"/>
              <a:t>The patient is able to discriminate force levels, object shape, and modulate the grasp accordingly.</a:t>
            </a:r>
          </a:p>
        </p:txBody>
      </p:sp>
      <p:grpSp>
        <p:nvGrpSpPr>
          <p:cNvPr id="5124" name="Gruppo 11">
            <a:extLst>
              <a:ext uri="{FF2B5EF4-FFF2-40B4-BE49-F238E27FC236}">
                <a16:creationId xmlns:a16="http://schemas.microsoft.com/office/drawing/2014/main" id="{12B972FC-DA71-411B-9F9B-805ECA3F88A6}"/>
              </a:ext>
            </a:extLst>
          </p:cNvPr>
          <p:cNvGrpSpPr>
            <a:grpSpLocks/>
          </p:cNvGrpSpPr>
          <p:nvPr/>
        </p:nvGrpSpPr>
        <p:grpSpPr bwMode="auto">
          <a:xfrm>
            <a:off x="0" y="924223"/>
            <a:ext cx="4241602" cy="2042666"/>
            <a:chOff x="0" y="923961"/>
            <a:chExt cx="4241400" cy="2042975"/>
          </a:xfrm>
        </p:grpSpPr>
        <p:pic>
          <p:nvPicPr>
            <p:cNvPr id="5129" name="Picture 3">
              <a:extLst>
                <a:ext uri="{FF2B5EF4-FFF2-40B4-BE49-F238E27FC236}">
                  <a16:creationId xmlns:a16="http://schemas.microsoft.com/office/drawing/2014/main" id="{0EF55E42-4D40-4A0C-A1A4-1E2EA79763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1290" b="77480"/>
            <a:stretch>
              <a:fillRect/>
            </a:stretch>
          </p:blipFill>
          <p:spPr bwMode="auto">
            <a:xfrm>
              <a:off x="0" y="923961"/>
              <a:ext cx="4241400" cy="2042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Ovale 10">
              <a:extLst>
                <a:ext uri="{FF2B5EF4-FFF2-40B4-BE49-F238E27FC236}">
                  <a16:creationId xmlns:a16="http://schemas.microsoft.com/office/drawing/2014/main" id="{A94A3E39-F725-4878-81F0-E225DE6BBF01}"/>
                </a:ext>
              </a:extLst>
            </p:cNvPr>
            <p:cNvSpPr/>
            <p:nvPr/>
          </p:nvSpPr>
          <p:spPr bwMode="auto">
            <a:xfrm>
              <a:off x="194211" y="923961"/>
              <a:ext cx="262297" cy="494557"/>
            </a:xfrm>
            <a:prstGeom prst="ellipse">
              <a:avLst/>
            </a:prstGeom>
            <a:solidFill>
              <a:schemeClr val="bg1"/>
            </a:solidFill>
            <a:ln w="254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1440" tIns="45720" rIns="91440" bIns="45720"/>
            <a:lstStyle/>
            <a:p>
              <a:pPr algn="ctr" defTabSz="914353">
                <a:defRPr/>
              </a:pPr>
              <a:endParaRPr lang="it-IT" sz="4200"/>
            </a:p>
          </p:txBody>
        </p:sp>
      </p:grpSp>
      <p:pic>
        <p:nvPicPr>
          <p:cNvPr id="5125" name="Picture 2">
            <a:extLst>
              <a:ext uri="{FF2B5EF4-FFF2-40B4-BE49-F238E27FC236}">
                <a16:creationId xmlns:a16="http://schemas.microsoft.com/office/drawing/2014/main" id="{28F24151-D804-437D-9CE4-4BD51E9FEC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2"/>
          <a:stretch>
            <a:fillRect/>
          </a:stretch>
        </p:blipFill>
        <p:spPr bwMode="auto">
          <a:xfrm>
            <a:off x="155154" y="3200177"/>
            <a:ext cx="5662538" cy="1378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6" name="Rettangolo 13">
            <a:extLst>
              <a:ext uri="{FF2B5EF4-FFF2-40B4-BE49-F238E27FC236}">
                <a16:creationId xmlns:a16="http://schemas.microsoft.com/office/drawing/2014/main" id="{526C4ADA-BFD7-42B0-8642-14CE3719B1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7691" y="3173389"/>
            <a:ext cx="3326309" cy="1130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r>
              <a:rPr lang="it-IT" altLang="it-IT" sz="1687" u="sng"/>
              <a:t>Oddo et al. 2016 – eLife </a:t>
            </a:r>
          </a:p>
          <a:p>
            <a:endParaRPr lang="it-IT" altLang="it-IT" sz="1687"/>
          </a:p>
          <a:p>
            <a:r>
              <a:rPr lang="it-IT" altLang="it-IT" sz="1687"/>
              <a:t>The patient is able to discriminate coarseness</a:t>
            </a:r>
          </a:p>
        </p:txBody>
      </p:sp>
      <p:pic>
        <p:nvPicPr>
          <p:cNvPr id="5127" name="Picture 2">
            <a:extLst>
              <a:ext uri="{FF2B5EF4-FFF2-40B4-BE49-F238E27FC236}">
                <a16:creationId xmlns:a16="http://schemas.microsoft.com/office/drawing/2014/main" id="{F3A89BCF-68CA-4518-B97B-F6DEB2706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11" y="4578697"/>
            <a:ext cx="4540746" cy="2279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8" name="CasellaDiTesto 14">
            <a:extLst>
              <a:ext uri="{FF2B5EF4-FFF2-40B4-BE49-F238E27FC236}">
                <a16:creationId xmlns:a16="http://schemas.microsoft.com/office/drawing/2014/main" id="{93707909-5EDC-4561-A845-D1E8785599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7154" y="4786313"/>
            <a:ext cx="3482578" cy="1130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r>
              <a:rPr lang="it-IT" altLang="it-IT" sz="1687" u="sng"/>
              <a:t>Valle et al. 2018 – Scientific reports</a:t>
            </a:r>
          </a:p>
          <a:p>
            <a:r>
              <a:rPr lang="it-IT" altLang="it-IT" sz="1687" u="sng"/>
              <a:t>Valle et al. 2018 – NEURON</a:t>
            </a:r>
          </a:p>
          <a:p>
            <a:r>
              <a:rPr lang="it-IT" altLang="it-IT" sz="1687"/>
              <a:t>The patient feels natural sensations and embodiment is improved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03609BA2-0CDD-4E43-A419-81098FA60DA4}"/>
              </a:ext>
            </a:extLst>
          </p:cNvPr>
          <p:cNvSpPr txBox="1">
            <a:spLocks noChangeArrowheads="1"/>
          </p:cNvSpPr>
          <p:nvPr/>
        </p:nvSpPr>
        <p:spPr>
          <a:xfrm>
            <a:off x="456531" y="273473"/>
            <a:ext cx="8227590" cy="1145232"/>
          </a:xfrm>
          <a:prstGeom prst="rect">
            <a:avLst/>
          </a:prstGeom>
        </p:spPr>
        <p:txBody>
          <a:bodyPr lIns="82945" tIns="35268" rIns="82945" bIns="41473"/>
          <a:lstStyle/>
          <a:p>
            <a:pPr defTabSz="914353">
              <a:tabLst>
                <a:tab pos="0" algn="l"/>
                <a:tab pos="414705" algn="l"/>
                <a:tab pos="829410" algn="l"/>
                <a:tab pos="1244114" algn="l"/>
                <a:tab pos="1658819" algn="l"/>
                <a:tab pos="2073525" algn="l"/>
                <a:tab pos="2488229" algn="l"/>
                <a:tab pos="2902935" algn="l"/>
                <a:tab pos="3317639" algn="l"/>
                <a:tab pos="3732344" algn="l"/>
                <a:tab pos="4147049" algn="l"/>
                <a:tab pos="4561754" algn="l"/>
                <a:tab pos="4976458" algn="l"/>
                <a:tab pos="5391164" algn="l"/>
                <a:tab pos="5805869" algn="l"/>
                <a:tab pos="6220574" algn="l"/>
                <a:tab pos="6635278" algn="l"/>
                <a:tab pos="7049983" algn="l"/>
                <a:tab pos="7464688" algn="l"/>
                <a:tab pos="7879393" algn="l"/>
                <a:tab pos="8294097" algn="l"/>
              </a:tabLst>
              <a:defRPr/>
            </a:pPr>
            <a:r>
              <a:rPr lang="en-US" altLang="it-IT" sz="3600" kern="0" dirty="0">
                <a:solidFill>
                  <a:srgbClr val="565656"/>
                </a:solidFill>
                <a:latin typeface="+mj-lt"/>
                <a:ea typeface="+mj-ea"/>
                <a:cs typeface="+mj-cs"/>
              </a:rPr>
              <a:t>Restoring touch: texture coarseness discrimination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AD0CB52-4D62-4E7C-9C37-F32944792768}"/>
              </a:ext>
            </a:extLst>
          </p:cNvPr>
          <p:cNvSpPr txBox="1"/>
          <p:nvPr/>
        </p:nvSpPr>
        <p:spPr>
          <a:xfrm>
            <a:off x="175246" y="6488535"/>
            <a:ext cx="6267524" cy="35195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it-IT" sz="1687" u="sng" dirty="0" err="1">
                <a:solidFill>
                  <a:schemeClr val="accent3"/>
                </a:solidFill>
              </a:rPr>
              <a:t>Oddo</a:t>
            </a:r>
            <a:r>
              <a:rPr lang="it-IT" sz="1687" u="sng" dirty="0">
                <a:solidFill>
                  <a:schemeClr val="accent3"/>
                </a:solidFill>
              </a:rPr>
              <a:t> </a:t>
            </a:r>
            <a:r>
              <a:rPr lang="it-IT" sz="1687" u="sng" dirty="0" err="1">
                <a:solidFill>
                  <a:schemeClr val="accent3"/>
                </a:solidFill>
              </a:rPr>
              <a:t>et</a:t>
            </a:r>
            <a:r>
              <a:rPr lang="it-IT" sz="1687" u="sng" dirty="0">
                <a:solidFill>
                  <a:schemeClr val="accent3"/>
                </a:solidFill>
              </a:rPr>
              <a:t> al. 2016 – </a:t>
            </a:r>
            <a:r>
              <a:rPr lang="it-IT" sz="1687" u="sng" dirty="0" err="1">
                <a:solidFill>
                  <a:schemeClr val="accent3"/>
                </a:solidFill>
              </a:rPr>
              <a:t>eLife</a:t>
            </a:r>
            <a:endParaRPr lang="it-IT" sz="1687" u="sng" dirty="0">
              <a:solidFill>
                <a:schemeClr val="accent3"/>
              </a:solidFill>
            </a:endParaRPr>
          </a:p>
        </p:txBody>
      </p:sp>
      <p:pic>
        <p:nvPicPr>
          <p:cNvPr id="6148" name="Picture 2">
            <a:extLst>
              <a:ext uri="{FF2B5EF4-FFF2-40B4-BE49-F238E27FC236}">
                <a16:creationId xmlns:a16="http://schemas.microsoft.com/office/drawing/2014/main" id="{BF3E1EFF-1A4A-4B4C-8551-27B5DEC1C2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22" y="1453307"/>
            <a:ext cx="9114979" cy="4694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2">
            <a:extLst>
              <a:ext uri="{FF2B5EF4-FFF2-40B4-BE49-F238E27FC236}">
                <a16:creationId xmlns:a16="http://schemas.microsoft.com/office/drawing/2014/main" id="{A890D6BA-940D-416B-A59B-0D4E88BA0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2"/>
          <a:stretch>
            <a:fillRect/>
          </a:stretch>
        </p:blipFill>
        <p:spPr bwMode="auto">
          <a:xfrm>
            <a:off x="39068" y="3309566"/>
            <a:ext cx="4493865" cy="1095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253D6846-9866-45B9-93DD-F97B70010964}"/>
              </a:ext>
            </a:extLst>
          </p:cNvPr>
          <p:cNvSpPr txBox="1">
            <a:spLocks noChangeArrowheads="1"/>
          </p:cNvSpPr>
          <p:nvPr/>
        </p:nvSpPr>
        <p:spPr>
          <a:xfrm>
            <a:off x="456531" y="273473"/>
            <a:ext cx="8227590" cy="1145232"/>
          </a:xfrm>
          <a:prstGeom prst="rect">
            <a:avLst/>
          </a:prstGeom>
        </p:spPr>
        <p:txBody>
          <a:bodyPr lIns="82945" tIns="35268" rIns="82945" bIns="41473"/>
          <a:lstStyle/>
          <a:p>
            <a:pPr defTabSz="914353">
              <a:tabLst>
                <a:tab pos="0" algn="l"/>
                <a:tab pos="414705" algn="l"/>
                <a:tab pos="829410" algn="l"/>
                <a:tab pos="1244114" algn="l"/>
                <a:tab pos="1658819" algn="l"/>
                <a:tab pos="2073525" algn="l"/>
                <a:tab pos="2488229" algn="l"/>
                <a:tab pos="2902935" algn="l"/>
                <a:tab pos="3317639" algn="l"/>
                <a:tab pos="3732344" algn="l"/>
                <a:tab pos="4147049" algn="l"/>
                <a:tab pos="4561754" algn="l"/>
                <a:tab pos="4976458" algn="l"/>
                <a:tab pos="5391164" algn="l"/>
                <a:tab pos="5805869" algn="l"/>
                <a:tab pos="6220574" algn="l"/>
                <a:tab pos="6635278" algn="l"/>
                <a:tab pos="7049983" algn="l"/>
                <a:tab pos="7464688" algn="l"/>
                <a:tab pos="7879393" algn="l"/>
                <a:tab pos="8294097" algn="l"/>
              </a:tabLst>
              <a:defRPr/>
            </a:pPr>
            <a:r>
              <a:rPr lang="en-US" altLang="it-IT" sz="3600" kern="0" dirty="0">
                <a:solidFill>
                  <a:srgbClr val="565656"/>
                </a:solidFill>
                <a:latin typeface="+mj-lt"/>
                <a:ea typeface="+mj-ea"/>
                <a:cs typeface="+mj-cs"/>
              </a:rPr>
              <a:t>Restoring touch: texture coarseness discrimination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B69A7F0-A8D9-4667-A2F3-927F2A66C19C}"/>
              </a:ext>
            </a:extLst>
          </p:cNvPr>
          <p:cNvSpPr txBox="1"/>
          <p:nvPr/>
        </p:nvSpPr>
        <p:spPr>
          <a:xfrm>
            <a:off x="175246" y="6488535"/>
            <a:ext cx="6267524" cy="35195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it-IT" sz="1687" u="sng" dirty="0" err="1">
                <a:solidFill>
                  <a:schemeClr val="accent3"/>
                </a:solidFill>
              </a:rPr>
              <a:t>Oddo</a:t>
            </a:r>
            <a:r>
              <a:rPr lang="it-IT" sz="1687" u="sng" dirty="0">
                <a:solidFill>
                  <a:schemeClr val="accent3"/>
                </a:solidFill>
              </a:rPr>
              <a:t> </a:t>
            </a:r>
            <a:r>
              <a:rPr lang="it-IT" sz="1687" u="sng" dirty="0" err="1">
                <a:solidFill>
                  <a:schemeClr val="accent3"/>
                </a:solidFill>
              </a:rPr>
              <a:t>et</a:t>
            </a:r>
            <a:r>
              <a:rPr lang="it-IT" sz="1687" u="sng" dirty="0">
                <a:solidFill>
                  <a:schemeClr val="accent3"/>
                </a:solidFill>
              </a:rPr>
              <a:t> al. 2016 – </a:t>
            </a:r>
            <a:r>
              <a:rPr lang="it-IT" sz="1687" u="sng" dirty="0" err="1">
                <a:solidFill>
                  <a:schemeClr val="accent3"/>
                </a:solidFill>
              </a:rPr>
              <a:t>eLife</a:t>
            </a:r>
            <a:endParaRPr lang="it-IT" sz="1687" u="sng" dirty="0">
              <a:solidFill>
                <a:schemeClr val="accent3"/>
              </a:solidFill>
            </a:endParaRPr>
          </a:p>
        </p:txBody>
      </p:sp>
      <p:pic>
        <p:nvPicPr>
          <p:cNvPr id="7172" name="Picture 2">
            <a:extLst>
              <a:ext uri="{FF2B5EF4-FFF2-40B4-BE49-F238E27FC236}">
                <a16:creationId xmlns:a16="http://schemas.microsoft.com/office/drawing/2014/main" id="{332EAD16-8262-4523-96F7-DB14B8DFC8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5" y="1458888"/>
            <a:ext cx="9135070" cy="4524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04440303-A2AD-44E4-8BF6-BEDCE75FBA1C}"/>
              </a:ext>
            </a:extLst>
          </p:cNvPr>
          <p:cNvSpPr txBox="1">
            <a:spLocks noChangeArrowheads="1"/>
          </p:cNvSpPr>
          <p:nvPr/>
        </p:nvSpPr>
        <p:spPr>
          <a:xfrm>
            <a:off x="456531" y="273473"/>
            <a:ext cx="8227590" cy="1145232"/>
          </a:xfrm>
          <a:prstGeom prst="rect">
            <a:avLst/>
          </a:prstGeom>
        </p:spPr>
        <p:txBody>
          <a:bodyPr lIns="82945" tIns="35268" rIns="82945" bIns="41473"/>
          <a:lstStyle/>
          <a:p>
            <a:pPr defTabSz="914353">
              <a:tabLst>
                <a:tab pos="0" algn="l"/>
                <a:tab pos="414705" algn="l"/>
                <a:tab pos="829410" algn="l"/>
                <a:tab pos="1244114" algn="l"/>
                <a:tab pos="1658819" algn="l"/>
                <a:tab pos="2073525" algn="l"/>
                <a:tab pos="2488229" algn="l"/>
                <a:tab pos="2902935" algn="l"/>
                <a:tab pos="3317639" algn="l"/>
                <a:tab pos="3732344" algn="l"/>
                <a:tab pos="4147049" algn="l"/>
                <a:tab pos="4561754" algn="l"/>
                <a:tab pos="4976458" algn="l"/>
                <a:tab pos="5391164" algn="l"/>
                <a:tab pos="5805869" algn="l"/>
                <a:tab pos="6220574" algn="l"/>
                <a:tab pos="6635278" algn="l"/>
                <a:tab pos="7049983" algn="l"/>
                <a:tab pos="7464688" algn="l"/>
                <a:tab pos="7879393" algn="l"/>
                <a:tab pos="8294097" algn="l"/>
              </a:tabLst>
              <a:defRPr/>
            </a:pPr>
            <a:r>
              <a:rPr lang="en-US" altLang="it-IT" sz="3600" kern="0" dirty="0">
                <a:solidFill>
                  <a:srgbClr val="565656"/>
                </a:solidFill>
                <a:latin typeface="+mj-lt"/>
                <a:ea typeface="+mj-ea"/>
                <a:cs typeface="+mj-cs"/>
              </a:rPr>
              <a:t>Can we really compare these two approaches? We need a model!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6532ED84-DE29-40B0-8DE9-D8C68949D461}"/>
              </a:ext>
            </a:extLst>
          </p:cNvPr>
          <p:cNvSpPr txBox="1"/>
          <p:nvPr/>
        </p:nvSpPr>
        <p:spPr>
          <a:xfrm>
            <a:off x="175246" y="6488535"/>
            <a:ext cx="6267524" cy="35195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it-IT" sz="1687" u="sng" dirty="0" err="1">
                <a:solidFill>
                  <a:schemeClr val="accent3"/>
                </a:solidFill>
              </a:rPr>
              <a:t>Oddo</a:t>
            </a:r>
            <a:r>
              <a:rPr lang="it-IT" sz="1687" u="sng" dirty="0">
                <a:solidFill>
                  <a:schemeClr val="accent3"/>
                </a:solidFill>
              </a:rPr>
              <a:t> </a:t>
            </a:r>
            <a:r>
              <a:rPr lang="it-IT" sz="1687" u="sng" dirty="0" err="1">
                <a:solidFill>
                  <a:schemeClr val="accent3"/>
                </a:solidFill>
              </a:rPr>
              <a:t>et</a:t>
            </a:r>
            <a:r>
              <a:rPr lang="it-IT" sz="1687" u="sng" dirty="0">
                <a:solidFill>
                  <a:schemeClr val="accent3"/>
                </a:solidFill>
              </a:rPr>
              <a:t> al. 2016 – </a:t>
            </a:r>
            <a:r>
              <a:rPr lang="it-IT" sz="1687" u="sng" dirty="0" err="1">
                <a:solidFill>
                  <a:schemeClr val="accent3"/>
                </a:solidFill>
              </a:rPr>
              <a:t>eLife</a:t>
            </a:r>
            <a:endParaRPr lang="it-IT" sz="1687" u="sng" dirty="0">
              <a:solidFill>
                <a:schemeClr val="accent3"/>
              </a:solidFill>
            </a:endParaRPr>
          </a:p>
        </p:txBody>
      </p:sp>
      <p:pic>
        <p:nvPicPr>
          <p:cNvPr id="8196" name="Picture 2">
            <a:extLst>
              <a:ext uri="{FF2B5EF4-FFF2-40B4-BE49-F238E27FC236}">
                <a16:creationId xmlns:a16="http://schemas.microsoft.com/office/drawing/2014/main" id="{9711D3CD-EEA8-4AF6-B322-70454365E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13" t="62573" r="26167"/>
          <a:stretch>
            <a:fillRect/>
          </a:stretch>
        </p:blipFill>
        <p:spPr bwMode="auto">
          <a:xfrm>
            <a:off x="369467" y="2112988"/>
            <a:ext cx="8225358" cy="3161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34DFC4FA-5CFB-4F97-A1F9-BE268940C55F}"/>
              </a:ext>
            </a:extLst>
          </p:cNvPr>
          <p:cNvSpPr txBox="1">
            <a:spLocks noChangeArrowheads="1"/>
          </p:cNvSpPr>
          <p:nvPr/>
        </p:nvSpPr>
        <p:spPr>
          <a:xfrm>
            <a:off x="456531" y="273473"/>
            <a:ext cx="8227590" cy="1145232"/>
          </a:xfrm>
          <a:prstGeom prst="rect">
            <a:avLst/>
          </a:prstGeom>
        </p:spPr>
        <p:txBody>
          <a:bodyPr lIns="82945" tIns="35268" rIns="82945" bIns="41473"/>
          <a:lstStyle/>
          <a:p>
            <a:pPr defTabSz="914353">
              <a:tabLst>
                <a:tab pos="0" algn="l"/>
                <a:tab pos="414705" algn="l"/>
                <a:tab pos="829410" algn="l"/>
                <a:tab pos="1244114" algn="l"/>
                <a:tab pos="1658819" algn="l"/>
                <a:tab pos="2073525" algn="l"/>
                <a:tab pos="2488229" algn="l"/>
                <a:tab pos="2902935" algn="l"/>
                <a:tab pos="3317639" algn="l"/>
                <a:tab pos="3732344" algn="l"/>
                <a:tab pos="4147049" algn="l"/>
                <a:tab pos="4561754" algn="l"/>
                <a:tab pos="4976458" algn="l"/>
                <a:tab pos="5391164" algn="l"/>
                <a:tab pos="5805869" algn="l"/>
                <a:tab pos="6220574" algn="l"/>
                <a:tab pos="6635278" algn="l"/>
                <a:tab pos="7049983" algn="l"/>
                <a:tab pos="7464688" algn="l"/>
                <a:tab pos="7879393" algn="l"/>
                <a:tab pos="8294097" algn="l"/>
              </a:tabLst>
              <a:defRPr/>
            </a:pPr>
            <a:r>
              <a:rPr lang="en-US" altLang="it-IT" sz="3600" kern="0" dirty="0">
                <a:solidFill>
                  <a:srgbClr val="565656"/>
                </a:solidFill>
                <a:latin typeface="+mj-lt"/>
                <a:ea typeface="+mj-ea"/>
                <a:cs typeface="+mj-cs"/>
              </a:rPr>
              <a:t>Microneedle vs TIME: the model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68848B8-E0D2-46BC-BD75-4341E16C2080}"/>
              </a:ext>
            </a:extLst>
          </p:cNvPr>
          <p:cNvSpPr txBox="1"/>
          <p:nvPr/>
        </p:nvSpPr>
        <p:spPr>
          <a:xfrm>
            <a:off x="175246" y="6488535"/>
            <a:ext cx="6267524" cy="35195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it-IT" sz="1687" u="sng" dirty="0" err="1">
                <a:solidFill>
                  <a:schemeClr val="accent3"/>
                </a:solidFill>
              </a:rPr>
              <a:t>Oddo</a:t>
            </a:r>
            <a:r>
              <a:rPr lang="it-IT" sz="1687" u="sng" dirty="0">
                <a:solidFill>
                  <a:schemeClr val="accent3"/>
                </a:solidFill>
              </a:rPr>
              <a:t> </a:t>
            </a:r>
            <a:r>
              <a:rPr lang="it-IT" sz="1687" u="sng" dirty="0" err="1">
                <a:solidFill>
                  <a:schemeClr val="accent3"/>
                </a:solidFill>
              </a:rPr>
              <a:t>et</a:t>
            </a:r>
            <a:r>
              <a:rPr lang="it-IT" sz="1687" u="sng" dirty="0">
                <a:solidFill>
                  <a:schemeClr val="accent3"/>
                </a:solidFill>
              </a:rPr>
              <a:t> al. 2016 – </a:t>
            </a:r>
            <a:r>
              <a:rPr lang="it-IT" sz="1687" u="sng" dirty="0" err="1">
                <a:solidFill>
                  <a:schemeClr val="accent3"/>
                </a:solidFill>
              </a:rPr>
              <a:t>eLife</a:t>
            </a:r>
            <a:endParaRPr lang="it-IT" sz="1687" u="sng" dirty="0">
              <a:solidFill>
                <a:schemeClr val="accent3"/>
              </a:solidFill>
            </a:endParaRPr>
          </a:p>
        </p:txBody>
      </p:sp>
      <p:pic>
        <p:nvPicPr>
          <p:cNvPr id="9220" name="Immagine 2">
            <a:extLst>
              <a:ext uri="{FF2B5EF4-FFF2-40B4-BE49-F238E27FC236}">
                <a16:creationId xmlns:a16="http://schemas.microsoft.com/office/drawing/2014/main" id="{BE8314E3-F4D1-4A3C-8C6F-75E3AA1C05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61058"/>
            <a:ext cx="9144000" cy="5303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5CE28F90-F66E-4082-9737-CA0DE6C75D7A}"/>
              </a:ext>
            </a:extLst>
          </p:cNvPr>
          <p:cNvSpPr txBox="1">
            <a:spLocks noChangeArrowheads="1"/>
          </p:cNvSpPr>
          <p:nvPr/>
        </p:nvSpPr>
        <p:spPr>
          <a:xfrm>
            <a:off x="456531" y="273473"/>
            <a:ext cx="8227590" cy="1145232"/>
          </a:xfrm>
          <a:prstGeom prst="rect">
            <a:avLst/>
          </a:prstGeom>
        </p:spPr>
        <p:txBody>
          <a:bodyPr lIns="82945" tIns="35268" rIns="82945" bIns="41473"/>
          <a:lstStyle/>
          <a:p>
            <a:pPr defTabSz="914353">
              <a:tabLst>
                <a:tab pos="0" algn="l"/>
                <a:tab pos="414705" algn="l"/>
                <a:tab pos="829410" algn="l"/>
                <a:tab pos="1244114" algn="l"/>
                <a:tab pos="1658819" algn="l"/>
                <a:tab pos="2073525" algn="l"/>
                <a:tab pos="2488229" algn="l"/>
                <a:tab pos="2902935" algn="l"/>
                <a:tab pos="3317639" algn="l"/>
                <a:tab pos="3732344" algn="l"/>
                <a:tab pos="4147049" algn="l"/>
                <a:tab pos="4561754" algn="l"/>
                <a:tab pos="4976458" algn="l"/>
                <a:tab pos="5391164" algn="l"/>
                <a:tab pos="5805869" algn="l"/>
                <a:tab pos="6220574" algn="l"/>
                <a:tab pos="6635278" algn="l"/>
                <a:tab pos="7049983" algn="l"/>
                <a:tab pos="7464688" algn="l"/>
                <a:tab pos="7879393" algn="l"/>
                <a:tab pos="8294097" algn="l"/>
              </a:tabLst>
              <a:defRPr/>
            </a:pPr>
            <a:r>
              <a:rPr lang="en-US" altLang="it-IT" sz="3600" kern="0" dirty="0">
                <a:solidFill>
                  <a:srgbClr val="565656"/>
                </a:solidFill>
                <a:latin typeface="+mj-lt"/>
                <a:ea typeface="+mj-ea"/>
                <a:cs typeface="+mj-cs"/>
              </a:rPr>
              <a:t>Microneedle vs TIME: the model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BDBDF940-856C-463A-95FB-62E2F9F293FD}"/>
              </a:ext>
            </a:extLst>
          </p:cNvPr>
          <p:cNvSpPr txBox="1"/>
          <p:nvPr/>
        </p:nvSpPr>
        <p:spPr>
          <a:xfrm>
            <a:off x="175246" y="6488535"/>
            <a:ext cx="6267524" cy="35195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it-IT" sz="1687" u="sng" dirty="0" err="1">
                <a:solidFill>
                  <a:schemeClr val="accent3"/>
                </a:solidFill>
              </a:rPr>
              <a:t>Oddo</a:t>
            </a:r>
            <a:r>
              <a:rPr lang="it-IT" sz="1687" u="sng" dirty="0">
                <a:solidFill>
                  <a:schemeClr val="accent3"/>
                </a:solidFill>
              </a:rPr>
              <a:t> </a:t>
            </a:r>
            <a:r>
              <a:rPr lang="it-IT" sz="1687" u="sng" dirty="0" err="1">
                <a:solidFill>
                  <a:schemeClr val="accent3"/>
                </a:solidFill>
              </a:rPr>
              <a:t>et</a:t>
            </a:r>
            <a:r>
              <a:rPr lang="it-IT" sz="1687" u="sng" dirty="0">
                <a:solidFill>
                  <a:schemeClr val="accent3"/>
                </a:solidFill>
              </a:rPr>
              <a:t> al. 2016 – </a:t>
            </a:r>
            <a:r>
              <a:rPr lang="it-IT" sz="1687" u="sng" dirty="0" err="1">
                <a:solidFill>
                  <a:schemeClr val="accent3"/>
                </a:solidFill>
              </a:rPr>
              <a:t>eLife</a:t>
            </a:r>
            <a:endParaRPr lang="it-IT" sz="1687" u="sng" dirty="0">
              <a:solidFill>
                <a:schemeClr val="accent3"/>
              </a:solidFill>
            </a:endParaRPr>
          </a:p>
        </p:txBody>
      </p:sp>
      <p:pic>
        <p:nvPicPr>
          <p:cNvPr id="10244" name="Immagine 3">
            <a:extLst>
              <a:ext uri="{FF2B5EF4-FFF2-40B4-BE49-F238E27FC236}">
                <a16:creationId xmlns:a16="http://schemas.microsoft.com/office/drawing/2014/main" id="{9B37C25D-B9C9-4BE5-8150-C771175817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710" y="921990"/>
            <a:ext cx="6691684" cy="579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3FD9EC79-1B80-4050-9C30-1483069CA5E8}"/>
              </a:ext>
            </a:extLst>
          </p:cNvPr>
          <p:cNvSpPr txBox="1">
            <a:spLocks noChangeArrowheads="1"/>
          </p:cNvSpPr>
          <p:nvPr/>
        </p:nvSpPr>
        <p:spPr>
          <a:xfrm>
            <a:off x="175245" y="273473"/>
            <a:ext cx="8508876" cy="1145232"/>
          </a:xfrm>
          <a:prstGeom prst="rect">
            <a:avLst/>
          </a:prstGeom>
        </p:spPr>
        <p:txBody>
          <a:bodyPr lIns="82945" tIns="35268" rIns="82945" bIns="41473"/>
          <a:lstStyle/>
          <a:p>
            <a:pPr defTabSz="914353">
              <a:tabLst>
                <a:tab pos="0" algn="l"/>
                <a:tab pos="414705" algn="l"/>
                <a:tab pos="829410" algn="l"/>
                <a:tab pos="1244114" algn="l"/>
                <a:tab pos="1658819" algn="l"/>
                <a:tab pos="2073525" algn="l"/>
                <a:tab pos="2488229" algn="l"/>
                <a:tab pos="2902935" algn="l"/>
                <a:tab pos="3317639" algn="l"/>
                <a:tab pos="3732344" algn="l"/>
                <a:tab pos="4147049" algn="l"/>
                <a:tab pos="4561754" algn="l"/>
                <a:tab pos="4976458" algn="l"/>
                <a:tab pos="5391164" algn="l"/>
                <a:tab pos="5805869" algn="l"/>
                <a:tab pos="6220574" algn="l"/>
                <a:tab pos="6635278" algn="l"/>
                <a:tab pos="7049983" algn="l"/>
                <a:tab pos="7464688" algn="l"/>
                <a:tab pos="7879393" algn="l"/>
                <a:tab pos="8294097" algn="l"/>
              </a:tabLst>
              <a:defRPr/>
            </a:pPr>
            <a:r>
              <a:rPr lang="en-US" altLang="it-IT" sz="3600" kern="0" dirty="0">
                <a:solidFill>
                  <a:srgbClr val="565656"/>
                </a:solidFill>
                <a:latin typeface="+mj-lt"/>
                <a:ea typeface="+mj-ea"/>
                <a:cs typeface="+mj-cs"/>
              </a:rPr>
              <a:t>Microneedle </a:t>
            </a:r>
          </a:p>
          <a:p>
            <a:pPr defTabSz="914353">
              <a:tabLst>
                <a:tab pos="0" algn="l"/>
                <a:tab pos="414705" algn="l"/>
                <a:tab pos="829410" algn="l"/>
                <a:tab pos="1244114" algn="l"/>
                <a:tab pos="1658819" algn="l"/>
                <a:tab pos="2073525" algn="l"/>
                <a:tab pos="2488229" algn="l"/>
                <a:tab pos="2902935" algn="l"/>
                <a:tab pos="3317639" algn="l"/>
                <a:tab pos="3732344" algn="l"/>
                <a:tab pos="4147049" algn="l"/>
                <a:tab pos="4561754" algn="l"/>
                <a:tab pos="4976458" algn="l"/>
                <a:tab pos="5391164" algn="l"/>
                <a:tab pos="5805869" algn="l"/>
                <a:tab pos="6220574" algn="l"/>
                <a:tab pos="6635278" algn="l"/>
                <a:tab pos="7049983" algn="l"/>
                <a:tab pos="7464688" algn="l"/>
                <a:tab pos="7879393" algn="l"/>
                <a:tab pos="8294097" algn="l"/>
              </a:tabLst>
              <a:defRPr/>
            </a:pPr>
            <a:r>
              <a:rPr lang="en-US" altLang="it-IT" sz="3600" kern="0" dirty="0">
                <a:solidFill>
                  <a:srgbClr val="565656"/>
                </a:solidFill>
                <a:latin typeface="+mj-lt"/>
                <a:ea typeface="+mj-ea"/>
                <a:cs typeface="+mj-cs"/>
              </a:rPr>
              <a:t>vs TIME: </a:t>
            </a:r>
          </a:p>
          <a:p>
            <a:pPr defTabSz="914353">
              <a:tabLst>
                <a:tab pos="0" algn="l"/>
                <a:tab pos="414705" algn="l"/>
                <a:tab pos="829410" algn="l"/>
                <a:tab pos="1244114" algn="l"/>
                <a:tab pos="1658819" algn="l"/>
                <a:tab pos="2073525" algn="l"/>
                <a:tab pos="2488229" algn="l"/>
                <a:tab pos="2902935" algn="l"/>
                <a:tab pos="3317639" algn="l"/>
                <a:tab pos="3732344" algn="l"/>
                <a:tab pos="4147049" algn="l"/>
                <a:tab pos="4561754" algn="l"/>
                <a:tab pos="4976458" algn="l"/>
                <a:tab pos="5391164" algn="l"/>
                <a:tab pos="5805869" algn="l"/>
                <a:tab pos="6220574" algn="l"/>
                <a:tab pos="6635278" algn="l"/>
                <a:tab pos="7049983" algn="l"/>
                <a:tab pos="7464688" algn="l"/>
                <a:tab pos="7879393" algn="l"/>
                <a:tab pos="8294097" algn="l"/>
              </a:tabLst>
              <a:defRPr/>
            </a:pPr>
            <a:r>
              <a:rPr lang="en-US" altLang="it-IT" sz="3600" kern="0" dirty="0">
                <a:solidFill>
                  <a:srgbClr val="565656"/>
                </a:solidFill>
                <a:latin typeface="+mj-lt"/>
                <a:ea typeface="+mj-ea"/>
                <a:cs typeface="+mj-cs"/>
              </a:rPr>
              <a:t>the model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CC89B57-D46F-4B81-A827-2CFF6BEC6F1D}"/>
              </a:ext>
            </a:extLst>
          </p:cNvPr>
          <p:cNvSpPr txBox="1"/>
          <p:nvPr/>
        </p:nvSpPr>
        <p:spPr>
          <a:xfrm>
            <a:off x="175246" y="6488535"/>
            <a:ext cx="6267524" cy="35195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it-IT" sz="1687" u="sng" dirty="0" err="1">
                <a:solidFill>
                  <a:schemeClr val="accent3"/>
                </a:solidFill>
              </a:rPr>
              <a:t>Oddo</a:t>
            </a:r>
            <a:r>
              <a:rPr lang="it-IT" sz="1687" u="sng" dirty="0">
                <a:solidFill>
                  <a:schemeClr val="accent3"/>
                </a:solidFill>
              </a:rPr>
              <a:t> </a:t>
            </a:r>
            <a:r>
              <a:rPr lang="it-IT" sz="1687" u="sng" dirty="0" err="1">
                <a:solidFill>
                  <a:schemeClr val="accent3"/>
                </a:solidFill>
              </a:rPr>
              <a:t>et</a:t>
            </a:r>
            <a:r>
              <a:rPr lang="it-IT" sz="1687" u="sng" dirty="0">
                <a:solidFill>
                  <a:schemeClr val="accent3"/>
                </a:solidFill>
              </a:rPr>
              <a:t> al. 2016 – </a:t>
            </a:r>
            <a:r>
              <a:rPr lang="it-IT" sz="1687" u="sng" dirty="0" err="1">
                <a:solidFill>
                  <a:schemeClr val="accent3"/>
                </a:solidFill>
              </a:rPr>
              <a:t>eLife</a:t>
            </a:r>
            <a:endParaRPr lang="it-IT" sz="1687" u="sng" dirty="0">
              <a:solidFill>
                <a:schemeClr val="accent3"/>
              </a:solidFill>
            </a:endParaRPr>
          </a:p>
        </p:txBody>
      </p:sp>
      <p:pic>
        <p:nvPicPr>
          <p:cNvPr id="11268" name="Immagine 2">
            <a:extLst>
              <a:ext uri="{FF2B5EF4-FFF2-40B4-BE49-F238E27FC236}">
                <a16:creationId xmlns:a16="http://schemas.microsoft.com/office/drawing/2014/main" id="{24CAFD21-2A6F-4268-86EC-3A641B80A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4642" y="-44648"/>
            <a:ext cx="4993928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9" name="CasellaDiTesto 2">
            <a:extLst>
              <a:ext uri="{FF2B5EF4-FFF2-40B4-BE49-F238E27FC236}">
                <a16:creationId xmlns:a16="http://schemas.microsoft.com/office/drawing/2014/main" id="{B0836271-BBF5-4228-B494-B87F5234A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46" y="2365252"/>
            <a:ext cx="2543844" cy="3597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r>
              <a:rPr lang="it-IT" altLang="it-IT" sz="2531"/>
              <a:t>Getting to the right spot is easier with TIME, but once you get there the performance of a single contact with microneedle is just as good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3E079949-CC35-42CA-AF29-BC518AB184E1}"/>
              </a:ext>
            </a:extLst>
          </p:cNvPr>
          <p:cNvSpPr txBox="1">
            <a:spLocks noChangeArrowheads="1"/>
          </p:cNvSpPr>
          <p:nvPr/>
        </p:nvSpPr>
        <p:spPr>
          <a:xfrm>
            <a:off x="369466" y="310307"/>
            <a:ext cx="8227590" cy="1145232"/>
          </a:xfrm>
          <a:prstGeom prst="rect">
            <a:avLst/>
          </a:prstGeom>
        </p:spPr>
        <p:txBody>
          <a:bodyPr lIns="82945" tIns="35268" rIns="82945" bIns="41473"/>
          <a:lstStyle/>
          <a:p>
            <a:pPr defTabSz="914353">
              <a:tabLst>
                <a:tab pos="0" algn="l"/>
                <a:tab pos="414705" algn="l"/>
                <a:tab pos="829410" algn="l"/>
                <a:tab pos="1244114" algn="l"/>
                <a:tab pos="1658819" algn="l"/>
                <a:tab pos="2073525" algn="l"/>
                <a:tab pos="2488229" algn="l"/>
                <a:tab pos="2902935" algn="l"/>
                <a:tab pos="3317639" algn="l"/>
                <a:tab pos="3732344" algn="l"/>
                <a:tab pos="4147049" algn="l"/>
                <a:tab pos="4561754" algn="l"/>
                <a:tab pos="4976458" algn="l"/>
                <a:tab pos="5391164" algn="l"/>
                <a:tab pos="5805869" algn="l"/>
                <a:tab pos="6220574" algn="l"/>
                <a:tab pos="6635278" algn="l"/>
                <a:tab pos="7049983" algn="l"/>
                <a:tab pos="7464688" algn="l"/>
                <a:tab pos="7879393" algn="l"/>
                <a:tab pos="8294097" algn="l"/>
              </a:tabLst>
              <a:defRPr/>
            </a:pPr>
            <a:r>
              <a:rPr lang="en-US" altLang="it-IT" sz="3600" kern="0" dirty="0">
                <a:solidFill>
                  <a:srgbClr val="565656"/>
                </a:solidFill>
                <a:latin typeface="+mj-lt"/>
                <a:ea typeface="+mj-ea"/>
                <a:cs typeface="+mj-cs"/>
              </a:rPr>
              <a:t>Back to basics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0987A55-9C90-4F9A-AC99-02178D26927A}"/>
              </a:ext>
            </a:extLst>
          </p:cNvPr>
          <p:cNvSpPr txBox="1"/>
          <p:nvPr/>
        </p:nvSpPr>
        <p:spPr>
          <a:xfrm>
            <a:off x="175246" y="6488535"/>
            <a:ext cx="6267524" cy="35195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it-IT" sz="1687" u="sng" dirty="0">
                <a:solidFill>
                  <a:schemeClr val="accent3"/>
                </a:solidFill>
              </a:rPr>
              <a:t>Valle et al. 2018 – </a:t>
            </a:r>
            <a:r>
              <a:rPr lang="it-IT" sz="1687" u="sng" dirty="0" err="1">
                <a:solidFill>
                  <a:schemeClr val="accent3"/>
                </a:solidFill>
              </a:rPr>
              <a:t>Scientific</a:t>
            </a:r>
            <a:r>
              <a:rPr lang="it-IT" sz="1687" u="sng" dirty="0">
                <a:solidFill>
                  <a:schemeClr val="accent3"/>
                </a:solidFill>
              </a:rPr>
              <a:t> Reports </a:t>
            </a:r>
          </a:p>
        </p:txBody>
      </p:sp>
      <p:pic>
        <p:nvPicPr>
          <p:cNvPr id="16388" name="Immagine 1">
            <a:extLst>
              <a:ext uri="{FF2B5EF4-FFF2-40B4-BE49-F238E27FC236}">
                <a16:creationId xmlns:a16="http://schemas.microsoft.com/office/drawing/2014/main" id="{52A10D9B-E891-4C32-8109-936FF40CA0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52588"/>
            <a:ext cx="7606978" cy="5266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47F0AAF2-0938-4558-B482-EC638B728E9B}"/>
              </a:ext>
            </a:extLst>
          </p:cNvPr>
          <p:cNvSpPr txBox="1">
            <a:spLocks noChangeArrowheads="1"/>
          </p:cNvSpPr>
          <p:nvPr/>
        </p:nvSpPr>
        <p:spPr>
          <a:xfrm>
            <a:off x="456531" y="273473"/>
            <a:ext cx="8227590" cy="1145232"/>
          </a:xfrm>
          <a:prstGeom prst="rect">
            <a:avLst/>
          </a:prstGeom>
        </p:spPr>
        <p:txBody>
          <a:bodyPr lIns="82945" tIns="35268" rIns="82945" bIns="41473"/>
          <a:lstStyle/>
          <a:p>
            <a:pPr defTabSz="914353">
              <a:tabLst>
                <a:tab pos="0" algn="l"/>
                <a:tab pos="414705" algn="l"/>
                <a:tab pos="829410" algn="l"/>
                <a:tab pos="1244114" algn="l"/>
                <a:tab pos="1658819" algn="l"/>
                <a:tab pos="2073525" algn="l"/>
                <a:tab pos="2488229" algn="l"/>
                <a:tab pos="2902935" algn="l"/>
                <a:tab pos="3317639" algn="l"/>
                <a:tab pos="3732344" algn="l"/>
                <a:tab pos="4147049" algn="l"/>
                <a:tab pos="4561754" algn="l"/>
                <a:tab pos="4976458" algn="l"/>
                <a:tab pos="5391164" algn="l"/>
                <a:tab pos="5805869" algn="l"/>
                <a:tab pos="6220574" algn="l"/>
                <a:tab pos="6635278" algn="l"/>
                <a:tab pos="7049983" algn="l"/>
                <a:tab pos="7464688" algn="l"/>
                <a:tab pos="7879393" algn="l"/>
                <a:tab pos="8294097" algn="l"/>
              </a:tabLst>
              <a:defRPr/>
            </a:pPr>
            <a:r>
              <a:rPr lang="en-US" altLang="it-IT" sz="3600" kern="0" dirty="0">
                <a:solidFill>
                  <a:srgbClr val="565656"/>
                </a:solidFill>
                <a:latin typeface="+mj-lt"/>
                <a:ea typeface="+mj-ea"/>
                <a:cs typeface="+mj-cs"/>
              </a:rPr>
              <a:t>Frequency vs amplitude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8E0E92F-CF69-4024-8FDC-68BF2B5F5DED}"/>
              </a:ext>
            </a:extLst>
          </p:cNvPr>
          <p:cNvSpPr txBox="1"/>
          <p:nvPr/>
        </p:nvSpPr>
        <p:spPr>
          <a:xfrm>
            <a:off x="175246" y="6488535"/>
            <a:ext cx="6267524" cy="35195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it-IT" sz="1687" u="sng" dirty="0">
                <a:solidFill>
                  <a:schemeClr val="accent3"/>
                </a:solidFill>
              </a:rPr>
              <a:t>Valle et al. 2018 – </a:t>
            </a:r>
            <a:r>
              <a:rPr lang="it-IT" sz="1687" u="sng" dirty="0" err="1">
                <a:solidFill>
                  <a:schemeClr val="accent3"/>
                </a:solidFill>
              </a:rPr>
              <a:t>Scientific</a:t>
            </a:r>
            <a:r>
              <a:rPr lang="it-IT" sz="1687" u="sng" dirty="0">
                <a:solidFill>
                  <a:schemeClr val="accent3"/>
                </a:solidFill>
              </a:rPr>
              <a:t> Reports </a:t>
            </a:r>
          </a:p>
        </p:txBody>
      </p:sp>
      <p:pic>
        <p:nvPicPr>
          <p:cNvPr id="17412" name="Immagine 2">
            <a:extLst>
              <a:ext uri="{FF2B5EF4-FFF2-40B4-BE49-F238E27FC236}">
                <a16:creationId xmlns:a16="http://schemas.microsoft.com/office/drawing/2014/main" id="{143F1A63-A23E-492F-89FE-BDADD391F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46" y="1064865"/>
            <a:ext cx="7735342" cy="5180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7C89DEFE-4E96-4AF3-818E-436C2122FFD8}"/>
              </a:ext>
            </a:extLst>
          </p:cNvPr>
          <p:cNvSpPr txBox="1">
            <a:spLocks noChangeArrowheads="1"/>
          </p:cNvSpPr>
          <p:nvPr/>
        </p:nvSpPr>
        <p:spPr>
          <a:xfrm>
            <a:off x="456531" y="273473"/>
            <a:ext cx="8227590" cy="1145232"/>
          </a:xfrm>
          <a:prstGeom prst="rect">
            <a:avLst/>
          </a:prstGeom>
        </p:spPr>
        <p:txBody>
          <a:bodyPr lIns="82945" tIns="35268" rIns="82945" bIns="41473"/>
          <a:lstStyle/>
          <a:p>
            <a:pPr defTabSz="914353">
              <a:tabLst>
                <a:tab pos="0" algn="l"/>
                <a:tab pos="414705" algn="l"/>
                <a:tab pos="829410" algn="l"/>
                <a:tab pos="1244114" algn="l"/>
                <a:tab pos="1658819" algn="l"/>
                <a:tab pos="2073525" algn="l"/>
                <a:tab pos="2488229" algn="l"/>
                <a:tab pos="2902935" algn="l"/>
                <a:tab pos="3317639" algn="l"/>
                <a:tab pos="3732344" algn="l"/>
                <a:tab pos="4147049" algn="l"/>
                <a:tab pos="4561754" algn="l"/>
                <a:tab pos="4976458" algn="l"/>
                <a:tab pos="5391164" algn="l"/>
                <a:tab pos="5805869" algn="l"/>
                <a:tab pos="6220574" algn="l"/>
                <a:tab pos="6635278" algn="l"/>
                <a:tab pos="7049983" algn="l"/>
                <a:tab pos="7464688" algn="l"/>
                <a:tab pos="7879393" algn="l"/>
                <a:tab pos="8294097" algn="l"/>
              </a:tabLst>
              <a:defRPr/>
            </a:pPr>
            <a:r>
              <a:rPr lang="en-US" altLang="it-IT" sz="3600" kern="0" dirty="0">
                <a:solidFill>
                  <a:srgbClr val="565656"/>
                </a:solidFill>
                <a:latin typeface="+mj-lt"/>
                <a:ea typeface="+mj-ea"/>
                <a:cs typeface="+mj-cs"/>
              </a:rPr>
              <a:t>Frequency vs amplitude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09322E1E-767D-4FBE-B3DF-DCCCA5F6CDA3}"/>
              </a:ext>
            </a:extLst>
          </p:cNvPr>
          <p:cNvSpPr txBox="1"/>
          <p:nvPr/>
        </p:nvSpPr>
        <p:spPr>
          <a:xfrm>
            <a:off x="175246" y="6488535"/>
            <a:ext cx="6267524" cy="35195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it-IT" sz="1687" u="sng" dirty="0">
                <a:solidFill>
                  <a:schemeClr val="accent3"/>
                </a:solidFill>
              </a:rPr>
              <a:t>Valle et al. 2018 – </a:t>
            </a:r>
            <a:r>
              <a:rPr lang="it-IT" sz="1687" u="sng" dirty="0" err="1">
                <a:solidFill>
                  <a:schemeClr val="accent3"/>
                </a:solidFill>
              </a:rPr>
              <a:t>Scientific</a:t>
            </a:r>
            <a:r>
              <a:rPr lang="it-IT" sz="1687" u="sng" dirty="0">
                <a:solidFill>
                  <a:schemeClr val="accent3"/>
                </a:solidFill>
              </a:rPr>
              <a:t> Reports </a:t>
            </a:r>
          </a:p>
        </p:txBody>
      </p:sp>
      <p:pic>
        <p:nvPicPr>
          <p:cNvPr id="18436" name="Immagine 1">
            <a:extLst>
              <a:ext uri="{FF2B5EF4-FFF2-40B4-BE49-F238E27FC236}">
                <a16:creationId xmlns:a16="http://schemas.microsoft.com/office/drawing/2014/main" id="{70FA7393-8C51-4C1F-9FD8-39598D84BF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9395" y="846088"/>
            <a:ext cx="6591226" cy="5700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EA035D12-892C-4342-805D-904C42751D37}"/>
              </a:ext>
            </a:extLst>
          </p:cNvPr>
          <p:cNvSpPr txBox="1">
            <a:spLocks noChangeArrowheads="1"/>
          </p:cNvSpPr>
          <p:nvPr/>
        </p:nvSpPr>
        <p:spPr>
          <a:xfrm>
            <a:off x="456531" y="273473"/>
            <a:ext cx="8227590" cy="1145232"/>
          </a:xfrm>
          <a:prstGeom prst="rect">
            <a:avLst/>
          </a:prstGeom>
        </p:spPr>
        <p:txBody>
          <a:bodyPr lIns="82945" tIns="35268" rIns="82945" bIns="41473"/>
          <a:lstStyle/>
          <a:p>
            <a:pPr defTabSz="914353">
              <a:tabLst>
                <a:tab pos="0" algn="l"/>
                <a:tab pos="414705" algn="l"/>
                <a:tab pos="829410" algn="l"/>
                <a:tab pos="1244114" algn="l"/>
                <a:tab pos="1658819" algn="l"/>
                <a:tab pos="2073525" algn="l"/>
                <a:tab pos="2488229" algn="l"/>
                <a:tab pos="2902935" algn="l"/>
                <a:tab pos="3317639" algn="l"/>
                <a:tab pos="3732344" algn="l"/>
                <a:tab pos="4147049" algn="l"/>
                <a:tab pos="4561754" algn="l"/>
                <a:tab pos="4976458" algn="l"/>
                <a:tab pos="5391164" algn="l"/>
                <a:tab pos="5805869" algn="l"/>
                <a:tab pos="6220574" algn="l"/>
                <a:tab pos="6635278" algn="l"/>
                <a:tab pos="7049983" algn="l"/>
                <a:tab pos="7464688" algn="l"/>
                <a:tab pos="7879393" algn="l"/>
                <a:tab pos="8294097" algn="l"/>
              </a:tabLst>
              <a:defRPr/>
            </a:pPr>
            <a:r>
              <a:rPr lang="en-US" altLang="it-IT" sz="3600" kern="0" dirty="0">
                <a:solidFill>
                  <a:srgbClr val="565656"/>
                </a:solidFill>
                <a:latin typeface="+mj-lt"/>
                <a:ea typeface="+mj-ea"/>
                <a:cs typeface="+mj-cs"/>
              </a:rPr>
              <a:t>Frequency vs amplitude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7F8F18E-3C0C-4FFD-ACCD-87F7FB0B3E38}"/>
              </a:ext>
            </a:extLst>
          </p:cNvPr>
          <p:cNvSpPr txBox="1"/>
          <p:nvPr/>
        </p:nvSpPr>
        <p:spPr>
          <a:xfrm>
            <a:off x="175246" y="6488535"/>
            <a:ext cx="6267524" cy="35195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it-IT" sz="1687" u="sng" dirty="0">
                <a:solidFill>
                  <a:schemeClr val="accent3"/>
                </a:solidFill>
              </a:rPr>
              <a:t>Valle et al. 2018 – </a:t>
            </a:r>
            <a:r>
              <a:rPr lang="it-IT" sz="1687" u="sng" dirty="0" err="1">
                <a:solidFill>
                  <a:schemeClr val="accent3"/>
                </a:solidFill>
              </a:rPr>
              <a:t>Scientific</a:t>
            </a:r>
            <a:r>
              <a:rPr lang="it-IT" sz="1687" u="sng" dirty="0">
                <a:solidFill>
                  <a:schemeClr val="accent3"/>
                </a:solidFill>
              </a:rPr>
              <a:t> Reports </a:t>
            </a:r>
          </a:p>
        </p:txBody>
      </p:sp>
      <p:pic>
        <p:nvPicPr>
          <p:cNvPr id="19460" name="Immagine 2">
            <a:extLst>
              <a:ext uri="{FF2B5EF4-FFF2-40B4-BE49-F238E27FC236}">
                <a16:creationId xmlns:a16="http://schemas.microsoft.com/office/drawing/2014/main" id="{821FA9BC-8BAF-4AC8-9A5E-073CD8518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38" y="1033612"/>
            <a:ext cx="7603629" cy="5435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64C29DA8-AA35-46FE-B98C-64A1C62A99BD}"/>
              </a:ext>
            </a:extLst>
          </p:cNvPr>
          <p:cNvSpPr txBox="1">
            <a:spLocks noChangeArrowheads="1"/>
          </p:cNvSpPr>
          <p:nvPr/>
        </p:nvSpPr>
        <p:spPr>
          <a:xfrm>
            <a:off x="456531" y="273473"/>
            <a:ext cx="8227590" cy="1145232"/>
          </a:xfrm>
          <a:prstGeom prst="rect">
            <a:avLst/>
          </a:prstGeom>
        </p:spPr>
        <p:txBody>
          <a:bodyPr lIns="82945" tIns="35268" rIns="82945" bIns="41473"/>
          <a:lstStyle/>
          <a:p>
            <a:pPr defTabSz="914353">
              <a:tabLst>
                <a:tab pos="0" algn="l"/>
                <a:tab pos="414705" algn="l"/>
                <a:tab pos="829410" algn="l"/>
                <a:tab pos="1244114" algn="l"/>
                <a:tab pos="1658819" algn="l"/>
                <a:tab pos="2073525" algn="l"/>
                <a:tab pos="2488229" algn="l"/>
                <a:tab pos="2902935" algn="l"/>
                <a:tab pos="3317639" algn="l"/>
                <a:tab pos="3732344" algn="l"/>
                <a:tab pos="4147049" algn="l"/>
                <a:tab pos="4561754" algn="l"/>
                <a:tab pos="4976458" algn="l"/>
                <a:tab pos="5391164" algn="l"/>
                <a:tab pos="5805869" algn="l"/>
                <a:tab pos="6220574" algn="l"/>
                <a:tab pos="6635278" algn="l"/>
                <a:tab pos="7049983" algn="l"/>
                <a:tab pos="7464688" algn="l"/>
                <a:tab pos="7879393" algn="l"/>
                <a:tab pos="8294097" algn="l"/>
              </a:tabLst>
              <a:defRPr/>
            </a:pPr>
            <a:r>
              <a:rPr lang="en-US" altLang="it-IT" sz="3600" kern="0" dirty="0">
                <a:solidFill>
                  <a:srgbClr val="565656"/>
                </a:solidFill>
                <a:latin typeface="+mj-lt"/>
                <a:ea typeface="+mj-ea"/>
                <a:cs typeface="+mj-cs"/>
              </a:rPr>
              <a:t>Model battle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75F9666-6431-4E8C-9A8E-CFE098C0B372}"/>
              </a:ext>
            </a:extLst>
          </p:cNvPr>
          <p:cNvSpPr txBox="1"/>
          <p:nvPr/>
        </p:nvSpPr>
        <p:spPr>
          <a:xfrm>
            <a:off x="175246" y="6488535"/>
            <a:ext cx="6267524" cy="35195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it-IT" sz="1687" u="sng" dirty="0">
                <a:solidFill>
                  <a:schemeClr val="accent3"/>
                </a:solidFill>
              </a:rPr>
              <a:t>Valle et al. 2018 – </a:t>
            </a:r>
            <a:r>
              <a:rPr lang="it-IT" sz="1687" u="sng" dirty="0" err="1">
                <a:solidFill>
                  <a:schemeClr val="accent3"/>
                </a:solidFill>
              </a:rPr>
              <a:t>Neuron</a:t>
            </a:r>
            <a:endParaRPr lang="it-IT" sz="1687" u="sng" dirty="0">
              <a:solidFill>
                <a:schemeClr val="accent3"/>
              </a:solidFill>
            </a:endParaRPr>
          </a:p>
        </p:txBody>
      </p:sp>
      <p:pic>
        <p:nvPicPr>
          <p:cNvPr id="20484" name="Immagine 1">
            <a:extLst>
              <a:ext uri="{FF2B5EF4-FFF2-40B4-BE49-F238E27FC236}">
                <a16:creationId xmlns:a16="http://schemas.microsoft.com/office/drawing/2014/main" id="{A078EA55-EC95-409F-A12C-8614DBD663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51"/>
          <a:stretch>
            <a:fillRect/>
          </a:stretch>
        </p:blipFill>
        <p:spPr bwMode="auto">
          <a:xfrm>
            <a:off x="88181" y="839391"/>
            <a:ext cx="8955360" cy="335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5" name="Immagine 3">
            <a:extLst>
              <a:ext uri="{FF2B5EF4-FFF2-40B4-BE49-F238E27FC236}">
                <a16:creationId xmlns:a16="http://schemas.microsoft.com/office/drawing/2014/main" id="{C81E82DE-EC2C-4691-AD6F-0823108425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3643" y="3945806"/>
            <a:ext cx="7200677" cy="26152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25150549-0D82-4250-8BDD-CF07950ED132}"/>
              </a:ext>
            </a:extLst>
          </p:cNvPr>
          <p:cNvSpPr txBox="1">
            <a:spLocks noChangeArrowheads="1"/>
          </p:cNvSpPr>
          <p:nvPr/>
        </p:nvSpPr>
        <p:spPr>
          <a:xfrm>
            <a:off x="456531" y="273473"/>
            <a:ext cx="8227590" cy="1145232"/>
          </a:xfrm>
          <a:prstGeom prst="rect">
            <a:avLst/>
          </a:prstGeom>
        </p:spPr>
        <p:txBody>
          <a:bodyPr lIns="82945" tIns="35268" rIns="82945" bIns="41473"/>
          <a:lstStyle/>
          <a:p>
            <a:pPr defTabSz="914353">
              <a:tabLst>
                <a:tab pos="0" algn="l"/>
                <a:tab pos="414705" algn="l"/>
                <a:tab pos="829410" algn="l"/>
                <a:tab pos="1244114" algn="l"/>
                <a:tab pos="1658819" algn="l"/>
                <a:tab pos="2073525" algn="l"/>
                <a:tab pos="2488229" algn="l"/>
                <a:tab pos="2902935" algn="l"/>
                <a:tab pos="3317639" algn="l"/>
                <a:tab pos="3732344" algn="l"/>
                <a:tab pos="4147049" algn="l"/>
                <a:tab pos="4561754" algn="l"/>
                <a:tab pos="4976458" algn="l"/>
                <a:tab pos="5391164" algn="l"/>
                <a:tab pos="5805869" algn="l"/>
                <a:tab pos="6220574" algn="l"/>
                <a:tab pos="6635278" algn="l"/>
                <a:tab pos="7049983" algn="l"/>
                <a:tab pos="7464688" algn="l"/>
                <a:tab pos="7879393" algn="l"/>
                <a:tab pos="8294097" algn="l"/>
              </a:tabLst>
              <a:defRPr/>
            </a:pPr>
            <a:r>
              <a:rPr lang="en-US" altLang="it-IT" sz="3600" kern="0" dirty="0">
                <a:solidFill>
                  <a:srgbClr val="565656"/>
                </a:solidFill>
                <a:latin typeface="+mj-lt"/>
                <a:ea typeface="+mj-ea"/>
                <a:cs typeface="+mj-cs"/>
              </a:rPr>
              <a:t>Model battle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00C7F8E-71A3-4569-A8F4-C8E44173753B}"/>
              </a:ext>
            </a:extLst>
          </p:cNvPr>
          <p:cNvSpPr txBox="1"/>
          <p:nvPr/>
        </p:nvSpPr>
        <p:spPr>
          <a:xfrm>
            <a:off x="175246" y="6488535"/>
            <a:ext cx="6267524" cy="35195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it-IT" sz="1687" u="sng" dirty="0">
                <a:solidFill>
                  <a:schemeClr val="accent3"/>
                </a:solidFill>
              </a:rPr>
              <a:t>Valle et al. 2018 – </a:t>
            </a:r>
            <a:r>
              <a:rPr lang="it-IT" sz="1687" u="sng" dirty="0" err="1">
                <a:solidFill>
                  <a:schemeClr val="accent3"/>
                </a:solidFill>
              </a:rPr>
              <a:t>Neuron</a:t>
            </a:r>
            <a:endParaRPr lang="it-IT" sz="1687" u="sng" dirty="0">
              <a:solidFill>
                <a:schemeClr val="accent3"/>
              </a:solidFill>
            </a:endParaRPr>
          </a:p>
        </p:txBody>
      </p:sp>
      <p:pic>
        <p:nvPicPr>
          <p:cNvPr id="21508" name="Immagine 2">
            <a:extLst>
              <a:ext uri="{FF2B5EF4-FFF2-40B4-BE49-F238E27FC236}">
                <a16:creationId xmlns:a16="http://schemas.microsoft.com/office/drawing/2014/main" id="{A5DE3A6E-9456-4303-AD45-6A8CFF3F64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72"/>
          <a:stretch>
            <a:fillRect/>
          </a:stretch>
        </p:blipFill>
        <p:spPr bwMode="auto">
          <a:xfrm>
            <a:off x="5454924" y="1729011"/>
            <a:ext cx="3599780" cy="3226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9" name="Immagine 4">
            <a:extLst>
              <a:ext uri="{FF2B5EF4-FFF2-40B4-BE49-F238E27FC236}">
                <a16:creationId xmlns:a16="http://schemas.microsoft.com/office/drawing/2014/main" id="{9C460EBF-F8BE-45FC-B444-6FBFADAD0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7"/>
          <a:stretch>
            <a:fillRect/>
          </a:stretch>
        </p:blipFill>
        <p:spPr bwMode="auto">
          <a:xfrm>
            <a:off x="0" y="1566044"/>
            <a:ext cx="5595566" cy="350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84788AA2-7D56-499A-AA3D-CE487EBB8646}"/>
              </a:ext>
            </a:extLst>
          </p:cNvPr>
          <p:cNvSpPr txBox="1">
            <a:spLocks noChangeArrowheads="1"/>
          </p:cNvSpPr>
          <p:nvPr/>
        </p:nvSpPr>
        <p:spPr>
          <a:xfrm>
            <a:off x="456531" y="273473"/>
            <a:ext cx="8227590" cy="1145232"/>
          </a:xfrm>
          <a:prstGeom prst="rect">
            <a:avLst/>
          </a:prstGeom>
        </p:spPr>
        <p:txBody>
          <a:bodyPr lIns="82945" tIns="35268" rIns="82945" bIns="41473"/>
          <a:lstStyle/>
          <a:p>
            <a:pPr defTabSz="914353">
              <a:tabLst>
                <a:tab pos="0" algn="l"/>
                <a:tab pos="414705" algn="l"/>
                <a:tab pos="829410" algn="l"/>
                <a:tab pos="1244114" algn="l"/>
                <a:tab pos="1658819" algn="l"/>
                <a:tab pos="2073525" algn="l"/>
                <a:tab pos="2488229" algn="l"/>
                <a:tab pos="2902935" algn="l"/>
                <a:tab pos="3317639" algn="l"/>
                <a:tab pos="3732344" algn="l"/>
                <a:tab pos="4147049" algn="l"/>
                <a:tab pos="4561754" algn="l"/>
                <a:tab pos="4976458" algn="l"/>
                <a:tab pos="5391164" algn="l"/>
                <a:tab pos="5805869" algn="l"/>
                <a:tab pos="6220574" algn="l"/>
                <a:tab pos="6635278" algn="l"/>
                <a:tab pos="7049983" algn="l"/>
                <a:tab pos="7464688" algn="l"/>
                <a:tab pos="7879393" algn="l"/>
                <a:tab pos="8294097" algn="l"/>
              </a:tabLst>
              <a:defRPr/>
            </a:pPr>
            <a:r>
              <a:rPr lang="en-US" altLang="it-IT" sz="3600" kern="0" dirty="0">
                <a:solidFill>
                  <a:srgbClr val="565656"/>
                </a:solidFill>
                <a:latin typeface="+mj-lt"/>
                <a:ea typeface="+mj-ea"/>
                <a:cs typeface="+mj-cs"/>
              </a:rPr>
              <a:t>Model battle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6DA56376-F9BD-4877-B5B5-7887F872F447}"/>
              </a:ext>
            </a:extLst>
          </p:cNvPr>
          <p:cNvSpPr txBox="1"/>
          <p:nvPr/>
        </p:nvSpPr>
        <p:spPr>
          <a:xfrm>
            <a:off x="175246" y="6488535"/>
            <a:ext cx="6267524" cy="35195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it-IT" sz="1687" u="sng" dirty="0">
                <a:solidFill>
                  <a:schemeClr val="accent3"/>
                </a:solidFill>
              </a:rPr>
              <a:t>Valle et al. 2018 – </a:t>
            </a:r>
            <a:r>
              <a:rPr lang="it-IT" sz="1687" u="sng" dirty="0" err="1">
                <a:solidFill>
                  <a:schemeClr val="accent3"/>
                </a:solidFill>
              </a:rPr>
              <a:t>Neuron</a:t>
            </a:r>
            <a:endParaRPr lang="it-IT" sz="1687" u="sng" dirty="0">
              <a:solidFill>
                <a:schemeClr val="accent3"/>
              </a:solidFill>
            </a:endParaRPr>
          </a:p>
        </p:txBody>
      </p:sp>
      <p:pic>
        <p:nvPicPr>
          <p:cNvPr id="22532" name="Immagine 1">
            <a:extLst>
              <a:ext uri="{FF2B5EF4-FFF2-40B4-BE49-F238E27FC236}">
                <a16:creationId xmlns:a16="http://schemas.microsoft.com/office/drawing/2014/main" id="{2B9383BC-CF99-4B14-A4AB-75ABE9BB69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875" y="1026914"/>
            <a:ext cx="7440662" cy="5442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7F71D180-2D12-4F7E-A83E-CD2CA980EF1D}"/>
              </a:ext>
            </a:extLst>
          </p:cNvPr>
          <p:cNvSpPr txBox="1">
            <a:spLocks noChangeArrowheads="1"/>
          </p:cNvSpPr>
          <p:nvPr/>
        </p:nvSpPr>
        <p:spPr>
          <a:xfrm>
            <a:off x="456531" y="273473"/>
            <a:ext cx="8227590" cy="1145232"/>
          </a:xfrm>
          <a:prstGeom prst="rect">
            <a:avLst/>
          </a:prstGeom>
        </p:spPr>
        <p:txBody>
          <a:bodyPr lIns="82945" tIns="35268" rIns="82945" bIns="41473"/>
          <a:lstStyle/>
          <a:p>
            <a:pPr defTabSz="914353">
              <a:tabLst>
                <a:tab pos="0" algn="l"/>
                <a:tab pos="414705" algn="l"/>
                <a:tab pos="829410" algn="l"/>
                <a:tab pos="1244114" algn="l"/>
                <a:tab pos="1658819" algn="l"/>
                <a:tab pos="2073525" algn="l"/>
                <a:tab pos="2488229" algn="l"/>
                <a:tab pos="2902935" algn="l"/>
                <a:tab pos="3317639" algn="l"/>
                <a:tab pos="3732344" algn="l"/>
                <a:tab pos="4147049" algn="l"/>
                <a:tab pos="4561754" algn="l"/>
                <a:tab pos="4976458" algn="l"/>
                <a:tab pos="5391164" algn="l"/>
                <a:tab pos="5805869" algn="l"/>
                <a:tab pos="6220574" algn="l"/>
                <a:tab pos="6635278" algn="l"/>
                <a:tab pos="7049983" algn="l"/>
                <a:tab pos="7464688" algn="l"/>
                <a:tab pos="7879393" algn="l"/>
                <a:tab pos="8294097" algn="l"/>
              </a:tabLst>
              <a:defRPr/>
            </a:pPr>
            <a:r>
              <a:rPr lang="en-US" altLang="it-IT" sz="3600" kern="0" dirty="0">
                <a:solidFill>
                  <a:srgbClr val="565656"/>
                </a:solidFill>
                <a:latin typeface="+mj-lt"/>
                <a:ea typeface="+mj-ea"/>
                <a:cs typeface="+mj-cs"/>
              </a:rPr>
              <a:t>Model battle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92C085A-9DDF-4DBB-9402-AFB3D54F2399}"/>
              </a:ext>
            </a:extLst>
          </p:cNvPr>
          <p:cNvSpPr txBox="1"/>
          <p:nvPr/>
        </p:nvSpPr>
        <p:spPr>
          <a:xfrm>
            <a:off x="175246" y="6488535"/>
            <a:ext cx="6267524" cy="35195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it-IT" sz="1687" u="sng" dirty="0">
                <a:solidFill>
                  <a:schemeClr val="accent3"/>
                </a:solidFill>
              </a:rPr>
              <a:t>Valle et al. 2018 – </a:t>
            </a:r>
            <a:r>
              <a:rPr lang="it-IT" sz="1687" u="sng" dirty="0" err="1">
                <a:solidFill>
                  <a:schemeClr val="accent3"/>
                </a:solidFill>
              </a:rPr>
              <a:t>Neuron</a:t>
            </a:r>
            <a:endParaRPr lang="it-IT" sz="1687" u="sng" dirty="0">
              <a:solidFill>
                <a:schemeClr val="accent3"/>
              </a:solidFill>
            </a:endParaRPr>
          </a:p>
        </p:txBody>
      </p:sp>
      <p:pic>
        <p:nvPicPr>
          <p:cNvPr id="23556" name="Immagine 2">
            <a:extLst>
              <a:ext uri="{FF2B5EF4-FFF2-40B4-BE49-F238E27FC236}">
                <a16:creationId xmlns:a16="http://schemas.microsoft.com/office/drawing/2014/main" id="{29F2A4CC-4E11-46CC-9CA1-556BFCDB73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33" y="944314"/>
            <a:ext cx="8023324" cy="4040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7" name="Immagine 3">
            <a:extLst>
              <a:ext uri="{FF2B5EF4-FFF2-40B4-BE49-F238E27FC236}">
                <a16:creationId xmlns:a16="http://schemas.microsoft.com/office/drawing/2014/main" id="{8A8929A5-887F-4FB0-B503-E9DED49D2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5818" y="3224734"/>
            <a:ext cx="5400229" cy="2895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8" name="Immagine 4">
            <a:extLst>
              <a:ext uri="{FF2B5EF4-FFF2-40B4-BE49-F238E27FC236}">
                <a16:creationId xmlns:a16="http://schemas.microsoft.com/office/drawing/2014/main" id="{6DD4E262-82A8-4F4C-B56D-39EF0A2691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2" t="17365" b="4739"/>
          <a:stretch>
            <a:fillRect/>
          </a:stretch>
        </p:blipFill>
        <p:spPr bwMode="auto">
          <a:xfrm>
            <a:off x="24556" y="4759524"/>
            <a:ext cx="3013770" cy="1647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EAD0C1AB-7918-4809-AB57-2DB16DA013E2}"/>
              </a:ext>
            </a:extLst>
          </p:cNvPr>
          <p:cNvSpPr txBox="1">
            <a:spLocks noChangeArrowheads="1"/>
          </p:cNvSpPr>
          <p:nvPr/>
        </p:nvSpPr>
        <p:spPr>
          <a:xfrm>
            <a:off x="456531" y="273473"/>
            <a:ext cx="8227590" cy="1145232"/>
          </a:xfrm>
          <a:prstGeom prst="rect">
            <a:avLst/>
          </a:prstGeom>
        </p:spPr>
        <p:txBody>
          <a:bodyPr lIns="82945" tIns="35268" rIns="82945" bIns="41473"/>
          <a:lstStyle/>
          <a:p>
            <a:pPr defTabSz="914353">
              <a:tabLst>
                <a:tab pos="0" algn="l"/>
                <a:tab pos="414705" algn="l"/>
                <a:tab pos="829410" algn="l"/>
                <a:tab pos="1244114" algn="l"/>
                <a:tab pos="1658819" algn="l"/>
                <a:tab pos="2073525" algn="l"/>
                <a:tab pos="2488229" algn="l"/>
                <a:tab pos="2902935" algn="l"/>
                <a:tab pos="3317639" algn="l"/>
                <a:tab pos="3732344" algn="l"/>
                <a:tab pos="4147049" algn="l"/>
                <a:tab pos="4561754" algn="l"/>
                <a:tab pos="4976458" algn="l"/>
                <a:tab pos="5391164" algn="l"/>
                <a:tab pos="5805869" algn="l"/>
                <a:tab pos="6220574" algn="l"/>
                <a:tab pos="6635278" algn="l"/>
                <a:tab pos="7049983" algn="l"/>
                <a:tab pos="7464688" algn="l"/>
                <a:tab pos="7879393" algn="l"/>
                <a:tab pos="8294097" algn="l"/>
              </a:tabLst>
              <a:defRPr/>
            </a:pPr>
            <a:r>
              <a:rPr lang="en-US" altLang="it-IT" sz="3600" kern="0" dirty="0">
                <a:solidFill>
                  <a:srgbClr val="565656"/>
                </a:solidFill>
                <a:latin typeface="+mj-lt"/>
                <a:ea typeface="+mj-ea"/>
                <a:cs typeface="+mj-cs"/>
              </a:rPr>
              <a:t>Interface model step by step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7CE0F6D-4C3B-4064-A53A-195910BCF6D7}"/>
              </a:ext>
            </a:extLst>
          </p:cNvPr>
          <p:cNvSpPr txBox="1"/>
          <p:nvPr/>
        </p:nvSpPr>
        <p:spPr>
          <a:xfrm>
            <a:off x="175246" y="6488535"/>
            <a:ext cx="6267524" cy="35195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it-IT" sz="1687" u="sng" dirty="0">
                <a:solidFill>
                  <a:schemeClr val="accent3"/>
                </a:solidFill>
              </a:rPr>
              <a:t>Romeni et al 2020 - Nature </a:t>
            </a:r>
            <a:r>
              <a:rPr lang="it-IT" sz="1687" u="sng" dirty="0" err="1">
                <a:solidFill>
                  <a:schemeClr val="accent3"/>
                </a:solidFill>
              </a:rPr>
              <a:t>Protocols</a:t>
            </a:r>
            <a:endParaRPr lang="it-IT" sz="1687" u="sng" dirty="0">
              <a:solidFill>
                <a:schemeClr val="accent3"/>
              </a:solidFill>
            </a:endParaRPr>
          </a:p>
        </p:txBody>
      </p:sp>
      <p:pic>
        <p:nvPicPr>
          <p:cNvPr id="24580" name="Immagine 2">
            <a:extLst>
              <a:ext uri="{FF2B5EF4-FFF2-40B4-BE49-F238E27FC236}">
                <a16:creationId xmlns:a16="http://schemas.microsoft.com/office/drawing/2014/main" id="{4629DDB0-DE20-417C-9E54-EAF179CC14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985"/>
          <a:stretch>
            <a:fillRect/>
          </a:stretch>
        </p:blipFill>
        <p:spPr bwMode="auto">
          <a:xfrm>
            <a:off x="1281410" y="847205"/>
            <a:ext cx="7207374" cy="2986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1" name="Immagine 2">
            <a:extLst>
              <a:ext uri="{FF2B5EF4-FFF2-40B4-BE49-F238E27FC236}">
                <a16:creationId xmlns:a16="http://schemas.microsoft.com/office/drawing/2014/main" id="{096F74F5-2D76-405B-9AE8-A506600AF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748" b="25742"/>
          <a:stretch>
            <a:fillRect/>
          </a:stretch>
        </p:blipFill>
        <p:spPr bwMode="auto">
          <a:xfrm>
            <a:off x="6698" y="4391174"/>
            <a:ext cx="9173021" cy="708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464DDDE8-6872-45BC-B72D-C7795A0AB6FB}"/>
              </a:ext>
            </a:extLst>
          </p:cNvPr>
          <p:cNvSpPr txBox="1">
            <a:spLocks noChangeArrowheads="1"/>
          </p:cNvSpPr>
          <p:nvPr/>
        </p:nvSpPr>
        <p:spPr>
          <a:xfrm>
            <a:off x="456531" y="273473"/>
            <a:ext cx="8227590" cy="1145232"/>
          </a:xfrm>
          <a:prstGeom prst="rect">
            <a:avLst/>
          </a:prstGeom>
        </p:spPr>
        <p:txBody>
          <a:bodyPr lIns="82945" tIns="35268" rIns="82945" bIns="41473"/>
          <a:lstStyle/>
          <a:p>
            <a:pPr defTabSz="914353">
              <a:tabLst>
                <a:tab pos="0" algn="l"/>
                <a:tab pos="414705" algn="l"/>
                <a:tab pos="829410" algn="l"/>
                <a:tab pos="1244114" algn="l"/>
                <a:tab pos="1658819" algn="l"/>
                <a:tab pos="2073525" algn="l"/>
                <a:tab pos="2488229" algn="l"/>
                <a:tab pos="2902935" algn="l"/>
                <a:tab pos="3317639" algn="l"/>
                <a:tab pos="3732344" algn="l"/>
                <a:tab pos="4147049" algn="l"/>
                <a:tab pos="4561754" algn="l"/>
                <a:tab pos="4976458" algn="l"/>
                <a:tab pos="5391164" algn="l"/>
                <a:tab pos="5805869" algn="l"/>
                <a:tab pos="6220574" algn="l"/>
                <a:tab pos="6635278" algn="l"/>
                <a:tab pos="7049983" algn="l"/>
                <a:tab pos="7464688" algn="l"/>
                <a:tab pos="7879393" algn="l"/>
                <a:tab pos="8294097" algn="l"/>
              </a:tabLst>
              <a:defRPr/>
            </a:pPr>
            <a:r>
              <a:rPr lang="en-US" altLang="it-IT" sz="3600" kern="0" dirty="0">
                <a:solidFill>
                  <a:srgbClr val="565656"/>
                </a:solidFill>
                <a:latin typeface="+mj-lt"/>
                <a:ea typeface="+mj-ea"/>
                <a:cs typeface="+mj-cs"/>
              </a:rPr>
              <a:t>Neural geometry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D9FFB31-6B4E-433B-B6C8-FA6467B6AED3}"/>
              </a:ext>
            </a:extLst>
          </p:cNvPr>
          <p:cNvSpPr txBox="1"/>
          <p:nvPr/>
        </p:nvSpPr>
        <p:spPr>
          <a:xfrm>
            <a:off x="175246" y="6488535"/>
            <a:ext cx="6267524" cy="35195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it-IT" sz="1687" u="sng" dirty="0">
                <a:solidFill>
                  <a:schemeClr val="accent3"/>
                </a:solidFill>
              </a:rPr>
              <a:t>Romeni et al 2020 - Nature </a:t>
            </a:r>
            <a:r>
              <a:rPr lang="it-IT" sz="1687" u="sng" dirty="0" err="1">
                <a:solidFill>
                  <a:schemeClr val="accent3"/>
                </a:solidFill>
              </a:rPr>
              <a:t>Protocols</a:t>
            </a:r>
            <a:endParaRPr lang="it-IT" sz="1687" u="sng" dirty="0">
              <a:solidFill>
                <a:schemeClr val="accent3"/>
              </a:solidFill>
            </a:endParaRPr>
          </a:p>
        </p:txBody>
      </p:sp>
      <p:pic>
        <p:nvPicPr>
          <p:cNvPr id="25604" name="Immagine 3">
            <a:extLst>
              <a:ext uri="{FF2B5EF4-FFF2-40B4-BE49-F238E27FC236}">
                <a16:creationId xmlns:a16="http://schemas.microsoft.com/office/drawing/2014/main" id="{121BEE84-0F52-4278-9E7E-15BA080029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4"/>
          <a:stretch>
            <a:fillRect/>
          </a:stretch>
        </p:blipFill>
        <p:spPr bwMode="auto">
          <a:xfrm>
            <a:off x="175245" y="1289224"/>
            <a:ext cx="8790161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58D39C1C-3A60-4634-AFCB-BC97975F93DF}"/>
              </a:ext>
            </a:extLst>
          </p:cNvPr>
          <p:cNvSpPr txBox="1">
            <a:spLocks noChangeArrowheads="1"/>
          </p:cNvSpPr>
          <p:nvPr/>
        </p:nvSpPr>
        <p:spPr>
          <a:xfrm>
            <a:off x="456531" y="273473"/>
            <a:ext cx="8227590" cy="1145232"/>
          </a:xfrm>
          <a:prstGeom prst="rect">
            <a:avLst/>
          </a:prstGeom>
        </p:spPr>
        <p:txBody>
          <a:bodyPr lIns="82945" tIns="35268" rIns="82945" bIns="41473"/>
          <a:lstStyle/>
          <a:p>
            <a:pPr defTabSz="914353">
              <a:tabLst>
                <a:tab pos="0" algn="l"/>
                <a:tab pos="414705" algn="l"/>
                <a:tab pos="829410" algn="l"/>
                <a:tab pos="1244114" algn="l"/>
                <a:tab pos="1658819" algn="l"/>
                <a:tab pos="2073525" algn="l"/>
                <a:tab pos="2488229" algn="l"/>
                <a:tab pos="2902935" algn="l"/>
                <a:tab pos="3317639" algn="l"/>
                <a:tab pos="3732344" algn="l"/>
                <a:tab pos="4147049" algn="l"/>
                <a:tab pos="4561754" algn="l"/>
                <a:tab pos="4976458" algn="l"/>
                <a:tab pos="5391164" algn="l"/>
                <a:tab pos="5805869" algn="l"/>
                <a:tab pos="6220574" algn="l"/>
                <a:tab pos="6635278" algn="l"/>
                <a:tab pos="7049983" algn="l"/>
                <a:tab pos="7464688" algn="l"/>
                <a:tab pos="7879393" algn="l"/>
                <a:tab pos="8294097" algn="l"/>
              </a:tabLst>
              <a:defRPr/>
            </a:pPr>
            <a:r>
              <a:rPr lang="en-US" altLang="it-IT" sz="3600" kern="0" dirty="0">
                <a:solidFill>
                  <a:srgbClr val="565656"/>
                </a:solidFill>
                <a:latin typeface="+mj-lt"/>
                <a:ea typeface="+mj-ea"/>
                <a:cs typeface="+mj-cs"/>
              </a:rPr>
              <a:t>Histology 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73EBFBD-9D16-4150-8B25-C6690AFE7A3E}"/>
              </a:ext>
            </a:extLst>
          </p:cNvPr>
          <p:cNvSpPr txBox="1"/>
          <p:nvPr/>
        </p:nvSpPr>
        <p:spPr>
          <a:xfrm>
            <a:off x="175246" y="6488535"/>
            <a:ext cx="6267524" cy="35195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it-IT" sz="1687" u="sng" dirty="0">
                <a:solidFill>
                  <a:schemeClr val="accent3"/>
                </a:solidFill>
              </a:rPr>
              <a:t>Romeni et al 2020 - Nature </a:t>
            </a:r>
            <a:r>
              <a:rPr lang="it-IT" sz="1687" u="sng" dirty="0" err="1">
                <a:solidFill>
                  <a:schemeClr val="accent3"/>
                </a:solidFill>
              </a:rPr>
              <a:t>Protocols</a:t>
            </a:r>
            <a:endParaRPr lang="it-IT" sz="1687" u="sng" dirty="0">
              <a:solidFill>
                <a:schemeClr val="accent3"/>
              </a:solidFill>
            </a:endParaRPr>
          </a:p>
        </p:txBody>
      </p:sp>
      <p:pic>
        <p:nvPicPr>
          <p:cNvPr id="26628" name="Immagine 2">
            <a:extLst>
              <a:ext uri="{FF2B5EF4-FFF2-40B4-BE49-F238E27FC236}">
                <a16:creationId xmlns:a16="http://schemas.microsoft.com/office/drawing/2014/main" id="{2226537C-68A4-4512-A647-DED561B2E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2" y="1259086"/>
            <a:ext cx="9023449" cy="3971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7929AA72-1B3D-4E21-8138-061287F901E2}"/>
              </a:ext>
            </a:extLst>
          </p:cNvPr>
          <p:cNvSpPr txBox="1">
            <a:spLocks noChangeArrowheads="1"/>
          </p:cNvSpPr>
          <p:nvPr/>
        </p:nvSpPr>
        <p:spPr>
          <a:xfrm>
            <a:off x="456531" y="273473"/>
            <a:ext cx="8227590" cy="1145232"/>
          </a:xfrm>
          <a:prstGeom prst="rect">
            <a:avLst/>
          </a:prstGeom>
        </p:spPr>
        <p:txBody>
          <a:bodyPr lIns="82945" tIns="35268" rIns="82945" bIns="41473"/>
          <a:lstStyle/>
          <a:p>
            <a:pPr defTabSz="914353">
              <a:tabLst>
                <a:tab pos="0" algn="l"/>
                <a:tab pos="414705" algn="l"/>
                <a:tab pos="829410" algn="l"/>
                <a:tab pos="1244114" algn="l"/>
                <a:tab pos="1658819" algn="l"/>
                <a:tab pos="2073525" algn="l"/>
                <a:tab pos="2488229" algn="l"/>
                <a:tab pos="2902935" algn="l"/>
                <a:tab pos="3317639" algn="l"/>
                <a:tab pos="3732344" algn="l"/>
                <a:tab pos="4147049" algn="l"/>
                <a:tab pos="4561754" algn="l"/>
                <a:tab pos="4976458" algn="l"/>
                <a:tab pos="5391164" algn="l"/>
                <a:tab pos="5805869" algn="l"/>
                <a:tab pos="6220574" algn="l"/>
                <a:tab pos="6635278" algn="l"/>
                <a:tab pos="7049983" algn="l"/>
                <a:tab pos="7464688" algn="l"/>
                <a:tab pos="7879393" algn="l"/>
                <a:tab pos="8294097" algn="l"/>
              </a:tabLst>
              <a:defRPr/>
            </a:pPr>
            <a:r>
              <a:rPr lang="en-US" altLang="it-IT" sz="3600" kern="0" dirty="0">
                <a:solidFill>
                  <a:srgbClr val="565656"/>
                </a:solidFill>
                <a:latin typeface="+mj-lt"/>
                <a:ea typeface="+mj-ea"/>
                <a:cs typeface="+mj-cs"/>
              </a:rPr>
              <a:t>Segmentation 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B8D5D83-FC8D-4B76-BD33-26FB5E4E4753}"/>
              </a:ext>
            </a:extLst>
          </p:cNvPr>
          <p:cNvSpPr txBox="1"/>
          <p:nvPr/>
        </p:nvSpPr>
        <p:spPr>
          <a:xfrm>
            <a:off x="175246" y="6488535"/>
            <a:ext cx="6267524" cy="35195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it-IT" sz="1687" u="sng" dirty="0">
                <a:solidFill>
                  <a:schemeClr val="accent3"/>
                </a:solidFill>
              </a:rPr>
              <a:t>Romeni et al 2020 - Nature </a:t>
            </a:r>
            <a:r>
              <a:rPr lang="it-IT" sz="1687" u="sng" dirty="0" err="1">
                <a:solidFill>
                  <a:schemeClr val="accent3"/>
                </a:solidFill>
              </a:rPr>
              <a:t>Protocols</a:t>
            </a:r>
            <a:endParaRPr lang="it-IT" sz="1687" u="sng" dirty="0">
              <a:solidFill>
                <a:schemeClr val="accent3"/>
              </a:solidFill>
            </a:endParaRPr>
          </a:p>
        </p:txBody>
      </p:sp>
      <p:pic>
        <p:nvPicPr>
          <p:cNvPr id="27652" name="Immagine 3">
            <a:extLst>
              <a:ext uri="{FF2B5EF4-FFF2-40B4-BE49-F238E27FC236}">
                <a16:creationId xmlns:a16="http://schemas.microsoft.com/office/drawing/2014/main" id="{FDEF4DF5-886E-4E5B-81E5-F3F47FA63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3445" y="1110631"/>
            <a:ext cx="7294438" cy="5476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461CAC3F-A642-44BF-A4CA-26111CA98241}"/>
              </a:ext>
            </a:extLst>
          </p:cNvPr>
          <p:cNvSpPr txBox="1">
            <a:spLocks noChangeArrowheads="1"/>
          </p:cNvSpPr>
          <p:nvPr/>
        </p:nvSpPr>
        <p:spPr>
          <a:xfrm>
            <a:off x="456531" y="273473"/>
            <a:ext cx="8227590" cy="1145232"/>
          </a:xfrm>
          <a:prstGeom prst="rect">
            <a:avLst/>
          </a:prstGeom>
        </p:spPr>
        <p:txBody>
          <a:bodyPr lIns="82945" tIns="35268" rIns="82945" bIns="41473"/>
          <a:lstStyle/>
          <a:p>
            <a:pPr defTabSz="914353">
              <a:tabLst>
                <a:tab pos="0" algn="l"/>
                <a:tab pos="414705" algn="l"/>
                <a:tab pos="829410" algn="l"/>
                <a:tab pos="1244114" algn="l"/>
                <a:tab pos="1658819" algn="l"/>
                <a:tab pos="2073525" algn="l"/>
                <a:tab pos="2488229" algn="l"/>
                <a:tab pos="2902935" algn="l"/>
                <a:tab pos="3317639" algn="l"/>
                <a:tab pos="3732344" algn="l"/>
                <a:tab pos="4147049" algn="l"/>
                <a:tab pos="4561754" algn="l"/>
                <a:tab pos="4976458" algn="l"/>
                <a:tab pos="5391164" algn="l"/>
                <a:tab pos="5805869" algn="l"/>
                <a:tab pos="6220574" algn="l"/>
                <a:tab pos="6635278" algn="l"/>
                <a:tab pos="7049983" algn="l"/>
                <a:tab pos="7464688" algn="l"/>
                <a:tab pos="7879393" algn="l"/>
                <a:tab pos="8294097" algn="l"/>
              </a:tabLst>
              <a:defRPr/>
            </a:pPr>
            <a:r>
              <a:rPr lang="en-US" altLang="it-IT" sz="3600" kern="0" dirty="0">
                <a:solidFill>
                  <a:srgbClr val="565656"/>
                </a:solidFill>
                <a:latin typeface="+mj-lt"/>
                <a:ea typeface="+mj-ea"/>
                <a:cs typeface="+mj-cs"/>
              </a:rPr>
              <a:t>Interface geometry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8F620BA-B8EE-4E57-AC41-B9AC8F537245}"/>
              </a:ext>
            </a:extLst>
          </p:cNvPr>
          <p:cNvSpPr txBox="1"/>
          <p:nvPr/>
        </p:nvSpPr>
        <p:spPr>
          <a:xfrm>
            <a:off x="175246" y="6488535"/>
            <a:ext cx="6267524" cy="35195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it-IT" sz="1687" u="sng" dirty="0">
                <a:solidFill>
                  <a:schemeClr val="accent3"/>
                </a:solidFill>
              </a:rPr>
              <a:t>Romeni et al 2020 - Nature </a:t>
            </a:r>
            <a:r>
              <a:rPr lang="it-IT" sz="1687" u="sng" dirty="0" err="1">
                <a:solidFill>
                  <a:schemeClr val="accent3"/>
                </a:solidFill>
              </a:rPr>
              <a:t>Protocols</a:t>
            </a:r>
            <a:endParaRPr lang="it-IT" sz="1687" u="sng" dirty="0">
              <a:solidFill>
                <a:schemeClr val="accent3"/>
              </a:solidFill>
            </a:endParaRPr>
          </a:p>
        </p:txBody>
      </p:sp>
      <p:pic>
        <p:nvPicPr>
          <p:cNvPr id="28676" name="Immagine 2">
            <a:extLst>
              <a:ext uri="{FF2B5EF4-FFF2-40B4-BE49-F238E27FC236}">
                <a16:creationId xmlns:a16="http://schemas.microsoft.com/office/drawing/2014/main" id="{39DBD722-E175-46FD-8C4B-8FBF168AF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891" y="1049238"/>
            <a:ext cx="4482703" cy="2126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7" name="Immagine 6">
            <a:extLst>
              <a:ext uri="{FF2B5EF4-FFF2-40B4-BE49-F238E27FC236}">
                <a16:creationId xmlns:a16="http://schemas.microsoft.com/office/drawing/2014/main" id="{06B2E8AB-CB91-4C4A-88E0-650562D4A9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7783" y="402953"/>
            <a:ext cx="2912195" cy="2671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8" name="Immagine 8">
            <a:extLst>
              <a:ext uri="{FF2B5EF4-FFF2-40B4-BE49-F238E27FC236}">
                <a16:creationId xmlns:a16="http://schemas.microsoft.com/office/drawing/2014/main" id="{F3084DBE-7BA9-4CCB-B21A-05FD1834ED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3226966"/>
            <a:ext cx="3087439" cy="2989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9" name="Immagine 11">
            <a:extLst>
              <a:ext uri="{FF2B5EF4-FFF2-40B4-BE49-F238E27FC236}">
                <a16:creationId xmlns:a16="http://schemas.microsoft.com/office/drawing/2014/main" id="{548A67AB-57A9-4A71-A6C6-8A23E4EE5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9458" y="3125391"/>
            <a:ext cx="6235154" cy="261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934FA0A8-9973-4BD3-9F09-A06A40346A26}"/>
              </a:ext>
            </a:extLst>
          </p:cNvPr>
          <p:cNvSpPr txBox="1">
            <a:spLocks noChangeArrowheads="1"/>
          </p:cNvSpPr>
          <p:nvPr/>
        </p:nvSpPr>
        <p:spPr>
          <a:xfrm>
            <a:off x="456531" y="273473"/>
            <a:ext cx="8227590" cy="1145232"/>
          </a:xfrm>
          <a:prstGeom prst="rect">
            <a:avLst/>
          </a:prstGeom>
        </p:spPr>
        <p:txBody>
          <a:bodyPr lIns="82945" tIns="35268" rIns="82945" bIns="41473"/>
          <a:lstStyle/>
          <a:p>
            <a:pPr defTabSz="914353">
              <a:tabLst>
                <a:tab pos="0" algn="l"/>
                <a:tab pos="414705" algn="l"/>
                <a:tab pos="829410" algn="l"/>
                <a:tab pos="1244114" algn="l"/>
                <a:tab pos="1658819" algn="l"/>
                <a:tab pos="2073525" algn="l"/>
                <a:tab pos="2488229" algn="l"/>
                <a:tab pos="2902935" algn="l"/>
                <a:tab pos="3317639" algn="l"/>
                <a:tab pos="3732344" algn="l"/>
                <a:tab pos="4147049" algn="l"/>
                <a:tab pos="4561754" algn="l"/>
                <a:tab pos="4976458" algn="l"/>
                <a:tab pos="5391164" algn="l"/>
                <a:tab pos="5805869" algn="l"/>
                <a:tab pos="6220574" algn="l"/>
                <a:tab pos="6635278" algn="l"/>
                <a:tab pos="7049983" algn="l"/>
                <a:tab pos="7464688" algn="l"/>
                <a:tab pos="7879393" algn="l"/>
                <a:tab pos="8294097" algn="l"/>
              </a:tabLst>
              <a:defRPr/>
            </a:pPr>
            <a:r>
              <a:rPr lang="en-US" altLang="it-IT" sz="3600" kern="0" dirty="0">
                <a:solidFill>
                  <a:srgbClr val="565656"/>
                </a:solidFill>
                <a:latin typeface="+mj-lt"/>
                <a:ea typeface="+mj-ea"/>
                <a:cs typeface="+mj-cs"/>
              </a:rPr>
              <a:t>Reshaping 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118ADB0-1B51-4580-A72B-ED7A0601F0F1}"/>
              </a:ext>
            </a:extLst>
          </p:cNvPr>
          <p:cNvSpPr txBox="1"/>
          <p:nvPr/>
        </p:nvSpPr>
        <p:spPr>
          <a:xfrm>
            <a:off x="175246" y="6488535"/>
            <a:ext cx="6267524" cy="35195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it-IT" sz="1687" u="sng" dirty="0">
                <a:solidFill>
                  <a:schemeClr val="accent3"/>
                </a:solidFill>
              </a:rPr>
              <a:t>Romeni et al 2020 - Nature </a:t>
            </a:r>
            <a:r>
              <a:rPr lang="it-IT" sz="1687" u="sng" dirty="0" err="1">
                <a:solidFill>
                  <a:schemeClr val="accent3"/>
                </a:solidFill>
              </a:rPr>
              <a:t>Protocols</a:t>
            </a:r>
            <a:endParaRPr lang="it-IT" sz="1687" u="sng" dirty="0">
              <a:solidFill>
                <a:schemeClr val="accent3"/>
              </a:solidFill>
            </a:endParaRPr>
          </a:p>
        </p:txBody>
      </p:sp>
      <p:pic>
        <p:nvPicPr>
          <p:cNvPr id="29700" name="Immagine 2">
            <a:extLst>
              <a:ext uri="{FF2B5EF4-FFF2-40B4-BE49-F238E27FC236}">
                <a16:creationId xmlns:a16="http://schemas.microsoft.com/office/drawing/2014/main" id="{7D8A076F-3E6A-4821-836E-3F0C7C65BF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410" y="1049238"/>
            <a:ext cx="6221760" cy="25315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1" name="Immagine 6">
            <a:extLst>
              <a:ext uri="{FF2B5EF4-FFF2-40B4-BE49-F238E27FC236}">
                <a16:creationId xmlns:a16="http://schemas.microsoft.com/office/drawing/2014/main" id="{FFECD110-1F0F-4B7A-A9DF-F8DA96F4E1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171" y="3828604"/>
            <a:ext cx="6764238" cy="2739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Immagine 7">
            <a:extLst>
              <a:ext uri="{FF2B5EF4-FFF2-40B4-BE49-F238E27FC236}">
                <a16:creationId xmlns:a16="http://schemas.microsoft.com/office/drawing/2014/main" id="{EE9F6F48-03F7-4726-890D-812AE17C4E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2990" y="1034728"/>
            <a:ext cx="3455789" cy="3924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4E63143F-9922-4CE8-BF25-D3A05F68B25E}"/>
              </a:ext>
            </a:extLst>
          </p:cNvPr>
          <p:cNvSpPr txBox="1">
            <a:spLocks noChangeArrowheads="1"/>
          </p:cNvSpPr>
          <p:nvPr/>
        </p:nvSpPr>
        <p:spPr>
          <a:xfrm>
            <a:off x="456531" y="273473"/>
            <a:ext cx="8227590" cy="1145232"/>
          </a:xfrm>
          <a:prstGeom prst="rect">
            <a:avLst/>
          </a:prstGeom>
        </p:spPr>
        <p:txBody>
          <a:bodyPr lIns="82945" tIns="35268" rIns="82945" bIns="41473"/>
          <a:lstStyle/>
          <a:p>
            <a:pPr defTabSz="914353">
              <a:tabLst>
                <a:tab pos="0" algn="l"/>
                <a:tab pos="414705" algn="l"/>
                <a:tab pos="829410" algn="l"/>
                <a:tab pos="1244114" algn="l"/>
                <a:tab pos="1658819" algn="l"/>
                <a:tab pos="2073525" algn="l"/>
                <a:tab pos="2488229" algn="l"/>
                <a:tab pos="2902935" algn="l"/>
                <a:tab pos="3317639" algn="l"/>
                <a:tab pos="3732344" algn="l"/>
                <a:tab pos="4147049" algn="l"/>
                <a:tab pos="4561754" algn="l"/>
                <a:tab pos="4976458" algn="l"/>
                <a:tab pos="5391164" algn="l"/>
                <a:tab pos="5805869" algn="l"/>
                <a:tab pos="6220574" algn="l"/>
                <a:tab pos="6635278" algn="l"/>
                <a:tab pos="7049983" algn="l"/>
                <a:tab pos="7464688" algn="l"/>
                <a:tab pos="7879393" algn="l"/>
                <a:tab pos="8294097" algn="l"/>
              </a:tabLst>
              <a:defRPr/>
            </a:pPr>
            <a:r>
              <a:rPr lang="en-US" altLang="it-IT" sz="3600" kern="0" dirty="0">
                <a:solidFill>
                  <a:srgbClr val="565656"/>
                </a:solidFill>
                <a:latin typeface="+mj-lt"/>
                <a:ea typeface="+mj-ea"/>
                <a:cs typeface="+mj-cs"/>
              </a:rPr>
              <a:t>Volume of Tissue Activated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9DD5EA0-05B7-4EFF-A0D9-88650AA86CF4}"/>
              </a:ext>
            </a:extLst>
          </p:cNvPr>
          <p:cNvSpPr txBox="1"/>
          <p:nvPr/>
        </p:nvSpPr>
        <p:spPr>
          <a:xfrm>
            <a:off x="175246" y="6488535"/>
            <a:ext cx="6267524" cy="35195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it-IT" sz="1687" u="sng" dirty="0">
                <a:solidFill>
                  <a:schemeClr val="accent3"/>
                </a:solidFill>
              </a:rPr>
              <a:t>Romeni et al 2020 - Nature </a:t>
            </a:r>
            <a:r>
              <a:rPr lang="it-IT" sz="1687" u="sng" dirty="0" err="1">
                <a:solidFill>
                  <a:schemeClr val="accent3"/>
                </a:solidFill>
              </a:rPr>
              <a:t>Protocols</a:t>
            </a:r>
            <a:endParaRPr lang="it-IT" sz="1687" u="sng" dirty="0">
              <a:solidFill>
                <a:schemeClr val="accent3"/>
              </a:solidFill>
            </a:endParaRPr>
          </a:p>
        </p:txBody>
      </p:sp>
      <p:pic>
        <p:nvPicPr>
          <p:cNvPr id="30725" name="Immagine 3">
            <a:extLst>
              <a:ext uri="{FF2B5EF4-FFF2-40B4-BE49-F238E27FC236}">
                <a16:creationId xmlns:a16="http://schemas.microsoft.com/office/drawing/2014/main" id="{8A4A5424-F1F8-417B-B48C-298AEAAAA1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466" y="1064865"/>
            <a:ext cx="3080742" cy="2364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6" name="Immagine 12">
            <a:extLst>
              <a:ext uri="{FF2B5EF4-FFF2-40B4-BE49-F238E27FC236}">
                <a16:creationId xmlns:a16="http://schemas.microsoft.com/office/drawing/2014/main" id="{A7A98869-6C3E-4C2B-927D-DBB76E53F2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6607" y="963290"/>
            <a:ext cx="2859732" cy="2241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7" name="Immagine 14">
            <a:extLst>
              <a:ext uri="{FF2B5EF4-FFF2-40B4-BE49-F238E27FC236}">
                <a16:creationId xmlns:a16="http://schemas.microsoft.com/office/drawing/2014/main" id="{322DA49B-EBEE-4B61-98B8-B62E382C6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411" y="4036219"/>
            <a:ext cx="2725787" cy="2196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8" name="Immagine 16">
            <a:extLst>
              <a:ext uri="{FF2B5EF4-FFF2-40B4-BE49-F238E27FC236}">
                <a16:creationId xmlns:a16="http://schemas.microsoft.com/office/drawing/2014/main" id="{A86EA232-0FDD-4A75-82C8-C503C1900C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9482" y="3530576"/>
            <a:ext cx="2800573" cy="2966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0A0D77E5-3194-4E31-B004-3A8905D8FEDD}"/>
              </a:ext>
            </a:extLst>
          </p:cNvPr>
          <p:cNvSpPr txBox="1">
            <a:spLocks noChangeArrowheads="1"/>
          </p:cNvSpPr>
          <p:nvPr/>
        </p:nvSpPr>
        <p:spPr>
          <a:xfrm>
            <a:off x="456531" y="273473"/>
            <a:ext cx="8227590" cy="1145232"/>
          </a:xfrm>
          <a:prstGeom prst="rect">
            <a:avLst/>
          </a:prstGeom>
        </p:spPr>
        <p:txBody>
          <a:bodyPr lIns="82945" tIns="35268" rIns="82945" bIns="41473"/>
          <a:lstStyle/>
          <a:p>
            <a:pPr defTabSz="914353">
              <a:tabLst>
                <a:tab pos="0" algn="l"/>
                <a:tab pos="414705" algn="l"/>
                <a:tab pos="829410" algn="l"/>
                <a:tab pos="1244114" algn="l"/>
                <a:tab pos="1658819" algn="l"/>
                <a:tab pos="2073525" algn="l"/>
                <a:tab pos="2488229" algn="l"/>
                <a:tab pos="2902935" algn="l"/>
                <a:tab pos="3317639" algn="l"/>
                <a:tab pos="3732344" algn="l"/>
                <a:tab pos="4147049" algn="l"/>
                <a:tab pos="4561754" algn="l"/>
                <a:tab pos="4976458" algn="l"/>
                <a:tab pos="5391164" algn="l"/>
                <a:tab pos="5805869" algn="l"/>
                <a:tab pos="6220574" algn="l"/>
                <a:tab pos="6635278" algn="l"/>
                <a:tab pos="7049983" algn="l"/>
                <a:tab pos="7464688" algn="l"/>
                <a:tab pos="7879393" algn="l"/>
                <a:tab pos="8294097" algn="l"/>
              </a:tabLst>
              <a:defRPr/>
            </a:pPr>
            <a:r>
              <a:rPr lang="en-US" altLang="it-IT" sz="3600" kern="0" dirty="0">
                <a:solidFill>
                  <a:srgbClr val="565656"/>
                </a:solidFill>
                <a:latin typeface="+mj-lt"/>
                <a:ea typeface="+mj-ea"/>
                <a:cs typeface="+mj-cs"/>
              </a:rPr>
              <a:t>Fibers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9FEFEECC-94AC-46E5-8DD6-9E76C9779886}"/>
              </a:ext>
            </a:extLst>
          </p:cNvPr>
          <p:cNvSpPr txBox="1"/>
          <p:nvPr/>
        </p:nvSpPr>
        <p:spPr>
          <a:xfrm>
            <a:off x="175246" y="6488535"/>
            <a:ext cx="6267524" cy="35195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it-IT" sz="1687" u="sng" dirty="0">
                <a:solidFill>
                  <a:schemeClr val="accent3"/>
                </a:solidFill>
              </a:rPr>
              <a:t>Romeni et al 2020 - Nature </a:t>
            </a:r>
            <a:r>
              <a:rPr lang="it-IT" sz="1687" u="sng" dirty="0" err="1">
                <a:solidFill>
                  <a:schemeClr val="accent3"/>
                </a:solidFill>
              </a:rPr>
              <a:t>Protocols</a:t>
            </a:r>
            <a:endParaRPr lang="it-IT" sz="1687" u="sng" dirty="0">
              <a:solidFill>
                <a:schemeClr val="accent3"/>
              </a:solidFill>
            </a:endParaRPr>
          </a:p>
        </p:txBody>
      </p:sp>
      <p:pic>
        <p:nvPicPr>
          <p:cNvPr id="31748" name="Immagine 2">
            <a:extLst>
              <a:ext uri="{FF2B5EF4-FFF2-40B4-BE49-F238E27FC236}">
                <a16:creationId xmlns:a16="http://schemas.microsoft.com/office/drawing/2014/main" id="{B971E886-5E20-4247-B196-39A19C4F03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43261"/>
            <a:ext cx="2846338" cy="2390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9" name="Immagine 6">
            <a:extLst>
              <a:ext uri="{FF2B5EF4-FFF2-40B4-BE49-F238E27FC236}">
                <a16:creationId xmlns:a16="http://schemas.microsoft.com/office/drawing/2014/main" id="{6039C01D-F8D8-42F2-85E6-D59826B5C2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8800" y="1475631"/>
            <a:ext cx="2866430" cy="352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0" name="Immagine 13">
            <a:extLst>
              <a:ext uri="{FF2B5EF4-FFF2-40B4-BE49-F238E27FC236}">
                <a16:creationId xmlns:a16="http://schemas.microsoft.com/office/drawing/2014/main" id="{E5D7D59A-1154-4CAC-90E2-068ABE689F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4" y="4060776"/>
            <a:ext cx="2846338" cy="220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1" name="Immagine 21">
            <a:extLst>
              <a:ext uri="{FF2B5EF4-FFF2-40B4-BE49-F238E27FC236}">
                <a16:creationId xmlns:a16="http://schemas.microsoft.com/office/drawing/2014/main" id="{311A3CE7-1AB7-423A-AD3C-909CFCA073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1987" y="1352848"/>
            <a:ext cx="3643313" cy="2788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2" name="Immagine 23">
            <a:extLst>
              <a:ext uri="{FF2B5EF4-FFF2-40B4-BE49-F238E27FC236}">
                <a16:creationId xmlns:a16="http://schemas.microsoft.com/office/drawing/2014/main" id="{4E8E892C-9BD4-44D2-B76A-D64DC68DE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6039" y="3982641"/>
            <a:ext cx="3524994" cy="2505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4A96920E-8522-475C-B931-350AD707153B}"/>
              </a:ext>
            </a:extLst>
          </p:cNvPr>
          <p:cNvSpPr txBox="1">
            <a:spLocks noChangeArrowheads="1"/>
          </p:cNvSpPr>
          <p:nvPr/>
        </p:nvSpPr>
        <p:spPr>
          <a:xfrm>
            <a:off x="456531" y="273473"/>
            <a:ext cx="8227590" cy="1145232"/>
          </a:xfrm>
          <a:prstGeom prst="rect">
            <a:avLst/>
          </a:prstGeom>
        </p:spPr>
        <p:txBody>
          <a:bodyPr lIns="82945" tIns="35268" rIns="82945" bIns="41473"/>
          <a:lstStyle/>
          <a:p>
            <a:pPr defTabSz="914353">
              <a:tabLst>
                <a:tab pos="0" algn="l"/>
                <a:tab pos="414705" algn="l"/>
                <a:tab pos="829410" algn="l"/>
                <a:tab pos="1244114" algn="l"/>
                <a:tab pos="1658819" algn="l"/>
                <a:tab pos="2073525" algn="l"/>
                <a:tab pos="2488229" algn="l"/>
                <a:tab pos="2902935" algn="l"/>
                <a:tab pos="3317639" algn="l"/>
                <a:tab pos="3732344" algn="l"/>
                <a:tab pos="4147049" algn="l"/>
                <a:tab pos="4561754" algn="l"/>
                <a:tab pos="4976458" algn="l"/>
                <a:tab pos="5391164" algn="l"/>
                <a:tab pos="5805869" algn="l"/>
                <a:tab pos="6220574" algn="l"/>
                <a:tab pos="6635278" algn="l"/>
                <a:tab pos="7049983" algn="l"/>
                <a:tab pos="7464688" algn="l"/>
                <a:tab pos="7879393" algn="l"/>
                <a:tab pos="8294097" algn="l"/>
              </a:tabLst>
              <a:defRPr/>
            </a:pPr>
            <a:r>
              <a:rPr lang="en-US" altLang="it-IT" sz="3600" kern="0" dirty="0">
                <a:solidFill>
                  <a:srgbClr val="565656"/>
                </a:solidFill>
                <a:latin typeface="+mj-lt"/>
                <a:ea typeface="+mj-ea"/>
                <a:cs typeface="+mj-cs"/>
              </a:rPr>
              <a:t>Fibers diameter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EC37F50-6FCE-4B75-B839-101C44D5E8C3}"/>
              </a:ext>
            </a:extLst>
          </p:cNvPr>
          <p:cNvSpPr txBox="1"/>
          <p:nvPr/>
        </p:nvSpPr>
        <p:spPr>
          <a:xfrm>
            <a:off x="175246" y="6488535"/>
            <a:ext cx="6267524" cy="35195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it-IT" sz="1687" u="sng" dirty="0">
                <a:solidFill>
                  <a:schemeClr val="accent3"/>
                </a:solidFill>
              </a:rPr>
              <a:t>Romeni et al 2020 - Nature </a:t>
            </a:r>
            <a:r>
              <a:rPr lang="it-IT" sz="1687" u="sng" dirty="0" err="1">
                <a:solidFill>
                  <a:schemeClr val="accent3"/>
                </a:solidFill>
              </a:rPr>
              <a:t>Protocols</a:t>
            </a:r>
            <a:endParaRPr lang="it-IT" sz="1687" u="sng" dirty="0">
              <a:solidFill>
                <a:schemeClr val="accent3"/>
              </a:solidFill>
            </a:endParaRPr>
          </a:p>
        </p:txBody>
      </p:sp>
      <p:pic>
        <p:nvPicPr>
          <p:cNvPr id="32772" name="Immagine 3">
            <a:extLst>
              <a:ext uri="{FF2B5EF4-FFF2-40B4-BE49-F238E27FC236}">
                <a16:creationId xmlns:a16="http://schemas.microsoft.com/office/drawing/2014/main" id="{DE846ACC-E26A-4643-8BB6-FBAF151452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79" y="1859608"/>
            <a:ext cx="9119443" cy="3138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03F7C185-A27D-487F-872F-04550E8F0994}"/>
              </a:ext>
            </a:extLst>
          </p:cNvPr>
          <p:cNvSpPr txBox="1">
            <a:spLocks noChangeArrowheads="1"/>
          </p:cNvSpPr>
          <p:nvPr/>
        </p:nvSpPr>
        <p:spPr>
          <a:xfrm>
            <a:off x="456531" y="273473"/>
            <a:ext cx="8227590" cy="1145232"/>
          </a:xfrm>
          <a:prstGeom prst="rect">
            <a:avLst/>
          </a:prstGeom>
        </p:spPr>
        <p:txBody>
          <a:bodyPr lIns="82945" tIns="35268" rIns="82945" bIns="41473"/>
          <a:lstStyle/>
          <a:p>
            <a:pPr defTabSz="914353">
              <a:tabLst>
                <a:tab pos="0" algn="l"/>
                <a:tab pos="414705" algn="l"/>
                <a:tab pos="829410" algn="l"/>
                <a:tab pos="1244114" algn="l"/>
                <a:tab pos="1658819" algn="l"/>
                <a:tab pos="2073525" algn="l"/>
                <a:tab pos="2488229" algn="l"/>
                <a:tab pos="2902935" algn="l"/>
                <a:tab pos="3317639" algn="l"/>
                <a:tab pos="3732344" algn="l"/>
                <a:tab pos="4147049" algn="l"/>
                <a:tab pos="4561754" algn="l"/>
                <a:tab pos="4976458" algn="l"/>
                <a:tab pos="5391164" algn="l"/>
                <a:tab pos="5805869" algn="l"/>
                <a:tab pos="6220574" algn="l"/>
                <a:tab pos="6635278" algn="l"/>
                <a:tab pos="7049983" algn="l"/>
                <a:tab pos="7464688" algn="l"/>
                <a:tab pos="7879393" algn="l"/>
                <a:tab pos="8294097" algn="l"/>
              </a:tabLst>
              <a:defRPr/>
            </a:pPr>
            <a:r>
              <a:rPr lang="en-US" altLang="it-IT" sz="3600" kern="0" dirty="0">
                <a:solidFill>
                  <a:srgbClr val="565656"/>
                </a:solidFill>
                <a:latin typeface="+mj-lt"/>
                <a:ea typeface="+mj-ea"/>
                <a:cs typeface="+mj-cs"/>
              </a:rPr>
              <a:t>Cable equations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69AF2DC4-77DC-41FC-915A-EC7F624F7D6A}"/>
              </a:ext>
            </a:extLst>
          </p:cNvPr>
          <p:cNvSpPr txBox="1"/>
          <p:nvPr/>
        </p:nvSpPr>
        <p:spPr>
          <a:xfrm>
            <a:off x="175246" y="6488535"/>
            <a:ext cx="6267524" cy="35195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it-IT" sz="1687" u="sng" dirty="0">
                <a:solidFill>
                  <a:schemeClr val="accent3"/>
                </a:solidFill>
              </a:rPr>
              <a:t>Romeni et al 2020 - Nature </a:t>
            </a:r>
            <a:r>
              <a:rPr lang="it-IT" sz="1687" u="sng" dirty="0" err="1">
                <a:solidFill>
                  <a:schemeClr val="accent3"/>
                </a:solidFill>
              </a:rPr>
              <a:t>Protocols</a:t>
            </a:r>
            <a:endParaRPr lang="it-IT" sz="1687" u="sng" dirty="0">
              <a:solidFill>
                <a:schemeClr val="accent3"/>
              </a:solidFill>
            </a:endParaRPr>
          </a:p>
        </p:txBody>
      </p:sp>
      <p:pic>
        <p:nvPicPr>
          <p:cNvPr id="33796" name="Immagine 3">
            <a:extLst>
              <a:ext uri="{FF2B5EF4-FFF2-40B4-BE49-F238E27FC236}">
                <a16:creationId xmlns:a16="http://schemas.microsoft.com/office/drawing/2014/main" id="{CB4D615D-9FB3-45EB-B056-97805F3917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640" y="1099468"/>
            <a:ext cx="3421186" cy="2553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7" name="Immagine 7">
            <a:extLst>
              <a:ext uri="{FF2B5EF4-FFF2-40B4-BE49-F238E27FC236}">
                <a16:creationId xmlns:a16="http://schemas.microsoft.com/office/drawing/2014/main" id="{515156B9-9A48-4EF5-8147-9BB107F275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8879" y="947664"/>
            <a:ext cx="4511725" cy="3645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8" name="Immagine 10">
            <a:extLst>
              <a:ext uri="{FF2B5EF4-FFF2-40B4-BE49-F238E27FC236}">
                <a16:creationId xmlns:a16="http://schemas.microsoft.com/office/drawing/2014/main" id="{CA634346-3B53-4702-A03A-CB4A4F111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976" y="3670102"/>
            <a:ext cx="3907855" cy="27492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286687A6-7F0A-4006-946C-568B244C6AFD}"/>
              </a:ext>
            </a:extLst>
          </p:cNvPr>
          <p:cNvSpPr txBox="1">
            <a:spLocks noChangeArrowheads="1"/>
          </p:cNvSpPr>
          <p:nvPr/>
        </p:nvSpPr>
        <p:spPr>
          <a:xfrm>
            <a:off x="175246" y="69205"/>
            <a:ext cx="8599289" cy="1385218"/>
          </a:xfrm>
          <a:prstGeom prst="rect">
            <a:avLst/>
          </a:prstGeom>
        </p:spPr>
        <p:txBody>
          <a:bodyPr lIns="82945" tIns="35268" rIns="82945" bIns="41473"/>
          <a:lstStyle/>
          <a:p>
            <a:pPr defTabSz="914353">
              <a:tabLst>
                <a:tab pos="0" algn="l"/>
                <a:tab pos="414705" algn="l"/>
                <a:tab pos="829410" algn="l"/>
                <a:tab pos="1244114" algn="l"/>
                <a:tab pos="1658819" algn="l"/>
                <a:tab pos="2073525" algn="l"/>
                <a:tab pos="2488229" algn="l"/>
                <a:tab pos="2902935" algn="l"/>
                <a:tab pos="3317639" algn="l"/>
                <a:tab pos="3732344" algn="l"/>
                <a:tab pos="4147049" algn="l"/>
                <a:tab pos="4561754" algn="l"/>
                <a:tab pos="4976458" algn="l"/>
                <a:tab pos="5391164" algn="l"/>
                <a:tab pos="5805869" algn="l"/>
                <a:tab pos="6220574" algn="l"/>
                <a:tab pos="6635278" algn="l"/>
                <a:tab pos="7049983" algn="l"/>
                <a:tab pos="7464688" algn="l"/>
                <a:tab pos="7879393" algn="l"/>
                <a:tab pos="8294097" algn="l"/>
              </a:tabLst>
              <a:defRPr/>
            </a:pPr>
            <a:r>
              <a:rPr lang="en-US" altLang="it-IT" sz="3600" kern="0" dirty="0">
                <a:solidFill>
                  <a:srgbClr val="565656"/>
                </a:solidFill>
                <a:latin typeface="+mj-lt"/>
                <a:ea typeface="+mj-ea"/>
                <a:cs typeface="+mj-cs"/>
              </a:rPr>
              <a:t>Stimulation estimates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32D59A4-0CF9-4D96-9142-12411A871C0B}"/>
              </a:ext>
            </a:extLst>
          </p:cNvPr>
          <p:cNvSpPr txBox="1"/>
          <p:nvPr/>
        </p:nvSpPr>
        <p:spPr>
          <a:xfrm>
            <a:off x="175246" y="6488535"/>
            <a:ext cx="6267524" cy="35195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it-IT" sz="1687" u="sng" dirty="0">
                <a:solidFill>
                  <a:schemeClr val="accent3"/>
                </a:solidFill>
              </a:rPr>
              <a:t>Romeni et al 2020 - Nature </a:t>
            </a:r>
            <a:r>
              <a:rPr lang="it-IT" sz="1687" u="sng" dirty="0" err="1">
                <a:solidFill>
                  <a:schemeClr val="accent3"/>
                </a:solidFill>
              </a:rPr>
              <a:t>Protocols</a:t>
            </a:r>
            <a:endParaRPr lang="it-IT" sz="1687" u="sng" dirty="0">
              <a:solidFill>
                <a:schemeClr val="accent3"/>
              </a:solidFill>
            </a:endParaRPr>
          </a:p>
        </p:txBody>
      </p:sp>
      <p:pic>
        <p:nvPicPr>
          <p:cNvPr id="34820" name="Immagine 6">
            <a:extLst>
              <a:ext uri="{FF2B5EF4-FFF2-40B4-BE49-F238E27FC236}">
                <a16:creationId xmlns:a16="http://schemas.microsoft.com/office/drawing/2014/main" id="{B3B69BBC-B75C-4646-95D3-1A8686603C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055" y="3631034"/>
            <a:ext cx="7046639" cy="31912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1" name="Immagine 2">
            <a:extLst>
              <a:ext uri="{FF2B5EF4-FFF2-40B4-BE49-F238E27FC236}">
                <a16:creationId xmlns:a16="http://schemas.microsoft.com/office/drawing/2014/main" id="{52AA19A7-88BE-4843-8E10-A535B459B5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651" y="723305"/>
            <a:ext cx="6905997" cy="3009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5DD6D109-05C2-420E-875E-E90E70450F18}"/>
              </a:ext>
            </a:extLst>
          </p:cNvPr>
          <p:cNvSpPr txBox="1">
            <a:spLocks noChangeArrowheads="1"/>
          </p:cNvSpPr>
          <p:nvPr/>
        </p:nvSpPr>
        <p:spPr>
          <a:xfrm>
            <a:off x="456531" y="273473"/>
            <a:ext cx="8227590" cy="1145232"/>
          </a:xfrm>
          <a:prstGeom prst="rect">
            <a:avLst/>
          </a:prstGeom>
        </p:spPr>
        <p:txBody>
          <a:bodyPr lIns="82945" tIns="35268" rIns="82945" bIns="41473"/>
          <a:lstStyle/>
          <a:p>
            <a:pPr defTabSz="914353">
              <a:tabLst>
                <a:tab pos="0" algn="l"/>
                <a:tab pos="414705" algn="l"/>
                <a:tab pos="829410" algn="l"/>
                <a:tab pos="1244114" algn="l"/>
                <a:tab pos="1658819" algn="l"/>
                <a:tab pos="2073525" algn="l"/>
                <a:tab pos="2488229" algn="l"/>
                <a:tab pos="2902935" algn="l"/>
                <a:tab pos="3317639" algn="l"/>
                <a:tab pos="3732344" algn="l"/>
                <a:tab pos="4147049" algn="l"/>
                <a:tab pos="4561754" algn="l"/>
                <a:tab pos="4976458" algn="l"/>
                <a:tab pos="5391164" algn="l"/>
                <a:tab pos="5805869" algn="l"/>
                <a:tab pos="6220574" algn="l"/>
                <a:tab pos="6635278" algn="l"/>
                <a:tab pos="7049983" algn="l"/>
                <a:tab pos="7464688" algn="l"/>
                <a:tab pos="7879393" algn="l"/>
                <a:tab pos="8294097" algn="l"/>
              </a:tabLst>
              <a:defRPr/>
            </a:pPr>
            <a:r>
              <a:rPr lang="en-US" altLang="it-IT" sz="3600" kern="0" dirty="0">
                <a:solidFill>
                  <a:srgbClr val="565656"/>
                </a:solidFill>
                <a:latin typeface="+mj-lt"/>
                <a:ea typeface="+mj-ea"/>
                <a:cs typeface="+mj-cs"/>
              </a:rPr>
              <a:t>Global results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4A82D3C-7730-45D6-9984-ABB2CF9BD8E2}"/>
              </a:ext>
            </a:extLst>
          </p:cNvPr>
          <p:cNvSpPr txBox="1"/>
          <p:nvPr/>
        </p:nvSpPr>
        <p:spPr>
          <a:xfrm>
            <a:off x="175246" y="6488535"/>
            <a:ext cx="6267524" cy="35195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it-IT" sz="1687" u="sng" dirty="0">
                <a:solidFill>
                  <a:schemeClr val="accent3"/>
                </a:solidFill>
              </a:rPr>
              <a:t>Romeni et al 2020 - Nature </a:t>
            </a:r>
            <a:r>
              <a:rPr lang="it-IT" sz="1687" u="sng" dirty="0" err="1">
                <a:solidFill>
                  <a:schemeClr val="accent3"/>
                </a:solidFill>
              </a:rPr>
              <a:t>Protocols</a:t>
            </a:r>
            <a:endParaRPr lang="it-IT" sz="1687" u="sng" dirty="0">
              <a:solidFill>
                <a:schemeClr val="accent3"/>
              </a:solidFill>
            </a:endParaRPr>
          </a:p>
        </p:txBody>
      </p:sp>
      <p:pic>
        <p:nvPicPr>
          <p:cNvPr id="35844" name="Immagine 3">
            <a:extLst>
              <a:ext uri="{FF2B5EF4-FFF2-40B4-BE49-F238E27FC236}">
                <a16:creationId xmlns:a16="http://schemas.microsoft.com/office/drawing/2014/main" id="{1536C6DC-1A48-4783-AD1B-AEE7EE2B4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802" y="1809378"/>
            <a:ext cx="3291706" cy="3290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Immagine 7">
            <a:extLst>
              <a:ext uri="{FF2B5EF4-FFF2-40B4-BE49-F238E27FC236}">
                <a16:creationId xmlns:a16="http://schemas.microsoft.com/office/drawing/2014/main" id="{4661838B-A952-42F5-BC44-1584F252B5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0"/>
          <a:stretch>
            <a:fillRect/>
          </a:stretch>
        </p:blipFill>
        <p:spPr bwMode="auto">
          <a:xfrm>
            <a:off x="4035103" y="44649"/>
            <a:ext cx="4112121" cy="348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6" name="Immagine 10">
            <a:extLst>
              <a:ext uri="{FF2B5EF4-FFF2-40B4-BE49-F238E27FC236}">
                <a16:creationId xmlns:a16="http://schemas.microsoft.com/office/drawing/2014/main" id="{CCA34187-C710-4D88-9A9B-378CE5311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7045" y="3526111"/>
            <a:ext cx="3764980" cy="3239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55369-FF87-0046-6823-5B13F0463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08B9BAF0-1103-E99E-808D-5454F2C19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6" y="116632"/>
            <a:ext cx="4932040" cy="1659335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844D6B26-D1FD-12B8-7F61-0585CF329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1816389"/>
            <a:ext cx="7704856" cy="4924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7015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2E87F-BF64-B064-0158-8398C91A3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92EDDC19-4E21-9168-F84C-B3D0E13B9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6" y="116632"/>
            <a:ext cx="4932040" cy="1659335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85F6C09F-87AB-CBCF-7400-66EBCDA361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4250"/>
          <a:stretch>
            <a:fillRect/>
          </a:stretch>
        </p:blipFill>
        <p:spPr>
          <a:xfrm>
            <a:off x="1475656" y="836712"/>
            <a:ext cx="6696744" cy="5773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2343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251B3-8135-0B66-87B1-1E339C233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BABBCB0A-955A-D237-C153-332200064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6" y="116632"/>
            <a:ext cx="4932040" cy="1659335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D48D3478-1487-A7EF-0A33-9D9B36E07D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5750"/>
          <a:stretch>
            <a:fillRect/>
          </a:stretch>
        </p:blipFill>
        <p:spPr>
          <a:xfrm>
            <a:off x="162960" y="2204864"/>
            <a:ext cx="8818079" cy="396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5561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2253F-0C78-C7B9-DB2F-CD7C96E91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72EE53DA-A91B-F0A3-1B42-99BD8AE469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2150"/>
          <a:stretch>
            <a:fillRect/>
          </a:stretch>
        </p:blipFill>
        <p:spPr>
          <a:xfrm>
            <a:off x="1043608" y="315456"/>
            <a:ext cx="7056784" cy="6453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2423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1A95D-A731-D322-FEC7-3E29C5C0B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3517B236-CA0B-791E-FDE7-295764EB8C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" b="65752"/>
          <a:stretch>
            <a:fillRect/>
          </a:stretch>
        </p:blipFill>
        <p:spPr>
          <a:xfrm>
            <a:off x="1043608" y="315456"/>
            <a:ext cx="7056784" cy="3257559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EDDF99DD-17DD-694B-B530-DB0E9A712E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83" t="67850" r="-1883" b="-67850"/>
          <a:stretch>
            <a:fillRect/>
          </a:stretch>
        </p:blipFill>
        <p:spPr>
          <a:xfrm>
            <a:off x="1043608" y="3573016"/>
            <a:ext cx="7488832" cy="10093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727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54833CCD4C2FF43A3A3C271054A5EB0" ma:contentTypeVersion="3" ma:contentTypeDescription="Creare un nuovo documento." ma:contentTypeScope="" ma:versionID="b70027fdb4c1b1eb2bab3914881cac99">
  <xsd:schema xmlns:xsd="http://www.w3.org/2001/XMLSchema" xmlns:xs="http://www.w3.org/2001/XMLSchema" xmlns:p="http://schemas.microsoft.com/office/2006/metadata/properties" xmlns:ns2="8442ee31-cce1-422a-bc66-5370dcdeec33" targetNamespace="http://schemas.microsoft.com/office/2006/metadata/properties" ma:root="true" ma:fieldsID="10f8f216c52543ac433b769f5bf7bd55" ns2:_="">
    <xsd:import namespace="8442ee31-cce1-422a-bc66-5370dcdeec3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42ee31-cce1-422a-bc66-5370dcdeec3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A73ECA8-D6FB-42C2-AE72-3DD6D65E3D3D}"/>
</file>

<file path=customXml/itemProps2.xml><?xml version="1.0" encoding="utf-8"?>
<ds:datastoreItem xmlns:ds="http://schemas.openxmlformats.org/officeDocument/2006/customXml" ds:itemID="{2D2140B5-96C7-4A8B-8B3C-F8CA04BDE55C}"/>
</file>

<file path=customXml/itemProps3.xml><?xml version="1.0" encoding="utf-8"?>
<ds:datastoreItem xmlns:ds="http://schemas.openxmlformats.org/officeDocument/2006/customXml" ds:itemID="{6381BB9A-C306-4218-BCC1-7DAE94C627DB}"/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415</Words>
  <Application>Microsoft Office PowerPoint</Application>
  <PresentationFormat>Presentazione su schermo (4:3)</PresentationFormat>
  <Paragraphs>77</Paragraphs>
  <Slides>34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34</vt:i4>
      </vt:variant>
    </vt:vector>
  </HeadingPairs>
  <TitlesOfParts>
    <vt:vector size="37" baseType="lpstr">
      <vt:lpstr>Arial</vt:lpstr>
      <vt:lpstr>Calibri</vt:lpstr>
      <vt:lpstr>Tema di Office</vt:lpstr>
      <vt:lpstr>Neuromorphic engineering: computational neuroscience module 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Models</dc:title>
  <dc:creator>alberto</dc:creator>
  <cp:lastModifiedBy>Alberto Mazzoni</cp:lastModifiedBy>
  <cp:revision>49</cp:revision>
  <dcterms:created xsi:type="dcterms:W3CDTF">2016-10-12T06:46:34Z</dcterms:created>
  <dcterms:modified xsi:type="dcterms:W3CDTF">2026-05-08T10:10:37Z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0x010100D54833CCD4C2FF43A3A3C271054A5EB0</vt:lpwstr>
  </property>
</Properties>
</file>