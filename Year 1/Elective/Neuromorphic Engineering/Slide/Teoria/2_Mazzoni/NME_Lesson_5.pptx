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7"/>
  </p:notesMasterIdLst>
  <p:sldIdLst>
    <p:sldId id="256" r:id="rId5"/>
    <p:sldId id="564" r:id="rId6"/>
    <p:sldId id="486" r:id="rId7"/>
    <p:sldId id="487" r:id="rId8"/>
    <p:sldId id="488" r:id="rId9"/>
    <p:sldId id="489" r:id="rId10"/>
    <p:sldId id="490" r:id="rId11"/>
    <p:sldId id="491" r:id="rId12"/>
    <p:sldId id="492" r:id="rId13"/>
    <p:sldId id="493" r:id="rId14"/>
    <p:sldId id="494" r:id="rId15"/>
    <p:sldId id="495" r:id="rId16"/>
    <p:sldId id="496" r:id="rId17"/>
    <p:sldId id="497" r:id="rId18"/>
    <p:sldId id="498" r:id="rId19"/>
    <p:sldId id="499" r:id="rId20"/>
    <p:sldId id="500" r:id="rId21"/>
    <p:sldId id="501" r:id="rId22"/>
    <p:sldId id="502" r:id="rId23"/>
    <p:sldId id="503" r:id="rId24"/>
    <p:sldId id="504" r:id="rId25"/>
    <p:sldId id="505" r:id="rId26"/>
    <p:sldId id="506" r:id="rId27"/>
    <p:sldId id="507" r:id="rId28"/>
    <p:sldId id="508" r:id="rId29"/>
    <p:sldId id="630" r:id="rId30"/>
    <p:sldId id="510" r:id="rId31"/>
    <p:sldId id="511" r:id="rId32"/>
    <p:sldId id="512" r:id="rId33"/>
    <p:sldId id="513" r:id="rId34"/>
    <p:sldId id="514" r:id="rId35"/>
    <p:sldId id="515" r:id="rId36"/>
    <p:sldId id="516" r:id="rId37"/>
    <p:sldId id="517" r:id="rId38"/>
    <p:sldId id="518" r:id="rId39"/>
    <p:sldId id="519" r:id="rId40"/>
    <p:sldId id="520" r:id="rId41"/>
    <p:sldId id="521" r:id="rId42"/>
    <p:sldId id="522" r:id="rId43"/>
    <p:sldId id="523" r:id="rId44"/>
    <p:sldId id="524" r:id="rId45"/>
    <p:sldId id="525" r:id="rId46"/>
    <p:sldId id="526" r:id="rId47"/>
    <p:sldId id="527" r:id="rId48"/>
    <p:sldId id="528" r:id="rId49"/>
    <p:sldId id="529" r:id="rId50"/>
    <p:sldId id="530" r:id="rId51"/>
    <p:sldId id="531" r:id="rId52"/>
    <p:sldId id="532" r:id="rId53"/>
    <p:sldId id="533" r:id="rId54"/>
    <p:sldId id="534" r:id="rId55"/>
    <p:sldId id="535" r:id="rId5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F9670F-696A-4F02-B316-23EEA442D81F}" v="1" dt="2026-05-08T08:10:46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638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MAZZONI" userId="S::a033339@unipi.it::4fca2f74-aa5b-4bcd-80f3-04cc465de12d" providerId="AD" clId="Web-{B9F9670F-696A-4F02-B316-23EEA442D81F}"/>
    <pc:docChg chg="modSld">
      <pc:chgData name="ALBERTO MAZZONI" userId="S::a033339@unipi.it::4fca2f74-aa5b-4bcd-80f3-04cc465de12d" providerId="AD" clId="Web-{B9F9670F-696A-4F02-B316-23EEA442D81F}" dt="2026-05-08T08:10:46.601" v="0" actId="20577"/>
      <pc:docMkLst>
        <pc:docMk/>
      </pc:docMkLst>
      <pc:sldChg chg="modSp">
        <pc:chgData name="ALBERTO MAZZONI" userId="S::a033339@unipi.it::4fca2f74-aa5b-4bcd-80f3-04cc465de12d" providerId="AD" clId="Web-{B9F9670F-696A-4F02-B316-23EEA442D81F}" dt="2026-05-08T08:10:46.601" v="0" actId="20577"/>
        <pc:sldMkLst>
          <pc:docMk/>
          <pc:sldMk cId="0" sldId="531"/>
        </pc:sldMkLst>
        <pc:spChg chg="mod">
          <ac:chgData name="ALBERTO MAZZONI" userId="S::a033339@unipi.it::4fca2f74-aa5b-4bcd-80f3-04cc465de12d" providerId="AD" clId="Web-{B9F9670F-696A-4F02-B316-23EEA442D81F}" dt="2026-05-08T08:10:46.601" v="0" actId="20577"/>
          <ac:spMkLst>
            <pc:docMk/>
            <pc:sldMk cId="0" sldId="531"/>
            <ac:spMk id="2662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9496D-ADBF-4A18-95D4-AE7277CC9CD7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9D7BA-C0FF-4E3D-A591-4EB38D80A8EE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4F7CDD-071E-4E44-BC09-EBE6C70F8E48}" type="slidenum">
              <a:rPr lang="fi-FI" smtClean="0"/>
              <a:pPr/>
              <a:t>5</a:t>
            </a:fld>
            <a:endParaRPr lang="fi-FI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693"/>
            <a:ext cx="5486400" cy="4036356"/>
          </a:xfrm>
          <a:noFill/>
          <a:ln/>
        </p:spPr>
        <p:txBody>
          <a:bodyPr wrap="none" anchor="ctr"/>
          <a:lstStyle/>
          <a:p>
            <a:pPr eaLnBrk="1" hangingPunct="1">
              <a:spcBef>
                <a:spcPct val="0"/>
              </a:spcBef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0550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6EB45362-B819-4BE5-96DC-624B27B0DDDE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17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757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757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AAD2A190-E2A8-4DED-872E-F8A4CA9D42D1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18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7680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7680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750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AAD2A190-E2A8-4DED-872E-F8A4CA9D42D1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19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7680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7680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A6AB0CD1-BFE1-4FC7-B2F9-D916D47151CC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20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7782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7782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8CE62FAE-A471-4EB5-A8D8-4BAC8E0DE465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21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788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788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8CE62FAE-A471-4EB5-A8D8-4BAC8E0DE465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22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788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788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219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8CE62FAE-A471-4EB5-A8D8-4BAC8E0DE465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23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788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788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800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D2019FD4-2F4C-4ED9-99C7-9F627C6643AE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24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7987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7987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088F1A61-E180-4D23-BB8C-36B703E69F77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25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8089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8090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BB072025-0B4E-4D66-8756-12C928BC0E48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27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48129" name="Text Box 1"/>
          <p:cNvSpPr txBox="1">
            <a:spLocks noChangeArrowheads="1"/>
          </p:cNvSpPr>
          <p:nvPr/>
        </p:nvSpPr>
        <p:spPr bwMode="auto">
          <a:xfrm>
            <a:off x="0" y="0"/>
            <a:ext cx="11796864" cy="11796696"/>
          </a:xfrm>
          <a:prstGeom prst="rect">
            <a:avLst/>
          </a:prstGeom>
          <a:noFill/>
          <a:ln>
            <a:noFill/>
          </a:ln>
          <a:effectLst/>
        </p:spPr>
        <p:txBody>
          <a:bodyPr lIns="89990" tIns="44995" rIns="89990" bIns="44995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lnSpc>
                <a:spcPct val="100000"/>
              </a:lnSpc>
              <a:buClrTx/>
              <a:buFontTx/>
              <a:buNone/>
              <a:defRPr/>
            </a:pPr>
            <a:fld id="{309D4B53-9546-474E-8FC3-D1F1702129F1}" type="slidenum">
              <a:rPr lang="en-US" altLang="en-US" smtClean="0">
                <a:latin typeface="+mn-lt" charset="0"/>
                <a:ea typeface="+mn-ea" charset="0"/>
                <a:cs typeface="+mn-ea" charset="0"/>
              </a:rPr>
              <a:pPr>
                <a:lnSpc>
                  <a:spcPct val="100000"/>
                </a:lnSpc>
                <a:buClrTx/>
                <a:buFontTx/>
                <a:buNone/>
                <a:defRPr/>
              </a:pPr>
              <a:t>27</a:t>
            </a:fld>
            <a:endParaRPr lang="en-US" altLang="en-US">
              <a:latin typeface="+mn-lt" charset="0"/>
              <a:ea typeface="+mn-ea" charset="0"/>
              <a:cs typeface="+mn-ea" charset="0"/>
            </a:endParaRPr>
          </a:p>
        </p:txBody>
      </p:sp>
      <p:sp>
        <p:nvSpPr>
          <p:cNvPr id="51204" name="Text Box 2"/>
          <p:cNvSpPr txBox="1">
            <a:spLocks noChangeArrowheads="1"/>
          </p:cNvSpPr>
          <p:nvPr/>
        </p:nvSpPr>
        <p:spPr bwMode="auto">
          <a:xfrm>
            <a:off x="3881193" y="8687226"/>
            <a:ext cx="2972209" cy="4539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b"/>
          <a:lstStyle/>
          <a:p>
            <a:pPr algn="r"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67292531-C9EB-4371-9630-A1E85E71C000}" type="slidenum">
              <a:rPr lang="en-US" altLang="en-US" sz="1300">
                <a:solidFill>
                  <a:srgbClr val="000000"/>
                </a:solidFill>
                <a:latin typeface="Times New Roman" pitchFamily="18" charset="0"/>
              </a:rPr>
              <a:pPr algn="r"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27</a:t>
            </a:fld>
            <a:endParaRPr lang="en-US" altLang="en-US" sz="13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1205" name="Text Box 3"/>
          <p:cNvSpPr txBox="1">
            <a:spLocks noChangeArrowheads="1"/>
          </p:cNvSpPr>
          <p:nvPr/>
        </p:nvSpPr>
        <p:spPr bwMode="auto">
          <a:xfrm>
            <a:off x="3881192" y="8687226"/>
            <a:ext cx="2973742" cy="45535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b"/>
          <a:lstStyle/>
          <a:p>
            <a:pPr algn="r"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EF115036-0523-47D1-9941-9EC9D1C059FF}" type="slidenum">
              <a:rPr lang="en-US" altLang="en-US" sz="1300">
                <a:solidFill>
                  <a:srgbClr val="000000"/>
                </a:solidFill>
                <a:latin typeface="Times New Roman" pitchFamily="18" charset="0"/>
              </a:rPr>
              <a:pPr algn="r"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27</a:t>
            </a:fld>
            <a:endParaRPr lang="en-US" altLang="en-US" sz="13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1206" name="Rectangle 4"/>
          <p:cNvSpPr>
            <a:spLocks noGrp="1" noChangeArrowheads="1"/>
          </p:cNvSpPr>
          <p:nvPr>
            <p:ph type="body"/>
          </p:nvPr>
        </p:nvSpPr>
        <p:spPr>
          <a:xfrm>
            <a:off x="685187" y="4343613"/>
            <a:ext cx="5487626" cy="4112389"/>
          </a:xfrm>
          <a:noFill/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endParaRPr lang="en-US" altLang="en-US" dirty="0">
              <a:latin typeface="Times New Roman" pitchFamily="18" charset="0"/>
              <a:ea typeface="WenQuanYi Micro Hei" charset="0"/>
              <a:cs typeface="WenQuanYi Micro Hei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BDFA6535-DB4B-47DE-A161-7F6B10142B0C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28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48129" name="Text Box 1"/>
          <p:cNvSpPr txBox="1">
            <a:spLocks noChangeArrowheads="1"/>
          </p:cNvSpPr>
          <p:nvPr/>
        </p:nvSpPr>
        <p:spPr bwMode="auto">
          <a:xfrm>
            <a:off x="0" y="0"/>
            <a:ext cx="11796864" cy="11796696"/>
          </a:xfrm>
          <a:prstGeom prst="rect">
            <a:avLst/>
          </a:prstGeom>
          <a:noFill/>
          <a:ln>
            <a:noFill/>
          </a:ln>
          <a:effectLst/>
        </p:spPr>
        <p:txBody>
          <a:bodyPr lIns="89990" tIns="44995" rIns="89990" bIns="44995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lnSpc>
                <a:spcPct val="100000"/>
              </a:lnSpc>
              <a:buClrTx/>
              <a:buFontTx/>
              <a:buNone/>
              <a:defRPr/>
            </a:pPr>
            <a:fld id="{5AA92A17-332D-4EC7-9C68-4E5186208929}" type="slidenum">
              <a:rPr lang="en-US" altLang="en-US" smtClean="0">
                <a:latin typeface="+mn-lt" charset="0"/>
                <a:ea typeface="+mn-ea" charset="0"/>
                <a:cs typeface="+mn-ea" charset="0"/>
              </a:rPr>
              <a:pPr>
                <a:lnSpc>
                  <a:spcPct val="100000"/>
                </a:lnSpc>
                <a:buClrTx/>
                <a:buFontTx/>
                <a:buNone/>
                <a:defRPr/>
              </a:pPr>
              <a:t>28</a:t>
            </a:fld>
            <a:endParaRPr lang="en-US" altLang="en-US">
              <a:latin typeface="+mn-lt" charset="0"/>
              <a:ea typeface="+mn-ea" charset="0"/>
              <a:cs typeface="+mn-ea" charset="0"/>
            </a:endParaRPr>
          </a:p>
        </p:txBody>
      </p:sp>
      <p:sp>
        <p:nvSpPr>
          <p:cNvPr id="52228" name="Text Box 2"/>
          <p:cNvSpPr txBox="1">
            <a:spLocks noChangeArrowheads="1"/>
          </p:cNvSpPr>
          <p:nvPr/>
        </p:nvSpPr>
        <p:spPr bwMode="auto">
          <a:xfrm>
            <a:off x="3881193" y="8687226"/>
            <a:ext cx="2972209" cy="4539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b"/>
          <a:lstStyle/>
          <a:p>
            <a:pPr algn="r"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651A080B-B657-4677-AE28-8C62CF2D1968}" type="slidenum">
              <a:rPr lang="en-US" altLang="en-US" sz="1300">
                <a:solidFill>
                  <a:srgbClr val="000000"/>
                </a:solidFill>
                <a:latin typeface="Times New Roman" pitchFamily="18" charset="0"/>
              </a:rPr>
              <a:pPr algn="r"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28</a:t>
            </a:fld>
            <a:endParaRPr lang="en-US" altLang="en-US" sz="13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2229" name="Text Box 3"/>
          <p:cNvSpPr txBox="1">
            <a:spLocks noChangeArrowheads="1"/>
          </p:cNvSpPr>
          <p:nvPr/>
        </p:nvSpPr>
        <p:spPr bwMode="auto">
          <a:xfrm>
            <a:off x="3881192" y="8687226"/>
            <a:ext cx="2973742" cy="45535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b"/>
          <a:lstStyle/>
          <a:p>
            <a:pPr algn="r"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172BBC58-AB5A-42FC-95F8-EA84A69F5EFA}" type="slidenum">
              <a:rPr lang="en-US" altLang="en-US" sz="1300">
                <a:solidFill>
                  <a:srgbClr val="000000"/>
                </a:solidFill>
                <a:latin typeface="Times New Roman" pitchFamily="18" charset="0"/>
              </a:rPr>
              <a:pPr algn="r"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28</a:t>
            </a:fld>
            <a:endParaRPr lang="en-US" altLang="en-US" sz="13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2230" name="Rectangle 4"/>
          <p:cNvSpPr>
            <a:spLocks noGrp="1" noChangeArrowheads="1"/>
          </p:cNvSpPr>
          <p:nvPr>
            <p:ph type="body"/>
          </p:nvPr>
        </p:nvSpPr>
        <p:spPr>
          <a:xfrm>
            <a:off x="685187" y="4343613"/>
            <a:ext cx="5487626" cy="4112389"/>
          </a:xfrm>
          <a:noFill/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endParaRPr lang="en-US" altLang="en-US" dirty="0">
              <a:latin typeface="Times New Roman" pitchFamily="18" charset="0"/>
              <a:ea typeface="WenQuanYi Micro Hei" charset="0"/>
              <a:cs typeface="WenQuanYi Micro Hei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9F3672A1-03EF-42F9-81F6-B920843CD9B2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29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49153" name="Text Box 1"/>
          <p:cNvSpPr txBox="1">
            <a:spLocks noChangeArrowheads="1"/>
          </p:cNvSpPr>
          <p:nvPr/>
        </p:nvSpPr>
        <p:spPr bwMode="auto">
          <a:xfrm>
            <a:off x="0" y="0"/>
            <a:ext cx="11796864" cy="11796696"/>
          </a:xfrm>
          <a:prstGeom prst="rect">
            <a:avLst/>
          </a:prstGeom>
          <a:noFill/>
          <a:ln>
            <a:noFill/>
          </a:ln>
          <a:effectLst/>
        </p:spPr>
        <p:txBody>
          <a:bodyPr lIns="89990" tIns="44995" rIns="89990" bIns="44995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lnSpc>
                <a:spcPct val="100000"/>
              </a:lnSpc>
              <a:buClrTx/>
              <a:buFontTx/>
              <a:buNone/>
              <a:defRPr/>
            </a:pPr>
            <a:fld id="{5B03FF75-2D62-4CAB-8522-A24ED72378EE}" type="slidenum">
              <a:rPr lang="en-US" altLang="en-US" smtClean="0">
                <a:latin typeface="+mn-lt" charset="0"/>
                <a:ea typeface="+mn-ea" charset="0"/>
                <a:cs typeface="+mn-ea" charset="0"/>
              </a:rPr>
              <a:pPr>
                <a:lnSpc>
                  <a:spcPct val="100000"/>
                </a:lnSpc>
                <a:buClrTx/>
                <a:buFontTx/>
                <a:buNone/>
                <a:defRPr/>
              </a:pPr>
              <a:t>29</a:t>
            </a:fld>
            <a:endParaRPr lang="en-US" altLang="en-US">
              <a:latin typeface="+mn-lt" charset="0"/>
              <a:ea typeface="+mn-ea" charset="0"/>
              <a:cs typeface="+mn-ea" charset="0"/>
            </a:endParaRPr>
          </a:p>
        </p:txBody>
      </p:sp>
      <p:sp>
        <p:nvSpPr>
          <p:cNvPr id="53252" name="Text Box 2"/>
          <p:cNvSpPr txBox="1">
            <a:spLocks noChangeArrowheads="1"/>
          </p:cNvSpPr>
          <p:nvPr/>
        </p:nvSpPr>
        <p:spPr bwMode="auto">
          <a:xfrm>
            <a:off x="3881192" y="8687226"/>
            <a:ext cx="2973742" cy="45535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b"/>
          <a:lstStyle/>
          <a:p>
            <a:pPr algn="r"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BCB2E309-FFD7-4E72-909B-3515A5501B49}" type="slidenum">
              <a:rPr lang="en-US" altLang="en-US" sz="1300">
                <a:solidFill>
                  <a:srgbClr val="000000"/>
                </a:solidFill>
                <a:latin typeface="Times New Roman" pitchFamily="18" charset="0"/>
                <a:cs typeface="DejaVu Sans" charset="0"/>
              </a:rPr>
              <a:pPr algn="r"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29</a:t>
            </a:fld>
            <a:endParaRPr lang="en-US" altLang="en-US" sz="1300" dirty="0">
              <a:solidFill>
                <a:srgbClr val="000000"/>
              </a:solidFill>
              <a:latin typeface="Times New Roman" pitchFamily="18" charset="0"/>
              <a:cs typeface="DejaVu Sans" charset="0"/>
            </a:endParaRPr>
          </a:p>
        </p:txBody>
      </p:sp>
      <p:sp>
        <p:nvSpPr>
          <p:cNvPr id="53253" name="Rectangle 3"/>
          <p:cNvSpPr>
            <a:spLocks noGrp="1" noChangeArrowheads="1"/>
          </p:cNvSpPr>
          <p:nvPr>
            <p:ph type="body"/>
          </p:nvPr>
        </p:nvSpPr>
        <p:spPr>
          <a:xfrm>
            <a:off x="685187" y="4343613"/>
            <a:ext cx="5487626" cy="4112389"/>
          </a:xfrm>
          <a:noFill/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endParaRPr lang="en-US" altLang="en-US" dirty="0">
              <a:latin typeface="Times New Roman" pitchFamily="18" charset="0"/>
              <a:ea typeface="WenQuanYi Micro Hei" charset="0"/>
              <a:cs typeface="WenQuanYi Micro Hei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0105DDCD-5B4E-4E90-AB91-8137138F993D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30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80897" name="Text Box 1"/>
          <p:cNvSpPr txBox="1">
            <a:spLocks noChangeArrowheads="1"/>
          </p:cNvSpPr>
          <p:nvPr/>
        </p:nvSpPr>
        <p:spPr bwMode="auto">
          <a:xfrm>
            <a:off x="0" y="0"/>
            <a:ext cx="11796864" cy="11796696"/>
          </a:xfrm>
          <a:prstGeom prst="rect">
            <a:avLst/>
          </a:prstGeom>
          <a:noFill/>
          <a:ln>
            <a:noFill/>
          </a:ln>
          <a:effectLst/>
        </p:spPr>
        <p:txBody>
          <a:bodyPr lIns="89990" tIns="44995" rIns="89990" bIns="44995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lnSpc>
                <a:spcPct val="100000"/>
              </a:lnSpc>
              <a:buClrTx/>
              <a:buFontTx/>
              <a:buNone/>
              <a:defRPr/>
            </a:pPr>
            <a:fld id="{4B8B9A6B-D337-40E6-AFB6-6C5AE64AC45F}" type="slidenum">
              <a:rPr lang="en-US" altLang="en-US" smtClean="0">
                <a:latin typeface="+mn-lt" charset="0"/>
                <a:ea typeface="+mn-ea" charset="0"/>
                <a:cs typeface="+mn-ea" charset="0"/>
              </a:rPr>
              <a:pPr>
                <a:lnSpc>
                  <a:spcPct val="100000"/>
                </a:lnSpc>
                <a:buClrTx/>
                <a:buFontTx/>
                <a:buNone/>
                <a:defRPr/>
              </a:pPr>
              <a:t>30</a:t>
            </a:fld>
            <a:endParaRPr lang="en-US" altLang="en-US">
              <a:latin typeface="+mn-lt" charset="0"/>
              <a:ea typeface="+mn-ea" charset="0"/>
              <a:cs typeface="+mn-ea" charset="0"/>
            </a:endParaRPr>
          </a:p>
        </p:txBody>
      </p:sp>
      <p:sp>
        <p:nvSpPr>
          <p:cNvPr id="54276" name="Text Box 2"/>
          <p:cNvSpPr txBox="1">
            <a:spLocks noChangeArrowheads="1"/>
          </p:cNvSpPr>
          <p:nvPr/>
        </p:nvSpPr>
        <p:spPr bwMode="auto">
          <a:xfrm>
            <a:off x="3881192" y="8687226"/>
            <a:ext cx="2973742" cy="45535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b"/>
          <a:lstStyle/>
          <a:p>
            <a:pPr algn="r"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CC9BFF27-2C4E-4025-B9DE-1E3D6A1364F4}" type="slidenum">
              <a:rPr lang="en-US" altLang="en-US" sz="1300">
                <a:solidFill>
                  <a:srgbClr val="000000"/>
                </a:solidFill>
                <a:latin typeface="Times New Roman" pitchFamily="18" charset="0"/>
                <a:cs typeface="DejaVu Sans" charset="0"/>
              </a:rPr>
              <a:pPr algn="r"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30</a:t>
            </a:fld>
            <a:endParaRPr lang="en-US" altLang="en-US" sz="1300" dirty="0">
              <a:solidFill>
                <a:srgbClr val="000000"/>
              </a:solidFill>
              <a:latin typeface="Times New Roman" pitchFamily="18" charset="0"/>
              <a:cs typeface="DejaVu Sans" charset="0"/>
            </a:endParaRP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/>
          </p:nvPr>
        </p:nvSpPr>
        <p:spPr>
          <a:xfrm>
            <a:off x="685187" y="4343613"/>
            <a:ext cx="5487626" cy="4112389"/>
          </a:xfrm>
          <a:noFill/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endParaRPr lang="en-US" altLang="en-US" dirty="0">
              <a:latin typeface="Times New Roman" pitchFamily="18" charset="0"/>
              <a:ea typeface="WenQuanYi Micro Hei" charset="0"/>
              <a:cs typeface="WenQuanYi Micro Hei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145AC66A-FD00-446B-9482-DCBD86F7A8B5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31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79873" name="Text Box 1"/>
          <p:cNvSpPr txBox="1">
            <a:spLocks noChangeArrowheads="1"/>
          </p:cNvSpPr>
          <p:nvPr/>
        </p:nvSpPr>
        <p:spPr bwMode="auto">
          <a:xfrm>
            <a:off x="0" y="0"/>
            <a:ext cx="11796864" cy="11796696"/>
          </a:xfrm>
          <a:prstGeom prst="rect">
            <a:avLst/>
          </a:prstGeom>
          <a:noFill/>
          <a:ln>
            <a:noFill/>
          </a:ln>
          <a:effectLst/>
        </p:spPr>
        <p:txBody>
          <a:bodyPr lIns="89990" tIns="44995" rIns="89990" bIns="44995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lnSpc>
                <a:spcPct val="100000"/>
              </a:lnSpc>
              <a:buClrTx/>
              <a:buFontTx/>
              <a:buNone/>
              <a:defRPr/>
            </a:pPr>
            <a:fld id="{16EFCA7D-20C8-4E0D-BCA5-4299429F1221}" type="slidenum">
              <a:rPr lang="en-US" altLang="en-US" smtClean="0">
                <a:latin typeface="+mn-lt" charset="0"/>
                <a:ea typeface="+mn-ea" charset="0"/>
                <a:cs typeface="+mn-ea" charset="0"/>
              </a:rPr>
              <a:pPr>
                <a:lnSpc>
                  <a:spcPct val="100000"/>
                </a:lnSpc>
                <a:buClrTx/>
                <a:buFontTx/>
                <a:buNone/>
                <a:defRPr/>
              </a:pPr>
              <a:t>31</a:t>
            </a:fld>
            <a:endParaRPr lang="en-US" altLang="en-US">
              <a:latin typeface="+mn-lt" charset="0"/>
              <a:ea typeface="+mn-ea" charset="0"/>
              <a:cs typeface="+mn-ea" charset="0"/>
            </a:endParaRPr>
          </a:p>
        </p:txBody>
      </p:sp>
      <p:sp>
        <p:nvSpPr>
          <p:cNvPr id="55300" name="Text Box 2"/>
          <p:cNvSpPr txBox="1">
            <a:spLocks noChangeArrowheads="1"/>
          </p:cNvSpPr>
          <p:nvPr/>
        </p:nvSpPr>
        <p:spPr bwMode="auto">
          <a:xfrm>
            <a:off x="3881192" y="8687226"/>
            <a:ext cx="2973742" cy="45535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b"/>
          <a:lstStyle/>
          <a:p>
            <a:pPr algn="r"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02395D29-5C4F-47C9-92B3-9E91C5AA816F}" type="slidenum">
              <a:rPr lang="en-US" altLang="en-US" sz="1300">
                <a:solidFill>
                  <a:srgbClr val="000000"/>
                </a:solidFill>
                <a:latin typeface="Times New Roman" pitchFamily="18" charset="0"/>
                <a:cs typeface="DejaVu Sans" charset="0"/>
              </a:rPr>
              <a:pPr algn="r"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31</a:t>
            </a:fld>
            <a:endParaRPr lang="en-US" altLang="en-US" sz="1300" dirty="0">
              <a:solidFill>
                <a:srgbClr val="000000"/>
              </a:solidFill>
              <a:latin typeface="Times New Roman" pitchFamily="18" charset="0"/>
              <a:cs typeface="DejaVu Sans" charset="0"/>
            </a:endParaRPr>
          </a:p>
        </p:txBody>
      </p:sp>
      <p:sp>
        <p:nvSpPr>
          <p:cNvPr id="55301" name="Rectangle 3"/>
          <p:cNvSpPr>
            <a:spLocks noGrp="1" noChangeArrowheads="1"/>
          </p:cNvSpPr>
          <p:nvPr>
            <p:ph type="body"/>
          </p:nvPr>
        </p:nvSpPr>
        <p:spPr>
          <a:xfrm>
            <a:off x="685187" y="4343613"/>
            <a:ext cx="5487626" cy="4112389"/>
          </a:xfrm>
          <a:noFill/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endParaRPr lang="en-US" altLang="en-US" dirty="0">
              <a:latin typeface="Times New Roman" pitchFamily="18" charset="0"/>
              <a:ea typeface="WenQuanYi Micro Hei" charset="0"/>
              <a:cs typeface="WenQuanYi Micro Hei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AC2201FD-54B1-49EE-A312-85BE2A25983E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34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54273" name="Text Box 1"/>
          <p:cNvSpPr txBox="1">
            <a:spLocks noChangeArrowheads="1"/>
          </p:cNvSpPr>
          <p:nvPr/>
        </p:nvSpPr>
        <p:spPr bwMode="auto">
          <a:xfrm>
            <a:off x="0" y="0"/>
            <a:ext cx="11796864" cy="11796696"/>
          </a:xfrm>
          <a:prstGeom prst="rect">
            <a:avLst/>
          </a:prstGeom>
          <a:noFill/>
          <a:ln>
            <a:noFill/>
          </a:ln>
          <a:effectLst/>
        </p:spPr>
        <p:txBody>
          <a:bodyPr lIns="89990" tIns="44995" rIns="89990" bIns="44995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  <a:tab pos="11582400" algn="l"/>
              </a:tabLst>
              <a:defRPr>
                <a:solidFill>
                  <a:srgbClr val="000000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lnSpc>
                <a:spcPct val="100000"/>
              </a:lnSpc>
              <a:buClrTx/>
              <a:buFontTx/>
              <a:buNone/>
              <a:defRPr/>
            </a:pPr>
            <a:fld id="{C6112DEE-64CF-4C87-89CA-C37AE8D821CC}" type="slidenum">
              <a:rPr lang="en-US" altLang="en-US" smtClean="0">
                <a:latin typeface="+mn-lt" charset="0"/>
                <a:ea typeface="+mn-ea" charset="0"/>
                <a:cs typeface="+mn-ea" charset="0"/>
              </a:rPr>
              <a:pPr>
                <a:lnSpc>
                  <a:spcPct val="100000"/>
                </a:lnSpc>
                <a:buClrTx/>
                <a:buFontTx/>
                <a:buNone/>
                <a:defRPr/>
              </a:pPr>
              <a:t>34</a:t>
            </a:fld>
            <a:endParaRPr lang="en-US" altLang="en-US">
              <a:latin typeface="+mn-lt" charset="0"/>
              <a:ea typeface="+mn-ea" charset="0"/>
              <a:cs typeface="+mn-ea" charset="0"/>
            </a:endParaRPr>
          </a:p>
        </p:txBody>
      </p:sp>
      <p:sp>
        <p:nvSpPr>
          <p:cNvPr id="56324" name="Text Box 2"/>
          <p:cNvSpPr txBox="1">
            <a:spLocks noChangeArrowheads="1"/>
          </p:cNvSpPr>
          <p:nvPr/>
        </p:nvSpPr>
        <p:spPr bwMode="auto">
          <a:xfrm>
            <a:off x="3881192" y="8687226"/>
            <a:ext cx="2973742" cy="45535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b"/>
          <a:lstStyle/>
          <a:p>
            <a:pPr algn="r"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4E12EE4A-C9CF-417F-B2C1-68CE90DDE498}" type="slidenum">
              <a:rPr lang="en-US" altLang="en-US" sz="1300">
                <a:solidFill>
                  <a:srgbClr val="000000"/>
                </a:solidFill>
                <a:latin typeface="Times New Roman" pitchFamily="18" charset="0"/>
                <a:cs typeface="DejaVu Sans" charset="0"/>
              </a:rPr>
              <a:pPr algn="r"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34</a:t>
            </a:fld>
            <a:endParaRPr lang="en-US" altLang="en-US" sz="1300" dirty="0">
              <a:solidFill>
                <a:srgbClr val="000000"/>
              </a:solidFill>
              <a:latin typeface="Times New Roman" pitchFamily="18" charset="0"/>
              <a:cs typeface="DejaVu Sans" charset="0"/>
            </a:endParaRPr>
          </a:p>
        </p:txBody>
      </p:sp>
      <p:sp>
        <p:nvSpPr>
          <p:cNvPr id="56325" name="Rectangle 3"/>
          <p:cNvSpPr>
            <a:spLocks noGrp="1" noChangeArrowheads="1"/>
          </p:cNvSpPr>
          <p:nvPr>
            <p:ph type="body"/>
          </p:nvPr>
        </p:nvSpPr>
        <p:spPr>
          <a:xfrm>
            <a:off x="685187" y="4343613"/>
            <a:ext cx="5487626" cy="4112389"/>
          </a:xfrm>
          <a:noFill/>
        </p:spPr>
        <p:txBody>
          <a:bodyPr wrap="none" anchor="ctr"/>
          <a:lstStyle/>
          <a:p>
            <a:pPr>
              <a:spcBef>
                <a:spcPts val="450"/>
              </a:spcBef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endParaRPr lang="en-US" altLang="en-US" dirty="0">
              <a:latin typeface="Times New Roman" pitchFamily="18" charset="0"/>
              <a:ea typeface="WenQuanYi Micro Hei" charset="0"/>
              <a:cs typeface="WenQuanYi Micro Hei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468B23F8-4D2C-43AE-9307-7CA01DB98BE0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35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573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73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468B23F8-4D2C-43AE-9307-7CA01DB98BE0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36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573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73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8086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24607734-3B6E-4806-BB8D-E5E737F1E0BC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37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5837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30788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3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159" y="4776272"/>
            <a:ext cx="6218798" cy="452660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BD9ABD51-4E5C-499B-9C0F-0BF5939A9580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38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604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30788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04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159" y="4776272"/>
            <a:ext cx="6218798" cy="452660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DA26E157-C578-42E7-95A6-EA0050057A56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39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614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14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DA26E157-C578-42E7-95A6-EA0050057A56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40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614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14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7658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274C6B7B-52B4-4838-9020-46C192A3BBC3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41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624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24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2EA9ACD7-47AD-4694-A552-335492FB96CC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43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6349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349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23336A71-DA30-4012-891E-32E51CF93CF4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44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6451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45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C112FACD-D4F6-4C26-8BBE-C0A11248E325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45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6553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55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132FAF2F-7941-42D2-AE3F-3771AE93294A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46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6656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656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64D6E8BB-064E-4DE4-AEC6-D3513A36A807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47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675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75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714B8794-481C-452C-8C81-4EE6A0A63DCE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48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6861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861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2C3878C5-AC0A-495B-AF8E-6F54474552FA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49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6963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963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1513CCBC-DD1D-47CA-87E4-8AB89A8AF14A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50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7270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7270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1513CCBC-DD1D-47CA-87E4-8AB89A8AF14A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51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7270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7270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3042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55697" algn="l"/>
                <a:tab pos="912859" algn="l"/>
                <a:tab pos="1370021" algn="l"/>
                <a:tab pos="1827183" algn="l"/>
                <a:tab pos="2284345" algn="l"/>
                <a:tab pos="2741507" algn="l"/>
                <a:tab pos="3198668" algn="l"/>
                <a:tab pos="3655830" algn="l"/>
                <a:tab pos="4112992" algn="l"/>
                <a:tab pos="4570154" algn="l"/>
                <a:tab pos="5027316" algn="l"/>
                <a:tab pos="5484478" algn="l"/>
                <a:tab pos="5941640" algn="l"/>
                <a:tab pos="6398802" algn="l"/>
                <a:tab pos="6855964" algn="l"/>
                <a:tab pos="7313126" algn="l"/>
                <a:tab pos="7770287" algn="l"/>
                <a:tab pos="8227449" algn="l"/>
                <a:tab pos="8684611" algn="l"/>
                <a:tab pos="9141773" algn="l"/>
              </a:tabLst>
            </a:pPr>
            <a:fld id="{B932A1FF-5A69-40CD-956A-BB0A6908781E}" type="slidenum">
              <a:rPr lang="en-US" altLang="en-US" smtClean="0">
                <a:latin typeface="Times New Roman" pitchFamily="18" charset="0"/>
              </a:rPr>
              <a:pPr>
                <a:tabLst>
                  <a:tab pos="0" algn="l"/>
                  <a:tab pos="455697" algn="l"/>
                  <a:tab pos="912859" algn="l"/>
                  <a:tab pos="1370021" algn="l"/>
                  <a:tab pos="1827183" algn="l"/>
                  <a:tab pos="2284345" algn="l"/>
                  <a:tab pos="2741507" algn="l"/>
                  <a:tab pos="3198668" algn="l"/>
                  <a:tab pos="3655830" algn="l"/>
                  <a:tab pos="4112992" algn="l"/>
                  <a:tab pos="4570154" algn="l"/>
                  <a:tab pos="5027316" algn="l"/>
                  <a:tab pos="5484478" algn="l"/>
                  <a:tab pos="5941640" algn="l"/>
                  <a:tab pos="6398802" algn="l"/>
                  <a:tab pos="6855964" algn="l"/>
                  <a:tab pos="7313126" algn="l"/>
                  <a:tab pos="7770287" algn="l"/>
                  <a:tab pos="8227449" algn="l"/>
                  <a:tab pos="8684611" algn="l"/>
                  <a:tab pos="9141773" algn="l"/>
                </a:tabLst>
              </a:pPr>
              <a:t>52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7373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7373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187" y="4343613"/>
            <a:ext cx="5487626" cy="4115226"/>
          </a:xfrm>
          <a:noFill/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if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emf"/><Relationship Id="rId5" Type="http://schemas.openxmlformats.org/officeDocument/2006/relationships/image" Target="../media/image37.wmf"/><Relationship Id="rId4" Type="http://schemas.openxmlformats.org/officeDocument/2006/relationships/image" Target="../media/image3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jpeg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Hom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5975"/>
          <a:stretch/>
        </p:blipFill>
        <p:spPr bwMode="auto">
          <a:xfrm>
            <a:off x="482318" y="4943127"/>
            <a:ext cx="2392127" cy="1168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82318" y="227176"/>
            <a:ext cx="8410162" cy="5506080"/>
          </a:xfrm>
        </p:spPr>
        <p:txBody>
          <a:bodyPr>
            <a:normAutofit fontScale="90000"/>
          </a:bodyPr>
          <a:lstStyle/>
          <a:p>
            <a:r>
              <a:rPr lang="it-IT" sz="6000" b="1" dirty="0" err="1">
                <a:solidFill>
                  <a:srgbClr val="FF0000"/>
                </a:solidFill>
              </a:rPr>
              <a:t>Neuromorphic</a:t>
            </a:r>
            <a:r>
              <a:rPr lang="it-IT" sz="6000" b="1" dirty="0">
                <a:solidFill>
                  <a:srgbClr val="FF0000"/>
                </a:solidFill>
              </a:rPr>
              <a:t> engineering:</a:t>
            </a:r>
            <a:br>
              <a:rPr lang="it-IT" sz="6000" b="1" dirty="0">
                <a:solidFill>
                  <a:srgbClr val="FF0000"/>
                </a:solidFill>
              </a:rPr>
            </a:br>
            <a:r>
              <a:rPr lang="it-IT" sz="6000" b="1" dirty="0" err="1">
                <a:solidFill>
                  <a:srgbClr val="FF0000"/>
                </a:solidFill>
              </a:rPr>
              <a:t>computational</a:t>
            </a:r>
            <a:r>
              <a:rPr lang="it-IT" sz="6000" b="1" dirty="0">
                <a:solidFill>
                  <a:srgbClr val="FF0000"/>
                </a:solidFill>
              </a:rPr>
              <a:t> </a:t>
            </a:r>
            <a:r>
              <a:rPr lang="it-IT" sz="6000" b="1" dirty="0" err="1">
                <a:solidFill>
                  <a:srgbClr val="FF0000"/>
                </a:solidFill>
              </a:rPr>
              <a:t>neuroengineering</a:t>
            </a:r>
            <a:br>
              <a:rPr lang="it-IT" sz="6000" b="1" dirty="0">
                <a:solidFill>
                  <a:srgbClr val="FF0000"/>
                </a:solidFill>
              </a:rPr>
            </a:br>
            <a:r>
              <a:rPr lang="it-IT" sz="6000" b="1" dirty="0" err="1">
                <a:solidFill>
                  <a:srgbClr val="FF0000"/>
                </a:solidFill>
              </a:rPr>
              <a:t>module</a:t>
            </a:r>
            <a:br>
              <a:rPr lang="it-IT" sz="6000" b="1" dirty="0">
                <a:solidFill>
                  <a:srgbClr val="FF0000"/>
                </a:solidFill>
              </a:rPr>
            </a:br>
            <a:endParaRPr lang="it-IT" sz="6000" b="1" dirty="0">
              <a:solidFill>
                <a:srgbClr val="FF0000"/>
              </a:solidFill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3347864" y="5131249"/>
            <a:ext cx="5688632" cy="792088"/>
          </a:xfrm>
        </p:spPr>
        <p:txBody>
          <a:bodyPr>
            <a:normAutofit/>
          </a:bodyPr>
          <a:lstStyle/>
          <a:p>
            <a:r>
              <a:rPr lang="it-IT" dirty="0" err="1"/>
              <a:t>Mazzoni@Bionics</a:t>
            </a:r>
            <a:r>
              <a:rPr lang="it-IT" dirty="0"/>
              <a:t>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97"/>
          <p:cNvGrpSpPr/>
          <p:nvPr/>
        </p:nvGrpSpPr>
        <p:grpSpPr>
          <a:xfrm>
            <a:off x="457201" y="1524000"/>
            <a:ext cx="4800600" cy="2971800"/>
            <a:chOff x="1026192" y="914400"/>
            <a:chExt cx="7528623" cy="4495800"/>
          </a:xfrm>
        </p:grpSpPr>
        <p:sp>
          <p:nvSpPr>
            <p:cNvPr id="2" name="Freeform 1"/>
            <p:cNvSpPr/>
            <p:nvPr/>
          </p:nvSpPr>
          <p:spPr>
            <a:xfrm>
              <a:off x="1026193" y="914400"/>
              <a:ext cx="1196804" cy="122538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720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20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</a:t>
              </a:r>
            </a:p>
          </p:txBody>
        </p:sp>
        <p:sp>
          <p:nvSpPr>
            <p:cNvPr id="3" name="Freeform 2"/>
            <p:cNvSpPr/>
            <p:nvPr/>
          </p:nvSpPr>
          <p:spPr>
            <a:xfrm>
              <a:off x="2630577" y="1137727"/>
              <a:ext cx="2393609" cy="242804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720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20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P</a:t>
              </a:r>
            </a:p>
          </p:txBody>
        </p:sp>
        <p:sp>
          <p:nvSpPr>
            <p:cNvPr id="4" name="Freeform 3"/>
            <p:cNvSpPr/>
            <p:nvPr/>
          </p:nvSpPr>
          <p:spPr>
            <a:xfrm>
              <a:off x="6172200" y="1371600"/>
              <a:ext cx="2382615" cy="33528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38100">
              <a:solidFill>
                <a:schemeClr val="tx1"/>
              </a:solidFill>
              <a:custDash>
                <a:ds d="254000" sp="254000"/>
                <a:ds d="254000" sp="254000"/>
              </a:custDash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Unspecific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slow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cortical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activity</a:t>
              </a:r>
            </a:p>
          </p:txBody>
        </p:sp>
        <p:sp>
          <p:nvSpPr>
            <p:cNvPr id="5" name="Freeform 4"/>
            <p:cNvSpPr/>
            <p:nvPr/>
          </p:nvSpPr>
          <p:spPr>
            <a:xfrm>
              <a:off x="1241516" y="4537950"/>
              <a:ext cx="3621847" cy="87225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custDash>
                <a:ds d="254000" sp="254000"/>
                <a:ds d="254000" sp="254000"/>
              </a:custDash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Thalamic input</a:t>
              </a:r>
            </a:p>
          </p:txBody>
        </p:sp>
        <p:cxnSp>
          <p:nvCxnSpPr>
            <p:cNvPr id="6" name="Straight Arrow Connector 5"/>
            <p:cNvCxnSpPr>
              <a:stCxn id="5" idx="0"/>
              <a:endCxn id="5" idx="0"/>
            </p:cNvCxnSpPr>
            <p:nvPr/>
          </p:nvCxnSpPr>
          <p:spPr>
            <a:xfrm rot="5400000" flipH="1" flipV="1">
              <a:off x="3052297" y="4538090"/>
              <a:ext cx="2041" cy="1759"/>
            </a:xfrm>
            <a:prstGeom prst="straightConnector1">
              <a:avLst/>
            </a:prstGeom>
            <a:noFill/>
            <a:ln w="0">
              <a:solidFill>
                <a:srgbClr val="000000"/>
              </a:solidFill>
              <a:prstDash val="solid"/>
              <a:tailEnd type="arrow"/>
            </a:ln>
          </p:spPr>
        </p:cxnSp>
        <p:cxnSp>
          <p:nvCxnSpPr>
            <p:cNvPr id="7" name="Curved Connector 6"/>
            <p:cNvCxnSpPr>
              <a:stCxn id="5" idx="0"/>
              <a:endCxn id="2" idx="2"/>
            </p:cNvCxnSpPr>
            <p:nvPr/>
          </p:nvCxnSpPr>
          <p:spPr>
            <a:xfrm rot="16200000" flipV="1">
              <a:off x="1139435" y="2624945"/>
              <a:ext cx="2398165" cy="1427843"/>
            </a:xfrm>
            <a:prstGeom prst="curvedConnector3">
              <a:avLst>
                <a:gd name="adj1" fmla="val 50000"/>
              </a:avLst>
            </a:prstGeom>
            <a:noFill/>
            <a:ln w="508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8" name="Curved Connector 7"/>
            <p:cNvCxnSpPr>
              <a:stCxn id="4" idx="6"/>
              <a:endCxn id="3" idx="11"/>
            </p:cNvCxnSpPr>
            <p:nvPr/>
          </p:nvCxnSpPr>
          <p:spPr>
            <a:xfrm rot="16200000" flipV="1">
              <a:off x="4645576" y="1521376"/>
              <a:ext cx="1555059" cy="1498190"/>
            </a:xfrm>
            <a:prstGeom prst="curvedConnector3">
              <a:avLst>
                <a:gd name="adj1" fmla="val 107907"/>
              </a:avLst>
            </a:prstGeom>
            <a:noFill/>
            <a:ln w="254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9" name="Curved Connector 8"/>
            <p:cNvCxnSpPr>
              <a:stCxn id="4" idx="5"/>
              <a:endCxn id="2" idx="11"/>
            </p:cNvCxnSpPr>
            <p:nvPr/>
          </p:nvCxnSpPr>
          <p:spPr>
            <a:xfrm rot="16200000" flipV="1">
              <a:off x="3900123" y="-758544"/>
              <a:ext cx="768433" cy="4472859"/>
            </a:xfrm>
            <a:prstGeom prst="curvedConnector3">
              <a:avLst>
                <a:gd name="adj1" fmla="val 153078"/>
              </a:avLst>
            </a:prstGeom>
            <a:noFill/>
            <a:ln w="3175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0" name="Curved Connector 9"/>
            <p:cNvCxnSpPr>
              <a:stCxn id="3" idx="6"/>
              <a:endCxn id="2" idx="9"/>
            </p:cNvCxnSpPr>
            <p:nvPr/>
          </p:nvCxnSpPr>
          <p:spPr>
            <a:xfrm rot="16200000" flipV="1">
              <a:off x="2143629" y="1864798"/>
              <a:ext cx="391232" cy="582667"/>
            </a:xfrm>
            <a:prstGeom prst="curvedConnector3">
              <a:avLst>
                <a:gd name="adj1" fmla="val -56771"/>
              </a:avLst>
            </a:prstGeom>
            <a:noFill/>
            <a:ln w="3175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1" name="Curved Connector 10"/>
            <p:cNvCxnSpPr>
              <a:stCxn id="2" idx="10"/>
              <a:endCxn id="3" idx="5"/>
            </p:cNvCxnSpPr>
            <p:nvPr/>
          </p:nvCxnSpPr>
          <p:spPr>
            <a:xfrm rot="5400000" flipH="1" flipV="1">
              <a:off x="2584799" y="1131140"/>
              <a:ext cx="34152" cy="757755"/>
            </a:xfrm>
            <a:prstGeom prst="curvedConnector3">
              <a:avLst>
                <a:gd name="adj1" fmla="val 671495"/>
              </a:avLst>
            </a:prstGeom>
            <a:noFill/>
            <a:ln w="122400">
              <a:solidFill>
                <a:srgbClr val="0000FF"/>
              </a:solidFill>
              <a:prstDash val="solid"/>
              <a:tailEnd type="oval" w="sm" len="sm"/>
            </a:ln>
          </p:spPr>
        </p:cxnSp>
        <p:cxnSp>
          <p:nvCxnSpPr>
            <p:cNvPr id="12" name="Curved Connector 16"/>
            <p:cNvCxnSpPr>
              <a:stCxn id="2" idx="3"/>
            </p:cNvCxnSpPr>
            <p:nvPr/>
          </p:nvCxnSpPr>
          <p:spPr>
            <a:xfrm rot="10800000" flipH="1">
              <a:off x="1026192" y="914403"/>
              <a:ext cx="429519" cy="612689"/>
            </a:xfrm>
            <a:prstGeom prst="curvedConnector4">
              <a:avLst>
                <a:gd name="adj1" fmla="val -77258"/>
                <a:gd name="adj2" fmla="val 144594"/>
              </a:avLst>
            </a:prstGeom>
            <a:noFill/>
            <a:ln w="127000">
              <a:solidFill>
                <a:srgbClr val="0000FF"/>
              </a:solidFill>
              <a:prstDash val="solid"/>
              <a:tailEnd type="oval" w="sm" len="sm"/>
            </a:ln>
          </p:spPr>
        </p:cxnSp>
        <p:cxnSp>
          <p:nvCxnSpPr>
            <p:cNvPr id="13" name="Curved Connector 17"/>
            <p:cNvCxnSpPr>
              <a:stCxn id="3" idx="9"/>
              <a:endCxn id="3" idx="1"/>
            </p:cNvCxnSpPr>
            <p:nvPr/>
          </p:nvCxnSpPr>
          <p:spPr>
            <a:xfrm rot="5400000" flipH="1" flipV="1">
              <a:off x="4419695" y="2606065"/>
              <a:ext cx="858807" cy="350175"/>
            </a:xfrm>
            <a:prstGeom prst="curvedConnector4">
              <a:avLst>
                <a:gd name="adj1" fmla="val -40520"/>
                <a:gd name="adj2" fmla="val 194764"/>
              </a:avLst>
            </a:prstGeom>
            <a:noFill/>
            <a:ln w="360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4" name="Curved Connector 13"/>
            <p:cNvCxnSpPr>
              <a:stCxn id="5" idx="0"/>
              <a:endCxn id="3" idx="2"/>
            </p:cNvCxnSpPr>
            <p:nvPr/>
          </p:nvCxnSpPr>
          <p:spPr>
            <a:xfrm rot="5400000" flipH="1" flipV="1">
              <a:off x="2953820" y="3664388"/>
              <a:ext cx="972181" cy="774943"/>
            </a:xfrm>
            <a:prstGeom prst="curved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prstDash val="solid"/>
              <a:tailEnd type="triangle"/>
            </a:ln>
          </p:spPr>
        </p:cxnSp>
      </p:grpSp>
      <p:sp>
        <p:nvSpPr>
          <p:cNvPr id="15" name="TextBox 14"/>
          <p:cNvSpPr txBox="1"/>
          <p:nvPr/>
        </p:nvSpPr>
        <p:spPr>
          <a:xfrm>
            <a:off x="26020" y="5029200"/>
            <a:ext cx="4241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chemeClr val="tx1"/>
                </a:solidFill>
                <a:latin typeface="+mj-lt"/>
              </a:rPr>
              <a:t>Leaky integrate and fire neurons 4000 Excitatory </a:t>
            </a:r>
            <a:r>
              <a:rPr lang="en-US" sz="1600" b="0" dirty="0" err="1">
                <a:solidFill>
                  <a:schemeClr val="tx1"/>
                </a:solidFill>
                <a:latin typeface="+mj-lt"/>
              </a:rPr>
              <a:t>Excitatory</a:t>
            </a:r>
            <a:r>
              <a:rPr lang="en-US" sz="1600" b="0" dirty="0">
                <a:solidFill>
                  <a:schemeClr val="tx1"/>
                </a:solidFill>
                <a:latin typeface="+mj-lt"/>
              </a:rPr>
              <a:t> neurons 1000 Inhibitory Inhibitory neurons.</a:t>
            </a:r>
            <a:r>
              <a:rPr lang="en-US" sz="1600" dirty="0">
                <a:latin typeface="+mj-lt"/>
              </a:rPr>
              <a:t> </a:t>
            </a:r>
          </a:p>
          <a:p>
            <a:r>
              <a:rPr lang="en-US" sz="1600" b="0" dirty="0">
                <a:solidFill>
                  <a:schemeClr val="tx1"/>
                </a:solidFill>
                <a:latin typeface="+mj-lt"/>
              </a:rPr>
              <a:t>Sparse (p=0.2) random connections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1929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</a:t>
            </a:r>
            <a:r>
              <a:rPr kumimoji="0" lang="en-US" sz="32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excitatory-inhibitory</a:t>
            </a:r>
            <a:r>
              <a:rPr kumimoji="0" lang="en-US" sz="32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200" kern="0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</a:t>
            </a:r>
            <a:r>
              <a:rPr kumimoji="0" lang="en-US" sz="320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etworks</a:t>
            </a:r>
            <a:endParaRPr kumimoji="0" lang="en-US" sz="32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629" y="5924729"/>
            <a:ext cx="4648200" cy="90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Group 99"/>
          <p:cNvGrpSpPr/>
          <p:nvPr/>
        </p:nvGrpSpPr>
        <p:grpSpPr>
          <a:xfrm>
            <a:off x="5562601" y="630868"/>
            <a:ext cx="3276599" cy="5084132"/>
            <a:chOff x="6083999" y="1044000"/>
            <a:chExt cx="3600000" cy="5734800"/>
          </a:xfrm>
        </p:grpSpPr>
        <p:pic>
          <p:nvPicPr>
            <p:cNvPr id="101" name="Picture 100"/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>
              <a:off x="6083999" y="1044000"/>
              <a:ext cx="3600000" cy="573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Freeform 101"/>
            <p:cNvSpPr/>
            <p:nvPr/>
          </p:nvSpPr>
          <p:spPr>
            <a:xfrm>
              <a:off x="6083999" y="1044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6083999" y="2988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6083999" y="4968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24" name="CasellaDiTesto 23"/>
          <p:cNvSpPr txBox="1"/>
          <p:nvPr/>
        </p:nvSpPr>
        <p:spPr>
          <a:xfrm>
            <a:off x="2057400" y="22199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540919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28600" y="152400"/>
            <a:ext cx="5407742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2"/>
          <p:cNvSpPr/>
          <p:nvPr/>
        </p:nvSpPr>
        <p:spPr>
          <a:xfrm>
            <a:off x="3021999" y="215487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3021999" y="477615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3021999" y="152400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28600" y="15240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28600" y="211836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28600" y="4812661"/>
            <a:ext cx="186567" cy="18161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97718" y="2368006"/>
            <a:ext cx="1742495" cy="1329616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46643" y="5257655"/>
            <a:ext cx="2916357" cy="9757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LFP=|I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|+|I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0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on Excitatory neurons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6299" y="1338217"/>
            <a:ext cx="3004301" cy="691207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input: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costant signal + noise</a:t>
            </a:r>
          </a:p>
        </p:txBody>
      </p:sp>
      <p:sp>
        <p:nvSpPr>
          <p:cNvPr id="12" name="Straight Connector 11"/>
          <p:cNvSpPr/>
          <p:nvPr/>
        </p:nvSpPr>
        <p:spPr>
          <a:xfrm>
            <a:off x="5906729" y="2742474"/>
            <a:ext cx="600860" cy="0"/>
          </a:xfrm>
          <a:prstGeom prst="line">
            <a:avLst/>
          </a:prstGeom>
          <a:noFill/>
          <a:ln w="72000">
            <a:solidFill>
              <a:srgbClr val="2300DC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97718" y="3741057"/>
            <a:ext cx="2393882" cy="10346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5906729" y="4084632"/>
            <a:ext cx="600860" cy="0"/>
          </a:xfrm>
          <a:prstGeom prst="line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1640622" y="3741057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1640622" y="2305594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5334000" y="0"/>
            <a:ext cx="3810000" cy="13081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</a:t>
            </a:r>
          </a:p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to constant input</a:t>
            </a:r>
          </a:p>
        </p:txBody>
      </p:sp>
    </p:spTree>
    <p:extLst>
      <p:ext uri="{BB962C8B-B14F-4D97-AF65-F5344CB8AC3E}">
        <p14:creationId xmlns:p14="http://schemas.microsoft.com/office/powerpoint/2010/main" val="1265800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28600" y="152400"/>
            <a:ext cx="5407742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2"/>
          <p:cNvSpPr/>
          <p:nvPr/>
        </p:nvSpPr>
        <p:spPr>
          <a:xfrm>
            <a:off x="3021999" y="215487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3021999" y="477615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3021999" y="152400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28600" y="15240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28600" y="211836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28600" y="4812661"/>
            <a:ext cx="186567" cy="18161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97718" y="2368006"/>
            <a:ext cx="1742495" cy="1329616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46643" y="5257655"/>
            <a:ext cx="2916357" cy="9757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LFP=|I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|+|I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0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on Excitatory neurons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6299" y="1338217"/>
            <a:ext cx="3004301" cy="691207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input: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costant signal + noise</a:t>
            </a:r>
          </a:p>
        </p:txBody>
      </p:sp>
      <p:sp>
        <p:nvSpPr>
          <p:cNvPr id="12" name="Straight Connector 11"/>
          <p:cNvSpPr/>
          <p:nvPr/>
        </p:nvSpPr>
        <p:spPr>
          <a:xfrm>
            <a:off x="5906729" y="2742474"/>
            <a:ext cx="600860" cy="0"/>
          </a:xfrm>
          <a:prstGeom prst="line">
            <a:avLst/>
          </a:prstGeom>
          <a:noFill/>
          <a:ln w="72000">
            <a:solidFill>
              <a:srgbClr val="2300DC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97718" y="3741057"/>
            <a:ext cx="2393882" cy="10346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5906729" y="4084632"/>
            <a:ext cx="600860" cy="0"/>
          </a:xfrm>
          <a:prstGeom prst="line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1640622" y="3741057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1640622" y="2305594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5334000" y="0"/>
            <a:ext cx="3810000" cy="13081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</a:t>
            </a:r>
          </a:p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to constant input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374A4E3E-8003-4AC1-AE91-F67267E53BDB}"/>
              </a:ext>
            </a:extLst>
          </p:cNvPr>
          <p:cNvSpPr/>
          <p:nvPr/>
        </p:nvSpPr>
        <p:spPr>
          <a:xfrm>
            <a:off x="323531" y="1595336"/>
            <a:ext cx="2698468" cy="471398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Weak</a:t>
            </a:r>
            <a:r>
              <a:rPr lang="it-IT" sz="2400" b="1" dirty="0"/>
              <a:t> </a:t>
            </a:r>
            <a:r>
              <a:rPr lang="it-IT" sz="2400" b="1" dirty="0" err="1"/>
              <a:t>synchronization</a:t>
            </a:r>
            <a:r>
              <a:rPr lang="it-IT" sz="2400" dirty="0"/>
              <a:t>:</a:t>
            </a: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Oscillations</a:t>
            </a:r>
            <a:r>
              <a:rPr lang="it-IT" sz="2400" dirty="0"/>
              <a:t> are 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visible</a:t>
            </a:r>
            <a:r>
              <a:rPr lang="it-IT" sz="2400" dirty="0"/>
              <a:t> in single </a:t>
            </a:r>
            <a:r>
              <a:rPr lang="it-IT" sz="2400" dirty="0" err="1"/>
              <a:t>neurons</a:t>
            </a:r>
            <a:r>
              <a:rPr lang="it-IT" sz="2400" dirty="0"/>
              <a:t>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only</a:t>
            </a:r>
            <a:r>
              <a:rPr lang="it-IT" sz="2400" dirty="0"/>
              <a:t> on </a:t>
            </a:r>
            <a:r>
              <a:rPr lang="it-IT" sz="2400" dirty="0" err="1"/>
              <a:t>local</a:t>
            </a:r>
            <a:r>
              <a:rPr lang="it-IT" sz="2400" dirty="0"/>
              <a:t> field </a:t>
            </a:r>
            <a:r>
              <a:rPr lang="it-IT" sz="2400" dirty="0" err="1"/>
              <a:t>potentials</a:t>
            </a:r>
            <a:r>
              <a:rPr lang="it-IT" sz="2400" dirty="0"/>
              <a:t> (or </a:t>
            </a:r>
            <a:r>
              <a:rPr lang="it-IT" sz="2400" dirty="0" err="1"/>
              <a:t>total</a:t>
            </a:r>
            <a:r>
              <a:rPr lang="it-IT" sz="2400" dirty="0"/>
              <a:t> </a:t>
            </a:r>
            <a:r>
              <a:rPr lang="it-IT" sz="2400" dirty="0" err="1"/>
              <a:t>firing</a:t>
            </a:r>
            <a:r>
              <a:rPr lang="it-IT" sz="2400" dirty="0"/>
              <a:t> rate, </a:t>
            </a:r>
            <a:r>
              <a:rPr lang="it-IT" sz="2400" dirty="0" err="1"/>
              <a:t>that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accessible</a:t>
            </a:r>
            <a:r>
              <a:rPr lang="it-IT" sz="2400" dirty="0"/>
              <a:t> to </a:t>
            </a:r>
            <a:r>
              <a:rPr lang="it-IT" sz="2400" dirty="0" err="1"/>
              <a:t>experimenters</a:t>
            </a:r>
            <a:r>
              <a:rPr lang="it-IT" sz="2400" dirty="0"/>
              <a:t>) </a:t>
            </a:r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539973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1"/>
          <p:cNvPicPr>
            <a:picLocks noChangeAspect="1" noChangeArrowheads="1"/>
          </p:cNvPicPr>
          <p:nvPr/>
        </p:nvPicPr>
        <p:blipFill>
          <a:blip r:embed="rId3" cstate="print"/>
          <a:srcRect l="51688" t="4166"/>
          <a:stretch>
            <a:fillRect/>
          </a:stretch>
        </p:blipFill>
        <p:spPr bwMode="auto">
          <a:xfrm>
            <a:off x="214313" y="285750"/>
            <a:ext cx="2840037" cy="6572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2786063" y="0"/>
            <a:ext cx="6357937" cy="1308100"/>
          </a:xfrm>
        </p:spPr>
        <p:txBody>
          <a:bodyPr>
            <a:normAutofit/>
          </a:bodyPr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to constant input</a:t>
            </a: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3068638" y="2095500"/>
            <a:ext cx="201612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5" name="Rectangle 4"/>
          <p:cNvSpPr>
            <a:spLocks noChangeArrowheads="1"/>
          </p:cNvSpPr>
          <p:nvPr/>
        </p:nvSpPr>
        <p:spPr bwMode="auto">
          <a:xfrm>
            <a:off x="3068638" y="4838700"/>
            <a:ext cx="201612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3068638" y="0"/>
            <a:ext cx="201612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33338" y="0"/>
            <a:ext cx="203200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8" name="Rectangle 7"/>
          <p:cNvSpPr>
            <a:spLocks noChangeArrowheads="1"/>
          </p:cNvSpPr>
          <p:nvPr/>
        </p:nvSpPr>
        <p:spPr bwMode="auto">
          <a:xfrm>
            <a:off x="33338" y="2058988"/>
            <a:ext cx="203200" cy="188912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9" name="Rectangle 8"/>
          <p:cNvSpPr>
            <a:spLocks noChangeArrowheads="1"/>
          </p:cNvSpPr>
          <p:nvPr/>
        </p:nvSpPr>
        <p:spPr bwMode="auto">
          <a:xfrm>
            <a:off x="33338" y="4878388"/>
            <a:ext cx="203200" cy="188912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10" name="Text Box 9"/>
          <p:cNvSpPr txBox="1">
            <a:spLocks noChangeArrowheads="1"/>
          </p:cNvSpPr>
          <p:nvPr/>
        </p:nvSpPr>
        <p:spPr bwMode="auto">
          <a:xfrm>
            <a:off x="2928938" y="2500313"/>
            <a:ext cx="1893887" cy="8080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636" tIns="40818" rIns="81636" bIns="40818"/>
          <a:lstStyle/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Inhibitory neurons</a:t>
            </a:r>
          </a:p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spike rate</a:t>
            </a:r>
          </a:p>
          <a:p>
            <a:pPr>
              <a:tabLst>
                <a:tab pos="655638" algn="l"/>
                <a:tab pos="1311275" algn="l"/>
              </a:tabLst>
            </a:pPr>
            <a:endParaRPr lang="fi-FI" sz="2000" dirty="0">
              <a:solidFill>
                <a:schemeClr val="bg1"/>
              </a:solidFill>
            </a:endParaRPr>
          </a:p>
        </p:txBody>
      </p:sp>
      <p:sp>
        <p:nvSpPr>
          <p:cNvPr id="25611" name="Text Box 10"/>
          <p:cNvSpPr txBox="1">
            <a:spLocks noChangeArrowheads="1"/>
          </p:cNvSpPr>
          <p:nvPr/>
        </p:nvSpPr>
        <p:spPr bwMode="auto">
          <a:xfrm>
            <a:off x="2419350" y="5786438"/>
            <a:ext cx="2938463" cy="7127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636" tIns="40818" rIns="81636" bIns="40818"/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</a:tabLst>
            </a:pPr>
            <a:r>
              <a:rPr lang="fi-FI" sz="2000" dirty="0"/>
              <a:t>LFP=|I</a:t>
            </a:r>
            <a:r>
              <a:rPr lang="fi-FI" sz="2000" baseline="-33000" dirty="0"/>
              <a:t>Excitatory</a:t>
            </a:r>
            <a:r>
              <a:rPr lang="fi-FI" sz="2000" dirty="0"/>
              <a:t>|+|I</a:t>
            </a:r>
            <a:r>
              <a:rPr lang="fi-FI" sz="2000" baseline="-33000" dirty="0"/>
              <a:t>Inhibitory</a:t>
            </a:r>
            <a:r>
              <a:rPr lang="fi-FI" sz="2000" dirty="0"/>
              <a:t>|</a:t>
            </a:r>
          </a:p>
          <a:p>
            <a:pPr>
              <a:tabLst>
                <a:tab pos="655638" algn="l"/>
                <a:tab pos="1311275" algn="l"/>
                <a:tab pos="1968500" algn="l"/>
                <a:tab pos="2625725" algn="l"/>
              </a:tabLst>
            </a:pPr>
            <a:r>
              <a:rPr lang="fi-FI" sz="2000" dirty="0"/>
              <a:t>on Excitatory neurons</a:t>
            </a:r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2286000" y="2357438"/>
            <a:ext cx="654050" cy="1587"/>
          </a:xfrm>
          <a:prstGeom prst="line">
            <a:avLst/>
          </a:prstGeom>
          <a:noFill/>
          <a:ln w="72000">
            <a:solidFill>
              <a:srgbClr val="2300DC"/>
            </a:solidFill>
            <a:round/>
            <a:headEnd/>
            <a:tailEnd/>
          </a:ln>
        </p:spPr>
        <p:txBody>
          <a:bodyPr lIns="82943" tIns="41471" rIns="82943" bIns="41471"/>
          <a:lstStyle/>
          <a:p>
            <a:endParaRPr lang="en-US"/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3071813" y="3643313"/>
            <a:ext cx="1816100" cy="11064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636" tIns="40818" rIns="81636" bIns="40818"/>
          <a:lstStyle/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Excitatory neurons</a:t>
            </a:r>
          </a:p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spike rate</a:t>
            </a:r>
          </a:p>
          <a:p>
            <a:pPr>
              <a:tabLst>
                <a:tab pos="655638" algn="l"/>
                <a:tab pos="1311275" algn="l"/>
              </a:tabLst>
            </a:pPr>
            <a:endParaRPr lang="fi-FI" sz="2200" dirty="0">
              <a:solidFill>
                <a:schemeClr val="bg1"/>
              </a:solidFill>
            </a:endParaRPr>
          </a:p>
        </p:txBody>
      </p:sp>
      <p:sp>
        <p:nvSpPr>
          <p:cNvPr id="25614" name="Line 14"/>
          <p:cNvSpPr>
            <a:spLocks noChangeShapeType="1"/>
          </p:cNvSpPr>
          <p:nvPr/>
        </p:nvSpPr>
        <p:spPr bwMode="auto">
          <a:xfrm>
            <a:off x="2286000" y="3857625"/>
            <a:ext cx="654050" cy="3175"/>
          </a:xfrm>
          <a:prstGeom prst="line">
            <a:avLst/>
          </a:prstGeom>
          <a:noFill/>
          <a:ln w="72000">
            <a:solidFill>
              <a:srgbClr val="FF0000"/>
            </a:solidFill>
            <a:round/>
            <a:headEnd/>
            <a:tailEnd/>
          </a:ln>
        </p:spPr>
        <p:txBody>
          <a:bodyPr lIns="82943" tIns="41471" rIns="82943" bIns="41471"/>
          <a:lstStyle/>
          <a:p>
            <a:endParaRPr lang="en-US"/>
          </a:p>
        </p:txBody>
      </p:sp>
      <p:sp>
        <p:nvSpPr>
          <p:cNvPr id="25615" name="Text Box 18"/>
          <p:cNvSpPr txBox="1">
            <a:spLocks noChangeArrowheads="1"/>
          </p:cNvSpPr>
          <p:nvPr/>
        </p:nvSpPr>
        <p:spPr bwMode="auto">
          <a:xfrm>
            <a:off x="5786438" y="6237312"/>
            <a:ext cx="3152775" cy="583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943" tIns="41471" rIns="82943" bIns="41471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1300" i="1" dirty="0" err="1"/>
              <a:t>Mazzoni</a:t>
            </a:r>
            <a:r>
              <a:rPr lang="it-IT" sz="1300" i="1" dirty="0"/>
              <a:t>, </a:t>
            </a:r>
            <a:r>
              <a:rPr lang="it-IT" sz="1300" i="1" dirty="0" err="1"/>
              <a:t>et</a:t>
            </a:r>
            <a:r>
              <a:rPr lang="it-IT" sz="1300" i="1" dirty="0"/>
              <a:t> al – </a:t>
            </a:r>
            <a:r>
              <a:rPr lang="it-IT" sz="1300" i="1" dirty="0" err="1"/>
              <a:t>PLoS</a:t>
            </a:r>
            <a:r>
              <a:rPr lang="it-IT" sz="1300" i="1" dirty="0"/>
              <a:t> </a:t>
            </a:r>
            <a:r>
              <a:rPr lang="it-IT" sz="1300" i="1" dirty="0" err="1"/>
              <a:t>Comp</a:t>
            </a:r>
            <a:r>
              <a:rPr lang="it-IT" sz="1300" i="1" dirty="0"/>
              <a:t> </a:t>
            </a:r>
            <a:r>
              <a:rPr lang="it-IT" sz="1300" i="1" dirty="0" err="1"/>
              <a:t>Biol</a:t>
            </a:r>
            <a:r>
              <a:rPr lang="it-IT" sz="1300" i="1" dirty="0"/>
              <a:t>    (2008)</a:t>
            </a:r>
          </a:p>
          <a:p>
            <a:pPr>
              <a:spcBef>
                <a:spcPct val="50000"/>
              </a:spcBef>
            </a:pPr>
            <a:r>
              <a:rPr lang="it-IT" sz="1300" i="1" dirty="0" err="1"/>
              <a:t>Mazzoni</a:t>
            </a:r>
            <a:r>
              <a:rPr lang="it-IT" sz="1300" i="1" dirty="0"/>
              <a:t> </a:t>
            </a:r>
            <a:r>
              <a:rPr lang="it-IT" sz="1300" i="1" dirty="0" err="1"/>
              <a:t>et</a:t>
            </a:r>
            <a:r>
              <a:rPr lang="it-IT" sz="1300" i="1" dirty="0"/>
              <a:t> al (2010) </a:t>
            </a:r>
            <a:r>
              <a:rPr lang="it-IT" sz="1300" i="1" dirty="0" err="1"/>
              <a:t>Neuroimage</a:t>
            </a:r>
            <a:endParaRPr lang="it-IT" sz="1300" i="1" dirty="0"/>
          </a:p>
        </p:txBody>
      </p:sp>
      <p:pic>
        <p:nvPicPr>
          <p:cNvPr id="25616" name="Picture 2"/>
          <p:cNvPicPr>
            <a:picLocks noChangeAspect="1" noChangeArrowheads="1"/>
          </p:cNvPicPr>
          <p:nvPr/>
        </p:nvPicPr>
        <p:blipFill>
          <a:blip r:embed="rId4" cstate="print"/>
          <a:srcRect r="50000" b="50000"/>
          <a:stretch>
            <a:fillRect/>
          </a:stretch>
        </p:blipFill>
        <p:spPr bwMode="auto">
          <a:xfrm>
            <a:off x="4929188" y="1428750"/>
            <a:ext cx="3581400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17" name="CasellaDiTesto 19"/>
          <p:cNvSpPr txBox="1">
            <a:spLocks noChangeArrowheads="1"/>
          </p:cNvSpPr>
          <p:nvPr/>
        </p:nvSpPr>
        <p:spPr bwMode="auto">
          <a:xfrm>
            <a:off x="5357813" y="4214813"/>
            <a:ext cx="3786187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200">
                <a:latin typeface="Arial" charset="0"/>
                <a:cs typeface="Arial" charset="0"/>
              </a:rPr>
              <a:t>The network internally generates only gamma-range (40-100 Hz)  oscillations </a:t>
            </a:r>
          </a:p>
          <a:p>
            <a:r>
              <a:rPr lang="en-US" sz="2200">
                <a:latin typeface="Arial" charset="0"/>
                <a:cs typeface="Arial" charset="0"/>
              </a:rPr>
              <a:t>The gamma power encodes the strength of the input</a:t>
            </a:r>
          </a:p>
        </p:txBody>
      </p:sp>
    </p:spTree>
    <p:extLst>
      <p:ext uri="{BB962C8B-B14F-4D97-AF65-F5344CB8AC3E}">
        <p14:creationId xmlns:p14="http://schemas.microsoft.com/office/powerpoint/2010/main" val="322872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52324" y="782626"/>
            <a:ext cx="6963368" cy="27560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 4"/>
          <p:cNvSpPr/>
          <p:nvPr/>
        </p:nvSpPr>
        <p:spPr>
          <a:xfrm>
            <a:off x="159604" y="775338"/>
            <a:ext cx="316517" cy="33126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3641287" y="775338"/>
            <a:ext cx="316517" cy="33126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lum/>
            <a:alphaModFix/>
          </a:blip>
          <a:srcRect/>
          <a:stretch>
            <a:fillRect/>
          </a:stretch>
        </p:blipFill>
        <p:spPr>
          <a:xfrm>
            <a:off x="3641287" y="3591060"/>
            <a:ext cx="4588227" cy="296214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222907" y="4485466"/>
            <a:ext cx="3481684" cy="1270689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Modulation of the spectrum of LFP </a:t>
            </a:r>
            <a:r>
              <a:rPr lang="fi-FI" sz="2000" b="0" i="0" u="sng" strike="noStrike" dirty="0">
                <a:ln>
                  <a:noFill/>
                </a:ln>
                <a:uFillTx/>
                <a:latin typeface="Arial" pitchFamily="18"/>
                <a:ea typeface="DejaVu Sans" pitchFamily="2"/>
                <a:cs typeface="DejaVu Sans" pitchFamily="2"/>
              </a:rPr>
              <a:t>recorded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 in monkey V1 (</a:t>
            </a:r>
            <a:r>
              <a:rPr lang="fi-FI" sz="2000" b="0" i="1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Henrie and Shapley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1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J Neurophysiol 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6275" y="808464"/>
            <a:ext cx="1424325" cy="1270689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LFP from simulated cortical circuit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476121" y="0"/>
            <a:ext cx="8667879" cy="940968"/>
          </a:xfrm>
        </p:spPr>
        <p:txBody>
          <a:bodyPr>
            <a:normAutofit/>
          </a:bodyPr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to constant input</a:t>
            </a:r>
          </a:p>
        </p:txBody>
      </p:sp>
    </p:spTree>
    <p:extLst>
      <p:ext uri="{BB962C8B-B14F-4D97-AF65-F5344CB8AC3E}">
        <p14:creationId xmlns:p14="http://schemas.microsoft.com/office/powerpoint/2010/main" val="1942397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76200" y="975276"/>
            <a:ext cx="5614248" cy="289177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traight Connector 4"/>
          <p:cNvSpPr/>
          <p:nvPr/>
        </p:nvSpPr>
        <p:spPr>
          <a:xfrm>
            <a:off x="825702" y="3194447"/>
            <a:ext cx="4366637" cy="0"/>
          </a:xfrm>
          <a:prstGeom prst="line">
            <a:avLst/>
          </a:prstGeom>
          <a:noFill/>
          <a:ln w="0">
            <a:solidFill>
              <a:srgbClr val="FF0000"/>
            </a:solidFill>
            <a:custDash>
              <a:ds d="144567" sp="144567"/>
              <a:ds d="144567" sp="144567"/>
            </a:custDash>
          </a:ln>
        </p:spPr>
        <p:txBody>
          <a:bodyPr vert="horz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507360" y="3768047"/>
            <a:ext cx="3455881" cy="306008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753764" y="1052390"/>
            <a:ext cx="2963075" cy="2479994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just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Each constant signal is injected 20 times, every time with a different noise. In this way we can compute the information content of the spectrum. Since 8 different rates are injected the total entropy is 3 bits.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897" y="4357280"/>
            <a:ext cx="4990442" cy="141816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just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The peak of information is at ~70 Hz, slightly higher than the peak of the oscillations.</a:t>
            </a:r>
          </a:p>
          <a:p>
            <a:pPr marL="0" marR="0" lvl="0" indent="0" algn="just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  <a:p>
            <a:pPr marL="0" marR="0" lvl="0" indent="0" algn="just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The information contained in the frequencies of the gamma band is highly redundant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4972" y="1450201"/>
            <a:ext cx="1635628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18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4972" y="2888439"/>
            <a:ext cx="1247611" cy="317637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1800" b="0" i="0" u="none" strike="noStrike">
                <a:ln>
                  <a:noFill/>
                </a:ln>
                <a:solidFill>
                  <a:srgbClr val="00FF00"/>
                </a:solidFill>
                <a:latin typeface="Arial" pitchFamily="18"/>
                <a:ea typeface="DejaVu Sans" pitchFamily="2"/>
                <a:cs typeface="DejaVu Sans" pitchFamily="2"/>
              </a:rPr>
              <a:t>power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476121" y="0"/>
            <a:ext cx="8667879" cy="940968"/>
          </a:xfrm>
        </p:spPr>
        <p:txBody>
          <a:bodyPr>
            <a:normAutofit/>
          </a:bodyPr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to constant input</a:t>
            </a:r>
          </a:p>
        </p:txBody>
      </p:sp>
    </p:spTree>
    <p:extLst>
      <p:ext uri="{BB962C8B-B14F-4D97-AF65-F5344CB8AC3E}">
        <p14:creationId xmlns:p14="http://schemas.microsoft.com/office/powerpoint/2010/main" val="1633944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 l="9999" r="9999"/>
          <a:stretch>
            <a:fillRect/>
          </a:stretch>
        </p:blipFill>
        <p:spPr>
          <a:xfrm>
            <a:off x="0" y="1143000"/>
            <a:ext cx="3938334" cy="256993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304800" y="1219200"/>
            <a:ext cx="630133" cy="313834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18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LFP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0800" y="2971800"/>
            <a:ext cx="913693" cy="313834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FF0000"/>
                </a:solidFill>
              </a:defRPr>
            </a:pPr>
            <a:r>
              <a:rPr lang="fi-FI" sz="1800" b="0" i="0" u="none" strike="noStrike" dirty="0">
                <a:ln>
                  <a:noFill/>
                </a:ln>
                <a:solidFill>
                  <a:srgbClr val="FF0000"/>
                </a:solidFill>
                <a:latin typeface="Arial" pitchFamily="18"/>
                <a:ea typeface="DejaVu Sans" pitchFamily="2"/>
                <a:cs typeface="DejaVu Sans" pitchFamily="2"/>
              </a:rPr>
              <a:t>Signal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476121" y="0"/>
            <a:ext cx="8667879" cy="940968"/>
          </a:xfrm>
        </p:spPr>
        <p:txBody>
          <a:bodyPr>
            <a:normAutofit/>
          </a:bodyPr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Delta oscillations origin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266757" y="838200"/>
            <a:ext cx="2953885" cy="41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>
            <a:lum/>
            <a:alphaModFix/>
          </a:blip>
          <a:srcRect l="51798"/>
          <a:stretch/>
        </p:blipFill>
        <p:spPr>
          <a:xfrm>
            <a:off x="5181600" y="1376804"/>
            <a:ext cx="3124200" cy="308313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Freeform 13"/>
          <p:cNvSpPr/>
          <p:nvPr/>
        </p:nvSpPr>
        <p:spPr>
          <a:xfrm>
            <a:off x="443717" y="3954250"/>
            <a:ext cx="651746" cy="6914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15" name="Freeform 14"/>
          <p:cNvSpPr/>
          <p:nvPr/>
        </p:nvSpPr>
        <p:spPr>
          <a:xfrm>
            <a:off x="1317420" y="4080273"/>
            <a:ext cx="1303493" cy="137014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16" name="Freeform 15"/>
          <p:cNvSpPr/>
          <p:nvPr/>
        </p:nvSpPr>
        <p:spPr>
          <a:xfrm>
            <a:off x="560976" y="5999014"/>
            <a:ext cx="1972358" cy="4922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17" name="Straight Arrow Connector 16"/>
          <p:cNvCxnSpPr>
            <a:stCxn id="16" idx="0"/>
            <a:endCxn id="16" idx="0"/>
          </p:cNvCxnSpPr>
          <p:nvPr/>
        </p:nvCxnSpPr>
        <p:spPr>
          <a:xfrm rot="5400000" flipH="1" flipV="1">
            <a:off x="1547057" y="5999110"/>
            <a:ext cx="1152" cy="958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18" name="Curved Connector 17"/>
          <p:cNvCxnSpPr>
            <a:stCxn id="16" idx="0"/>
            <a:endCxn id="14" idx="2"/>
          </p:cNvCxnSpPr>
          <p:nvPr/>
        </p:nvCxnSpPr>
        <p:spPr>
          <a:xfrm rot="16200000" flipV="1">
            <a:off x="481732" y="4933591"/>
            <a:ext cx="1353281" cy="77756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19" name="Curved Connector 18"/>
          <p:cNvCxnSpPr>
            <a:stCxn id="15" idx="6"/>
            <a:endCxn id="14" idx="9"/>
          </p:cNvCxnSpPr>
          <p:nvPr/>
        </p:nvCxnSpPr>
        <p:spPr>
          <a:xfrm rot="16200000" flipV="1">
            <a:off x="1048382" y="4496305"/>
            <a:ext cx="220772" cy="317305"/>
          </a:xfrm>
          <a:prstGeom prst="curvedConnector3">
            <a:avLst>
              <a:gd name="adj1" fmla="val -5677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20" name="Curved Connector 19"/>
          <p:cNvCxnSpPr>
            <a:stCxn id="14" idx="10"/>
            <a:endCxn id="15" idx="5"/>
          </p:cNvCxnSpPr>
          <p:nvPr/>
        </p:nvCxnSpPr>
        <p:spPr>
          <a:xfrm rot="5400000" flipH="1" flipV="1">
            <a:off x="1292153" y="4084029"/>
            <a:ext cx="19272" cy="412653"/>
          </a:xfrm>
          <a:prstGeom prst="curvedConnector3">
            <a:avLst>
              <a:gd name="adj1" fmla="val 67149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21" name="Curved Connector 16"/>
          <p:cNvCxnSpPr>
            <a:stCxn id="14" idx="3"/>
          </p:cNvCxnSpPr>
          <p:nvPr/>
        </p:nvCxnSpPr>
        <p:spPr>
          <a:xfrm rot="10800000" flipH="1">
            <a:off x="443716" y="3954252"/>
            <a:ext cx="233904" cy="345739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22" name="Curved Connector 17"/>
          <p:cNvCxnSpPr>
            <a:stCxn id="15" idx="9"/>
            <a:endCxn id="15" idx="1"/>
          </p:cNvCxnSpPr>
          <p:nvPr/>
        </p:nvCxnSpPr>
        <p:spPr>
          <a:xfrm rot="5400000" flipH="1" flipV="1">
            <a:off x="2283255" y="4912308"/>
            <a:ext cx="484623" cy="190696"/>
          </a:xfrm>
          <a:prstGeom prst="curvedConnector4">
            <a:avLst>
              <a:gd name="adj1" fmla="val -40520"/>
              <a:gd name="adj2" fmla="val 194764"/>
            </a:avLst>
          </a:prstGeom>
          <a:noFill/>
          <a:ln w="360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23" name="Curved Connector 22"/>
          <p:cNvCxnSpPr>
            <a:stCxn id="16" idx="0"/>
            <a:endCxn id="15" idx="2"/>
          </p:cNvCxnSpPr>
          <p:nvPr/>
        </p:nvCxnSpPr>
        <p:spPr>
          <a:xfrm rot="5400000" flipH="1" flipV="1">
            <a:off x="1483860" y="5513706"/>
            <a:ext cx="548600" cy="422013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sp>
        <p:nvSpPr>
          <p:cNvPr id="3" name="TextBox 2"/>
          <p:cNvSpPr txBox="1"/>
          <p:nvPr/>
        </p:nvSpPr>
        <p:spPr>
          <a:xfrm>
            <a:off x="3352800" y="4765343"/>
            <a:ext cx="548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Intuitively: the slower network time constant is given by the </a:t>
            </a:r>
            <a:r>
              <a:rPr lang="en-US" dirty="0" err="1"/>
              <a:t>dy-sinaptic</a:t>
            </a:r>
            <a:r>
              <a:rPr lang="en-US" dirty="0"/>
              <a:t> P-I-P rhythm. Whatever is slower (&lt;30/40 Hz) will not interfere with network rhythms and will entrain the network linearly. </a:t>
            </a:r>
          </a:p>
        </p:txBody>
      </p:sp>
      <p:sp>
        <p:nvSpPr>
          <p:cNvPr id="24" name="CasellaDiTesto 23"/>
          <p:cNvSpPr txBox="1"/>
          <p:nvPr/>
        </p:nvSpPr>
        <p:spPr>
          <a:xfrm>
            <a:off x="1774206" y="45059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629160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58233" y="1295400"/>
            <a:ext cx="3998196" cy="278157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4428265" y="1546347"/>
            <a:ext cx="4410934" cy="1407719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just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Periodic signals with frequencies ranging from 4 to 16 Hz and 7 different amplitudes are used as input. Each signal is injected with 20 different noises. The total entropy is 5.6 bits.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878" y="4418626"/>
            <a:ext cx="4568467" cy="167408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just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Periodic signals entrain network LFP oscillations (the effect is stronger for lower frequencies).</a:t>
            </a:r>
          </a:p>
          <a:p>
            <a:pPr marL="0" marR="0" lvl="0" indent="0" algn="just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Information about the lowest band of the signal spectrum is then contained in the same band of the network LFP.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476121" y="0"/>
            <a:ext cx="8667879" cy="940968"/>
          </a:xfrm>
        </p:spPr>
        <p:txBody>
          <a:bodyPr>
            <a:normAutofit/>
          </a:bodyPr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to periodic input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845158" y="3807868"/>
            <a:ext cx="3994041" cy="2895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8769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4876800" y="2590800"/>
            <a:ext cx="3240000" cy="31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76121" y="0"/>
            <a:ext cx="8667879" cy="940968"/>
          </a:xfrm>
        </p:spPr>
        <p:txBody>
          <a:bodyPr>
            <a:normAutofit/>
          </a:bodyPr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Cross-frequency coupling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16708" r="61843" b="80783"/>
          <a:stretch/>
        </p:blipFill>
        <p:spPr>
          <a:xfrm>
            <a:off x="5562600" y="2590800"/>
            <a:ext cx="694944" cy="594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4" cstate="print"/>
          <a:srcRect l="43982"/>
          <a:stretch/>
        </p:blipFill>
        <p:spPr bwMode="auto">
          <a:xfrm>
            <a:off x="533400" y="2590800"/>
            <a:ext cx="3021206" cy="3029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152400" y="1066800"/>
            <a:ext cx="8915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peak of slowly modulated inputs to the network will cause a peak in the low frequency component of the response LFP (because of entrainment) and a particularly high gamma power (because the latter encodes the strength of the input). This will lead to the cross-frequency coupling that is often observed experimentally.</a:t>
            </a:r>
          </a:p>
        </p:txBody>
      </p:sp>
    </p:spTree>
    <p:extLst>
      <p:ext uri="{BB962C8B-B14F-4D97-AF65-F5344CB8AC3E}">
        <p14:creationId xmlns:p14="http://schemas.microsoft.com/office/powerpoint/2010/main" val="1689299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igbenedetta.t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27336" y="1507374"/>
            <a:ext cx="6811864" cy="321702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334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GB" sz="32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Responses of the simulated network to input stimuli matching LGN spiking activity during naturalistic movies presentations</a:t>
            </a:r>
            <a:endParaRPr lang="en-US" sz="3200" kern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8208" y="3991704"/>
            <a:ext cx="27676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0" dirty="0">
                <a:solidFill>
                  <a:schemeClr val="tx1"/>
                </a:solidFill>
                <a:latin typeface="+mj-lt"/>
              </a:rPr>
              <a:t>Stimuli matching LGN spiking activity during naturalistic movies presentations display a broad range of fluctuations.</a:t>
            </a:r>
          </a:p>
          <a:p>
            <a:pPr algn="just"/>
            <a:r>
              <a:rPr lang="en-US" sz="1400" b="0" dirty="0">
                <a:solidFill>
                  <a:schemeClr val="tx1"/>
                </a:solidFill>
                <a:latin typeface="+mj-lt"/>
              </a:rPr>
              <a:t>According to the model, input peaks are associated to troughs in the LFP delta band and to a larger amplitude of the LFP gamma  band.</a:t>
            </a:r>
          </a:p>
          <a:p>
            <a:pPr algn="just"/>
            <a:r>
              <a:rPr lang="en-US" sz="1400" b="0" dirty="0">
                <a:solidFill>
                  <a:schemeClr val="tx1"/>
                </a:solidFill>
                <a:latin typeface="+mj-lt"/>
              </a:rPr>
              <a:t>The model correctly reproduces the information content of recorded LFP frequency bands during presentation of naturalistic movies.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5407476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chemeClr val="tx1"/>
                </a:solidFill>
                <a:latin typeface="+mj-lt"/>
              </a:rPr>
              <a:t>Mazzoni et al. (2008)</a:t>
            </a:r>
          </a:p>
          <a:p>
            <a:r>
              <a:rPr lang="en-US" sz="1400" b="0" dirty="0" err="1">
                <a:solidFill>
                  <a:schemeClr val="tx1"/>
                </a:solidFill>
                <a:latin typeface="+mj-lt"/>
              </a:rPr>
              <a:t>PLoS</a:t>
            </a:r>
            <a:r>
              <a:rPr lang="en-US" sz="1400" b="0" dirty="0">
                <a:solidFill>
                  <a:schemeClr val="tx1"/>
                </a:solidFill>
                <a:latin typeface="+mj-lt"/>
              </a:rPr>
              <a:t> Comp. Biol.</a:t>
            </a:r>
          </a:p>
        </p:txBody>
      </p:sp>
      <p:pic>
        <p:nvPicPr>
          <p:cNvPr id="11" name="Picture 10" descr="7B.tif"/>
          <p:cNvPicPr>
            <a:picLocks noChangeAspect="1"/>
          </p:cNvPicPr>
          <p:nvPr/>
        </p:nvPicPr>
        <p:blipFill>
          <a:blip r:embed="rId3" cstate="print"/>
          <a:srcRect r="18636"/>
          <a:stretch>
            <a:fillRect/>
          </a:stretch>
        </p:blipFill>
        <p:spPr>
          <a:xfrm>
            <a:off x="3149296" y="4365105"/>
            <a:ext cx="3500844" cy="244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53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228600" y="1733173"/>
            <a:ext cx="8381999" cy="4991854"/>
            <a:chOff x="-199126" y="1007640"/>
            <a:chExt cx="10653356" cy="650440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lum/>
              <a:alphaModFix/>
            </a:blip>
            <a:srcRect/>
            <a:stretch>
              <a:fillRect/>
            </a:stretch>
          </p:blipFill>
          <p:spPr>
            <a:xfrm>
              <a:off x="43200" y="1007999"/>
              <a:ext cx="5428800" cy="39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>
              <a:off x="5609520" y="1007640"/>
              <a:ext cx="4456800" cy="39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TextBox 5"/>
            <p:cNvSpPr txBox="1"/>
            <p:nvPr/>
          </p:nvSpPr>
          <p:spPr>
            <a:xfrm>
              <a:off x="-17942" y="5004509"/>
              <a:ext cx="9900000" cy="1359000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0000" tIns="45000" rIns="90000" bIns="45000" compatLnSpc="0">
              <a:spAutoFit/>
            </a:bodyPr>
            <a:lstStyle/>
            <a:p>
              <a:pPr marL="0" marR="0" lvl="0" indent="0" algn="just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fi-FI" sz="1600" b="0" i="0" u="none" strike="noStrike" dirty="0">
                  <a:ln>
                    <a:noFill/>
                  </a:ln>
                  <a:latin typeface="Arial" pitchFamily="18"/>
                  <a:ea typeface="DejaVu Sans" pitchFamily="2"/>
                  <a:cs typeface="DejaVu Sans" pitchFamily="2"/>
                </a:rPr>
                <a:t>There are two informative bands: frequencies below 10 Hz (”low frequencies”) and 30-100 Hz (gamma band). The two bands convey independent information. Furthermore low frequencies convey independent information from each other, while gamma frequencies are redundant.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-199126" y="6394553"/>
              <a:ext cx="10653356" cy="1117491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Ctr="0" compatLnSpc="0">
              <a:sp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fi-FI" sz="2600" b="1" i="0" u="sng" strike="noStrike" dirty="0">
                  <a:ln>
                    <a:noFill/>
                  </a:ln>
                  <a:uFillTx/>
                  <a:latin typeface="Arial" pitchFamily="18"/>
                  <a:ea typeface="DejaVu Sans" pitchFamily="2"/>
                  <a:cs typeface="DejaVu Sans" pitchFamily="2"/>
                </a:rPr>
                <a:t>Gamma band encodes signal rate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fi-FI" sz="2600" b="1" i="0" u="sng" strike="noStrike" dirty="0">
                  <a:ln>
                    <a:noFill/>
                  </a:ln>
                  <a:uFillTx/>
                  <a:latin typeface="Arial" pitchFamily="18"/>
                  <a:ea typeface="DejaVu Sans" pitchFamily="2"/>
                  <a:cs typeface="DejaVu Sans" pitchFamily="2"/>
                </a:rPr>
                <a:t>Delta band encodes slow signal components</a:t>
              </a:r>
            </a:p>
          </p:txBody>
        </p:sp>
      </p:grp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-3080" y="381000"/>
            <a:ext cx="9144000" cy="5334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GB" sz="32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Responses of the simulated network to input stimuli matching LGN spiking activity during naturalistic movies presentations</a:t>
            </a:r>
            <a:endParaRPr lang="en-US" sz="3200" kern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654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olo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3937" cy="642938"/>
          </a:xfrm>
        </p:spPr>
        <p:txBody>
          <a:bodyPr>
            <a:normAutofit/>
          </a:bodyPr>
          <a:lstStyle/>
          <a:p>
            <a:pPr algn="just"/>
            <a:r>
              <a:rPr lang="it-IT" sz="3200" dirty="0">
                <a:solidFill>
                  <a:srgbClr val="FF0000"/>
                </a:solidFill>
                <a:latin typeface="Arial" charset="0"/>
                <a:cs typeface="Arial" charset="0"/>
              </a:rPr>
              <a:t>Take home </a:t>
            </a:r>
            <a:r>
              <a:rPr lang="it-IT" sz="3200" dirty="0" err="1">
                <a:solidFill>
                  <a:srgbClr val="FF0000"/>
                </a:solidFill>
                <a:latin typeface="Arial" charset="0"/>
                <a:cs typeface="Arial" charset="0"/>
              </a:rPr>
              <a:t>message</a:t>
            </a:r>
            <a:r>
              <a:rPr lang="it-IT" sz="3200" dirty="0">
                <a:solidFill>
                  <a:srgbClr val="FF0000"/>
                </a:solidFill>
                <a:latin typeface="Arial" charset="0"/>
                <a:cs typeface="Arial" charset="0"/>
              </a:rPr>
              <a:t>(s)</a:t>
            </a:r>
          </a:p>
        </p:txBody>
      </p:sp>
      <p:sp>
        <p:nvSpPr>
          <p:cNvPr id="31747" name="CasellaDiTesto 5"/>
          <p:cNvSpPr txBox="1">
            <a:spLocks noChangeArrowheads="1"/>
          </p:cNvSpPr>
          <p:nvPr/>
        </p:nvSpPr>
        <p:spPr bwMode="auto">
          <a:xfrm>
            <a:off x="323528" y="980728"/>
            <a:ext cx="8501063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latin typeface="Arial" charset="0"/>
                <a:cs typeface="Arial" charset="0"/>
              </a:rPr>
              <a:t>During naturalistic stimulation, primary visual cortex </a:t>
            </a:r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multiplexes</a:t>
            </a:r>
            <a:r>
              <a:rPr lang="en-US" sz="2000" dirty="0">
                <a:latin typeface="Arial" charset="0"/>
                <a:cs typeface="Arial" charset="0"/>
              </a:rPr>
              <a:t> information by generating  </a:t>
            </a:r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two complementary temporal information streams</a:t>
            </a:r>
            <a:r>
              <a:rPr lang="en-US" sz="2000" dirty="0">
                <a:latin typeface="Arial" charset="0"/>
                <a:cs typeface="Arial" charset="0"/>
              </a:rPr>
              <a:t>: </a:t>
            </a:r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slow</a:t>
            </a:r>
            <a:r>
              <a:rPr lang="en-US" sz="2000" dirty="0">
                <a:latin typeface="Arial" charset="0"/>
                <a:cs typeface="Arial" charset="0"/>
              </a:rPr>
              <a:t> (&lt;10 Hz) fluctuations of the excitability of the local network, and </a:t>
            </a:r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fast</a:t>
            </a:r>
            <a:r>
              <a:rPr lang="en-US" sz="2000" dirty="0">
                <a:latin typeface="Arial" charset="0"/>
                <a:cs typeface="Arial" charset="0"/>
              </a:rPr>
              <a:t> (40-100 Hz) gamma oscillations.</a:t>
            </a:r>
          </a:p>
          <a:p>
            <a:endParaRPr lang="en-US" sz="2000" dirty="0">
              <a:latin typeface="Arial" charset="0"/>
              <a:cs typeface="Arial" charset="0"/>
            </a:endParaRPr>
          </a:p>
          <a:p>
            <a:r>
              <a:rPr lang="en-US" sz="2000" dirty="0">
                <a:latin typeface="Arial" charset="0"/>
                <a:cs typeface="Arial" charset="0"/>
              </a:rPr>
              <a:t>These complementary information channels reflect different aspects of both neural dynamics and of stimulus representations. </a:t>
            </a:r>
          </a:p>
          <a:p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Slow fluctuations </a:t>
            </a:r>
            <a:r>
              <a:rPr lang="en-US" sz="2000" dirty="0">
                <a:latin typeface="Arial" charset="0"/>
                <a:cs typeface="Arial" charset="0"/>
              </a:rPr>
              <a:t>reflect entrainment to the stimulus time course and thus provide </a:t>
            </a:r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“when” information about stimulus history</a:t>
            </a:r>
            <a:r>
              <a:rPr lang="en-US" sz="2000" dirty="0">
                <a:latin typeface="Arial" charset="0"/>
                <a:cs typeface="Arial" charset="0"/>
              </a:rPr>
              <a:t> </a:t>
            </a:r>
          </a:p>
          <a:p>
            <a:endParaRPr lang="en-US" sz="2000" dirty="0">
              <a:latin typeface="Arial" charset="0"/>
              <a:cs typeface="Arial" charset="0"/>
            </a:endParaRPr>
          </a:p>
          <a:p>
            <a:endParaRPr lang="en-US" sz="2000" dirty="0">
              <a:latin typeface="Arial" charset="0"/>
              <a:cs typeface="Arial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Fast oscillations</a:t>
            </a:r>
            <a:r>
              <a:rPr lang="en-US" sz="2000" dirty="0">
                <a:latin typeface="Arial" charset="0"/>
                <a:cs typeface="Arial" charset="0"/>
              </a:rPr>
              <a:t> (which are largely redundant to spiking activity) are internally generated by excitatory-inhibitory interactions and encode “</a:t>
            </a:r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what</a:t>
            </a:r>
            <a:r>
              <a:rPr lang="en-US" sz="2000" dirty="0">
                <a:latin typeface="Arial" charset="0"/>
                <a:cs typeface="Arial" charset="0"/>
              </a:rPr>
              <a:t>” information about the current </a:t>
            </a:r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stimulus strength</a:t>
            </a:r>
          </a:p>
        </p:txBody>
      </p:sp>
    </p:spTree>
    <p:extLst>
      <p:ext uri="{BB962C8B-B14F-4D97-AF65-F5344CB8AC3E}">
        <p14:creationId xmlns:p14="http://schemas.microsoft.com/office/powerpoint/2010/main" val="130241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1" y="37795"/>
            <a:ext cx="8110565" cy="890875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Arial" charset="0"/>
                <a:cs typeface="Arial" charset="0"/>
              </a:rPr>
              <a:t>Thalamic oscillations</a:t>
            </a:r>
            <a:endParaRPr lang="en-US" sz="40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63" y="2324100"/>
            <a:ext cx="6143625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25" y="928688"/>
            <a:ext cx="6334125" cy="1150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3544863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1" y="37795"/>
            <a:ext cx="8110565" cy="890875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Arial" charset="0"/>
                <a:cs typeface="Arial" charset="0"/>
              </a:rPr>
              <a:t>Thalamic oscillations</a:t>
            </a:r>
            <a:endParaRPr lang="en-US" sz="40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63" y="2324100"/>
            <a:ext cx="6143625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25" y="928688"/>
            <a:ext cx="6334125" cy="1150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00BFFB40-7D26-4E50-87B1-805CCCA149B5}"/>
              </a:ext>
            </a:extLst>
          </p:cNvPr>
          <p:cNvSpPr/>
          <p:nvPr/>
        </p:nvSpPr>
        <p:spPr>
          <a:xfrm>
            <a:off x="323528" y="1052736"/>
            <a:ext cx="3312364" cy="5262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Modeling</a:t>
            </a:r>
            <a:r>
              <a:rPr lang="it-IT" sz="2400" b="1" dirty="0"/>
              <a:t> </a:t>
            </a:r>
            <a:r>
              <a:rPr lang="it-IT" sz="2400" b="1" dirty="0" err="1"/>
              <a:t>thalamus</a:t>
            </a:r>
            <a:r>
              <a:rPr lang="it-IT" sz="2400" dirty="0"/>
              <a:t>:</a:t>
            </a:r>
          </a:p>
          <a:p>
            <a:pPr algn="ctr"/>
            <a:endParaRPr lang="it-IT" sz="2400" dirty="0"/>
          </a:p>
          <a:p>
            <a:pPr algn="ctr"/>
            <a:r>
              <a:rPr lang="it-IT" sz="2400" dirty="0"/>
              <a:t>The </a:t>
            </a:r>
            <a:r>
              <a:rPr lang="it-IT" sz="2400" dirty="0" err="1"/>
              <a:t>thalamus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less</a:t>
            </a:r>
            <a:r>
              <a:rPr lang="it-IT" sz="2400" dirty="0"/>
              <a:t> </a:t>
            </a:r>
            <a:r>
              <a:rPr lang="it-IT" sz="2400" dirty="0" err="1"/>
              <a:t>studied</a:t>
            </a:r>
            <a:r>
              <a:rPr lang="it-IT" sz="2400" dirty="0"/>
              <a:t> and </a:t>
            </a:r>
            <a:r>
              <a:rPr lang="it-IT" sz="2400" dirty="0" err="1"/>
              <a:t>understood</a:t>
            </a:r>
            <a:r>
              <a:rPr lang="it-IT" sz="2400" dirty="0"/>
              <a:t> </a:t>
            </a:r>
            <a:r>
              <a:rPr lang="it-IT" sz="2400" dirty="0" err="1"/>
              <a:t>than</a:t>
            </a:r>
            <a:r>
              <a:rPr lang="it-IT" sz="2400" dirty="0"/>
              <a:t> the </a:t>
            </a:r>
            <a:r>
              <a:rPr lang="it-IT" sz="2400" dirty="0" err="1"/>
              <a:t>cortex</a:t>
            </a:r>
            <a:r>
              <a:rPr lang="it-IT" sz="2400" dirty="0"/>
              <a:t> and the </a:t>
            </a:r>
            <a:r>
              <a:rPr lang="it-IT" sz="2400" dirty="0" err="1"/>
              <a:t>periphery</a:t>
            </a:r>
            <a:r>
              <a:rPr lang="it-IT" sz="2400" dirty="0"/>
              <a:t>.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we</a:t>
            </a:r>
            <a:r>
              <a:rPr lang="it-IT" sz="2400" dirty="0"/>
              <a:t> do </a:t>
            </a:r>
            <a:r>
              <a:rPr lang="it-IT" sz="2400" dirty="0" err="1"/>
              <a:t>need</a:t>
            </a:r>
            <a:r>
              <a:rPr lang="it-IT" sz="2400" dirty="0"/>
              <a:t> to </a:t>
            </a:r>
            <a:r>
              <a:rPr lang="it-IT" sz="2400" dirty="0" err="1"/>
              <a:t>understand</a:t>
            </a:r>
            <a:r>
              <a:rPr lang="it-IT" sz="2400" dirty="0"/>
              <a:t> </a:t>
            </a:r>
            <a:r>
              <a:rPr lang="it-IT" sz="2400" dirty="0" err="1"/>
              <a:t>it</a:t>
            </a:r>
            <a:r>
              <a:rPr lang="it-IT" sz="2400" dirty="0"/>
              <a:t> for </a:t>
            </a:r>
            <a:r>
              <a:rPr lang="it-IT" sz="2400" dirty="0" err="1"/>
              <a:t>biomedical</a:t>
            </a:r>
            <a:r>
              <a:rPr lang="it-IT" sz="2400" dirty="0"/>
              <a:t> </a:t>
            </a:r>
            <a:r>
              <a:rPr lang="it-IT" sz="2400" dirty="0" err="1"/>
              <a:t>applications</a:t>
            </a:r>
            <a:r>
              <a:rPr lang="it-IT" sz="2400" dirty="0"/>
              <a:t>, like high </a:t>
            </a:r>
            <a:r>
              <a:rPr lang="it-IT" sz="2400" dirty="0" err="1"/>
              <a:t>level</a:t>
            </a:r>
            <a:r>
              <a:rPr lang="it-IT" sz="2400" dirty="0"/>
              <a:t> </a:t>
            </a:r>
            <a:r>
              <a:rPr lang="it-IT" sz="2400" dirty="0" err="1"/>
              <a:t>sensory</a:t>
            </a:r>
            <a:r>
              <a:rPr lang="it-IT" sz="2400" dirty="0"/>
              <a:t> feedback for </a:t>
            </a:r>
            <a:r>
              <a:rPr lang="it-IT" sz="2400" dirty="0" err="1"/>
              <a:t>whole</a:t>
            </a:r>
            <a:r>
              <a:rPr lang="it-IT" sz="2400" dirty="0"/>
              <a:t> </a:t>
            </a:r>
            <a:r>
              <a:rPr lang="it-IT" sz="2400" dirty="0" err="1"/>
              <a:t>arm</a:t>
            </a:r>
            <a:r>
              <a:rPr lang="it-IT" sz="2400" dirty="0"/>
              <a:t> </a:t>
            </a:r>
            <a:r>
              <a:rPr lang="it-IT" sz="2400" dirty="0" err="1"/>
              <a:t>amputated</a:t>
            </a:r>
            <a:r>
              <a:rPr lang="it-IT" sz="2400" dirty="0"/>
              <a:t>/ </a:t>
            </a:r>
            <a:r>
              <a:rPr lang="it-IT" sz="2400" dirty="0" err="1"/>
              <a:t>tetraplegic</a:t>
            </a:r>
            <a:r>
              <a:rPr lang="it-IT" sz="2400" dirty="0"/>
              <a:t> </a:t>
            </a:r>
            <a:r>
              <a:rPr lang="it-IT" sz="2400" dirty="0" err="1"/>
              <a:t>subjects</a:t>
            </a:r>
            <a:r>
              <a:rPr lang="it-IT" sz="2400" dirty="0"/>
              <a:t>, and deep brain </a:t>
            </a:r>
            <a:r>
              <a:rPr lang="it-IT" sz="2400" dirty="0" err="1"/>
              <a:t>stimulation</a:t>
            </a:r>
            <a:r>
              <a:rPr lang="it-IT" sz="2400" dirty="0"/>
              <a:t> for Tourette</a:t>
            </a:r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18378937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1" y="37795"/>
            <a:ext cx="8110565" cy="890875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Arial" charset="0"/>
                <a:cs typeface="Arial" charset="0"/>
              </a:rPr>
              <a:t>Thalamic oscillations</a:t>
            </a:r>
            <a:endParaRPr lang="en-US" sz="40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63" y="2324100"/>
            <a:ext cx="6143625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25" y="928688"/>
            <a:ext cx="6334125" cy="1150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00BFFB40-7D26-4E50-87B1-805CCCA149B5}"/>
              </a:ext>
            </a:extLst>
          </p:cNvPr>
          <p:cNvSpPr/>
          <p:nvPr/>
        </p:nvSpPr>
        <p:spPr>
          <a:xfrm>
            <a:off x="5436096" y="1340768"/>
            <a:ext cx="3312364" cy="5262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Sleeping </a:t>
            </a:r>
            <a:r>
              <a:rPr lang="it-IT" sz="2400" b="1" dirty="0" err="1"/>
              <a:t>thalamus</a:t>
            </a:r>
            <a:r>
              <a:rPr lang="it-IT" sz="2400" dirty="0"/>
              <a:t>:</a:t>
            </a:r>
          </a:p>
          <a:p>
            <a:pPr algn="ctr"/>
            <a:endParaRPr lang="it-IT" sz="2400" dirty="0"/>
          </a:p>
          <a:p>
            <a:pPr algn="ctr"/>
            <a:r>
              <a:rPr lang="it-IT" sz="2400" dirty="0"/>
              <a:t>The </a:t>
            </a:r>
            <a:r>
              <a:rPr lang="it-IT" sz="2400" dirty="0" err="1"/>
              <a:t>thalamus</a:t>
            </a:r>
            <a:r>
              <a:rPr lang="it-IT" sz="2400" dirty="0"/>
              <a:t> acts </a:t>
            </a:r>
            <a:r>
              <a:rPr lang="it-IT" sz="2400" dirty="0" err="1"/>
              <a:t>as</a:t>
            </a:r>
            <a:r>
              <a:rPr lang="it-IT" sz="2400" dirty="0"/>
              <a:t> a gate for </a:t>
            </a:r>
            <a:r>
              <a:rPr lang="it-IT" sz="2400" dirty="0" err="1"/>
              <a:t>sensory</a:t>
            </a:r>
            <a:r>
              <a:rPr lang="it-IT" sz="2400" dirty="0"/>
              <a:t> inputs, and in </a:t>
            </a:r>
            <a:r>
              <a:rPr lang="it-IT" sz="2400" dirty="0" err="1"/>
              <a:t>particular</a:t>
            </a:r>
            <a:r>
              <a:rPr lang="it-IT" sz="2400" dirty="0"/>
              <a:t> </a:t>
            </a:r>
            <a:r>
              <a:rPr lang="it-IT" sz="2400" dirty="0" err="1"/>
              <a:t>during</a:t>
            </a:r>
            <a:r>
              <a:rPr lang="it-IT" sz="2400" dirty="0"/>
              <a:t> </a:t>
            </a:r>
            <a:r>
              <a:rPr lang="it-IT" sz="2400" dirty="0" err="1"/>
              <a:t>sleep</a:t>
            </a:r>
            <a:r>
              <a:rPr lang="it-IT" sz="2400" dirty="0"/>
              <a:t> </a:t>
            </a:r>
            <a:r>
              <a:rPr lang="it-IT" sz="2400" dirty="0" err="1"/>
              <a:t>oscillates</a:t>
            </a:r>
            <a:r>
              <a:rPr lang="it-IT" sz="2400" dirty="0"/>
              <a:t> </a:t>
            </a:r>
            <a:r>
              <a:rPr lang="it-IT" sz="2400" dirty="0" err="1"/>
              <a:t>at</a:t>
            </a:r>
            <a:r>
              <a:rPr lang="it-IT" sz="2400" dirty="0"/>
              <a:t> </a:t>
            </a:r>
            <a:r>
              <a:rPr lang="it-IT" sz="2400" dirty="0" err="1"/>
              <a:t>about</a:t>
            </a:r>
            <a:r>
              <a:rPr lang="it-IT" sz="2400" dirty="0"/>
              <a:t> 10 Hz to stop </a:t>
            </a:r>
            <a:r>
              <a:rPr lang="it-IT" sz="2400" dirty="0" err="1"/>
              <a:t>external</a:t>
            </a:r>
            <a:r>
              <a:rPr lang="it-IT" sz="2400" dirty="0"/>
              <a:t> </a:t>
            </a:r>
            <a:r>
              <a:rPr lang="it-IT" sz="2400" dirty="0" err="1"/>
              <a:t>stimuli</a:t>
            </a:r>
            <a:r>
              <a:rPr lang="it-IT" sz="2400" dirty="0"/>
              <a:t> </a:t>
            </a:r>
            <a:r>
              <a:rPr lang="it-IT" sz="2400" dirty="0" err="1"/>
              <a:t>below</a:t>
            </a:r>
            <a:r>
              <a:rPr lang="it-IT" sz="2400" dirty="0"/>
              <a:t> a </a:t>
            </a:r>
            <a:r>
              <a:rPr lang="it-IT" sz="2400" dirty="0" err="1"/>
              <a:t>given</a:t>
            </a:r>
            <a:r>
              <a:rPr lang="it-IT" sz="2400" dirty="0"/>
              <a:t> </a:t>
            </a:r>
            <a:r>
              <a:rPr lang="it-IT" sz="2400" dirty="0" err="1"/>
              <a:t>threshold</a:t>
            </a:r>
            <a:r>
              <a:rPr lang="it-IT" sz="2400" dirty="0"/>
              <a:t>.</a:t>
            </a:r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69078439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1"/>
          <p:cNvSpPr txBox="1">
            <a:spLocks noChangeArrowheads="1"/>
          </p:cNvSpPr>
          <p:nvPr/>
        </p:nvSpPr>
        <p:spPr bwMode="auto">
          <a:xfrm>
            <a:off x="603250" y="0"/>
            <a:ext cx="8001000" cy="730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Single neuron description level</a:t>
            </a:r>
          </a:p>
        </p:txBody>
      </p:sp>
      <p:pic>
        <p:nvPicPr>
          <p:cNvPr id="3379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944563"/>
            <a:ext cx="9144000" cy="541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/>
          <p:cNvSpPr txBox="1">
            <a:spLocks noChangeArrowheads="1"/>
          </p:cNvSpPr>
          <p:nvPr/>
        </p:nvSpPr>
        <p:spPr bwMode="auto">
          <a:xfrm>
            <a:off x="603250" y="0"/>
            <a:ext cx="8001000" cy="730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Basic oscillator</a:t>
            </a:r>
          </a:p>
        </p:txBody>
      </p:sp>
      <p:pic>
        <p:nvPicPr>
          <p:cNvPr id="3481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785813"/>
            <a:ext cx="7000875" cy="5961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221778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/>
          <p:cNvSpPr txBox="1">
            <a:spLocks noChangeArrowheads="1"/>
          </p:cNvSpPr>
          <p:nvPr/>
        </p:nvSpPr>
        <p:spPr bwMode="auto">
          <a:xfrm>
            <a:off x="603250" y="0"/>
            <a:ext cx="8001000" cy="730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Basic oscillator</a:t>
            </a:r>
          </a:p>
        </p:txBody>
      </p:sp>
      <p:pic>
        <p:nvPicPr>
          <p:cNvPr id="3481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785813"/>
            <a:ext cx="7000875" cy="5961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A8EA201-75C5-4F52-B8F8-5889156D5009}"/>
              </a:ext>
            </a:extLst>
          </p:cNvPr>
          <p:cNvSpPr/>
          <p:nvPr/>
        </p:nvSpPr>
        <p:spPr>
          <a:xfrm>
            <a:off x="5220072" y="222515"/>
            <a:ext cx="3638018" cy="641297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b="1" dirty="0"/>
              <a:t>Self </a:t>
            </a:r>
            <a:r>
              <a:rPr lang="it-IT" sz="2000" b="1" dirty="0" err="1"/>
              <a:t>sustained</a:t>
            </a:r>
            <a:r>
              <a:rPr lang="it-IT" sz="2000" b="1" dirty="0"/>
              <a:t> </a:t>
            </a:r>
            <a:r>
              <a:rPr lang="it-IT" sz="2000" b="1" dirty="0" err="1"/>
              <a:t>oscillation</a:t>
            </a:r>
            <a:r>
              <a:rPr lang="it-IT" sz="2000" b="1" dirty="0"/>
              <a:t> in </a:t>
            </a:r>
            <a:r>
              <a:rPr lang="it-IT" sz="2000" b="1" dirty="0" err="1"/>
              <a:t>strongly</a:t>
            </a:r>
            <a:r>
              <a:rPr lang="it-IT" sz="2000" b="1" dirty="0"/>
              <a:t> </a:t>
            </a:r>
            <a:r>
              <a:rPr lang="it-IT" sz="2000" b="1" dirty="0" err="1"/>
              <a:t>adaptive</a:t>
            </a:r>
            <a:r>
              <a:rPr lang="it-IT" sz="2000" b="1" dirty="0"/>
              <a:t> network</a:t>
            </a:r>
            <a:r>
              <a:rPr lang="it-IT" sz="2000" dirty="0"/>
              <a:t>: </a:t>
            </a:r>
          </a:p>
          <a:p>
            <a:pPr algn="ctr"/>
            <a:endParaRPr lang="it-IT" sz="2000" dirty="0"/>
          </a:p>
          <a:p>
            <a:pPr algn="ctr"/>
            <a:r>
              <a:rPr lang="it-IT" sz="2000" dirty="0"/>
              <a:t>0 – </a:t>
            </a:r>
            <a:r>
              <a:rPr lang="it-IT" sz="2000" dirty="0" err="1"/>
              <a:t>External</a:t>
            </a:r>
            <a:r>
              <a:rPr lang="it-IT" sz="2000" dirty="0"/>
              <a:t> trigger </a:t>
            </a:r>
            <a:r>
              <a:rPr lang="it-IT" sz="2000" dirty="0" err="1"/>
              <a:t>activates</a:t>
            </a:r>
            <a:r>
              <a:rPr lang="it-IT" sz="2000" dirty="0"/>
              <a:t> TC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</a:p>
          <a:p>
            <a:pPr algn="ctr"/>
            <a:r>
              <a:rPr lang="it-IT" sz="2000" dirty="0"/>
              <a:t>1- TC are </a:t>
            </a:r>
            <a:r>
              <a:rPr lang="it-IT" sz="2000" dirty="0" err="1"/>
              <a:t>active</a:t>
            </a:r>
            <a:r>
              <a:rPr lang="it-IT" sz="2000" dirty="0"/>
              <a:t> and </a:t>
            </a:r>
            <a:r>
              <a:rPr lang="it-IT" sz="2000" dirty="0" err="1"/>
              <a:t>excite</a:t>
            </a:r>
            <a:r>
              <a:rPr lang="it-IT" sz="2000" dirty="0"/>
              <a:t> RE </a:t>
            </a:r>
            <a:r>
              <a:rPr lang="it-IT" sz="2000" dirty="0" err="1"/>
              <a:t>neurons</a:t>
            </a:r>
            <a:r>
              <a:rPr lang="it-IT" sz="2000" dirty="0"/>
              <a:t> – </a:t>
            </a:r>
            <a:r>
              <a:rPr lang="it-IT" sz="2000" dirty="0" err="1"/>
              <a:t>both</a:t>
            </a:r>
            <a:r>
              <a:rPr lang="it-IT" sz="2000" dirty="0"/>
              <a:t> sets are </a:t>
            </a:r>
            <a:r>
              <a:rPr lang="it-IT" sz="2000" dirty="0" err="1"/>
              <a:t>active</a:t>
            </a:r>
            <a:endParaRPr lang="it-IT" sz="2000" dirty="0"/>
          </a:p>
          <a:p>
            <a:pPr algn="ctr"/>
            <a:r>
              <a:rPr lang="it-IT" sz="2000" dirty="0"/>
              <a:t>2- RE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  <a:r>
              <a:rPr lang="it-IT" sz="2000" dirty="0" err="1"/>
              <a:t>inhibit</a:t>
            </a:r>
            <a:r>
              <a:rPr lang="it-IT" sz="2000" dirty="0"/>
              <a:t> TC </a:t>
            </a:r>
            <a:r>
              <a:rPr lang="it-IT" sz="2000" dirty="0" err="1"/>
              <a:t>neurons</a:t>
            </a:r>
            <a:r>
              <a:rPr lang="it-IT" sz="2000" dirty="0"/>
              <a:t> – </a:t>
            </a:r>
            <a:r>
              <a:rPr lang="it-IT" sz="2000" dirty="0" err="1"/>
              <a:t>only</a:t>
            </a:r>
            <a:r>
              <a:rPr lang="it-IT" sz="2000" dirty="0"/>
              <a:t> RE are </a:t>
            </a:r>
            <a:r>
              <a:rPr lang="it-IT" sz="2000" dirty="0" err="1"/>
              <a:t>active</a:t>
            </a:r>
            <a:endParaRPr lang="it-IT" sz="2000" dirty="0"/>
          </a:p>
          <a:p>
            <a:pPr algn="ctr"/>
            <a:r>
              <a:rPr lang="it-IT" sz="2000" dirty="0"/>
              <a:t>3 – RE </a:t>
            </a:r>
            <a:r>
              <a:rPr lang="it-IT" sz="2000" dirty="0" err="1"/>
              <a:t>neurons</a:t>
            </a:r>
            <a:r>
              <a:rPr lang="it-IT" sz="2000" dirty="0"/>
              <a:t> do </a:t>
            </a:r>
            <a:r>
              <a:rPr lang="it-IT" sz="2000" dirty="0" err="1"/>
              <a:t>not</a:t>
            </a:r>
            <a:r>
              <a:rPr lang="it-IT" sz="2000" dirty="0"/>
              <a:t> </a:t>
            </a:r>
            <a:r>
              <a:rPr lang="it-IT" sz="2000" dirty="0" err="1"/>
              <a:t>receive</a:t>
            </a:r>
            <a:r>
              <a:rPr lang="it-IT" sz="2000" dirty="0"/>
              <a:t> </a:t>
            </a:r>
            <a:r>
              <a:rPr lang="it-IT" sz="2000" dirty="0" err="1"/>
              <a:t>excitatory</a:t>
            </a:r>
            <a:r>
              <a:rPr lang="it-IT" sz="2000" dirty="0"/>
              <a:t> inputs and </a:t>
            </a:r>
            <a:r>
              <a:rPr lang="it-IT" sz="2000" dirty="0" err="1"/>
              <a:t>shut</a:t>
            </a:r>
            <a:r>
              <a:rPr lang="it-IT" sz="2000" dirty="0"/>
              <a:t> down – </a:t>
            </a:r>
            <a:r>
              <a:rPr lang="it-IT" sz="2000" dirty="0" err="1"/>
              <a:t>both</a:t>
            </a:r>
            <a:r>
              <a:rPr lang="it-IT" sz="2000" dirty="0"/>
              <a:t> sets are </a:t>
            </a:r>
            <a:r>
              <a:rPr lang="it-IT" sz="2000" dirty="0" err="1"/>
              <a:t>silent</a:t>
            </a:r>
            <a:endParaRPr lang="it-IT" sz="2000" dirty="0"/>
          </a:p>
          <a:p>
            <a:pPr algn="ctr"/>
            <a:r>
              <a:rPr lang="it-IT" sz="2000" dirty="0"/>
              <a:t>4- TC </a:t>
            </a:r>
            <a:r>
              <a:rPr lang="it-IT" sz="2000" dirty="0" err="1"/>
              <a:t>neurons</a:t>
            </a:r>
            <a:r>
              <a:rPr lang="it-IT" sz="2000" dirty="0"/>
              <a:t> do </a:t>
            </a:r>
            <a:r>
              <a:rPr lang="it-IT" sz="2000" dirty="0" err="1"/>
              <a:t>not</a:t>
            </a:r>
            <a:r>
              <a:rPr lang="it-IT" sz="2000" dirty="0"/>
              <a:t> </a:t>
            </a:r>
            <a:r>
              <a:rPr lang="it-IT" sz="2000" dirty="0" err="1"/>
              <a:t>receive</a:t>
            </a:r>
            <a:r>
              <a:rPr lang="it-IT" sz="2000" dirty="0"/>
              <a:t> </a:t>
            </a:r>
            <a:r>
              <a:rPr lang="it-IT" sz="2000" dirty="0" err="1"/>
              <a:t>inhibition</a:t>
            </a:r>
            <a:r>
              <a:rPr lang="it-IT" sz="2000" dirty="0"/>
              <a:t> </a:t>
            </a:r>
            <a:r>
              <a:rPr lang="it-IT" sz="2000" dirty="0" err="1"/>
              <a:t>anymore</a:t>
            </a:r>
            <a:r>
              <a:rPr lang="it-IT" sz="2000" dirty="0"/>
              <a:t> and start </a:t>
            </a:r>
            <a:r>
              <a:rPr lang="it-IT" sz="2000" dirty="0" err="1"/>
              <a:t>firing</a:t>
            </a:r>
            <a:endParaRPr lang="it-IT" sz="2000" dirty="0"/>
          </a:p>
          <a:p>
            <a:pPr algn="ctr"/>
            <a:r>
              <a:rPr lang="it-IT" sz="2000" dirty="0"/>
              <a:t>5- -&gt; back to step 1</a:t>
            </a:r>
          </a:p>
          <a:p>
            <a:pPr algn="ctr"/>
            <a:endParaRPr lang="it-IT" sz="2000" dirty="0"/>
          </a:p>
          <a:p>
            <a:pPr algn="ctr"/>
            <a:r>
              <a:rPr lang="it-IT" sz="2000" dirty="0" err="1"/>
              <a:t>Oscillations</a:t>
            </a:r>
            <a:r>
              <a:rPr lang="it-IT" sz="2000" dirty="0"/>
              <a:t> are self </a:t>
            </a:r>
            <a:r>
              <a:rPr lang="it-IT" sz="2000" dirty="0" err="1"/>
              <a:t>sustained</a:t>
            </a:r>
            <a:r>
              <a:rPr lang="it-IT" sz="2000" dirty="0"/>
              <a:t> after a first trigger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1"/>
          <p:cNvSpPr txBox="1">
            <a:spLocks noChangeArrowheads="1"/>
          </p:cNvSpPr>
          <p:nvPr/>
        </p:nvSpPr>
        <p:spPr bwMode="auto">
          <a:xfrm>
            <a:off x="0" y="0"/>
            <a:ext cx="9144000" cy="730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Other contributions to thalamus dynamics</a:t>
            </a:r>
          </a:p>
        </p:txBody>
      </p:sp>
      <p:pic>
        <p:nvPicPr>
          <p:cNvPr id="35843" name="Picture 2"/>
          <p:cNvPicPr>
            <a:picLocks noChangeAspect="1" noChangeArrowheads="1"/>
          </p:cNvPicPr>
          <p:nvPr/>
        </p:nvPicPr>
        <p:blipFill>
          <a:blip r:embed="rId3"/>
          <a:srcRect b="-2718"/>
          <a:stretch>
            <a:fillRect/>
          </a:stretch>
        </p:blipFill>
        <p:spPr bwMode="auto">
          <a:xfrm>
            <a:off x="146050" y="1098550"/>
            <a:ext cx="8805863" cy="540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/>
          <p:cNvSpPr txBox="1">
            <a:spLocks noChangeArrowheads="1"/>
          </p:cNvSpPr>
          <p:nvPr/>
        </p:nvSpPr>
        <p:spPr bwMode="auto">
          <a:xfrm>
            <a:off x="0" y="0"/>
            <a:ext cx="9144000" cy="730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Oscillations and architecture</a:t>
            </a:r>
          </a:p>
        </p:txBody>
      </p:sp>
      <p:pic>
        <p:nvPicPr>
          <p:cNvPr id="3686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571625"/>
            <a:ext cx="9067800" cy="478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/>
          <p:cNvSpPr txBox="1">
            <a:spLocks noChangeArrowheads="1"/>
          </p:cNvSpPr>
          <p:nvPr/>
        </p:nvSpPr>
        <p:spPr bwMode="auto">
          <a:xfrm>
            <a:off x="0" y="0"/>
            <a:ext cx="9144000" cy="730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Oscillations and architecture</a:t>
            </a:r>
          </a:p>
        </p:txBody>
      </p:sp>
      <p:pic>
        <p:nvPicPr>
          <p:cNvPr id="3686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571625"/>
            <a:ext cx="9067800" cy="478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9B201C67-16CF-447D-BCBA-3A82EFD19C32}"/>
              </a:ext>
            </a:extLst>
          </p:cNvPr>
          <p:cNvSpPr/>
          <p:nvPr/>
        </p:nvSpPr>
        <p:spPr>
          <a:xfrm>
            <a:off x="5076056" y="1484784"/>
            <a:ext cx="3638018" cy="51168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b="1" dirty="0" err="1"/>
              <a:t>We</a:t>
            </a:r>
            <a:r>
              <a:rPr lang="it-IT" sz="2000" b="1" dirty="0"/>
              <a:t> know </a:t>
            </a:r>
            <a:r>
              <a:rPr lang="it-IT" sz="2000" b="1" dirty="0" err="1"/>
              <a:t>that</a:t>
            </a:r>
            <a:r>
              <a:rPr lang="it-IT" sz="2000" b="1" dirty="0"/>
              <a:t> in the </a:t>
            </a:r>
            <a:r>
              <a:rPr lang="it-IT" sz="2000" b="1" dirty="0" err="1"/>
              <a:t>thalamus</a:t>
            </a:r>
            <a:r>
              <a:rPr lang="it-IT" sz="2000" b="1" dirty="0"/>
              <a:t> </a:t>
            </a:r>
            <a:r>
              <a:rPr lang="it-IT" sz="2000" b="1" dirty="0" err="1"/>
              <a:t>there</a:t>
            </a:r>
            <a:r>
              <a:rPr lang="it-IT" sz="2000" b="1" dirty="0"/>
              <a:t> are </a:t>
            </a:r>
            <a:r>
              <a:rPr lang="it-IT" sz="2000" b="1" dirty="0" err="1"/>
              <a:t>not</a:t>
            </a:r>
            <a:r>
              <a:rPr lang="it-IT" sz="2000" b="1" dirty="0"/>
              <a:t> TC-TC connections, </a:t>
            </a:r>
            <a:r>
              <a:rPr lang="it-IT" sz="2000" b="1" dirty="0" err="1"/>
              <a:t>but</a:t>
            </a:r>
            <a:r>
              <a:rPr lang="it-IT" sz="2000" b="1" dirty="0"/>
              <a:t> </a:t>
            </a:r>
            <a:r>
              <a:rPr lang="it-IT" sz="2000" b="1" dirty="0" err="1"/>
              <a:t>what</a:t>
            </a:r>
            <a:r>
              <a:rPr lang="it-IT" sz="2000" b="1" dirty="0"/>
              <a:t> </a:t>
            </a:r>
            <a:r>
              <a:rPr lang="it-IT" sz="2000" b="1" dirty="0" err="1"/>
              <a:t>is</a:t>
            </a:r>
            <a:r>
              <a:rPr lang="it-IT" sz="2000" b="1" dirty="0"/>
              <a:t> the </a:t>
            </a:r>
            <a:r>
              <a:rPr lang="it-IT" sz="2000" b="1" dirty="0" err="1"/>
              <a:t>structure</a:t>
            </a:r>
            <a:r>
              <a:rPr lang="it-IT" sz="2000" b="1" dirty="0"/>
              <a:t> of the </a:t>
            </a:r>
            <a:r>
              <a:rPr lang="it-IT" sz="2000" b="1" dirty="0" err="1"/>
              <a:t>remaining</a:t>
            </a:r>
            <a:r>
              <a:rPr lang="it-IT" sz="2000" b="1" dirty="0"/>
              <a:t> connections?</a:t>
            </a:r>
          </a:p>
          <a:p>
            <a:pPr algn="ctr"/>
            <a:endParaRPr lang="it-IT" sz="2000" b="1" dirty="0"/>
          </a:p>
          <a:p>
            <a:pPr algn="ctr"/>
            <a:r>
              <a:rPr lang="it-IT" sz="2000" b="1" dirty="0"/>
              <a:t>First </a:t>
            </a:r>
            <a:r>
              <a:rPr lang="it-IT" sz="2000" b="1" dirty="0" err="1"/>
              <a:t>hypothesis</a:t>
            </a:r>
            <a:r>
              <a:rPr lang="it-IT" sz="2000" b="1" dirty="0"/>
              <a:t> </a:t>
            </a:r>
            <a:r>
              <a:rPr lang="it-IT" sz="2000" dirty="0"/>
              <a:t>: </a:t>
            </a:r>
          </a:p>
          <a:p>
            <a:pPr algn="ctr"/>
            <a:r>
              <a:rPr lang="it-IT" sz="2000" dirty="0" err="1"/>
              <a:t>Maybe</a:t>
            </a:r>
            <a:r>
              <a:rPr lang="it-IT" sz="2000" dirty="0"/>
              <a:t> random </a:t>
            </a:r>
            <a:r>
              <a:rPr lang="it-IT" sz="2000" dirty="0" err="1"/>
              <a:t>connectivity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just fine (</a:t>
            </a:r>
            <a:r>
              <a:rPr lang="it-IT" sz="2000" dirty="0" err="1"/>
              <a:t>we</a:t>
            </a:r>
            <a:r>
              <a:rPr lang="it-IT" sz="2000" dirty="0"/>
              <a:t> </a:t>
            </a:r>
            <a:r>
              <a:rPr lang="it-IT" sz="2000" dirty="0" err="1"/>
              <a:t>always</a:t>
            </a:r>
            <a:r>
              <a:rPr lang="it-IT" sz="2000" dirty="0"/>
              <a:t> start with the </a:t>
            </a:r>
            <a:r>
              <a:rPr lang="it-IT" sz="2000" dirty="0" err="1"/>
              <a:t>simplest</a:t>
            </a:r>
            <a:r>
              <a:rPr lang="it-IT" sz="2000" dirty="0"/>
              <a:t> </a:t>
            </a:r>
            <a:r>
              <a:rPr lang="it-IT" sz="2000" dirty="0" err="1"/>
              <a:t>hypothesis</a:t>
            </a:r>
            <a:r>
              <a:rPr lang="it-IT" sz="2000" dirty="0"/>
              <a:t>). </a:t>
            </a:r>
          </a:p>
          <a:p>
            <a:pPr algn="ctr"/>
            <a:endParaRPr lang="it-IT" sz="2000" dirty="0"/>
          </a:p>
          <a:p>
            <a:pPr algn="ctr"/>
            <a:r>
              <a:rPr lang="it-IT" sz="2000" dirty="0"/>
              <a:t>The </a:t>
            </a:r>
            <a:r>
              <a:rPr lang="it-IT" sz="2000" dirty="0" err="1"/>
              <a:t>hypothesis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rejected</a:t>
            </a:r>
            <a:r>
              <a:rPr lang="it-IT" sz="2000" dirty="0"/>
              <a:t> </a:t>
            </a:r>
            <a:r>
              <a:rPr lang="it-IT" sz="2000" dirty="0" err="1"/>
              <a:t>since</a:t>
            </a:r>
            <a:r>
              <a:rPr lang="it-IT" sz="2000" dirty="0"/>
              <a:t> </a:t>
            </a:r>
            <a:r>
              <a:rPr lang="it-IT" sz="2000" dirty="0" err="1"/>
              <a:t>we</a:t>
            </a:r>
            <a:r>
              <a:rPr lang="it-IT" sz="2000" dirty="0"/>
              <a:t> do </a:t>
            </a:r>
            <a:r>
              <a:rPr lang="it-IT" sz="2000" dirty="0" err="1"/>
              <a:t>not</a:t>
            </a:r>
            <a:r>
              <a:rPr lang="it-IT" sz="2000" dirty="0"/>
              <a:t> replicate the </a:t>
            </a:r>
            <a:r>
              <a:rPr lang="it-IT" sz="2000" dirty="0" err="1"/>
              <a:t>oscillations</a:t>
            </a:r>
            <a:r>
              <a:rPr lang="it-IT" sz="2000" dirty="0"/>
              <a:t> </a:t>
            </a:r>
            <a:r>
              <a:rPr lang="it-IT" sz="2000" dirty="0" err="1"/>
              <a:t>observed</a:t>
            </a:r>
            <a:r>
              <a:rPr lang="it-IT" sz="2000" dirty="0"/>
              <a:t> </a:t>
            </a:r>
            <a:r>
              <a:rPr lang="it-IT" sz="2000" dirty="0" err="1"/>
              <a:t>experimentally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20953196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/>
          <p:cNvSpPr txBox="1">
            <a:spLocks noChangeArrowheads="1"/>
          </p:cNvSpPr>
          <p:nvPr/>
        </p:nvSpPr>
        <p:spPr bwMode="auto">
          <a:xfrm>
            <a:off x="0" y="0"/>
            <a:ext cx="9144000" cy="730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Oscillations and architecture</a:t>
            </a:r>
          </a:p>
        </p:txBody>
      </p:sp>
      <p:pic>
        <p:nvPicPr>
          <p:cNvPr id="3686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571625"/>
            <a:ext cx="9067800" cy="478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9AA92F97-FDEE-4D1A-B776-B82BE13E9E92}"/>
              </a:ext>
            </a:extLst>
          </p:cNvPr>
          <p:cNvSpPr/>
          <p:nvPr/>
        </p:nvSpPr>
        <p:spPr>
          <a:xfrm>
            <a:off x="683568" y="1407162"/>
            <a:ext cx="3638018" cy="51168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2000" b="1" dirty="0"/>
          </a:p>
          <a:p>
            <a:pPr algn="ctr"/>
            <a:r>
              <a:rPr lang="it-IT" sz="2000" b="1" dirty="0"/>
              <a:t>Second </a:t>
            </a:r>
            <a:r>
              <a:rPr lang="it-IT" sz="2000" b="1" dirty="0" err="1"/>
              <a:t>hypothesis</a:t>
            </a:r>
            <a:r>
              <a:rPr lang="it-IT" sz="2000" b="1" dirty="0"/>
              <a:t> (after </a:t>
            </a:r>
            <a:r>
              <a:rPr lang="it-IT" sz="2000" b="1" dirty="0" err="1"/>
              <a:t>several</a:t>
            </a:r>
            <a:r>
              <a:rPr lang="it-IT" sz="2000" b="1" dirty="0"/>
              <a:t> </a:t>
            </a:r>
            <a:r>
              <a:rPr lang="it-IT" sz="2000" b="1" dirty="0" err="1"/>
              <a:t>months</a:t>
            </a:r>
            <a:r>
              <a:rPr lang="it-IT" sz="2000" b="1" dirty="0"/>
              <a:t> and </a:t>
            </a:r>
            <a:r>
              <a:rPr lang="it-IT" sz="2000" b="1" dirty="0" err="1"/>
              <a:t>failed</a:t>
            </a:r>
            <a:r>
              <a:rPr lang="it-IT" sz="2000" b="1" dirty="0"/>
              <a:t> </a:t>
            </a:r>
            <a:r>
              <a:rPr lang="it-IT" sz="2000" b="1" dirty="0" err="1"/>
              <a:t>attempts</a:t>
            </a:r>
            <a:r>
              <a:rPr lang="it-IT" sz="2000" b="1" dirty="0"/>
              <a:t>) </a:t>
            </a:r>
            <a:r>
              <a:rPr lang="it-IT" sz="2000" dirty="0"/>
              <a:t>: </a:t>
            </a:r>
          </a:p>
          <a:p>
            <a:pPr algn="ctr"/>
            <a:r>
              <a:rPr lang="it-IT" sz="2000" dirty="0" err="1"/>
              <a:t>We</a:t>
            </a:r>
            <a:r>
              <a:rPr lang="it-IT" sz="2000" dirty="0"/>
              <a:t> know </a:t>
            </a:r>
            <a:r>
              <a:rPr lang="it-IT" sz="2000" dirty="0" err="1"/>
              <a:t>that</a:t>
            </a:r>
            <a:r>
              <a:rPr lang="it-IT" sz="2000" dirty="0"/>
              <a:t> </a:t>
            </a:r>
            <a:r>
              <a:rPr lang="it-IT" sz="2000" dirty="0" err="1"/>
              <a:t>inhibitory</a:t>
            </a:r>
            <a:r>
              <a:rPr lang="it-IT" sz="2000" dirty="0"/>
              <a:t> connections </a:t>
            </a:r>
            <a:r>
              <a:rPr lang="it-IT" sz="2000" dirty="0" err="1"/>
              <a:t>tend</a:t>
            </a:r>
            <a:r>
              <a:rPr lang="it-IT" sz="2000" dirty="0"/>
              <a:t> to be </a:t>
            </a:r>
            <a:r>
              <a:rPr lang="it-IT" sz="2000" dirty="0" err="1"/>
              <a:t>local</a:t>
            </a:r>
            <a:r>
              <a:rPr lang="it-IT" sz="2000" dirty="0"/>
              <a:t>. </a:t>
            </a:r>
            <a:r>
              <a:rPr lang="it-IT" sz="2000" dirty="0" err="1"/>
              <a:t>We</a:t>
            </a:r>
            <a:r>
              <a:rPr lang="it-IT" sz="2000" dirty="0"/>
              <a:t> can take </a:t>
            </a:r>
            <a:r>
              <a:rPr lang="it-IT" sz="2000" dirty="0" err="1"/>
              <a:t>this</a:t>
            </a:r>
            <a:r>
              <a:rPr lang="it-IT" sz="2000" dirty="0"/>
              <a:t> </a:t>
            </a:r>
            <a:r>
              <a:rPr lang="it-IT" sz="2000" dirty="0" err="1"/>
              <a:t>into</a:t>
            </a:r>
            <a:r>
              <a:rPr lang="it-IT" sz="2000" dirty="0"/>
              <a:t> account by imaging </a:t>
            </a:r>
            <a:r>
              <a:rPr lang="it-IT" sz="2000" dirty="0" err="1"/>
              <a:t>that</a:t>
            </a:r>
            <a:r>
              <a:rPr lang="it-IT" sz="2000" dirty="0"/>
              <a:t> RE </a:t>
            </a:r>
            <a:r>
              <a:rPr lang="it-IT" sz="2000" dirty="0" err="1"/>
              <a:t>neurons</a:t>
            </a:r>
            <a:r>
              <a:rPr lang="it-IT" sz="2000" dirty="0"/>
              <a:t> are on a line (a ring) with a position 1:250 and </a:t>
            </a:r>
            <a:r>
              <a:rPr lang="it-IT" sz="2000" dirty="0" err="1"/>
              <a:t>connect</a:t>
            </a:r>
            <a:r>
              <a:rPr lang="it-IT" sz="2000" dirty="0"/>
              <a:t> </a:t>
            </a:r>
            <a:r>
              <a:rPr lang="it-IT" sz="2000" dirty="0" err="1"/>
              <a:t>them</a:t>
            </a:r>
            <a:r>
              <a:rPr lang="it-IT" sz="2000" dirty="0"/>
              <a:t> </a:t>
            </a:r>
            <a:r>
              <a:rPr lang="it-IT" sz="2000" dirty="0" err="1"/>
              <a:t>preferentially</a:t>
            </a:r>
            <a:r>
              <a:rPr lang="it-IT" sz="2000" dirty="0"/>
              <a:t> with </a:t>
            </a:r>
            <a:r>
              <a:rPr lang="it-IT" sz="2000" dirty="0" err="1"/>
              <a:t>closer</a:t>
            </a:r>
            <a:r>
              <a:rPr lang="it-IT" sz="2000" dirty="0"/>
              <a:t> </a:t>
            </a:r>
            <a:r>
              <a:rPr lang="it-IT" sz="2000" dirty="0" err="1"/>
              <a:t>ones</a:t>
            </a:r>
            <a:r>
              <a:rPr lang="it-IT" sz="2000" dirty="0"/>
              <a:t>.</a:t>
            </a:r>
          </a:p>
          <a:p>
            <a:pPr algn="ctr"/>
            <a:endParaRPr lang="it-IT" sz="2000" dirty="0"/>
          </a:p>
          <a:p>
            <a:pPr algn="ctr"/>
            <a:r>
              <a:rPr lang="it-IT" sz="2000" dirty="0" err="1"/>
              <a:t>This</a:t>
            </a:r>
            <a:r>
              <a:rPr lang="it-IT" sz="2000" dirty="0"/>
              <a:t> </a:t>
            </a:r>
            <a:r>
              <a:rPr lang="it-IT" sz="2000" dirty="0" err="1"/>
              <a:t>hypothesis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compatible</a:t>
            </a:r>
            <a:r>
              <a:rPr lang="it-IT" sz="2000" dirty="0"/>
              <a:t> with </a:t>
            </a:r>
            <a:r>
              <a:rPr lang="it-IT" sz="2000" dirty="0" err="1"/>
              <a:t>oscillations</a:t>
            </a:r>
            <a:r>
              <a:rPr lang="it-IT" sz="2000" dirty="0"/>
              <a:t> </a:t>
            </a:r>
            <a:r>
              <a:rPr lang="it-IT" sz="2000" dirty="0" err="1"/>
              <a:t>observed</a:t>
            </a:r>
            <a:r>
              <a:rPr lang="it-IT" sz="2000" dirty="0"/>
              <a:t> </a:t>
            </a:r>
            <a:r>
              <a:rPr lang="it-IT" sz="2000" dirty="0" err="1"/>
              <a:t>experimentally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15536137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1"/>
          <p:cNvSpPr txBox="1">
            <a:spLocks noChangeArrowheads="1"/>
          </p:cNvSpPr>
          <p:nvPr/>
        </p:nvSpPr>
        <p:spPr bwMode="auto">
          <a:xfrm>
            <a:off x="0" y="0"/>
            <a:ext cx="9144000" cy="730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Oscillations and architecture</a:t>
            </a:r>
          </a:p>
        </p:txBody>
      </p:sp>
      <p:pic>
        <p:nvPicPr>
          <p:cNvPr id="3789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071563"/>
            <a:ext cx="9105900" cy="572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/>
          <p:cNvSpPr txBox="1">
            <a:spLocks noChangeArrowheads="1"/>
          </p:cNvSpPr>
          <p:nvPr/>
        </p:nvSpPr>
        <p:spPr bwMode="auto">
          <a:xfrm>
            <a:off x="0" y="0"/>
            <a:ext cx="9144000" cy="730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WAKING UP</a:t>
            </a:r>
          </a:p>
        </p:txBody>
      </p:sp>
      <p:pic>
        <p:nvPicPr>
          <p:cNvPr id="38915" name="Immagine 3" descr="fig_5.tif"/>
          <p:cNvPicPr>
            <a:picLocks noChangeAspect="1"/>
          </p:cNvPicPr>
          <p:nvPr/>
        </p:nvPicPr>
        <p:blipFill>
          <a:blip r:embed="rId3"/>
          <a:srcRect r="58948" b="66016"/>
          <a:stretch>
            <a:fillRect/>
          </a:stretch>
        </p:blipFill>
        <p:spPr bwMode="auto">
          <a:xfrm>
            <a:off x="0" y="1000125"/>
            <a:ext cx="4608513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6" name="Immagine 4" descr="fig_5.tif"/>
          <p:cNvPicPr>
            <a:picLocks noChangeAspect="1"/>
          </p:cNvPicPr>
          <p:nvPr/>
        </p:nvPicPr>
        <p:blipFill>
          <a:blip r:embed="rId3"/>
          <a:srcRect t="38840" r="57994" b="32030"/>
          <a:stretch>
            <a:fillRect/>
          </a:stretch>
        </p:blipFill>
        <p:spPr bwMode="auto">
          <a:xfrm>
            <a:off x="3773488" y="3714750"/>
            <a:ext cx="5370512" cy="292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2019F7FF-4B79-4339-B8FC-DBCAE73F44C6}"/>
              </a:ext>
            </a:extLst>
          </p:cNvPr>
          <p:cNvSpPr/>
          <p:nvPr/>
        </p:nvSpPr>
        <p:spPr>
          <a:xfrm>
            <a:off x="5076056" y="1484784"/>
            <a:ext cx="3638018" cy="165846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 err="1"/>
              <a:t>Below</a:t>
            </a:r>
            <a:r>
              <a:rPr lang="it-IT" sz="2000" dirty="0"/>
              <a:t> 50: </a:t>
            </a:r>
            <a:r>
              <a:rPr lang="it-IT" sz="2000" dirty="0" err="1"/>
              <a:t>sleep</a:t>
            </a:r>
            <a:r>
              <a:rPr lang="it-IT" sz="2000" dirty="0"/>
              <a:t> state</a:t>
            </a:r>
          </a:p>
          <a:p>
            <a:pPr algn="ctr"/>
            <a:endParaRPr lang="it-IT" sz="2000" dirty="0"/>
          </a:p>
          <a:p>
            <a:pPr algn="ctr"/>
            <a:r>
              <a:rPr lang="it-IT" sz="2000" dirty="0" err="1"/>
              <a:t>Above</a:t>
            </a:r>
            <a:r>
              <a:rPr lang="it-IT" sz="2000" dirty="0"/>
              <a:t> 50: </a:t>
            </a:r>
            <a:r>
              <a:rPr lang="it-IT" sz="2000" dirty="0" err="1"/>
              <a:t>awake</a:t>
            </a:r>
            <a:r>
              <a:rPr lang="it-IT" sz="2000" dirty="0"/>
              <a:t> state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Increasing level of realism starting from LIF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28601" y="1219200"/>
            <a:ext cx="2209799" cy="48320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it-IT" sz="2800" i="1" dirty="0" err="1"/>
              <a:t>Introducing</a:t>
            </a:r>
            <a:r>
              <a:rPr lang="it-IT" sz="2800" i="1" dirty="0"/>
              <a:t> ADAPTATION:</a:t>
            </a:r>
          </a:p>
          <a:p>
            <a:endParaRPr lang="it-IT" sz="2800" dirty="0"/>
          </a:p>
          <a:p>
            <a:r>
              <a:rPr lang="it-IT" sz="2800" dirty="0" err="1"/>
              <a:t>Izhikevich</a:t>
            </a:r>
            <a:r>
              <a:rPr lang="it-IT" sz="2800" dirty="0"/>
              <a:t> </a:t>
            </a:r>
            <a:r>
              <a:rPr lang="it-IT" sz="2800" dirty="0" err="1"/>
              <a:t>models</a:t>
            </a:r>
            <a:r>
              <a:rPr lang="it-IT" sz="2800" dirty="0"/>
              <a:t> (</a:t>
            </a:r>
            <a:r>
              <a:rPr lang="it-IT" sz="2800" dirty="0" err="1"/>
              <a:t>integrated</a:t>
            </a:r>
            <a:r>
              <a:rPr lang="it-IT" sz="2800" dirty="0"/>
              <a:t>)</a:t>
            </a:r>
          </a:p>
          <a:p>
            <a:endParaRPr lang="it-IT" sz="2800" dirty="0"/>
          </a:p>
          <a:p>
            <a:r>
              <a:rPr lang="it-IT" sz="2800" dirty="0" err="1"/>
              <a:t>Adaptive</a:t>
            </a:r>
            <a:r>
              <a:rPr lang="it-IT" sz="2800" dirty="0"/>
              <a:t> </a:t>
            </a:r>
            <a:r>
              <a:rPr lang="it-IT" sz="2800" dirty="0" err="1"/>
              <a:t>Exponential</a:t>
            </a:r>
            <a:r>
              <a:rPr lang="it-IT" sz="2800" dirty="0"/>
              <a:t> Integrate and </a:t>
            </a:r>
            <a:r>
              <a:rPr lang="it-IT" sz="2800" dirty="0" err="1"/>
              <a:t>Fire</a:t>
            </a:r>
            <a:r>
              <a:rPr lang="it-IT" sz="2800" dirty="0"/>
              <a:t> (plug-in)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2667000" y="1219200"/>
            <a:ext cx="6232748" cy="9541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it-IT" sz="2800" i="1" dirty="0" err="1"/>
              <a:t>Introducing</a:t>
            </a:r>
            <a:r>
              <a:rPr lang="it-IT" sz="2800" i="1" dirty="0"/>
              <a:t> ACTIVE CURRENTS:</a:t>
            </a:r>
            <a:endParaRPr lang="it-IT" sz="2800" dirty="0"/>
          </a:p>
          <a:p>
            <a:r>
              <a:rPr lang="it-IT" sz="2800" dirty="0"/>
              <a:t>HH </a:t>
            </a:r>
            <a:r>
              <a:rPr lang="it-IT" sz="2800" dirty="0" err="1"/>
              <a:t>models</a:t>
            </a:r>
            <a:r>
              <a:rPr lang="it-IT" sz="2800" dirty="0"/>
              <a:t> (the Nobel-</a:t>
            </a:r>
            <a:r>
              <a:rPr lang="it-IT" sz="2800" dirty="0" err="1"/>
              <a:t>prize</a:t>
            </a:r>
            <a:r>
              <a:rPr lang="it-IT" sz="2800" dirty="0"/>
              <a:t> </a:t>
            </a:r>
            <a:r>
              <a:rPr lang="it-IT" sz="2800" dirty="0" err="1"/>
              <a:t>squid</a:t>
            </a:r>
            <a:r>
              <a:rPr lang="it-IT" sz="2800" dirty="0"/>
              <a:t>)</a:t>
            </a:r>
          </a:p>
        </p:txBody>
      </p:sp>
      <p:sp>
        <p:nvSpPr>
          <p:cNvPr id="5" name="Freccia a destra 4"/>
          <p:cNvSpPr/>
          <p:nvPr/>
        </p:nvSpPr>
        <p:spPr>
          <a:xfrm>
            <a:off x="2667000" y="3352800"/>
            <a:ext cx="2513181" cy="1775400"/>
          </a:xfrm>
          <a:prstGeom prst="rightArrow">
            <a:avLst>
              <a:gd name="adj1" fmla="val 100000"/>
              <a:gd name="adj2" fmla="val 24248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i="1" dirty="0" err="1">
                <a:solidFill>
                  <a:schemeClr val="tx1"/>
                </a:solidFill>
              </a:rPr>
              <a:t>Introducing</a:t>
            </a:r>
            <a:r>
              <a:rPr lang="it-IT" sz="2800" i="1" dirty="0">
                <a:solidFill>
                  <a:schemeClr val="tx1"/>
                </a:solidFill>
              </a:rPr>
              <a:t> </a:t>
            </a:r>
            <a:r>
              <a:rPr lang="it-IT" sz="2800" i="1" dirty="0" err="1">
                <a:solidFill>
                  <a:schemeClr val="tx1"/>
                </a:solidFill>
              </a:rPr>
              <a:t>morphology</a:t>
            </a:r>
            <a:r>
              <a:rPr lang="it-IT" sz="2800" i="1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it-IT" sz="2800" dirty="0">
                <a:solidFill>
                  <a:schemeClr val="tx1"/>
                </a:solidFill>
              </a:rPr>
              <a:t>NEURON </a:t>
            </a:r>
          </a:p>
          <a:p>
            <a:pPr algn="ctr"/>
            <a:r>
              <a:rPr lang="it-IT" sz="2800" dirty="0">
                <a:solidFill>
                  <a:schemeClr val="tx1"/>
                </a:solidFill>
              </a:rPr>
              <a:t>(and me)</a:t>
            </a: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67" r="35416"/>
          <a:stretch/>
        </p:blipFill>
        <p:spPr>
          <a:xfrm>
            <a:off x="5180181" y="2286000"/>
            <a:ext cx="3719567" cy="4495800"/>
          </a:xfrm>
          <a:prstGeom prst="rect">
            <a:avLst/>
          </a:prstGeom>
        </p:spPr>
      </p:pic>
      <p:sp>
        <p:nvSpPr>
          <p:cNvPr id="7" name="CasellaDiTesto 6"/>
          <p:cNvSpPr txBox="1"/>
          <p:nvPr/>
        </p:nvSpPr>
        <p:spPr>
          <a:xfrm>
            <a:off x="5410200" y="2438400"/>
            <a:ext cx="99059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EXC.</a:t>
            </a:r>
          </a:p>
          <a:p>
            <a:r>
              <a:rPr lang="it-IT" dirty="0"/>
              <a:t>INH.</a:t>
            </a:r>
          </a:p>
        </p:txBody>
      </p:sp>
    </p:spTree>
    <p:extLst>
      <p:ext uri="{BB962C8B-B14F-4D97-AF65-F5344CB8AC3E}">
        <p14:creationId xmlns:p14="http://schemas.microsoft.com/office/powerpoint/2010/main" val="34971885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/>
          <p:cNvSpPr txBox="1">
            <a:spLocks noChangeArrowheads="1"/>
          </p:cNvSpPr>
          <p:nvPr/>
        </p:nvSpPr>
        <p:spPr bwMode="auto">
          <a:xfrm>
            <a:off x="457200" y="39688"/>
            <a:ext cx="8334375" cy="581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algn="ctr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Rationale</a:t>
            </a:r>
          </a:p>
        </p:txBody>
      </p:sp>
      <p:sp>
        <p:nvSpPr>
          <p:cNvPr id="7171" name="Text Box 2"/>
          <p:cNvSpPr txBox="1">
            <a:spLocks noChangeArrowheads="1"/>
          </p:cNvSpPr>
          <p:nvPr/>
        </p:nvSpPr>
        <p:spPr bwMode="auto">
          <a:xfrm>
            <a:off x="71438" y="674688"/>
            <a:ext cx="8893175" cy="1169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720" tIns="40680" rIns="81720" bIns="40680"/>
          <a:lstStyle/>
          <a:p>
            <a:pPr algn="just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Many network studies take starting point in generic E-I networks (of Brunel type).  These models describe the network dynamics mainly through firing rates, while experimentally the activity of a network is often measured with extracellular recordings such as Local Field Potentials (LFP). </a:t>
            </a:r>
          </a:p>
        </p:txBody>
      </p:sp>
      <p:pic>
        <p:nvPicPr>
          <p:cNvPr id="717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7338" y="1857375"/>
            <a:ext cx="3492500" cy="28622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7173" name="Text Box 4"/>
          <p:cNvSpPr txBox="1">
            <a:spLocks noChangeArrowheads="1"/>
          </p:cNvSpPr>
          <p:nvPr/>
        </p:nvSpPr>
        <p:spPr bwMode="auto">
          <a:xfrm>
            <a:off x="457200" y="4705350"/>
            <a:ext cx="3609975" cy="452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720" tIns="40680" rIns="81720" bIns="40680"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i="1">
                <a:solidFill>
                  <a:srgbClr val="000000"/>
                </a:solidFill>
              </a:rPr>
              <a:t>Brunel  (J Comp Neurosci 2000)</a:t>
            </a:r>
          </a:p>
        </p:txBody>
      </p:sp>
      <p:sp>
        <p:nvSpPr>
          <p:cNvPr id="7174" name="Text Box 5"/>
          <p:cNvSpPr txBox="1">
            <a:spLocks noChangeArrowheads="1"/>
          </p:cNvSpPr>
          <p:nvPr/>
        </p:nvSpPr>
        <p:spPr bwMode="auto">
          <a:xfrm>
            <a:off x="242888" y="5229225"/>
            <a:ext cx="8432800" cy="854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720" tIns="40680" rIns="81720" bIns="40680"/>
          <a:lstStyle/>
          <a:p>
            <a:pPr>
              <a:lnSpc>
                <a:spcPct val="100000"/>
              </a:lnSpc>
              <a:buClrTx/>
              <a:tabLst>
                <a:tab pos="0" algn="l"/>
                <a:tab pos="720725" algn="l"/>
                <a:tab pos="1444625" algn="l"/>
                <a:tab pos="2168525" algn="l"/>
                <a:tab pos="2892425" algn="l"/>
                <a:tab pos="3616325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200">
                <a:solidFill>
                  <a:srgbClr val="000000"/>
                </a:solidFill>
              </a:rPr>
              <a:t>What are good models for LFP generation for such networks?</a:t>
            </a: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720725" algn="l"/>
                <a:tab pos="1444625" algn="l"/>
                <a:tab pos="2168525" algn="l"/>
                <a:tab pos="2892425" algn="l"/>
                <a:tab pos="3616325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2500" b="1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720725" algn="l"/>
                <a:tab pos="1444625" algn="l"/>
                <a:tab pos="2168525" algn="l"/>
                <a:tab pos="2892425" algn="l"/>
                <a:tab pos="3616325" algn="l"/>
                <a:tab pos="4343400" algn="l"/>
                <a:tab pos="5064125" algn="l"/>
                <a:tab pos="5788025" algn="l"/>
                <a:tab pos="6511925" algn="l"/>
                <a:tab pos="7235825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500" b="1">
                <a:solidFill>
                  <a:srgbClr val="000000"/>
                </a:solidFill>
              </a:rPr>
              <a:t>Idea:</a:t>
            </a:r>
            <a:r>
              <a:rPr lang="en-US" altLang="en-US" sz="2500">
                <a:solidFill>
                  <a:srgbClr val="000000"/>
                </a:solidFill>
              </a:rPr>
              <a:t> </a:t>
            </a:r>
            <a:r>
              <a:rPr lang="en-US" altLang="en-US" sz="2200">
                <a:solidFill>
                  <a:srgbClr val="000000"/>
                </a:solidFill>
              </a:rPr>
              <a:t>Compare LFP generated by point-neuron network model with LFP simulated using spatially embedded LFP models</a:t>
            </a:r>
          </a:p>
        </p:txBody>
      </p:sp>
      <p:pic>
        <p:nvPicPr>
          <p:cNvPr id="7175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54550" y="2039938"/>
            <a:ext cx="3302000" cy="26273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7176" name="Text Box 7"/>
          <p:cNvSpPr txBox="1">
            <a:spLocks noChangeArrowheads="1"/>
          </p:cNvSpPr>
          <p:nvPr/>
        </p:nvSpPr>
        <p:spPr bwMode="auto">
          <a:xfrm>
            <a:off x="4473575" y="4713288"/>
            <a:ext cx="4318000" cy="4445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720" tIns="40680" rIns="81720" bIns="40680"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i="1">
                <a:solidFill>
                  <a:srgbClr val="000000"/>
                </a:solidFill>
              </a:rPr>
              <a:t>Mazzoni et al. (PLoS Comp Biol  2008)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/>
          <p:cNvSpPr txBox="1">
            <a:spLocks noChangeArrowheads="1"/>
          </p:cNvSpPr>
          <p:nvPr/>
        </p:nvSpPr>
        <p:spPr bwMode="auto">
          <a:xfrm>
            <a:off x="457200" y="39688"/>
            <a:ext cx="8334375" cy="581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algn="ctr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Rationale</a:t>
            </a: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71438" y="674688"/>
            <a:ext cx="8893175" cy="1169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720" tIns="40680" rIns="81720" bIns="40680"/>
          <a:lstStyle/>
          <a:p>
            <a:pPr algn="just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Many network studies take starting point in generic E-I networks (of Brunel type).  These models describe the network dynamics mainly through firing rates, while experimentally the activity of a network is often measured with extracellular recordings such as Local Field Potentials (LFP). </a:t>
            </a:r>
          </a:p>
        </p:txBody>
      </p:sp>
      <p:pic>
        <p:nvPicPr>
          <p:cNvPr id="819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7338" y="1857375"/>
            <a:ext cx="3492500" cy="28622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8197" name="Text Box 4"/>
          <p:cNvSpPr txBox="1">
            <a:spLocks noChangeArrowheads="1"/>
          </p:cNvSpPr>
          <p:nvPr/>
        </p:nvSpPr>
        <p:spPr bwMode="auto">
          <a:xfrm>
            <a:off x="457200" y="4705350"/>
            <a:ext cx="3609975" cy="452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720" tIns="40680" rIns="81720" bIns="40680"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i="1">
                <a:solidFill>
                  <a:srgbClr val="000000"/>
                </a:solidFill>
              </a:rPr>
              <a:t>Brunel  (J Comp Neurosci 2000)</a:t>
            </a:r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54550" y="2039938"/>
            <a:ext cx="3302000" cy="26273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4473575" y="4713288"/>
            <a:ext cx="4318000" cy="4445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720" tIns="40680" rIns="81720" bIns="40680"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i="1">
                <a:solidFill>
                  <a:srgbClr val="000000"/>
                </a:solidFill>
              </a:rPr>
              <a:t>Mazzoni et al. (PLoS Comp Biol  2008)</a:t>
            </a:r>
          </a:p>
        </p:txBody>
      </p:sp>
      <p:pic>
        <p:nvPicPr>
          <p:cNvPr id="8200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85875" y="5286375"/>
            <a:ext cx="6143625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2" name="CasellaDiTesto 11"/>
          <p:cNvSpPr txBox="1">
            <a:spLocks noChangeArrowheads="1"/>
          </p:cNvSpPr>
          <p:nvPr/>
        </p:nvSpPr>
        <p:spPr bwMode="auto">
          <a:xfrm>
            <a:off x="0" y="5357813"/>
            <a:ext cx="1285875" cy="129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it-IT" sz="2800">
                <a:solidFill>
                  <a:schemeClr val="tx1"/>
                </a:solidFill>
              </a:rPr>
              <a:t>PCB,</a:t>
            </a:r>
          </a:p>
          <a:p>
            <a:pPr algn="ctr"/>
            <a:r>
              <a:rPr lang="it-IT" sz="2800">
                <a:solidFill>
                  <a:schemeClr val="tx1"/>
                </a:solidFill>
              </a:rPr>
              <a:t>Xmas 2015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"/>
          <p:cNvSpPr txBox="1">
            <a:spLocks noChangeArrowheads="1"/>
          </p:cNvSpPr>
          <p:nvPr/>
        </p:nvSpPr>
        <p:spPr bwMode="auto">
          <a:xfrm>
            <a:off x="457200" y="0"/>
            <a:ext cx="8334375" cy="8032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algn="ctr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Our (classic) point-neuron model</a:t>
            </a:r>
          </a:p>
        </p:txBody>
      </p:sp>
      <p:sp>
        <p:nvSpPr>
          <p:cNvPr id="9219" name="Text Box 2"/>
          <p:cNvSpPr txBox="1">
            <a:spLocks noChangeArrowheads="1"/>
          </p:cNvSpPr>
          <p:nvPr/>
        </p:nvSpPr>
        <p:spPr bwMode="auto">
          <a:xfrm>
            <a:off x="5795963" y="822325"/>
            <a:ext cx="3322637" cy="33797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720" tIns="42480" rIns="81720" bIns="42480"/>
          <a:lstStyle/>
          <a:p>
            <a:pPr>
              <a:lnSpc>
                <a:spcPct val="15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i="1">
                <a:solidFill>
                  <a:srgbClr val="000000"/>
                </a:solidFill>
              </a:rPr>
              <a:t>4000 pyramidal neurons - 1000 interneurons</a:t>
            </a: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50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i="1">
                <a:solidFill>
                  <a:srgbClr val="000000"/>
                </a:solidFill>
              </a:rPr>
              <a:t>Sparse random connection (p=0.2)</a:t>
            </a: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50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i="1">
                <a:solidFill>
                  <a:srgbClr val="000000"/>
                </a:solidFill>
              </a:rPr>
              <a:t>Strong inhibition</a:t>
            </a: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50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i="1">
                <a:solidFill>
                  <a:srgbClr val="000000"/>
                </a:solidFill>
              </a:rPr>
              <a:t>Sensory thalamic inputs (stronger on interneurons)</a:t>
            </a: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50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i="1">
                <a:solidFill>
                  <a:srgbClr val="000000"/>
                </a:solidFill>
              </a:rPr>
              <a:t>Stimulus unspecific slowly varying OU inputs modeling ongoing cortical fluctuations</a:t>
            </a: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500" i="1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i="1">
                <a:solidFill>
                  <a:srgbClr val="000000"/>
                </a:solidFill>
              </a:rPr>
              <a:t>Poisson heterogeneity</a:t>
            </a: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u="sng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u="sng">
                <a:solidFill>
                  <a:srgbClr val="000000"/>
                </a:solidFill>
              </a:rPr>
              <a:t>NO spatial architecture at neuronal or network level.</a:t>
            </a:r>
          </a:p>
        </p:txBody>
      </p:sp>
      <p:pic>
        <p:nvPicPr>
          <p:cNvPr id="922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803275"/>
            <a:ext cx="4305300" cy="33988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5819775" y="6111875"/>
            <a:ext cx="3360738" cy="6302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720" tIns="40680" rIns="81720" bIns="40680"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i="1">
                <a:solidFill>
                  <a:srgbClr val="000000"/>
                </a:solidFill>
              </a:rPr>
              <a:t>Mazzoni et al. (PLoS Comp Biol 2008)</a:t>
            </a:r>
          </a:p>
        </p:txBody>
      </p:sp>
      <p:grpSp>
        <p:nvGrpSpPr>
          <p:cNvPr id="2" name="Gruppo 6"/>
          <p:cNvGrpSpPr>
            <a:grpSpLocks/>
          </p:cNvGrpSpPr>
          <p:nvPr/>
        </p:nvGrpSpPr>
        <p:grpSpPr bwMode="auto">
          <a:xfrm>
            <a:off x="477838" y="4344988"/>
            <a:ext cx="5067300" cy="2513012"/>
            <a:chOff x="4000500" y="887413"/>
            <a:chExt cx="5067300" cy="2513012"/>
          </a:xfrm>
        </p:grpSpPr>
        <p:sp>
          <p:nvSpPr>
            <p:cNvPr id="9223" name="Text Box 4"/>
            <p:cNvSpPr txBox="1">
              <a:spLocks noChangeArrowheads="1"/>
            </p:cNvSpPr>
            <p:nvPr/>
          </p:nvSpPr>
          <p:spPr bwMode="auto">
            <a:xfrm>
              <a:off x="4151313" y="2173288"/>
              <a:ext cx="584200" cy="31432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81720" tIns="42480" rIns="81720" bIns="42480"/>
            <a:lstStyle/>
            <a:p>
              <a:pPr>
                <a:lnSpc>
                  <a:spcPct val="100000"/>
                </a:lnSpc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altLang="en-US" sz="1500" i="1">
                  <a:solidFill>
                    <a:srgbClr val="000000"/>
                  </a:solidFill>
                </a:rPr>
                <a:t>If</a:t>
              </a:r>
            </a:p>
          </p:txBody>
        </p:sp>
        <p:sp>
          <p:nvSpPr>
            <p:cNvPr id="9224" name="Text Box 5"/>
            <p:cNvSpPr txBox="1">
              <a:spLocks noChangeArrowheads="1"/>
            </p:cNvSpPr>
            <p:nvPr/>
          </p:nvSpPr>
          <p:spPr bwMode="auto">
            <a:xfrm>
              <a:off x="5681663" y="2173288"/>
              <a:ext cx="3328987" cy="122713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81720" tIns="42480" rIns="81720" bIns="42480"/>
            <a:lstStyle/>
            <a:p>
              <a:pPr marL="212725" indent="-212725">
                <a:lnSpc>
                  <a:spcPct val="100000"/>
                </a:lnSpc>
                <a:buFont typeface="Arial" charset="0"/>
                <a:buChar char="•"/>
                <a:tabLst>
                  <a:tab pos="212725" algn="l"/>
                  <a:tab pos="669925" algn="l"/>
                  <a:tab pos="1127125" algn="l"/>
                  <a:tab pos="1584325" algn="l"/>
                  <a:tab pos="2041525" algn="l"/>
                  <a:tab pos="2498725" algn="l"/>
                  <a:tab pos="2955925" algn="l"/>
                  <a:tab pos="3413125" algn="l"/>
                  <a:tab pos="3870325" algn="l"/>
                  <a:tab pos="4327525" algn="l"/>
                  <a:tab pos="4784725" algn="l"/>
                  <a:tab pos="5241925" algn="l"/>
                  <a:tab pos="5699125" algn="l"/>
                  <a:tab pos="6156325" algn="l"/>
                  <a:tab pos="6613525" algn="l"/>
                  <a:tab pos="7070725" algn="l"/>
                  <a:tab pos="7527925" algn="l"/>
                  <a:tab pos="7985125" algn="l"/>
                  <a:tab pos="8442325" algn="l"/>
                  <a:tab pos="8899525" algn="l"/>
                  <a:tab pos="9356725" algn="l"/>
                </a:tabLst>
              </a:pPr>
              <a:r>
                <a:rPr lang="en-US" altLang="en-US" sz="1500" i="1">
                  <a:solidFill>
                    <a:srgbClr val="000000"/>
                  </a:solidFill>
                </a:rPr>
                <a:t> a spike is emitted </a:t>
              </a:r>
            </a:p>
            <a:p>
              <a:pPr marL="212725" indent="-212725">
                <a:lnSpc>
                  <a:spcPct val="100000"/>
                </a:lnSpc>
                <a:buFont typeface="Arial" charset="0"/>
                <a:buChar char="•"/>
                <a:tabLst>
                  <a:tab pos="212725" algn="l"/>
                  <a:tab pos="669925" algn="l"/>
                  <a:tab pos="1127125" algn="l"/>
                  <a:tab pos="1584325" algn="l"/>
                  <a:tab pos="2041525" algn="l"/>
                  <a:tab pos="2498725" algn="l"/>
                  <a:tab pos="2955925" algn="l"/>
                  <a:tab pos="3413125" algn="l"/>
                  <a:tab pos="3870325" algn="l"/>
                  <a:tab pos="4327525" algn="l"/>
                  <a:tab pos="4784725" algn="l"/>
                  <a:tab pos="5241925" algn="l"/>
                  <a:tab pos="5699125" algn="l"/>
                  <a:tab pos="6156325" algn="l"/>
                  <a:tab pos="6613525" algn="l"/>
                  <a:tab pos="7070725" algn="l"/>
                  <a:tab pos="7527925" algn="l"/>
                  <a:tab pos="7985125" algn="l"/>
                  <a:tab pos="8442325" algn="l"/>
                  <a:tab pos="8899525" algn="l"/>
                  <a:tab pos="9356725" algn="l"/>
                </a:tabLst>
              </a:pPr>
              <a:r>
                <a:rPr lang="en-US" altLang="en-US" sz="1500" i="1">
                  <a:solidFill>
                    <a:srgbClr val="000000"/>
                  </a:solidFill>
                </a:rPr>
                <a:t> Vk drops to Vres </a:t>
              </a:r>
            </a:p>
            <a:p>
              <a:pPr marL="212725" indent="-212725">
                <a:lnSpc>
                  <a:spcPct val="100000"/>
                </a:lnSpc>
                <a:buFont typeface="Arial" charset="0"/>
                <a:buChar char="•"/>
                <a:tabLst>
                  <a:tab pos="212725" algn="l"/>
                  <a:tab pos="669925" algn="l"/>
                  <a:tab pos="1127125" algn="l"/>
                  <a:tab pos="1584325" algn="l"/>
                  <a:tab pos="2041525" algn="l"/>
                  <a:tab pos="2498725" algn="l"/>
                  <a:tab pos="2955925" algn="l"/>
                  <a:tab pos="3413125" algn="l"/>
                  <a:tab pos="3870325" algn="l"/>
                  <a:tab pos="4327525" algn="l"/>
                  <a:tab pos="4784725" algn="l"/>
                  <a:tab pos="5241925" algn="l"/>
                  <a:tab pos="5699125" algn="l"/>
                  <a:tab pos="6156325" algn="l"/>
                  <a:tab pos="6613525" algn="l"/>
                  <a:tab pos="7070725" algn="l"/>
                  <a:tab pos="7527925" algn="l"/>
                  <a:tab pos="7985125" algn="l"/>
                  <a:tab pos="8442325" algn="l"/>
                  <a:tab pos="8899525" algn="l"/>
                  <a:tab pos="9356725" algn="l"/>
                </a:tabLst>
              </a:pPr>
              <a:r>
                <a:rPr lang="en-US" altLang="en-US" sz="1500" i="1">
                  <a:solidFill>
                    <a:srgbClr val="000000"/>
                  </a:solidFill>
                </a:rPr>
                <a:t> the neuron can not fire for a time </a:t>
              </a:r>
              <a:r>
                <a:rPr lang="en-US" altLang="en-US" sz="1500" i="1">
                  <a:solidFill>
                    <a:srgbClr val="000000"/>
                  </a:solidFill>
                  <a:latin typeface="Symbol" pitchFamily="18" charset="2"/>
                </a:rPr>
                <a:t></a:t>
              </a:r>
              <a:r>
                <a:rPr lang="en-US" altLang="en-US" sz="1500" i="1">
                  <a:solidFill>
                    <a:srgbClr val="000000"/>
                  </a:solidFill>
                </a:rPr>
                <a:t>ref</a:t>
              </a:r>
            </a:p>
            <a:p>
              <a:pPr marL="212725" indent="-212725">
                <a:lnSpc>
                  <a:spcPct val="100000"/>
                </a:lnSpc>
                <a:buClrTx/>
                <a:buFontTx/>
                <a:buNone/>
                <a:tabLst>
                  <a:tab pos="212725" algn="l"/>
                  <a:tab pos="669925" algn="l"/>
                  <a:tab pos="1127125" algn="l"/>
                  <a:tab pos="1584325" algn="l"/>
                  <a:tab pos="2041525" algn="l"/>
                  <a:tab pos="2498725" algn="l"/>
                  <a:tab pos="2955925" algn="l"/>
                  <a:tab pos="3413125" algn="l"/>
                  <a:tab pos="3870325" algn="l"/>
                  <a:tab pos="4327525" algn="l"/>
                  <a:tab pos="4784725" algn="l"/>
                  <a:tab pos="5241925" algn="l"/>
                  <a:tab pos="5699125" algn="l"/>
                  <a:tab pos="6156325" algn="l"/>
                  <a:tab pos="6613525" algn="l"/>
                  <a:tab pos="7070725" algn="l"/>
                  <a:tab pos="7527925" algn="l"/>
                  <a:tab pos="7985125" algn="l"/>
                  <a:tab pos="8442325" algn="l"/>
                  <a:tab pos="8899525" algn="l"/>
                  <a:tab pos="9356725" algn="l"/>
                </a:tabLst>
              </a:pPr>
              <a:r>
                <a:rPr lang="en-US" altLang="en-US" sz="1500" i="1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9225" name="Text Box 6"/>
            <p:cNvSpPr txBox="1">
              <a:spLocks noChangeArrowheads="1"/>
            </p:cNvSpPr>
            <p:nvPr/>
          </p:nvSpPr>
          <p:spPr bwMode="auto">
            <a:xfrm>
              <a:off x="4000500" y="922338"/>
              <a:ext cx="2103438" cy="31432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81720" tIns="42480" rIns="81720" bIns="42480"/>
            <a:lstStyle/>
            <a:p>
              <a:pPr>
                <a:lnSpc>
                  <a:spcPct val="100000"/>
                </a:lnSpc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altLang="en-US" sz="1500" i="1">
                  <a:solidFill>
                    <a:srgbClr val="000000"/>
                  </a:solidFill>
                </a:rPr>
                <a:t>Subthreshold:</a:t>
              </a:r>
            </a:p>
          </p:txBody>
        </p:sp>
        <p:sp>
          <p:nvSpPr>
            <p:cNvPr id="9226" name="Text Box 7"/>
            <p:cNvSpPr txBox="1">
              <a:spLocks noChangeArrowheads="1"/>
            </p:cNvSpPr>
            <p:nvPr/>
          </p:nvSpPr>
          <p:spPr bwMode="auto">
            <a:xfrm>
              <a:off x="4000500" y="1289050"/>
              <a:ext cx="1616075" cy="5413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81720" tIns="42480" rIns="81720" bIns="42480"/>
            <a:lstStyle/>
            <a:p>
              <a:pPr>
                <a:lnSpc>
                  <a:spcPct val="100000"/>
                </a:lnSpc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altLang="en-US" sz="1500" i="1">
                  <a:solidFill>
                    <a:srgbClr val="000000"/>
                  </a:solidFill>
                </a:rPr>
                <a:t>Synaptic dynamics:</a:t>
              </a:r>
            </a:p>
          </p:txBody>
        </p:sp>
        <p:pic>
          <p:nvPicPr>
            <p:cNvPr id="9227" name="Picture 8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511800" y="887413"/>
              <a:ext cx="2832100" cy="32861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pic>
          <p:nvPicPr>
            <p:cNvPr id="9228" name="Picture 9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546600" y="2132013"/>
              <a:ext cx="1054100" cy="34290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pic>
          <p:nvPicPr>
            <p:cNvPr id="9229" name="Picture 1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613400" y="1674813"/>
              <a:ext cx="2997200" cy="32861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pic>
          <p:nvPicPr>
            <p:cNvPr id="9230" name="Picture 11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600700" y="1281113"/>
              <a:ext cx="3467100" cy="43021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457200" y="211138"/>
            <a:ext cx="8334375" cy="581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algn="ctr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LFP and LIF</a:t>
            </a:r>
          </a:p>
        </p:txBody>
      </p:sp>
      <p:sp>
        <p:nvSpPr>
          <p:cNvPr id="10243" name="Text Box 2"/>
          <p:cNvSpPr txBox="1">
            <a:spLocks noChangeArrowheads="1"/>
          </p:cNvSpPr>
          <p:nvPr/>
        </p:nvSpPr>
        <p:spPr bwMode="auto">
          <a:xfrm>
            <a:off x="195263" y="1273175"/>
            <a:ext cx="3305175" cy="29416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720" tIns="42480" rIns="81720" bIns="42480"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i="1" u="sng">
                <a:solidFill>
                  <a:srgbClr val="000000"/>
                </a:solidFill>
              </a:rPr>
              <a:t>How do we map the results of </a:t>
            </a: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i="1" u="sng">
                <a:solidFill>
                  <a:srgbClr val="000000"/>
                </a:solidFill>
              </a:rPr>
              <a:t>Integrate and Fire networks into experimental results about LFP?</a:t>
            </a: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For years the LFP has been approximated as the average membrane potential of all neurons in the network (spaceless)</a:t>
            </a:r>
          </a:p>
        </p:txBody>
      </p:sp>
      <p:pic>
        <p:nvPicPr>
          <p:cNvPr id="1024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36950" y="1597025"/>
            <a:ext cx="5607050" cy="4189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0245" name="Text Box 4"/>
          <p:cNvSpPr txBox="1">
            <a:spLocks noChangeArrowheads="1"/>
          </p:cNvSpPr>
          <p:nvPr/>
        </p:nvSpPr>
        <p:spPr bwMode="auto">
          <a:xfrm>
            <a:off x="142875" y="5643563"/>
            <a:ext cx="3749675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720" tIns="42480" rIns="81720" bIns="42480"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i="1">
                <a:solidFill>
                  <a:srgbClr val="000000"/>
                </a:solidFill>
              </a:rPr>
              <a:t>Mazzoni et al. (2008) PCB</a:t>
            </a:r>
          </a:p>
        </p:txBody>
      </p:sp>
      <p:sp>
        <p:nvSpPr>
          <p:cNvPr id="10246" name="Text Box 5"/>
          <p:cNvSpPr txBox="1">
            <a:spLocks noChangeArrowheads="1"/>
          </p:cNvSpPr>
          <p:nvPr/>
        </p:nvSpPr>
        <p:spPr bwMode="auto">
          <a:xfrm>
            <a:off x="5000625" y="5929313"/>
            <a:ext cx="3852863" cy="6334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720" tIns="42480" rIns="81720" bIns="42480"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…but the problem still awaits for an optimal solution.</a:t>
            </a:r>
          </a:p>
        </p:txBody>
      </p:sp>
      <p:sp>
        <p:nvSpPr>
          <p:cNvPr id="10247" name="AutoShape 9"/>
          <p:cNvSpPr>
            <a:spLocks noChangeArrowheads="1"/>
          </p:cNvSpPr>
          <p:nvPr/>
        </p:nvSpPr>
        <p:spPr bwMode="auto">
          <a:xfrm>
            <a:off x="142875" y="4357688"/>
            <a:ext cx="3143250" cy="1643062"/>
          </a:xfrm>
          <a:prstGeom prst="rightArrow">
            <a:avLst>
              <a:gd name="adj1" fmla="val 100000"/>
              <a:gd name="adj2" fmla="val 25897"/>
            </a:avLst>
          </a:prstGeom>
          <a:noFill/>
          <a:ln w="9360">
            <a:solidFill>
              <a:srgbClr val="808080"/>
            </a:solidFill>
            <a:round/>
            <a:headEnd/>
            <a:tailEnd/>
          </a:ln>
        </p:spPr>
        <p:txBody>
          <a:bodyPr wrap="none" lIns="90000" tIns="60840" rIns="90000" bIns="45000" anchor="ctr"/>
          <a:lstStyle/>
          <a:p>
            <a:pPr algn="ctr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Some interesting solutions </a:t>
            </a:r>
          </a:p>
          <a:p>
            <a:pPr algn="ctr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with a minimum amount </a:t>
            </a:r>
          </a:p>
          <a:p>
            <a:pPr algn="ctr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of spatial structure </a:t>
            </a:r>
          </a:p>
          <a:p>
            <a:pPr algn="ctr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have been proposed</a:t>
            </a:r>
          </a:p>
          <a:p>
            <a:pPr algn="ctr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1"/>
          <p:cNvSpPr txBox="1">
            <a:spLocks noChangeArrowheads="1"/>
          </p:cNvSpPr>
          <p:nvPr/>
        </p:nvSpPr>
        <p:spPr bwMode="auto">
          <a:xfrm>
            <a:off x="498475" y="41275"/>
            <a:ext cx="8334375" cy="581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algn="ctr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Network dynamics</a:t>
            </a:r>
          </a:p>
        </p:txBody>
      </p:sp>
      <p:sp>
        <p:nvSpPr>
          <p:cNvPr id="11267" name="Text Box 2"/>
          <p:cNvSpPr txBox="1">
            <a:spLocks noChangeArrowheads="1"/>
          </p:cNvSpPr>
          <p:nvPr/>
        </p:nvSpPr>
        <p:spPr bwMode="auto">
          <a:xfrm>
            <a:off x="365125" y="6454775"/>
            <a:ext cx="8624888" cy="355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720" tIns="40680" rIns="81720" bIns="40680"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i="1">
                <a:solidFill>
                  <a:srgbClr val="000000"/>
                </a:solidFill>
              </a:rPr>
              <a:t>Mazzoni et al. (Plos Comp Biol 2008, Neuroimage 2010, J Physiol 2012)</a:t>
            </a:r>
          </a:p>
        </p:txBody>
      </p:sp>
      <p:sp>
        <p:nvSpPr>
          <p:cNvPr id="11268" name="Text Box 3"/>
          <p:cNvSpPr txBox="1">
            <a:spLocks noChangeArrowheads="1"/>
          </p:cNvSpPr>
          <p:nvPr/>
        </p:nvSpPr>
        <p:spPr bwMode="auto">
          <a:xfrm>
            <a:off x="136525" y="704850"/>
            <a:ext cx="3887788" cy="55673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720" tIns="40680" rIns="81720" bIns="40680"/>
          <a:lstStyle/>
          <a:p>
            <a:pPr marL="215900" indent="-212725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>
                <a:solidFill>
                  <a:srgbClr val="000000"/>
                </a:solidFill>
              </a:rPr>
              <a:t>	This network was found to reproduce to some extent different V1 LFP dynamics</a:t>
            </a:r>
          </a:p>
          <a:p>
            <a:pPr marL="215900" indent="-212725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 marL="215900" indent="-212725">
              <a:lnSpc>
                <a:spcPct val="100000"/>
              </a:lnSpc>
              <a:buSzPct val="45000"/>
              <a:buFont typeface="Wingdings" pitchFamily="2" charset="2"/>
              <a:buChar char="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>
                <a:solidFill>
                  <a:srgbClr val="000000"/>
                </a:solidFill>
              </a:rPr>
              <a:t> Gamma-band modulation by stimulus intensity</a:t>
            </a:r>
          </a:p>
          <a:p>
            <a:pPr marL="215900" indent="-212725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 marL="215900" indent="-212725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 marL="215900" indent="-212725">
              <a:lnSpc>
                <a:spcPct val="100000"/>
              </a:lnSpc>
              <a:buSzPct val="45000"/>
              <a:buFont typeface="Wingdings" pitchFamily="2" charset="2"/>
              <a:buChar char="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>
                <a:solidFill>
                  <a:srgbClr val="000000"/>
                </a:solidFill>
              </a:rPr>
              <a:t> Entrainment to periodic stimuli</a:t>
            </a:r>
          </a:p>
          <a:p>
            <a:pPr marL="215900" indent="-212725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 marL="215900" indent="-212725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 marL="215900" indent="-212725">
              <a:lnSpc>
                <a:spcPct val="100000"/>
              </a:lnSpc>
              <a:buSzPct val="45000"/>
              <a:buFont typeface="Wingdings" pitchFamily="2" charset="2"/>
              <a:buChar char="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>
                <a:solidFill>
                  <a:srgbClr val="000000"/>
                </a:solidFill>
              </a:rPr>
              <a:t> Cross frequency coupling</a:t>
            </a:r>
          </a:p>
          <a:p>
            <a:pPr marL="215900" indent="-212725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 marL="215900" indent="-212725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 marL="215900" indent="-212725">
              <a:lnSpc>
                <a:spcPct val="100000"/>
              </a:lnSpc>
              <a:buSzPct val="45000"/>
              <a:buFont typeface="Wingdings" pitchFamily="2" charset="2"/>
              <a:buChar char="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>
                <a:solidFill>
                  <a:srgbClr val="000000"/>
                </a:solidFill>
              </a:rPr>
              <a:t> Multiplexing of information in LFP spectrum</a:t>
            </a:r>
          </a:p>
          <a:p>
            <a:pPr marL="215900" indent="-212725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 marL="215900" indent="-212725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 marL="215900" indent="-212725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>
                <a:solidFill>
                  <a:srgbClr val="000000"/>
                </a:solidFill>
              </a:rPr>
              <a:t>that will be interesting</a:t>
            </a:r>
          </a:p>
          <a:p>
            <a:pPr marL="215900" indent="-212725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>
                <a:solidFill>
                  <a:srgbClr val="000000"/>
                </a:solidFill>
              </a:rPr>
              <a:t>to study with a more realistic model</a:t>
            </a:r>
          </a:p>
        </p:txBody>
      </p:sp>
      <p:pic>
        <p:nvPicPr>
          <p:cNvPr id="11269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30688" y="822325"/>
            <a:ext cx="2151062" cy="53038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1270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65925" y="822325"/>
            <a:ext cx="2286000" cy="5486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1271" name="Rettangolo 1"/>
          <p:cNvSpPr>
            <a:spLocks noChangeArrowheads="1"/>
          </p:cNvSpPr>
          <p:nvPr/>
        </p:nvSpPr>
        <p:spPr bwMode="auto">
          <a:xfrm>
            <a:off x="4140200" y="2636838"/>
            <a:ext cx="287338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it-IT" altLang="it-IT"/>
          </a:p>
        </p:txBody>
      </p:sp>
      <p:sp>
        <p:nvSpPr>
          <p:cNvPr id="11272" name="Rettangolo 7"/>
          <p:cNvSpPr>
            <a:spLocks noChangeArrowheads="1"/>
          </p:cNvSpPr>
          <p:nvPr/>
        </p:nvSpPr>
        <p:spPr bwMode="auto">
          <a:xfrm>
            <a:off x="4140200" y="765175"/>
            <a:ext cx="287338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it-IT" altLang="it-IT"/>
          </a:p>
        </p:txBody>
      </p:sp>
      <p:sp>
        <p:nvSpPr>
          <p:cNvPr id="11273" name="Rettangolo 8"/>
          <p:cNvSpPr>
            <a:spLocks noChangeArrowheads="1"/>
          </p:cNvSpPr>
          <p:nvPr/>
        </p:nvSpPr>
        <p:spPr bwMode="auto">
          <a:xfrm>
            <a:off x="6659563" y="2636838"/>
            <a:ext cx="288925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it-IT" altLang="it-IT"/>
          </a:p>
        </p:txBody>
      </p:sp>
      <p:sp>
        <p:nvSpPr>
          <p:cNvPr id="11274" name="Rettangolo 9"/>
          <p:cNvSpPr>
            <a:spLocks noChangeArrowheads="1"/>
          </p:cNvSpPr>
          <p:nvPr/>
        </p:nvSpPr>
        <p:spPr bwMode="auto">
          <a:xfrm>
            <a:off x="6659563" y="765175"/>
            <a:ext cx="288925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it-IT" altLang="it-IT"/>
          </a:p>
        </p:txBody>
      </p:sp>
      <p:sp>
        <p:nvSpPr>
          <p:cNvPr id="11275" name="Rettangolo 10"/>
          <p:cNvSpPr>
            <a:spLocks noChangeArrowheads="1"/>
          </p:cNvSpPr>
          <p:nvPr/>
        </p:nvSpPr>
        <p:spPr bwMode="auto">
          <a:xfrm>
            <a:off x="4140200" y="4508500"/>
            <a:ext cx="287338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it-IT" altLang="it-IT"/>
          </a:p>
        </p:txBody>
      </p:sp>
      <p:sp>
        <p:nvSpPr>
          <p:cNvPr id="11276" name="Rettangolo 11"/>
          <p:cNvSpPr>
            <a:spLocks noChangeArrowheads="1"/>
          </p:cNvSpPr>
          <p:nvPr/>
        </p:nvSpPr>
        <p:spPr bwMode="auto">
          <a:xfrm>
            <a:off x="6673850" y="4432300"/>
            <a:ext cx="288925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it-IT" altLang="it-IT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25"/>
            <a:ext cx="3341688" cy="635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60700" y="1500188"/>
            <a:ext cx="5800725" cy="430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71438" y="2214563"/>
            <a:ext cx="1428750" cy="164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  <a:latin typeface="Calibri" pitchFamily="34" charset="0"/>
              </a:rPr>
              <a:t>… very nice, but dynamics must be injected</a:t>
            </a:r>
          </a:p>
        </p:txBody>
      </p:sp>
      <p:pic>
        <p:nvPicPr>
          <p:cNvPr id="12293" name="Picture 3"/>
          <p:cNvPicPr>
            <a:picLocks noChangeAspect="1" noChangeArrowheads="1"/>
          </p:cNvPicPr>
          <p:nvPr/>
        </p:nvPicPr>
        <p:blipFill>
          <a:blip r:embed="rId4"/>
          <a:srcRect l="26578"/>
          <a:stretch>
            <a:fillRect/>
          </a:stretch>
        </p:blipFill>
        <p:spPr bwMode="auto">
          <a:xfrm>
            <a:off x="6188075" y="357188"/>
            <a:ext cx="2955925" cy="11731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2294" name="Titolo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sz="3600"/>
              <a:t>Morphological </a:t>
            </a:r>
            <a:br>
              <a:rPr lang="it-IT" sz="3600"/>
            </a:br>
            <a:r>
              <a:rPr lang="it-IT" sz="3600"/>
              <a:t>modeling</a:t>
            </a:r>
          </a:p>
        </p:txBody>
      </p:sp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81388" y="5786438"/>
            <a:ext cx="4337050" cy="1071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25"/>
            <a:ext cx="3341688" cy="635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60700" y="1500188"/>
            <a:ext cx="5800725" cy="430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71438" y="2214563"/>
            <a:ext cx="1428750" cy="164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  <a:latin typeface="Calibri" pitchFamily="34" charset="0"/>
              </a:rPr>
              <a:t>… very nice, but dynamics must be injected</a:t>
            </a:r>
          </a:p>
        </p:txBody>
      </p:sp>
      <p:pic>
        <p:nvPicPr>
          <p:cNvPr id="12293" name="Picture 3"/>
          <p:cNvPicPr>
            <a:picLocks noChangeAspect="1" noChangeArrowheads="1"/>
          </p:cNvPicPr>
          <p:nvPr/>
        </p:nvPicPr>
        <p:blipFill>
          <a:blip r:embed="rId4"/>
          <a:srcRect l="26578"/>
          <a:stretch>
            <a:fillRect/>
          </a:stretch>
        </p:blipFill>
        <p:spPr bwMode="auto">
          <a:xfrm>
            <a:off x="6188075" y="357188"/>
            <a:ext cx="2955925" cy="11731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2294" name="Titolo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sz="3600"/>
              <a:t>Morphological </a:t>
            </a:r>
            <a:br>
              <a:rPr lang="it-IT" sz="3600"/>
            </a:br>
            <a:r>
              <a:rPr lang="it-IT" sz="3600"/>
              <a:t>modeling</a:t>
            </a:r>
          </a:p>
        </p:txBody>
      </p:sp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81388" y="5786438"/>
            <a:ext cx="4337050" cy="1071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697C28A3-262F-475C-BF19-6509AB69420E}"/>
              </a:ext>
            </a:extLst>
          </p:cNvPr>
          <p:cNvSpPr/>
          <p:nvPr/>
        </p:nvSpPr>
        <p:spPr>
          <a:xfrm>
            <a:off x="2764370" y="1409303"/>
            <a:ext cx="3638018" cy="51168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2000" b="1" dirty="0"/>
          </a:p>
          <a:p>
            <a:pPr algn="ctr"/>
            <a:r>
              <a:rPr lang="it-IT" sz="2000" b="1" dirty="0" err="1"/>
              <a:t>Crucial</a:t>
            </a:r>
            <a:r>
              <a:rPr lang="it-IT" sz="2000" b="1" dirty="0"/>
              <a:t> note </a:t>
            </a:r>
            <a:r>
              <a:rPr lang="it-IT" sz="2000" b="1" dirty="0" err="1"/>
              <a:t>about</a:t>
            </a:r>
            <a:r>
              <a:rPr lang="it-IT" sz="2000" b="1" dirty="0"/>
              <a:t> figure on the </a:t>
            </a:r>
            <a:r>
              <a:rPr lang="it-IT" sz="2000" b="1" dirty="0" err="1"/>
              <a:t>left</a:t>
            </a:r>
            <a:r>
              <a:rPr lang="it-IT" sz="2000" dirty="0"/>
              <a:t>: </a:t>
            </a:r>
          </a:p>
          <a:p>
            <a:pPr algn="ctr"/>
            <a:r>
              <a:rPr lang="it-IT" sz="2000" dirty="0" err="1"/>
              <a:t>When</a:t>
            </a:r>
            <a:r>
              <a:rPr lang="it-IT" sz="2000" dirty="0"/>
              <a:t> </a:t>
            </a:r>
            <a:r>
              <a:rPr lang="it-IT" sz="2000" dirty="0" err="1"/>
              <a:t>you</a:t>
            </a:r>
            <a:r>
              <a:rPr lang="it-IT" sz="2000" dirty="0"/>
              <a:t> model the </a:t>
            </a:r>
            <a:r>
              <a:rPr lang="it-IT" sz="2000" dirty="0" err="1"/>
              <a:t>morphology</a:t>
            </a:r>
            <a:r>
              <a:rPr lang="it-IT" sz="2000" dirty="0"/>
              <a:t> (</a:t>
            </a:r>
            <a:r>
              <a:rPr lang="it-IT" sz="2000" dirty="0" err="1"/>
              <a:t>dendrites</a:t>
            </a:r>
            <a:r>
              <a:rPr lang="it-IT" sz="2000" dirty="0"/>
              <a:t> are black lines, red/blue </a:t>
            </a:r>
            <a:r>
              <a:rPr lang="it-IT" sz="2000" dirty="0" err="1"/>
              <a:t>buttons</a:t>
            </a:r>
            <a:r>
              <a:rPr lang="it-IT" sz="2000" dirty="0"/>
              <a:t> AMPA/GABA </a:t>
            </a:r>
            <a:r>
              <a:rPr lang="it-IT" sz="2000" dirty="0" err="1"/>
              <a:t>synpases</a:t>
            </a:r>
            <a:r>
              <a:rPr lang="it-IT" sz="2000" dirty="0"/>
              <a:t>), </a:t>
            </a:r>
            <a:r>
              <a:rPr lang="it-IT" sz="2000" dirty="0" err="1"/>
              <a:t>you</a:t>
            </a:r>
            <a:r>
              <a:rPr lang="it-IT" sz="2000" dirty="0"/>
              <a:t> can model </a:t>
            </a:r>
            <a:r>
              <a:rPr lang="it-IT" sz="2000" dirty="0" err="1"/>
              <a:t>also</a:t>
            </a:r>
            <a:r>
              <a:rPr lang="it-IT" sz="2000" dirty="0"/>
              <a:t> </a:t>
            </a:r>
            <a:r>
              <a:rPr lang="it-IT" sz="2000" dirty="0" err="1"/>
              <a:t>you</a:t>
            </a:r>
            <a:r>
              <a:rPr lang="it-IT" sz="2000" dirty="0"/>
              <a:t> </a:t>
            </a:r>
            <a:r>
              <a:rPr lang="it-IT" sz="2000" dirty="0" err="1"/>
              <a:t>neural</a:t>
            </a:r>
            <a:r>
              <a:rPr lang="it-IT" sz="2000" dirty="0"/>
              <a:t> </a:t>
            </a:r>
            <a:r>
              <a:rPr lang="it-IT" sz="2000" dirty="0" err="1"/>
              <a:t>interface</a:t>
            </a:r>
            <a:r>
              <a:rPr lang="it-IT" sz="2000" dirty="0"/>
              <a:t> (green </a:t>
            </a:r>
            <a:r>
              <a:rPr lang="it-IT" sz="2000" dirty="0" err="1"/>
              <a:t>circles</a:t>
            </a:r>
            <a:r>
              <a:rPr lang="it-IT" sz="2000" dirty="0"/>
              <a:t> are the </a:t>
            </a:r>
            <a:r>
              <a:rPr lang="it-IT" sz="2000" dirty="0" err="1"/>
              <a:t>contact</a:t>
            </a:r>
            <a:r>
              <a:rPr lang="it-IT" sz="2000" dirty="0"/>
              <a:t> </a:t>
            </a:r>
            <a:r>
              <a:rPr lang="it-IT" sz="2000" dirty="0" err="1"/>
              <a:t>sites</a:t>
            </a:r>
            <a:r>
              <a:rPr lang="it-IT" sz="2000" dirty="0"/>
              <a:t> of a laminar </a:t>
            </a:r>
            <a:r>
              <a:rPr lang="it-IT" sz="2000" dirty="0" err="1"/>
              <a:t>electrode</a:t>
            </a:r>
            <a:r>
              <a:rPr lang="it-IT" sz="2000" dirty="0"/>
              <a:t>), and </a:t>
            </a:r>
            <a:r>
              <a:rPr lang="it-IT" sz="2000" dirty="0" err="1"/>
              <a:t>hence</a:t>
            </a:r>
            <a:r>
              <a:rPr lang="it-IT" sz="2000" dirty="0"/>
              <a:t> test </a:t>
            </a:r>
            <a:r>
              <a:rPr lang="it-IT" sz="2000" dirty="0" err="1"/>
              <a:t>different</a:t>
            </a:r>
            <a:r>
              <a:rPr lang="it-IT" sz="2000" dirty="0"/>
              <a:t> </a:t>
            </a:r>
            <a:r>
              <a:rPr lang="it-IT" sz="2000" dirty="0" err="1"/>
              <a:t>kind</a:t>
            </a:r>
            <a:r>
              <a:rPr lang="it-IT" sz="2000" dirty="0"/>
              <a:t> of designs to </a:t>
            </a:r>
            <a:r>
              <a:rPr lang="it-IT" sz="2000" dirty="0" err="1"/>
              <a:t>maximize</a:t>
            </a:r>
            <a:r>
              <a:rPr lang="it-IT" sz="2000" dirty="0"/>
              <a:t> </a:t>
            </a:r>
            <a:r>
              <a:rPr lang="it-IT" sz="2000" dirty="0" err="1"/>
              <a:t>efficacy</a:t>
            </a:r>
            <a:r>
              <a:rPr lang="it-IT" sz="2000" dirty="0"/>
              <a:t> in reading/</a:t>
            </a:r>
            <a:r>
              <a:rPr lang="it-IT" sz="2000" dirty="0" err="1"/>
              <a:t>stimulating</a:t>
            </a:r>
            <a:r>
              <a:rPr lang="it-IT" sz="2000" dirty="0"/>
              <a:t> (</a:t>
            </a:r>
            <a:r>
              <a:rPr lang="it-IT" sz="2000" dirty="0" err="1"/>
              <a:t>see</a:t>
            </a:r>
            <a:r>
              <a:rPr lang="it-IT" sz="2000" dirty="0"/>
              <a:t> Romeni et al,2020)</a:t>
            </a:r>
          </a:p>
          <a:p>
            <a:pPr algn="ctr"/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18795786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"/>
          <p:cNvSpPr txBox="1">
            <a:spLocks noChangeArrowheads="1"/>
          </p:cNvSpPr>
          <p:nvPr/>
        </p:nvSpPr>
        <p:spPr bwMode="auto">
          <a:xfrm>
            <a:off x="6350" y="47625"/>
            <a:ext cx="5600700" cy="8032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algn="ctr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Our approach</a:t>
            </a:r>
          </a:p>
        </p:txBody>
      </p:sp>
      <p:pic>
        <p:nvPicPr>
          <p:cNvPr id="1331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913" y="1125538"/>
            <a:ext cx="3101975" cy="24479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3316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16463" y="549275"/>
            <a:ext cx="4025900" cy="11731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3317" name="Picture 4"/>
          <p:cNvPicPr>
            <a:picLocks noChangeAspect="1" noChangeArrowheads="1"/>
          </p:cNvPicPr>
          <p:nvPr/>
        </p:nvPicPr>
        <p:blipFill>
          <a:blip r:embed="rId5"/>
          <a:srcRect l="9821" t="2747" r="5981" b="49557"/>
          <a:stretch>
            <a:fillRect/>
          </a:stretch>
        </p:blipFill>
        <p:spPr bwMode="auto">
          <a:xfrm>
            <a:off x="782638" y="4251325"/>
            <a:ext cx="7966075" cy="26066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3318" name="AutoShape 5"/>
          <p:cNvSpPr>
            <a:spLocks noChangeArrowheads="1"/>
          </p:cNvSpPr>
          <p:nvPr/>
        </p:nvSpPr>
        <p:spPr bwMode="auto">
          <a:xfrm>
            <a:off x="3132138" y="2286000"/>
            <a:ext cx="1504950" cy="914400"/>
          </a:xfrm>
          <a:prstGeom prst="rightArrow">
            <a:avLst>
              <a:gd name="adj1" fmla="val 50000"/>
              <a:gd name="adj2" fmla="val 41146"/>
            </a:avLst>
          </a:prstGeom>
          <a:solidFill>
            <a:srgbClr val="CFE7F5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000" tIns="45000" rIns="90000" bIns="45000"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spikes</a:t>
            </a:r>
          </a:p>
        </p:txBody>
      </p:sp>
      <p:sp>
        <p:nvSpPr>
          <p:cNvPr id="13319" name="AutoShape 6"/>
          <p:cNvSpPr>
            <a:spLocks noChangeArrowheads="1"/>
          </p:cNvSpPr>
          <p:nvPr/>
        </p:nvSpPr>
        <p:spPr bwMode="auto">
          <a:xfrm>
            <a:off x="1554163" y="3789363"/>
            <a:ext cx="1920875" cy="822325"/>
          </a:xfrm>
          <a:prstGeom prst="downArrow">
            <a:avLst>
              <a:gd name="adj1" fmla="val 40852"/>
              <a:gd name="adj2" fmla="val 68519"/>
            </a:avLst>
          </a:prstGeom>
          <a:solidFill>
            <a:srgbClr val="CFE7F5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000" tIns="45000" rIns="90000" bIns="45000"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LIF </a:t>
            </a:r>
          </a:p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LFP</a:t>
            </a:r>
          </a:p>
        </p:txBody>
      </p:sp>
      <p:sp>
        <p:nvSpPr>
          <p:cNvPr id="13320" name="AutoShape 7"/>
          <p:cNvSpPr>
            <a:spLocks noChangeArrowheads="1"/>
          </p:cNvSpPr>
          <p:nvPr/>
        </p:nvSpPr>
        <p:spPr bwMode="auto">
          <a:xfrm>
            <a:off x="5486400" y="3840163"/>
            <a:ext cx="1920875" cy="822325"/>
          </a:xfrm>
          <a:prstGeom prst="downArrow">
            <a:avLst>
              <a:gd name="adj1" fmla="val 40852"/>
              <a:gd name="adj2" fmla="val 68519"/>
            </a:avLst>
          </a:prstGeom>
          <a:solidFill>
            <a:srgbClr val="CFE7F5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lIns="90000" tIns="45000" rIns="90000" bIns="45000"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LFPy </a:t>
            </a:r>
          </a:p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LFP</a:t>
            </a:r>
          </a:p>
        </p:txBody>
      </p:sp>
      <p:sp>
        <p:nvSpPr>
          <p:cNvPr id="13321" name="CasellaDiTesto 1"/>
          <p:cNvSpPr txBox="1">
            <a:spLocks noChangeArrowheads="1"/>
          </p:cNvSpPr>
          <p:nvPr/>
        </p:nvSpPr>
        <p:spPr bwMode="auto">
          <a:xfrm>
            <a:off x="4637088" y="1916113"/>
            <a:ext cx="4506912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it-IT" altLang="it-IT" sz="2400" u="sng">
                <a:solidFill>
                  <a:schemeClr val="tx1"/>
                </a:solidFill>
              </a:rPr>
              <a:t>+ network spatial architecture</a:t>
            </a:r>
          </a:p>
          <a:p>
            <a:endParaRPr lang="it-IT" altLang="it-IT" sz="2400" u="sng">
              <a:solidFill>
                <a:schemeClr val="tx1"/>
              </a:solidFill>
            </a:endParaRPr>
          </a:p>
          <a:p>
            <a:r>
              <a:rPr lang="it-IT" altLang="it-IT" sz="2400" u="sng">
                <a:solidFill>
                  <a:schemeClr val="tx1"/>
                </a:solidFill>
              </a:rPr>
              <a:t>+ neuron morphologies</a:t>
            </a:r>
          </a:p>
          <a:p>
            <a:endParaRPr lang="it-IT" altLang="it-IT" sz="2400" u="sng">
              <a:solidFill>
                <a:schemeClr val="tx1"/>
              </a:solidFill>
            </a:endParaRPr>
          </a:p>
          <a:p>
            <a:r>
              <a:rPr lang="it-IT" altLang="it-IT" sz="2400" u="sng">
                <a:solidFill>
                  <a:schemeClr val="tx1"/>
                </a:solidFill>
              </a:rPr>
              <a:t>+ synaptic distribution in space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15" descr="C:\Users\alberto-mazzoni\Desktop\Materiale per presentazione OSLO\LFPy_Figure_21_05\Figure 1\Fig_1B_new_morphology.tif"/>
          <p:cNvPicPr>
            <a:picLocks noChangeAspect="1" noChangeArrowheads="1"/>
          </p:cNvPicPr>
          <p:nvPr/>
        </p:nvPicPr>
        <p:blipFill>
          <a:blip r:embed="rId3"/>
          <a:srcRect l="25191" t="10822" r="22504" b="10985"/>
          <a:stretch>
            <a:fillRect/>
          </a:stretch>
        </p:blipFill>
        <p:spPr bwMode="auto">
          <a:xfrm>
            <a:off x="365125" y="692150"/>
            <a:ext cx="5299075" cy="594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ext Box 1"/>
          <p:cNvSpPr txBox="1">
            <a:spLocks noChangeArrowheads="1"/>
          </p:cNvSpPr>
          <p:nvPr/>
        </p:nvSpPr>
        <p:spPr bwMode="auto">
          <a:xfrm>
            <a:off x="457200" y="44450"/>
            <a:ext cx="8334375" cy="8032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algn="ctr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Building the network - morphology</a:t>
            </a:r>
          </a:p>
        </p:txBody>
      </p:sp>
      <p:sp>
        <p:nvSpPr>
          <p:cNvPr id="14340" name="Text Box 2"/>
          <p:cNvSpPr txBox="1">
            <a:spLocks noChangeArrowheads="1"/>
          </p:cNvSpPr>
          <p:nvPr/>
        </p:nvSpPr>
        <p:spPr bwMode="auto">
          <a:xfrm>
            <a:off x="5826125" y="1628775"/>
            <a:ext cx="3225800" cy="493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720" tIns="40680" rIns="81720" bIns="40680"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u="sng">
                <a:solidFill>
                  <a:srgbClr val="000000"/>
                </a:solidFill>
              </a:rPr>
              <a:t>We simulate only one layer (the contribution of different layers sum up linearly)</a:t>
            </a: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Layer 2/3 models</a:t>
            </a: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Realistic cortical density/ biophysical parameters/ synaptic dynamics.</a:t>
            </a: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Somas in the lower cylinder</a:t>
            </a: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Pyramidal neuron dendrites extend to the upper cylinder, interneurons dendrites don’t.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914400" y="6218238"/>
            <a:ext cx="2011363" cy="3444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Interneuron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3382963" y="6126163"/>
            <a:ext cx="2011362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Pyramidal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neuron</a:t>
            </a:r>
          </a:p>
        </p:txBody>
      </p:sp>
      <p:sp>
        <p:nvSpPr>
          <p:cNvPr id="14343" name="AutoShape 7"/>
          <p:cNvSpPr>
            <a:spLocks noChangeArrowheads="1"/>
          </p:cNvSpPr>
          <p:nvPr/>
        </p:nvSpPr>
        <p:spPr bwMode="auto">
          <a:xfrm>
            <a:off x="457200" y="3213100"/>
            <a:ext cx="5029200" cy="3455988"/>
          </a:xfrm>
          <a:prstGeom prst="can">
            <a:avLst>
              <a:gd name="adj" fmla="val 25000"/>
            </a:avLst>
          </a:prstGeom>
          <a:noFill/>
          <a:ln w="36000">
            <a:solidFill>
              <a:srgbClr val="333333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 altLang="it-IT"/>
          </a:p>
        </p:txBody>
      </p:sp>
      <p:sp>
        <p:nvSpPr>
          <p:cNvPr id="14344" name="AutoShape 8"/>
          <p:cNvSpPr>
            <a:spLocks noChangeArrowheads="1"/>
          </p:cNvSpPr>
          <p:nvPr/>
        </p:nvSpPr>
        <p:spPr bwMode="auto">
          <a:xfrm>
            <a:off x="474663" y="765175"/>
            <a:ext cx="5029200" cy="3290888"/>
          </a:xfrm>
          <a:prstGeom prst="can">
            <a:avLst>
              <a:gd name="adj" fmla="val 25000"/>
            </a:avLst>
          </a:prstGeom>
          <a:noFill/>
          <a:ln w="36000">
            <a:solidFill>
              <a:srgbClr val="333333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 altLang="it-IT"/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20638" y="1452563"/>
            <a:ext cx="344487" cy="20240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eaVert" lIns="90000" tIns="45000" rIns="90000" bIns="450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Upper cylinder</a:t>
            </a:r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20638" y="3841750"/>
            <a:ext cx="344487" cy="20240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eaVert" lIns="90000" tIns="45000" rIns="90000" bIns="450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Lower cylinder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5551488" y="3586163"/>
            <a:ext cx="274637" cy="3444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5516563" y="1279525"/>
            <a:ext cx="1214437" cy="3444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250 um</a:t>
            </a:r>
          </a:p>
        </p:txBody>
      </p:sp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5368925" y="5943600"/>
            <a:ext cx="1214438" cy="3444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-250 um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15" descr="C:\Users\alberto-mazzoni\Desktop\Materiale per presentazione OSLO\LFPy_Figure_21_05\Figure 1\Fig_1B_new_morphology.tif"/>
          <p:cNvPicPr>
            <a:picLocks noChangeAspect="1" noChangeArrowheads="1"/>
          </p:cNvPicPr>
          <p:nvPr/>
        </p:nvPicPr>
        <p:blipFill>
          <a:blip r:embed="rId3"/>
          <a:srcRect l="25191" t="10822" r="22504" b="10985"/>
          <a:stretch>
            <a:fillRect/>
          </a:stretch>
        </p:blipFill>
        <p:spPr bwMode="auto">
          <a:xfrm>
            <a:off x="365125" y="692150"/>
            <a:ext cx="5299075" cy="594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ext Box 1"/>
          <p:cNvSpPr txBox="1">
            <a:spLocks noChangeArrowheads="1"/>
          </p:cNvSpPr>
          <p:nvPr/>
        </p:nvSpPr>
        <p:spPr bwMode="auto">
          <a:xfrm>
            <a:off x="457200" y="44450"/>
            <a:ext cx="8334375" cy="8032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algn="ctr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Building the network - morphology</a:t>
            </a:r>
          </a:p>
        </p:txBody>
      </p:sp>
      <p:sp>
        <p:nvSpPr>
          <p:cNvPr id="14340" name="Text Box 2"/>
          <p:cNvSpPr txBox="1">
            <a:spLocks noChangeArrowheads="1"/>
          </p:cNvSpPr>
          <p:nvPr/>
        </p:nvSpPr>
        <p:spPr bwMode="auto">
          <a:xfrm>
            <a:off x="5826125" y="1628775"/>
            <a:ext cx="3225800" cy="493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720" tIns="40680" rIns="81720" bIns="40680"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u="sng">
                <a:solidFill>
                  <a:srgbClr val="000000"/>
                </a:solidFill>
              </a:rPr>
              <a:t>We simulate only one layer (the contribution of different layers sum up linearly)</a:t>
            </a: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Layer 2/3 models</a:t>
            </a: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Realistic cortical density/ biophysical parameters/ synaptic dynamics.</a:t>
            </a: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Somas in the lower cylinder</a:t>
            </a: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Pyramidal neuron dendrites extend to the upper cylinder, interneurons dendrites don’t.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914400" y="6218238"/>
            <a:ext cx="2011363" cy="3444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Interneuron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3382963" y="6126163"/>
            <a:ext cx="2011362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Pyramidal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neuron</a:t>
            </a:r>
          </a:p>
        </p:txBody>
      </p:sp>
      <p:sp>
        <p:nvSpPr>
          <p:cNvPr id="14343" name="AutoShape 7"/>
          <p:cNvSpPr>
            <a:spLocks noChangeArrowheads="1"/>
          </p:cNvSpPr>
          <p:nvPr/>
        </p:nvSpPr>
        <p:spPr bwMode="auto">
          <a:xfrm>
            <a:off x="457200" y="3213100"/>
            <a:ext cx="5029200" cy="3455988"/>
          </a:xfrm>
          <a:prstGeom prst="can">
            <a:avLst>
              <a:gd name="adj" fmla="val 25000"/>
            </a:avLst>
          </a:prstGeom>
          <a:noFill/>
          <a:ln w="36000">
            <a:solidFill>
              <a:srgbClr val="333333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 altLang="it-IT"/>
          </a:p>
        </p:txBody>
      </p:sp>
      <p:sp>
        <p:nvSpPr>
          <p:cNvPr id="14344" name="AutoShape 8"/>
          <p:cNvSpPr>
            <a:spLocks noChangeArrowheads="1"/>
          </p:cNvSpPr>
          <p:nvPr/>
        </p:nvSpPr>
        <p:spPr bwMode="auto">
          <a:xfrm>
            <a:off x="474663" y="765175"/>
            <a:ext cx="5029200" cy="3290888"/>
          </a:xfrm>
          <a:prstGeom prst="can">
            <a:avLst>
              <a:gd name="adj" fmla="val 25000"/>
            </a:avLst>
          </a:prstGeom>
          <a:noFill/>
          <a:ln w="36000">
            <a:solidFill>
              <a:srgbClr val="333333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 altLang="it-IT"/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20638" y="1452563"/>
            <a:ext cx="344487" cy="20240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eaVert" lIns="90000" tIns="45000" rIns="90000" bIns="450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Upper cylinder</a:t>
            </a:r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20638" y="3841750"/>
            <a:ext cx="344487" cy="20240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eaVert" lIns="90000" tIns="45000" rIns="90000" bIns="450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Lower cylinder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5551488" y="3586163"/>
            <a:ext cx="274637" cy="3444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5516563" y="1279525"/>
            <a:ext cx="1214437" cy="3444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250 um</a:t>
            </a:r>
          </a:p>
        </p:txBody>
      </p:sp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5368925" y="5943600"/>
            <a:ext cx="1214438" cy="3444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>
                <a:solidFill>
                  <a:srgbClr val="000000"/>
                </a:solidFill>
              </a:rPr>
              <a:t>-250 um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D002ED95-DE15-4659-81F8-8DA4812BE021}"/>
              </a:ext>
            </a:extLst>
          </p:cNvPr>
          <p:cNvSpPr/>
          <p:nvPr/>
        </p:nvSpPr>
        <p:spPr>
          <a:xfrm>
            <a:off x="5773738" y="976548"/>
            <a:ext cx="2130711" cy="5373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2000" dirty="0"/>
          </a:p>
          <a:p>
            <a:pPr algn="ctr"/>
            <a:r>
              <a:rPr lang="it-IT" sz="2000" dirty="0"/>
              <a:t>Models are </a:t>
            </a:r>
            <a:r>
              <a:rPr lang="it-IT" sz="2000" dirty="0" err="1"/>
              <a:t>based</a:t>
            </a:r>
            <a:r>
              <a:rPr lang="it-IT" sz="2000" dirty="0"/>
              <a:t> on </a:t>
            </a:r>
            <a:r>
              <a:rPr lang="it-IT" sz="2000" dirty="0" err="1"/>
              <a:t>archives</a:t>
            </a:r>
            <a:r>
              <a:rPr lang="it-IT" sz="2000" dirty="0"/>
              <a:t> of single </a:t>
            </a:r>
            <a:r>
              <a:rPr lang="it-IT" sz="2000" dirty="0" err="1"/>
              <a:t>neuron’s</a:t>
            </a:r>
            <a:r>
              <a:rPr lang="it-IT" sz="2000" dirty="0"/>
              <a:t> pictures. </a:t>
            </a:r>
            <a:r>
              <a:rPr lang="it-IT" sz="2000" dirty="0" err="1"/>
              <a:t>As</a:t>
            </a:r>
            <a:r>
              <a:rPr lang="it-IT" sz="2000" dirty="0"/>
              <a:t> </a:t>
            </a:r>
            <a:r>
              <a:rPr lang="it-IT" sz="2000" dirty="0" err="1"/>
              <a:t>we</a:t>
            </a:r>
            <a:r>
              <a:rPr lang="it-IT" sz="2000" dirty="0"/>
              <a:t> </a:t>
            </a:r>
            <a:r>
              <a:rPr lang="it-IT" sz="2000" dirty="0" err="1"/>
              <a:t>want</a:t>
            </a:r>
            <a:r>
              <a:rPr lang="it-IT" sz="2000" dirty="0"/>
              <a:t> to model 5000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  <a:r>
              <a:rPr lang="it-IT" sz="2000" dirty="0" err="1"/>
              <a:t>but</a:t>
            </a:r>
            <a:r>
              <a:rPr lang="it-IT" sz="2000" dirty="0"/>
              <a:t> </a:t>
            </a:r>
            <a:r>
              <a:rPr lang="it-IT" sz="2000" dirty="0" err="1"/>
              <a:t>there</a:t>
            </a:r>
            <a:r>
              <a:rPr lang="it-IT" sz="2000" dirty="0"/>
              <a:t> are </a:t>
            </a:r>
            <a:r>
              <a:rPr lang="it-IT" sz="2000" dirty="0" err="1"/>
              <a:t>not</a:t>
            </a:r>
            <a:r>
              <a:rPr lang="it-IT" sz="2000" dirty="0"/>
              <a:t> 5000 pictures. So </a:t>
            </a:r>
            <a:r>
              <a:rPr lang="it-IT" sz="2000" dirty="0" err="1"/>
              <a:t>we</a:t>
            </a:r>
            <a:r>
              <a:rPr lang="it-IT" sz="2000" dirty="0"/>
              <a:t> </a:t>
            </a:r>
            <a:r>
              <a:rPr lang="it-IT" sz="2000" dirty="0" err="1"/>
              <a:t>took</a:t>
            </a:r>
            <a:r>
              <a:rPr lang="it-IT" sz="2000" dirty="0"/>
              <a:t> the </a:t>
            </a:r>
            <a:r>
              <a:rPr lang="it-IT" sz="2000" dirty="0" err="1"/>
              <a:t>few</a:t>
            </a:r>
            <a:r>
              <a:rPr lang="it-IT" sz="2000" dirty="0"/>
              <a:t> picture </a:t>
            </a:r>
            <a:r>
              <a:rPr lang="it-IT" sz="2000" dirty="0" err="1"/>
              <a:t>based</a:t>
            </a:r>
            <a:r>
              <a:rPr lang="it-IT" sz="2000" dirty="0"/>
              <a:t> models and </a:t>
            </a:r>
            <a:r>
              <a:rPr lang="it-IT" sz="2000" dirty="0" err="1"/>
              <a:t>we</a:t>
            </a:r>
            <a:r>
              <a:rPr lang="it-IT" sz="2000" dirty="0"/>
              <a:t> </a:t>
            </a:r>
            <a:r>
              <a:rPr lang="it-IT" sz="2000" dirty="0" err="1"/>
              <a:t>rotated</a:t>
            </a:r>
            <a:r>
              <a:rPr lang="it-IT" sz="2000" dirty="0"/>
              <a:t>, </a:t>
            </a:r>
            <a:r>
              <a:rPr lang="it-IT" sz="2000" dirty="0" err="1"/>
              <a:t>stretched</a:t>
            </a:r>
            <a:r>
              <a:rPr lang="it-IT" sz="2000" dirty="0"/>
              <a:t>, </a:t>
            </a:r>
            <a:r>
              <a:rPr lang="it-IT" sz="2000" dirty="0" err="1"/>
              <a:t>deformed</a:t>
            </a:r>
            <a:r>
              <a:rPr lang="it-IT" sz="2000" dirty="0"/>
              <a:t> </a:t>
            </a:r>
            <a:r>
              <a:rPr lang="it-IT" sz="2000" dirty="0" err="1"/>
              <a:t>them</a:t>
            </a:r>
            <a:r>
              <a:rPr lang="it-IT" sz="2000" dirty="0"/>
              <a:t> to take </a:t>
            </a:r>
            <a:r>
              <a:rPr lang="it-IT" sz="2000" dirty="0" err="1"/>
              <a:t>into</a:t>
            </a:r>
            <a:r>
              <a:rPr lang="it-IT" sz="2000" dirty="0"/>
              <a:t> account </a:t>
            </a:r>
            <a:r>
              <a:rPr lang="it-IT" sz="2000" dirty="0" err="1"/>
              <a:t>heterogeneity</a:t>
            </a:r>
            <a:r>
              <a:rPr lang="it-IT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31484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871538" y="-44450"/>
            <a:ext cx="7559675" cy="728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Network LFPy LFP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55575" y="684213"/>
            <a:ext cx="8988425" cy="3603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60840" rIns="90000" bIns="45000"/>
          <a:lstStyle/>
          <a:p>
            <a:pPr marL="215900" indent="-212725" algn="ctr"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400">
                <a:solidFill>
                  <a:srgbClr val="000000"/>
                </a:solidFill>
              </a:rPr>
              <a:t>Input = 1.5 sp/ms constant + 0.5 sp/ms OU</a:t>
            </a:r>
          </a:p>
        </p:txBody>
      </p:sp>
      <p:sp>
        <p:nvSpPr>
          <p:cNvPr id="15364" name="Text Box 3"/>
          <p:cNvSpPr txBox="1">
            <a:spLocks noChangeArrowheads="1"/>
          </p:cNvSpPr>
          <p:nvPr/>
        </p:nvSpPr>
        <p:spPr bwMode="auto">
          <a:xfrm>
            <a:off x="34925" y="5445125"/>
            <a:ext cx="8988425" cy="3603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60840" rIns="90000" bIns="45000"/>
          <a:lstStyle/>
          <a:p>
            <a:pPr marL="215900" indent="-212725" algn="ctr"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400">
                <a:solidFill>
                  <a:srgbClr val="000000"/>
                </a:solidFill>
              </a:rPr>
              <a:t>Spatial structure with inversion point generated by one layer.</a:t>
            </a:r>
          </a:p>
          <a:p>
            <a:pPr marL="215900" indent="-212725" algn="ctr"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400">
                <a:solidFill>
                  <a:srgbClr val="000000"/>
                </a:solidFill>
              </a:rPr>
              <a:t>This analysis gives the scaling factor of the LFP amplitude that cannot be predicted by the LIF network</a:t>
            </a:r>
          </a:p>
        </p:txBody>
      </p:sp>
      <p:pic>
        <p:nvPicPr>
          <p:cNvPr id="15365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888" y="1357313"/>
            <a:ext cx="8813800" cy="407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871538" y="-44450"/>
            <a:ext cx="7559675" cy="728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Network LFPy LFP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55575" y="684213"/>
            <a:ext cx="8988425" cy="3603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60840" rIns="90000" bIns="45000"/>
          <a:lstStyle/>
          <a:p>
            <a:pPr marL="215900" indent="-212725" algn="ctr"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400">
                <a:solidFill>
                  <a:srgbClr val="000000"/>
                </a:solidFill>
              </a:rPr>
              <a:t>Input = 1.5 sp/ms constant + 0.5 sp/ms OU</a:t>
            </a:r>
          </a:p>
        </p:txBody>
      </p:sp>
      <p:sp>
        <p:nvSpPr>
          <p:cNvPr id="17412" name="Text Box 3"/>
          <p:cNvSpPr txBox="1">
            <a:spLocks noChangeArrowheads="1"/>
          </p:cNvSpPr>
          <p:nvPr/>
        </p:nvSpPr>
        <p:spPr bwMode="auto">
          <a:xfrm>
            <a:off x="34925" y="5445125"/>
            <a:ext cx="8988425" cy="3603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60840" rIns="90000" bIns="45000"/>
          <a:lstStyle/>
          <a:p>
            <a:pPr marL="215900" indent="-212725" algn="ctr"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400">
                <a:solidFill>
                  <a:srgbClr val="000000"/>
                </a:solidFill>
              </a:rPr>
              <a:t>Computing separately the LFP generated by the two populations we see that interneurons contribution is negligible.</a:t>
            </a:r>
          </a:p>
        </p:txBody>
      </p:sp>
      <p:pic>
        <p:nvPicPr>
          <p:cNvPr id="17413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5" y="1714500"/>
            <a:ext cx="8858250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/>
          <p:cNvSpPr txBox="1">
            <a:spLocks noChangeArrowheads="1"/>
          </p:cNvSpPr>
          <p:nvPr/>
        </p:nvSpPr>
        <p:spPr bwMode="auto">
          <a:xfrm>
            <a:off x="871538" y="115888"/>
            <a:ext cx="7559675" cy="728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LIF dynamic variables</a:t>
            </a:r>
          </a:p>
        </p:txBody>
      </p:sp>
      <p:pic>
        <p:nvPicPr>
          <p:cNvPr id="18435" name="Immagin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977900"/>
            <a:ext cx="8569325" cy="554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/>
          <p:cNvSpPr txBox="1">
            <a:spLocks noChangeArrowheads="1"/>
          </p:cNvSpPr>
          <p:nvPr/>
        </p:nvSpPr>
        <p:spPr bwMode="auto">
          <a:xfrm>
            <a:off x="871538" y="115888"/>
            <a:ext cx="7559675" cy="728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LIF dynamic variables</a:t>
            </a:r>
          </a:p>
        </p:txBody>
      </p:sp>
      <p:pic>
        <p:nvPicPr>
          <p:cNvPr id="18435" name="Immagin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977900"/>
            <a:ext cx="8569325" cy="554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CE47FA2D-DACC-4CBC-8326-7C45B49098D0}"/>
              </a:ext>
            </a:extLst>
          </p:cNvPr>
          <p:cNvSpPr/>
          <p:nvPr/>
        </p:nvSpPr>
        <p:spPr>
          <a:xfrm>
            <a:off x="6228184" y="1484784"/>
            <a:ext cx="2485890" cy="51168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b="1" dirty="0"/>
              <a:t>Take home </a:t>
            </a:r>
            <a:r>
              <a:rPr lang="it-IT" sz="2000" b="1" dirty="0" err="1"/>
              <a:t>message</a:t>
            </a:r>
            <a:r>
              <a:rPr lang="it-IT" sz="2000" b="1" dirty="0"/>
              <a:t>:</a:t>
            </a:r>
          </a:p>
          <a:p>
            <a:pPr algn="ctr"/>
            <a:endParaRPr lang="it-IT" sz="2000" b="1" dirty="0"/>
          </a:p>
          <a:p>
            <a:pPr algn="ctr"/>
            <a:r>
              <a:rPr lang="it-IT" sz="2000" dirty="0" err="1"/>
              <a:t>Firing</a:t>
            </a:r>
            <a:r>
              <a:rPr lang="it-IT" sz="2000" dirty="0"/>
              <a:t> rate </a:t>
            </a:r>
            <a:r>
              <a:rPr lang="it-IT" sz="2000" dirty="0" err="1"/>
              <a:t>is</a:t>
            </a:r>
            <a:r>
              <a:rPr lang="it-IT" sz="2000" dirty="0"/>
              <a:t> a </a:t>
            </a:r>
            <a:r>
              <a:rPr lang="it-IT" sz="2000" dirty="0" err="1"/>
              <a:t>terrible</a:t>
            </a:r>
            <a:r>
              <a:rPr lang="it-IT" sz="2000" dirty="0"/>
              <a:t> proxy for LFP, </a:t>
            </a:r>
          </a:p>
          <a:p>
            <a:pPr algn="ctr"/>
            <a:endParaRPr lang="it-IT" sz="2000" dirty="0"/>
          </a:p>
          <a:p>
            <a:pPr algn="ctr"/>
            <a:r>
              <a:rPr lang="it-IT" sz="2000" dirty="0"/>
              <a:t>Membrane </a:t>
            </a:r>
            <a:r>
              <a:rPr lang="it-IT" sz="2000" dirty="0" err="1"/>
              <a:t>potential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not</a:t>
            </a:r>
            <a:r>
              <a:rPr lang="it-IT" sz="2000" dirty="0"/>
              <a:t> a </a:t>
            </a:r>
            <a:r>
              <a:rPr lang="it-IT" sz="2000" dirty="0" err="1"/>
              <a:t>great</a:t>
            </a:r>
            <a:r>
              <a:rPr lang="it-IT" sz="2000" dirty="0"/>
              <a:t> proxy</a:t>
            </a:r>
          </a:p>
          <a:p>
            <a:pPr algn="ctr"/>
            <a:endParaRPr lang="it-IT" sz="2000" dirty="0"/>
          </a:p>
          <a:p>
            <a:pPr algn="ctr"/>
            <a:r>
              <a:rPr lang="it-IT" sz="2000" dirty="0"/>
              <a:t>Sum of </a:t>
            </a:r>
            <a:r>
              <a:rPr lang="it-IT" sz="2000" dirty="0" err="1"/>
              <a:t>absolute</a:t>
            </a:r>
            <a:r>
              <a:rPr lang="it-IT" sz="2000" dirty="0"/>
              <a:t> </a:t>
            </a:r>
            <a:r>
              <a:rPr lang="it-IT" sz="2000" dirty="0" err="1"/>
              <a:t>values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great</a:t>
            </a:r>
            <a:r>
              <a:rPr lang="it-IT" sz="2000" dirty="0"/>
              <a:t>, </a:t>
            </a:r>
          </a:p>
          <a:p>
            <a:pPr algn="ctr"/>
            <a:endParaRPr lang="it-IT" sz="2000" dirty="0"/>
          </a:p>
          <a:p>
            <a:pPr algn="ctr"/>
            <a:r>
              <a:rPr lang="it-IT" sz="2000" dirty="0" err="1"/>
              <a:t>but</a:t>
            </a:r>
            <a:r>
              <a:rPr lang="it-IT" sz="2000" dirty="0"/>
              <a:t> </a:t>
            </a:r>
            <a:r>
              <a:rPr lang="it-IT" sz="2000" dirty="0" err="1"/>
              <a:t>also</a:t>
            </a:r>
            <a:r>
              <a:rPr lang="it-IT" sz="2000" dirty="0"/>
              <a:t> </a:t>
            </a:r>
            <a:r>
              <a:rPr lang="it-IT" sz="2000" dirty="0" err="1"/>
              <a:t>taking</a:t>
            </a:r>
            <a:r>
              <a:rPr lang="it-IT" sz="2000" dirty="0"/>
              <a:t> </a:t>
            </a:r>
            <a:r>
              <a:rPr lang="it-IT" sz="2000" dirty="0" err="1"/>
              <a:t>into</a:t>
            </a:r>
            <a:r>
              <a:rPr lang="it-IT" sz="2000" dirty="0"/>
              <a:t> account </a:t>
            </a:r>
            <a:r>
              <a:rPr lang="it-IT" sz="2000" dirty="0" err="1"/>
              <a:t>only</a:t>
            </a:r>
            <a:r>
              <a:rPr lang="it-IT" sz="2000" dirty="0"/>
              <a:t> GABA </a:t>
            </a:r>
            <a:r>
              <a:rPr lang="it-IT" sz="2000" dirty="0" err="1"/>
              <a:t>synapses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quite</a:t>
            </a:r>
            <a:r>
              <a:rPr lang="it-IT" sz="2000" dirty="0"/>
              <a:t> ok.</a:t>
            </a:r>
          </a:p>
        </p:txBody>
      </p:sp>
    </p:spTree>
    <p:extLst>
      <p:ext uri="{BB962C8B-B14F-4D97-AF65-F5344CB8AC3E}">
        <p14:creationId xmlns:p14="http://schemas.microsoft.com/office/powerpoint/2010/main" val="41098540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"/>
          <p:cNvSpPr txBox="1">
            <a:spLocks noChangeArrowheads="1"/>
          </p:cNvSpPr>
          <p:nvPr/>
        </p:nvSpPr>
        <p:spPr bwMode="auto">
          <a:xfrm>
            <a:off x="0" y="246063"/>
            <a:ext cx="9144000" cy="7350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RWS proxy (or LFProxy)</a:t>
            </a:r>
          </a:p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LFP(t)=</a:t>
            </a:r>
            <a:r>
              <a:rPr lang="en-US" altLang="en-US" sz="3600">
                <a:solidFill>
                  <a:srgbClr val="000000"/>
                </a:solidFill>
                <a:latin typeface="Symbol" pitchFamily="18" charset="2"/>
              </a:rPr>
              <a:t>0.38</a:t>
            </a:r>
            <a:r>
              <a:rPr lang="en-US" altLang="en-US" sz="3600">
                <a:solidFill>
                  <a:srgbClr val="000000"/>
                </a:solidFill>
              </a:rPr>
              <a:t>AMPA</a:t>
            </a:r>
            <a:r>
              <a:rPr lang="en-US" altLang="en-US" sz="3600" baseline="-33000">
                <a:solidFill>
                  <a:srgbClr val="000000"/>
                </a:solidFill>
              </a:rPr>
              <a:t>pyr</a:t>
            </a:r>
            <a:r>
              <a:rPr lang="en-US" altLang="en-US" sz="3600">
                <a:solidFill>
                  <a:srgbClr val="000000"/>
                </a:solidFill>
              </a:rPr>
              <a:t>(t-6ms)+</a:t>
            </a:r>
            <a:r>
              <a:rPr lang="en-US" altLang="en-US" sz="3600">
                <a:solidFill>
                  <a:srgbClr val="000000"/>
                </a:solidFill>
                <a:latin typeface="Symbol" pitchFamily="18" charset="2"/>
              </a:rPr>
              <a:t>0.62</a:t>
            </a:r>
            <a:r>
              <a:rPr lang="en-US" altLang="en-US" sz="3600">
                <a:solidFill>
                  <a:srgbClr val="000000"/>
                </a:solidFill>
              </a:rPr>
              <a:t>GABA</a:t>
            </a:r>
            <a:r>
              <a:rPr lang="en-US" altLang="en-US" sz="3600" baseline="-33000">
                <a:solidFill>
                  <a:srgbClr val="000000"/>
                </a:solidFill>
              </a:rPr>
              <a:t>pyr</a:t>
            </a:r>
            <a:r>
              <a:rPr lang="en-US" altLang="en-US" sz="3600">
                <a:solidFill>
                  <a:srgbClr val="000000"/>
                </a:solidFill>
              </a:rPr>
              <a:t>(t)</a:t>
            </a:r>
          </a:p>
        </p:txBody>
      </p:sp>
      <p:pic>
        <p:nvPicPr>
          <p:cNvPr id="19459" name="Immagine 3"/>
          <p:cNvPicPr>
            <a:picLocks noChangeAspect="1" noChangeArrowheads="1"/>
          </p:cNvPicPr>
          <p:nvPr/>
        </p:nvPicPr>
        <p:blipFill>
          <a:blip r:embed="rId3"/>
          <a:srcRect l="6374"/>
          <a:stretch>
            <a:fillRect/>
          </a:stretch>
        </p:blipFill>
        <p:spPr bwMode="auto">
          <a:xfrm>
            <a:off x="0" y="1700213"/>
            <a:ext cx="9036050" cy="4681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t-IT" altLang="it-IT"/>
          </a:p>
        </p:txBody>
      </p:sp>
      <p:sp>
        <p:nvSpPr>
          <p:cNvPr id="20483" name="Text Box 1"/>
          <p:cNvSpPr txBox="1">
            <a:spLocks noChangeArrowheads="1"/>
          </p:cNvSpPr>
          <p:nvPr/>
        </p:nvSpPr>
        <p:spPr bwMode="auto">
          <a:xfrm>
            <a:off x="179388" y="44450"/>
            <a:ext cx="8836025" cy="7350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Stimulus modulation and dynamic regimes</a:t>
            </a:r>
          </a:p>
        </p:txBody>
      </p:sp>
      <p:pic>
        <p:nvPicPr>
          <p:cNvPr id="20484" name="Immagine 7"/>
          <p:cNvPicPr>
            <a:picLocks noChangeAspect="1" noChangeArrowheads="1"/>
          </p:cNvPicPr>
          <p:nvPr/>
        </p:nvPicPr>
        <p:blipFill>
          <a:blip r:embed="rId2"/>
          <a:srcRect t="25665"/>
          <a:stretch>
            <a:fillRect/>
          </a:stretch>
        </p:blipFill>
        <p:spPr bwMode="auto">
          <a:xfrm>
            <a:off x="900113" y="850900"/>
            <a:ext cx="7416800" cy="596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874713" y="34925"/>
            <a:ext cx="8001000" cy="730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Morphology modulations</a:t>
            </a:r>
          </a:p>
        </p:txBody>
      </p:sp>
      <p:pic>
        <p:nvPicPr>
          <p:cNvPr id="21507" name="Picture 14"/>
          <p:cNvPicPr>
            <a:picLocks noChangeAspect="1" noChangeArrowheads="1"/>
          </p:cNvPicPr>
          <p:nvPr/>
        </p:nvPicPr>
        <p:blipFill>
          <a:blip r:embed="rId3"/>
          <a:srcRect l="30276" t="4411" r="17892" b="67389"/>
          <a:stretch>
            <a:fillRect/>
          </a:stretch>
        </p:blipFill>
        <p:spPr bwMode="auto">
          <a:xfrm>
            <a:off x="14288" y="2565400"/>
            <a:ext cx="9094787" cy="32480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  <p:sp>
        <p:nvSpPr>
          <p:cNvPr id="21508" name="CasellaDiTesto 1"/>
          <p:cNvSpPr txBox="1">
            <a:spLocks noChangeArrowheads="1"/>
          </p:cNvSpPr>
          <p:nvPr/>
        </p:nvSpPr>
        <p:spPr bwMode="auto">
          <a:xfrm>
            <a:off x="250825" y="981075"/>
            <a:ext cx="8624888" cy="152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it-IT" altLang="it-IT" sz="2000">
                <a:solidFill>
                  <a:schemeClr val="tx1"/>
                </a:solidFill>
              </a:rPr>
              <a:t>Is the negligible contribution of interneurons to LFP due to their morphology or to other static/dynamic factors?</a:t>
            </a:r>
          </a:p>
          <a:p>
            <a:pPr marL="342900" indent="-342900">
              <a:buFont typeface="Arial" charset="0"/>
              <a:buChar char="•"/>
            </a:pPr>
            <a:r>
              <a:rPr lang="it-IT" altLang="it-IT" sz="2000">
                <a:solidFill>
                  <a:schemeClr val="tx1"/>
                </a:solidFill>
              </a:rPr>
              <a:t>If it’s all about morphology then how much asimmetry is needed to produce a relevant LFP?</a:t>
            </a:r>
          </a:p>
          <a:p>
            <a:pPr marL="342900" indent="-342900">
              <a:buFont typeface="Arial" charset="0"/>
              <a:buChar char="•"/>
            </a:pPr>
            <a:r>
              <a:rPr lang="it-IT" altLang="it-IT" sz="2000">
                <a:solidFill>
                  <a:schemeClr val="tx1"/>
                </a:solidFill>
              </a:rPr>
              <a:t>How is our model coping with different morphologies? </a:t>
            </a:r>
          </a:p>
        </p:txBody>
      </p:sp>
      <p:sp>
        <p:nvSpPr>
          <p:cNvPr id="21509" name="CasellaDiTesto 2"/>
          <p:cNvSpPr txBox="1">
            <a:spLocks noChangeArrowheads="1"/>
          </p:cNvSpPr>
          <p:nvPr/>
        </p:nvSpPr>
        <p:spPr bwMode="auto">
          <a:xfrm>
            <a:off x="250825" y="6030913"/>
            <a:ext cx="8858250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it-IT" altLang="it-IT">
                <a:solidFill>
                  <a:schemeClr val="tx1"/>
                </a:solidFill>
              </a:rPr>
              <a:t>All other factors are kept constant while the two bushes are progressively separated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1"/>
          <p:cNvSpPr txBox="1">
            <a:spLocks noChangeArrowheads="1"/>
          </p:cNvSpPr>
          <p:nvPr/>
        </p:nvSpPr>
        <p:spPr bwMode="auto">
          <a:xfrm>
            <a:off x="874713" y="34925"/>
            <a:ext cx="8001000" cy="730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Morphology modulations</a:t>
            </a:r>
          </a:p>
        </p:txBody>
      </p:sp>
      <p:pic>
        <p:nvPicPr>
          <p:cNvPr id="22531" name="Immagine 3"/>
          <p:cNvPicPr>
            <a:picLocks noChangeAspect="1" noChangeArrowheads="1"/>
          </p:cNvPicPr>
          <p:nvPr/>
        </p:nvPicPr>
        <p:blipFill>
          <a:blip r:embed="rId3"/>
          <a:srcRect t="34683"/>
          <a:stretch>
            <a:fillRect/>
          </a:stretch>
        </p:blipFill>
        <p:spPr bwMode="auto">
          <a:xfrm>
            <a:off x="1258888" y="765175"/>
            <a:ext cx="6913562" cy="611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4"/>
          <p:cNvSpPr txBox="1">
            <a:spLocks noChangeArrowheads="1"/>
          </p:cNvSpPr>
          <p:nvPr/>
        </p:nvSpPr>
        <p:spPr bwMode="auto">
          <a:xfrm>
            <a:off x="874713" y="-142875"/>
            <a:ext cx="8001000" cy="730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Synaptic distribution modulation </a:t>
            </a:r>
          </a:p>
        </p:txBody>
      </p:sp>
      <p:sp>
        <p:nvSpPr>
          <p:cNvPr id="23555" name="Text Box 8"/>
          <p:cNvSpPr txBox="1">
            <a:spLocks noChangeArrowheads="1"/>
          </p:cNvSpPr>
          <p:nvPr/>
        </p:nvSpPr>
        <p:spPr bwMode="auto">
          <a:xfrm>
            <a:off x="431800" y="660400"/>
            <a:ext cx="2057400" cy="3444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i="1">
                <a:solidFill>
                  <a:srgbClr val="000000"/>
                </a:solidFill>
              </a:rPr>
              <a:t>Homogeneous</a:t>
            </a:r>
          </a:p>
        </p:txBody>
      </p:sp>
      <p:sp>
        <p:nvSpPr>
          <p:cNvPr id="23556" name="Text Box 9"/>
          <p:cNvSpPr txBox="1">
            <a:spLocks noChangeArrowheads="1"/>
          </p:cNvSpPr>
          <p:nvPr/>
        </p:nvSpPr>
        <p:spPr bwMode="auto">
          <a:xfrm>
            <a:off x="6283325" y="660400"/>
            <a:ext cx="2681288" cy="3444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i="1">
                <a:solidFill>
                  <a:srgbClr val="000000"/>
                </a:solidFill>
              </a:rPr>
              <a:t>GABA down - AMPA up</a:t>
            </a:r>
          </a:p>
        </p:txBody>
      </p:sp>
      <p:sp>
        <p:nvSpPr>
          <p:cNvPr id="23557" name="Text Box 10"/>
          <p:cNvSpPr txBox="1">
            <a:spLocks noChangeArrowheads="1"/>
          </p:cNvSpPr>
          <p:nvPr/>
        </p:nvSpPr>
        <p:spPr bwMode="auto">
          <a:xfrm>
            <a:off x="3492500" y="679450"/>
            <a:ext cx="1646238" cy="3444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i="1">
                <a:solidFill>
                  <a:srgbClr val="000000"/>
                </a:solidFill>
              </a:rPr>
              <a:t>GABA down.</a:t>
            </a:r>
          </a:p>
        </p:txBody>
      </p:sp>
      <p:pic>
        <p:nvPicPr>
          <p:cNvPr id="23558" name="Immagine 12"/>
          <p:cNvPicPr>
            <a:picLocks noChangeAspect="1" noChangeArrowheads="1"/>
          </p:cNvPicPr>
          <p:nvPr/>
        </p:nvPicPr>
        <p:blipFill>
          <a:blip r:embed="rId3"/>
          <a:srcRect b="58855"/>
          <a:stretch>
            <a:fillRect/>
          </a:stretch>
        </p:blipFill>
        <p:spPr bwMode="auto">
          <a:xfrm>
            <a:off x="250825" y="1354138"/>
            <a:ext cx="8624888" cy="459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1"/>
          <p:cNvSpPr txBox="1">
            <a:spLocks noChangeArrowheads="1"/>
          </p:cNvSpPr>
          <p:nvPr/>
        </p:nvSpPr>
        <p:spPr bwMode="auto">
          <a:xfrm>
            <a:off x="874713" y="-142875"/>
            <a:ext cx="8001000" cy="730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Synaptic distribution modulation </a:t>
            </a:r>
          </a:p>
        </p:txBody>
      </p:sp>
      <p:pic>
        <p:nvPicPr>
          <p:cNvPr id="24579" name="Immagine 3"/>
          <p:cNvPicPr>
            <a:picLocks noChangeAspect="1" noChangeArrowheads="1"/>
          </p:cNvPicPr>
          <p:nvPr/>
        </p:nvPicPr>
        <p:blipFill>
          <a:blip r:embed="rId3"/>
          <a:srcRect t="47079"/>
          <a:stretch>
            <a:fillRect/>
          </a:stretch>
        </p:blipFill>
        <p:spPr bwMode="auto">
          <a:xfrm>
            <a:off x="250825" y="908050"/>
            <a:ext cx="8624888" cy="561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AutoShape 1"/>
          <p:cNvSpPr>
            <a:spLocks noChangeArrowheads="1"/>
          </p:cNvSpPr>
          <p:nvPr/>
        </p:nvSpPr>
        <p:spPr bwMode="auto">
          <a:xfrm>
            <a:off x="404813" y="5578475"/>
            <a:ext cx="8594725" cy="1189038"/>
          </a:xfrm>
          <a:prstGeom prst="rightArrow">
            <a:avLst>
              <a:gd name="adj1" fmla="val 100000"/>
              <a:gd name="adj2" fmla="val 177629"/>
            </a:avLst>
          </a:prstGeom>
          <a:noFill/>
          <a:ln w="360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altLang="it-IT"/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822325" y="-88900"/>
            <a:ext cx="8001000" cy="728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Conclusions of first and main part </a:t>
            </a: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92075" y="731838"/>
            <a:ext cx="8961438" cy="47339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108000" tIns="78840" rIns="108000" bIns="63000"/>
          <a:lstStyle/>
          <a:p>
            <a:pPr marL="212725" indent="-212725">
              <a:buSzPct val="45000"/>
              <a:buFont typeface="Wingdings" pitchFamily="2" charset="2"/>
              <a:buChar char="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</a:pPr>
            <a:r>
              <a:rPr lang="en-US" altLang="en-US">
                <a:solidFill>
                  <a:srgbClr val="000000"/>
                </a:solidFill>
              </a:rPr>
              <a:t>The methodology of generating dynamics with LIF networks and inject it in morphological networks works quite well</a:t>
            </a:r>
          </a:p>
          <a:p>
            <a:pPr marL="212725" indent="-212725">
              <a:buClrTx/>
              <a:buSzPct val="45000"/>
              <a:buFontTx/>
              <a:buNone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 marL="212725" indent="-212725">
              <a:buSzPct val="45000"/>
              <a:buFont typeface="Wingdings" pitchFamily="2" charset="2"/>
              <a:buChar char="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</a:pPr>
            <a:r>
              <a:rPr lang="en-US" altLang="en-US">
                <a:solidFill>
                  <a:srgbClr val="000000"/>
                </a:solidFill>
              </a:rPr>
              <a:t>Avoid using firing rate and membrane potential as LFP proxies</a:t>
            </a:r>
          </a:p>
          <a:p>
            <a:pPr marL="212725" indent="-212725">
              <a:buClrTx/>
              <a:buSzPct val="45000"/>
              <a:buFontTx/>
              <a:buNone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 marL="212725" indent="-212725">
              <a:buSzPct val="45000"/>
              <a:buFont typeface="Wingdings" pitchFamily="2" charset="2"/>
              <a:buChar char="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</a:pPr>
            <a:r>
              <a:rPr lang="en-US" altLang="en-US">
                <a:solidFill>
                  <a:srgbClr val="000000"/>
                </a:solidFill>
              </a:rPr>
              <a:t>A weighted difference of GABA and AMPA currents is the best proxy under every condition investigated: the agreement between “ground truth” and LFP proxies is usually close to 90%</a:t>
            </a:r>
          </a:p>
          <a:p>
            <a:pPr marL="212725" indent="-212725">
              <a:buClrTx/>
              <a:buSzPct val="45000"/>
              <a:buFontTx/>
              <a:buNone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 marL="212725" indent="-212725">
              <a:buSzPct val="45000"/>
              <a:buFont typeface="Wingdings" pitchFamily="2" charset="2"/>
              <a:buChar char="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</a:pPr>
            <a:r>
              <a:rPr lang="en-US" altLang="en-US">
                <a:solidFill>
                  <a:srgbClr val="000000"/>
                </a:solidFill>
              </a:rPr>
              <a:t>Our model does not perform optimally for “purely stellate” cells, but these do not give a significant contribution to the network LFP</a:t>
            </a:r>
          </a:p>
          <a:p>
            <a:pPr marL="212725" indent="-212725">
              <a:buClrTx/>
              <a:buSzPct val="45000"/>
              <a:buFontTx/>
              <a:buNone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 marL="212725" indent="-212725">
              <a:buSzPct val="45000"/>
              <a:buFont typeface="Wingdings" pitchFamily="2" charset="2"/>
              <a:buChar char="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</a:pPr>
            <a:r>
              <a:rPr lang="en-US" altLang="en-US">
                <a:solidFill>
                  <a:srgbClr val="000000"/>
                </a:solidFill>
              </a:rPr>
              <a:t>The distribution of the different kind of synapses dramatically affects the LFP shape – however, our model can cope with this changes with an AMPA coefficient proportional to the AMPA synaptic density.</a:t>
            </a:r>
          </a:p>
          <a:p>
            <a:pPr marL="212725" indent="-212725">
              <a:buClrTx/>
              <a:buSzPct val="45000"/>
              <a:buFontTx/>
              <a:buNone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</a:pPr>
            <a:endParaRPr lang="en-US" altLang="en-US">
              <a:solidFill>
                <a:srgbClr val="000000"/>
              </a:solidFill>
            </a:endParaRPr>
          </a:p>
          <a:p>
            <a:pPr marL="212725" indent="-212725">
              <a:buSzPct val="45000"/>
              <a:buFont typeface="Wingdings" pitchFamily="2" charset="2"/>
              <a:buChar char="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</a:pPr>
            <a:r>
              <a:rPr lang="en-US" altLang="en-US">
                <a:solidFill>
                  <a:srgbClr val="000000"/>
                </a:solidFill>
              </a:rPr>
              <a:t>Our model performs well for current synapses and even better for conductance synapses</a:t>
            </a:r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457200" y="5616575"/>
            <a:ext cx="6562725" cy="14065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108000" tIns="78840" rIns="108000" bIns="63000"/>
          <a:lstStyle/>
          <a:p>
            <a:pPr marL="215900" indent="-212725">
              <a:buClrTx/>
              <a:buSzPct val="45000"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400">
                <a:solidFill>
                  <a:srgbClr val="000000"/>
                </a:solidFill>
              </a:rPr>
              <a:t>Complete set of layers 		</a:t>
            </a:r>
          </a:p>
          <a:p>
            <a:pPr marL="215900" indent="-212725">
              <a:buClrTx/>
              <a:buSzPct val="45000"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 sz="2400">
              <a:solidFill>
                <a:srgbClr val="000000"/>
              </a:solidFill>
            </a:endParaRPr>
          </a:p>
          <a:p>
            <a:pPr marL="215900" indent="-212725">
              <a:buClrTx/>
              <a:buSzPct val="45000"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400">
                <a:solidFill>
                  <a:srgbClr val="000000"/>
                </a:solidFill>
              </a:rPr>
              <a:t>LFP → EEG → EcoG → MRI</a:t>
            </a:r>
          </a:p>
          <a:p>
            <a:pPr marL="215900" indent="-212725">
              <a:buClrTx/>
              <a:buSzPct val="45000"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5606" name="Text Box 5"/>
          <p:cNvSpPr txBox="1">
            <a:spLocks noChangeArrowheads="1"/>
          </p:cNvSpPr>
          <p:nvPr/>
        </p:nvSpPr>
        <p:spPr bwMode="auto">
          <a:xfrm>
            <a:off x="3565525" y="5516563"/>
            <a:ext cx="3632200" cy="11509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108000" tIns="78840" rIns="108000" bIns="63000"/>
          <a:lstStyle/>
          <a:p>
            <a: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"/>
          <p:cNvSpPr txBox="1">
            <a:spLocks noChangeArrowheads="1"/>
          </p:cNvSpPr>
          <p:nvPr/>
        </p:nvSpPr>
        <p:spPr bwMode="auto">
          <a:xfrm>
            <a:off x="603250" y="0"/>
            <a:ext cx="8001000" cy="730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 sz="36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2662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8" y="1268413"/>
            <a:ext cx="888682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638" y="3309938"/>
            <a:ext cx="9015412" cy="2855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1"/>
          <p:cNvSpPr txBox="1">
            <a:spLocks noChangeArrowheads="1"/>
          </p:cNvSpPr>
          <p:nvPr/>
        </p:nvSpPr>
        <p:spPr bwMode="auto">
          <a:xfrm>
            <a:off x="603250" y="0"/>
            <a:ext cx="8001000" cy="476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Theory</a:t>
            </a:r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8" y="1052513"/>
            <a:ext cx="8886825" cy="129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llout 6 4"/>
          <p:cNvSpPr/>
          <p:nvPr/>
        </p:nvSpPr>
        <p:spPr bwMode="auto">
          <a:xfrm rot="5400000">
            <a:off x="226279" y="2649132"/>
            <a:ext cx="1296144" cy="1490642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9210"/>
              <a:gd name="adj6" fmla="val -8942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/>
          <a:lstStyle/>
          <a:p>
            <a:pPr>
              <a:buFont typeface="Times New Roman" pitchFamily="16" charset="0"/>
              <a:buNone/>
              <a:defRPr/>
            </a:pPr>
            <a:r>
              <a:rPr lang="it-IT" dirty="0">
                <a:solidFill>
                  <a:schemeClr val="tx1"/>
                </a:solidFill>
              </a:rPr>
              <a:t>LFP SPECTRUM</a:t>
            </a:r>
          </a:p>
        </p:txBody>
      </p:sp>
      <p:sp>
        <p:nvSpPr>
          <p:cNvPr id="10" name="Callout 6 9"/>
          <p:cNvSpPr/>
          <p:nvPr/>
        </p:nvSpPr>
        <p:spPr bwMode="auto">
          <a:xfrm rot="5400000">
            <a:off x="1342403" y="4332459"/>
            <a:ext cx="1296144" cy="3722890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1107"/>
              <a:gd name="adj6" fmla="val -306411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/>
          <a:lstStyle/>
          <a:p>
            <a:pPr>
              <a:buFont typeface="Times New Roman" pitchFamily="16" charset="0"/>
              <a:buNone/>
              <a:defRPr/>
            </a:pPr>
            <a:r>
              <a:rPr lang="it-IT" dirty="0">
                <a:solidFill>
                  <a:schemeClr val="tx1"/>
                </a:solidFill>
              </a:rPr>
              <a:t>SYNAPTIC FILTER (DESCRIBES HOW SYNAPTIC CURRENTS ARE PERTURBED BY PRE-SYNAPTIC FIRING RATE)</a:t>
            </a:r>
          </a:p>
        </p:txBody>
      </p:sp>
      <p:sp>
        <p:nvSpPr>
          <p:cNvPr id="11" name="Callout 6 10"/>
          <p:cNvSpPr/>
          <p:nvPr/>
        </p:nvSpPr>
        <p:spPr bwMode="auto">
          <a:xfrm rot="5400000">
            <a:off x="5101295" y="5140337"/>
            <a:ext cx="1296144" cy="1922686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4103"/>
              <a:gd name="adj6" fmla="val -24548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/>
          <a:lstStyle/>
          <a:p>
            <a:pPr>
              <a:buFont typeface="Times New Roman" pitchFamily="16" charset="0"/>
              <a:buNone/>
              <a:defRPr/>
            </a:pPr>
            <a:r>
              <a:rPr lang="it-IT" dirty="0">
                <a:solidFill>
                  <a:schemeClr val="tx1"/>
                </a:solidFill>
              </a:rPr>
              <a:t>LFP SPECTRUM HIGH FREQ RESONANCE</a:t>
            </a:r>
          </a:p>
        </p:txBody>
      </p:sp>
      <p:sp>
        <p:nvSpPr>
          <p:cNvPr id="12" name="Callout 6 11"/>
          <p:cNvSpPr/>
          <p:nvPr/>
        </p:nvSpPr>
        <p:spPr bwMode="auto">
          <a:xfrm rot="5400000">
            <a:off x="442301" y="4174533"/>
            <a:ext cx="1296144" cy="1922686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2309"/>
              <a:gd name="adj6" fmla="val -22196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/>
          <a:lstStyle/>
          <a:p>
            <a:pPr>
              <a:buFont typeface="Times New Roman" pitchFamily="16" charset="0"/>
              <a:buNone/>
              <a:defRPr/>
            </a:pPr>
            <a:r>
              <a:rPr lang="it-IT" dirty="0">
                <a:solidFill>
                  <a:schemeClr val="tx1"/>
                </a:solidFill>
              </a:rPr>
              <a:t>SYNAPTIC STRENGTH</a:t>
            </a:r>
          </a:p>
        </p:txBody>
      </p:sp>
      <p:sp>
        <p:nvSpPr>
          <p:cNvPr id="13" name="Callout 6 12"/>
          <p:cNvSpPr/>
          <p:nvPr/>
        </p:nvSpPr>
        <p:spPr bwMode="auto">
          <a:xfrm rot="5400000">
            <a:off x="7405551" y="4987937"/>
            <a:ext cx="1296144" cy="1922686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3823"/>
              <a:gd name="adj6" fmla="val -227313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/>
          <a:lstStyle/>
          <a:p>
            <a:pPr>
              <a:buFont typeface="Times New Roman" pitchFamily="16" charset="0"/>
              <a:buNone/>
              <a:defRPr/>
            </a:pPr>
            <a:r>
              <a:rPr lang="it-IT" dirty="0">
                <a:solidFill>
                  <a:schemeClr val="tx1"/>
                </a:solidFill>
              </a:rPr>
              <a:t>LFP SPECTRUM LOW FREQ ENTRAINMENT</a:t>
            </a:r>
          </a:p>
        </p:txBody>
      </p:sp>
      <p:sp>
        <p:nvSpPr>
          <p:cNvPr id="9" name="Callout 6 8"/>
          <p:cNvSpPr/>
          <p:nvPr/>
        </p:nvSpPr>
        <p:spPr bwMode="auto">
          <a:xfrm rot="5400000">
            <a:off x="2436999" y="2433110"/>
            <a:ext cx="1296144" cy="1922686"/>
          </a:xfrm>
          <a:prstGeom prst="accentCallout2">
            <a:avLst>
              <a:gd name="adj1" fmla="val 59103"/>
              <a:gd name="adj2" fmla="val -6195"/>
              <a:gd name="adj3" fmla="val 75676"/>
              <a:gd name="adj4" fmla="val -53010"/>
              <a:gd name="adj5" fmla="val 32485"/>
              <a:gd name="adj6" fmla="val -93700"/>
            </a:avLst>
          </a:prstGeom>
          <a:solidFill>
            <a:schemeClr val="bg1">
              <a:alpha val="67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/>
          <a:lstStyle/>
          <a:p>
            <a:pPr>
              <a:buFont typeface="Times New Roman" pitchFamily="16" charset="0"/>
              <a:buNone/>
              <a:defRPr/>
            </a:pPr>
            <a:r>
              <a:rPr lang="it-IT" dirty="0">
                <a:solidFill>
                  <a:schemeClr val="tx1"/>
                </a:solidFill>
              </a:rPr>
              <a:t>FIRING RATE SPECTRUM</a:t>
            </a:r>
          </a:p>
        </p:txBody>
      </p:sp>
      <p:sp>
        <p:nvSpPr>
          <p:cNvPr id="14" name="Callout 6 13"/>
          <p:cNvSpPr/>
          <p:nvPr/>
        </p:nvSpPr>
        <p:spPr bwMode="auto">
          <a:xfrm rot="5400000">
            <a:off x="4319972" y="2960948"/>
            <a:ext cx="1296144" cy="1080120"/>
          </a:xfrm>
          <a:prstGeom prst="accentCallout2">
            <a:avLst>
              <a:gd name="adj1" fmla="val 18750"/>
              <a:gd name="adj2" fmla="val -8333"/>
              <a:gd name="adj3" fmla="val 40556"/>
              <a:gd name="adj4" fmla="val -77595"/>
              <a:gd name="adj5" fmla="val 70966"/>
              <a:gd name="adj6" fmla="val -99045"/>
            </a:avLst>
          </a:prstGeom>
          <a:solidFill>
            <a:schemeClr val="bg1">
              <a:alpha val="67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/>
          <a:lstStyle/>
          <a:p>
            <a:pPr>
              <a:buFont typeface="Times New Roman" pitchFamily="16" charset="0"/>
              <a:buNone/>
              <a:defRPr/>
            </a:pPr>
            <a:r>
              <a:rPr lang="it-IT" dirty="0">
                <a:solidFill>
                  <a:schemeClr val="tx1"/>
                </a:solidFill>
              </a:rPr>
              <a:t>NOISE</a:t>
            </a:r>
          </a:p>
        </p:txBody>
      </p:sp>
      <p:sp>
        <p:nvSpPr>
          <p:cNvPr id="15" name="Callout 6 14"/>
          <p:cNvSpPr/>
          <p:nvPr/>
        </p:nvSpPr>
        <p:spPr bwMode="auto">
          <a:xfrm rot="5400000">
            <a:off x="4077738" y="3629580"/>
            <a:ext cx="1296144" cy="2047112"/>
          </a:xfrm>
          <a:prstGeom prst="accentCallout2">
            <a:avLst>
              <a:gd name="adj1" fmla="val 69509"/>
              <a:gd name="adj2" fmla="val -9402"/>
              <a:gd name="adj3" fmla="val 59506"/>
              <a:gd name="adj4" fmla="val -40183"/>
              <a:gd name="adj5" fmla="val 87886"/>
              <a:gd name="adj6" fmla="val -138594"/>
            </a:avLst>
          </a:prstGeom>
          <a:solidFill>
            <a:schemeClr val="bg1">
              <a:alpha val="67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/>
          <a:lstStyle/>
          <a:p>
            <a:pPr>
              <a:buFont typeface="Times New Roman" pitchFamily="16" charset="0"/>
              <a:buNone/>
              <a:defRPr/>
            </a:pPr>
            <a:r>
              <a:rPr lang="it-IT" dirty="0">
                <a:solidFill>
                  <a:schemeClr val="tx1"/>
                </a:solidFill>
              </a:rPr>
              <a:t>INPUT FLUCTUATIONS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603250" y="0"/>
            <a:ext cx="8001000" cy="730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Experiment vs theory results I</a:t>
            </a:r>
          </a:p>
        </p:txBody>
      </p:sp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3"/>
          <a:srcRect b="32941"/>
          <a:stretch>
            <a:fillRect/>
          </a:stretch>
        </p:blipFill>
        <p:spPr bwMode="auto">
          <a:xfrm>
            <a:off x="163513" y="1223963"/>
            <a:ext cx="5067300" cy="4868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4" name="Picture 3"/>
          <p:cNvPicPr>
            <a:picLocks noChangeAspect="1" noChangeArrowheads="1"/>
          </p:cNvPicPr>
          <p:nvPr/>
        </p:nvPicPr>
        <p:blipFill>
          <a:blip r:embed="rId3"/>
          <a:srcRect t="67375"/>
          <a:stretch>
            <a:fillRect/>
          </a:stretch>
        </p:blipFill>
        <p:spPr bwMode="auto">
          <a:xfrm>
            <a:off x="4486275" y="2205038"/>
            <a:ext cx="4681538" cy="218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5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38800" y="4392613"/>
            <a:ext cx="26003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76375" y="6165850"/>
            <a:ext cx="26003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Ovale 1"/>
          <p:cNvSpPr>
            <a:spLocks noChangeArrowheads="1"/>
          </p:cNvSpPr>
          <p:nvPr/>
        </p:nvSpPr>
        <p:spPr bwMode="auto">
          <a:xfrm>
            <a:off x="4486275" y="1223963"/>
            <a:ext cx="1381125" cy="620712"/>
          </a:xfrm>
          <a:prstGeom prst="ellipse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it-IT" altLang="it-IT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603250" y="0"/>
            <a:ext cx="8001000" cy="730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Experiment vs theory results I</a:t>
            </a:r>
          </a:p>
        </p:txBody>
      </p:sp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3"/>
          <a:srcRect b="32941"/>
          <a:stretch>
            <a:fillRect/>
          </a:stretch>
        </p:blipFill>
        <p:spPr bwMode="auto">
          <a:xfrm>
            <a:off x="163513" y="1223963"/>
            <a:ext cx="5067300" cy="4868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4" name="Picture 3"/>
          <p:cNvPicPr>
            <a:picLocks noChangeAspect="1" noChangeArrowheads="1"/>
          </p:cNvPicPr>
          <p:nvPr/>
        </p:nvPicPr>
        <p:blipFill>
          <a:blip r:embed="rId3"/>
          <a:srcRect t="67375"/>
          <a:stretch>
            <a:fillRect/>
          </a:stretch>
        </p:blipFill>
        <p:spPr bwMode="auto">
          <a:xfrm>
            <a:off x="4486275" y="2205038"/>
            <a:ext cx="4681538" cy="218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5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38800" y="4392613"/>
            <a:ext cx="26003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76375" y="6165850"/>
            <a:ext cx="26003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Ovale 1"/>
          <p:cNvSpPr>
            <a:spLocks noChangeArrowheads="1"/>
          </p:cNvSpPr>
          <p:nvPr/>
        </p:nvSpPr>
        <p:spPr bwMode="auto">
          <a:xfrm>
            <a:off x="4486275" y="1223963"/>
            <a:ext cx="1381125" cy="620712"/>
          </a:xfrm>
          <a:prstGeom prst="ellipse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it-IT" alt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44A1125-E15D-427C-9DD6-69C43F7901F8}"/>
              </a:ext>
            </a:extLst>
          </p:cNvPr>
          <p:cNvSpPr/>
          <p:nvPr/>
        </p:nvSpPr>
        <p:spPr>
          <a:xfrm>
            <a:off x="236483" y="1150938"/>
            <a:ext cx="4249792" cy="530239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b="1" dirty="0"/>
              <a:t>Thanks to </a:t>
            </a:r>
            <a:r>
              <a:rPr lang="it-IT" sz="2000" b="1" dirty="0" err="1"/>
              <a:t>equation</a:t>
            </a:r>
            <a:r>
              <a:rPr lang="it-IT" sz="2000" b="1" dirty="0"/>
              <a:t> 37 (and </a:t>
            </a:r>
            <a:r>
              <a:rPr lang="it-IT" sz="2000" b="1" dirty="0" err="1"/>
              <a:t>its</a:t>
            </a:r>
            <a:r>
              <a:rPr lang="it-IT" sz="2000" b="1" dirty="0"/>
              <a:t> </a:t>
            </a:r>
            <a:r>
              <a:rPr lang="it-IT" sz="2000" b="1" dirty="0" err="1"/>
              <a:t>timescale</a:t>
            </a:r>
            <a:r>
              <a:rPr lang="it-IT" sz="2000" b="1" dirty="0"/>
              <a:t> </a:t>
            </a:r>
            <a:r>
              <a:rPr lang="it-IT" sz="2000" b="1" dirty="0" err="1"/>
              <a:t>division</a:t>
            </a:r>
            <a:r>
              <a:rPr lang="it-IT" sz="2000" b="1" dirty="0"/>
              <a:t>):</a:t>
            </a:r>
          </a:p>
          <a:p>
            <a:pPr algn="ctr"/>
            <a:endParaRPr lang="it-IT" sz="2000" b="1" dirty="0"/>
          </a:p>
          <a:p>
            <a:pPr algn="ctr"/>
            <a:r>
              <a:rPr lang="it-IT" sz="2000" dirty="0" err="1"/>
              <a:t>We</a:t>
            </a:r>
            <a:r>
              <a:rPr lang="it-IT" sz="2000" dirty="0"/>
              <a:t> can </a:t>
            </a:r>
            <a:r>
              <a:rPr lang="it-IT" sz="2000" dirty="0" err="1"/>
              <a:t>reconstruct</a:t>
            </a:r>
            <a:r>
              <a:rPr lang="it-IT" sz="2000" dirty="0"/>
              <a:t> the </a:t>
            </a:r>
            <a:r>
              <a:rPr lang="it-IT" sz="2000" dirty="0" err="1"/>
              <a:t>microscopic</a:t>
            </a:r>
            <a:r>
              <a:rPr lang="it-IT" sz="2000" dirty="0"/>
              <a:t> </a:t>
            </a:r>
            <a:r>
              <a:rPr lang="it-IT" sz="2000" dirty="0" err="1"/>
              <a:t>firing</a:t>
            </a:r>
            <a:r>
              <a:rPr lang="it-IT" sz="2000" dirty="0"/>
              <a:t> rate from the </a:t>
            </a:r>
            <a:r>
              <a:rPr lang="it-IT" sz="2000" dirty="0" err="1"/>
              <a:t>mesoscopic</a:t>
            </a:r>
            <a:r>
              <a:rPr lang="it-IT" sz="2000" dirty="0"/>
              <a:t> LFP.</a:t>
            </a:r>
          </a:p>
          <a:p>
            <a:pPr algn="ctr"/>
            <a:endParaRPr lang="it-IT" sz="2000" dirty="0"/>
          </a:p>
          <a:p>
            <a:pPr algn="ctr"/>
            <a:r>
              <a:rPr lang="it-IT" sz="2000" dirty="0"/>
              <a:t>….and </a:t>
            </a:r>
            <a:r>
              <a:rPr lang="it-IT" sz="2000" dirty="0" err="1"/>
              <a:t>even</a:t>
            </a:r>
            <a:r>
              <a:rPr lang="it-IT" sz="2000" dirty="0"/>
              <a:t> the </a:t>
            </a:r>
            <a:r>
              <a:rPr lang="it-IT" sz="2000" dirty="0" err="1"/>
              <a:t>fluctuations</a:t>
            </a:r>
            <a:r>
              <a:rPr lang="it-IT" sz="2000" dirty="0"/>
              <a:t> of the visual feature in </a:t>
            </a:r>
            <a:r>
              <a:rPr lang="it-IT" sz="2000" dirty="0" err="1"/>
              <a:t>different</a:t>
            </a:r>
            <a:r>
              <a:rPr lang="it-IT" sz="2000" dirty="0"/>
              <a:t> </a:t>
            </a:r>
            <a:r>
              <a:rPr lang="it-IT" sz="2000" dirty="0" err="1"/>
              <a:t>scenes</a:t>
            </a:r>
            <a:r>
              <a:rPr lang="it-IT" sz="2000" dirty="0"/>
              <a:t> (</a:t>
            </a:r>
            <a:r>
              <a:rPr lang="it-IT" sz="2000" dirty="0" err="1"/>
              <a:t>see</a:t>
            </a:r>
            <a:r>
              <a:rPr lang="it-IT" sz="2000" dirty="0"/>
              <a:t> </a:t>
            </a:r>
            <a:r>
              <a:rPr lang="it-IT" sz="2000" dirty="0" err="1"/>
              <a:t>next</a:t>
            </a:r>
            <a:r>
              <a:rPr lang="it-IT" sz="2000" dirty="0"/>
              <a:t> slide).</a:t>
            </a:r>
          </a:p>
        </p:txBody>
      </p:sp>
    </p:spTree>
    <p:extLst>
      <p:ext uri="{BB962C8B-B14F-4D97-AF65-F5344CB8AC3E}">
        <p14:creationId xmlns:p14="http://schemas.microsoft.com/office/powerpoint/2010/main" val="41989152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1"/>
          <p:cNvSpPr txBox="1">
            <a:spLocks noChangeArrowheads="1"/>
          </p:cNvSpPr>
          <p:nvPr/>
        </p:nvSpPr>
        <p:spPr bwMode="auto">
          <a:xfrm>
            <a:off x="603250" y="0"/>
            <a:ext cx="8001000" cy="730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2040" rIns="0" bIns="0" anchor="ctr"/>
          <a:lstStyle/>
          <a:p>
            <a:pPr marL="215900" indent="-212725" algn="ctr">
              <a:lnSpc>
                <a:spcPct val="100000"/>
              </a:lnSpc>
              <a:buClrTx/>
              <a:buFontTx/>
              <a:buNone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600">
                <a:solidFill>
                  <a:srgbClr val="000000"/>
                </a:solidFill>
              </a:rPr>
              <a:t>Experiment vs theory results II</a:t>
            </a:r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/>
          <a:srcRect l="-533" t="-35179" r="533" b="80836"/>
          <a:stretch>
            <a:fillRect/>
          </a:stretch>
        </p:blipFill>
        <p:spPr bwMode="auto">
          <a:xfrm>
            <a:off x="-36513" y="-3113088"/>
            <a:ext cx="4799013" cy="6829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48" name="Picture 3"/>
          <p:cNvPicPr>
            <a:picLocks noChangeAspect="1" noChangeArrowheads="1"/>
          </p:cNvPicPr>
          <p:nvPr/>
        </p:nvPicPr>
        <p:blipFill>
          <a:blip r:embed="rId3"/>
          <a:srcRect l="-533" t="37421" r="533" b="44659"/>
          <a:stretch>
            <a:fillRect/>
          </a:stretch>
        </p:blipFill>
        <p:spPr bwMode="auto">
          <a:xfrm>
            <a:off x="-36513" y="3716338"/>
            <a:ext cx="4799013" cy="239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49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75188" y="1220788"/>
            <a:ext cx="4433887" cy="566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50" name="Picture 4"/>
          <p:cNvPicPr>
            <a:picLocks noChangeAspect="1" noChangeArrowheads="1"/>
          </p:cNvPicPr>
          <p:nvPr/>
        </p:nvPicPr>
        <p:blipFill>
          <a:blip r:embed="rId4"/>
          <a:srcRect t="87044"/>
          <a:stretch>
            <a:fillRect/>
          </a:stretch>
        </p:blipFill>
        <p:spPr bwMode="auto">
          <a:xfrm>
            <a:off x="14288" y="6113463"/>
            <a:ext cx="4433887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4833CCD4C2FF43A3A3C271054A5EB0" ma:contentTypeVersion="3" ma:contentTypeDescription="Create a new document." ma:contentTypeScope="" ma:versionID="37639bef868adbc7cbaa6201b84f293f">
  <xsd:schema xmlns:xsd="http://www.w3.org/2001/XMLSchema" xmlns:xs="http://www.w3.org/2001/XMLSchema" xmlns:p="http://schemas.microsoft.com/office/2006/metadata/properties" xmlns:ns2="8442ee31-cce1-422a-bc66-5370dcdeec33" targetNamespace="http://schemas.microsoft.com/office/2006/metadata/properties" ma:root="true" ma:fieldsID="c427b45ecdfa898c0fcc3f67c1702c3f" ns2:_="">
    <xsd:import namespace="8442ee31-cce1-422a-bc66-5370dcdeec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42ee31-cce1-422a-bc66-5370dcdeec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C35C0D1-C55A-4E86-A3BC-BF281ACCB51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0EB0546-E9E3-46E5-9D1F-11FE5B881A82}"/>
</file>

<file path=customXml/itemProps3.xml><?xml version="1.0" encoding="utf-8"?>
<ds:datastoreItem xmlns:ds="http://schemas.openxmlformats.org/officeDocument/2006/customXml" ds:itemID="{8CAC1136-C684-47A6-9F1F-45D6CC3F53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2304</Words>
  <Application>Microsoft Office PowerPoint</Application>
  <PresentationFormat>Presentazione su schermo (4:3)</PresentationFormat>
  <Paragraphs>379</Paragraphs>
  <Slides>52</Slides>
  <Notes>33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52</vt:i4>
      </vt:variant>
    </vt:vector>
  </HeadingPairs>
  <TitlesOfParts>
    <vt:vector size="53" baseType="lpstr">
      <vt:lpstr>Tema di Office</vt:lpstr>
      <vt:lpstr>Neuromorphic engineering: computational neuroengineering module </vt:lpstr>
      <vt:lpstr>Presentazione standard di PowerPoint</vt:lpstr>
      <vt:lpstr>Presentazione standard di PowerPoint</vt:lpstr>
      <vt:lpstr>Presentazione standard di PowerPoint</vt:lpstr>
      <vt:lpstr>Network response to constant input</vt:lpstr>
      <vt:lpstr>Network response to constant input</vt:lpstr>
      <vt:lpstr>Network response to constant input</vt:lpstr>
      <vt:lpstr>Delta oscillations origin</vt:lpstr>
      <vt:lpstr>Network response to periodic input</vt:lpstr>
      <vt:lpstr>Cross-frequency coupling</vt:lpstr>
      <vt:lpstr>Responses of the simulated network to input stimuli matching LGN spiking activity during naturalistic movies presentations</vt:lpstr>
      <vt:lpstr>Responses of the simulated network to input stimuli matching LGN spiking activity during naturalistic movies presentations</vt:lpstr>
      <vt:lpstr>Take home message(s)</vt:lpstr>
      <vt:lpstr>Thalamic oscillations</vt:lpstr>
      <vt:lpstr>Thalamic oscillations</vt:lpstr>
      <vt:lpstr>Thalamic oscillations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Morphological  modeling</vt:lpstr>
      <vt:lpstr>Morphological  modeling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Models</dc:title>
  <dc:creator>alberto</dc:creator>
  <cp:lastModifiedBy>Alberto Mazzoni</cp:lastModifiedBy>
  <cp:revision>50</cp:revision>
  <dcterms:created xsi:type="dcterms:W3CDTF">2016-10-12T06:46:34Z</dcterms:created>
  <dcterms:modified xsi:type="dcterms:W3CDTF">2026-05-08T08:10:57Z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0x010100D54833CCD4C2FF43A3A3C271054A5EB0</vt:lpwstr>
  </property>
</Properties>
</file>