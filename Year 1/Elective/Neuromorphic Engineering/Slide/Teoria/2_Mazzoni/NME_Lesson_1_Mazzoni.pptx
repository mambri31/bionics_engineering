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625" r:id="rId3"/>
    <p:sldId id="626" r:id="rId4"/>
    <p:sldId id="627" r:id="rId5"/>
    <p:sldId id="628" r:id="rId6"/>
    <p:sldId id="629" r:id="rId7"/>
    <p:sldId id="630" r:id="rId8"/>
    <p:sldId id="631" r:id="rId9"/>
    <p:sldId id="632" r:id="rId10"/>
    <p:sldId id="633" r:id="rId11"/>
    <p:sldId id="634" r:id="rId12"/>
    <p:sldId id="635" r:id="rId13"/>
    <p:sldId id="636" r:id="rId14"/>
    <p:sldId id="539" r:id="rId15"/>
    <p:sldId id="637" r:id="rId16"/>
    <p:sldId id="638" r:id="rId17"/>
    <p:sldId id="639" r:id="rId18"/>
    <p:sldId id="640" r:id="rId19"/>
    <p:sldId id="438" r:id="rId20"/>
    <p:sldId id="439" r:id="rId21"/>
    <p:sldId id="440" r:id="rId22"/>
    <p:sldId id="441" r:id="rId23"/>
    <p:sldId id="442" r:id="rId24"/>
    <p:sldId id="443" r:id="rId25"/>
    <p:sldId id="541" r:id="rId26"/>
    <p:sldId id="532" r:id="rId27"/>
    <p:sldId id="444" r:id="rId28"/>
    <p:sldId id="445" r:id="rId29"/>
    <p:sldId id="446" r:id="rId30"/>
    <p:sldId id="447" r:id="rId31"/>
    <p:sldId id="448" r:id="rId32"/>
    <p:sldId id="449" r:id="rId33"/>
    <p:sldId id="450" r:id="rId34"/>
    <p:sldId id="451" r:id="rId35"/>
    <p:sldId id="459" r:id="rId36"/>
    <p:sldId id="460" r:id="rId37"/>
    <p:sldId id="461" r:id="rId38"/>
    <p:sldId id="462" r:id="rId39"/>
    <p:sldId id="463" r:id="rId40"/>
    <p:sldId id="464" r:id="rId41"/>
    <p:sldId id="465" r:id="rId42"/>
    <p:sldId id="466" r:id="rId43"/>
    <p:sldId id="452" r:id="rId44"/>
    <p:sldId id="453" r:id="rId45"/>
    <p:sldId id="454" r:id="rId46"/>
    <p:sldId id="455" r:id="rId47"/>
    <p:sldId id="456" r:id="rId48"/>
    <p:sldId id="457" r:id="rId49"/>
    <p:sldId id="458" r:id="rId50"/>
    <p:sldId id="426" r:id="rId51"/>
    <p:sldId id="467" r:id="rId52"/>
    <p:sldId id="468" r:id="rId53"/>
    <p:sldId id="469" r:id="rId54"/>
    <p:sldId id="470" r:id="rId55"/>
    <p:sldId id="471" r:id="rId56"/>
    <p:sldId id="472" r:id="rId57"/>
    <p:sldId id="473" r:id="rId58"/>
    <p:sldId id="474" r:id="rId59"/>
    <p:sldId id="475" r:id="rId60"/>
    <p:sldId id="482" r:id="rId61"/>
    <p:sldId id="622" r:id="rId62"/>
    <p:sldId id="476" r:id="rId63"/>
    <p:sldId id="477" r:id="rId64"/>
    <p:sldId id="478" r:id="rId65"/>
    <p:sldId id="479" r:id="rId66"/>
    <p:sldId id="481" r:id="rId67"/>
    <p:sldId id="483" r:id="rId68"/>
    <p:sldId id="484" r:id="rId69"/>
    <p:sldId id="485" r:id="rId70"/>
    <p:sldId id="564" r:id="rId71"/>
    <p:sldId id="486" r:id="rId72"/>
    <p:sldId id="487" r:id="rId73"/>
    <p:sldId id="488" r:id="rId74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638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customXml" Target="../customXml/item3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9496D-ADBF-4A18-95D4-AE7277CC9CD7}" type="datetimeFigureOut">
              <a:rPr lang="it-IT" smtClean="0"/>
              <a:pPr/>
              <a:t>09/03/2026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9D7BA-C0FF-4E3D-A591-4EB38D80A8EE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31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32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106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33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68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34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6684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56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57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2714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58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59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4F7CDD-071E-4E44-BC09-EBE6C70F8E48}" type="slidenum">
              <a:rPr lang="fi-FI" smtClean="0"/>
              <a:pPr/>
              <a:t>73</a:t>
            </a:fld>
            <a:endParaRPr lang="fi-FI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693"/>
            <a:ext cx="5486400" cy="4036356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ct val="0"/>
              </a:spcBef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0550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09/03/2026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09/03/2026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09/03/2026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09/03/2026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09/03/2026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09/03/2026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09/03/2026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09/03/2026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09/03/2026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09/03/2026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09/03/2026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EC56D-4454-4717-98EA-B8EE0FABF145}" type="datetimeFigureOut">
              <a:rPr lang="it-IT" smtClean="0"/>
              <a:pPr/>
              <a:t>09/03/2026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gif"/><Relationship Id="rId4" Type="http://schemas.openxmlformats.org/officeDocument/2006/relationships/image" Target="../media/image28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37.jpeg"/><Relationship Id="rId7" Type="http://schemas.openxmlformats.org/officeDocument/2006/relationships/image" Target="../media/image4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37.jpeg"/><Relationship Id="rId7" Type="http://schemas.openxmlformats.org/officeDocument/2006/relationships/image" Target="../media/image4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Ion" TargetMode="External"/><Relationship Id="rId13" Type="http://schemas.openxmlformats.org/officeDocument/2006/relationships/hyperlink" Target="https://en.wikipedia.org/wiki/Receptor_(biochemistry)" TargetMode="External"/><Relationship Id="rId3" Type="http://schemas.openxmlformats.org/officeDocument/2006/relationships/image" Target="../media/image50.png"/><Relationship Id="rId7" Type="http://schemas.openxmlformats.org/officeDocument/2006/relationships/hyperlink" Target="https://en.wikipedia.org/wiki/Biological_membrane" TargetMode="External"/><Relationship Id="rId12" Type="http://schemas.openxmlformats.org/officeDocument/2006/relationships/hyperlink" Target="https://en.wikipedia.org/wiki/Neurotransmitter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hyperlink" Target="https://en.wikipedia.org/wiki/Neuron" TargetMode="External"/><Relationship Id="rId5" Type="http://schemas.openxmlformats.org/officeDocument/2006/relationships/image" Target="../media/image52.png"/><Relationship Id="rId10" Type="http://schemas.openxmlformats.org/officeDocument/2006/relationships/hyperlink" Target="https://en.wikipedia.org/wiki/Post-synaptic" TargetMode="External"/><Relationship Id="rId4" Type="http://schemas.openxmlformats.org/officeDocument/2006/relationships/image" Target="../media/image51.png"/><Relationship Id="rId9" Type="http://schemas.openxmlformats.org/officeDocument/2006/relationships/hyperlink" Target="https://en.wikipedia.org/wiki/Membrane_potential" TargetMode="External"/><Relationship Id="rId14" Type="http://schemas.openxmlformats.org/officeDocument/2006/relationships/hyperlink" Target="https://en.wikipedia.org/wiki/Ion_channel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tiff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tiff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tiff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o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5975"/>
          <a:stretch/>
        </p:blipFill>
        <p:spPr bwMode="auto">
          <a:xfrm>
            <a:off x="482318" y="4943127"/>
            <a:ext cx="2392127" cy="116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2318" y="227176"/>
            <a:ext cx="8410162" cy="5506080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Neuromorphic</a:t>
            </a:r>
            <a:r>
              <a:rPr lang="it-IT" sz="6000" b="1" dirty="0">
                <a:solidFill>
                  <a:srgbClr val="FF0000"/>
                </a:solidFill>
              </a:rPr>
              <a:t> engineering: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computational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neuroengineering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module</a:t>
            </a:r>
            <a:br>
              <a:rPr lang="it-IT" sz="6000" b="1" dirty="0">
                <a:solidFill>
                  <a:srgbClr val="FF0000"/>
                </a:solidFill>
              </a:rPr>
            </a:br>
            <a:endParaRPr lang="it-IT" sz="6000" b="1" dirty="0">
              <a:solidFill>
                <a:srgbClr val="FF0000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347864" y="5131249"/>
            <a:ext cx="5688632" cy="792088"/>
          </a:xfrm>
        </p:spPr>
        <p:txBody>
          <a:bodyPr>
            <a:normAutofit/>
          </a:bodyPr>
          <a:lstStyle/>
          <a:p>
            <a:r>
              <a:rPr lang="it-IT" dirty="0" err="1"/>
              <a:t>Mazzoni@Bionics</a:t>
            </a:r>
            <a:r>
              <a:rPr lang="it-IT" dirty="0"/>
              <a:t>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magine 4">
            <a:extLst>
              <a:ext uri="{FF2B5EF4-FFF2-40B4-BE49-F238E27FC236}">
                <a16:creationId xmlns:a16="http://schemas.microsoft.com/office/drawing/2014/main" id="{B4A9FBBA-AF4E-118D-D514-F2BB70B59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38628" b="58153"/>
          <a:stretch>
            <a:fillRect/>
          </a:stretch>
        </p:blipFill>
        <p:spPr bwMode="auto">
          <a:xfrm>
            <a:off x="2339752" y="5126568"/>
            <a:ext cx="4730502" cy="876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itolo 5">
            <a:extLst>
              <a:ext uri="{FF2B5EF4-FFF2-40B4-BE49-F238E27FC236}">
                <a16:creationId xmlns:a16="http://schemas.microsoft.com/office/drawing/2014/main" id="{4D5AEE94-235B-0AE1-223E-F06FC858D81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4294" tIns="32147" rIns="64294" bIns="32147" numCol="1" rtlCol="0" anchor="t" anchorCtr="0" compatLnSpc="1">
            <a:prstTxWarp prst="textNoShape">
              <a:avLst/>
            </a:prstTxWarp>
            <a:normAutofit/>
          </a:bodyPr>
          <a:lstStyle/>
          <a:p>
            <a:endParaRPr lang="it-IT" altLang="it-IT"/>
          </a:p>
        </p:txBody>
      </p:sp>
      <p:pic>
        <p:nvPicPr>
          <p:cNvPr id="3076" name="Immagine 8">
            <a:extLst>
              <a:ext uri="{FF2B5EF4-FFF2-40B4-BE49-F238E27FC236}">
                <a16:creationId xmlns:a16="http://schemas.microsoft.com/office/drawing/2014/main" id="{72DD6A8B-7194-BE2A-AAF9-1F9201C9D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869"/>
            <a:ext cx="9144000" cy="4919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Immagine 9">
            <a:extLst>
              <a:ext uri="{FF2B5EF4-FFF2-40B4-BE49-F238E27FC236}">
                <a16:creationId xmlns:a16="http://schemas.microsoft.com/office/drawing/2014/main" id="{D34CCA45-6D20-BEB3-87DA-CA1F296A6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098" y="5799644"/>
            <a:ext cx="4547443" cy="911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magine 1">
            <a:extLst>
              <a:ext uri="{FF2B5EF4-FFF2-40B4-BE49-F238E27FC236}">
                <a16:creationId xmlns:a16="http://schemas.microsoft.com/office/drawing/2014/main" id="{E1727736-0659-4669-CC9B-D62DAD267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1" y="0"/>
            <a:ext cx="9144001" cy="18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Immagine 8">
            <a:extLst>
              <a:ext uri="{FF2B5EF4-FFF2-40B4-BE49-F238E27FC236}">
                <a16:creationId xmlns:a16="http://schemas.microsoft.com/office/drawing/2014/main" id="{8EA2C512-4508-FB4C-FBA5-5518852E9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6" y="1799332"/>
            <a:ext cx="7849195" cy="2453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Immagine 4">
            <a:extLst>
              <a:ext uri="{FF2B5EF4-FFF2-40B4-BE49-F238E27FC236}">
                <a16:creationId xmlns:a16="http://schemas.microsoft.com/office/drawing/2014/main" id="{067076B3-89B9-4BFA-A884-9D1B7B4A2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6" y="3985989"/>
            <a:ext cx="6104558" cy="24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65AD6-FAF9-4AE2-3C16-A3812FACB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magine 1">
            <a:extLst>
              <a:ext uri="{FF2B5EF4-FFF2-40B4-BE49-F238E27FC236}">
                <a16:creationId xmlns:a16="http://schemas.microsoft.com/office/drawing/2014/main" id="{D1EE2A28-1F8D-54A4-3482-717ECA8B0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511" y="0"/>
            <a:ext cx="9144001" cy="18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Immagine 8">
            <a:extLst>
              <a:ext uri="{FF2B5EF4-FFF2-40B4-BE49-F238E27FC236}">
                <a16:creationId xmlns:a16="http://schemas.microsoft.com/office/drawing/2014/main" id="{6C7CDA1B-E0F3-0B2D-0BBB-67E56FC07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6" y="1799332"/>
            <a:ext cx="7849195" cy="2453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Immagine 4">
            <a:extLst>
              <a:ext uri="{FF2B5EF4-FFF2-40B4-BE49-F238E27FC236}">
                <a16:creationId xmlns:a16="http://schemas.microsoft.com/office/drawing/2014/main" id="{5CB3F741-53F8-F4AA-30D7-C8EA55EE8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6" y="3985989"/>
            <a:ext cx="6104558" cy="24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22AD3F1-305F-F5CF-AA9C-04ABA4A7F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821525">
            <a:off x="-6200" y="2281535"/>
            <a:ext cx="9173117" cy="2487636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93018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71603" y="76200"/>
            <a:ext cx="6143669" cy="852470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Arial" charset="0"/>
                <a:cs typeface="Arial" charset="0"/>
              </a:rPr>
              <a:t>Neural Coding</a:t>
            </a:r>
            <a:endParaRPr lang="en-US" sz="40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pic>
        <p:nvPicPr>
          <p:cNvPr id="116738" name="Picture 2" descr="http://static.megustaleer.com.ar/images/libros_650_x/978950075575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5565" y="785794"/>
            <a:ext cx="4048137" cy="60722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5525455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static.megustaleer.com.ar/images/libros_650_x/978950075575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5565" y="785794"/>
            <a:ext cx="4048137" cy="6072206"/>
          </a:xfrm>
          <a:prstGeom prst="rect">
            <a:avLst/>
          </a:prstGeom>
          <a:noFill/>
        </p:spPr>
      </p:pic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71603" y="76200"/>
            <a:ext cx="6143669" cy="852470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Arial" charset="0"/>
                <a:cs typeface="Arial" charset="0"/>
              </a:rPr>
              <a:t>Neural Coding</a:t>
            </a:r>
            <a:endParaRPr lang="en-US" sz="40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701384" y="3614475"/>
            <a:ext cx="7848872" cy="2016224"/>
            <a:chOff x="683568" y="3645024"/>
            <a:chExt cx="6984776" cy="2376264"/>
          </a:xfrm>
        </p:grpSpPr>
        <p:pic>
          <p:nvPicPr>
            <p:cNvPr id="6" name="Picture 11" descr="features.tif"/>
            <p:cNvPicPr>
              <a:picLocks noChangeAspect="1"/>
            </p:cNvPicPr>
            <p:nvPr/>
          </p:nvPicPr>
          <p:blipFill>
            <a:blip r:embed="rId3" cstate="print"/>
            <a:srcRect l="13235" t="3893" r="5479" b="71514"/>
            <a:stretch>
              <a:fillRect/>
            </a:stretch>
          </p:blipFill>
          <p:spPr bwMode="auto">
            <a:xfrm>
              <a:off x="683568" y="3645024"/>
              <a:ext cx="6984776" cy="1152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11" descr="features.tif"/>
            <p:cNvPicPr>
              <a:picLocks noChangeAspect="1"/>
            </p:cNvPicPr>
            <p:nvPr/>
          </p:nvPicPr>
          <p:blipFill>
            <a:blip r:embed="rId3" cstate="print"/>
            <a:srcRect l="13235" t="54620" r="5479" b="25398"/>
            <a:stretch>
              <a:fillRect/>
            </a:stretch>
          </p:blipFill>
          <p:spPr bwMode="auto">
            <a:xfrm>
              <a:off x="827584" y="5085184"/>
              <a:ext cx="6697662" cy="936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70929384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50875" y="76200"/>
            <a:ext cx="7315200" cy="823913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Neuronal Coding</a:t>
            </a:r>
            <a:endParaRPr lang="en-US" sz="3200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914400"/>
            <a:ext cx="8358188" cy="2819400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rial" charset="0"/>
                <a:cs typeface="Arial" charset="0"/>
              </a:rPr>
              <a:t>How do neurons encode and transmit sensory and motor  information?</a:t>
            </a:r>
          </a:p>
          <a:p>
            <a:r>
              <a:rPr lang="en-US" sz="2400" dirty="0">
                <a:latin typeface="Arial" charset="0"/>
                <a:cs typeface="Arial" charset="0"/>
              </a:rPr>
              <a:t>What is the language (“code”) used by the neurons to transmit information to one another?</a:t>
            </a:r>
            <a:r>
              <a:rPr lang="en-GB" sz="2400" dirty="0">
                <a:latin typeface="Arial" charset="0"/>
                <a:cs typeface="Arial" charset="0"/>
              </a:rPr>
              <a:t> 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22"/>
          <a:stretch/>
        </p:blipFill>
        <p:spPr bwMode="auto">
          <a:xfrm>
            <a:off x="100013" y="2881168"/>
            <a:ext cx="8943975" cy="3595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2803415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28"/>
          <a:stretch>
            <a:fillRect/>
          </a:stretch>
        </p:blipFill>
        <p:spPr bwMode="auto">
          <a:xfrm>
            <a:off x="900113" y="1341438"/>
            <a:ext cx="2303462" cy="410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 Box 3"/>
          <p:cNvSpPr txBox="1">
            <a:spLocks noChangeArrowheads="1"/>
          </p:cNvSpPr>
          <p:nvPr/>
        </p:nvSpPr>
        <p:spPr bwMode="auto">
          <a:xfrm>
            <a:off x="539750" y="260350"/>
            <a:ext cx="82232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3200" dirty="0">
                <a:solidFill>
                  <a:srgbClr val="FF0000"/>
                </a:solidFill>
                <a:latin typeface="Arial" charset="0"/>
              </a:rPr>
              <a:t>The neuronal code is a sequence of spikes</a:t>
            </a:r>
            <a:endParaRPr lang="en-US" sz="3200" dirty="0">
              <a:solidFill>
                <a:srgbClr val="FF0000"/>
              </a:solidFill>
              <a:latin typeface="Arial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132138" y="1341438"/>
            <a:ext cx="5834062" cy="1727200"/>
            <a:chOff x="1973" y="845"/>
            <a:chExt cx="3675" cy="1088"/>
          </a:xfrm>
        </p:grpSpPr>
        <p:pic>
          <p:nvPicPr>
            <p:cNvPr id="20492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356" b="57912"/>
            <a:stretch>
              <a:fillRect/>
            </a:stretch>
          </p:blipFill>
          <p:spPr bwMode="auto">
            <a:xfrm>
              <a:off x="1973" y="845"/>
              <a:ext cx="1563" cy="1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3" name="Rectangle 6"/>
            <p:cNvSpPr>
              <a:spLocks noChangeArrowheads="1"/>
            </p:cNvSpPr>
            <p:nvPr/>
          </p:nvSpPr>
          <p:spPr bwMode="auto">
            <a:xfrm>
              <a:off x="3560" y="981"/>
              <a:ext cx="2088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GB" sz="1800" b="1">
                  <a:solidFill>
                    <a:srgbClr val="FF0000"/>
                  </a:solidFill>
                  <a:latin typeface="Arial" charset="0"/>
                </a:rPr>
                <a:t>Somatic electrode</a:t>
              </a:r>
              <a:r>
                <a:rPr lang="en-GB" sz="1800">
                  <a:latin typeface="Arial" charset="0"/>
                </a:rPr>
                <a:t> – subthreshold membrane potential plus Action Potentials (spikes)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203575" y="3789363"/>
            <a:ext cx="5762625" cy="1655762"/>
            <a:chOff x="2018" y="2387"/>
            <a:chExt cx="3630" cy="1043"/>
          </a:xfrm>
        </p:grpSpPr>
        <p:pic>
          <p:nvPicPr>
            <p:cNvPr id="20490" name="Picture 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72" t="59651"/>
            <a:stretch>
              <a:fillRect/>
            </a:stretch>
          </p:blipFill>
          <p:spPr bwMode="auto">
            <a:xfrm>
              <a:off x="2018" y="2387"/>
              <a:ext cx="1518" cy="1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1" name="Rectangle 9"/>
            <p:cNvSpPr>
              <a:spLocks noChangeArrowheads="1"/>
            </p:cNvSpPr>
            <p:nvPr/>
          </p:nvSpPr>
          <p:spPr bwMode="auto">
            <a:xfrm>
              <a:off x="3560" y="2432"/>
              <a:ext cx="2088" cy="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GB" sz="1800" b="1">
                  <a:solidFill>
                    <a:srgbClr val="FF0000"/>
                  </a:solidFill>
                  <a:latin typeface="Arial" charset="0"/>
                </a:rPr>
                <a:t>Axonal electrode</a:t>
              </a:r>
              <a:r>
                <a:rPr lang="en-GB" sz="1800">
                  <a:latin typeface="Arial" charset="0"/>
                </a:rPr>
                <a:t>– subthreshold membrane potential are attenuated and only spikes propagate long distance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059113" y="2924175"/>
            <a:ext cx="5516562" cy="865188"/>
            <a:chOff x="1927" y="1842"/>
            <a:chExt cx="3475" cy="545"/>
          </a:xfrm>
        </p:grpSpPr>
        <p:pic>
          <p:nvPicPr>
            <p:cNvPr id="20488" name="Picture 1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807" t="38568" b="40349"/>
            <a:stretch>
              <a:fillRect/>
            </a:stretch>
          </p:blipFill>
          <p:spPr bwMode="auto">
            <a:xfrm>
              <a:off x="1927" y="1842"/>
              <a:ext cx="1609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89" name="Rectangle 12"/>
            <p:cNvSpPr>
              <a:spLocks noChangeArrowheads="1"/>
            </p:cNvSpPr>
            <p:nvPr/>
          </p:nvSpPr>
          <p:spPr bwMode="auto">
            <a:xfrm>
              <a:off x="3742" y="2024"/>
              <a:ext cx="1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sz="1800" b="1">
                  <a:solidFill>
                    <a:srgbClr val="FF0000"/>
                  </a:solidFill>
                  <a:latin typeface="Arial" charset="0"/>
                </a:rPr>
                <a:t>Extracellular electrode</a:t>
              </a:r>
              <a:endParaRPr lang="en-US" sz="1800" b="1">
                <a:solidFill>
                  <a:srgbClr val="FF0000"/>
                </a:solidFill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928965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288" y="316720"/>
            <a:ext cx="5268912" cy="3340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395288" y="4221163"/>
            <a:ext cx="8343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endParaRPr lang="it-IT" sz="1800">
              <a:latin typeface="Arial" charset="0"/>
            </a:endParaRP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395288" y="3860800"/>
            <a:ext cx="8343900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>
                <a:latin typeface="Arial" charset="0"/>
              </a:rPr>
              <a:t>The synaptic vesicles in the axon terminal release neurotransmitters only when an action potential arrives from the presynaptic neuron</a:t>
            </a:r>
          </a:p>
          <a:p>
            <a:r>
              <a:rPr lang="en-GB">
                <a:latin typeface="Arial" charset="0"/>
              </a:rPr>
              <a:t>Thus, neurons communicate information only through action potentials, not through subthreshold membrane fluctuations. </a:t>
            </a:r>
          </a:p>
          <a:p>
            <a:r>
              <a:rPr lang="en-GB" b="1">
                <a:latin typeface="Arial" charset="0"/>
              </a:rPr>
              <a:t>Thus, the neuronal code consists of a time series of stereotyped action potentials</a:t>
            </a:r>
            <a:endParaRPr lang="en-US" b="1">
              <a:latin typeface="Arial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39750" y="6044625"/>
            <a:ext cx="82232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3200" dirty="0">
                <a:solidFill>
                  <a:srgbClr val="FF0000"/>
                </a:solidFill>
                <a:latin typeface="Arial" charset="0"/>
              </a:rPr>
              <a:t>The neuronal code is a sequence of spikes</a:t>
            </a:r>
            <a:endParaRPr lang="en-US" sz="3200" dirty="0">
              <a:solidFill>
                <a:srgbClr val="FF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197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" y="831850"/>
            <a:ext cx="4127500" cy="335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029200"/>
            <a:ext cx="2337348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458628"/>
            <a:ext cx="1905000" cy="2323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3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0" r="4000" b="71254"/>
          <a:stretch/>
        </p:blipFill>
        <p:spPr bwMode="auto">
          <a:xfrm>
            <a:off x="7086600" y="228600"/>
            <a:ext cx="1828800" cy="54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69900" y="260350"/>
            <a:ext cx="7607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dirty="0">
                <a:solidFill>
                  <a:srgbClr val="FF0000"/>
                </a:solidFill>
                <a:latin typeface="Arial" charset="0"/>
              </a:rPr>
              <a:t>… but on our perspective, the code is</a:t>
            </a:r>
            <a:endParaRPr lang="en-US" sz="28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371600" y="4433887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b="1" dirty="0" err="1">
                <a:solidFill>
                  <a:srgbClr val="FF0000"/>
                </a:solidFill>
                <a:latin typeface="Arial" charset="0"/>
              </a:rPr>
              <a:t>ECoG</a:t>
            </a:r>
            <a:endParaRPr lang="en-US" sz="2800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7467600" y="3824287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Arial" charset="0"/>
              </a:rPr>
              <a:t>fMRI</a:t>
            </a:r>
            <a:endParaRPr lang="en-US" sz="2800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4301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800600"/>
            <a:ext cx="211516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4198334" y="35052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Arial" charset="0"/>
              </a:rPr>
              <a:t>spikes</a:t>
            </a:r>
            <a:endParaRPr lang="en-US" sz="2800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4372280" y="12954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Arial" charset="0"/>
              </a:rPr>
              <a:t>LFP</a:t>
            </a:r>
            <a:endParaRPr lang="en-US" sz="2800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4648200" y="4357687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b="1" dirty="0">
                <a:solidFill>
                  <a:srgbClr val="FF0000"/>
                </a:solidFill>
                <a:latin typeface="Arial" charset="0"/>
              </a:rPr>
              <a:t>EEG</a:t>
            </a:r>
            <a:endParaRPr lang="en-US" sz="2800" b="1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43017" name="Picture 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725" y="1143000"/>
            <a:ext cx="3152605" cy="219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Arrow Connector 2"/>
          <p:cNvCxnSpPr>
            <a:stCxn id="13" idx="2"/>
            <a:endCxn id="43017" idx="1"/>
          </p:cNvCxnSpPr>
          <p:nvPr/>
        </p:nvCxnSpPr>
        <p:spPr>
          <a:xfrm>
            <a:off x="5096180" y="1814513"/>
            <a:ext cx="831545" cy="4270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11" idx="0"/>
            <a:endCxn id="43017" idx="1"/>
          </p:cNvCxnSpPr>
          <p:nvPr/>
        </p:nvCxnSpPr>
        <p:spPr>
          <a:xfrm flipV="1">
            <a:off x="4922234" y="2241538"/>
            <a:ext cx="1005491" cy="12636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3"/>
            <a:endCxn id="43017" idx="2"/>
          </p:cNvCxnSpPr>
          <p:nvPr/>
        </p:nvCxnSpPr>
        <p:spPr>
          <a:xfrm flipV="1">
            <a:off x="2819400" y="3340075"/>
            <a:ext cx="4684628" cy="13533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4" idx="0"/>
            <a:endCxn id="43017" idx="2"/>
          </p:cNvCxnSpPr>
          <p:nvPr/>
        </p:nvCxnSpPr>
        <p:spPr>
          <a:xfrm flipV="1">
            <a:off x="5372100" y="3340075"/>
            <a:ext cx="2131928" cy="10176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0"/>
            <a:endCxn id="43017" idx="2"/>
          </p:cNvCxnSpPr>
          <p:nvPr/>
        </p:nvCxnSpPr>
        <p:spPr>
          <a:xfrm flipH="1" flipV="1">
            <a:off x="7504028" y="3340075"/>
            <a:ext cx="687472" cy="4842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658" name="AutoShape 2" descr="Risultati immagini per recording methods brain scales"/>
          <p:cNvSpPr>
            <a:spLocks noChangeAspect="1" noChangeArrowheads="1"/>
          </p:cNvSpPr>
          <p:nvPr/>
        </p:nvSpPr>
        <p:spPr bwMode="auto">
          <a:xfrm>
            <a:off x="155575" y="-1790700"/>
            <a:ext cx="55721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9137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C6248-C409-3B77-4F00-245FD29D1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58C1D9C0-EB0D-EA5C-47BC-416955113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260350"/>
            <a:ext cx="7607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2800" dirty="0">
                <a:solidFill>
                  <a:srgbClr val="FF0000"/>
                </a:solidFill>
                <a:latin typeface="Arial" charset="0"/>
              </a:rPr>
              <a:t>Neurons act in networks</a:t>
            </a:r>
            <a:endParaRPr lang="en-US" sz="28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70658" name="AutoShape 2" descr="Risultati immagini per recording methods brain scales">
            <a:extLst>
              <a:ext uri="{FF2B5EF4-FFF2-40B4-BE49-F238E27FC236}">
                <a16:creationId xmlns:a16="http://schemas.microsoft.com/office/drawing/2014/main" id="{F63F94F4-B532-DAE4-FFD8-8E15525DA1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790700"/>
            <a:ext cx="55721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4" name="Immagine 3" descr="Immagine che contiene diagramma, design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695A179C-C4D3-F247-EADC-55C496EB01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3382351"/>
            <a:ext cx="5148064" cy="3432043"/>
          </a:xfrm>
          <a:prstGeom prst="rect">
            <a:avLst/>
          </a:prstGeom>
        </p:spPr>
      </p:pic>
      <p:pic>
        <p:nvPicPr>
          <p:cNvPr id="12" name="Immagine 11" descr="Immagine che contiene disegno, schizzo, arte, albero&#10;&#10;Il contenuto generato dall'IA potrebbe non essere corretto.">
            <a:extLst>
              <a:ext uri="{FF2B5EF4-FFF2-40B4-BE49-F238E27FC236}">
                <a16:creationId xmlns:a16="http://schemas.microsoft.com/office/drawing/2014/main" id="{15CA9718-B635-BC40-7A06-5B3BE51DC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93" y="812188"/>
            <a:ext cx="4066209" cy="6078537"/>
          </a:xfrm>
          <a:prstGeom prst="rect">
            <a:avLst/>
          </a:prstGeom>
        </p:spPr>
      </p:pic>
      <p:pic>
        <p:nvPicPr>
          <p:cNvPr id="15" name="Immagine 8">
            <a:extLst>
              <a:ext uri="{FF2B5EF4-FFF2-40B4-BE49-F238E27FC236}">
                <a16:creationId xmlns:a16="http://schemas.microsoft.com/office/drawing/2014/main" id="{A424C61C-2340-0224-18C9-27F98525A0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" t="9226" r="59450" b="26365"/>
          <a:stretch/>
        </p:blipFill>
        <p:spPr bwMode="auto">
          <a:xfrm>
            <a:off x="4928100" y="227625"/>
            <a:ext cx="3558211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3288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AutoShape 2" descr="Risultati immagini per recording methods brain scales"/>
          <p:cNvSpPr>
            <a:spLocks noChangeAspect="1" noChangeArrowheads="1"/>
          </p:cNvSpPr>
          <p:nvPr/>
        </p:nvSpPr>
        <p:spPr bwMode="auto">
          <a:xfrm>
            <a:off x="155575" y="-1790700"/>
            <a:ext cx="55721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32100" name="AutoShape 4" descr="Risultati immagini per recording methods brain scales"/>
          <p:cNvSpPr>
            <a:spLocks noChangeAspect="1" noChangeArrowheads="1"/>
          </p:cNvSpPr>
          <p:nvPr/>
        </p:nvSpPr>
        <p:spPr bwMode="auto">
          <a:xfrm>
            <a:off x="155575" y="-1790700"/>
            <a:ext cx="55721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132102" name="AutoShape 6" descr="Risultati immagini per recording methods brain scales"/>
          <p:cNvSpPr>
            <a:spLocks noChangeAspect="1" noChangeArrowheads="1"/>
          </p:cNvSpPr>
          <p:nvPr/>
        </p:nvSpPr>
        <p:spPr bwMode="auto">
          <a:xfrm>
            <a:off x="155575" y="-1790700"/>
            <a:ext cx="557212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5" name="Immagine 4" descr="sca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4" y="500042"/>
            <a:ext cx="8726910" cy="58579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76200"/>
            <a:ext cx="8247063" cy="1219200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Arial" charset="0"/>
                <a:cs typeface="Arial" charset="0"/>
              </a:rPr>
              <a:t>How do we know what we know</a:t>
            </a:r>
            <a:endParaRPr lang="en-US" sz="40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pic>
        <p:nvPicPr>
          <p:cNvPr id="38914" name="Picture 2" descr="http://www.perrymecium.com/wp-content/uploads/2014/08/picasso_bul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95400"/>
            <a:ext cx="5646402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63054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B51B-CF0A-6033-E7B9-808730DA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AE849C-E6D2-9317-41A3-205130520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5696" y="4005064"/>
            <a:ext cx="5148064" cy="1470025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Models</a:t>
            </a:r>
            <a:endParaRPr lang="it-IT" sz="6000" b="1" dirty="0">
              <a:solidFill>
                <a:srgbClr val="FF0000"/>
              </a:solidFill>
            </a:endParaRPr>
          </a:p>
        </p:txBody>
      </p:sp>
      <p:pic>
        <p:nvPicPr>
          <p:cNvPr id="7" name="Picture 2" descr="http://www.inmondadori.it/img/Kill-Bill-Volume-1-DVD-Quentin-Tarantino/ea803117993243/BL/BL/10/NZO/?tit=Kill+Bill+-+Volume+1+(DVD)&amp;aut=Quentin+Tarantino">
            <a:extLst>
              <a:ext uri="{FF2B5EF4-FFF2-40B4-BE49-F238E27FC236}">
                <a16:creationId xmlns:a16="http://schemas.microsoft.com/office/drawing/2014/main" id="{B0F6ED58-3944-BC02-E59C-A8912AB1E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" t="63461" r="61272" b="847"/>
          <a:stretch/>
        </p:blipFill>
        <p:spPr bwMode="auto">
          <a:xfrm>
            <a:off x="3851920" y="764704"/>
            <a:ext cx="1857388" cy="239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180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8636" y="13513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should I model neurons?</a:t>
            </a:r>
          </a:p>
        </p:txBody>
      </p:sp>
      <p:sp>
        <p:nvSpPr>
          <p:cNvPr id="7" name="Rettangolo 6"/>
          <p:cNvSpPr/>
          <p:nvPr/>
        </p:nvSpPr>
        <p:spPr>
          <a:xfrm>
            <a:off x="251520" y="980728"/>
            <a:ext cx="87129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1) To get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01960" y="1382557"/>
            <a:ext cx="88120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800" dirty="0">
                <a:latin typeface="Impact" panose="020B0806030902050204" pitchFamily="34" charset="0"/>
              </a:rPr>
              <a:t>ONE </a:t>
            </a:r>
            <a:r>
              <a:rPr lang="it-IT" sz="12000" dirty="0">
                <a:latin typeface="Impact" panose="020B0806030902050204" pitchFamily="34" charset="0"/>
              </a:rPr>
              <a:t>B</a:t>
            </a:r>
            <a:r>
              <a:rPr lang="it-IT" sz="8800" dirty="0">
                <a:latin typeface="Impact" panose="020B0806030902050204" pitchFamily="34" charset="0"/>
              </a:rPr>
              <a:t>ILLION EUROS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2267744" y="3405040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From the </a:t>
            </a:r>
            <a:r>
              <a:rPr lang="it-IT" sz="2800" dirty="0" err="1"/>
              <a:t>European</a:t>
            </a:r>
            <a:r>
              <a:rPr lang="it-IT" sz="2800" dirty="0"/>
              <a:t> Community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B194FB6-C880-4381-B6EC-05D13C3B1082}"/>
              </a:ext>
            </a:extLst>
          </p:cNvPr>
          <p:cNvSpPr txBox="1"/>
          <p:nvPr/>
        </p:nvSpPr>
        <p:spPr>
          <a:xfrm>
            <a:off x="3059832" y="6093296"/>
            <a:ext cx="4926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https://www.humanbrainproject.eu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A2127DB-1049-4596-B5EB-BF9F8B7259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440" y="3938817"/>
            <a:ext cx="2843808" cy="193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875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040" y="2428868"/>
            <a:ext cx="2286812" cy="3529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8636" y="13513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should I model neurons?</a:t>
            </a:r>
          </a:p>
        </p:txBody>
      </p:sp>
      <p:sp>
        <p:nvSpPr>
          <p:cNvPr id="7" name="Rettangolo 6"/>
          <p:cNvSpPr/>
          <p:nvPr/>
        </p:nvSpPr>
        <p:spPr>
          <a:xfrm>
            <a:off x="251520" y="980728"/>
            <a:ext cx="87129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2) To win the Nobel prize</a:t>
            </a:r>
          </a:p>
        </p:txBody>
      </p:sp>
      <p:pic>
        <p:nvPicPr>
          <p:cNvPr id="1026" name="Picture 2" descr="http://www.swarthmore.edu/NatSci/echeeve1/Ref/HH/huxley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16" y="3845949"/>
            <a:ext cx="1680187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swarthmore.edu/NatSci/echeeve1/Ref/HH/hodgkin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16" y="980728"/>
            <a:ext cx="1680187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www.math.pitt.edu/~bard/bardware/tut/gif/hh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986" y="1700808"/>
            <a:ext cx="4591050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/>
          <p:cNvSpPr txBox="1"/>
          <p:nvPr/>
        </p:nvSpPr>
        <p:spPr>
          <a:xfrm>
            <a:off x="6858016" y="6000768"/>
            <a:ext cx="2071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Tested</a:t>
            </a:r>
            <a:r>
              <a:rPr lang="it-IT" dirty="0"/>
              <a:t> on </a:t>
            </a:r>
            <a:r>
              <a:rPr lang="it-IT" dirty="0" err="1"/>
              <a:t>giant</a:t>
            </a:r>
            <a:r>
              <a:rPr lang="it-IT" dirty="0"/>
              <a:t> </a:t>
            </a:r>
            <a:r>
              <a:rPr lang="it-IT" dirty="0" err="1"/>
              <a:t>squid</a:t>
            </a:r>
            <a:r>
              <a:rPr lang="it-IT" dirty="0"/>
              <a:t> </a:t>
            </a:r>
            <a:r>
              <a:rPr lang="it-IT" dirty="0" err="1"/>
              <a:t>axon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B6BFD78-865C-49FC-9A99-DE8C9806E712}"/>
              </a:ext>
            </a:extLst>
          </p:cNvPr>
          <p:cNvSpPr txBox="1"/>
          <p:nvPr/>
        </p:nvSpPr>
        <p:spPr>
          <a:xfrm>
            <a:off x="270220" y="3356992"/>
            <a:ext cx="160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Hodgkin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D9337C8-ED90-4AB9-9F0F-6225B043758D}"/>
              </a:ext>
            </a:extLst>
          </p:cNvPr>
          <p:cNvSpPr txBox="1"/>
          <p:nvPr/>
        </p:nvSpPr>
        <p:spPr>
          <a:xfrm>
            <a:off x="270220" y="6375401"/>
            <a:ext cx="160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Huxley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702C324-6215-4E8D-B1FF-F999CBD96AD7}"/>
              </a:ext>
            </a:extLst>
          </p:cNvPr>
          <p:cNvSpPr txBox="1"/>
          <p:nvPr/>
        </p:nvSpPr>
        <p:spPr>
          <a:xfrm>
            <a:off x="2483768" y="4992157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Hodgkin and Huxley </a:t>
            </a:r>
            <a:r>
              <a:rPr lang="it-IT" dirty="0" err="1"/>
              <a:t>equations</a:t>
            </a:r>
            <a:r>
              <a:rPr lang="it-IT" dirty="0"/>
              <a:t> </a:t>
            </a:r>
            <a:r>
              <a:rPr lang="it-IT" dirty="0" err="1"/>
              <a:t>describing</a:t>
            </a:r>
            <a:r>
              <a:rPr lang="it-IT" dirty="0"/>
              <a:t> single </a:t>
            </a:r>
            <a:r>
              <a:rPr lang="it-IT" dirty="0" err="1"/>
              <a:t>neuron</a:t>
            </a:r>
            <a:r>
              <a:rPr lang="it-IT" dirty="0"/>
              <a:t> dynamics</a:t>
            </a:r>
          </a:p>
        </p:txBody>
      </p:sp>
    </p:spTree>
    <p:extLst>
      <p:ext uri="{BB962C8B-B14F-4D97-AF65-F5344CB8AC3E}">
        <p14:creationId xmlns:p14="http://schemas.microsoft.com/office/powerpoint/2010/main" val="1662483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BC7E-18C8-13F5-9C44-F02511F8F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BAC58C-B3C8-77BB-E679-EECD55337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36" y="13513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should I model neurons?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5C57471-2128-B3D4-9092-4A31D0E49AB8}"/>
              </a:ext>
            </a:extLst>
          </p:cNvPr>
          <p:cNvSpPr/>
          <p:nvPr/>
        </p:nvSpPr>
        <p:spPr>
          <a:xfrm>
            <a:off x="251520" y="980728"/>
            <a:ext cx="87129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2) To win the Nobel prize </a:t>
            </a:r>
            <a:r>
              <a:rPr lang="en-US" sz="4000" dirty="0"/>
              <a:t>IN PHYSICS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76D1A18-69E4-AC5E-B8DB-BD1ADD58B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8" y="1916832"/>
            <a:ext cx="3900689" cy="4824536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4F5FF8A9-D3FA-3277-5231-74F471F44E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700"/>
          <a:stretch/>
        </p:blipFill>
        <p:spPr>
          <a:xfrm>
            <a:off x="3899288" y="1624266"/>
            <a:ext cx="4392488" cy="4178776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9A0B133B-B8A6-0447-746F-925335456F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338" t="54411"/>
          <a:stretch/>
        </p:blipFill>
        <p:spPr>
          <a:xfrm>
            <a:off x="4326107" y="4824350"/>
            <a:ext cx="4605513" cy="1917018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478DCECC-E009-9AB2-58AA-511CAB225F84}"/>
              </a:ext>
            </a:extLst>
          </p:cNvPr>
          <p:cNvSpPr/>
          <p:nvPr/>
        </p:nvSpPr>
        <p:spPr>
          <a:xfrm>
            <a:off x="7092280" y="3933056"/>
            <a:ext cx="1800200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9703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1D40-773C-2811-BC90-08D68B2E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30083B-8EBA-B559-4652-7B4E8D66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36" y="13513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should I model neurons?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6679890-B891-BF55-D79E-724CAF0C55F9}"/>
              </a:ext>
            </a:extLst>
          </p:cNvPr>
          <p:cNvSpPr/>
          <p:nvPr/>
        </p:nvSpPr>
        <p:spPr>
          <a:xfrm>
            <a:off x="251520" y="980728"/>
            <a:ext cx="87129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2) To win the Nobel prize </a:t>
            </a:r>
            <a:r>
              <a:rPr lang="en-US" sz="4000" dirty="0"/>
              <a:t>IN PHYSICS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D4E13E-E4F8-917D-2FC1-7195C40A1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9276"/>
            <a:ext cx="9144000" cy="510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87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8636" y="13513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should I model neurons?</a:t>
            </a:r>
          </a:p>
        </p:txBody>
      </p:sp>
      <p:sp>
        <p:nvSpPr>
          <p:cNvPr id="7" name="Rettangolo 6"/>
          <p:cNvSpPr/>
          <p:nvPr/>
        </p:nvSpPr>
        <p:spPr>
          <a:xfrm>
            <a:off x="251520" y="980728"/>
            <a:ext cx="87129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3) To become the best </a:t>
            </a:r>
            <a:r>
              <a:rPr lang="en-US" sz="2800" dirty="0" err="1"/>
              <a:t>neuroengineer</a:t>
            </a:r>
            <a:r>
              <a:rPr lang="en-US" sz="2800" dirty="0"/>
              <a:t> in the room</a:t>
            </a:r>
          </a:p>
        </p:txBody>
      </p:sp>
      <p:pic>
        <p:nvPicPr>
          <p:cNvPr id="200706" name="Picture 2"/>
          <p:cNvPicPr>
            <a:picLocks noChangeAspect="1" noChangeArrowheads="1"/>
          </p:cNvPicPr>
          <p:nvPr/>
        </p:nvPicPr>
        <p:blipFill>
          <a:blip r:embed="rId2" cstate="print"/>
          <a:srcRect b="34093"/>
          <a:stretch>
            <a:fillRect/>
          </a:stretch>
        </p:blipFill>
        <p:spPr bwMode="auto">
          <a:xfrm>
            <a:off x="2000232" y="1428736"/>
            <a:ext cx="5929354" cy="5258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38065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8636" y="13513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William of Ockham (c. 1287–1347)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29" b="21646"/>
          <a:stretch/>
        </p:blipFill>
        <p:spPr bwMode="auto">
          <a:xfrm>
            <a:off x="35496" y="2636912"/>
            <a:ext cx="9075880" cy="413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tangolo 3"/>
          <p:cNvSpPr/>
          <p:nvPr/>
        </p:nvSpPr>
        <p:spPr>
          <a:xfrm>
            <a:off x="1333076" y="1111442"/>
            <a:ext cx="64807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/>
              <a:t> </a:t>
            </a:r>
            <a:r>
              <a:rPr lang="it-IT" sz="2400" i="1" dirty="0" err="1"/>
              <a:t>entia</a:t>
            </a:r>
            <a:r>
              <a:rPr lang="it-IT" sz="2400" i="1" dirty="0"/>
              <a:t> non </a:t>
            </a:r>
            <a:r>
              <a:rPr lang="it-IT" sz="2400" i="1" dirty="0" err="1"/>
              <a:t>sunt</a:t>
            </a:r>
            <a:r>
              <a:rPr lang="it-IT" sz="2400" i="1" dirty="0"/>
              <a:t> </a:t>
            </a:r>
            <a:r>
              <a:rPr lang="it-IT" sz="2400" i="1" dirty="0" err="1"/>
              <a:t>multiplicanda</a:t>
            </a:r>
            <a:r>
              <a:rPr lang="it-IT" sz="2400" i="1" dirty="0"/>
              <a:t> </a:t>
            </a:r>
            <a:r>
              <a:rPr lang="it-IT" sz="2400" i="1" dirty="0" err="1"/>
              <a:t>praeter</a:t>
            </a:r>
            <a:r>
              <a:rPr lang="it-IT" sz="2400" i="1" dirty="0"/>
              <a:t> </a:t>
            </a:r>
            <a:r>
              <a:rPr lang="it-IT" sz="2400" i="1" dirty="0" err="1"/>
              <a:t>necessitatem</a:t>
            </a:r>
            <a:endParaRPr lang="en-US" sz="2400" i="1" dirty="0"/>
          </a:p>
        </p:txBody>
      </p:sp>
      <p:sp>
        <p:nvSpPr>
          <p:cNvPr id="7" name="Rettangolo 6"/>
          <p:cNvSpPr/>
          <p:nvPr/>
        </p:nvSpPr>
        <p:spPr>
          <a:xfrm>
            <a:off x="251520" y="1628800"/>
            <a:ext cx="87129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800" u="sng" dirty="0"/>
              <a:t> </a:t>
            </a:r>
            <a:r>
              <a:rPr lang="it-IT" sz="2800" u="sng" dirty="0" err="1"/>
              <a:t>among</a:t>
            </a:r>
            <a:r>
              <a:rPr lang="it-IT" sz="2800" u="sng" dirty="0"/>
              <a:t> </a:t>
            </a:r>
            <a:r>
              <a:rPr lang="it-IT" sz="2800" u="sng" dirty="0" err="1"/>
              <a:t>all</a:t>
            </a:r>
            <a:r>
              <a:rPr lang="it-IT" sz="2800" u="sng" dirty="0"/>
              <a:t> the </a:t>
            </a:r>
            <a:r>
              <a:rPr lang="it-IT" sz="2800" u="sng" dirty="0" err="1"/>
              <a:t>models</a:t>
            </a:r>
            <a:r>
              <a:rPr lang="it-IT" sz="2800" u="sng" dirty="0"/>
              <a:t> </a:t>
            </a:r>
            <a:r>
              <a:rPr lang="it-IT" sz="2800" u="sng" dirty="0" err="1"/>
              <a:t>explaining</a:t>
            </a:r>
            <a:r>
              <a:rPr lang="it-IT" sz="2800" u="sng" dirty="0"/>
              <a:t> the </a:t>
            </a:r>
            <a:r>
              <a:rPr lang="it-IT" sz="2800" u="sng" dirty="0" err="1"/>
              <a:t>phenomenon</a:t>
            </a:r>
            <a:r>
              <a:rPr lang="it-IT" sz="2800" u="sng" dirty="0"/>
              <a:t> under </a:t>
            </a:r>
            <a:r>
              <a:rPr lang="it-IT" sz="2800" u="sng" dirty="0" err="1"/>
              <a:t>investigation</a:t>
            </a:r>
            <a:r>
              <a:rPr lang="it-IT" sz="2800" u="sng" dirty="0"/>
              <a:t>, </a:t>
            </a:r>
            <a:r>
              <a:rPr lang="it-IT" sz="2800" u="sng" dirty="0" err="1"/>
              <a:t>always</a:t>
            </a:r>
            <a:r>
              <a:rPr lang="it-IT" sz="2800" u="sng" dirty="0"/>
              <a:t> </a:t>
            </a:r>
            <a:r>
              <a:rPr lang="it-IT" sz="2800" u="sng" dirty="0" err="1"/>
              <a:t>choose</a:t>
            </a:r>
            <a:r>
              <a:rPr lang="it-IT" sz="2800" u="sng" dirty="0"/>
              <a:t> the </a:t>
            </a:r>
            <a:r>
              <a:rPr lang="it-IT" sz="2800" u="sng" dirty="0" err="1"/>
              <a:t>simplest</a:t>
            </a: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335166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78098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simplest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ella 3"/>
          <p:cNvGraphicFramePr>
            <a:graphicFrameLocks noGrp="1"/>
          </p:cNvGraphicFramePr>
          <p:nvPr/>
        </p:nvGraphicFramePr>
        <p:xfrm>
          <a:off x="323528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ttangolo 4"/>
          <p:cNvSpPr/>
          <p:nvPr/>
        </p:nvSpPr>
        <p:spPr>
          <a:xfrm>
            <a:off x="6732240" y="1556792"/>
            <a:ext cx="216024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Each</a:t>
            </a:r>
            <a:r>
              <a:rPr lang="it-IT" sz="2400" i="1" dirty="0"/>
              <a:t> </a:t>
            </a:r>
            <a:r>
              <a:rPr lang="it-IT" sz="2400" i="1" dirty="0" err="1"/>
              <a:t>cell</a:t>
            </a:r>
            <a:r>
              <a:rPr lang="it-IT" sz="2400" i="1" dirty="0"/>
              <a:t> </a:t>
            </a:r>
            <a:r>
              <a:rPr lang="it-IT" sz="2400" i="1" dirty="0" err="1"/>
              <a:t>is</a:t>
            </a:r>
            <a:r>
              <a:rPr lang="it-IT" sz="2400" i="1" dirty="0"/>
              <a:t> a </a:t>
            </a:r>
            <a:r>
              <a:rPr lang="it-IT" sz="2400" i="1" dirty="0" err="1"/>
              <a:t>neuron</a:t>
            </a:r>
            <a:r>
              <a:rPr lang="it-IT" sz="2400" i="1" dirty="0"/>
              <a:t>: </a:t>
            </a:r>
            <a:r>
              <a:rPr lang="it-IT" sz="2400" i="1" dirty="0" err="1"/>
              <a:t>black</a:t>
            </a:r>
            <a:r>
              <a:rPr lang="it-IT" sz="2400" i="1" dirty="0"/>
              <a:t> </a:t>
            </a:r>
            <a:r>
              <a:rPr lang="it-IT" sz="2400" i="1" dirty="0" err="1"/>
              <a:t>active</a:t>
            </a:r>
            <a:r>
              <a:rPr lang="it-IT" sz="2400" i="1" dirty="0"/>
              <a:t>, </a:t>
            </a:r>
            <a:r>
              <a:rPr lang="it-IT" sz="2400" i="1" dirty="0" err="1"/>
              <a:t>white</a:t>
            </a:r>
            <a:r>
              <a:rPr lang="it-IT" sz="2400" i="1" dirty="0"/>
              <a:t> </a:t>
            </a:r>
            <a:r>
              <a:rPr lang="it-IT" sz="2400" i="1" dirty="0" err="1"/>
              <a:t>inactive</a:t>
            </a:r>
            <a:r>
              <a:rPr lang="it-IT" sz="2400" i="1" dirty="0"/>
              <a:t>.</a:t>
            </a:r>
          </a:p>
          <a:p>
            <a:r>
              <a:rPr lang="it-IT" sz="2400" i="1" dirty="0" err="1"/>
              <a:t>Whenever</a:t>
            </a:r>
            <a:r>
              <a:rPr lang="it-IT" sz="2400" i="1" dirty="0"/>
              <a:t> a </a:t>
            </a:r>
            <a:r>
              <a:rPr lang="it-IT" sz="2400" i="1" dirty="0" err="1"/>
              <a:t>cell</a:t>
            </a:r>
            <a:r>
              <a:rPr lang="it-IT" sz="2400" i="1" dirty="0"/>
              <a:t> turns black (from </a:t>
            </a:r>
            <a:r>
              <a:rPr lang="it-IT" sz="2400" i="1" dirty="0" err="1"/>
              <a:t>inactive</a:t>
            </a:r>
            <a:r>
              <a:rPr lang="it-IT" sz="2400" i="1" dirty="0"/>
              <a:t> to </a:t>
            </a:r>
            <a:r>
              <a:rPr lang="it-IT" sz="2400" i="1" dirty="0" err="1"/>
              <a:t>active</a:t>
            </a:r>
            <a:r>
              <a:rPr lang="it-IT" sz="2400" i="1" dirty="0"/>
              <a:t>), triggers on </a:t>
            </a:r>
            <a:r>
              <a:rPr lang="it-IT" sz="2400" i="1" dirty="0" err="1"/>
              <a:t>average</a:t>
            </a:r>
            <a:r>
              <a:rPr lang="it-IT" sz="2400" i="1" dirty="0"/>
              <a:t> N </a:t>
            </a:r>
            <a:r>
              <a:rPr lang="it-IT" sz="2400" i="1" dirty="0" err="1"/>
              <a:t>neighbors</a:t>
            </a:r>
            <a:endParaRPr lang="en-US" sz="2400" i="1" dirty="0"/>
          </a:p>
        </p:txBody>
      </p:sp>
      <p:sp>
        <p:nvSpPr>
          <p:cNvPr id="6" name="Rettangolo 5"/>
          <p:cNvSpPr/>
          <p:nvPr/>
        </p:nvSpPr>
        <p:spPr>
          <a:xfrm>
            <a:off x="323528" y="924362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Observation</a:t>
            </a:r>
            <a:r>
              <a:rPr lang="it-IT" sz="2400" i="1" dirty="0"/>
              <a:t>: </a:t>
            </a:r>
            <a:r>
              <a:rPr lang="it-IT" sz="2400" i="1" dirty="0" err="1"/>
              <a:t>neurons</a:t>
            </a:r>
            <a:r>
              <a:rPr lang="it-IT" sz="2400" i="1" dirty="0"/>
              <a:t> </a:t>
            </a:r>
            <a:r>
              <a:rPr lang="it-IT" sz="2400" i="1" dirty="0" err="1"/>
              <a:t>communicate</a:t>
            </a:r>
            <a:r>
              <a:rPr lang="it-IT" sz="2400" i="1" dirty="0"/>
              <a:t> </a:t>
            </a:r>
            <a:r>
              <a:rPr lang="it-IT" sz="2400" i="1" dirty="0" err="1"/>
              <a:t>throug</a:t>
            </a:r>
            <a:r>
              <a:rPr lang="it-IT" sz="2400" i="1" dirty="0"/>
              <a:t> discrete </a:t>
            </a:r>
            <a:r>
              <a:rPr lang="it-IT" sz="2400" i="1" dirty="0" err="1"/>
              <a:t>events</a:t>
            </a:r>
            <a:r>
              <a:rPr lang="it-IT" sz="2400" i="1" dirty="0"/>
              <a:t>.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759178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78098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model,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ella 3"/>
          <p:cNvGraphicFramePr>
            <a:graphicFrameLocks noGrp="1"/>
          </p:cNvGraphicFramePr>
          <p:nvPr/>
        </p:nvGraphicFramePr>
        <p:xfrm>
          <a:off x="334234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ttangolo 4"/>
          <p:cNvSpPr/>
          <p:nvPr/>
        </p:nvSpPr>
        <p:spPr>
          <a:xfrm>
            <a:off x="6732240" y="1556792"/>
            <a:ext cx="216024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/>
              <a:t>Finite </a:t>
            </a:r>
            <a:r>
              <a:rPr lang="it-IT" sz="2400" i="1" dirty="0" err="1"/>
              <a:t>size</a:t>
            </a:r>
            <a:r>
              <a:rPr lang="it-IT" sz="2400" i="1" dirty="0"/>
              <a:t>, finite </a:t>
            </a:r>
            <a:r>
              <a:rPr lang="it-IT" sz="2400" i="1" dirty="0" err="1"/>
              <a:t>duration</a:t>
            </a:r>
            <a:r>
              <a:rPr lang="it-IT" sz="2400" i="1" dirty="0"/>
              <a:t> </a:t>
            </a:r>
            <a:r>
              <a:rPr lang="it-IT" sz="2400" i="1" dirty="0" err="1"/>
              <a:t>events</a:t>
            </a:r>
            <a:endParaRPr lang="it-IT" sz="2400" i="1" dirty="0"/>
          </a:p>
          <a:p>
            <a:endParaRPr lang="it-IT" sz="2400" i="1" dirty="0"/>
          </a:p>
          <a:p>
            <a:r>
              <a:rPr lang="it-IT" sz="2400" i="1" dirty="0"/>
              <a:t>No </a:t>
            </a:r>
            <a:r>
              <a:rPr lang="it-IT" sz="2400" i="1" dirty="0" err="1"/>
              <a:t>communication</a:t>
            </a:r>
            <a:r>
              <a:rPr lang="it-IT" sz="2400" i="1" dirty="0"/>
              <a:t> </a:t>
            </a:r>
            <a:r>
              <a:rPr lang="it-IT" sz="2400" i="1" dirty="0" err="1"/>
              <a:t>is</a:t>
            </a:r>
            <a:r>
              <a:rPr lang="it-IT" sz="2400" i="1" dirty="0"/>
              <a:t> </a:t>
            </a:r>
            <a:r>
              <a:rPr lang="it-IT" sz="2400" i="1" dirty="0" err="1"/>
              <a:t>possible</a:t>
            </a:r>
            <a:r>
              <a:rPr lang="it-IT" sz="2400" i="1" dirty="0"/>
              <a:t> </a:t>
            </a:r>
            <a:r>
              <a:rPr lang="it-IT" sz="2400" i="1" dirty="0" err="1"/>
              <a:t>between</a:t>
            </a:r>
            <a:r>
              <a:rPr lang="it-IT" sz="2400" i="1" dirty="0"/>
              <a:t> </a:t>
            </a:r>
            <a:r>
              <a:rPr lang="it-IT" sz="2400" i="1" dirty="0" err="1"/>
              <a:t>different</a:t>
            </a:r>
            <a:r>
              <a:rPr lang="it-IT" sz="2400" i="1" dirty="0"/>
              <a:t> </a:t>
            </a:r>
            <a:r>
              <a:rPr lang="it-IT" sz="2400" i="1" dirty="0" err="1"/>
              <a:t>areas</a:t>
            </a:r>
            <a:r>
              <a:rPr lang="it-IT" sz="2400" i="1" dirty="0"/>
              <a:t>.</a:t>
            </a:r>
          </a:p>
          <a:p>
            <a:endParaRPr lang="it-IT" sz="2400" i="1" dirty="0"/>
          </a:p>
          <a:p>
            <a:r>
              <a:rPr lang="it-IT" sz="2400" i="1" dirty="0"/>
              <a:t>Band-</a:t>
            </a:r>
            <a:r>
              <a:rPr lang="it-IT" sz="2400" i="1" dirty="0" err="1"/>
              <a:t>limited</a:t>
            </a:r>
            <a:r>
              <a:rPr lang="it-IT" sz="2400" i="1" dirty="0"/>
              <a:t> </a:t>
            </a:r>
            <a:r>
              <a:rPr lang="it-IT" sz="2400" i="1" dirty="0" err="1"/>
              <a:t>power</a:t>
            </a:r>
            <a:r>
              <a:rPr lang="it-IT" sz="2400" i="1" dirty="0"/>
              <a:t> </a:t>
            </a:r>
            <a:r>
              <a:rPr lang="it-IT" sz="2400" i="1" dirty="0" err="1"/>
              <a:t>spectrum</a:t>
            </a:r>
            <a:endParaRPr lang="en-US" sz="2400" i="1" dirty="0"/>
          </a:p>
        </p:txBody>
      </p:sp>
      <p:sp>
        <p:nvSpPr>
          <p:cNvPr id="6" name="Rettangolo 5"/>
          <p:cNvSpPr/>
          <p:nvPr/>
        </p:nvSpPr>
        <p:spPr>
          <a:xfrm>
            <a:off x="323528" y="924362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Condition</a:t>
            </a:r>
            <a:r>
              <a:rPr lang="it-IT" sz="2400" i="1" dirty="0"/>
              <a:t> 1: N&lt;1 – </a:t>
            </a:r>
            <a:r>
              <a:rPr lang="it-IT" sz="2400" i="1" dirty="0" err="1"/>
              <a:t>Inhibition</a:t>
            </a:r>
            <a:r>
              <a:rPr lang="it-IT" sz="2400" i="1" dirty="0"/>
              <a:t> </a:t>
            </a:r>
            <a:r>
              <a:rPr lang="it-IT" sz="2400" i="1" dirty="0" err="1"/>
              <a:t>dominating</a:t>
            </a:r>
            <a:endParaRPr lang="en-US" sz="2400" i="1" dirty="0"/>
          </a:p>
        </p:txBody>
      </p:sp>
      <p:graphicFrame>
        <p:nvGraphicFramePr>
          <p:cNvPr id="7" name="Tabella 6"/>
          <p:cNvGraphicFramePr>
            <a:graphicFrameLocks noGrp="1"/>
          </p:cNvGraphicFramePr>
          <p:nvPr/>
        </p:nvGraphicFramePr>
        <p:xfrm>
          <a:off x="334234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ella 7"/>
          <p:cNvGraphicFramePr>
            <a:graphicFrameLocks noGrp="1"/>
          </p:cNvGraphicFramePr>
          <p:nvPr/>
        </p:nvGraphicFramePr>
        <p:xfrm>
          <a:off x="334234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483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78098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model,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ella 3"/>
          <p:cNvGraphicFramePr>
            <a:graphicFrameLocks noGrp="1"/>
          </p:cNvGraphicFramePr>
          <p:nvPr/>
        </p:nvGraphicFramePr>
        <p:xfrm>
          <a:off x="324973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ttangolo 4"/>
          <p:cNvSpPr/>
          <p:nvPr/>
        </p:nvSpPr>
        <p:spPr>
          <a:xfrm>
            <a:off x="6732240" y="1412776"/>
            <a:ext cx="216024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Any</a:t>
            </a:r>
            <a:r>
              <a:rPr lang="it-IT" sz="2400" i="1" dirty="0"/>
              <a:t> </a:t>
            </a:r>
            <a:r>
              <a:rPr lang="it-IT" sz="2400" i="1" dirty="0" err="1"/>
              <a:t>stimulation</a:t>
            </a:r>
            <a:r>
              <a:rPr lang="it-IT" sz="2400" i="1" dirty="0"/>
              <a:t> </a:t>
            </a:r>
            <a:r>
              <a:rPr lang="it-IT" sz="2400" i="1" dirty="0" err="1"/>
              <a:t>ends</a:t>
            </a:r>
            <a:r>
              <a:rPr lang="it-IT" sz="2400" i="1" dirty="0"/>
              <a:t> with the </a:t>
            </a:r>
            <a:r>
              <a:rPr lang="it-IT" sz="2400" i="1" dirty="0" err="1"/>
              <a:t>whole</a:t>
            </a:r>
            <a:r>
              <a:rPr lang="it-IT" sz="2400" i="1" dirty="0"/>
              <a:t> network </a:t>
            </a:r>
            <a:r>
              <a:rPr lang="it-IT" sz="2400" i="1" dirty="0" err="1"/>
              <a:t>active</a:t>
            </a:r>
            <a:r>
              <a:rPr lang="it-IT" sz="2400" i="1" dirty="0"/>
              <a:t> (</a:t>
            </a:r>
            <a:r>
              <a:rPr lang="it-IT" sz="2400" i="1" dirty="0" err="1"/>
              <a:t>epilepsy</a:t>
            </a:r>
            <a:r>
              <a:rPr lang="it-IT" sz="2400" i="1" dirty="0"/>
              <a:t>)</a:t>
            </a:r>
          </a:p>
          <a:p>
            <a:endParaRPr lang="it-IT" sz="2400" i="1" dirty="0"/>
          </a:p>
          <a:p>
            <a:r>
              <a:rPr lang="it-IT" sz="2400" i="1" dirty="0" err="1"/>
              <a:t>Again</a:t>
            </a:r>
            <a:r>
              <a:rPr lang="it-IT" sz="2400" i="1" dirty="0"/>
              <a:t> no </a:t>
            </a:r>
            <a:r>
              <a:rPr lang="it-IT" sz="2400" i="1" dirty="0" err="1"/>
              <a:t>communication</a:t>
            </a:r>
            <a:r>
              <a:rPr lang="it-IT" sz="2400" i="1" dirty="0"/>
              <a:t> </a:t>
            </a:r>
            <a:r>
              <a:rPr lang="it-IT" sz="2400" i="1" dirty="0" err="1"/>
              <a:t>is</a:t>
            </a:r>
            <a:r>
              <a:rPr lang="it-IT" sz="2400" i="1" dirty="0"/>
              <a:t> </a:t>
            </a:r>
            <a:r>
              <a:rPr lang="it-IT" sz="2400" i="1" dirty="0" err="1"/>
              <a:t>possible</a:t>
            </a:r>
            <a:r>
              <a:rPr lang="it-IT" sz="2400" i="1" dirty="0"/>
              <a:t> </a:t>
            </a:r>
          </a:p>
          <a:p>
            <a:endParaRPr lang="it-IT" sz="2400" i="1" dirty="0"/>
          </a:p>
          <a:p>
            <a:r>
              <a:rPr lang="it-IT" sz="2400" i="1" dirty="0" err="1"/>
              <a:t>Bimodal</a:t>
            </a:r>
            <a:r>
              <a:rPr lang="it-IT" sz="2400" i="1" dirty="0"/>
              <a:t> </a:t>
            </a:r>
            <a:r>
              <a:rPr lang="it-IT" sz="2400" i="1" dirty="0" err="1"/>
              <a:t>power</a:t>
            </a:r>
            <a:r>
              <a:rPr lang="it-IT" sz="2400" i="1" dirty="0"/>
              <a:t> </a:t>
            </a:r>
            <a:r>
              <a:rPr lang="it-IT" sz="2400" i="1" dirty="0" err="1"/>
              <a:t>spectrum</a:t>
            </a:r>
            <a:r>
              <a:rPr lang="it-IT" sz="2400" i="1" dirty="0"/>
              <a:t> (no </a:t>
            </a:r>
            <a:r>
              <a:rPr lang="it-IT" sz="2400" i="1" dirty="0" err="1"/>
              <a:t>events</a:t>
            </a:r>
            <a:r>
              <a:rPr lang="it-IT" sz="2400" i="1" dirty="0"/>
              <a:t> AUT strong </a:t>
            </a:r>
            <a:r>
              <a:rPr lang="it-IT" sz="2400" i="1" dirty="0" err="1"/>
              <a:t>events</a:t>
            </a:r>
            <a:r>
              <a:rPr lang="it-IT" sz="2400" i="1" dirty="0"/>
              <a:t>)</a:t>
            </a:r>
            <a:endParaRPr lang="en-US" sz="2400" i="1" dirty="0"/>
          </a:p>
        </p:txBody>
      </p:sp>
      <p:sp>
        <p:nvSpPr>
          <p:cNvPr id="6" name="Rettangolo 5"/>
          <p:cNvSpPr/>
          <p:nvPr/>
        </p:nvSpPr>
        <p:spPr>
          <a:xfrm>
            <a:off x="323528" y="924362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Condition</a:t>
            </a:r>
            <a:r>
              <a:rPr lang="it-IT" sz="2400" i="1" dirty="0"/>
              <a:t> 2: N&gt;1 – </a:t>
            </a:r>
            <a:r>
              <a:rPr lang="it-IT" sz="2400" i="1" dirty="0" err="1"/>
              <a:t>Excitation</a:t>
            </a:r>
            <a:r>
              <a:rPr lang="it-IT" sz="2400" i="1" dirty="0"/>
              <a:t> </a:t>
            </a:r>
            <a:r>
              <a:rPr lang="it-IT" sz="2400" i="1" dirty="0" err="1"/>
              <a:t>dominating</a:t>
            </a:r>
            <a:endParaRPr lang="en-US" sz="2400" i="1" dirty="0"/>
          </a:p>
        </p:txBody>
      </p:sp>
      <p:graphicFrame>
        <p:nvGraphicFramePr>
          <p:cNvPr id="7" name="Tabella 6"/>
          <p:cNvGraphicFramePr>
            <a:graphicFrameLocks noGrp="1"/>
          </p:cNvGraphicFramePr>
          <p:nvPr/>
        </p:nvGraphicFramePr>
        <p:xfrm>
          <a:off x="324973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ella 7"/>
          <p:cNvGraphicFramePr>
            <a:graphicFrameLocks noGrp="1"/>
          </p:cNvGraphicFramePr>
          <p:nvPr/>
        </p:nvGraphicFramePr>
        <p:xfrm>
          <a:off x="324973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ella 8"/>
          <p:cNvGraphicFramePr>
            <a:graphicFrameLocks noGrp="1"/>
          </p:cNvGraphicFramePr>
          <p:nvPr/>
        </p:nvGraphicFramePr>
        <p:xfrm>
          <a:off x="324973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Tabella 9"/>
          <p:cNvGraphicFramePr>
            <a:graphicFrameLocks noGrp="1"/>
          </p:cNvGraphicFramePr>
          <p:nvPr/>
        </p:nvGraphicFramePr>
        <p:xfrm>
          <a:off x="324973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98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78098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model,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ella 3"/>
          <p:cNvGraphicFramePr>
            <a:graphicFrameLocks noGrp="1"/>
          </p:cNvGraphicFramePr>
          <p:nvPr/>
        </p:nvGraphicFramePr>
        <p:xfrm>
          <a:off x="324973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ttangolo 4"/>
          <p:cNvSpPr/>
          <p:nvPr/>
        </p:nvSpPr>
        <p:spPr>
          <a:xfrm>
            <a:off x="6817366" y="1365433"/>
            <a:ext cx="216024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Virtually</a:t>
            </a:r>
            <a:r>
              <a:rPr lang="it-IT" sz="2400" i="1" dirty="0"/>
              <a:t> </a:t>
            </a:r>
            <a:r>
              <a:rPr lang="it-IT" sz="2400" i="1" dirty="0" err="1"/>
              <a:t>endless</a:t>
            </a:r>
            <a:r>
              <a:rPr lang="it-IT" sz="2400" i="1" dirty="0"/>
              <a:t> </a:t>
            </a:r>
            <a:r>
              <a:rPr lang="it-IT" sz="2400" i="1" dirty="0" err="1"/>
              <a:t>possible</a:t>
            </a:r>
            <a:r>
              <a:rPr lang="it-IT" sz="2400" i="1" dirty="0"/>
              <a:t> </a:t>
            </a:r>
            <a:r>
              <a:rPr lang="it-IT" sz="2400" i="1" dirty="0" err="1"/>
              <a:t>patterns</a:t>
            </a:r>
            <a:endParaRPr lang="it-IT" sz="2400" i="1" dirty="0"/>
          </a:p>
          <a:p>
            <a:endParaRPr lang="it-IT" sz="2400" i="1" dirty="0"/>
          </a:p>
          <a:p>
            <a:r>
              <a:rPr lang="it-IT" sz="2400" i="1" dirty="0" err="1"/>
              <a:t>Optimal</a:t>
            </a:r>
            <a:r>
              <a:rPr lang="it-IT" sz="2400" i="1" dirty="0"/>
              <a:t> </a:t>
            </a:r>
            <a:r>
              <a:rPr lang="it-IT" sz="2400" i="1" dirty="0" err="1"/>
              <a:t>communication</a:t>
            </a:r>
            <a:endParaRPr lang="it-IT" sz="2400" i="1" dirty="0"/>
          </a:p>
          <a:p>
            <a:endParaRPr lang="it-IT" sz="2400" i="1" dirty="0"/>
          </a:p>
          <a:p>
            <a:r>
              <a:rPr lang="it-IT" sz="2400" i="1" dirty="0" err="1"/>
              <a:t>Power</a:t>
            </a:r>
            <a:r>
              <a:rPr lang="it-IT" sz="2400" i="1" dirty="0"/>
              <a:t> law </a:t>
            </a:r>
            <a:r>
              <a:rPr lang="it-IT" sz="2400" i="1" dirty="0" err="1"/>
              <a:t>power</a:t>
            </a:r>
            <a:r>
              <a:rPr lang="it-IT" sz="2400" i="1" dirty="0"/>
              <a:t> </a:t>
            </a:r>
            <a:r>
              <a:rPr lang="it-IT" sz="2400" i="1" dirty="0" err="1"/>
              <a:t>spectrum</a:t>
            </a:r>
            <a:r>
              <a:rPr lang="it-IT" sz="2400" i="1" dirty="0"/>
              <a:t> (no </a:t>
            </a:r>
            <a:r>
              <a:rPr lang="it-IT" sz="2400" i="1" dirty="0" err="1"/>
              <a:t>characteristic</a:t>
            </a:r>
            <a:r>
              <a:rPr lang="it-IT" sz="2400" i="1" dirty="0"/>
              <a:t> </a:t>
            </a:r>
            <a:r>
              <a:rPr lang="it-IT" sz="2400" i="1" dirty="0" err="1"/>
              <a:t>timescale</a:t>
            </a:r>
            <a:r>
              <a:rPr lang="it-IT" sz="2400" i="1" dirty="0"/>
              <a:t>/</a:t>
            </a:r>
            <a:r>
              <a:rPr lang="it-IT" sz="2400" i="1" dirty="0" err="1"/>
              <a:t>size</a:t>
            </a:r>
            <a:r>
              <a:rPr lang="it-IT" sz="2400" i="1" dirty="0"/>
              <a:t>)</a:t>
            </a:r>
            <a:endParaRPr lang="en-US" sz="2400" i="1" dirty="0"/>
          </a:p>
        </p:txBody>
      </p:sp>
      <p:sp>
        <p:nvSpPr>
          <p:cNvPr id="6" name="Rettangolo 5"/>
          <p:cNvSpPr/>
          <p:nvPr/>
        </p:nvSpPr>
        <p:spPr>
          <a:xfrm>
            <a:off x="323528" y="924362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i="1" dirty="0" err="1"/>
              <a:t>Condition</a:t>
            </a:r>
            <a:r>
              <a:rPr lang="it-IT" sz="2400" i="1" dirty="0"/>
              <a:t> 3: N=1 – </a:t>
            </a:r>
            <a:r>
              <a:rPr lang="it-IT" sz="2400" i="1" dirty="0" err="1"/>
              <a:t>Excitation-Inhibition</a:t>
            </a:r>
            <a:r>
              <a:rPr lang="it-IT" sz="2400" i="1" dirty="0"/>
              <a:t> balance</a:t>
            </a:r>
            <a:endParaRPr lang="en-US" sz="2400" i="1" dirty="0"/>
          </a:p>
        </p:txBody>
      </p:sp>
      <p:graphicFrame>
        <p:nvGraphicFramePr>
          <p:cNvPr id="7" name="Tabella 6"/>
          <p:cNvGraphicFramePr>
            <a:graphicFrameLocks noGrp="1"/>
          </p:cNvGraphicFramePr>
          <p:nvPr/>
        </p:nvGraphicFramePr>
        <p:xfrm>
          <a:off x="323528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ella 10"/>
          <p:cNvGraphicFramePr>
            <a:graphicFrameLocks noGrp="1"/>
          </p:cNvGraphicFramePr>
          <p:nvPr/>
        </p:nvGraphicFramePr>
        <p:xfrm>
          <a:off x="323528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" name="Tabella 11"/>
          <p:cNvGraphicFramePr>
            <a:graphicFrameLocks noGrp="1"/>
          </p:cNvGraphicFramePr>
          <p:nvPr/>
        </p:nvGraphicFramePr>
        <p:xfrm>
          <a:off x="323528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ella 12"/>
          <p:cNvGraphicFramePr>
            <a:graphicFrameLocks noGrp="1"/>
          </p:cNvGraphicFramePr>
          <p:nvPr/>
        </p:nvGraphicFramePr>
        <p:xfrm>
          <a:off x="323528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4" name="Tabella 13"/>
          <p:cNvGraphicFramePr>
            <a:graphicFrameLocks noGrp="1"/>
          </p:cNvGraphicFramePr>
          <p:nvPr/>
        </p:nvGraphicFramePr>
        <p:xfrm>
          <a:off x="323528" y="1556792"/>
          <a:ext cx="6120681" cy="50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3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0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36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time: rate models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AE4B4C3-50AF-4B79-8FC5-F61410C4B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858270"/>
            <a:ext cx="8697144" cy="573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33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time: rate models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429714B-8382-4B99-98C7-AE5E92DA0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865"/>
            <a:ext cx="9144000" cy="424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98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integrate and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neuron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igura a mano libera 3"/>
          <p:cNvSpPr/>
          <p:nvPr/>
        </p:nvSpPr>
        <p:spPr>
          <a:xfrm>
            <a:off x="158643" y="3059652"/>
            <a:ext cx="5874330" cy="3236358"/>
          </a:xfrm>
          <a:custGeom>
            <a:avLst/>
            <a:gdLst>
              <a:gd name="connsiteX0" fmla="*/ 0 w 5624946"/>
              <a:gd name="connsiteY0" fmla="*/ 2355273 h 2889629"/>
              <a:gd name="connsiteX1" fmla="*/ 831273 w 5624946"/>
              <a:gd name="connsiteY1" fmla="*/ 2881746 h 2889629"/>
              <a:gd name="connsiteX2" fmla="*/ 1510146 w 5624946"/>
              <a:gd name="connsiteY2" fmla="*/ 1995055 h 2889629"/>
              <a:gd name="connsiteX3" fmla="*/ 2867891 w 5624946"/>
              <a:gd name="connsiteY3" fmla="*/ 2382982 h 2889629"/>
              <a:gd name="connsiteX4" fmla="*/ 3297382 w 5624946"/>
              <a:gd name="connsiteY4" fmla="*/ 1108364 h 2889629"/>
              <a:gd name="connsiteX5" fmla="*/ 4114800 w 5624946"/>
              <a:gd name="connsiteY5" fmla="*/ 1579418 h 2889629"/>
              <a:gd name="connsiteX6" fmla="*/ 4890655 w 5624946"/>
              <a:gd name="connsiteY6" fmla="*/ 554182 h 2889629"/>
              <a:gd name="connsiteX7" fmla="*/ 5514109 w 5624946"/>
              <a:gd name="connsiteY7" fmla="*/ 83127 h 2889629"/>
              <a:gd name="connsiteX8" fmla="*/ 5624946 w 5624946"/>
              <a:gd name="connsiteY8" fmla="*/ 0 h 2889629"/>
              <a:gd name="connsiteX0" fmla="*/ 5 w 5624951"/>
              <a:gd name="connsiteY0" fmla="*/ 2355273 h 3236358"/>
              <a:gd name="connsiteX1" fmla="*/ 284704 w 5624951"/>
              <a:gd name="connsiteY1" fmla="*/ 3216458 h 3236358"/>
              <a:gd name="connsiteX2" fmla="*/ 831278 w 5624951"/>
              <a:gd name="connsiteY2" fmla="*/ 2881746 h 3236358"/>
              <a:gd name="connsiteX3" fmla="*/ 1510151 w 5624951"/>
              <a:gd name="connsiteY3" fmla="*/ 1995055 h 3236358"/>
              <a:gd name="connsiteX4" fmla="*/ 2867896 w 5624951"/>
              <a:gd name="connsiteY4" fmla="*/ 2382982 h 3236358"/>
              <a:gd name="connsiteX5" fmla="*/ 3297387 w 5624951"/>
              <a:gd name="connsiteY5" fmla="*/ 1108364 h 3236358"/>
              <a:gd name="connsiteX6" fmla="*/ 4114805 w 5624951"/>
              <a:gd name="connsiteY6" fmla="*/ 1579418 h 3236358"/>
              <a:gd name="connsiteX7" fmla="*/ 4890660 w 5624951"/>
              <a:gd name="connsiteY7" fmla="*/ 554182 h 3236358"/>
              <a:gd name="connsiteX8" fmla="*/ 5514114 w 5624951"/>
              <a:gd name="connsiteY8" fmla="*/ 83127 h 3236358"/>
              <a:gd name="connsiteX9" fmla="*/ 5624951 w 5624951"/>
              <a:gd name="connsiteY9" fmla="*/ 0 h 3236358"/>
              <a:gd name="connsiteX0" fmla="*/ 3 w 5694222"/>
              <a:gd name="connsiteY0" fmla="*/ 3505200 h 3505302"/>
              <a:gd name="connsiteX1" fmla="*/ 353975 w 5694222"/>
              <a:gd name="connsiteY1" fmla="*/ 3216458 h 3505302"/>
              <a:gd name="connsiteX2" fmla="*/ 900549 w 5694222"/>
              <a:gd name="connsiteY2" fmla="*/ 2881746 h 3505302"/>
              <a:gd name="connsiteX3" fmla="*/ 1579422 w 5694222"/>
              <a:gd name="connsiteY3" fmla="*/ 1995055 h 3505302"/>
              <a:gd name="connsiteX4" fmla="*/ 2937167 w 5694222"/>
              <a:gd name="connsiteY4" fmla="*/ 2382982 h 3505302"/>
              <a:gd name="connsiteX5" fmla="*/ 3366658 w 5694222"/>
              <a:gd name="connsiteY5" fmla="*/ 1108364 h 3505302"/>
              <a:gd name="connsiteX6" fmla="*/ 4184076 w 5694222"/>
              <a:gd name="connsiteY6" fmla="*/ 1579418 h 3505302"/>
              <a:gd name="connsiteX7" fmla="*/ 4959931 w 5694222"/>
              <a:gd name="connsiteY7" fmla="*/ 554182 h 3505302"/>
              <a:gd name="connsiteX8" fmla="*/ 5583385 w 5694222"/>
              <a:gd name="connsiteY8" fmla="*/ 83127 h 3505302"/>
              <a:gd name="connsiteX9" fmla="*/ 5694222 w 5694222"/>
              <a:gd name="connsiteY9" fmla="*/ 0 h 3505302"/>
              <a:gd name="connsiteX0" fmla="*/ 3 w 5694222"/>
              <a:gd name="connsiteY0" fmla="*/ 3505200 h 3505302"/>
              <a:gd name="connsiteX1" fmla="*/ 353975 w 5694222"/>
              <a:gd name="connsiteY1" fmla="*/ 3216458 h 3505302"/>
              <a:gd name="connsiteX2" fmla="*/ 900549 w 5694222"/>
              <a:gd name="connsiteY2" fmla="*/ 2881746 h 3505302"/>
              <a:gd name="connsiteX3" fmla="*/ 1579422 w 5694222"/>
              <a:gd name="connsiteY3" fmla="*/ 1995055 h 3505302"/>
              <a:gd name="connsiteX4" fmla="*/ 2854040 w 5694222"/>
              <a:gd name="connsiteY4" fmla="*/ 1856510 h 3505302"/>
              <a:gd name="connsiteX5" fmla="*/ 3366658 w 5694222"/>
              <a:gd name="connsiteY5" fmla="*/ 1108364 h 3505302"/>
              <a:gd name="connsiteX6" fmla="*/ 4184076 w 5694222"/>
              <a:gd name="connsiteY6" fmla="*/ 1579418 h 3505302"/>
              <a:gd name="connsiteX7" fmla="*/ 4959931 w 5694222"/>
              <a:gd name="connsiteY7" fmla="*/ 554182 h 3505302"/>
              <a:gd name="connsiteX8" fmla="*/ 5583385 w 5694222"/>
              <a:gd name="connsiteY8" fmla="*/ 83127 h 3505302"/>
              <a:gd name="connsiteX9" fmla="*/ 5694222 w 5694222"/>
              <a:gd name="connsiteY9" fmla="*/ 0 h 3505302"/>
              <a:gd name="connsiteX0" fmla="*/ 3 w 5694222"/>
              <a:gd name="connsiteY0" fmla="*/ 3505200 h 3505302"/>
              <a:gd name="connsiteX1" fmla="*/ 353975 w 5694222"/>
              <a:gd name="connsiteY1" fmla="*/ 3216458 h 3505302"/>
              <a:gd name="connsiteX2" fmla="*/ 900549 w 5694222"/>
              <a:gd name="connsiteY2" fmla="*/ 2881746 h 3505302"/>
              <a:gd name="connsiteX3" fmla="*/ 1579422 w 5694222"/>
              <a:gd name="connsiteY3" fmla="*/ 1995055 h 3505302"/>
              <a:gd name="connsiteX4" fmla="*/ 2854040 w 5694222"/>
              <a:gd name="connsiteY4" fmla="*/ 1856510 h 3505302"/>
              <a:gd name="connsiteX5" fmla="*/ 3366658 w 5694222"/>
              <a:gd name="connsiteY5" fmla="*/ 1108364 h 3505302"/>
              <a:gd name="connsiteX6" fmla="*/ 4281058 w 5694222"/>
              <a:gd name="connsiteY6" fmla="*/ 1039090 h 3505302"/>
              <a:gd name="connsiteX7" fmla="*/ 4959931 w 5694222"/>
              <a:gd name="connsiteY7" fmla="*/ 554182 h 3505302"/>
              <a:gd name="connsiteX8" fmla="*/ 5583385 w 5694222"/>
              <a:gd name="connsiteY8" fmla="*/ 83127 h 3505302"/>
              <a:gd name="connsiteX9" fmla="*/ 5694222 w 5694222"/>
              <a:gd name="connsiteY9" fmla="*/ 0 h 3505302"/>
              <a:gd name="connsiteX0" fmla="*/ 2 w 5874330"/>
              <a:gd name="connsiteY0" fmla="*/ 3214255 h 3236358"/>
              <a:gd name="connsiteX1" fmla="*/ 534083 w 5874330"/>
              <a:gd name="connsiteY1" fmla="*/ 3216458 h 3236358"/>
              <a:gd name="connsiteX2" fmla="*/ 1080657 w 5874330"/>
              <a:gd name="connsiteY2" fmla="*/ 2881746 h 3236358"/>
              <a:gd name="connsiteX3" fmla="*/ 1759530 w 5874330"/>
              <a:gd name="connsiteY3" fmla="*/ 1995055 h 3236358"/>
              <a:gd name="connsiteX4" fmla="*/ 3034148 w 5874330"/>
              <a:gd name="connsiteY4" fmla="*/ 1856510 h 3236358"/>
              <a:gd name="connsiteX5" fmla="*/ 3546766 w 5874330"/>
              <a:gd name="connsiteY5" fmla="*/ 1108364 h 3236358"/>
              <a:gd name="connsiteX6" fmla="*/ 4461166 w 5874330"/>
              <a:gd name="connsiteY6" fmla="*/ 1039090 h 3236358"/>
              <a:gd name="connsiteX7" fmla="*/ 5140039 w 5874330"/>
              <a:gd name="connsiteY7" fmla="*/ 554182 h 3236358"/>
              <a:gd name="connsiteX8" fmla="*/ 5763493 w 5874330"/>
              <a:gd name="connsiteY8" fmla="*/ 83127 h 3236358"/>
              <a:gd name="connsiteX9" fmla="*/ 5874330 w 5874330"/>
              <a:gd name="connsiteY9" fmla="*/ 0 h 323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74330" h="3236358">
                <a:moveTo>
                  <a:pt x="2" y="3214255"/>
                </a:moveTo>
                <a:cubicBezTo>
                  <a:pt x="-1039" y="3221549"/>
                  <a:pt x="395537" y="3128713"/>
                  <a:pt x="534083" y="3216458"/>
                </a:cubicBezTo>
                <a:cubicBezTo>
                  <a:pt x="672629" y="3304204"/>
                  <a:pt x="876416" y="3085313"/>
                  <a:pt x="1080657" y="2881746"/>
                </a:cubicBezTo>
                <a:cubicBezTo>
                  <a:pt x="1284898" y="2678179"/>
                  <a:pt x="1433948" y="2165928"/>
                  <a:pt x="1759530" y="1995055"/>
                </a:cubicBezTo>
                <a:cubicBezTo>
                  <a:pt x="2085112" y="1824182"/>
                  <a:pt x="2736275" y="2004292"/>
                  <a:pt x="3034148" y="1856510"/>
                </a:cubicBezTo>
                <a:cubicBezTo>
                  <a:pt x="3332021" y="1708728"/>
                  <a:pt x="3308930" y="1244601"/>
                  <a:pt x="3546766" y="1108364"/>
                </a:cubicBezTo>
                <a:cubicBezTo>
                  <a:pt x="3784602" y="972127"/>
                  <a:pt x="4195621" y="1131454"/>
                  <a:pt x="4461166" y="1039090"/>
                </a:cubicBezTo>
                <a:cubicBezTo>
                  <a:pt x="4726711" y="946726"/>
                  <a:pt x="4922985" y="713509"/>
                  <a:pt x="5140039" y="554182"/>
                </a:cubicBezTo>
                <a:cubicBezTo>
                  <a:pt x="5357093" y="394855"/>
                  <a:pt x="5763493" y="83127"/>
                  <a:pt x="5763493" y="83127"/>
                </a:cubicBezTo>
                <a:lnTo>
                  <a:pt x="587433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1 5"/>
          <p:cNvCxnSpPr>
            <a:stCxn id="4" idx="9"/>
          </p:cNvCxnSpPr>
          <p:nvPr/>
        </p:nvCxnSpPr>
        <p:spPr>
          <a:xfrm>
            <a:off x="6032973" y="3059652"/>
            <a:ext cx="1" cy="23561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igura a mano libera 8"/>
          <p:cNvSpPr/>
          <p:nvPr/>
        </p:nvSpPr>
        <p:spPr>
          <a:xfrm>
            <a:off x="6060683" y="4220000"/>
            <a:ext cx="2687781" cy="1401285"/>
          </a:xfrm>
          <a:custGeom>
            <a:avLst/>
            <a:gdLst>
              <a:gd name="connsiteX0" fmla="*/ 0 w 2687781"/>
              <a:gd name="connsiteY0" fmla="*/ 1179612 h 1401285"/>
              <a:gd name="connsiteX1" fmla="*/ 928254 w 2687781"/>
              <a:gd name="connsiteY1" fmla="*/ 1976 h 1401285"/>
              <a:gd name="connsiteX2" fmla="*/ 1440872 w 2687781"/>
              <a:gd name="connsiteY2" fmla="*/ 888667 h 1401285"/>
              <a:gd name="connsiteX3" fmla="*/ 1648691 w 2687781"/>
              <a:gd name="connsiteY3" fmla="*/ 459176 h 1401285"/>
              <a:gd name="connsiteX4" fmla="*/ 2493818 w 2687781"/>
              <a:gd name="connsiteY4" fmla="*/ 306776 h 1401285"/>
              <a:gd name="connsiteX5" fmla="*/ 2687781 w 2687781"/>
              <a:gd name="connsiteY5" fmla="*/ 1401285 h 140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7781" h="1401285">
                <a:moveTo>
                  <a:pt x="0" y="1179612"/>
                </a:moveTo>
                <a:cubicBezTo>
                  <a:pt x="344054" y="615039"/>
                  <a:pt x="688109" y="50467"/>
                  <a:pt x="928254" y="1976"/>
                </a:cubicBezTo>
                <a:cubicBezTo>
                  <a:pt x="1168399" y="-46515"/>
                  <a:pt x="1320799" y="812467"/>
                  <a:pt x="1440872" y="888667"/>
                </a:cubicBezTo>
                <a:cubicBezTo>
                  <a:pt x="1560945" y="964867"/>
                  <a:pt x="1473200" y="556158"/>
                  <a:pt x="1648691" y="459176"/>
                </a:cubicBezTo>
                <a:cubicBezTo>
                  <a:pt x="1824182" y="362194"/>
                  <a:pt x="2320636" y="149758"/>
                  <a:pt x="2493818" y="306776"/>
                </a:cubicBezTo>
                <a:cubicBezTo>
                  <a:pt x="2667000" y="463794"/>
                  <a:pt x="2657763" y="1216558"/>
                  <a:pt x="2687781" y="140128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1 11"/>
          <p:cNvCxnSpPr/>
          <p:nvPr/>
        </p:nvCxnSpPr>
        <p:spPr>
          <a:xfrm>
            <a:off x="251520" y="3059651"/>
            <a:ext cx="8712968" cy="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08028" y="2492896"/>
            <a:ext cx="1211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potential</a:t>
            </a:r>
            <a:endParaRPr lang="it-IT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1810296" y="5253198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Membrane</a:t>
            </a:r>
          </a:p>
          <a:p>
            <a:r>
              <a:rPr lang="it-IT" dirty="0" err="1"/>
              <a:t>potential</a:t>
            </a:r>
            <a:endParaRPr lang="it-IT" dirty="0"/>
          </a:p>
        </p:txBody>
      </p:sp>
      <p:cxnSp>
        <p:nvCxnSpPr>
          <p:cNvPr id="16" name="Connettore 1 15"/>
          <p:cNvCxnSpPr/>
          <p:nvPr/>
        </p:nvCxnSpPr>
        <p:spPr>
          <a:xfrm>
            <a:off x="6032974" y="1628800"/>
            <a:ext cx="0" cy="1080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6156176" y="191683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Spike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6156175" y="3429000"/>
            <a:ext cx="124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Reset</a:t>
            </a:r>
          </a:p>
        </p:txBody>
      </p:sp>
      <p:cxnSp>
        <p:nvCxnSpPr>
          <p:cNvPr id="21" name="Connettore 2 20"/>
          <p:cNvCxnSpPr/>
          <p:nvPr/>
        </p:nvCxnSpPr>
        <p:spPr>
          <a:xfrm>
            <a:off x="1907704" y="6165304"/>
            <a:ext cx="4896544" cy="0"/>
          </a:xfrm>
          <a:prstGeom prst="straightConnector1">
            <a:avLst/>
          </a:prstGeom>
          <a:ln w="762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3707904" y="57239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Time</a:t>
            </a:r>
          </a:p>
        </p:txBody>
      </p:sp>
      <p:sp>
        <p:nvSpPr>
          <p:cNvPr id="25" name="CasellaDiTesto 24"/>
          <p:cNvSpPr txBox="1"/>
          <p:nvPr/>
        </p:nvSpPr>
        <p:spPr>
          <a:xfrm>
            <a:off x="158643" y="5106633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3743908" y="3152001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2134332" y="422000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AB15BADD-E8CA-45DA-92BF-FC8053379C47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770711" y="5752964"/>
            <a:ext cx="118447" cy="4123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6D3022E0-E3C6-4E96-B24B-1665890D8977}"/>
              </a:ext>
            </a:extLst>
          </p:cNvPr>
          <p:cNvCxnSpPr/>
          <p:nvPr/>
        </p:nvCxnSpPr>
        <p:spPr>
          <a:xfrm>
            <a:off x="4407689" y="3775066"/>
            <a:ext cx="288032" cy="1755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230B174-80BF-4BBA-9F1F-7564B288D3B3}"/>
              </a:ext>
            </a:extLst>
          </p:cNvPr>
          <p:cNvCxnSpPr/>
          <p:nvPr/>
        </p:nvCxnSpPr>
        <p:spPr>
          <a:xfrm>
            <a:off x="2956264" y="4646754"/>
            <a:ext cx="288032" cy="1755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088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integrate and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neuron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igura a mano libera 3"/>
          <p:cNvSpPr/>
          <p:nvPr/>
        </p:nvSpPr>
        <p:spPr>
          <a:xfrm>
            <a:off x="158643" y="3059652"/>
            <a:ext cx="5874330" cy="3236358"/>
          </a:xfrm>
          <a:custGeom>
            <a:avLst/>
            <a:gdLst>
              <a:gd name="connsiteX0" fmla="*/ 0 w 5624946"/>
              <a:gd name="connsiteY0" fmla="*/ 2355273 h 2889629"/>
              <a:gd name="connsiteX1" fmla="*/ 831273 w 5624946"/>
              <a:gd name="connsiteY1" fmla="*/ 2881746 h 2889629"/>
              <a:gd name="connsiteX2" fmla="*/ 1510146 w 5624946"/>
              <a:gd name="connsiteY2" fmla="*/ 1995055 h 2889629"/>
              <a:gd name="connsiteX3" fmla="*/ 2867891 w 5624946"/>
              <a:gd name="connsiteY3" fmla="*/ 2382982 h 2889629"/>
              <a:gd name="connsiteX4" fmla="*/ 3297382 w 5624946"/>
              <a:gd name="connsiteY4" fmla="*/ 1108364 h 2889629"/>
              <a:gd name="connsiteX5" fmla="*/ 4114800 w 5624946"/>
              <a:gd name="connsiteY5" fmla="*/ 1579418 h 2889629"/>
              <a:gd name="connsiteX6" fmla="*/ 4890655 w 5624946"/>
              <a:gd name="connsiteY6" fmla="*/ 554182 h 2889629"/>
              <a:gd name="connsiteX7" fmla="*/ 5514109 w 5624946"/>
              <a:gd name="connsiteY7" fmla="*/ 83127 h 2889629"/>
              <a:gd name="connsiteX8" fmla="*/ 5624946 w 5624946"/>
              <a:gd name="connsiteY8" fmla="*/ 0 h 2889629"/>
              <a:gd name="connsiteX0" fmla="*/ 5 w 5624951"/>
              <a:gd name="connsiteY0" fmla="*/ 2355273 h 3236358"/>
              <a:gd name="connsiteX1" fmla="*/ 284704 w 5624951"/>
              <a:gd name="connsiteY1" fmla="*/ 3216458 h 3236358"/>
              <a:gd name="connsiteX2" fmla="*/ 831278 w 5624951"/>
              <a:gd name="connsiteY2" fmla="*/ 2881746 h 3236358"/>
              <a:gd name="connsiteX3" fmla="*/ 1510151 w 5624951"/>
              <a:gd name="connsiteY3" fmla="*/ 1995055 h 3236358"/>
              <a:gd name="connsiteX4" fmla="*/ 2867896 w 5624951"/>
              <a:gd name="connsiteY4" fmla="*/ 2382982 h 3236358"/>
              <a:gd name="connsiteX5" fmla="*/ 3297387 w 5624951"/>
              <a:gd name="connsiteY5" fmla="*/ 1108364 h 3236358"/>
              <a:gd name="connsiteX6" fmla="*/ 4114805 w 5624951"/>
              <a:gd name="connsiteY6" fmla="*/ 1579418 h 3236358"/>
              <a:gd name="connsiteX7" fmla="*/ 4890660 w 5624951"/>
              <a:gd name="connsiteY7" fmla="*/ 554182 h 3236358"/>
              <a:gd name="connsiteX8" fmla="*/ 5514114 w 5624951"/>
              <a:gd name="connsiteY8" fmla="*/ 83127 h 3236358"/>
              <a:gd name="connsiteX9" fmla="*/ 5624951 w 5624951"/>
              <a:gd name="connsiteY9" fmla="*/ 0 h 3236358"/>
              <a:gd name="connsiteX0" fmla="*/ 3 w 5694222"/>
              <a:gd name="connsiteY0" fmla="*/ 3505200 h 3505302"/>
              <a:gd name="connsiteX1" fmla="*/ 353975 w 5694222"/>
              <a:gd name="connsiteY1" fmla="*/ 3216458 h 3505302"/>
              <a:gd name="connsiteX2" fmla="*/ 900549 w 5694222"/>
              <a:gd name="connsiteY2" fmla="*/ 2881746 h 3505302"/>
              <a:gd name="connsiteX3" fmla="*/ 1579422 w 5694222"/>
              <a:gd name="connsiteY3" fmla="*/ 1995055 h 3505302"/>
              <a:gd name="connsiteX4" fmla="*/ 2937167 w 5694222"/>
              <a:gd name="connsiteY4" fmla="*/ 2382982 h 3505302"/>
              <a:gd name="connsiteX5" fmla="*/ 3366658 w 5694222"/>
              <a:gd name="connsiteY5" fmla="*/ 1108364 h 3505302"/>
              <a:gd name="connsiteX6" fmla="*/ 4184076 w 5694222"/>
              <a:gd name="connsiteY6" fmla="*/ 1579418 h 3505302"/>
              <a:gd name="connsiteX7" fmla="*/ 4959931 w 5694222"/>
              <a:gd name="connsiteY7" fmla="*/ 554182 h 3505302"/>
              <a:gd name="connsiteX8" fmla="*/ 5583385 w 5694222"/>
              <a:gd name="connsiteY8" fmla="*/ 83127 h 3505302"/>
              <a:gd name="connsiteX9" fmla="*/ 5694222 w 5694222"/>
              <a:gd name="connsiteY9" fmla="*/ 0 h 3505302"/>
              <a:gd name="connsiteX0" fmla="*/ 3 w 5694222"/>
              <a:gd name="connsiteY0" fmla="*/ 3505200 h 3505302"/>
              <a:gd name="connsiteX1" fmla="*/ 353975 w 5694222"/>
              <a:gd name="connsiteY1" fmla="*/ 3216458 h 3505302"/>
              <a:gd name="connsiteX2" fmla="*/ 900549 w 5694222"/>
              <a:gd name="connsiteY2" fmla="*/ 2881746 h 3505302"/>
              <a:gd name="connsiteX3" fmla="*/ 1579422 w 5694222"/>
              <a:gd name="connsiteY3" fmla="*/ 1995055 h 3505302"/>
              <a:gd name="connsiteX4" fmla="*/ 2854040 w 5694222"/>
              <a:gd name="connsiteY4" fmla="*/ 1856510 h 3505302"/>
              <a:gd name="connsiteX5" fmla="*/ 3366658 w 5694222"/>
              <a:gd name="connsiteY5" fmla="*/ 1108364 h 3505302"/>
              <a:gd name="connsiteX6" fmla="*/ 4184076 w 5694222"/>
              <a:gd name="connsiteY6" fmla="*/ 1579418 h 3505302"/>
              <a:gd name="connsiteX7" fmla="*/ 4959931 w 5694222"/>
              <a:gd name="connsiteY7" fmla="*/ 554182 h 3505302"/>
              <a:gd name="connsiteX8" fmla="*/ 5583385 w 5694222"/>
              <a:gd name="connsiteY8" fmla="*/ 83127 h 3505302"/>
              <a:gd name="connsiteX9" fmla="*/ 5694222 w 5694222"/>
              <a:gd name="connsiteY9" fmla="*/ 0 h 3505302"/>
              <a:gd name="connsiteX0" fmla="*/ 3 w 5694222"/>
              <a:gd name="connsiteY0" fmla="*/ 3505200 h 3505302"/>
              <a:gd name="connsiteX1" fmla="*/ 353975 w 5694222"/>
              <a:gd name="connsiteY1" fmla="*/ 3216458 h 3505302"/>
              <a:gd name="connsiteX2" fmla="*/ 900549 w 5694222"/>
              <a:gd name="connsiteY2" fmla="*/ 2881746 h 3505302"/>
              <a:gd name="connsiteX3" fmla="*/ 1579422 w 5694222"/>
              <a:gd name="connsiteY3" fmla="*/ 1995055 h 3505302"/>
              <a:gd name="connsiteX4" fmla="*/ 2854040 w 5694222"/>
              <a:gd name="connsiteY4" fmla="*/ 1856510 h 3505302"/>
              <a:gd name="connsiteX5" fmla="*/ 3366658 w 5694222"/>
              <a:gd name="connsiteY5" fmla="*/ 1108364 h 3505302"/>
              <a:gd name="connsiteX6" fmla="*/ 4281058 w 5694222"/>
              <a:gd name="connsiteY6" fmla="*/ 1039090 h 3505302"/>
              <a:gd name="connsiteX7" fmla="*/ 4959931 w 5694222"/>
              <a:gd name="connsiteY7" fmla="*/ 554182 h 3505302"/>
              <a:gd name="connsiteX8" fmla="*/ 5583385 w 5694222"/>
              <a:gd name="connsiteY8" fmla="*/ 83127 h 3505302"/>
              <a:gd name="connsiteX9" fmla="*/ 5694222 w 5694222"/>
              <a:gd name="connsiteY9" fmla="*/ 0 h 3505302"/>
              <a:gd name="connsiteX0" fmla="*/ 2 w 5874330"/>
              <a:gd name="connsiteY0" fmla="*/ 3214255 h 3236358"/>
              <a:gd name="connsiteX1" fmla="*/ 534083 w 5874330"/>
              <a:gd name="connsiteY1" fmla="*/ 3216458 h 3236358"/>
              <a:gd name="connsiteX2" fmla="*/ 1080657 w 5874330"/>
              <a:gd name="connsiteY2" fmla="*/ 2881746 h 3236358"/>
              <a:gd name="connsiteX3" fmla="*/ 1759530 w 5874330"/>
              <a:gd name="connsiteY3" fmla="*/ 1995055 h 3236358"/>
              <a:gd name="connsiteX4" fmla="*/ 3034148 w 5874330"/>
              <a:gd name="connsiteY4" fmla="*/ 1856510 h 3236358"/>
              <a:gd name="connsiteX5" fmla="*/ 3546766 w 5874330"/>
              <a:gd name="connsiteY5" fmla="*/ 1108364 h 3236358"/>
              <a:gd name="connsiteX6" fmla="*/ 4461166 w 5874330"/>
              <a:gd name="connsiteY6" fmla="*/ 1039090 h 3236358"/>
              <a:gd name="connsiteX7" fmla="*/ 5140039 w 5874330"/>
              <a:gd name="connsiteY7" fmla="*/ 554182 h 3236358"/>
              <a:gd name="connsiteX8" fmla="*/ 5763493 w 5874330"/>
              <a:gd name="connsiteY8" fmla="*/ 83127 h 3236358"/>
              <a:gd name="connsiteX9" fmla="*/ 5874330 w 5874330"/>
              <a:gd name="connsiteY9" fmla="*/ 0 h 323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74330" h="3236358">
                <a:moveTo>
                  <a:pt x="2" y="3214255"/>
                </a:moveTo>
                <a:cubicBezTo>
                  <a:pt x="-1039" y="3221549"/>
                  <a:pt x="395537" y="3128713"/>
                  <a:pt x="534083" y="3216458"/>
                </a:cubicBezTo>
                <a:cubicBezTo>
                  <a:pt x="672629" y="3304204"/>
                  <a:pt x="876416" y="3085313"/>
                  <a:pt x="1080657" y="2881746"/>
                </a:cubicBezTo>
                <a:cubicBezTo>
                  <a:pt x="1284898" y="2678179"/>
                  <a:pt x="1433948" y="2165928"/>
                  <a:pt x="1759530" y="1995055"/>
                </a:cubicBezTo>
                <a:cubicBezTo>
                  <a:pt x="2085112" y="1824182"/>
                  <a:pt x="2736275" y="2004292"/>
                  <a:pt x="3034148" y="1856510"/>
                </a:cubicBezTo>
                <a:cubicBezTo>
                  <a:pt x="3332021" y="1708728"/>
                  <a:pt x="3308930" y="1244601"/>
                  <a:pt x="3546766" y="1108364"/>
                </a:cubicBezTo>
                <a:cubicBezTo>
                  <a:pt x="3784602" y="972127"/>
                  <a:pt x="4195621" y="1131454"/>
                  <a:pt x="4461166" y="1039090"/>
                </a:cubicBezTo>
                <a:cubicBezTo>
                  <a:pt x="4726711" y="946726"/>
                  <a:pt x="4922985" y="713509"/>
                  <a:pt x="5140039" y="554182"/>
                </a:cubicBezTo>
                <a:cubicBezTo>
                  <a:pt x="5357093" y="394855"/>
                  <a:pt x="5763493" y="83127"/>
                  <a:pt x="5763493" y="83127"/>
                </a:cubicBezTo>
                <a:lnTo>
                  <a:pt x="587433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1 5"/>
          <p:cNvCxnSpPr>
            <a:stCxn id="4" idx="9"/>
          </p:cNvCxnSpPr>
          <p:nvPr/>
        </p:nvCxnSpPr>
        <p:spPr>
          <a:xfrm>
            <a:off x="6032973" y="3059652"/>
            <a:ext cx="1" cy="23561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igura a mano libera 8"/>
          <p:cNvSpPr/>
          <p:nvPr/>
        </p:nvSpPr>
        <p:spPr>
          <a:xfrm>
            <a:off x="6060683" y="4220000"/>
            <a:ext cx="2687781" cy="1401285"/>
          </a:xfrm>
          <a:custGeom>
            <a:avLst/>
            <a:gdLst>
              <a:gd name="connsiteX0" fmla="*/ 0 w 2687781"/>
              <a:gd name="connsiteY0" fmla="*/ 1179612 h 1401285"/>
              <a:gd name="connsiteX1" fmla="*/ 928254 w 2687781"/>
              <a:gd name="connsiteY1" fmla="*/ 1976 h 1401285"/>
              <a:gd name="connsiteX2" fmla="*/ 1440872 w 2687781"/>
              <a:gd name="connsiteY2" fmla="*/ 888667 h 1401285"/>
              <a:gd name="connsiteX3" fmla="*/ 1648691 w 2687781"/>
              <a:gd name="connsiteY3" fmla="*/ 459176 h 1401285"/>
              <a:gd name="connsiteX4" fmla="*/ 2493818 w 2687781"/>
              <a:gd name="connsiteY4" fmla="*/ 306776 h 1401285"/>
              <a:gd name="connsiteX5" fmla="*/ 2687781 w 2687781"/>
              <a:gd name="connsiteY5" fmla="*/ 1401285 h 140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7781" h="1401285">
                <a:moveTo>
                  <a:pt x="0" y="1179612"/>
                </a:moveTo>
                <a:cubicBezTo>
                  <a:pt x="344054" y="615039"/>
                  <a:pt x="688109" y="50467"/>
                  <a:pt x="928254" y="1976"/>
                </a:cubicBezTo>
                <a:cubicBezTo>
                  <a:pt x="1168399" y="-46515"/>
                  <a:pt x="1320799" y="812467"/>
                  <a:pt x="1440872" y="888667"/>
                </a:cubicBezTo>
                <a:cubicBezTo>
                  <a:pt x="1560945" y="964867"/>
                  <a:pt x="1473200" y="556158"/>
                  <a:pt x="1648691" y="459176"/>
                </a:cubicBezTo>
                <a:cubicBezTo>
                  <a:pt x="1824182" y="362194"/>
                  <a:pt x="2320636" y="149758"/>
                  <a:pt x="2493818" y="306776"/>
                </a:cubicBezTo>
                <a:cubicBezTo>
                  <a:pt x="2667000" y="463794"/>
                  <a:pt x="2657763" y="1216558"/>
                  <a:pt x="2687781" y="140128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1 11"/>
          <p:cNvCxnSpPr/>
          <p:nvPr/>
        </p:nvCxnSpPr>
        <p:spPr>
          <a:xfrm>
            <a:off x="251520" y="3059651"/>
            <a:ext cx="8712968" cy="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08028" y="2492896"/>
            <a:ext cx="1211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potential</a:t>
            </a:r>
            <a:endParaRPr lang="it-IT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1810296" y="5253198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Membrane</a:t>
            </a:r>
          </a:p>
          <a:p>
            <a:r>
              <a:rPr lang="it-IT" dirty="0" err="1"/>
              <a:t>potential</a:t>
            </a:r>
            <a:endParaRPr lang="it-IT" dirty="0"/>
          </a:p>
        </p:txBody>
      </p:sp>
      <p:cxnSp>
        <p:nvCxnSpPr>
          <p:cNvPr id="16" name="Connettore 1 15"/>
          <p:cNvCxnSpPr/>
          <p:nvPr/>
        </p:nvCxnSpPr>
        <p:spPr>
          <a:xfrm>
            <a:off x="6032974" y="1628800"/>
            <a:ext cx="0" cy="1080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6156176" y="191683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Spike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6156175" y="3429000"/>
            <a:ext cx="124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Reset</a:t>
            </a:r>
          </a:p>
        </p:txBody>
      </p:sp>
      <p:cxnSp>
        <p:nvCxnSpPr>
          <p:cNvPr id="21" name="Connettore 2 20"/>
          <p:cNvCxnSpPr/>
          <p:nvPr/>
        </p:nvCxnSpPr>
        <p:spPr>
          <a:xfrm>
            <a:off x="1907704" y="6165304"/>
            <a:ext cx="4896544" cy="0"/>
          </a:xfrm>
          <a:prstGeom prst="straightConnector1">
            <a:avLst/>
          </a:prstGeom>
          <a:ln w="762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3707904" y="57239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Time</a:t>
            </a:r>
          </a:p>
        </p:txBody>
      </p:sp>
      <p:sp>
        <p:nvSpPr>
          <p:cNvPr id="25" name="CasellaDiTesto 24"/>
          <p:cNvSpPr txBox="1"/>
          <p:nvPr/>
        </p:nvSpPr>
        <p:spPr>
          <a:xfrm>
            <a:off x="158643" y="5106633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3743908" y="3152001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2134332" y="422000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04B29901-0134-4D4B-B836-E84456423E78}"/>
              </a:ext>
            </a:extLst>
          </p:cNvPr>
          <p:cNvSpPr/>
          <p:nvPr/>
        </p:nvSpPr>
        <p:spPr>
          <a:xfrm>
            <a:off x="158642" y="3328133"/>
            <a:ext cx="5665147" cy="270398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 err="1"/>
              <a:t>This</a:t>
            </a:r>
            <a:r>
              <a:rPr lang="it-IT" sz="2400" dirty="0"/>
              <a:t> model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much</a:t>
            </a:r>
            <a:r>
              <a:rPr lang="it-IT" sz="2400" dirty="0"/>
              <a:t> </a:t>
            </a:r>
            <a:r>
              <a:rPr lang="it-IT" sz="2400" dirty="0" err="1"/>
              <a:t>simpler</a:t>
            </a:r>
            <a:r>
              <a:rPr lang="it-IT" sz="2400" dirty="0"/>
              <a:t> </a:t>
            </a:r>
            <a:r>
              <a:rPr lang="it-IT" sz="2400" dirty="0" err="1"/>
              <a:t>than</a:t>
            </a:r>
            <a:r>
              <a:rPr lang="it-IT" sz="2400" dirty="0"/>
              <a:t> HH </a:t>
            </a:r>
            <a:r>
              <a:rPr lang="it-IT" sz="2400" dirty="0" err="1"/>
              <a:t>since</a:t>
            </a:r>
            <a:r>
              <a:rPr lang="it-IT" sz="2400" dirty="0"/>
              <a:t> </a:t>
            </a:r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does</a:t>
            </a:r>
            <a:r>
              <a:rPr lang="it-IT" sz="2400" dirty="0"/>
              <a:t> NOT simulate </a:t>
            </a:r>
            <a:r>
              <a:rPr lang="it-IT" sz="2400" dirty="0" err="1"/>
              <a:t>active</a:t>
            </a:r>
            <a:r>
              <a:rPr lang="it-IT" sz="2400" dirty="0"/>
              <a:t> </a:t>
            </a:r>
            <a:r>
              <a:rPr lang="it-IT" sz="2400" dirty="0" err="1"/>
              <a:t>sodium</a:t>
            </a:r>
            <a:r>
              <a:rPr lang="it-IT" sz="2400" dirty="0"/>
              <a:t> and </a:t>
            </a:r>
            <a:r>
              <a:rPr lang="it-IT" sz="2400" dirty="0" err="1"/>
              <a:t>potassium</a:t>
            </a:r>
            <a:r>
              <a:rPr lang="it-IT" sz="2400" dirty="0"/>
              <a:t> </a:t>
            </a:r>
            <a:r>
              <a:rPr lang="it-IT" sz="2400" dirty="0" err="1"/>
              <a:t>channels</a:t>
            </a:r>
            <a:r>
              <a:rPr lang="it-IT" sz="2400" dirty="0"/>
              <a:t> </a:t>
            </a:r>
            <a:r>
              <a:rPr lang="it-IT" sz="2400" dirty="0" err="1"/>
              <a:t>originating</a:t>
            </a:r>
            <a:r>
              <a:rPr lang="it-IT" sz="2400" dirty="0"/>
              <a:t> the action </a:t>
            </a:r>
            <a:r>
              <a:rPr lang="it-IT" sz="2400" dirty="0" err="1"/>
              <a:t>potential</a:t>
            </a:r>
            <a:r>
              <a:rPr lang="it-IT" sz="2400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565473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inhibitory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inputs </a:t>
            </a:r>
            <a:b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integrate and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neuron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igura a mano libera 3"/>
          <p:cNvSpPr/>
          <p:nvPr/>
        </p:nvSpPr>
        <p:spPr>
          <a:xfrm>
            <a:off x="242928" y="3059652"/>
            <a:ext cx="5790046" cy="3064692"/>
          </a:xfrm>
          <a:custGeom>
            <a:avLst/>
            <a:gdLst>
              <a:gd name="connsiteX0" fmla="*/ 0 w 5624946"/>
              <a:gd name="connsiteY0" fmla="*/ 2355273 h 2889629"/>
              <a:gd name="connsiteX1" fmla="*/ 831273 w 5624946"/>
              <a:gd name="connsiteY1" fmla="*/ 2881746 h 2889629"/>
              <a:gd name="connsiteX2" fmla="*/ 1510146 w 5624946"/>
              <a:gd name="connsiteY2" fmla="*/ 1995055 h 2889629"/>
              <a:gd name="connsiteX3" fmla="*/ 2867891 w 5624946"/>
              <a:gd name="connsiteY3" fmla="*/ 2382982 h 2889629"/>
              <a:gd name="connsiteX4" fmla="*/ 3297382 w 5624946"/>
              <a:gd name="connsiteY4" fmla="*/ 1108364 h 2889629"/>
              <a:gd name="connsiteX5" fmla="*/ 4114800 w 5624946"/>
              <a:gd name="connsiteY5" fmla="*/ 1579418 h 2889629"/>
              <a:gd name="connsiteX6" fmla="*/ 4890655 w 5624946"/>
              <a:gd name="connsiteY6" fmla="*/ 554182 h 2889629"/>
              <a:gd name="connsiteX7" fmla="*/ 5514109 w 5624946"/>
              <a:gd name="connsiteY7" fmla="*/ 83127 h 2889629"/>
              <a:gd name="connsiteX8" fmla="*/ 5624946 w 5624946"/>
              <a:gd name="connsiteY8" fmla="*/ 0 h 2889629"/>
              <a:gd name="connsiteX0" fmla="*/ 0 w 5713846"/>
              <a:gd name="connsiteY0" fmla="*/ 2685473 h 2947626"/>
              <a:gd name="connsiteX1" fmla="*/ 920173 w 5713846"/>
              <a:gd name="connsiteY1" fmla="*/ 2881746 h 2947626"/>
              <a:gd name="connsiteX2" fmla="*/ 1599046 w 5713846"/>
              <a:gd name="connsiteY2" fmla="*/ 1995055 h 2947626"/>
              <a:gd name="connsiteX3" fmla="*/ 2956791 w 5713846"/>
              <a:gd name="connsiteY3" fmla="*/ 2382982 h 2947626"/>
              <a:gd name="connsiteX4" fmla="*/ 3386282 w 5713846"/>
              <a:gd name="connsiteY4" fmla="*/ 1108364 h 2947626"/>
              <a:gd name="connsiteX5" fmla="*/ 4203700 w 5713846"/>
              <a:gd name="connsiteY5" fmla="*/ 1579418 h 2947626"/>
              <a:gd name="connsiteX6" fmla="*/ 4979555 w 5713846"/>
              <a:gd name="connsiteY6" fmla="*/ 554182 h 2947626"/>
              <a:gd name="connsiteX7" fmla="*/ 5603009 w 5713846"/>
              <a:gd name="connsiteY7" fmla="*/ 83127 h 2947626"/>
              <a:gd name="connsiteX8" fmla="*/ 5713846 w 5713846"/>
              <a:gd name="connsiteY8" fmla="*/ 0 h 2947626"/>
              <a:gd name="connsiteX0" fmla="*/ 0 w 5790046"/>
              <a:gd name="connsiteY0" fmla="*/ 2901373 h 3064692"/>
              <a:gd name="connsiteX1" fmla="*/ 996373 w 5790046"/>
              <a:gd name="connsiteY1" fmla="*/ 2881746 h 3064692"/>
              <a:gd name="connsiteX2" fmla="*/ 1675246 w 5790046"/>
              <a:gd name="connsiteY2" fmla="*/ 1995055 h 3064692"/>
              <a:gd name="connsiteX3" fmla="*/ 3032991 w 5790046"/>
              <a:gd name="connsiteY3" fmla="*/ 2382982 h 3064692"/>
              <a:gd name="connsiteX4" fmla="*/ 3462482 w 5790046"/>
              <a:gd name="connsiteY4" fmla="*/ 1108364 h 3064692"/>
              <a:gd name="connsiteX5" fmla="*/ 4279900 w 5790046"/>
              <a:gd name="connsiteY5" fmla="*/ 1579418 h 3064692"/>
              <a:gd name="connsiteX6" fmla="*/ 5055755 w 5790046"/>
              <a:gd name="connsiteY6" fmla="*/ 554182 h 3064692"/>
              <a:gd name="connsiteX7" fmla="*/ 5679209 w 5790046"/>
              <a:gd name="connsiteY7" fmla="*/ 83127 h 3064692"/>
              <a:gd name="connsiteX8" fmla="*/ 5790046 w 5790046"/>
              <a:gd name="connsiteY8" fmla="*/ 0 h 3064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90046" h="3064692">
                <a:moveTo>
                  <a:pt x="0" y="2901373"/>
                </a:moveTo>
                <a:cubicBezTo>
                  <a:pt x="289791" y="3194627"/>
                  <a:pt x="717165" y="3032799"/>
                  <a:pt x="996373" y="2881746"/>
                </a:cubicBezTo>
                <a:cubicBezTo>
                  <a:pt x="1275581" y="2730693"/>
                  <a:pt x="1335810" y="2078182"/>
                  <a:pt x="1675246" y="1995055"/>
                </a:cubicBezTo>
                <a:cubicBezTo>
                  <a:pt x="2014682" y="1911928"/>
                  <a:pt x="2735118" y="2530764"/>
                  <a:pt x="3032991" y="2382982"/>
                </a:cubicBezTo>
                <a:cubicBezTo>
                  <a:pt x="3330864" y="2235200"/>
                  <a:pt x="3254664" y="1242291"/>
                  <a:pt x="3462482" y="1108364"/>
                </a:cubicBezTo>
                <a:cubicBezTo>
                  <a:pt x="3670300" y="974437"/>
                  <a:pt x="4014355" y="1671782"/>
                  <a:pt x="4279900" y="1579418"/>
                </a:cubicBezTo>
                <a:cubicBezTo>
                  <a:pt x="4545445" y="1487054"/>
                  <a:pt x="4822537" y="803564"/>
                  <a:pt x="5055755" y="554182"/>
                </a:cubicBezTo>
                <a:cubicBezTo>
                  <a:pt x="5288973" y="304800"/>
                  <a:pt x="5679209" y="83127"/>
                  <a:pt x="5679209" y="83127"/>
                </a:cubicBezTo>
                <a:lnTo>
                  <a:pt x="5790046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1 5"/>
          <p:cNvCxnSpPr>
            <a:stCxn id="4" idx="8"/>
          </p:cNvCxnSpPr>
          <p:nvPr/>
        </p:nvCxnSpPr>
        <p:spPr>
          <a:xfrm>
            <a:off x="6032974" y="3059652"/>
            <a:ext cx="0" cy="23561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igura a mano libera 8"/>
          <p:cNvSpPr/>
          <p:nvPr/>
        </p:nvSpPr>
        <p:spPr>
          <a:xfrm>
            <a:off x="6060683" y="4220000"/>
            <a:ext cx="2687781" cy="1401285"/>
          </a:xfrm>
          <a:custGeom>
            <a:avLst/>
            <a:gdLst>
              <a:gd name="connsiteX0" fmla="*/ 0 w 2687781"/>
              <a:gd name="connsiteY0" fmla="*/ 1179612 h 1401285"/>
              <a:gd name="connsiteX1" fmla="*/ 928254 w 2687781"/>
              <a:gd name="connsiteY1" fmla="*/ 1976 h 1401285"/>
              <a:gd name="connsiteX2" fmla="*/ 1440872 w 2687781"/>
              <a:gd name="connsiteY2" fmla="*/ 888667 h 1401285"/>
              <a:gd name="connsiteX3" fmla="*/ 1648691 w 2687781"/>
              <a:gd name="connsiteY3" fmla="*/ 459176 h 1401285"/>
              <a:gd name="connsiteX4" fmla="*/ 2493818 w 2687781"/>
              <a:gd name="connsiteY4" fmla="*/ 306776 h 1401285"/>
              <a:gd name="connsiteX5" fmla="*/ 2687781 w 2687781"/>
              <a:gd name="connsiteY5" fmla="*/ 1401285 h 140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7781" h="1401285">
                <a:moveTo>
                  <a:pt x="0" y="1179612"/>
                </a:moveTo>
                <a:cubicBezTo>
                  <a:pt x="344054" y="615039"/>
                  <a:pt x="688109" y="50467"/>
                  <a:pt x="928254" y="1976"/>
                </a:cubicBezTo>
                <a:cubicBezTo>
                  <a:pt x="1168399" y="-46515"/>
                  <a:pt x="1320799" y="812467"/>
                  <a:pt x="1440872" y="888667"/>
                </a:cubicBezTo>
                <a:cubicBezTo>
                  <a:pt x="1560945" y="964867"/>
                  <a:pt x="1473200" y="556158"/>
                  <a:pt x="1648691" y="459176"/>
                </a:cubicBezTo>
                <a:cubicBezTo>
                  <a:pt x="1824182" y="362194"/>
                  <a:pt x="2320636" y="149758"/>
                  <a:pt x="2493818" y="306776"/>
                </a:cubicBezTo>
                <a:cubicBezTo>
                  <a:pt x="2667000" y="463794"/>
                  <a:pt x="2657763" y="1216558"/>
                  <a:pt x="2687781" y="140128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1 11"/>
          <p:cNvCxnSpPr/>
          <p:nvPr/>
        </p:nvCxnSpPr>
        <p:spPr>
          <a:xfrm>
            <a:off x="251520" y="3059651"/>
            <a:ext cx="8712968" cy="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08028" y="2492896"/>
            <a:ext cx="1211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potential</a:t>
            </a:r>
            <a:endParaRPr lang="it-IT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1619672" y="5399111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Membrane</a:t>
            </a:r>
          </a:p>
          <a:p>
            <a:r>
              <a:rPr lang="it-IT" dirty="0" err="1"/>
              <a:t>potential</a:t>
            </a:r>
            <a:endParaRPr lang="it-IT" dirty="0"/>
          </a:p>
        </p:txBody>
      </p:sp>
      <p:cxnSp>
        <p:nvCxnSpPr>
          <p:cNvPr id="16" name="Connettore 1 15"/>
          <p:cNvCxnSpPr/>
          <p:nvPr/>
        </p:nvCxnSpPr>
        <p:spPr>
          <a:xfrm>
            <a:off x="6032974" y="1628800"/>
            <a:ext cx="0" cy="1080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6156176" y="191683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Spike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6156175" y="3429000"/>
            <a:ext cx="124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Reset</a:t>
            </a:r>
          </a:p>
        </p:txBody>
      </p:sp>
      <p:cxnSp>
        <p:nvCxnSpPr>
          <p:cNvPr id="21" name="Connettore 2 20"/>
          <p:cNvCxnSpPr/>
          <p:nvPr/>
        </p:nvCxnSpPr>
        <p:spPr>
          <a:xfrm>
            <a:off x="1907704" y="6165304"/>
            <a:ext cx="4896544" cy="0"/>
          </a:xfrm>
          <a:prstGeom prst="straightConnector1">
            <a:avLst/>
          </a:prstGeom>
          <a:ln w="762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3707904" y="57239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Time</a:t>
            </a:r>
          </a:p>
        </p:txBody>
      </p:sp>
      <p:sp>
        <p:nvSpPr>
          <p:cNvPr id="24" name="CasellaDiTesto 23"/>
          <p:cNvSpPr txBox="1"/>
          <p:nvPr/>
        </p:nvSpPr>
        <p:spPr>
          <a:xfrm>
            <a:off x="1727683" y="4078813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002060"/>
                </a:solidFill>
              </a:rPr>
              <a:t>Inhibitory</a:t>
            </a:r>
            <a:r>
              <a:rPr lang="it-IT" dirty="0">
                <a:solidFill>
                  <a:srgbClr val="002060"/>
                </a:solidFill>
              </a:rPr>
              <a:t> input</a:t>
            </a:r>
          </a:p>
        </p:txBody>
      </p:sp>
      <p:sp>
        <p:nvSpPr>
          <p:cNvPr id="25" name="CasellaDiTesto 24"/>
          <p:cNvSpPr txBox="1"/>
          <p:nvPr/>
        </p:nvSpPr>
        <p:spPr>
          <a:xfrm>
            <a:off x="2951819" y="342900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272336" y="503309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0" name="CasellaDiTesto 19"/>
          <p:cNvSpPr txBox="1"/>
          <p:nvPr/>
        </p:nvSpPr>
        <p:spPr>
          <a:xfrm>
            <a:off x="3769684" y="485109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002060"/>
                </a:solidFill>
              </a:rPr>
              <a:t>Inhibitory</a:t>
            </a:r>
            <a:r>
              <a:rPr lang="it-IT" dirty="0">
                <a:solidFill>
                  <a:srgbClr val="002060"/>
                </a:solidFill>
              </a:rPr>
              <a:t> input</a:t>
            </a:r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4C7E16E4-ECE1-4009-8DBD-3E8A21D0FF77}"/>
              </a:ext>
            </a:extLst>
          </p:cNvPr>
          <p:cNvCxnSpPr>
            <a:cxnSpLocks/>
          </p:cNvCxnSpPr>
          <p:nvPr/>
        </p:nvCxnSpPr>
        <p:spPr>
          <a:xfrm>
            <a:off x="2117173" y="4690886"/>
            <a:ext cx="0" cy="317663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B0BD2447-96CC-486F-9544-0EF0AB642097}"/>
              </a:ext>
            </a:extLst>
          </p:cNvPr>
          <p:cNvCxnSpPr>
            <a:cxnSpLocks/>
          </p:cNvCxnSpPr>
          <p:nvPr/>
        </p:nvCxnSpPr>
        <p:spPr>
          <a:xfrm flipH="1" flipV="1">
            <a:off x="3841691" y="4216406"/>
            <a:ext cx="219821" cy="608383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A08287C0-71BE-4F85-BBB6-A3DF9CED95DB}"/>
              </a:ext>
            </a:extLst>
          </p:cNvPr>
          <p:cNvCxnSpPr>
            <a:cxnSpLocks/>
          </p:cNvCxnSpPr>
          <p:nvPr/>
        </p:nvCxnSpPr>
        <p:spPr>
          <a:xfrm>
            <a:off x="1013850" y="5621285"/>
            <a:ext cx="212183" cy="2643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C99A476D-F04A-4999-A4F9-97ACA229A3EB}"/>
              </a:ext>
            </a:extLst>
          </p:cNvPr>
          <p:cNvCxnSpPr>
            <a:cxnSpLocks/>
          </p:cNvCxnSpPr>
          <p:nvPr/>
        </p:nvCxnSpPr>
        <p:spPr>
          <a:xfrm>
            <a:off x="3275856" y="4088119"/>
            <a:ext cx="0" cy="123923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58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78098"/>
          </a:xfrm>
        </p:spPr>
        <p:txBody>
          <a:bodyPr>
            <a:noAutofit/>
          </a:bodyPr>
          <a:lstStyle/>
          <a:p>
            <a:r>
              <a:rPr lang="it-IT" sz="3200" dirty="0" err="1">
                <a:solidFill>
                  <a:srgbClr val="FF0000"/>
                </a:solidFill>
              </a:rPr>
              <a:t>Introducing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resting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potential</a:t>
            </a:r>
            <a:r>
              <a:rPr lang="it-IT" sz="3200" dirty="0">
                <a:solidFill>
                  <a:srgbClr val="FF0000"/>
                </a:solidFill>
              </a:rPr>
              <a:t>: </a:t>
            </a:r>
            <a:br>
              <a:rPr lang="it-IT" sz="3200" dirty="0">
                <a:solidFill>
                  <a:srgbClr val="FF0000"/>
                </a:solidFill>
              </a:rPr>
            </a:br>
            <a:r>
              <a:rPr lang="it-IT" sz="3200" dirty="0">
                <a:solidFill>
                  <a:srgbClr val="FF0000"/>
                </a:solidFill>
              </a:rPr>
              <a:t>the 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LEAKY</a:t>
            </a:r>
            <a:r>
              <a:rPr lang="it-IT" sz="3200" dirty="0">
                <a:solidFill>
                  <a:srgbClr val="FF0000"/>
                </a:solidFill>
              </a:rPr>
              <a:t> integrate and </a:t>
            </a:r>
            <a:r>
              <a:rPr lang="it-IT" sz="3200" dirty="0" err="1">
                <a:solidFill>
                  <a:srgbClr val="FF0000"/>
                </a:solidFill>
              </a:rPr>
              <a:t>fire</a:t>
            </a:r>
            <a:r>
              <a:rPr lang="it-IT" sz="3200" dirty="0">
                <a:solidFill>
                  <a:srgbClr val="FF0000"/>
                </a:solidFill>
              </a:rPr>
              <a:t> </a:t>
            </a:r>
            <a:r>
              <a:rPr lang="it-IT" sz="3200" dirty="0" err="1">
                <a:solidFill>
                  <a:srgbClr val="FF0000"/>
                </a:solidFill>
              </a:rPr>
              <a:t>neuron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Figura a mano libera 3"/>
          <p:cNvSpPr/>
          <p:nvPr/>
        </p:nvSpPr>
        <p:spPr>
          <a:xfrm>
            <a:off x="255628" y="3059651"/>
            <a:ext cx="5777346" cy="2943033"/>
          </a:xfrm>
          <a:custGeom>
            <a:avLst/>
            <a:gdLst>
              <a:gd name="connsiteX0" fmla="*/ 0 w 5624946"/>
              <a:gd name="connsiteY0" fmla="*/ 2355273 h 2889629"/>
              <a:gd name="connsiteX1" fmla="*/ 831273 w 5624946"/>
              <a:gd name="connsiteY1" fmla="*/ 2881746 h 2889629"/>
              <a:gd name="connsiteX2" fmla="*/ 1510146 w 5624946"/>
              <a:gd name="connsiteY2" fmla="*/ 1995055 h 2889629"/>
              <a:gd name="connsiteX3" fmla="*/ 2867891 w 5624946"/>
              <a:gd name="connsiteY3" fmla="*/ 2382982 h 2889629"/>
              <a:gd name="connsiteX4" fmla="*/ 3297382 w 5624946"/>
              <a:gd name="connsiteY4" fmla="*/ 1108364 h 2889629"/>
              <a:gd name="connsiteX5" fmla="*/ 4114800 w 5624946"/>
              <a:gd name="connsiteY5" fmla="*/ 1579418 h 2889629"/>
              <a:gd name="connsiteX6" fmla="*/ 4890655 w 5624946"/>
              <a:gd name="connsiteY6" fmla="*/ 554182 h 2889629"/>
              <a:gd name="connsiteX7" fmla="*/ 5514109 w 5624946"/>
              <a:gd name="connsiteY7" fmla="*/ 83127 h 2889629"/>
              <a:gd name="connsiteX8" fmla="*/ 5624946 w 5624946"/>
              <a:gd name="connsiteY8" fmla="*/ 0 h 2889629"/>
              <a:gd name="connsiteX0" fmla="*/ 0 w 5777346"/>
              <a:gd name="connsiteY0" fmla="*/ 2672773 h 2943033"/>
              <a:gd name="connsiteX1" fmla="*/ 983673 w 5777346"/>
              <a:gd name="connsiteY1" fmla="*/ 2881746 h 2943033"/>
              <a:gd name="connsiteX2" fmla="*/ 1662546 w 5777346"/>
              <a:gd name="connsiteY2" fmla="*/ 1995055 h 2943033"/>
              <a:gd name="connsiteX3" fmla="*/ 3020291 w 5777346"/>
              <a:gd name="connsiteY3" fmla="*/ 2382982 h 2943033"/>
              <a:gd name="connsiteX4" fmla="*/ 3449782 w 5777346"/>
              <a:gd name="connsiteY4" fmla="*/ 1108364 h 2943033"/>
              <a:gd name="connsiteX5" fmla="*/ 4267200 w 5777346"/>
              <a:gd name="connsiteY5" fmla="*/ 1579418 h 2943033"/>
              <a:gd name="connsiteX6" fmla="*/ 5043055 w 5777346"/>
              <a:gd name="connsiteY6" fmla="*/ 554182 h 2943033"/>
              <a:gd name="connsiteX7" fmla="*/ 5666509 w 5777346"/>
              <a:gd name="connsiteY7" fmla="*/ 83127 h 2943033"/>
              <a:gd name="connsiteX8" fmla="*/ 5777346 w 5777346"/>
              <a:gd name="connsiteY8" fmla="*/ 0 h 2943033"/>
              <a:gd name="connsiteX0" fmla="*/ 0 w 5777346"/>
              <a:gd name="connsiteY0" fmla="*/ 2672773 h 2943033"/>
              <a:gd name="connsiteX1" fmla="*/ 983673 w 5777346"/>
              <a:gd name="connsiteY1" fmla="*/ 2881746 h 2943033"/>
              <a:gd name="connsiteX2" fmla="*/ 1662546 w 5777346"/>
              <a:gd name="connsiteY2" fmla="*/ 1995055 h 2943033"/>
              <a:gd name="connsiteX3" fmla="*/ 3071091 w 5777346"/>
              <a:gd name="connsiteY3" fmla="*/ 2154382 h 2943033"/>
              <a:gd name="connsiteX4" fmla="*/ 3449782 w 5777346"/>
              <a:gd name="connsiteY4" fmla="*/ 1108364 h 2943033"/>
              <a:gd name="connsiteX5" fmla="*/ 4267200 w 5777346"/>
              <a:gd name="connsiteY5" fmla="*/ 1579418 h 2943033"/>
              <a:gd name="connsiteX6" fmla="*/ 5043055 w 5777346"/>
              <a:gd name="connsiteY6" fmla="*/ 554182 h 2943033"/>
              <a:gd name="connsiteX7" fmla="*/ 5666509 w 5777346"/>
              <a:gd name="connsiteY7" fmla="*/ 83127 h 2943033"/>
              <a:gd name="connsiteX8" fmla="*/ 5777346 w 5777346"/>
              <a:gd name="connsiteY8" fmla="*/ 0 h 2943033"/>
              <a:gd name="connsiteX0" fmla="*/ 0 w 5777346"/>
              <a:gd name="connsiteY0" fmla="*/ 2672773 h 2943033"/>
              <a:gd name="connsiteX1" fmla="*/ 983673 w 5777346"/>
              <a:gd name="connsiteY1" fmla="*/ 2881746 h 2943033"/>
              <a:gd name="connsiteX2" fmla="*/ 1662546 w 5777346"/>
              <a:gd name="connsiteY2" fmla="*/ 1995055 h 2943033"/>
              <a:gd name="connsiteX3" fmla="*/ 3071091 w 5777346"/>
              <a:gd name="connsiteY3" fmla="*/ 2154382 h 2943033"/>
              <a:gd name="connsiteX4" fmla="*/ 3449782 w 5777346"/>
              <a:gd name="connsiteY4" fmla="*/ 1108364 h 2943033"/>
              <a:gd name="connsiteX5" fmla="*/ 4279900 w 5777346"/>
              <a:gd name="connsiteY5" fmla="*/ 2049318 h 2943033"/>
              <a:gd name="connsiteX6" fmla="*/ 5043055 w 5777346"/>
              <a:gd name="connsiteY6" fmla="*/ 554182 h 2943033"/>
              <a:gd name="connsiteX7" fmla="*/ 5666509 w 5777346"/>
              <a:gd name="connsiteY7" fmla="*/ 83127 h 2943033"/>
              <a:gd name="connsiteX8" fmla="*/ 5777346 w 5777346"/>
              <a:gd name="connsiteY8" fmla="*/ 0 h 294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7346" h="2943033">
                <a:moveTo>
                  <a:pt x="0" y="2672773"/>
                </a:moveTo>
                <a:cubicBezTo>
                  <a:pt x="289791" y="2966027"/>
                  <a:pt x="706582" y="2994699"/>
                  <a:pt x="983673" y="2881746"/>
                </a:cubicBezTo>
                <a:cubicBezTo>
                  <a:pt x="1260764" y="2768793"/>
                  <a:pt x="1314643" y="2116282"/>
                  <a:pt x="1662546" y="1995055"/>
                </a:cubicBezTo>
                <a:cubicBezTo>
                  <a:pt x="2010449" y="1873828"/>
                  <a:pt x="2773218" y="2302164"/>
                  <a:pt x="3071091" y="2154382"/>
                </a:cubicBezTo>
                <a:cubicBezTo>
                  <a:pt x="3368964" y="2006600"/>
                  <a:pt x="3248314" y="1125875"/>
                  <a:pt x="3449782" y="1108364"/>
                </a:cubicBezTo>
                <a:cubicBezTo>
                  <a:pt x="3651250" y="1090853"/>
                  <a:pt x="4014355" y="2141682"/>
                  <a:pt x="4279900" y="2049318"/>
                </a:cubicBezTo>
                <a:cubicBezTo>
                  <a:pt x="4545445" y="1956954"/>
                  <a:pt x="4811954" y="881880"/>
                  <a:pt x="5043055" y="554182"/>
                </a:cubicBezTo>
                <a:cubicBezTo>
                  <a:pt x="5274156" y="226484"/>
                  <a:pt x="5666509" y="83127"/>
                  <a:pt x="5666509" y="83127"/>
                </a:cubicBezTo>
                <a:lnTo>
                  <a:pt x="5777346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1 5"/>
          <p:cNvCxnSpPr>
            <a:stCxn id="4" idx="8"/>
          </p:cNvCxnSpPr>
          <p:nvPr/>
        </p:nvCxnSpPr>
        <p:spPr>
          <a:xfrm>
            <a:off x="6032974" y="3059651"/>
            <a:ext cx="0" cy="235619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igura a mano libera 8"/>
          <p:cNvSpPr/>
          <p:nvPr/>
        </p:nvSpPr>
        <p:spPr>
          <a:xfrm>
            <a:off x="6060683" y="4220000"/>
            <a:ext cx="2687781" cy="1401285"/>
          </a:xfrm>
          <a:custGeom>
            <a:avLst/>
            <a:gdLst>
              <a:gd name="connsiteX0" fmla="*/ 0 w 2687781"/>
              <a:gd name="connsiteY0" fmla="*/ 1179612 h 1401285"/>
              <a:gd name="connsiteX1" fmla="*/ 928254 w 2687781"/>
              <a:gd name="connsiteY1" fmla="*/ 1976 h 1401285"/>
              <a:gd name="connsiteX2" fmla="*/ 1440872 w 2687781"/>
              <a:gd name="connsiteY2" fmla="*/ 888667 h 1401285"/>
              <a:gd name="connsiteX3" fmla="*/ 1648691 w 2687781"/>
              <a:gd name="connsiteY3" fmla="*/ 459176 h 1401285"/>
              <a:gd name="connsiteX4" fmla="*/ 2493818 w 2687781"/>
              <a:gd name="connsiteY4" fmla="*/ 306776 h 1401285"/>
              <a:gd name="connsiteX5" fmla="*/ 2687781 w 2687781"/>
              <a:gd name="connsiteY5" fmla="*/ 1401285 h 1401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87781" h="1401285">
                <a:moveTo>
                  <a:pt x="0" y="1179612"/>
                </a:moveTo>
                <a:cubicBezTo>
                  <a:pt x="344054" y="615039"/>
                  <a:pt x="688109" y="50467"/>
                  <a:pt x="928254" y="1976"/>
                </a:cubicBezTo>
                <a:cubicBezTo>
                  <a:pt x="1168399" y="-46515"/>
                  <a:pt x="1320799" y="812467"/>
                  <a:pt x="1440872" y="888667"/>
                </a:cubicBezTo>
                <a:cubicBezTo>
                  <a:pt x="1560945" y="964867"/>
                  <a:pt x="1473200" y="556158"/>
                  <a:pt x="1648691" y="459176"/>
                </a:cubicBezTo>
                <a:cubicBezTo>
                  <a:pt x="1824182" y="362194"/>
                  <a:pt x="2320636" y="149758"/>
                  <a:pt x="2493818" y="306776"/>
                </a:cubicBezTo>
                <a:cubicBezTo>
                  <a:pt x="2667000" y="463794"/>
                  <a:pt x="2657763" y="1216558"/>
                  <a:pt x="2687781" y="140128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1 11"/>
          <p:cNvCxnSpPr/>
          <p:nvPr/>
        </p:nvCxnSpPr>
        <p:spPr>
          <a:xfrm>
            <a:off x="251520" y="3059651"/>
            <a:ext cx="8712968" cy="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/>
          <p:cNvSpPr txBox="1"/>
          <p:nvPr/>
        </p:nvSpPr>
        <p:spPr>
          <a:xfrm>
            <a:off x="408028" y="2492896"/>
            <a:ext cx="1211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Threshold</a:t>
            </a:r>
            <a:r>
              <a:rPr lang="it-IT" dirty="0"/>
              <a:t> </a:t>
            </a:r>
            <a:r>
              <a:rPr lang="it-IT" dirty="0" err="1"/>
              <a:t>potential</a:t>
            </a:r>
            <a:endParaRPr lang="it-IT" dirty="0"/>
          </a:p>
        </p:txBody>
      </p:sp>
      <p:sp>
        <p:nvSpPr>
          <p:cNvPr id="14" name="CasellaDiTesto 13"/>
          <p:cNvSpPr txBox="1"/>
          <p:nvPr/>
        </p:nvSpPr>
        <p:spPr>
          <a:xfrm>
            <a:off x="1619672" y="5446965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Membrane</a:t>
            </a:r>
          </a:p>
          <a:p>
            <a:r>
              <a:rPr lang="it-IT" dirty="0" err="1"/>
              <a:t>potential</a:t>
            </a:r>
            <a:endParaRPr lang="it-IT" dirty="0"/>
          </a:p>
        </p:txBody>
      </p:sp>
      <p:cxnSp>
        <p:nvCxnSpPr>
          <p:cNvPr id="16" name="Connettore 1 15"/>
          <p:cNvCxnSpPr/>
          <p:nvPr/>
        </p:nvCxnSpPr>
        <p:spPr>
          <a:xfrm>
            <a:off x="6032974" y="1628800"/>
            <a:ext cx="0" cy="1080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6156176" y="191683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Spike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6156175" y="3429000"/>
            <a:ext cx="124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Reset</a:t>
            </a:r>
          </a:p>
        </p:txBody>
      </p:sp>
      <p:cxnSp>
        <p:nvCxnSpPr>
          <p:cNvPr id="21" name="Connettore 2 20"/>
          <p:cNvCxnSpPr/>
          <p:nvPr/>
        </p:nvCxnSpPr>
        <p:spPr>
          <a:xfrm>
            <a:off x="1907704" y="6165304"/>
            <a:ext cx="4896544" cy="0"/>
          </a:xfrm>
          <a:prstGeom prst="straightConnector1">
            <a:avLst/>
          </a:prstGeom>
          <a:ln w="762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sellaDiTesto 22"/>
          <p:cNvSpPr txBox="1"/>
          <p:nvPr/>
        </p:nvSpPr>
        <p:spPr>
          <a:xfrm>
            <a:off x="3707904" y="57239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Time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3306898" y="3429000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2590800" y="4191000"/>
            <a:ext cx="122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Comes</a:t>
            </a:r>
            <a:r>
              <a:rPr lang="it-IT" dirty="0"/>
              <a:t> back to </a:t>
            </a:r>
            <a:r>
              <a:rPr lang="it-IT" dirty="0" err="1"/>
              <a:t>resting</a:t>
            </a:r>
            <a:endParaRPr lang="it-IT" dirty="0"/>
          </a:p>
        </p:txBody>
      </p:sp>
      <p:sp>
        <p:nvSpPr>
          <p:cNvPr id="20" name="CasellaDiTesto 19"/>
          <p:cNvSpPr txBox="1"/>
          <p:nvPr/>
        </p:nvSpPr>
        <p:spPr>
          <a:xfrm>
            <a:off x="4719464" y="476386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002060"/>
                </a:solidFill>
              </a:rPr>
              <a:t>Inhibitory</a:t>
            </a:r>
            <a:r>
              <a:rPr lang="it-IT" dirty="0">
                <a:solidFill>
                  <a:srgbClr val="002060"/>
                </a:solidFill>
              </a:rPr>
              <a:t> input</a:t>
            </a:r>
          </a:p>
        </p:txBody>
      </p:sp>
      <p:sp>
        <p:nvSpPr>
          <p:cNvPr id="22" name="CasellaDiTesto 21"/>
          <p:cNvSpPr txBox="1"/>
          <p:nvPr/>
        </p:nvSpPr>
        <p:spPr>
          <a:xfrm>
            <a:off x="5176664" y="384946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4" name="CasellaDiTesto 23"/>
          <p:cNvSpPr txBox="1"/>
          <p:nvPr/>
        </p:nvSpPr>
        <p:spPr>
          <a:xfrm>
            <a:off x="1214264" y="4382869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Excitatory</a:t>
            </a:r>
            <a:r>
              <a:rPr lang="it-IT" dirty="0">
                <a:solidFill>
                  <a:srgbClr val="FF0000"/>
                </a:solidFill>
              </a:rPr>
              <a:t> input</a:t>
            </a:r>
          </a:p>
        </p:txBody>
      </p:sp>
      <p:sp>
        <p:nvSpPr>
          <p:cNvPr id="25" name="CasellaDiTesto 24"/>
          <p:cNvSpPr txBox="1"/>
          <p:nvPr/>
        </p:nvSpPr>
        <p:spPr>
          <a:xfrm>
            <a:off x="452264" y="5020270"/>
            <a:ext cx="122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Comes</a:t>
            </a:r>
            <a:r>
              <a:rPr lang="it-IT" dirty="0"/>
              <a:t> back to </a:t>
            </a:r>
            <a:r>
              <a:rPr lang="it-IT" dirty="0" err="1"/>
              <a:t>resting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6711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41770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/>
              <p:nvPr/>
            </p:nvSpPr>
            <p:spPr>
              <a:xfrm>
                <a:off x="214313" y="2217758"/>
                <a:ext cx="8918613" cy="4398942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it-IT" sz="2400" dirty="0"/>
                  <a:t>= </a:t>
                </a:r>
                <a:r>
                  <a:rPr lang="it-IT" sz="2400" dirty="0" err="1"/>
                  <a:t>relaxation</a:t>
                </a:r>
                <a:r>
                  <a:rPr lang="it-IT" sz="2400" dirty="0"/>
                  <a:t> time of membrane </a:t>
                </a:r>
                <a:r>
                  <a:rPr lang="it-IT" sz="2400" dirty="0" err="1"/>
                  <a:t>potential</a:t>
                </a:r>
                <a:r>
                  <a:rPr lang="it-IT" sz="2400" dirty="0"/>
                  <a:t> (</a:t>
                </a:r>
                <a:r>
                  <a:rPr lang="it-IT" sz="2400" dirty="0" err="1"/>
                  <a:t>usually</a:t>
                </a:r>
                <a:r>
                  <a:rPr lang="it-IT" sz="2400" dirty="0"/>
                  <a:t> 20 </a:t>
                </a:r>
                <a:r>
                  <a:rPr lang="it-IT" sz="2400" dirty="0" err="1"/>
                  <a:t>ms</a:t>
                </a:r>
                <a:r>
                  <a:rPr lang="it-IT" sz="2400" dirty="0"/>
                  <a:t> or so, </a:t>
                </a:r>
                <a:r>
                  <a:rPr lang="it-IT" sz="2400" dirty="0" err="1"/>
                  <a:t>depends</a:t>
                </a:r>
                <a:r>
                  <a:rPr lang="it-IT" sz="2400" dirty="0"/>
                  <a:t> on the size of the soma)</a:t>
                </a:r>
              </a:p>
              <a:p>
                <a:pPr algn="ctr"/>
                <a:r>
                  <a:rPr lang="it-IT" sz="2400" dirty="0"/>
                  <a:t>Reset </a:t>
                </a:r>
                <a:r>
                  <a:rPr lang="it-IT" sz="2400" dirty="0" err="1"/>
                  <a:t>potential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set </a:t>
                </a:r>
                <a:r>
                  <a:rPr lang="it-IT" sz="2400" dirty="0" err="1"/>
                  <a:t>at</a:t>
                </a:r>
                <a:r>
                  <a:rPr lang="it-IT" sz="2400" dirty="0"/>
                  <a:t> 0 </a:t>
                </a:r>
                <a:r>
                  <a:rPr lang="it-IT" sz="2400" dirty="0" err="1"/>
                  <a:t>mV</a:t>
                </a:r>
                <a:endParaRPr lang="it-IT" sz="24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indicates</a:t>
                </a:r>
                <a:r>
                  <a:rPr lang="it-IT" sz="2400" dirty="0"/>
                  <a:t> AMPA (</a:t>
                </a:r>
                <a:r>
                  <a:rPr lang="it-IT" sz="2400" dirty="0" err="1"/>
                  <a:t>excitatory</a:t>
                </a:r>
                <a:r>
                  <a:rPr lang="it-IT" sz="2400" dirty="0"/>
                  <a:t>) post-</a:t>
                </a:r>
                <a:r>
                  <a:rPr lang="it-IT" sz="2400" dirty="0" err="1"/>
                  <a:t>synaptic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potentials</a:t>
                </a:r>
                <a:r>
                  <a:rPr lang="it-IT" sz="2400" dirty="0"/>
                  <a:t> (PSP)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indicates</a:t>
                </a:r>
                <a:r>
                  <a:rPr lang="it-IT" sz="2400" dirty="0"/>
                  <a:t> GABA (</a:t>
                </a:r>
                <a:r>
                  <a:rPr lang="it-IT" sz="2400" dirty="0" err="1"/>
                  <a:t>inhibitory</a:t>
                </a:r>
                <a:r>
                  <a:rPr lang="it-IT" sz="2400" dirty="0"/>
                  <a:t>) post-</a:t>
                </a:r>
                <a:r>
                  <a:rPr lang="it-IT" sz="2400" dirty="0" err="1"/>
                  <a:t>synaptic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potentials</a:t>
                </a:r>
                <a:r>
                  <a:rPr lang="it-IT" sz="2400" dirty="0"/>
                  <a:t> (PSP)</a:t>
                </a:r>
              </a:p>
            </p:txBody>
          </p:sp>
        </mc:Choice>
        <mc:Fallback xmlns="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3" y="2217758"/>
                <a:ext cx="8918613" cy="4398942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2689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/>
              <p:nvPr/>
            </p:nvSpPr>
            <p:spPr>
              <a:xfrm>
                <a:off x="5251450" y="1"/>
                <a:ext cx="3881476" cy="6616700"/>
              </a:xfrm>
              <a:prstGeom prst="ellipse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it-IT" sz="2400" i="1" dirty="0">
                  <a:latin typeface="Cambria Math" panose="02040503050406030204" pitchFamily="18" charset="0"/>
                </a:endParaRPr>
              </a:p>
              <a:p>
                <a:pPr algn="ctr"/>
                <a:endParaRPr lang="it-IT" sz="2400" i="1" dirty="0">
                  <a:latin typeface="Cambria Math" panose="02040503050406030204" pitchFamily="18" charset="0"/>
                </a:endParaRPr>
              </a:p>
              <a:p>
                <a:pPr algn="ctr"/>
                <a:endParaRPr lang="it-IT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indicates</a:t>
                </a:r>
                <a:r>
                  <a:rPr lang="it-IT" sz="2400" dirty="0"/>
                  <a:t> rise time of the PSP (1-5 </a:t>
                </a:r>
                <a:r>
                  <a:rPr lang="it-IT" sz="2400" dirty="0" err="1"/>
                  <a:t>ms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usually</a:t>
                </a:r>
                <a:r>
                  <a:rPr lang="it-IT" sz="2400" dirty="0"/>
                  <a:t>) due to </a:t>
                </a:r>
                <a:r>
                  <a:rPr lang="it-IT" sz="2400" dirty="0" err="1"/>
                  <a:t>channel</a:t>
                </a:r>
                <a:r>
                  <a:rPr lang="it-IT" sz="2400" dirty="0"/>
                  <a:t> opening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it-IT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400" dirty="0"/>
                  <a:t>indicates </a:t>
                </a:r>
                <a:r>
                  <a:rPr lang="it-IT" sz="2400" dirty="0" err="1"/>
                  <a:t>decay</a:t>
                </a:r>
                <a:r>
                  <a:rPr lang="it-IT" sz="2400" dirty="0"/>
                  <a:t> time of the PSP (3-10 </a:t>
                </a:r>
                <a:r>
                  <a:rPr lang="it-IT" sz="2400" dirty="0" err="1"/>
                  <a:t>ms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usually</a:t>
                </a:r>
                <a:r>
                  <a:rPr lang="it-IT" sz="2400" dirty="0"/>
                  <a:t>) due to </a:t>
                </a:r>
                <a:r>
                  <a:rPr lang="it-IT" sz="2400" dirty="0" err="1"/>
                  <a:t>channel</a:t>
                </a:r>
                <a:r>
                  <a:rPr lang="it-IT" sz="2400" dirty="0"/>
                  <a:t> closing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𝑠𝑡𝑖𝑚</m:t>
                        </m:r>
                      </m:sup>
                    </m:sSubSup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0 </a:t>
                </a:r>
                <a:r>
                  <a:rPr lang="it-IT" sz="2400" dirty="0" err="1"/>
                  <a:t>except</a:t>
                </a:r>
                <a:r>
                  <a:rPr lang="it-IT" sz="2400" dirty="0"/>
                  <a:t> </a:t>
                </a:r>
                <a:r>
                  <a:rPr lang="it-IT" sz="2400" dirty="0" err="1"/>
                  <a:t>when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neuron</a:t>
                </a:r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receiving</a:t>
                </a:r>
                <a:r>
                  <a:rPr lang="it-IT" sz="2400" dirty="0"/>
                  <a:t> an input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𝑠𝑡𝑖𝑚</m:t>
                        </m:r>
                      </m:sup>
                    </m:sSubSup>
                  </m:oMath>
                </a14:m>
                <a:r>
                  <a:rPr lang="it-IT" sz="2400" dirty="0"/>
                  <a:t> </a:t>
                </a:r>
                <a:r>
                  <a:rPr lang="it-IT" sz="2400" dirty="0" err="1"/>
                  <a:t>is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strength</a:t>
                </a:r>
                <a:r>
                  <a:rPr lang="it-IT" sz="2400" dirty="0"/>
                  <a:t> of the input</a:t>
                </a:r>
              </a:p>
              <a:p>
                <a:pPr algn="ctr"/>
                <a:endParaRPr lang="it-IT" sz="2400" dirty="0"/>
              </a:p>
              <a:p>
                <a:pPr algn="ctr"/>
                <a:endParaRPr lang="it-IT" sz="2400" dirty="0"/>
              </a:p>
              <a:p>
                <a:pPr algn="ctr"/>
                <a:endParaRPr lang="it-IT" sz="2400" dirty="0"/>
              </a:p>
            </p:txBody>
          </p:sp>
        </mc:Choice>
        <mc:Fallback xmlns="">
          <p:sp>
            <p:nvSpPr>
              <p:cNvPr id="2" name="Ovale 1">
                <a:extLst>
                  <a:ext uri="{FF2B5EF4-FFF2-40B4-BE49-F238E27FC236}">
                    <a16:creationId xmlns:a16="http://schemas.microsoft.com/office/drawing/2014/main" id="{9C96A087-4DB7-4D80-AD8F-BA10B099C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450" y="1"/>
                <a:ext cx="3881476" cy="66167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2499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Leaky integrate-and-fire neuron 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285750" y="4429125"/>
            <a:ext cx="6429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If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571500" y="5002213"/>
            <a:ext cx="5713413" cy="191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12725" indent="-212725"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212725" algn="l"/>
                <a:tab pos="669925" algn="l"/>
                <a:tab pos="1127125" algn="l"/>
                <a:tab pos="1584325" algn="l"/>
                <a:tab pos="2041525" algn="l"/>
                <a:tab pos="2498725" algn="l"/>
                <a:tab pos="2955925" algn="l"/>
                <a:tab pos="3413125" algn="l"/>
                <a:tab pos="3870325" algn="l"/>
                <a:tab pos="4327525" algn="l"/>
                <a:tab pos="4784725" algn="l"/>
                <a:tab pos="5241925" algn="l"/>
                <a:tab pos="5699125" algn="l"/>
                <a:tab pos="6156325" algn="l"/>
                <a:tab pos="6613525" algn="l"/>
                <a:tab pos="7070725" algn="l"/>
                <a:tab pos="7527925" algn="l"/>
                <a:tab pos="7985125" algn="l"/>
                <a:tab pos="8442325" algn="l"/>
                <a:tab pos="8899525" algn="l"/>
                <a:tab pos="935672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a spike is emitted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Vk drops to Vres </a:t>
            </a:r>
          </a:p>
          <a:p>
            <a:pPr eaLnBrk="1">
              <a:lnSpc>
                <a:spcPct val="100000"/>
              </a:lnSpc>
              <a:buFont typeface="Arial" charset="0"/>
              <a:buChar char="•"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the neuron can not fire for a time </a:t>
            </a:r>
            <a:r>
              <a:rPr lang="en-US" altLang="en-US" sz="2400" i="1">
                <a:solidFill>
                  <a:srgbClr val="000000"/>
                </a:solidFill>
                <a:latin typeface="Symbol" charset="2"/>
              </a:rPr>
              <a:t></a:t>
            </a: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ref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 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71438" y="1214438"/>
            <a:ext cx="231775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Subthreshold:</a:t>
            </a: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214313" y="6286500"/>
            <a:ext cx="86423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alibri" charset="0"/>
              </a:rPr>
              <a:t>Other possibilities: NMDA synapses</a:t>
            </a:r>
          </a:p>
        </p:txBody>
      </p:sp>
      <p:sp>
        <p:nvSpPr>
          <p:cNvPr id="40967" name="Text Box 6"/>
          <p:cNvSpPr txBox="1">
            <a:spLocks noChangeArrowheads="1"/>
          </p:cNvSpPr>
          <p:nvPr/>
        </p:nvSpPr>
        <p:spPr bwMode="auto">
          <a:xfrm>
            <a:off x="107950" y="2071688"/>
            <a:ext cx="296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Synaptic dynamics:</a:t>
            </a:r>
          </a:p>
        </p:txBody>
      </p:sp>
      <p:sp>
        <p:nvSpPr>
          <p:cNvPr id="40968" name="Text Box 7"/>
          <p:cNvSpPr txBox="1">
            <a:spLocks noChangeArrowheads="1"/>
          </p:cNvSpPr>
          <p:nvPr/>
        </p:nvSpPr>
        <p:spPr bwMode="auto">
          <a:xfrm>
            <a:off x="6000750" y="928670"/>
            <a:ext cx="3143250" cy="928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Only Excitatory and Inhibitory 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dirty="0">
                <a:solidFill>
                  <a:srgbClr val="000000"/>
                </a:solidFill>
              </a:rPr>
              <a:t>synapses</a:t>
            </a:r>
          </a:p>
        </p:txBody>
      </p:sp>
      <p:pic>
        <p:nvPicPr>
          <p:cNvPr id="4096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00250"/>
            <a:ext cx="3910012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70" name="Text Box 9"/>
          <p:cNvSpPr txBox="1">
            <a:spLocks noChangeArrowheads="1"/>
          </p:cNvSpPr>
          <p:nvPr/>
        </p:nvSpPr>
        <p:spPr bwMode="auto">
          <a:xfrm>
            <a:off x="5643563" y="5143500"/>
            <a:ext cx="35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S</a:t>
            </a:r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786438" y="4071938"/>
            <a:ext cx="49847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r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7215188" y="4071938"/>
            <a:ext cx="498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b="1">
                <a:solidFill>
                  <a:srgbClr val="1F497D"/>
                </a:solidFill>
                <a:latin typeface="Symbol" charset="2"/>
              </a:rPr>
              <a:t></a:t>
            </a:r>
            <a:r>
              <a:rPr lang="en-US" altLang="en-US" sz="2400" b="1">
                <a:solidFill>
                  <a:srgbClr val="1F497D"/>
                </a:solidFill>
              </a:rPr>
              <a:t>d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6286500" y="2286000"/>
            <a:ext cx="498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b="1">
                <a:solidFill>
                  <a:srgbClr val="1F497D"/>
                </a:solidFill>
              </a:rPr>
              <a:t>J</a:t>
            </a:r>
          </a:p>
        </p:txBody>
      </p:sp>
      <p:pic>
        <p:nvPicPr>
          <p:cNvPr id="40974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00" y="1219200"/>
            <a:ext cx="403701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5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1765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6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35280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77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41600"/>
            <a:ext cx="51435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9C96A087-4DB7-4D80-AD8F-BA10B099C053}"/>
              </a:ext>
            </a:extLst>
          </p:cNvPr>
          <p:cNvSpPr/>
          <p:nvPr/>
        </p:nvSpPr>
        <p:spPr>
          <a:xfrm>
            <a:off x="507962" y="1297690"/>
            <a:ext cx="3881476" cy="439124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r>
              <a:rPr lang="it-IT" sz="2400" dirty="0"/>
              <a:t>The </a:t>
            </a:r>
            <a:r>
              <a:rPr lang="it-IT" sz="2400" dirty="0" err="1"/>
              <a:t>solution</a:t>
            </a:r>
            <a:r>
              <a:rPr lang="it-IT" sz="2400" dirty="0"/>
              <a:t> of the </a:t>
            </a:r>
            <a:r>
              <a:rPr lang="it-IT" sz="2400" dirty="0" err="1"/>
              <a:t>coupled</a:t>
            </a:r>
            <a:r>
              <a:rPr lang="it-IT" sz="2400" dirty="0"/>
              <a:t> </a:t>
            </a:r>
            <a:r>
              <a:rPr lang="it-IT" sz="2400" dirty="0" err="1"/>
              <a:t>differential</a:t>
            </a:r>
            <a:r>
              <a:rPr lang="it-IT" sz="2400" dirty="0"/>
              <a:t> </a:t>
            </a:r>
            <a:r>
              <a:rPr lang="it-IT" sz="2400" dirty="0" err="1"/>
              <a:t>equation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a </a:t>
            </a:r>
            <a:r>
              <a:rPr lang="it-IT" sz="2400" dirty="0" err="1"/>
              <a:t>difference</a:t>
            </a:r>
            <a:r>
              <a:rPr lang="it-IT" sz="2400" dirty="0"/>
              <a:t> of </a:t>
            </a:r>
            <a:r>
              <a:rPr lang="it-IT" sz="2400" dirty="0" err="1"/>
              <a:t>exponential</a:t>
            </a:r>
            <a:r>
              <a:rPr lang="it-IT" sz="2400" dirty="0"/>
              <a:t> following the </a:t>
            </a:r>
            <a:r>
              <a:rPr lang="it-IT" sz="2400" dirty="0" err="1"/>
              <a:t>onset</a:t>
            </a:r>
            <a:r>
              <a:rPr lang="it-IT" sz="2400" dirty="0"/>
              <a:t> of </a:t>
            </a:r>
            <a:r>
              <a:rPr lang="it-IT" sz="2400" dirty="0" err="1"/>
              <a:t>each</a:t>
            </a:r>
            <a:r>
              <a:rPr lang="it-IT" sz="2400" dirty="0"/>
              <a:t> </a:t>
            </a:r>
            <a:r>
              <a:rPr lang="it-IT" sz="2400" dirty="0" err="1"/>
              <a:t>stimulus</a:t>
            </a:r>
            <a:r>
              <a:rPr lang="it-IT" sz="2400" dirty="0"/>
              <a:t>, with </a:t>
            </a:r>
            <a:r>
              <a:rPr lang="it-IT" sz="2400" dirty="0" err="1"/>
              <a:t>amplitude</a:t>
            </a:r>
            <a:r>
              <a:rPr lang="it-IT" sz="2400" dirty="0"/>
              <a:t> J.</a:t>
            </a:r>
          </a:p>
          <a:p>
            <a:pPr algn="ctr"/>
            <a:endParaRPr lang="it-IT" sz="2400" dirty="0"/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1219949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2686"/>
            <a:ext cx="9144000" cy="686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2686"/>
            <a:ext cx="9144000" cy="686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5523232D-DB03-42C4-A1D6-98EF2C9A5B36}"/>
              </a:ext>
            </a:extLst>
          </p:cNvPr>
          <p:cNvSpPr/>
          <p:nvPr/>
        </p:nvSpPr>
        <p:spPr>
          <a:xfrm>
            <a:off x="755576" y="3933056"/>
            <a:ext cx="8064896" cy="191288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/>
              <a:t>Adaptation: the input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constant</a:t>
            </a:r>
            <a:r>
              <a:rPr lang="it-IT" sz="2400" dirty="0"/>
              <a:t> </a:t>
            </a:r>
            <a:r>
              <a:rPr lang="it-IT" sz="2400" dirty="0" err="1"/>
              <a:t>but</a:t>
            </a:r>
            <a:r>
              <a:rPr lang="it-IT" sz="2400" dirty="0"/>
              <a:t> the inter-spike </a:t>
            </a:r>
            <a:r>
              <a:rPr lang="it-IT" sz="2400" dirty="0" err="1"/>
              <a:t>interval</a:t>
            </a:r>
            <a:r>
              <a:rPr lang="it-IT" sz="2400" dirty="0"/>
              <a:t> </a:t>
            </a:r>
            <a:r>
              <a:rPr lang="it-IT" sz="2400" dirty="0" err="1"/>
              <a:t>increases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201255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3502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-24"/>
            <a:ext cx="8929718" cy="6846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5"/>
            <a:ext cx="9143999" cy="6860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-24"/>
            <a:ext cx="9151210" cy="6858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916" y="-24"/>
            <a:ext cx="8998678" cy="6751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3999" cy="6809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571604" y="1785926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Conductance</a:t>
            </a:r>
            <a:r>
              <a:rPr lang="it-IT" dirty="0"/>
              <a:t> </a:t>
            </a:r>
            <a:r>
              <a:rPr lang="it-IT" dirty="0" err="1"/>
              <a:t>based</a:t>
            </a:r>
            <a:endParaRPr lang="it-IT" dirty="0"/>
          </a:p>
        </p:txBody>
      </p:sp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001156" cy="2332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4867286" cy="116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3786190"/>
            <a:ext cx="723265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857760"/>
            <a:ext cx="37623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14612" y="5643578"/>
            <a:ext cx="61722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485779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571604" y="1785926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Conductance</a:t>
            </a:r>
            <a:r>
              <a:rPr lang="it-IT" dirty="0"/>
              <a:t> </a:t>
            </a:r>
            <a:r>
              <a:rPr lang="it-IT" dirty="0" err="1"/>
              <a:t>based</a:t>
            </a:r>
            <a:endParaRPr lang="it-IT" dirty="0"/>
          </a:p>
        </p:txBody>
      </p:sp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001156" cy="2332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4867286" cy="116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3786190"/>
            <a:ext cx="723265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857760"/>
            <a:ext cx="37623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14612" y="5643578"/>
            <a:ext cx="61722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554E1D94-6E2A-4600-BA32-63732C6CC9A8}"/>
              </a:ext>
            </a:extLst>
          </p:cNvPr>
          <p:cNvSpPr txBox="1"/>
          <p:nvPr/>
        </p:nvSpPr>
        <p:spPr>
          <a:xfrm>
            <a:off x="2931160" y="1304453"/>
            <a:ext cx="5958408" cy="4154984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REVERSAL POTENTIAL (from Wikipedia)</a:t>
            </a:r>
            <a:r>
              <a:rPr lang="en-US" sz="4000" dirty="0">
                <a:latin typeface="Bodoni MT Condensed" panose="02070606080606020203" pitchFamily="18" charset="0"/>
              </a:rPr>
              <a:t> </a:t>
            </a:r>
            <a:r>
              <a:rPr lang="en-US" sz="2800" dirty="0">
                <a:latin typeface="Bodoni MT Condensed" panose="02070606080606020203" pitchFamily="18" charset="0"/>
              </a:rPr>
              <a:t>In a </a:t>
            </a:r>
            <a:r>
              <a:rPr lang="en-US" sz="2800" dirty="0">
                <a:latin typeface="Bodoni MT Condensed" panose="02070606080606020203" pitchFamily="18" charset="0"/>
                <a:hlinkClick r:id="rId7" tooltip="Biological membrane"/>
              </a:rPr>
              <a:t>biological membrane</a:t>
            </a:r>
            <a:r>
              <a:rPr lang="en-US" sz="2800" dirty="0">
                <a:latin typeface="Bodoni MT Condensed" panose="02070606080606020203" pitchFamily="18" charset="0"/>
              </a:rPr>
              <a:t>, the </a:t>
            </a:r>
            <a:r>
              <a:rPr lang="en-US" sz="2800" b="1" dirty="0">
                <a:latin typeface="Bodoni MT Condensed" panose="02070606080606020203" pitchFamily="18" charset="0"/>
              </a:rPr>
              <a:t>reversal potential</a:t>
            </a:r>
            <a:r>
              <a:rPr lang="en-US" sz="2800" dirty="0">
                <a:latin typeface="Bodoni MT Condensed" panose="02070606080606020203" pitchFamily="18" charset="0"/>
              </a:rPr>
              <a:t> (also known as the </a:t>
            </a:r>
            <a:r>
              <a:rPr lang="en-US" sz="2800" b="1" dirty="0">
                <a:latin typeface="Bodoni MT Condensed" panose="02070606080606020203" pitchFamily="18" charset="0"/>
              </a:rPr>
              <a:t>Nernst potential</a:t>
            </a:r>
            <a:r>
              <a:rPr lang="en-US" sz="2800" dirty="0">
                <a:latin typeface="Bodoni MT Condensed" panose="02070606080606020203" pitchFamily="18" charset="0"/>
              </a:rPr>
              <a:t>) of an </a:t>
            </a:r>
            <a:r>
              <a:rPr lang="en-US" sz="2800" dirty="0">
                <a:latin typeface="Bodoni MT Condensed" panose="02070606080606020203" pitchFamily="18" charset="0"/>
                <a:hlinkClick r:id="rId8" tooltip="Ion"/>
              </a:rPr>
              <a:t>ion</a:t>
            </a:r>
            <a:r>
              <a:rPr lang="en-US" sz="2800" dirty="0">
                <a:latin typeface="Bodoni MT Condensed" panose="02070606080606020203" pitchFamily="18" charset="0"/>
              </a:rPr>
              <a:t> is the </a:t>
            </a:r>
            <a:r>
              <a:rPr lang="en-US" sz="2800" dirty="0">
                <a:latin typeface="Bodoni MT Condensed" panose="02070606080606020203" pitchFamily="18" charset="0"/>
                <a:hlinkClick r:id="rId9" tooltip="Membrane potential"/>
              </a:rPr>
              <a:t>membrane potential</a:t>
            </a:r>
            <a:r>
              <a:rPr lang="en-US" sz="2800" dirty="0">
                <a:latin typeface="Bodoni MT Condensed" panose="02070606080606020203" pitchFamily="18" charset="0"/>
              </a:rPr>
              <a:t> at which there is no net (overall) flow of that particular ion from one side of the membrane to the other. In the case of </a:t>
            </a:r>
            <a:r>
              <a:rPr lang="en-US" sz="2800" dirty="0">
                <a:latin typeface="Bodoni MT Condensed" panose="02070606080606020203" pitchFamily="18" charset="0"/>
                <a:hlinkClick r:id="rId10" tooltip="Post-synaptic"/>
              </a:rPr>
              <a:t>post-synaptic</a:t>
            </a:r>
            <a:r>
              <a:rPr lang="en-US" sz="2800" dirty="0">
                <a:latin typeface="Bodoni MT Condensed" panose="02070606080606020203" pitchFamily="18" charset="0"/>
              </a:rPr>
              <a:t> </a:t>
            </a:r>
            <a:r>
              <a:rPr lang="en-US" sz="2800" dirty="0">
                <a:latin typeface="Bodoni MT Condensed" panose="02070606080606020203" pitchFamily="18" charset="0"/>
                <a:hlinkClick r:id="rId11" tooltip="Neuron"/>
              </a:rPr>
              <a:t>neurons</a:t>
            </a:r>
            <a:r>
              <a:rPr lang="en-US" sz="2800" dirty="0">
                <a:latin typeface="Bodoni MT Condensed" panose="02070606080606020203" pitchFamily="18" charset="0"/>
              </a:rPr>
              <a:t>, the reversal potential is the membrane potential at which a given </a:t>
            </a:r>
            <a:r>
              <a:rPr lang="en-US" sz="2800" dirty="0">
                <a:latin typeface="Bodoni MT Condensed" panose="02070606080606020203" pitchFamily="18" charset="0"/>
                <a:hlinkClick r:id="rId12" tooltip="Neurotransmitter"/>
              </a:rPr>
              <a:t>neurotransmitter</a:t>
            </a:r>
            <a:r>
              <a:rPr lang="en-US" sz="2800" dirty="0">
                <a:latin typeface="Bodoni MT Condensed" panose="02070606080606020203" pitchFamily="18" charset="0"/>
              </a:rPr>
              <a:t> causes no net current flow of ions through that neurotransmitter </a:t>
            </a:r>
            <a:r>
              <a:rPr lang="en-US" sz="2800" dirty="0">
                <a:latin typeface="Bodoni MT Condensed" panose="02070606080606020203" pitchFamily="18" charset="0"/>
                <a:hlinkClick r:id="rId13" tooltip="Receptor (biochemistry)"/>
              </a:rPr>
              <a:t>receptor's</a:t>
            </a:r>
            <a:r>
              <a:rPr lang="en-US" sz="2800" dirty="0">
                <a:latin typeface="Bodoni MT Condensed" panose="02070606080606020203" pitchFamily="18" charset="0"/>
              </a:rPr>
              <a:t> </a:t>
            </a:r>
            <a:r>
              <a:rPr lang="en-US" sz="2800" dirty="0">
                <a:latin typeface="Bodoni MT Condensed" panose="02070606080606020203" pitchFamily="18" charset="0"/>
                <a:hlinkClick r:id="rId14" tooltip="Ion channel"/>
              </a:rPr>
              <a:t>ion channel</a:t>
            </a:r>
            <a:endParaRPr lang="it-IT" dirty="0">
              <a:latin typeface="Bodoni MT Condensed" panose="02070606080606020203" pitchFamily="18" charset="0"/>
            </a:endParaRP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81949749-1524-4357-8DD3-0745E14760BD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910364" y="5459437"/>
            <a:ext cx="2046012" cy="41783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1641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571604" y="1785926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Conductance</a:t>
            </a:r>
            <a:r>
              <a:rPr lang="it-IT" dirty="0"/>
              <a:t> </a:t>
            </a:r>
            <a:r>
              <a:rPr lang="it-IT" dirty="0" err="1"/>
              <a:t>based</a:t>
            </a:r>
            <a:endParaRPr lang="it-IT" dirty="0"/>
          </a:p>
        </p:txBody>
      </p:sp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001156" cy="2332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4867286" cy="116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3786190"/>
            <a:ext cx="723265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857760"/>
            <a:ext cx="37623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14612" y="5643578"/>
            <a:ext cx="61722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8C0C0FCE-AEE2-4A50-A067-0B1AD8C5F0A7}"/>
              </a:ext>
            </a:extLst>
          </p:cNvPr>
          <p:cNvSpPr/>
          <p:nvPr/>
        </p:nvSpPr>
        <p:spPr>
          <a:xfrm>
            <a:off x="4071934" y="1252332"/>
            <a:ext cx="4425453" cy="439124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r>
              <a:rPr lang="it-IT" sz="2400" i="1" dirty="0"/>
              <a:t>Key Idea: </a:t>
            </a:r>
          </a:p>
          <a:p>
            <a:pPr algn="ctr"/>
            <a:endParaRPr lang="it-IT" sz="2400" i="1" dirty="0"/>
          </a:p>
          <a:p>
            <a:pPr algn="ctr"/>
            <a:r>
              <a:rPr lang="it-IT" sz="2400" i="1" dirty="0"/>
              <a:t>in CURRENT_BASED models the PSP </a:t>
            </a:r>
            <a:r>
              <a:rPr lang="it-IT" sz="2400" i="1" dirty="0" err="1"/>
              <a:t>does</a:t>
            </a:r>
            <a:r>
              <a:rPr lang="it-IT" sz="2400" i="1" dirty="0"/>
              <a:t> NOT </a:t>
            </a:r>
            <a:r>
              <a:rPr lang="it-IT" sz="2400" i="1" dirty="0" err="1"/>
              <a:t>depend</a:t>
            </a:r>
            <a:r>
              <a:rPr lang="it-IT" sz="2400" i="1" dirty="0"/>
              <a:t> on V(t)</a:t>
            </a:r>
          </a:p>
          <a:p>
            <a:pPr algn="ctr"/>
            <a:endParaRPr lang="it-IT" sz="2400" i="1" dirty="0"/>
          </a:p>
          <a:p>
            <a:pPr algn="ctr"/>
            <a:r>
              <a:rPr lang="it-IT" sz="2400" i="1" dirty="0"/>
              <a:t>in CONDUCTANCE_BASED models the PSP DOES  </a:t>
            </a:r>
            <a:r>
              <a:rPr lang="it-IT" sz="2400" i="1" dirty="0" err="1"/>
              <a:t>depend</a:t>
            </a:r>
            <a:r>
              <a:rPr lang="it-IT" sz="2400" i="1" dirty="0"/>
              <a:t> on V(t)</a:t>
            </a:r>
            <a:endParaRPr lang="it-IT" sz="2400" dirty="0"/>
          </a:p>
          <a:p>
            <a:pPr algn="ctr"/>
            <a:endParaRPr lang="it-IT" sz="2400" dirty="0"/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3581218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6643702" cy="1721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928802"/>
            <a:ext cx="8969263" cy="2035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168773"/>
            <a:ext cx="2554233" cy="2689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4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43174" y="4643446"/>
            <a:ext cx="6406033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778991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6643702" cy="1721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41111"/>
            <a:ext cx="4860032" cy="5116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D9D73CBC-3F87-451D-85E0-0639F75F3377}"/>
              </a:ext>
            </a:extLst>
          </p:cNvPr>
          <p:cNvSpPr/>
          <p:nvPr/>
        </p:nvSpPr>
        <p:spPr>
          <a:xfrm>
            <a:off x="4932040" y="404664"/>
            <a:ext cx="3960440" cy="633670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dirty="0"/>
          </a:p>
          <a:p>
            <a:pPr algn="ctr"/>
            <a:r>
              <a:rPr lang="it-IT" sz="2400" dirty="0"/>
              <a:t>in CURRENT_BASED models V(t) can co </a:t>
            </a:r>
            <a:r>
              <a:rPr lang="it-IT" sz="2400" dirty="0" err="1"/>
              <a:t>arbitrarily</a:t>
            </a:r>
            <a:r>
              <a:rPr lang="it-IT" sz="2400" dirty="0"/>
              <a:t> low </a:t>
            </a:r>
            <a:r>
              <a:rPr lang="it-IT" sz="2400" dirty="0" err="1"/>
              <a:t>if</a:t>
            </a:r>
            <a:r>
              <a:rPr lang="it-IT" sz="2400" dirty="0"/>
              <a:t> </a:t>
            </a:r>
            <a:r>
              <a:rPr lang="it-IT" sz="2400" dirty="0" err="1"/>
              <a:t>inhibition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dominant</a:t>
            </a:r>
            <a:r>
              <a:rPr lang="it-IT" sz="2400" dirty="0"/>
              <a:t> (like </a:t>
            </a:r>
            <a:r>
              <a:rPr lang="it-IT" sz="2400" dirty="0" err="1"/>
              <a:t>here</a:t>
            </a:r>
            <a:r>
              <a:rPr lang="it-IT" sz="2400" dirty="0"/>
              <a:t>)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does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happen</a:t>
            </a:r>
            <a:r>
              <a:rPr lang="it-IT" sz="2400" dirty="0"/>
              <a:t> in CONDUCTANCE BASED models, 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dirty="0" err="1"/>
              <a:t>inhibitory</a:t>
            </a:r>
            <a:r>
              <a:rPr lang="it-IT" sz="2400" dirty="0"/>
              <a:t> </a:t>
            </a:r>
            <a:r>
              <a:rPr lang="it-IT" sz="2400" dirty="0" err="1"/>
              <a:t>PSP’s</a:t>
            </a:r>
            <a:r>
              <a:rPr lang="it-IT" sz="2400" dirty="0"/>
              <a:t> </a:t>
            </a:r>
            <a:r>
              <a:rPr lang="it-IT" sz="2400" dirty="0" err="1"/>
              <a:t>amplitude</a:t>
            </a:r>
            <a:r>
              <a:rPr lang="it-IT" sz="2400" dirty="0"/>
              <a:t> </a:t>
            </a:r>
            <a:r>
              <a:rPr lang="it-IT" sz="2400" dirty="0" err="1"/>
              <a:t>decreases</a:t>
            </a:r>
            <a:r>
              <a:rPr lang="it-IT" sz="2400" dirty="0"/>
              <a:t> for low V(t) </a:t>
            </a:r>
          </a:p>
          <a:p>
            <a:pPr algn="ctr"/>
            <a:endParaRPr lang="it-IT" sz="2400" dirty="0"/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3383652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6643702" cy="1721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4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472" y="3861048"/>
            <a:ext cx="8911736" cy="278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3D633455-71DF-4161-91B3-4EA893A0277D}"/>
              </a:ext>
            </a:extLst>
          </p:cNvPr>
          <p:cNvSpPr/>
          <p:nvPr/>
        </p:nvSpPr>
        <p:spPr>
          <a:xfrm>
            <a:off x="94793" y="404664"/>
            <a:ext cx="8797687" cy="338437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sz="2400" i="1" dirty="0">
              <a:latin typeface="Cambria Math" panose="02040503050406030204" pitchFamily="18" charset="0"/>
            </a:endParaRP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Firing</a:t>
            </a:r>
            <a:r>
              <a:rPr lang="it-IT" sz="2400" dirty="0"/>
              <a:t> rate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similar</a:t>
            </a:r>
            <a:r>
              <a:rPr lang="it-IT" sz="2400" dirty="0"/>
              <a:t> in the </a:t>
            </a:r>
            <a:r>
              <a:rPr lang="it-IT" sz="2400" dirty="0" err="1"/>
              <a:t>two</a:t>
            </a:r>
            <a:r>
              <a:rPr lang="it-IT" sz="2400" dirty="0"/>
              <a:t> models</a:t>
            </a:r>
          </a:p>
          <a:p>
            <a:pPr algn="ctr"/>
            <a:r>
              <a:rPr lang="it-IT" sz="2400" dirty="0" err="1"/>
              <a:t>but</a:t>
            </a:r>
            <a:endParaRPr lang="it-IT" sz="2400" dirty="0"/>
          </a:p>
          <a:p>
            <a:pPr algn="ctr"/>
            <a:r>
              <a:rPr lang="it-IT" sz="2400" dirty="0"/>
              <a:t>The </a:t>
            </a:r>
            <a:r>
              <a:rPr lang="it-IT" sz="2400" dirty="0" err="1"/>
              <a:t>coefficient</a:t>
            </a:r>
            <a:r>
              <a:rPr lang="it-IT" sz="2400" dirty="0"/>
              <a:t> of </a:t>
            </a:r>
            <a:r>
              <a:rPr lang="it-IT" sz="2400" dirty="0" err="1"/>
              <a:t>variation</a:t>
            </a:r>
            <a:r>
              <a:rPr lang="it-IT" sz="2400" dirty="0"/>
              <a:t> (CV)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much</a:t>
            </a:r>
            <a:r>
              <a:rPr lang="it-IT" sz="2400" dirty="0"/>
              <a:t> </a:t>
            </a:r>
            <a:r>
              <a:rPr lang="it-IT" sz="2400" dirty="0" err="1"/>
              <a:t>larger</a:t>
            </a:r>
            <a:r>
              <a:rPr lang="it-IT" sz="2400" dirty="0"/>
              <a:t> in CURRENT_BASED models – </a:t>
            </a:r>
            <a:r>
              <a:rPr lang="it-IT" sz="2400" dirty="0" err="1"/>
              <a:t>while</a:t>
            </a:r>
            <a:r>
              <a:rPr lang="it-IT" sz="2400" dirty="0"/>
              <a:t> for CONDUCTANCE_BASED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always</a:t>
            </a:r>
            <a:r>
              <a:rPr lang="it-IT" sz="2400" dirty="0"/>
              <a:t> 1 (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dirty="0" err="1"/>
              <a:t>observed</a:t>
            </a:r>
            <a:r>
              <a:rPr lang="it-IT" sz="2400" dirty="0"/>
              <a:t> </a:t>
            </a:r>
            <a:r>
              <a:rPr lang="it-IT" sz="2400" dirty="0" err="1"/>
              <a:t>experimentally</a:t>
            </a:r>
            <a:r>
              <a:rPr lang="it-IT" sz="2400" dirty="0"/>
              <a:t>).  </a:t>
            </a:r>
          </a:p>
          <a:p>
            <a:pPr algn="ctr"/>
            <a:endParaRPr lang="it-IT" sz="2400" dirty="0"/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8016522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3312"/>
            <a:ext cx="9144000" cy="683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106941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3312"/>
            <a:ext cx="9144000" cy="683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3EA4C0C5-818D-49D6-AE74-EC0514D87128}"/>
              </a:ext>
            </a:extLst>
          </p:cNvPr>
          <p:cNvSpPr/>
          <p:nvPr/>
        </p:nvSpPr>
        <p:spPr>
          <a:xfrm>
            <a:off x="3563888" y="2634291"/>
            <a:ext cx="4752528" cy="421976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/>
              <a:t>Note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now</a:t>
            </a:r>
            <a:r>
              <a:rPr lang="it-IT" sz="2400" dirty="0"/>
              <a:t> </a:t>
            </a:r>
            <a:r>
              <a:rPr lang="it-IT" sz="2400" dirty="0" err="1"/>
              <a:t>we</a:t>
            </a:r>
            <a:r>
              <a:rPr lang="it-IT" sz="2400" dirty="0"/>
              <a:t> </a:t>
            </a:r>
            <a:r>
              <a:rPr lang="it-IT" sz="2400" dirty="0" err="1"/>
              <a:t>have</a:t>
            </a:r>
            <a:r>
              <a:rPr lang="it-IT" sz="2400" dirty="0"/>
              <a:t> </a:t>
            </a:r>
            <a:r>
              <a:rPr lang="it-IT" sz="2400" dirty="0" err="1"/>
              <a:t>two</a:t>
            </a:r>
            <a:r>
              <a:rPr lang="it-IT" sz="2400" dirty="0"/>
              <a:t> </a:t>
            </a:r>
            <a:r>
              <a:rPr lang="it-IT" sz="2400" dirty="0" err="1"/>
              <a:t>thresholds</a:t>
            </a:r>
            <a:r>
              <a:rPr lang="it-IT" sz="2400" dirty="0"/>
              <a:t>: one for </a:t>
            </a:r>
            <a:r>
              <a:rPr lang="it-IT" sz="2400" dirty="0" err="1"/>
              <a:t>triggering</a:t>
            </a:r>
            <a:r>
              <a:rPr lang="it-IT" sz="2400" dirty="0"/>
              <a:t> the </a:t>
            </a:r>
            <a:r>
              <a:rPr lang="it-IT" sz="2400" dirty="0" err="1"/>
              <a:t>exponential</a:t>
            </a:r>
            <a:r>
              <a:rPr lang="it-IT" sz="2400" dirty="0"/>
              <a:t> rise  (</a:t>
            </a:r>
            <a:r>
              <a:rPr lang="it-IT" sz="2400" dirty="0" err="1"/>
              <a:t>V_t</a:t>
            </a:r>
            <a:r>
              <a:rPr lang="it-IT" sz="2400" dirty="0"/>
              <a:t> in the </a:t>
            </a:r>
            <a:r>
              <a:rPr lang="it-IT" sz="2400" dirty="0" err="1"/>
              <a:t>equation</a:t>
            </a:r>
            <a:r>
              <a:rPr lang="it-IT" sz="2400" dirty="0"/>
              <a:t> in the </a:t>
            </a:r>
            <a:r>
              <a:rPr lang="it-IT" sz="2400" dirty="0" err="1"/>
              <a:t>left</a:t>
            </a:r>
            <a:r>
              <a:rPr lang="it-IT" sz="2400" dirty="0"/>
              <a:t>) and a second one (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explicited</a:t>
            </a:r>
            <a:r>
              <a:rPr lang="it-IT" sz="2400" dirty="0"/>
              <a:t> </a:t>
            </a:r>
            <a:r>
              <a:rPr lang="it-IT" sz="2400" dirty="0" err="1"/>
              <a:t>here</a:t>
            </a:r>
            <a:r>
              <a:rPr lang="it-IT" sz="2400" dirty="0"/>
              <a:t>) to </a:t>
            </a:r>
            <a:r>
              <a:rPr lang="it-IT" sz="2400" dirty="0" err="1"/>
              <a:t>cut</a:t>
            </a:r>
            <a:r>
              <a:rPr lang="it-IT" sz="2400" dirty="0"/>
              <a:t> the </a:t>
            </a:r>
            <a:r>
              <a:rPr lang="it-IT" sz="2400" dirty="0" err="1"/>
              <a:t>acton</a:t>
            </a:r>
            <a:r>
              <a:rPr lang="it-IT" sz="2400" dirty="0"/>
              <a:t> </a:t>
            </a:r>
            <a:r>
              <a:rPr lang="it-IT" sz="2400" dirty="0" err="1"/>
              <a:t>potential</a:t>
            </a:r>
            <a:r>
              <a:rPr lang="it-IT" sz="2400" dirty="0"/>
              <a:t> </a:t>
            </a:r>
            <a:r>
              <a:rPr lang="it-IT" sz="2400" dirty="0" err="1"/>
              <a:t>at</a:t>
            </a:r>
            <a:r>
              <a:rPr lang="it-IT" sz="2400" dirty="0"/>
              <a:t> 30 </a:t>
            </a:r>
            <a:r>
              <a:rPr lang="it-IT" sz="2400" dirty="0" err="1"/>
              <a:t>mV</a:t>
            </a:r>
            <a:r>
              <a:rPr lang="it-IT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70567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Adaptive exponential integrate-and-fire neuron </a:t>
            </a: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851805"/>
            <a:ext cx="6519878" cy="2077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2" y="2857496"/>
            <a:ext cx="8729673" cy="1123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776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022495"/>
            <a:ext cx="9144000" cy="276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14359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Adaptive exponential integrate-and-fire neuron </a:t>
            </a: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785794"/>
            <a:ext cx="6519878" cy="2077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56" y="2857496"/>
            <a:ext cx="7786710" cy="3951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084124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Adaptive exponential integrate-and-fire neuron </a:t>
            </a:r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6" y="1142984"/>
            <a:ext cx="8715404" cy="5007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051729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428625" y="0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Calibri" charset="0"/>
              </a:rPr>
              <a:t>Adaptive exponential integrate-and-fire neuron </a:t>
            </a:r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6" y="1142984"/>
            <a:ext cx="8715404" cy="5007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920521F4-68AC-46A2-9C59-16B50ADF25C2}"/>
              </a:ext>
            </a:extLst>
          </p:cNvPr>
          <p:cNvSpPr/>
          <p:nvPr/>
        </p:nvSpPr>
        <p:spPr>
          <a:xfrm>
            <a:off x="428625" y="908721"/>
            <a:ext cx="8572499" cy="273630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Firing</a:t>
            </a:r>
            <a:r>
              <a:rPr lang="it-IT" sz="2400" b="1" dirty="0"/>
              <a:t> for rebound from </a:t>
            </a:r>
            <a:r>
              <a:rPr lang="it-IT" sz="2400" b="1" dirty="0" err="1"/>
              <a:t>inhibition</a:t>
            </a:r>
            <a:r>
              <a:rPr lang="it-IT" sz="2400" dirty="0"/>
              <a:t>: </a:t>
            </a:r>
            <a:r>
              <a:rPr lang="it-IT" sz="2400" dirty="0" err="1"/>
              <a:t>if</a:t>
            </a:r>
            <a:r>
              <a:rPr lang="it-IT" sz="2400" dirty="0"/>
              <a:t> </a:t>
            </a:r>
            <a:r>
              <a:rPr lang="it-IT" sz="2400" dirty="0" err="1"/>
              <a:t>there’s</a:t>
            </a:r>
            <a:r>
              <a:rPr lang="it-IT" sz="2400" dirty="0"/>
              <a:t> a </a:t>
            </a:r>
            <a:r>
              <a:rPr lang="it-IT" sz="2400" dirty="0" err="1"/>
              <a:t>sustained</a:t>
            </a:r>
            <a:r>
              <a:rPr lang="it-IT" sz="2400" dirty="0"/>
              <a:t> </a:t>
            </a:r>
            <a:r>
              <a:rPr lang="it-IT" sz="2400" dirty="0" err="1"/>
              <a:t>inhibitory</a:t>
            </a:r>
            <a:r>
              <a:rPr lang="it-IT" sz="2400" dirty="0"/>
              <a:t> input the </a:t>
            </a:r>
            <a:r>
              <a:rPr lang="it-IT" sz="2400" dirty="0" err="1"/>
              <a:t>adaptation</a:t>
            </a:r>
            <a:r>
              <a:rPr lang="it-IT" sz="2400" dirty="0"/>
              <a:t> </a:t>
            </a:r>
            <a:r>
              <a:rPr lang="it-IT" sz="2400" dirty="0" err="1"/>
              <a:t>current</a:t>
            </a:r>
            <a:r>
              <a:rPr lang="it-IT" sz="2400" dirty="0"/>
              <a:t> </a:t>
            </a:r>
            <a:r>
              <a:rPr lang="it-IT" sz="2400" dirty="0" err="1"/>
              <a:t>becomes</a:t>
            </a:r>
            <a:r>
              <a:rPr lang="it-IT" sz="2400" dirty="0"/>
              <a:t> negative </a:t>
            </a:r>
            <a:r>
              <a:rPr lang="it-IT" sz="2400" dirty="0" err="1"/>
              <a:t>hence</a:t>
            </a:r>
            <a:r>
              <a:rPr lang="it-IT" sz="2400" dirty="0"/>
              <a:t> </a:t>
            </a:r>
            <a:r>
              <a:rPr lang="it-IT" sz="2400" dirty="0" err="1"/>
              <a:t>excitatory</a:t>
            </a:r>
            <a:r>
              <a:rPr lang="it-IT" sz="2400" dirty="0"/>
              <a:t>. </a:t>
            </a:r>
            <a:r>
              <a:rPr lang="it-IT" sz="2400" dirty="0" err="1"/>
              <a:t>When</a:t>
            </a:r>
            <a:r>
              <a:rPr lang="it-IT" sz="2400" dirty="0"/>
              <a:t> </a:t>
            </a:r>
            <a:r>
              <a:rPr lang="it-IT" sz="2400" dirty="0" err="1"/>
              <a:t>inhibition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released</a:t>
            </a:r>
            <a:r>
              <a:rPr lang="it-IT" sz="2400" dirty="0"/>
              <a:t>, the </a:t>
            </a:r>
            <a:r>
              <a:rPr lang="it-IT" sz="2400" dirty="0" err="1"/>
              <a:t>neuron</a:t>
            </a:r>
            <a:r>
              <a:rPr lang="it-IT" sz="2400" dirty="0"/>
              <a:t> </a:t>
            </a:r>
            <a:r>
              <a:rPr lang="it-IT" sz="2400" dirty="0" err="1"/>
              <a:t>emits</a:t>
            </a:r>
            <a:r>
              <a:rPr lang="it-IT" sz="2400" dirty="0"/>
              <a:t> a </a:t>
            </a:r>
            <a:r>
              <a:rPr lang="it-IT" sz="2400" dirty="0" err="1"/>
              <a:t>burst</a:t>
            </a:r>
            <a:r>
              <a:rPr lang="it-IT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21582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Increasing level of realism starting from LIF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228601" y="1219200"/>
            <a:ext cx="2209799" cy="48320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it-IT" sz="2800" i="1" dirty="0" err="1"/>
              <a:t>Introducing</a:t>
            </a:r>
            <a:r>
              <a:rPr lang="it-IT" sz="2800" i="1" dirty="0"/>
              <a:t> ADAPTATION:</a:t>
            </a:r>
          </a:p>
          <a:p>
            <a:endParaRPr lang="it-IT" sz="2800" dirty="0"/>
          </a:p>
          <a:p>
            <a:r>
              <a:rPr lang="it-IT" sz="2800" dirty="0" err="1"/>
              <a:t>Izhikevich</a:t>
            </a:r>
            <a:r>
              <a:rPr lang="it-IT" sz="2800" dirty="0"/>
              <a:t> </a:t>
            </a:r>
            <a:r>
              <a:rPr lang="it-IT" sz="2800" dirty="0" err="1"/>
              <a:t>models</a:t>
            </a:r>
            <a:r>
              <a:rPr lang="it-IT" sz="2800" dirty="0"/>
              <a:t> (</a:t>
            </a:r>
            <a:r>
              <a:rPr lang="it-IT" sz="2800" dirty="0" err="1"/>
              <a:t>integrated</a:t>
            </a:r>
            <a:r>
              <a:rPr lang="it-IT" sz="2800" dirty="0"/>
              <a:t>)</a:t>
            </a:r>
          </a:p>
          <a:p>
            <a:endParaRPr lang="it-IT" sz="2800" dirty="0"/>
          </a:p>
          <a:p>
            <a:r>
              <a:rPr lang="it-IT" sz="2800" dirty="0" err="1"/>
              <a:t>Adaptive</a:t>
            </a:r>
            <a:r>
              <a:rPr lang="it-IT" sz="2800" dirty="0"/>
              <a:t> </a:t>
            </a:r>
            <a:r>
              <a:rPr lang="it-IT" sz="2800" dirty="0" err="1"/>
              <a:t>Exponential</a:t>
            </a:r>
            <a:r>
              <a:rPr lang="it-IT" sz="2800" dirty="0"/>
              <a:t> Integrate and </a:t>
            </a:r>
            <a:r>
              <a:rPr lang="it-IT" sz="2800" dirty="0" err="1"/>
              <a:t>Fire</a:t>
            </a:r>
            <a:r>
              <a:rPr lang="it-IT" sz="2800" dirty="0"/>
              <a:t> (plug-in)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2667000" y="1219200"/>
            <a:ext cx="6232748" cy="9541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it-IT" sz="2800" i="1" dirty="0" err="1"/>
              <a:t>Introducing</a:t>
            </a:r>
            <a:r>
              <a:rPr lang="it-IT" sz="2800" i="1" dirty="0"/>
              <a:t> ACTIVE CURRENTS:</a:t>
            </a:r>
            <a:endParaRPr lang="it-IT" sz="2800" dirty="0"/>
          </a:p>
          <a:p>
            <a:r>
              <a:rPr lang="it-IT" sz="2800" dirty="0"/>
              <a:t>HH </a:t>
            </a:r>
            <a:r>
              <a:rPr lang="it-IT" sz="2800" dirty="0" err="1"/>
              <a:t>models</a:t>
            </a:r>
            <a:r>
              <a:rPr lang="it-IT" sz="2800" dirty="0"/>
              <a:t> (the Nobel-</a:t>
            </a:r>
            <a:r>
              <a:rPr lang="it-IT" sz="2800" dirty="0" err="1"/>
              <a:t>prize</a:t>
            </a:r>
            <a:r>
              <a:rPr lang="it-IT" sz="2800" dirty="0"/>
              <a:t> </a:t>
            </a:r>
            <a:r>
              <a:rPr lang="it-IT" sz="2800" dirty="0" err="1"/>
              <a:t>squid</a:t>
            </a:r>
            <a:r>
              <a:rPr lang="it-IT" sz="2800" dirty="0"/>
              <a:t>)</a:t>
            </a:r>
          </a:p>
        </p:txBody>
      </p:sp>
      <p:sp>
        <p:nvSpPr>
          <p:cNvPr id="5" name="Freccia a destra 4"/>
          <p:cNvSpPr/>
          <p:nvPr/>
        </p:nvSpPr>
        <p:spPr>
          <a:xfrm>
            <a:off x="2667000" y="3352800"/>
            <a:ext cx="2513181" cy="1775400"/>
          </a:xfrm>
          <a:prstGeom prst="rightArrow">
            <a:avLst>
              <a:gd name="adj1" fmla="val 100000"/>
              <a:gd name="adj2" fmla="val 24248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i="1" dirty="0" err="1">
                <a:solidFill>
                  <a:schemeClr val="tx1"/>
                </a:solidFill>
              </a:rPr>
              <a:t>Introducing</a:t>
            </a:r>
            <a:r>
              <a:rPr lang="it-IT" sz="2800" i="1" dirty="0">
                <a:solidFill>
                  <a:schemeClr val="tx1"/>
                </a:solidFill>
              </a:rPr>
              <a:t> </a:t>
            </a:r>
            <a:r>
              <a:rPr lang="it-IT" sz="2800" i="1" dirty="0" err="1">
                <a:solidFill>
                  <a:schemeClr val="tx1"/>
                </a:solidFill>
              </a:rPr>
              <a:t>morphology</a:t>
            </a:r>
            <a:r>
              <a:rPr lang="it-IT" sz="2800" i="1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</a:rPr>
              <a:t>NEURON 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</a:rPr>
              <a:t>(and me)</a:t>
            </a: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7" r="35416"/>
          <a:stretch/>
        </p:blipFill>
        <p:spPr>
          <a:xfrm>
            <a:off x="5180181" y="2286000"/>
            <a:ext cx="3719567" cy="4495800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5410200" y="2438400"/>
            <a:ext cx="99059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EXC.</a:t>
            </a:r>
          </a:p>
          <a:p>
            <a:r>
              <a:rPr lang="it-IT" dirty="0"/>
              <a:t>INH.</a:t>
            </a:r>
          </a:p>
        </p:txBody>
      </p:sp>
    </p:spTree>
    <p:extLst>
      <p:ext uri="{BB962C8B-B14F-4D97-AF65-F5344CB8AC3E}">
        <p14:creationId xmlns:p14="http://schemas.microsoft.com/office/powerpoint/2010/main" val="28781219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interaction: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Cortical recurring networks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6228184" y="1815236"/>
            <a:ext cx="2648471" cy="315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79" b="31040"/>
          <a:stretch/>
        </p:blipFill>
        <p:spPr bwMode="auto">
          <a:xfrm>
            <a:off x="82914" y="1412776"/>
            <a:ext cx="595433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609600" y="2133600"/>
            <a:ext cx="109036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2990578" y="3834825"/>
            <a:ext cx="188622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Excitatory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75783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interaction: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Cortical recurring networks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6228184" y="1815236"/>
            <a:ext cx="2648471" cy="315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79" b="31040"/>
          <a:stretch/>
        </p:blipFill>
        <p:spPr bwMode="auto">
          <a:xfrm>
            <a:off x="82914" y="1412776"/>
            <a:ext cx="595433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609600" y="2133600"/>
            <a:ext cx="109036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2990578" y="3834825"/>
            <a:ext cx="188622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Excitatory</a:t>
            </a:r>
            <a:r>
              <a:rPr lang="it-IT" dirty="0"/>
              <a:t>.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C2F2AA4B-1F0F-4F64-8E48-BD564977595D}"/>
              </a:ext>
            </a:extLst>
          </p:cNvPr>
          <p:cNvSpPr/>
          <p:nvPr/>
        </p:nvSpPr>
        <p:spPr>
          <a:xfrm>
            <a:off x="208326" y="1412776"/>
            <a:ext cx="4647431" cy="4320479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/>
              <a:t>4:1 </a:t>
            </a:r>
            <a:r>
              <a:rPr lang="it-IT" sz="2400" dirty="0" err="1"/>
              <a:t>excitatory</a:t>
            </a:r>
            <a:r>
              <a:rPr lang="it-IT" sz="2400" dirty="0"/>
              <a:t>/</a:t>
            </a:r>
            <a:r>
              <a:rPr lang="it-IT" sz="2400" dirty="0" err="1"/>
              <a:t>inhibitory</a:t>
            </a:r>
            <a:r>
              <a:rPr lang="it-IT" sz="2400" dirty="0"/>
              <a:t> ratio and strong </a:t>
            </a:r>
            <a:r>
              <a:rPr lang="it-IT" sz="2400" dirty="0" err="1"/>
              <a:t>inhibition</a:t>
            </a:r>
            <a:r>
              <a:rPr lang="it-IT" sz="2400" dirty="0"/>
              <a:t> combine to </a:t>
            </a:r>
            <a:r>
              <a:rPr lang="it-IT" sz="2400" dirty="0" err="1"/>
              <a:t>achieve</a:t>
            </a:r>
            <a:r>
              <a:rPr lang="it-IT" sz="2400" dirty="0"/>
              <a:t> </a:t>
            </a:r>
            <a:r>
              <a:rPr lang="it-IT" sz="2400" dirty="0" err="1"/>
              <a:t>excitatory</a:t>
            </a:r>
            <a:r>
              <a:rPr lang="it-IT" sz="2400" dirty="0"/>
              <a:t>/</a:t>
            </a:r>
            <a:r>
              <a:rPr lang="it-IT" sz="2400" dirty="0" err="1"/>
              <a:t>inhibitory</a:t>
            </a:r>
            <a:r>
              <a:rPr lang="it-IT" sz="2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685204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external stimuli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5072063" y="928688"/>
            <a:ext cx="3927475" cy="630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Sensory thalamic inputs 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(stronger on Inhibitory neurons)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Stimulus unspecific slowly varying inputs modeling ongoing cortical fluctuations.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57188" y="5443538"/>
            <a:ext cx="4356100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Each thalamic input is injected many times -  each time with a different ongoing activity.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357313"/>
            <a:ext cx="4254500" cy="357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CasellaDiTesto 5"/>
          <p:cNvSpPr txBox="1"/>
          <p:nvPr/>
        </p:nvSpPr>
        <p:spPr>
          <a:xfrm>
            <a:off x="369418" y="1600200"/>
            <a:ext cx="5565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1518096" y="2502932"/>
            <a:ext cx="11489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dirty="0" err="1"/>
              <a:t>Excitatory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68633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external stimuli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14313" y="5715000"/>
            <a:ext cx="4713287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Mazzoni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et al. 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PLoS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Comp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Biol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2008 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Mazzoni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et al.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Neuroimage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2010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Mazzoni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et al J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Physiol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2012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143500" y="2571750"/>
            <a:ext cx="35702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“Ongoing activity” cortical inputs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286375" y="5345113"/>
            <a:ext cx="29987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“Sensory” thalamic inputs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072063" y="4662488"/>
            <a:ext cx="3213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1600" i="1">
                <a:solidFill>
                  <a:srgbClr val="000000"/>
                </a:solidFill>
              </a:rPr>
              <a:t>Ornstein Uhlenbeck process</a:t>
            </a:r>
          </a:p>
        </p:txBody>
      </p:sp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3213100"/>
            <a:ext cx="3071813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5981700"/>
            <a:ext cx="32766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900" y="4064000"/>
            <a:ext cx="45720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422400"/>
            <a:ext cx="4633913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357313"/>
            <a:ext cx="4254500" cy="357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" name="CasellaDiTesto 15"/>
          <p:cNvSpPr txBox="1"/>
          <p:nvPr/>
        </p:nvSpPr>
        <p:spPr>
          <a:xfrm>
            <a:off x="369418" y="1600200"/>
            <a:ext cx="5565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1518096" y="2502932"/>
            <a:ext cx="11489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dirty="0" err="1"/>
              <a:t>Excitatory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477839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Interlude: noise</a:t>
            </a:r>
          </a:p>
        </p:txBody>
      </p:sp>
      <p:pic>
        <p:nvPicPr>
          <p:cNvPr id="3" name="Immagine 2" descr="Immagine che contiene libro, testo&#10;&#10;Descrizione generata automaticamente">
            <a:extLst>
              <a:ext uri="{FF2B5EF4-FFF2-40B4-BE49-F238E27FC236}">
                <a16:creationId xmlns:a16="http://schemas.microsoft.com/office/drawing/2014/main" id="{D6BB2412-BCFF-455C-B3DB-FA4F756C2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620688"/>
            <a:ext cx="6048672" cy="60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889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Interlude: noise</a:t>
            </a:r>
          </a:p>
        </p:txBody>
      </p:sp>
      <p:pic>
        <p:nvPicPr>
          <p:cNvPr id="3" name="Immagine 2" descr="Immagine che contiene libro, testo&#10;&#10;Descrizione generata automaticamente">
            <a:extLst>
              <a:ext uri="{FF2B5EF4-FFF2-40B4-BE49-F238E27FC236}">
                <a16:creationId xmlns:a16="http://schemas.microsoft.com/office/drawing/2014/main" id="{D6BB2412-BCFF-455C-B3DB-FA4F756C2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620688"/>
            <a:ext cx="6048672" cy="6048672"/>
          </a:xfrm>
          <a:prstGeom prst="rect">
            <a:avLst/>
          </a:prstGeom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B516BEB3-EC4C-422E-8CF6-8D4A45435909}"/>
              </a:ext>
            </a:extLst>
          </p:cNvPr>
          <p:cNvSpPr/>
          <p:nvPr/>
        </p:nvSpPr>
        <p:spPr>
          <a:xfrm>
            <a:off x="5003125" y="188641"/>
            <a:ext cx="4140875" cy="6485492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 err="1"/>
              <a:t>It’s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possible</a:t>
            </a:r>
            <a:r>
              <a:rPr lang="it-IT" sz="2400" dirty="0"/>
              <a:t> to estimate the </a:t>
            </a:r>
            <a:r>
              <a:rPr lang="it-IT" sz="2400" b="1" dirty="0" err="1"/>
              <a:t>temporal</a:t>
            </a:r>
            <a:r>
              <a:rPr lang="it-IT" sz="2400" b="1" dirty="0"/>
              <a:t> </a:t>
            </a:r>
            <a:r>
              <a:rPr lang="it-IT" sz="2400" b="1" dirty="0" err="1"/>
              <a:t>structure</a:t>
            </a:r>
            <a:r>
              <a:rPr lang="it-IT" sz="2400" b="1" dirty="0"/>
              <a:t> of </a:t>
            </a:r>
            <a:r>
              <a:rPr lang="it-IT" sz="2400" b="1" dirty="0" err="1"/>
              <a:t>spontaneous</a:t>
            </a:r>
            <a:r>
              <a:rPr lang="it-IT" sz="2400" b="1" dirty="0"/>
              <a:t> </a:t>
            </a:r>
            <a:r>
              <a:rPr lang="it-IT" sz="2400" b="1" dirty="0" err="1"/>
              <a:t>cortical</a:t>
            </a:r>
            <a:r>
              <a:rPr lang="it-IT" sz="2400" b="1" dirty="0"/>
              <a:t> activity </a:t>
            </a:r>
            <a:r>
              <a:rPr lang="it-IT" sz="2400" dirty="0"/>
              <a:t>by </a:t>
            </a:r>
            <a:r>
              <a:rPr lang="it-IT" sz="2400" dirty="0" err="1"/>
              <a:t>measuring</a:t>
            </a:r>
            <a:r>
              <a:rPr lang="it-IT" sz="2400" dirty="0"/>
              <a:t> the </a:t>
            </a:r>
            <a:r>
              <a:rPr lang="it-IT" sz="2400" dirty="0" err="1"/>
              <a:t>firing</a:t>
            </a:r>
            <a:r>
              <a:rPr lang="it-IT" sz="2400" dirty="0"/>
              <a:t> of large (&gt;10^3) pools of </a:t>
            </a:r>
            <a:r>
              <a:rPr lang="it-IT" sz="2400" dirty="0" err="1"/>
              <a:t>neurons</a:t>
            </a:r>
            <a:r>
              <a:rPr lang="it-IT" sz="2400" dirty="0"/>
              <a:t> – </a:t>
            </a:r>
            <a:r>
              <a:rPr lang="it-IT" sz="2400" b="1" dirty="0" err="1"/>
              <a:t>extracellular</a:t>
            </a:r>
            <a:r>
              <a:rPr lang="it-IT" sz="2400" b="1" dirty="0"/>
              <a:t> </a:t>
            </a:r>
            <a:r>
              <a:rPr lang="it-IT" sz="2400" b="1" dirty="0" err="1"/>
              <a:t>signals</a:t>
            </a:r>
            <a:r>
              <a:rPr lang="it-IT" sz="2400" b="1" dirty="0"/>
              <a:t> show a 1/f^2 </a:t>
            </a:r>
            <a:r>
              <a:rPr lang="it-IT" sz="2400" b="1" dirty="0" err="1"/>
              <a:t>spectrum</a:t>
            </a:r>
            <a:r>
              <a:rPr lang="it-IT" sz="2400" b="1" dirty="0"/>
              <a:t> </a:t>
            </a:r>
            <a:r>
              <a:rPr lang="it-IT" sz="2400" dirty="0"/>
              <a:t>(due to </a:t>
            </a:r>
            <a:r>
              <a:rPr lang="it-IT" sz="2400" dirty="0" err="1"/>
              <a:t>different</a:t>
            </a:r>
            <a:r>
              <a:rPr lang="it-IT" sz="2400" dirty="0"/>
              <a:t> size of </a:t>
            </a:r>
            <a:r>
              <a:rPr lang="it-IT" sz="2400" dirty="0" err="1"/>
              <a:t>neurons</a:t>
            </a:r>
            <a:r>
              <a:rPr lang="it-IT" sz="2400" dirty="0"/>
              <a:t> </a:t>
            </a:r>
            <a:r>
              <a:rPr lang="it-IT" sz="2400" dirty="0" err="1"/>
              <a:t>activated</a:t>
            </a:r>
            <a:r>
              <a:rPr lang="it-IT" sz="2400" dirty="0"/>
              <a:t> in </a:t>
            </a:r>
            <a:r>
              <a:rPr lang="it-IT" sz="2400" dirty="0" err="1"/>
              <a:t>phase</a:t>
            </a:r>
            <a:r>
              <a:rPr lang="it-IT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06933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0368220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9BF4F501-E07B-491C-8BD6-5F96D1B4464F}"/>
              </a:ext>
            </a:extLst>
          </p:cNvPr>
          <p:cNvSpPr/>
          <p:nvPr/>
        </p:nvSpPr>
        <p:spPr>
          <a:xfrm>
            <a:off x="4860249" y="908720"/>
            <a:ext cx="4140875" cy="583264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Purely</a:t>
            </a:r>
            <a:r>
              <a:rPr lang="it-IT" sz="2400" b="1" dirty="0"/>
              <a:t> </a:t>
            </a:r>
            <a:r>
              <a:rPr lang="it-IT" sz="2400" b="1" dirty="0" err="1"/>
              <a:t>inhibitory</a:t>
            </a:r>
            <a:r>
              <a:rPr lang="it-IT" sz="2400" b="1" dirty="0"/>
              <a:t> network</a:t>
            </a:r>
            <a:r>
              <a:rPr lang="it-IT" sz="2400" dirty="0"/>
              <a:t>: </a:t>
            </a:r>
          </a:p>
          <a:p>
            <a:pPr algn="ctr"/>
            <a:r>
              <a:rPr lang="it-IT" sz="2400" dirty="0"/>
              <a:t>1- </a:t>
            </a:r>
            <a:r>
              <a:rPr lang="it-IT" sz="2400" dirty="0" err="1"/>
              <a:t>neurons</a:t>
            </a:r>
            <a:r>
              <a:rPr lang="it-IT" sz="2400" dirty="0"/>
              <a:t> are </a:t>
            </a:r>
            <a:r>
              <a:rPr lang="it-IT" sz="2400" dirty="0" err="1"/>
              <a:t>silent</a:t>
            </a:r>
            <a:endParaRPr lang="it-IT" sz="2400" dirty="0"/>
          </a:p>
          <a:p>
            <a:pPr algn="ctr"/>
            <a:r>
              <a:rPr lang="it-IT" sz="2400" dirty="0"/>
              <a:t>2- </a:t>
            </a:r>
            <a:r>
              <a:rPr lang="it-IT" sz="2400" dirty="0" err="1"/>
              <a:t>external</a:t>
            </a:r>
            <a:r>
              <a:rPr lang="it-IT" sz="2400" dirty="0"/>
              <a:t> input </a:t>
            </a:r>
            <a:r>
              <a:rPr lang="it-IT" sz="2400" dirty="0" err="1"/>
              <a:t>activates</a:t>
            </a:r>
            <a:r>
              <a:rPr lang="it-IT" sz="2400" dirty="0"/>
              <a:t> </a:t>
            </a:r>
            <a:r>
              <a:rPr lang="it-IT" sz="2400" dirty="0" err="1"/>
              <a:t>neuron</a:t>
            </a:r>
            <a:endParaRPr lang="it-IT" sz="2400" dirty="0"/>
          </a:p>
          <a:p>
            <a:pPr algn="ctr"/>
            <a:r>
              <a:rPr lang="it-IT" sz="2400" dirty="0"/>
              <a:t>3 – </a:t>
            </a:r>
            <a:r>
              <a:rPr lang="it-IT" sz="2400" dirty="0" err="1"/>
              <a:t>neurons</a:t>
            </a:r>
            <a:r>
              <a:rPr lang="it-IT" sz="2400" dirty="0"/>
              <a:t> self-</a:t>
            </a:r>
            <a:r>
              <a:rPr lang="it-IT" sz="2400" dirty="0" err="1"/>
              <a:t>inhibit</a:t>
            </a:r>
            <a:endParaRPr lang="it-IT" sz="2400" dirty="0"/>
          </a:p>
          <a:p>
            <a:pPr algn="ctr"/>
            <a:r>
              <a:rPr lang="it-IT" sz="2400" dirty="0"/>
              <a:t>4- </a:t>
            </a:r>
            <a:r>
              <a:rPr lang="it-IT" sz="2400" dirty="0" err="1"/>
              <a:t>neurons</a:t>
            </a:r>
            <a:r>
              <a:rPr lang="it-IT" sz="2400" dirty="0"/>
              <a:t> are </a:t>
            </a:r>
            <a:r>
              <a:rPr lang="it-IT" sz="2400" dirty="0" err="1"/>
              <a:t>silent</a:t>
            </a:r>
            <a:r>
              <a:rPr lang="it-IT" sz="2400" dirty="0"/>
              <a:t>-&gt; back to step 1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Oscillation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fast</a:t>
            </a:r>
          </a:p>
        </p:txBody>
      </p:sp>
    </p:spTree>
    <p:extLst>
      <p:ext uri="{BB962C8B-B14F-4D97-AF65-F5344CB8AC3E}">
        <p14:creationId xmlns:p14="http://schemas.microsoft.com/office/powerpoint/2010/main" val="36057709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CA5C5FB-515F-41E6-BC21-3B73F3747D12}"/>
              </a:ext>
            </a:extLst>
          </p:cNvPr>
          <p:cNvSpPr/>
          <p:nvPr/>
        </p:nvSpPr>
        <p:spPr>
          <a:xfrm>
            <a:off x="360916" y="188640"/>
            <a:ext cx="3638018" cy="64129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 err="1"/>
              <a:t>Excitatory-inhibitory</a:t>
            </a:r>
            <a:r>
              <a:rPr lang="it-IT" sz="2000" b="1" dirty="0"/>
              <a:t> network</a:t>
            </a:r>
            <a:r>
              <a:rPr lang="it-IT" sz="2000" dirty="0"/>
              <a:t>: </a:t>
            </a:r>
          </a:p>
          <a:p>
            <a:pPr algn="ctr"/>
            <a:r>
              <a:rPr lang="it-IT" sz="2000" dirty="0"/>
              <a:t>1- E and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</a:p>
          <a:p>
            <a:pPr algn="ctr"/>
            <a:r>
              <a:rPr lang="it-IT" sz="2000" dirty="0"/>
              <a:t>are </a:t>
            </a:r>
            <a:r>
              <a:rPr lang="it-IT" sz="2000" dirty="0" err="1"/>
              <a:t>silent</a:t>
            </a:r>
            <a:endParaRPr lang="it-IT" sz="2000" dirty="0"/>
          </a:p>
          <a:p>
            <a:pPr algn="ctr"/>
            <a:r>
              <a:rPr lang="it-IT" sz="2000" dirty="0"/>
              <a:t>2- </a:t>
            </a:r>
            <a:r>
              <a:rPr lang="it-IT" sz="2000" dirty="0" err="1"/>
              <a:t>external</a:t>
            </a:r>
            <a:r>
              <a:rPr lang="it-IT" sz="2000" dirty="0"/>
              <a:t> input </a:t>
            </a:r>
            <a:r>
              <a:rPr lang="it-IT" sz="2000" dirty="0" err="1"/>
              <a:t>activates</a:t>
            </a:r>
            <a:r>
              <a:rPr lang="it-IT" sz="2000" dirty="0"/>
              <a:t> E </a:t>
            </a:r>
            <a:r>
              <a:rPr lang="it-IT" sz="2000" dirty="0" err="1"/>
              <a:t>neurons</a:t>
            </a:r>
            <a:endParaRPr lang="it-IT" sz="2000" dirty="0"/>
          </a:p>
          <a:p>
            <a:pPr algn="ctr"/>
            <a:r>
              <a:rPr lang="it-IT" sz="2000" dirty="0"/>
              <a:t>3 – E </a:t>
            </a:r>
            <a:r>
              <a:rPr lang="it-IT" sz="2000" dirty="0" err="1"/>
              <a:t>neurons</a:t>
            </a:r>
            <a:r>
              <a:rPr lang="it-IT" sz="2000" dirty="0"/>
              <a:t> trigger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  <a:r>
              <a:rPr lang="it-IT" sz="2000" dirty="0" err="1"/>
              <a:t>activation</a:t>
            </a:r>
            <a:r>
              <a:rPr lang="it-IT" sz="2000" dirty="0"/>
              <a:t>: </a:t>
            </a:r>
            <a:r>
              <a:rPr lang="it-IT" sz="2000" dirty="0" err="1"/>
              <a:t>both</a:t>
            </a:r>
            <a:r>
              <a:rPr lang="it-IT" sz="2000" dirty="0"/>
              <a:t> sets are </a:t>
            </a:r>
            <a:r>
              <a:rPr lang="it-IT" sz="2000" dirty="0" err="1"/>
              <a:t>active</a:t>
            </a:r>
            <a:endParaRPr lang="it-IT" sz="2000" dirty="0"/>
          </a:p>
          <a:p>
            <a:pPr algn="ctr"/>
            <a:r>
              <a:rPr lang="it-IT" sz="2000" dirty="0"/>
              <a:t>4-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  <a:r>
              <a:rPr lang="it-IT" sz="2000" dirty="0" err="1"/>
              <a:t>inhibit</a:t>
            </a:r>
            <a:r>
              <a:rPr lang="it-IT" sz="2000" dirty="0"/>
              <a:t> E </a:t>
            </a:r>
            <a:r>
              <a:rPr lang="it-IT" sz="2000" dirty="0" err="1"/>
              <a:t>neurons</a:t>
            </a:r>
            <a:r>
              <a:rPr lang="it-IT" sz="2000" dirty="0"/>
              <a:t>: </a:t>
            </a:r>
            <a:r>
              <a:rPr lang="it-IT" sz="2000" dirty="0" err="1"/>
              <a:t>only</a:t>
            </a:r>
            <a:r>
              <a:rPr lang="it-IT" sz="2000" dirty="0"/>
              <a:t> I </a:t>
            </a:r>
            <a:r>
              <a:rPr lang="it-IT" sz="2000" dirty="0" err="1"/>
              <a:t>neurons</a:t>
            </a:r>
            <a:r>
              <a:rPr lang="it-IT" sz="2000" dirty="0"/>
              <a:t> are </a:t>
            </a:r>
            <a:r>
              <a:rPr lang="it-IT" sz="2000" dirty="0" err="1"/>
              <a:t>active</a:t>
            </a:r>
            <a:endParaRPr lang="it-IT" sz="2000" dirty="0"/>
          </a:p>
          <a:p>
            <a:pPr algn="ctr"/>
            <a:r>
              <a:rPr lang="it-IT" sz="2000" dirty="0"/>
              <a:t>5- I </a:t>
            </a:r>
            <a:r>
              <a:rPr lang="it-IT" sz="2000" dirty="0" err="1"/>
              <a:t>neurons</a:t>
            </a:r>
            <a:r>
              <a:rPr lang="it-IT" sz="2000" dirty="0"/>
              <a:t> do </a:t>
            </a:r>
            <a:r>
              <a:rPr lang="it-IT" sz="2000" dirty="0" err="1"/>
              <a:t>not</a:t>
            </a:r>
            <a:r>
              <a:rPr lang="it-IT" sz="2000" dirty="0"/>
              <a:t> </a:t>
            </a:r>
            <a:r>
              <a:rPr lang="it-IT" sz="2000" dirty="0" err="1"/>
              <a:t>receive</a:t>
            </a:r>
            <a:r>
              <a:rPr lang="it-IT" sz="2000" dirty="0"/>
              <a:t> </a:t>
            </a:r>
            <a:r>
              <a:rPr lang="it-IT" sz="2000" dirty="0" err="1"/>
              <a:t>excitatory</a:t>
            </a:r>
            <a:r>
              <a:rPr lang="it-IT" sz="2000" dirty="0"/>
              <a:t> inputs </a:t>
            </a:r>
            <a:r>
              <a:rPr lang="it-IT" sz="2000" dirty="0" err="1"/>
              <a:t>anymore</a:t>
            </a:r>
            <a:r>
              <a:rPr lang="it-IT" sz="2000" dirty="0"/>
              <a:t>. </a:t>
            </a:r>
          </a:p>
          <a:p>
            <a:pPr algn="ctr"/>
            <a:r>
              <a:rPr lang="it-IT" sz="2000" dirty="0"/>
              <a:t>6 - E and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</a:p>
          <a:p>
            <a:pPr algn="ctr"/>
            <a:r>
              <a:rPr lang="it-IT" sz="2000" dirty="0"/>
              <a:t>are </a:t>
            </a:r>
            <a:r>
              <a:rPr lang="it-IT" sz="2000" dirty="0" err="1"/>
              <a:t>silent</a:t>
            </a:r>
            <a:endParaRPr lang="it-IT" sz="2000" dirty="0"/>
          </a:p>
          <a:p>
            <a:pPr algn="ctr"/>
            <a:r>
              <a:rPr lang="it-IT" sz="2000" dirty="0"/>
              <a:t>-&gt; back to step 1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 err="1"/>
              <a:t>Oscillations</a:t>
            </a:r>
            <a:r>
              <a:rPr lang="it-IT" sz="2000" dirty="0"/>
              <a:t> are slow</a:t>
            </a:r>
          </a:p>
        </p:txBody>
      </p:sp>
    </p:spTree>
    <p:extLst>
      <p:ext uri="{BB962C8B-B14F-4D97-AF65-F5344CB8AC3E}">
        <p14:creationId xmlns:p14="http://schemas.microsoft.com/office/powerpoint/2010/main" val="16747785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02A56EEB-ED8B-4EA9-9918-D9A0FC1FC2D1}"/>
              </a:ext>
            </a:extLst>
          </p:cNvPr>
          <p:cNvSpPr/>
          <p:nvPr/>
        </p:nvSpPr>
        <p:spPr>
          <a:xfrm>
            <a:off x="360916" y="1775834"/>
            <a:ext cx="8675580" cy="17962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Complete network</a:t>
            </a:r>
            <a:r>
              <a:rPr lang="it-IT" sz="2400" dirty="0"/>
              <a:t>: </a:t>
            </a:r>
            <a:r>
              <a:rPr lang="it-IT" sz="2400" dirty="0" err="1"/>
              <a:t>both</a:t>
            </a:r>
            <a:r>
              <a:rPr lang="it-IT" sz="2400" dirty="0"/>
              <a:t> </a:t>
            </a:r>
            <a:r>
              <a:rPr lang="it-IT" sz="2400" dirty="0" err="1"/>
              <a:t>resonances</a:t>
            </a:r>
            <a:r>
              <a:rPr lang="it-IT" sz="2400" dirty="0"/>
              <a:t> are </a:t>
            </a:r>
            <a:r>
              <a:rPr lang="it-IT" sz="2400" dirty="0" err="1"/>
              <a:t>present</a:t>
            </a:r>
            <a:r>
              <a:rPr lang="it-IT" sz="2400" dirty="0"/>
              <a:t>. The input </a:t>
            </a:r>
            <a:r>
              <a:rPr lang="it-IT" sz="2400" dirty="0" err="1"/>
              <a:t>determines</a:t>
            </a:r>
            <a:r>
              <a:rPr lang="it-IT" sz="2400" dirty="0"/>
              <a:t> </a:t>
            </a:r>
            <a:r>
              <a:rPr lang="it-IT" sz="2400" dirty="0" err="1"/>
              <a:t>their</a:t>
            </a:r>
            <a:r>
              <a:rPr lang="it-IT" sz="2400" dirty="0"/>
              <a:t> </a:t>
            </a:r>
            <a:r>
              <a:rPr lang="it-IT" sz="2400" dirty="0" err="1"/>
              <a:t>interplay</a:t>
            </a:r>
            <a:r>
              <a:rPr lang="it-IT" sz="2400" dirty="0"/>
              <a:t> and </a:t>
            </a:r>
            <a:r>
              <a:rPr lang="it-IT" sz="2400" dirty="0" err="1"/>
              <a:t>hence</a:t>
            </a:r>
            <a:r>
              <a:rPr lang="it-IT" sz="2400" dirty="0"/>
              <a:t> the </a:t>
            </a:r>
            <a:r>
              <a:rPr lang="it-IT" sz="2400" dirty="0" err="1"/>
              <a:t>final</a:t>
            </a:r>
            <a:r>
              <a:rPr lang="it-IT" sz="2400" dirty="0"/>
              <a:t> frequency.</a:t>
            </a:r>
          </a:p>
        </p:txBody>
      </p:sp>
    </p:spTree>
    <p:extLst>
      <p:ext uri="{BB962C8B-B14F-4D97-AF65-F5344CB8AC3E}">
        <p14:creationId xmlns:p14="http://schemas.microsoft.com/office/powerpoint/2010/main" val="12348188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97"/>
          <p:cNvGrpSpPr/>
          <p:nvPr/>
        </p:nvGrpSpPr>
        <p:grpSpPr>
          <a:xfrm>
            <a:off x="457201" y="1524000"/>
            <a:ext cx="4800600" cy="2971800"/>
            <a:chOff x="1026192" y="914400"/>
            <a:chExt cx="7528623" cy="4495800"/>
          </a:xfrm>
        </p:grpSpPr>
        <p:sp>
          <p:nvSpPr>
            <p:cNvPr id="2" name="Freeform 1"/>
            <p:cNvSpPr/>
            <p:nvPr/>
          </p:nvSpPr>
          <p:spPr>
            <a:xfrm>
              <a:off x="1026193" y="914400"/>
              <a:ext cx="1196804" cy="12253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</a:t>
              </a:r>
            </a:p>
          </p:txBody>
        </p:sp>
        <p:sp>
          <p:nvSpPr>
            <p:cNvPr id="3" name="Freeform 2"/>
            <p:cNvSpPr/>
            <p:nvPr/>
          </p:nvSpPr>
          <p:spPr>
            <a:xfrm>
              <a:off x="2630577" y="1137727"/>
              <a:ext cx="2393609" cy="24280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P</a:t>
              </a:r>
            </a:p>
          </p:txBody>
        </p:sp>
        <p:sp>
          <p:nvSpPr>
            <p:cNvPr id="4" name="Freeform 3"/>
            <p:cNvSpPr/>
            <p:nvPr/>
          </p:nvSpPr>
          <p:spPr>
            <a:xfrm>
              <a:off x="6172200" y="1371600"/>
              <a:ext cx="2382615" cy="33528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Unspecific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slow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cortical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activity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1241516" y="4537950"/>
              <a:ext cx="3621847" cy="87225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Thalamic input</a:t>
              </a:r>
            </a:p>
          </p:txBody>
        </p:sp>
        <p:cxnSp>
          <p:nvCxnSpPr>
            <p:cNvPr id="6" name="Straight Arrow Connector 5"/>
            <p:cNvCxnSpPr>
              <a:stCxn id="5" idx="0"/>
              <a:endCxn id="5" idx="0"/>
            </p:cNvCxnSpPr>
            <p:nvPr/>
          </p:nvCxnSpPr>
          <p:spPr>
            <a:xfrm rot="5400000" flipH="1" flipV="1">
              <a:off x="3052297" y="4538090"/>
              <a:ext cx="2041" cy="1759"/>
            </a:xfrm>
            <a:prstGeom prst="straightConnector1">
              <a:avLst/>
            </a:prstGeom>
            <a:noFill/>
            <a:ln w="0">
              <a:solidFill>
                <a:srgbClr val="000000"/>
              </a:solidFill>
              <a:prstDash val="solid"/>
              <a:tailEnd type="arrow"/>
            </a:ln>
          </p:spPr>
        </p:cxnSp>
        <p:cxnSp>
          <p:nvCxnSpPr>
            <p:cNvPr id="7" name="Curved Connector 6"/>
            <p:cNvCxnSpPr>
              <a:stCxn id="5" idx="0"/>
              <a:endCxn id="2" idx="2"/>
            </p:cNvCxnSpPr>
            <p:nvPr/>
          </p:nvCxnSpPr>
          <p:spPr>
            <a:xfrm rot="16200000" flipV="1">
              <a:off x="1139435" y="2624945"/>
              <a:ext cx="2398165" cy="1427843"/>
            </a:xfrm>
            <a:prstGeom prst="curvedConnector3">
              <a:avLst>
                <a:gd name="adj1" fmla="val 50000"/>
              </a:avLst>
            </a:prstGeom>
            <a:noFill/>
            <a:ln w="508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8" name="Curved Connector 7"/>
            <p:cNvCxnSpPr>
              <a:stCxn id="4" idx="6"/>
              <a:endCxn id="3" idx="11"/>
            </p:cNvCxnSpPr>
            <p:nvPr/>
          </p:nvCxnSpPr>
          <p:spPr>
            <a:xfrm rot="16200000" flipV="1">
              <a:off x="4645576" y="1521376"/>
              <a:ext cx="1555059" cy="1498190"/>
            </a:xfrm>
            <a:prstGeom prst="curvedConnector3">
              <a:avLst>
                <a:gd name="adj1" fmla="val 107907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9" name="Curved Connector 8"/>
            <p:cNvCxnSpPr>
              <a:stCxn id="4" idx="5"/>
              <a:endCxn id="2" idx="11"/>
            </p:cNvCxnSpPr>
            <p:nvPr/>
          </p:nvCxnSpPr>
          <p:spPr>
            <a:xfrm rot="16200000" flipV="1">
              <a:off x="3900123" y="-758544"/>
              <a:ext cx="768433" cy="4472859"/>
            </a:xfrm>
            <a:prstGeom prst="curvedConnector3">
              <a:avLst>
                <a:gd name="adj1" fmla="val 153078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0" name="Curved Connector 9"/>
            <p:cNvCxnSpPr>
              <a:stCxn id="3" idx="6"/>
              <a:endCxn id="2" idx="9"/>
            </p:cNvCxnSpPr>
            <p:nvPr/>
          </p:nvCxnSpPr>
          <p:spPr>
            <a:xfrm rot="16200000" flipV="1">
              <a:off x="2143629" y="1864798"/>
              <a:ext cx="391232" cy="582667"/>
            </a:xfrm>
            <a:prstGeom prst="curvedConnector3">
              <a:avLst>
                <a:gd name="adj1" fmla="val -56771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1" name="Curved Connector 10"/>
            <p:cNvCxnSpPr>
              <a:stCxn id="2" idx="10"/>
              <a:endCxn id="3" idx="5"/>
            </p:cNvCxnSpPr>
            <p:nvPr/>
          </p:nvCxnSpPr>
          <p:spPr>
            <a:xfrm rot="5400000" flipH="1" flipV="1">
              <a:off x="2584799" y="1131140"/>
              <a:ext cx="34152" cy="757755"/>
            </a:xfrm>
            <a:prstGeom prst="curvedConnector3">
              <a:avLst>
                <a:gd name="adj1" fmla="val 671495"/>
              </a:avLst>
            </a:prstGeom>
            <a:noFill/>
            <a:ln w="1224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2" name="Curved Connector 16"/>
            <p:cNvCxnSpPr>
              <a:stCxn id="2" idx="3"/>
            </p:cNvCxnSpPr>
            <p:nvPr/>
          </p:nvCxnSpPr>
          <p:spPr>
            <a:xfrm rot="10800000" flipH="1">
              <a:off x="1026192" y="914403"/>
              <a:ext cx="429519" cy="612689"/>
            </a:xfrm>
            <a:prstGeom prst="curvedConnector4">
              <a:avLst>
                <a:gd name="adj1" fmla="val -77258"/>
                <a:gd name="adj2" fmla="val 144594"/>
              </a:avLst>
            </a:prstGeom>
            <a:noFill/>
            <a:ln w="1270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3" name="Curved Connector 17"/>
            <p:cNvCxnSpPr>
              <a:stCxn id="3" idx="9"/>
              <a:endCxn id="3" idx="1"/>
            </p:cNvCxnSpPr>
            <p:nvPr/>
          </p:nvCxnSpPr>
          <p:spPr>
            <a:xfrm rot="5400000" flipH="1" flipV="1">
              <a:off x="4419695" y="2606065"/>
              <a:ext cx="858807" cy="350175"/>
            </a:xfrm>
            <a:prstGeom prst="curvedConnector4">
              <a:avLst>
                <a:gd name="adj1" fmla="val -40520"/>
                <a:gd name="adj2" fmla="val 194764"/>
              </a:avLst>
            </a:prstGeom>
            <a:noFill/>
            <a:ln w="360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4" name="Curved Connector 13"/>
            <p:cNvCxnSpPr>
              <a:stCxn id="5" idx="0"/>
              <a:endCxn id="3" idx="2"/>
            </p:cNvCxnSpPr>
            <p:nvPr/>
          </p:nvCxnSpPr>
          <p:spPr>
            <a:xfrm rot="5400000" flipH="1" flipV="1">
              <a:off x="2953820" y="3664388"/>
              <a:ext cx="972181" cy="774943"/>
            </a:xfrm>
            <a:prstGeom prst="curved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</p:grpSp>
      <p:sp>
        <p:nvSpPr>
          <p:cNvPr id="15" name="TextBox 14"/>
          <p:cNvSpPr txBox="1"/>
          <p:nvPr/>
        </p:nvSpPr>
        <p:spPr>
          <a:xfrm>
            <a:off x="26020" y="5029200"/>
            <a:ext cx="4241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Leaky integrate and fire neurons 4000 Excitatory </a:t>
            </a:r>
            <a:r>
              <a:rPr lang="en-US" sz="1600" b="0" dirty="0" err="1">
                <a:solidFill>
                  <a:schemeClr val="tx1"/>
                </a:solidFill>
                <a:latin typeface="+mj-lt"/>
              </a:rPr>
              <a:t>Excitatory</a:t>
            </a:r>
            <a:r>
              <a:rPr lang="en-US" sz="1600" b="0" dirty="0">
                <a:solidFill>
                  <a:schemeClr val="tx1"/>
                </a:solidFill>
                <a:latin typeface="+mj-lt"/>
              </a:rPr>
              <a:t> neurons 1000 Inhibitory Inhibitory neurons.</a:t>
            </a:r>
            <a:r>
              <a:rPr lang="en-US" sz="1600" dirty="0">
                <a:latin typeface="+mj-lt"/>
              </a:rPr>
              <a:t> </a:t>
            </a:r>
          </a:p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Sparse (p=0.2) random connections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excitatory-inhibitory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200" kern="0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</a:t>
            </a:r>
            <a:r>
              <a:rPr kumimoji="0" lang="en-US" sz="320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etworks</a:t>
            </a:r>
            <a:endParaRPr kumimoji="0" lang="en-US" sz="32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29" y="5924729"/>
            <a:ext cx="4648200" cy="90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99"/>
          <p:cNvGrpSpPr/>
          <p:nvPr/>
        </p:nvGrpSpPr>
        <p:grpSpPr>
          <a:xfrm>
            <a:off x="5562601" y="630868"/>
            <a:ext cx="3276599" cy="5084132"/>
            <a:chOff x="6083999" y="1044000"/>
            <a:chExt cx="3600000" cy="5734800"/>
          </a:xfrm>
        </p:grpSpPr>
        <p:pic>
          <p:nvPicPr>
            <p:cNvPr id="101" name="Picture 100"/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6083999" y="1044000"/>
              <a:ext cx="3600000" cy="573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Freeform 101"/>
            <p:cNvSpPr/>
            <p:nvPr/>
          </p:nvSpPr>
          <p:spPr>
            <a:xfrm>
              <a:off x="6083999" y="1044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6083999" y="298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6083999" y="496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24" name="CasellaDiTesto 23"/>
          <p:cNvSpPr txBox="1"/>
          <p:nvPr/>
        </p:nvSpPr>
        <p:spPr>
          <a:xfrm>
            <a:off x="2057400" y="22199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7979291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891902" y="1060473"/>
            <a:ext cx="6324600" cy="4729199"/>
            <a:chOff x="5715000" y="685800"/>
            <a:chExt cx="3429000" cy="2590532"/>
          </a:xfrm>
        </p:grpSpPr>
        <p:sp>
          <p:nvSpPr>
            <p:cNvPr id="16" name="TextBox 15"/>
            <p:cNvSpPr txBox="1"/>
            <p:nvPr/>
          </p:nvSpPr>
          <p:spPr>
            <a:xfrm>
              <a:off x="6254008" y="1034142"/>
              <a:ext cx="11083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 SINK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24600" y="2209239"/>
              <a:ext cx="13369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 SOURCE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715000" y="2673221"/>
              <a:ext cx="414193" cy="41544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5809673" y="1284452"/>
              <a:ext cx="0" cy="1424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0" name="Straight Connector 19"/>
            <p:cNvSpPr/>
            <p:nvPr/>
          </p:nvSpPr>
          <p:spPr>
            <a:xfrm flipV="1">
              <a:off x="6022686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868843" y="1047056"/>
              <a:ext cx="355023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2" name="Straight Connector 21"/>
            <p:cNvSpPr/>
            <p:nvPr/>
          </p:nvSpPr>
          <p:spPr>
            <a:xfrm flipV="1">
              <a:off x="6164695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3" name="Straight Connector 22"/>
            <p:cNvSpPr/>
            <p:nvPr/>
          </p:nvSpPr>
          <p:spPr>
            <a:xfrm flipV="1">
              <a:off x="5809673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5857009" y="2210298"/>
              <a:ext cx="295852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6259368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6" name="Straight Connector 25"/>
            <p:cNvSpPr/>
            <p:nvPr/>
          </p:nvSpPr>
          <p:spPr>
            <a:xfrm>
              <a:off x="6259368" y="2447695"/>
              <a:ext cx="0" cy="3560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7" name="Straight Connector 26"/>
            <p:cNvSpPr/>
            <p:nvPr/>
          </p:nvSpPr>
          <p:spPr>
            <a:xfrm flipV="1">
              <a:off x="6401377" y="1426890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6401377" y="1699896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00800" y="1828239"/>
              <a:ext cx="1112116" cy="278751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>
                  <a:ln>
                    <a:noFill/>
                  </a:ln>
                  <a:latin typeface="+mj-lt"/>
                  <a:ea typeface="DejaVu Sans" pitchFamily="2"/>
                  <a:cs typeface="DejaVu Sans" pitchFamily="2"/>
                </a:rPr>
                <a:t>ELECTRODE</a:t>
              </a:r>
            </a:p>
          </p:txBody>
        </p:sp>
        <p:grpSp>
          <p:nvGrpSpPr>
            <p:cNvPr id="3" name="Group 29"/>
            <p:cNvGrpSpPr/>
            <p:nvPr/>
          </p:nvGrpSpPr>
          <p:grpSpPr>
            <a:xfrm>
              <a:off x="7762298" y="940228"/>
              <a:ext cx="272184" cy="913976"/>
              <a:chOff x="6840000" y="864000"/>
              <a:chExt cx="828000" cy="2771999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684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2" name="Straight Connector 31"/>
              <p:cNvSpPr/>
              <p:nvPr/>
            </p:nvSpPr>
            <p:spPr>
              <a:xfrm flipV="1">
                <a:off x="6983999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3" name="Straight Connector 32"/>
              <p:cNvSpPr/>
              <p:nvPr/>
            </p:nvSpPr>
            <p:spPr>
              <a:xfrm flipV="1">
                <a:off x="730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07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5" name="Straight Connector 34"/>
              <p:cNvSpPr/>
              <p:nvPr/>
            </p:nvSpPr>
            <p:spPr>
              <a:xfrm flipV="1">
                <a:off x="7523999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6" name="Straight Connector 35"/>
              <p:cNvSpPr/>
              <p:nvPr/>
            </p:nvSpPr>
            <p:spPr>
              <a:xfrm flipV="1">
                <a:off x="6983999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 flipH="1">
                <a:off x="705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8" name="Straight Connector 37"/>
              <p:cNvSpPr/>
              <p:nvPr/>
            </p:nvSpPr>
            <p:spPr>
              <a:xfrm flipV="1">
                <a:off x="766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7543801" y="1828800"/>
              <a:ext cx="1600199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4" name="Group 39"/>
            <p:cNvGrpSpPr/>
            <p:nvPr/>
          </p:nvGrpSpPr>
          <p:grpSpPr>
            <a:xfrm>
              <a:off x="8129155" y="940228"/>
              <a:ext cx="272184" cy="913976"/>
              <a:chOff x="7956000" y="864000"/>
              <a:chExt cx="828000" cy="2771999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7956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2" name="Straight Connector 41"/>
              <p:cNvSpPr/>
              <p:nvPr/>
            </p:nvSpPr>
            <p:spPr>
              <a:xfrm flipV="1">
                <a:off x="8100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3" name="Straight Connector 42"/>
              <p:cNvSpPr/>
              <p:nvPr/>
            </p:nvSpPr>
            <p:spPr>
              <a:xfrm flipV="1">
                <a:off x="842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8190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5" name="Straight Connector 44"/>
              <p:cNvSpPr/>
              <p:nvPr/>
            </p:nvSpPr>
            <p:spPr>
              <a:xfrm flipV="1">
                <a:off x="8640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6" name="Straight Connector 45"/>
              <p:cNvSpPr/>
              <p:nvPr/>
            </p:nvSpPr>
            <p:spPr>
              <a:xfrm flipV="1">
                <a:off x="8100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>
                <a:off x="8172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8" name="Straight Connector 47"/>
              <p:cNvSpPr/>
              <p:nvPr/>
            </p:nvSpPr>
            <p:spPr>
              <a:xfrm flipV="1">
                <a:off x="87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grpSp>
          <p:nvGrpSpPr>
            <p:cNvPr id="5" name="Group 48"/>
            <p:cNvGrpSpPr/>
            <p:nvPr/>
          </p:nvGrpSpPr>
          <p:grpSpPr>
            <a:xfrm>
              <a:off x="8472343" y="940228"/>
              <a:ext cx="272184" cy="913976"/>
              <a:chOff x="9000000" y="864000"/>
              <a:chExt cx="828000" cy="2771999"/>
            </a:xfrm>
          </p:grpSpPr>
          <p:sp>
            <p:nvSpPr>
              <p:cNvPr id="50" name="Freeform 49"/>
              <p:cNvSpPr/>
              <p:nvPr/>
            </p:nvSpPr>
            <p:spPr>
              <a:xfrm>
                <a:off x="900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1" name="Straight Connector 50"/>
              <p:cNvSpPr/>
              <p:nvPr/>
            </p:nvSpPr>
            <p:spPr>
              <a:xfrm flipV="1">
                <a:off x="9144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2" name="Straight Connector 51"/>
              <p:cNvSpPr/>
              <p:nvPr/>
            </p:nvSpPr>
            <p:spPr>
              <a:xfrm flipV="1">
                <a:off x="946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923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4" name="Straight Connector 53"/>
              <p:cNvSpPr/>
              <p:nvPr/>
            </p:nvSpPr>
            <p:spPr>
              <a:xfrm flipV="1">
                <a:off x="96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5" name="Straight Connector 54"/>
              <p:cNvSpPr/>
              <p:nvPr/>
            </p:nvSpPr>
            <p:spPr>
              <a:xfrm flipV="1">
                <a:off x="914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>
              <a:xfrm flipH="1">
                <a:off x="921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7" name="Straight Connector 56"/>
              <p:cNvSpPr/>
              <p:nvPr/>
            </p:nvSpPr>
            <p:spPr>
              <a:xfrm flipV="1">
                <a:off x="982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58" name="Freeform 57"/>
            <p:cNvSpPr/>
            <p:nvPr/>
          </p:nvSpPr>
          <p:spPr>
            <a:xfrm rot="5400000">
              <a:off x="8572040" y="2879704"/>
              <a:ext cx="207722" cy="1741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59" name="Straight Connector 58"/>
            <p:cNvSpPr/>
            <p:nvPr/>
          </p:nvSpPr>
          <p:spPr>
            <a:xfrm flipH="1">
              <a:off x="7987618" y="3021399"/>
              <a:ext cx="597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0" name="Straight Connector 59"/>
            <p:cNvSpPr/>
            <p:nvPr/>
          </p:nvSpPr>
          <p:spPr>
            <a:xfrm flipH="1">
              <a:off x="7833302" y="2914570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 rot="5400000">
              <a:off x="8383070" y="2846117"/>
              <a:ext cx="178047" cy="124613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2" name="Straight Connector 61"/>
            <p:cNvSpPr/>
            <p:nvPr/>
          </p:nvSpPr>
          <p:spPr>
            <a:xfrm flipH="1">
              <a:off x="7997559" y="2843352"/>
              <a:ext cx="3486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3" name="Straight Connector 62"/>
            <p:cNvSpPr/>
            <p:nvPr/>
          </p:nvSpPr>
          <p:spPr>
            <a:xfrm flipH="1">
              <a:off x="7833302" y="3021399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 rot="16200000">
              <a:off x="7770387" y="2821414"/>
              <a:ext cx="156427" cy="152400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5" name="Straight Connector 64"/>
            <p:cNvSpPr/>
            <p:nvPr/>
          </p:nvSpPr>
          <p:spPr>
            <a:xfrm flipH="1">
              <a:off x="7997559" y="2795872"/>
              <a:ext cx="3486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6" name="Group 65"/>
            <p:cNvGrpSpPr/>
            <p:nvPr/>
          </p:nvGrpSpPr>
          <p:grpSpPr>
            <a:xfrm>
              <a:off x="7750464" y="2392299"/>
              <a:ext cx="911225" cy="273006"/>
              <a:chOff x="6804000" y="4860000"/>
              <a:chExt cx="2772000" cy="828000"/>
            </a:xfrm>
          </p:grpSpPr>
          <p:sp>
            <p:nvSpPr>
              <p:cNvPr id="67" name="Freeform 66"/>
              <p:cNvSpPr/>
              <p:nvPr/>
            </p:nvSpPr>
            <p:spPr>
              <a:xfrm rot="5400000">
                <a:off x="6753960" y="4910040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8" name="Straight Connector 67"/>
              <p:cNvSpPr/>
              <p:nvPr/>
            </p:nvSpPr>
            <p:spPr>
              <a:xfrm>
                <a:off x="7288559" y="5004000"/>
                <a:ext cx="1818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9" name="Straight Connector 68"/>
              <p:cNvSpPr/>
              <p:nvPr/>
            </p:nvSpPr>
            <p:spPr>
              <a:xfrm>
                <a:off x="7303679" y="5328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0" name="Freeform 69"/>
              <p:cNvSpPr/>
              <p:nvPr/>
            </p:nvSpPr>
            <p:spPr>
              <a:xfrm rot="5400000">
                <a:off x="8950139" y="5174460"/>
                <a:ext cx="539999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1" name="Straight Connector 70"/>
              <p:cNvSpPr/>
              <p:nvPr/>
            </p:nvSpPr>
            <p:spPr>
              <a:xfrm>
                <a:off x="8015759" y="5544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2" name="Straight Connector 71"/>
              <p:cNvSpPr/>
              <p:nvPr/>
            </p:nvSpPr>
            <p:spPr>
              <a:xfrm>
                <a:off x="7303679" y="5004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 rot="16200000">
                <a:off x="7350778" y="5137786"/>
                <a:ext cx="607344" cy="419457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4" name="Straight Connector 73"/>
              <p:cNvSpPr/>
              <p:nvPr/>
            </p:nvSpPr>
            <p:spPr>
              <a:xfrm>
                <a:off x="8015759" y="5688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7696200" y="3123639"/>
              <a:ext cx="1295400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6248400" y="685800"/>
              <a:ext cx="0" cy="35609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0" y="58746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+mj-lt"/>
              </a:rPr>
              <a:t>LFP modeled as sum of absolute values of Excitatory and Inhibitory currents on Excitatory neurons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 excitatory-inhibitory networks</a:t>
            </a:r>
          </a:p>
        </p:txBody>
      </p:sp>
    </p:spTree>
    <p:extLst>
      <p:ext uri="{BB962C8B-B14F-4D97-AF65-F5344CB8AC3E}">
        <p14:creationId xmlns:p14="http://schemas.microsoft.com/office/powerpoint/2010/main" val="4238297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891902" y="1060473"/>
            <a:ext cx="6324600" cy="4729199"/>
            <a:chOff x="5715000" y="685800"/>
            <a:chExt cx="3429000" cy="2590532"/>
          </a:xfrm>
        </p:grpSpPr>
        <p:sp>
          <p:nvSpPr>
            <p:cNvPr id="16" name="TextBox 15"/>
            <p:cNvSpPr txBox="1"/>
            <p:nvPr/>
          </p:nvSpPr>
          <p:spPr>
            <a:xfrm>
              <a:off x="6254008" y="1034142"/>
              <a:ext cx="11083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 SINK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24600" y="2209239"/>
              <a:ext cx="13369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 SOURCE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715000" y="2673221"/>
              <a:ext cx="414193" cy="41544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5809673" y="1284452"/>
              <a:ext cx="0" cy="1424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0" name="Straight Connector 19"/>
            <p:cNvSpPr/>
            <p:nvPr/>
          </p:nvSpPr>
          <p:spPr>
            <a:xfrm flipV="1">
              <a:off x="6022686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868843" y="1047056"/>
              <a:ext cx="355023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2" name="Straight Connector 21"/>
            <p:cNvSpPr/>
            <p:nvPr/>
          </p:nvSpPr>
          <p:spPr>
            <a:xfrm flipV="1">
              <a:off x="6164695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3" name="Straight Connector 22"/>
            <p:cNvSpPr/>
            <p:nvPr/>
          </p:nvSpPr>
          <p:spPr>
            <a:xfrm flipV="1">
              <a:off x="5809673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5857009" y="2210298"/>
              <a:ext cx="295852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6259368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6" name="Straight Connector 25"/>
            <p:cNvSpPr/>
            <p:nvPr/>
          </p:nvSpPr>
          <p:spPr>
            <a:xfrm>
              <a:off x="6259368" y="2447695"/>
              <a:ext cx="0" cy="3560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7" name="Straight Connector 26"/>
            <p:cNvSpPr/>
            <p:nvPr/>
          </p:nvSpPr>
          <p:spPr>
            <a:xfrm flipV="1">
              <a:off x="6401377" y="1426890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6401377" y="1699896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00800" y="1828239"/>
              <a:ext cx="1112116" cy="278751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>
                  <a:ln>
                    <a:noFill/>
                  </a:ln>
                  <a:latin typeface="+mj-lt"/>
                  <a:ea typeface="DejaVu Sans" pitchFamily="2"/>
                  <a:cs typeface="DejaVu Sans" pitchFamily="2"/>
                </a:rPr>
                <a:t>ELECTRODE</a:t>
              </a:r>
            </a:p>
          </p:txBody>
        </p:sp>
        <p:grpSp>
          <p:nvGrpSpPr>
            <p:cNvPr id="3" name="Group 29"/>
            <p:cNvGrpSpPr/>
            <p:nvPr/>
          </p:nvGrpSpPr>
          <p:grpSpPr>
            <a:xfrm>
              <a:off x="7762298" y="940228"/>
              <a:ext cx="272184" cy="913976"/>
              <a:chOff x="6840000" y="864000"/>
              <a:chExt cx="828000" cy="2771999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684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2" name="Straight Connector 31"/>
              <p:cNvSpPr/>
              <p:nvPr/>
            </p:nvSpPr>
            <p:spPr>
              <a:xfrm flipV="1">
                <a:off x="6983999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3" name="Straight Connector 32"/>
              <p:cNvSpPr/>
              <p:nvPr/>
            </p:nvSpPr>
            <p:spPr>
              <a:xfrm flipV="1">
                <a:off x="730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07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5" name="Straight Connector 34"/>
              <p:cNvSpPr/>
              <p:nvPr/>
            </p:nvSpPr>
            <p:spPr>
              <a:xfrm flipV="1">
                <a:off x="7523999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6" name="Straight Connector 35"/>
              <p:cNvSpPr/>
              <p:nvPr/>
            </p:nvSpPr>
            <p:spPr>
              <a:xfrm flipV="1">
                <a:off x="6983999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 flipH="1">
                <a:off x="705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8" name="Straight Connector 37"/>
              <p:cNvSpPr/>
              <p:nvPr/>
            </p:nvSpPr>
            <p:spPr>
              <a:xfrm flipV="1">
                <a:off x="766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7543801" y="1828800"/>
              <a:ext cx="1600199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4" name="Group 39"/>
            <p:cNvGrpSpPr/>
            <p:nvPr/>
          </p:nvGrpSpPr>
          <p:grpSpPr>
            <a:xfrm>
              <a:off x="8129155" y="940228"/>
              <a:ext cx="272184" cy="913976"/>
              <a:chOff x="7956000" y="864000"/>
              <a:chExt cx="828000" cy="2771999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7956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2" name="Straight Connector 41"/>
              <p:cNvSpPr/>
              <p:nvPr/>
            </p:nvSpPr>
            <p:spPr>
              <a:xfrm flipV="1">
                <a:off x="8100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3" name="Straight Connector 42"/>
              <p:cNvSpPr/>
              <p:nvPr/>
            </p:nvSpPr>
            <p:spPr>
              <a:xfrm flipV="1">
                <a:off x="842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8190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5" name="Straight Connector 44"/>
              <p:cNvSpPr/>
              <p:nvPr/>
            </p:nvSpPr>
            <p:spPr>
              <a:xfrm flipV="1">
                <a:off x="8640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6" name="Straight Connector 45"/>
              <p:cNvSpPr/>
              <p:nvPr/>
            </p:nvSpPr>
            <p:spPr>
              <a:xfrm flipV="1">
                <a:off x="8100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>
                <a:off x="8172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8" name="Straight Connector 47"/>
              <p:cNvSpPr/>
              <p:nvPr/>
            </p:nvSpPr>
            <p:spPr>
              <a:xfrm flipV="1">
                <a:off x="87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grpSp>
          <p:nvGrpSpPr>
            <p:cNvPr id="5" name="Group 48"/>
            <p:cNvGrpSpPr/>
            <p:nvPr/>
          </p:nvGrpSpPr>
          <p:grpSpPr>
            <a:xfrm>
              <a:off x="8472343" y="940228"/>
              <a:ext cx="272184" cy="913976"/>
              <a:chOff x="9000000" y="864000"/>
              <a:chExt cx="828000" cy="2771999"/>
            </a:xfrm>
          </p:grpSpPr>
          <p:sp>
            <p:nvSpPr>
              <p:cNvPr id="50" name="Freeform 49"/>
              <p:cNvSpPr/>
              <p:nvPr/>
            </p:nvSpPr>
            <p:spPr>
              <a:xfrm>
                <a:off x="900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1" name="Straight Connector 50"/>
              <p:cNvSpPr/>
              <p:nvPr/>
            </p:nvSpPr>
            <p:spPr>
              <a:xfrm flipV="1">
                <a:off x="9144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2" name="Straight Connector 51"/>
              <p:cNvSpPr/>
              <p:nvPr/>
            </p:nvSpPr>
            <p:spPr>
              <a:xfrm flipV="1">
                <a:off x="946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923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4" name="Straight Connector 53"/>
              <p:cNvSpPr/>
              <p:nvPr/>
            </p:nvSpPr>
            <p:spPr>
              <a:xfrm flipV="1">
                <a:off x="96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5" name="Straight Connector 54"/>
              <p:cNvSpPr/>
              <p:nvPr/>
            </p:nvSpPr>
            <p:spPr>
              <a:xfrm flipV="1">
                <a:off x="914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>
              <a:xfrm flipH="1">
                <a:off x="921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7" name="Straight Connector 56"/>
              <p:cNvSpPr/>
              <p:nvPr/>
            </p:nvSpPr>
            <p:spPr>
              <a:xfrm flipV="1">
                <a:off x="982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58" name="Freeform 57"/>
            <p:cNvSpPr/>
            <p:nvPr/>
          </p:nvSpPr>
          <p:spPr>
            <a:xfrm rot="5400000">
              <a:off x="8572040" y="2879704"/>
              <a:ext cx="207722" cy="1741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59" name="Straight Connector 58"/>
            <p:cNvSpPr/>
            <p:nvPr/>
          </p:nvSpPr>
          <p:spPr>
            <a:xfrm flipH="1">
              <a:off x="7987618" y="3021399"/>
              <a:ext cx="597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0" name="Straight Connector 59"/>
            <p:cNvSpPr/>
            <p:nvPr/>
          </p:nvSpPr>
          <p:spPr>
            <a:xfrm flipH="1">
              <a:off x="7833302" y="2914570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 rot="5400000">
              <a:off x="8383070" y="2846117"/>
              <a:ext cx="178047" cy="124613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2" name="Straight Connector 61"/>
            <p:cNvSpPr/>
            <p:nvPr/>
          </p:nvSpPr>
          <p:spPr>
            <a:xfrm flipH="1">
              <a:off x="7997559" y="2843352"/>
              <a:ext cx="3486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3" name="Straight Connector 62"/>
            <p:cNvSpPr/>
            <p:nvPr/>
          </p:nvSpPr>
          <p:spPr>
            <a:xfrm flipH="1">
              <a:off x="7833302" y="3021399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 rot="16200000">
              <a:off x="7770387" y="2821414"/>
              <a:ext cx="156427" cy="152400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5" name="Straight Connector 64"/>
            <p:cNvSpPr/>
            <p:nvPr/>
          </p:nvSpPr>
          <p:spPr>
            <a:xfrm flipH="1">
              <a:off x="7997559" y="2795872"/>
              <a:ext cx="3486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6" name="Group 65"/>
            <p:cNvGrpSpPr/>
            <p:nvPr/>
          </p:nvGrpSpPr>
          <p:grpSpPr>
            <a:xfrm>
              <a:off x="7750464" y="2392299"/>
              <a:ext cx="911225" cy="273006"/>
              <a:chOff x="6804000" y="4860000"/>
              <a:chExt cx="2772000" cy="828000"/>
            </a:xfrm>
          </p:grpSpPr>
          <p:sp>
            <p:nvSpPr>
              <p:cNvPr id="67" name="Freeform 66"/>
              <p:cNvSpPr/>
              <p:nvPr/>
            </p:nvSpPr>
            <p:spPr>
              <a:xfrm rot="5400000">
                <a:off x="6753960" y="4910040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8" name="Straight Connector 67"/>
              <p:cNvSpPr/>
              <p:nvPr/>
            </p:nvSpPr>
            <p:spPr>
              <a:xfrm>
                <a:off x="7288559" y="5004000"/>
                <a:ext cx="1818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9" name="Straight Connector 68"/>
              <p:cNvSpPr/>
              <p:nvPr/>
            </p:nvSpPr>
            <p:spPr>
              <a:xfrm>
                <a:off x="7303679" y="5328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0" name="Freeform 69"/>
              <p:cNvSpPr/>
              <p:nvPr/>
            </p:nvSpPr>
            <p:spPr>
              <a:xfrm rot="5400000">
                <a:off x="8950139" y="5174460"/>
                <a:ext cx="539999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1" name="Straight Connector 70"/>
              <p:cNvSpPr/>
              <p:nvPr/>
            </p:nvSpPr>
            <p:spPr>
              <a:xfrm>
                <a:off x="8015759" y="5544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2" name="Straight Connector 71"/>
              <p:cNvSpPr/>
              <p:nvPr/>
            </p:nvSpPr>
            <p:spPr>
              <a:xfrm>
                <a:off x="7303679" y="5004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 rot="16200000">
                <a:off x="7350778" y="5137786"/>
                <a:ext cx="607344" cy="419457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4" name="Straight Connector 73"/>
              <p:cNvSpPr/>
              <p:nvPr/>
            </p:nvSpPr>
            <p:spPr>
              <a:xfrm>
                <a:off x="8015759" y="5688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7696200" y="3123639"/>
              <a:ext cx="1295400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6248400" y="685800"/>
              <a:ext cx="0" cy="35609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0" y="58746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+mj-lt"/>
              </a:rPr>
              <a:t>LFP modeled as sum of absolute values of Excitatory and Inhibitory currents on Excitatory neurons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 excitatory-inhibitory networks</a:t>
            </a: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C66E411E-9922-4470-9466-AD1A4C8DB139}"/>
              </a:ext>
            </a:extLst>
          </p:cNvPr>
          <p:cNvSpPr/>
          <p:nvPr/>
        </p:nvSpPr>
        <p:spPr>
          <a:xfrm>
            <a:off x="4572000" y="1753923"/>
            <a:ext cx="1994005" cy="33340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Dipole</a:t>
            </a:r>
            <a:r>
              <a:rPr lang="it-IT" sz="2400" b="1" dirty="0"/>
              <a:t> </a:t>
            </a:r>
            <a:r>
              <a:rPr lang="it-IT" sz="2400" b="1" dirty="0" err="1"/>
              <a:t>effect</a:t>
            </a:r>
            <a:r>
              <a:rPr lang="it-IT" sz="2400" dirty="0"/>
              <a:t>: the </a:t>
            </a:r>
            <a:r>
              <a:rPr lang="it-IT" sz="2400" dirty="0" err="1"/>
              <a:t>distance</a:t>
            </a:r>
            <a:r>
              <a:rPr lang="it-IT" sz="2400" dirty="0"/>
              <a:t> </a:t>
            </a:r>
            <a:r>
              <a:rPr lang="it-IT" sz="2400" dirty="0" err="1"/>
              <a:t>between</a:t>
            </a:r>
            <a:r>
              <a:rPr lang="it-IT" sz="2400" dirty="0"/>
              <a:t> </a:t>
            </a:r>
            <a:r>
              <a:rPr lang="it-IT" sz="2400" dirty="0" err="1"/>
              <a:t>sink</a:t>
            </a:r>
            <a:r>
              <a:rPr lang="it-IT" sz="2400" dirty="0"/>
              <a:t> and source </a:t>
            </a:r>
            <a:r>
              <a:rPr lang="it-IT" sz="2400" dirty="0" err="1"/>
              <a:t>creates</a:t>
            </a:r>
            <a:r>
              <a:rPr lang="it-IT" sz="2400" dirty="0"/>
              <a:t> a </a:t>
            </a:r>
            <a:r>
              <a:rPr lang="it-IT" sz="2400" dirty="0" err="1"/>
              <a:t>dipole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5818548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899592" y="1156418"/>
            <a:ext cx="6324600" cy="4729199"/>
            <a:chOff x="5715000" y="685800"/>
            <a:chExt cx="3429000" cy="2590532"/>
          </a:xfrm>
        </p:grpSpPr>
        <p:sp>
          <p:nvSpPr>
            <p:cNvPr id="16" name="TextBox 15"/>
            <p:cNvSpPr txBox="1"/>
            <p:nvPr/>
          </p:nvSpPr>
          <p:spPr>
            <a:xfrm>
              <a:off x="6254008" y="1034142"/>
              <a:ext cx="11083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 SINK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24600" y="2209239"/>
              <a:ext cx="13369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 SOURCE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715000" y="2673221"/>
              <a:ext cx="414193" cy="41544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5809673" y="1284452"/>
              <a:ext cx="0" cy="1424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0" name="Straight Connector 19"/>
            <p:cNvSpPr/>
            <p:nvPr/>
          </p:nvSpPr>
          <p:spPr>
            <a:xfrm flipV="1">
              <a:off x="6022686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868843" y="1047056"/>
              <a:ext cx="355023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2" name="Straight Connector 21"/>
            <p:cNvSpPr/>
            <p:nvPr/>
          </p:nvSpPr>
          <p:spPr>
            <a:xfrm flipV="1">
              <a:off x="6164695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3" name="Straight Connector 22"/>
            <p:cNvSpPr/>
            <p:nvPr/>
          </p:nvSpPr>
          <p:spPr>
            <a:xfrm flipV="1">
              <a:off x="5809673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5857009" y="2210298"/>
              <a:ext cx="295852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6259368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6" name="Straight Connector 25"/>
            <p:cNvSpPr/>
            <p:nvPr/>
          </p:nvSpPr>
          <p:spPr>
            <a:xfrm>
              <a:off x="6259368" y="2447695"/>
              <a:ext cx="0" cy="3560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7" name="Straight Connector 26"/>
            <p:cNvSpPr/>
            <p:nvPr/>
          </p:nvSpPr>
          <p:spPr>
            <a:xfrm flipV="1">
              <a:off x="6401377" y="1426890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6401377" y="1699896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00800" y="1828239"/>
              <a:ext cx="1112116" cy="278751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>
                  <a:ln>
                    <a:noFill/>
                  </a:ln>
                  <a:latin typeface="+mj-lt"/>
                  <a:ea typeface="DejaVu Sans" pitchFamily="2"/>
                  <a:cs typeface="DejaVu Sans" pitchFamily="2"/>
                </a:rPr>
                <a:t>ELECTRODE</a:t>
              </a:r>
            </a:p>
          </p:txBody>
        </p:sp>
        <p:grpSp>
          <p:nvGrpSpPr>
            <p:cNvPr id="3" name="Group 29"/>
            <p:cNvGrpSpPr/>
            <p:nvPr/>
          </p:nvGrpSpPr>
          <p:grpSpPr>
            <a:xfrm>
              <a:off x="7762298" y="940228"/>
              <a:ext cx="272184" cy="913976"/>
              <a:chOff x="6840000" y="864000"/>
              <a:chExt cx="828000" cy="2771999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684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2" name="Straight Connector 31"/>
              <p:cNvSpPr/>
              <p:nvPr/>
            </p:nvSpPr>
            <p:spPr>
              <a:xfrm flipV="1">
                <a:off x="6983999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3" name="Straight Connector 32"/>
              <p:cNvSpPr/>
              <p:nvPr/>
            </p:nvSpPr>
            <p:spPr>
              <a:xfrm flipV="1">
                <a:off x="730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07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5" name="Straight Connector 34"/>
              <p:cNvSpPr/>
              <p:nvPr/>
            </p:nvSpPr>
            <p:spPr>
              <a:xfrm flipV="1">
                <a:off x="7523999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6" name="Straight Connector 35"/>
              <p:cNvSpPr/>
              <p:nvPr/>
            </p:nvSpPr>
            <p:spPr>
              <a:xfrm flipV="1">
                <a:off x="6983999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 flipH="1">
                <a:off x="705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8" name="Straight Connector 37"/>
              <p:cNvSpPr/>
              <p:nvPr/>
            </p:nvSpPr>
            <p:spPr>
              <a:xfrm flipV="1">
                <a:off x="766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7543801" y="1828800"/>
              <a:ext cx="1600199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4" name="Group 39"/>
            <p:cNvGrpSpPr/>
            <p:nvPr/>
          </p:nvGrpSpPr>
          <p:grpSpPr>
            <a:xfrm>
              <a:off x="8129155" y="940228"/>
              <a:ext cx="272184" cy="913976"/>
              <a:chOff x="7956000" y="864000"/>
              <a:chExt cx="828000" cy="2771999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7956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2" name="Straight Connector 41"/>
              <p:cNvSpPr/>
              <p:nvPr/>
            </p:nvSpPr>
            <p:spPr>
              <a:xfrm flipV="1">
                <a:off x="8100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3" name="Straight Connector 42"/>
              <p:cNvSpPr/>
              <p:nvPr/>
            </p:nvSpPr>
            <p:spPr>
              <a:xfrm flipV="1">
                <a:off x="842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8190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5" name="Straight Connector 44"/>
              <p:cNvSpPr/>
              <p:nvPr/>
            </p:nvSpPr>
            <p:spPr>
              <a:xfrm flipV="1">
                <a:off x="8640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6" name="Straight Connector 45"/>
              <p:cNvSpPr/>
              <p:nvPr/>
            </p:nvSpPr>
            <p:spPr>
              <a:xfrm flipV="1">
                <a:off x="8100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>
                <a:off x="8172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8" name="Straight Connector 47"/>
              <p:cNvSpPr/>
              <p:nvPr/>
            </p:nvSpPr>
            <p:spPr>
              <a:xfrm flipV="1">
                <a:off x="87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grpSp>
          <p:nvGrpSpPr>
            <p:cNvPr id="5" name="Group 48"/>
            <p:cNvGrpSpPr/>
            <p:nvPr/>
          </p:nvGrpSpPr>
          <p:grpSpPr>
            <a:xfrm>
              <a:off x="8472343" y="940228"/>
              <a:ext cx="272184" cy="913976"/>
              <a:chOff x="9000000" y="864000"/>
              <a:chExt cx="828000" cy="2771999"/>
            </a:xfrm>
          </p:grpSpPr>
          <p:sp>
            <p:nvSpPr>
              <p:cNvPr id="50" name="Freeform 49"/>
              <p:cNvSpPr/>
              <p:nvPr/>
            </p:nvSpPr>
            <p:spPr>
              <a:xfrm>
                <a:off x="900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1" name="Straight Connector 50"/>
              <p:cNvSpPr/>
              <p:nvPr/>
            </p:nvSpPr>
            <p:spPr>
              <a:xfrm flipV="1">
                <a:off x="9144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2" name="Straight Connector 51"/>
              <p:cNvSpPr/>
              <p:nvPr/>
            </p:nvSpPr>
            <p:spPr>
              <a:xfrm flipV="1">
                <a:off x="946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923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4" name="Straight Connector 53"/>
              <p:cNvSpPr/>
              <p:nvPr/>
            </p:nvSpPr>
            <p:spPr>
              <a:xfrm flipV="1">
                <a:off x="96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5" name="Straight Connector 54"/>
              <p:cNvSpPr/>
              <p:nvPr/>
            </p:nvSpPr>
            <p:spPr>
              <a:xfrm flipV="1">
                <a:off x="914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>
              <a:xfrm flipH="1">
                <a:off x="921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7" name="Straight Connector 56"/>
              <p:cNvSpPr/>
              <p:nvPr/>
            </p:nvSpPr>
            <p:spPr>
              <a:xfrm flipV="1">
                <a:off x="982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58" name="Freeform 57"/>
            <p:cNvSpPr/>
            <p:nvPr/>
          </p:nvSpPr>
          <p:spPr>
            <a:xfrm rot="5400000">
              <a:off x="8572040" y="2879704"/>
              <a:ext cx="207722" cy="1741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59" name="Straight Connector 58"/>
            <p:cNvSpPr/>
            <p:nvPr/>
          </p:nvSpPr>
          <p:spPr>
            <a:xfrm flipH="1">
              <a:off x="7987618" y="3021399"/>
              <a:ext cx="597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0" name="Straight Connector 59"/>
            <p:cNvSpPr/>
            <p:nvPr/>
          </p:nvSpPr>
          <p:spPr>
            <a:xfrm flipH="1">
              <a:off x="7833302" y="2914570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 rot="5400000">
              <a:off x="8383070" y="2846117"/>
              <a:ext cx="178047" cy="124613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2" name="Straight Connector 61"/>
            <p:cNvSpPr/>
            <p:nvPr/>
          </p:nvSpPr>
          <p:spPr>
            <a:xfrm flipH="1">
              <a:off x="7997559" y="2843352"/>
              <a:ext cx="3486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3" name="Straight Connector 62"/>
            <p:cNvSpPr/>
            <p:nvPr/>
          </p:nvSpPr>
          <p:spPr>
            <a:xfrm flipH="1">
              <a:off x="7833302" y="3021399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 rot="16200000">
              <a:off x="7770387" y="2821414"/>
              <a:ext cx="156427" cy="152400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5" name="Straight Connector 64"/>
            <p:cNvSpPr/>
            <p:nvPr/>
          </p:nvSpPr>
          <p:spPr>
            <a:xfrm flipH="1">
              <a:off x="7997559" y="2795872"/>
              <a:ext cx="3486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6" name="Group 65"/>
            <p:cNvGrpSpPr/>
            <p:nvPr/>
          </p:nvGrpSpPr>
          <p:grpSpPr>
            <a:xfrm>
              <a:off x="7750464" y="2392299"/>
              <a:ext cx="911225" cy="273006"/>
              <a:chOff x="6804000" y="4860000"/>
              <a:chExt cx="2772000" cy="828000"/>
            </a:xfrm>
          </p:grpSpPr>
          <p:sp>
            <p:nvSpPr>
              <p:cNvPr id="67" name="Freeform 66"/>
              <p:cNvSpPr/>
              <p:nvPr/>
            </p:nvSpPr>
            <p:spPr>
              <a:xfrm rot="5400000">
                <a:off x="6753960" y="4910040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8" name="Straight Connector 67"/>
              <p:cNvSpPr/>
              <p:nvPr/>
            </p:nvSpPr>
            <p:spPr>
              <a:xfrm>
                <a:off x="7288559" y="5004000"/>
                <a:ext cx="1818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9" name="Straight Connector 68"/>
              <p:cNvSpPr/>
              <p:nvPr/>
            </p:nvSpPr>
            <p:spPr>
              <a:xfrm>
                <a:off x="7303679" y="5328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0" name="Freeform 69"/>
              <p:cNvSpPr/>
              <p:nvPr/>
            </p:nvSpPr>
            <p:spPr>
              <a:xfrm rot="5400000">
                <a:off x="8950139" y="5174460"/>
                <a:ext cx="539999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1" name="Straight Connector 70"/>
              <p:cNvSpPr/>
              <p:nvPr/>
            </p:nvSpPr>
            <p:spPr>
              <a:xfrm>
                <a:off x="8015759" y="5544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2" name="Straight Connector 71"/>
              <p:cNvSpPr/>
              <p:nvPr/>
            </p:nvSpPr>
            <p:spPr>
              <a:xfrm>
                <a:off x="7303679" y="5004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 rot="16200000">
                <a:off x="7350778" y="5137786"/>
                <a:ext cx="607344" cy="419457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4" name="Straight Connector 73"/>
              <p:cNvSpPr/>
              <p:nvPr/>
            </p:nvSpPr>
            <p:spPr>
              <a:xfrm>
                <a:off x="8015759" y="5688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7696200" y="3123639"/>
              <a:ext cx="1295400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6248400" y="685800"/>
              <a:ext cx="0" cy="35609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0" y="58746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+mj-lt"/>
              </a:rPr>
              <a:t>LFP modeled as sum of absolute values of Excitatory and Inhibitory currents on Excitatory neurons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 excitatory-inhibitory networks</a:t>
            </a: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C66E411E-9922-4470-9466-AD1A4C8DB139}"/>
              </a:ext>
            </a:extLst>
          </p:cNvPr>
          <p:cNvSpPr/>
          <p:nvPr/>
        </p:nvSpPr>
        <p:spPr>
          <a:xfrm>
            <a:off x="323531" y="1595337"/>
            <a:ext cx="3312364" cy="401466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Dipoles</a:t>
            </a:r>
            <a:r>
              <a:rPr lang="it-IT" sz="2400" b="1" dirty="0"/>
              <a:t> sum</a:t>
            </a:r>
            <a:r>
              <a:rPr lang="it-IT" sz="2400" dirty="0"/>
              <a:t>: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Parallel</a:t>
            </a:r>
            <a:r>
              <a:rPr lang="it-IT" sz="2400" dirty="0"/>
              <a:t> </a:t>
            </a:r>
            <a:r>
              <a:rPr lang="it-IT" sz="2400" dirty="0" err="1"/>
              <a:t>dipoles</a:t>
            </a:r>
            <a:r>
              <a:rPr lang="it-IT" sz="2400" dirty="0"/>
              <a:t> </a:t>
            </a:r>
            <a:r>
              <a:rPr lang="it-IT" sz="2400" dirty="0" err="1"/>
              <a:t>formed</a:t>
            </a:r>
            <a:r>
              <a:rPr lang="it-IT" sz="2400" dirty="0"/>
              <a:t> by </a:t>
            </a:r>
            <a:r>
              <a:rPr lang="it-IT" sz="2400" dirty="0" err="1"/>
              <a:t>excitatory</a:t>
            </a:r>
            <a:r>
              <a:rPr lang="it-IT" sz="2400" dirty="0"/>
              <a:t> </a:t>
            </a:r>
            <a:r>
              <a:rPr lang="it-IT" sz="2400" dirty="0" err="1"/>
              <a:t>neurons</a:t>
            </a:r>
            <a:r>
              <a:rPr lang="it-IT" sz="2400" dirty="0"/>
              <a:t> sum up </a:t>
            </a:r>
            <a:r>
              <a:rPr lang="it-IT" sz="2400" dirty="0" err="1"/>
              <a:t>linearly</a:t>
            </a:r>
            <a:endParaRPr lang="it-IT" sz="2400" dirty="0"/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Isotropic</a:t>
            </a:r>
            <a:r>
              <a:rPr lang="it-IT" sz="2400" dirty="0"/>
              <a:t> </a:t>
            </a:r>
            <a:r>
              <a:rPr lang="it-IT" sz="2400" dirty="0" err="1"/>
              <a:t>dipoles</a:t>
            </a:r>
            <a:r>
              <a:rPr lang="it-IT" sz="2400" dirty="0"/>
              <a:t> </a:t>
            </a:r>
            <a:r>
              <a:rPr lang="it-IT" sz="2400" dirty="0" err="1"/>
              <a:t>formed</a:t>
            </a:r>
            <a:r>
              <a:rPr lang="it-IT" sz="2400" dirty="0"/>
              <a:t> by </a:t>
            </a:r>
            <a:r>
              <a:rPr lang="it-IT" sz="2400" dirty="0" err="1"/>
              <a:t>inhibitory</a:t>
            </a:r>
            <a:r>
              <a:rPr lang="it-IT" sz="2400" dirty="0"/>
              <a:t> </a:t>
            </a:r>
            <a:r>
              <a:rPr lang="it-IT" sz="2400" dirty="0" err="1"/>
              <a:t>neurons</a:t>
            </a:r>
            <a:r>
              <a:rPr lang="it-IT" sz="2400" dirty="0"/>
              <a:t> sum up to zero over a </a:t>
            </a:r>
            <a:r>
              <a:rPr lang="it-IT" sz="2400" dirty="0" err="1"/>
              <a:t>sufficiently</a:t>
            </a:r>
            <a:r>
              <a:rPr lang="it-IT" sz="2400" dirty="0"/>
              <a:t> large volume </a:t>
            </a:r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0251606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97"/>
          <p:cNvGrpSpPr/>
          <p:nvPr/>
        </p:nvGrpSpPr>
        <p:grpSpPr>
          <a:xfrm>
            <a:off x="457201" y="1524000"/>
            <a:ext cx="4800600" cy="2971800"/>
            <a:chOff x="1026192" y="914400"/>
            <a:chExt cx="7528623" cy="4495800"/>
          </a:xfrm>
        </p:grpSpPr>
        <p:sp>
          <p:nvSpPr>
            <p:cNvPr id="2" name="Freeform 1"/>
            <p:cNvSpPr/>
            <p:nvPr/>
          </p:nvSpPr>
          <p:spPr>
            <a:xfrm>
              <a:off x="1026193" y="914400"/>
              <a:ext cx="1196804" cy="12253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</a:t>
              </a:r>
            </a:p>
          </p:txBody>
        </p:sp>
        <p:sp>
          <p:nvSpPr>
            <p:cNvPr id="3" name="Freeform 2"/>
            <p:cNvSpPr/>
            <p:nvPr/>
          </p:nvSpPr>
          <p:spPr>
            <a:xfrm>
              <a:off x="2630577" y="1137727"/>
              <a:ext cx="2393609" cy="24280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P</a:t>
              </a:r>
            </a:p>
          </p:txBody>
        </p:sp>
        <p:sp>
          <p:nvSpPr>
            <p:cNvPr id="4" name="Freeform 3"/>
            <p:cNvSpPr/>
            <p:nvPr/>
          </p:nvSpPr>
          <p:spPr>
            <a:xfrm>
              <a:off x="6172200" y="1371600"/>
              <a:ext cx="2382615" cy="33528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Unspecific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slow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cortical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activity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1241516" y="4537950"/>
              <a:ext cx="3621847" cy="87225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Thalamic input</a:t>
              </a:r>
            </a:p>
          </p:txBody>
        </p:sp>
        <p:cxnSp>
          <p:nvCxnSpPr>
            <p:cNvPr id="6" name="Straight Arrow Connector 5"/>
            <p:cNvCxnSpPr>
              <a:stCxn id="5" idx="0"/>
              <a:endCxn id="5" idx="0"/>
            </p:cNvCxnSpPr>
            <p:nvPr/>
          </p:nvCxnSpPr>
          <p:spPr>
            <a:xfrm rot="5400000" flipH="1" flipV="1">
              <a:off x="3052297" y="4538090"/>
              <a:ext cx="2041" cy="1759"/>
            </a:xfrm>
            <a:prstGeom prst="straightConnector1">
              <a:avLst/>
            </a:prstGeom>
            <a:noFill/>
            <a:ln w="0">
              <a:solidFill>
                <a:srgbClr val="000000"/>
              </a:solidFill>
              <a:prstDash val="solid"/>
              <a:tailEnd type="arrow"/>
            </a:ln>
          </p:spPr>
        </p:cxnSp>
        <p:cxnSp>
          <p:nvCxnSpPr>
            <p:cNvPr id="7" name="Curved Connector 6"/>
            <p:cNvCxnSpPr>
              <a:stCxn id="5" idx="0"/>
              <a:endCxn id="2" idx="2"/>
            </p:cNvCxnSpPr>
            <p:nvPr/>
          </p:nvCxnSpPr>
          <p:spPr>
            <a:xfrm rot="16200000" flipV="1">
              <a:off x="1139435" y="2624945"/>
              <a:ext cx="2398165" cy="1427843"/>
            </a:xfrm>
            <a:prstGeom prst="curvedConnector3">
              <a:avLst>
                <a:gd name="adj1" fmla="val 50000"/>
              </a:avLst>
            </a:prstGeom>
            <a:noFill/>
            <a:ln w="508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8" name="Curved Connector 7"/>
            <p:cNvCxnSpPr>
              <a:stCxn id="4" idx="6"/>
              <a:endCxn id="3" idx="11"/>
            </p:cNvCxnSpPr>
            <p:nvPr/>
          </p:nvCxnSpPr>
          <p:spPr>
            <a:xfrm rot="16200000" flipV="1">
              <a:off x="4645576" y="1521376"/>
              <a:ext cx="1555059" cy="1498190"/>
            </a:xfrm>
            <a:prstGeom prst="curvedConnector3">
              <a:avLst>
                <a:gd name="adj1" fmla="val 107907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9" name="Curved Connector 8"/>
            <p:cNvCxnSpPr>
              <a:stCxn id="4" idx="5"/>
              <a:endCxn id="2" idx="11"/>
            </p:cNvCxnSpPr>
            <p:nvPr/>
          </p:nvCxnSpPr>
          <p:spPr>
            <a:xfrm rot="16200000" flipV="1">
              <a:off x="3900123" y="-758544"/>
              <a:ext cx="768433" cy="4472859"/>
            </a:xfrm>
            <a:prstGeom prst="curvedConnector3">
              <a:avLst>
                <a:gd name="adj1" fmla="val 153078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0" name="Curved Connector 9"/>
            <p:cNvCxnSpPr>
              <a:stCxn id="3" idx="6"/>
              <a:endCxn id="2" idx="9"/>
            </p:cNvCxnSpPr>
            <p:nvPr/>
          </p:nvCxnSpPr>
          <p:spPr>
            <a:xfrm rot="16200000" flipV="1">
              <a:off x="2143629" y="1864798"/>
              <a:ext cx="391232" cy="582667"/>
            </a:xfrm>
            <a:prstGeom prst="curvedConnector3">
              <a:avLst>
                <a:gd name="adj1" fmla="val -56771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1" name="Curved Connector 10"/>
            <p:cNvCxnSpPr>
              <a:stCxn id="2" idx="10"/>
              <a:endCxn id="3" idx="5"/>
            </p:cNvCxnSpPr>
            <p:nvPr/>
          </p:nvCxnSpPr>
          <p:spPr>
            <a:xfrm rot="5400000" flipH="1" flipV="1">
              <a:off x="2584799" y="1131140"/>
              <a:ext cx="34152" cy="757755"/>
            </a:xfrm>
            <a:prstGeom prst="curvedConnector3">
              <a:avLst>
                <a:gd name="adj1" fmla="val 671495"/>
              </a:avLst>
            </a:prstGeom>
            <a:noFill/>
            <a:ln w="1224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2" name="Curved Connector 16"/>
            <p:cNvCxnSpPr>
              <a:stCxn id="2" idx="3"/>
            </p:cNvCxnSpPr>
            <p:nvPr/>
          </p:nvCxnSpPr>
          <p:spPr>
            <a:xfrm rot="10800000" flipH="1">
              <a:off x="1026192" y="914403"/>
              <a:ext cx="429519" cy="612689"/>
            </a:xfrm>
            <a:prstGeom prst="curvedConnector4">
              <a:avLst>
                <a:gd name="adj1" fmla="val -77258"/>
                <a:gd name="adj2" fmla="val 144594"/>
              </a:avLst>
            </a:prstGeom>
            <a:noFill/>
            <a:ln w="1270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3" name="Curved Connector 17"/>
            <p:cNvCxnSpPr>
              <a:stCxn id="3" idx="9"/>
              <a:endCxn id="3" idx="1"/>
            </p:cNvCxnSpPr>
            <p:nvPr/>
          </p:nvCxnSpPr>
          <p:spPr>
            <a:xfrm rot="5400000" flipH="1" flipV="1">
              <a:off x="4419695" y="2606065"/>
              <a:ext cx="858807" cy="350175"/>
            </a:xfrm>
            <a:prstGeom prst="curvedConnector4">
              <a:avLst>
                <a:gd name="adj1" fmla="val -40520"/>
                <a:gd name="adj2" fmla="val 194764"/>
              </a:avLst>
            </a:prstGeom>
            <a:noFill/>
            <a:ln w="360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4" name="Curved Connector 13"/>
            <p:cNvCxnSpPr>
              <a:stCxn id="5" idx="0"/>
              <a:endCxn id="3" idx="2"/>
            </p:cNvCxnSpPr>
            <p:nvPr/>
          </p:nvCxnSpPr>
          <p:spPr>
            <a:xfrm rot="5400000" flipH="1" flipV="1">
              <a:off x="2953820" y="3664388"/>
              <a:ext cx="972181" cy="774943"/>
            </a:xfrm>
            <a:prstGeom prst="curved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</p:grpSp>
      <p:sp>
        <p:nvSpPr>
          <p:cNvPr id="15" name="TextBox 14"/>
          <p:cNvSpPr txBox="1"/>
          <p:nvPr/>
        </p:nvSpPr>
        <p:spPr>
          <a:xfrm>
            <a:off x="26020" y="5029200"/>
            <a:ext cx="4241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Leaky integrate and fire neurons 4000 Excitatory </a:t>
            </a:r>
            <a:r>
              <a:rPr lang="en-US" sz="1600" b="0" dirty="0" err="1">
                <a:solidFill>
                  <a:schemeClr val="tx1"/>
                </a:solidFill>
                <a:latin typeface="+mj-lt"/>
              </a:rPr>
              <a:t>Excitatory</a:t>
            </a:r>
            <a:r>
              <a:rPr lang="en-US" sz="1600" b="0" dirty="0">
                <a:solidFill>
                  <a:schemeClr val="tx1"/>
                </a:solidFill>
                <a:latin typeface="+mj-lt"/>
              </a:rPr>
              <a:t> neurons 1000 Inhibitory Inhibitory neurons.</a:t>
            </a:r>
            <a:r>
              <a:rPr lang="en-US" sz="1600" dirty="0">
                <a:latin typeface="+mj-lt"/>
              </a:rPr>
              <a:t> </a:t>
            </a:r>
          </a:p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Sparse (p=0.2) random connections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excitatory-inhibitory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200" kern="0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</a:t>
            </a:r>
            <a:r>
              <a:rPr kumimoji="0" lang="en-US" sz="320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etworks</a:t>
            </a:r>
            <a:endParaRPr kumimoji="0" lang="en-US" sz="32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29" y="5924729"/>
            <a:ext cx="4648200" cy="90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99"/>
          <p:cNvGrpSpPr/>
          <p:nvPr/>
        </p:nvGrpSpPr>
        <p:grpSpPr>
          <a:xfrm>
            <a:off x="5562601" y="630868"/>
            <a:ext cx="3276599" cy="5084132"/>
            <a:chOff x="6083999" y="1044000"/>
            <a:chExt cx="3600000" cy="5734800"/>
          </a:xfrm>
        </p:grpSpPr>
        <p:pic>
          <p:nvPicPr>
            <p:cNvPr id="101" name="Picture 100"/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6083999" y="1044000"/>
              <a:ext cx="3600000" cy="573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Freeform 101"/>
            <p:cNvSpPr/>
            <p:nvPr/>
          </p:nvSpPr>
          <p:spPr>
            <a:xfrm>
              <a:off x="6083999" y="1044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6083999" y="298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6083999" y="496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24" name="CasellaDiTesto 23"/>
          <p:cNvSpPr txBox="1"/>
          <p:nvPr/>
        </p:nvSpPr>
        <p:spPr>
          <a:xfrm>
            <a:off x="2057400" y="22199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54091906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8600" y="152400"/>
            <a:ext cx="5407742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/>
          <p:cNvSpPr/>
          <p:nvPr/>
        </p:nvSpPr>
        <p:spPr>
          <a:xfrm>
            <a:off x="3021999" y="215487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21999" y="477615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021999" y="152400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28600" y="15240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28600" y="211836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28600" y="4812661"/>
            <a:ext cx="186567" cy="18161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7718" y="2368006"/>
            <a:ext cx="1742495" cy="1329616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46643" y="5257655"/>
            <a:ext cx="2916357" cy="9757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LFP=|I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|+|I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0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on Excitatory neurons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6299" y="1338217"/>
            <a:ext cx="3004301" cy="69120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input: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costant signal + noise</a:t>
            </a:r>
          </a:p>
        </p:txBody>
      </p:sp>
      <p:sp>
        <p:nvSpPr>
          <p:cNvPr id="12" name="Straight Connector 11"/>
          <p:cNvSpPr/>
          <p:nvPr/>
        </p:nvSpPr>
        <p:spPr>
          <a:xfrm>
            <a:off x="5906729" y="2742474"/>
            <a:ext cx="600860" cy="0"/>
          </a:xfrm>
          <a:prstGeom prst="line">
            <a:avLst/>
          </a:prstGeom>
          <a:noFill/>
          <a:ln w="72000">
            <a:solidFill>
              <a:srgbClr val="2300DC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97718" y="3741057"/>
            <a:ext cx="2393882" cy="10346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5906729" y="4084632"/>
            <a:ext cx="600860" cy="0"/>
          </a:xfrm>
          <a:prstGeom prst="line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1640622" y="3741057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640622" y="2305594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5334000" y="0"/>
            <a:ext cx="3810000" cy="13081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to constant input</a:t>
            </a:r>
          </a:p>
        </p:txBody>
      </p:sp>
    </p:spTree>
    <p:extLst>
      <p:ext uri="{BB962C8B-B14F-4D97-AF65-F5344CB8AC3E}">
        <p14:creationId xmlns:p14="http://schemas.microsoft.com/office/powerpoint/2010/main" val="12658000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8600" y="152400"/>
            <a:ext cx="5407742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/>
          <p:cNvSpPr/>
          <p:nvPr/>
        </p:nvSpPr>
        <p:spPr>
          <a:xfrm>
            <a:off x="3021999" y="215487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21999" y="477615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021999" y="152400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28600" y="15240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28600" y="211836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28600" y="4812661"/>
            <a:ext cx="186567" cy="18161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7718" y="2368006"/>
            <a:ext cx="1742495" cy="1329616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46643" y="5257655"/>
            <a:ext cx="2916357" cy="9757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LFP=|I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|+|I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0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on Excitatory neurons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6299" y="1338217"/>
            <a:ext cx="3004301" cy="69120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input: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costant signal + noise</a:t>
            </a:r>
          </a:p>
        </p:txBody>
      </p:sp>
      <p:sp>
        <p:nvSpPr>
          <p:cNvPr id="12" name="Straight Connector 11"/>
          <p:cNvSpPr/>
          <p:nvPr/>
        </p:nvSpPr>
        <p:spPr>
          <a:xfrm>
            <a:off x="5906729" y="2742474"/>
            <a:ext cx="600860" cy="0"/>
          </a:xfrm>
          <a:prstGeom prst="line">
            <a:avLst/>
          </a:prstGeom>
          <a:noFill/>
          <a:ln w="72000">
            <a:solidFill>
              <a:srgbClr val="2300DC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97718" y="3741057"/>
            <a:ext cx="2393882" cy="10346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5906729" y="4084632"/>
            <a:ext cx="600860" cy="0"/>
          </a:xfrm>
          <a:prstGeom prst="line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1640622" y="3741057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640622" y="2305594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5334000" y="0"/>
            <a:ext cx="3810000" cy="13081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to constant input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74A4E3E-8003-4AC1-AE91-F67267E53BDB}"/>
              </a:ext>
            </a:extLst>
          </p:cNvPr>
          <p:cNvSpPr/>
          <p:nvPr/>
        </p:nvSpPr>
        <p:spPr>
          <a:xfrm>
            <a:off x="323531" y="1595336"/>
            <a:ext cx="2698468" cy="471398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Weak</a:t>
            </a:r>
            <a:r>
              <a:rPr lang="it-IT" sz="2400" b="1" dirty="0"/>
              <a:t> </a:t>
            </a:r>
            <a:r>
              <a:rPr lang="it-IT" sz="2400" b="1" dirty="0" err="1"/>
              <a:t>synchronization</a:t>
            </a:r>
            <a:r>
              <a:rPr lang="it-IT" sz="2400" dirty="0"/>
              <a:t>: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Oscillations</a:t>
            </a:r>
            <a:r>
              <a:rPr lang="it-IT" sz="2400" dirty="0"/>
              <a:t> are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visible</a:t>
            </a:r>
            <a:r>
              <a:rPr lang="it-IT" sz="2400" dirty="0"/>
              <a:t> in single </a:t>
            </a:r>
            <a:r>
              <a:rPr lang="it-IT" sz="2400" dirty="0" err="1"/>
              <a:t>neurons</a:t>
            </a:r>
            <a:r>
              <a:rPr lang="it-IT" sz="2400" dirty="0"/>
              <a:t>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only</a:t>
            </a:r>
            <a:r>
              <a:rPr lang="it-IT" sz="2400" dirty="0"/>
              <a:t> on </a:t>
            </a:r>
            <a:r>
              <a:rPr lang="it-IT" sz="2400" dirty="0" err="1"/>
              <a:t>local</a:t>
            </a:r>
            <a:r>
              <a:rPr lang="it-IT" sz="2400" dirty="0"/>
              <a:t> field </a:t>
            </a:r>
            <a:r>
              <a:rPr lang="it-IT" sz="2400" dirty="0" err="1"/>
              <a:t>potentials</a:t>
            </a:r>
            <a:r>
              <a:rPr lang="it-IT" sz="2400" dirty="0"/>
              <a:t> (or </a:t>
            </a:r>
            <a:r>
              <a:rPr lang="it-IT" sz="2400" dirty="0" err="1"/>
              <a:t>total</a:t>
            </a:r>
            <a:r>
              <a:rPr lang="it-IT" sz="2400" dirty="0"/>
              <a:t> </a:t>
            </a:r>
            <a:r>
              <a:rPr lang="it-IT" sz="2400" dirty="0" err="1"/>
              <a:t>firing</a:t>
            </a:r>
            <a:r>
              <a:rPr lang="it-IT" sz="2400" dirty="0"/>
              <a:t> rate,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accessible</a:t>
            </a:r>
            <a:r>
              <a:rPr lang="it-IT" sz="2400" dirty="0"/>
              <a:t> to </a:t>
            </a:r>
            <a:r>
              <a:rPr lang="it-IT" sz="2400" dirty="0" err="1"/>
              <a:t>experimenters</a:t>
            </a:r>
            <a:r>
              <a:rPr lang="it-IT" sz="2400" dirty="0"/>
              <a:t>) </a:t>
            </a:r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5399732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"/>
          <p:cNvPicPr>
            <a:picLocks noChangeAspect="1" noChangeArrowheads="1"/>
          </p:cNvPicPr>
          <p:nvPr/>
        </p:nvPicPr>
        <p:blipFill>
          <a:blip r:embed="rId3" cstate="print"/>
          <a:srcRect l="51688" t="4166"/>
          <a:stretch>
            <a:fillRect/>
          </a:stretch>
        </p:blipFill>
        <p:spPr bwMode="auto">
          <a:xfrm>
            <a:off x="214313" y="285750"/>
            <a:ext cx="2840037" cy="6572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2786063" y="0"/>
            <a:ext cx="6357937" cy="1308100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to constant input</a:t>
            </a: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3068638" y="209550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3068638" y="483870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3068638" y="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33338" y="0"/>
            <a:ext cx="203200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8" name="Rectangle 7"/>
          <p:cNvSpPr>
            <a:spLocks noChangeArrowheads="1"/>
          </p:cNvSpPr>
          <p:nvPr/>
        </p:nvSpPr>
        <p:spPr bwMode="auto">
          <a:xfrm>
            <a:off x="33338" y="2058988"/>
            <a:ext cx="203200" cy="188912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9" name="Rectangle 8"/>
          <p:cNvSpPr>
            <a:spLocks noChangeArrowheads="1"/>
          </p:cNvSpPr>
          <p:nvPr/>
        </p:nvSpPr>
        <p:spPr bwMode="auto">
          <a:xfrm>
            <a:off x="33338" y="4878388"/>
            <a:ext cx="203200" cy="188912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10" name="Text Box 9"/>
          <p:cNvSpPr txBox="1">
            <a:spLocks noChangeArrowheads="1"/>
          </p:cNvSpPr>
          <p:nvPr/>
        </p:nvSpPr>
        <p:spPr bwMode="auto">
          <a:xfrm>
            <a:off x="2928938" y="2500313"/>
            <a:ext cx="1893887" cy="8080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Inhibitory neurons</a:t>
            </a:r>
          </a:p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spike rate</a:t>
            </a:r>
          </a:p>
          <a:p>
            <a:pPr>
              <a:tabLst>
                <a:tab pos="655638" algn="l"/>
                <a:tab pos="1311275" algn="l"/>
              </a:tabLst>
            </a:pPr>
            <a:endParaRPr lang="fi-FI" sz="2000" dirty="0">
              <a:solidFill>
                <a:schemeClr val="bg1"/>
              </a:solidFill>
            </a:endParaRPr>
          </a:p>
        </p:txBody>
      </p:sp>
      <p:sp>
        <p:nvSpPr>
          <p:cNvPr id="25611" name="Text Box 10"/>
          <p:cNvSpPr txBox="1">
            <a:spLocks noChangeArrowheads="1"/>
          </p:cNvSpPr>
          <p:nvPr/>
        </p:nvSpPr>
        <p:spPr bwMode="auto">
          <a:xfrm>
            <a:off x="2419350" y="5786438"/>
            <a:ext cx="2938463" cy="712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</a:tabLst>
            </a:pPr>
            <a:r>
              <a:rPr lang="fi-FI" sz="2000" dirty="0"/>
              <a:t>LFP=|I</a:t>
            </a:r>
            <a:r>
              <a:rPr lang="fi-FI" sz="2000" baseline="-33000" dirty="0"/>
              <a:t>Excitatory</a:t>
            </a:r>
            <a:r>
              <a:rPr lang="fi-FI" sz="2000" dirty="0"/>
              <a:t>|+|I</a:t>
            </a:r>
            <a:r>
              <a:rPr lang="fi-FI" sz="2000" baseline="-33000" dirty="0"/>
              <a:t>Inhibitory</a:t>
            </a:r>
            <a:r>
              <a:rPr lang="fi-FI" sz="2000" dirty="0"/>
              <a:t>|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</a:tabLst>
            </a:pPr>
            <a:r>
              <a:rPr lang="fi-FI" sz="2000" dirty="0"/>
              <a:t>on Excitatory neurons</a:t>
            </a:r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2286000" y="2357438"/>
            <a:ext cx="654050" cy="1587"/>
          </a:xfrm>
          <a:prstGeom prst="line">
            <a:avLst/>
          </a:prstGeom>
          <a:noFill/>
          <a:ln w="72000">
            <a:solidFill>
              <a:srgbClr val="2300DC"/>
            </a:solidFill>
            <a:round/>
            <a:headEnd/>
            <a:tailEnd/>
          </a:ln>
        </p:spPr>
        <p:txBody>
          <a:bodyPr lIns="82943" tIns="41471" rIns="82943" bIns="41471"/>
          <a:lstStyle/>
          <a:p>
            <a:endParaRPr lang="en-US"/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3071813" y="3643313"/>
            <a:ext cx="1816100" cy="11064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Excitatory neurons</a:t>
            </a:r>
          </a:p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spike rate</a:t>
            </a:r>
          </a:p>
          <a:p>
            <a:pPr>
              <a:tabLst>
                <a:tab pos="655638" algn="l"/>
                <a:tab pos="1311275" algn="l"/>
              </a:tabLst>
            </a:pPr>
            <a:endParaRPr lang="fi-FI" sz="2200" dirty="0">
              <a:solidFill>
                <a:schemeClr val="bg1"/>
              </a:solidFill>
            </a:endParaRPr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>
            <a:off x="2286000" y="3857625"/>
            <a:ext cx="654050" cy="3175"/>
          </a:xfrm>
          <a:prstGeom prst="line">
            <a:avLst/>
          </a:prstGeom>
          <a:noFill/>
          <a:ln w="72000">
            <a:solidFill>
              <a:srgbClr val="FF0000"/>
            </a:solidFill>
            <a:round/>
            <a:headEnd/>
            <a:tailEnd/>
          </a:ln>
        </p:spPr>
        <p:txBody>
          <a:bodyPr lIns="82943" tIns="41471" rIns="82943" bIns="41471"/>
          <a:lstStyle/>
          <a:p>
            <a:endParaRPr lang="en-US"/>
          </a:p>
        </p:txBody>
      </p:sp>
      <p:sp>
        <p:nvSpPr>
          <p:cNvPr id="25615" name="Text Box 18"/>
          <p:cNvSpPr txBox="1">
            <a:spLocks noChangeArrowheads="1"/>
          </p:cNvSpPr>
          <p:nvPr/>
        </p:nvSpPr>
        <p:spPr bwMode="auto">
          <a:xfrm>
            <a:off x="5786438" y="6237312"/>
            <a:ext cx="3152775" cy="583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43" tIns="41471" rIns="82943" bIns="41471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1300" i="1" dirty="0" err="1"/>
              <a:t>Mazzoni</a:t>
            </a:r>
            <a:r>
              <a:rPr lang="it-IT" sz="1300" i="1" dirty="0"/>
              <a:t>, </a:t>
            </a:r>
            <a:r>
              <a:rPr lang="it-IT" sz="1300" i="1" dirty="0" err="1"/>
              <a:t>et</a:t>
            </a:r>
            <a:r>
              <a:rPr lang="it-IT" sz="1300" i="1" dirty="0"/>
              <a:t> al – </a:t>
            </a:r>
            <a:r>
              <a:rPr lang="it-IT" sz="1300" i="1" dirty="0" err="1"/>
              <a:t>PLoS</a:t>
            </a:r>
            <a:r>
              <a:rPr lang="it-IT" sz="1300" i="1" dirty="0"/>
              <a:t> </a:t>
            </a:r>
            <a:r>
              <a:rPr lang="it-IT" sz="1300" i="1" dirty="0" err="1"/>
              <a:t>Comp</a:t>
            </a:r>
            <a:r>
              <a:rPr lang="it-IT" sz="1300" i="1" dirty="0"/>
              <a:t> </a:t>
            </a:r>
            <a:r>
              <a:rPr lang="it-IT" sz="1300" i="1" dirty="0" err="1"/>
              <a:t>Biol</a:t>
            </a:r>
            <a:r>
              <a:rPr lang="it-IT" sz="1300" i="1" dirty="0"/>
              <a:t>    (2008)</a:t>
            </a:r>
          </a:p>
          <a:p>
            <a:pPr>
              <a:spcBef>
                <a:spcPct val="50000"/>
              </a:spcBef>
            </a:pPr>
            <a:r>
              <a:rPr lang="it-IT" sz="1300" i="1" dirty="0" err="1"/>
              <a:t>Mazzoni</a:t>
            </a:r>
            <a:r>
              <a:rPr lang="it-IT" sz="1300" i="1" dirty="0"/>
              <a:t> </a:t>
            </a:r>
            <a:r>
              <a:rPr lang="it-IT" sz="1300" i="1" dirty="0" err="1"/>
              <a:t>et</a:t>
            </a:r>
            <a:r>
              <a:rPr lang="it-IT" sz="1300" i="1" dirty="0"/>
              <a:t> al (2010) </a:t>
            </a:r>
            <a:r>
              <a:rPr lang="it-IT" sz="1300" i="1" dirty="0" err="1"/>
              <a:t>Neuroimage</a:t>
            </a:r>
            <a:endParaRPr lang="it-IT" sz="1300" i="1" dirty="0"/>
          </a:p>
        </p:txBody>
      </p:sp>
      <p:pic>
        <p:nvPicPr>
          <p:cNvPr id="25616" name="Picture 2"/>
          <p:cNvPicPr>
            <a:picLocks noChangeAspect="1" noChangeArrowheads="1"/>
          </p:cNvPicPr>
          <p:nvPr/>
        </p:nvPicPr>
        <p:blipFill>
          <a:blip r:embed="rId4" cstate="print"/>
          <a:srcRect r="50000" b="50000"/>
          <a:stretch>
            <a:fillRect/>
          </a:stretch>
        </p:blipFill>
        <p:spPr bwMode="auto">
          <a:xfrm>
            <a:off x="4929188" y="1428750"/>
            <a:ext cx="358140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17" name="CasellaDiTesto 19"/>
          <p:cNvSpPr txBox="1">
            <a:spLocks noChangeArrowheads="1"/>
          </p:cNvSpPr>
          <p:nvPr/>
        </p:nvSpPr>
        <p:spPr bwMode="auto">
          <a:xfrm>
            <a:off x="5357813" y="4214813"/>
            <a:ext cx="3786187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200">
                <a:latin typeface="Arial" charset="0"/>
                <a:cs typeface="Arial" charset="0"/>
              </a:rPr>
              <a:t>The network internally generates only gamma-range (40-100 Hz)  oscillations </a:t>
            </a:r>
          </a:p>
          <a:p>
            <a:r>
              <a:rPr lang="en-US" sz="2200">
                <a:latin typeface="Arial" charset="0"/>
                <a:cs typeface="Arial" charset="0"/>
              </a:rPr>
              <a:t>The gamma power encodes the strength of the input</a:t>
            </a:r>
          </a:p>
        </p:txBody>
      </p:sp>
    </p:spTree>
    <p:extLst>
      <p:ext uri="{BB962C8B-B14F-4D97-AF65-F5344CB8AC3E}">
        <p14:creationId xmlns:p14="http://schemas.microsoft.com/office/powerpoint/2010/main" val="322872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54833CCD4C2FF43A3A3C271054A5EB0" ma:contentTypeVersion="0" ma:contentTypeDescription="Creare un nuovo documento." ma:contentTypeScope="" ma:versionID="6def2aa4552313849f4fe25936c3cc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4353eee5fe7ae2043b0d0bd8d80189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012F97-BE3E-4EBB-BCA1-5A2318156ECD}"/>
</file>

<file path=customXml/itemProps2.xml><?xml version="1.0" encoding="utf-8"?>
<ds:datastoreItem xmlns:ds="http://schemas.openxmlformats.org/officeDocument/2006/customXml" ds:itemID="{1D640072-3F08-476D-9D37-27F50E88C0A1}"/>
</file>

<file path=customXml/itemProps3.xml><?xml version="1.0" encoding="utf-8"?>
<ds:datastoreItem xmlns:ds="http://schemas.openxmlformats.org/officeDocument/2006/customXml" ds:itemID="{F088A0BF-D2B3-4CF8-B069-320AE8DD1E4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2052</Words>
  <Application>Microsoft Office PowerPoint</Application>
  <PresentationFormat>Presentazione su schermo (4:3)</PresentationFormat>
  <Paragraphs>450</Paragraphs>
  <Slides>73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73</vt:i4>
      </vt:variant>
    </vt:vector>
  </HeadingPairs>
  <TitlesOfParts>
    <vt:vector size="81" baseType="lpstr">
      <vt:lpstr>Arial</vt:lpstr>
      <vt:lpstr>Bodoni MT Condensed</vt:lpstr>
      <vt:lpstr>Calibri</vt:lpstr>
      <vt:lpstr>Cambria Math</vt:lpstr>
      <vt:lpstr>Impact</vt:lpstr>
      <vt:lpstr>Symbol</vt:lpstr>
      <vt:lpstr>Times New Roman</vt:lpstr>
      <vt:lpstr>Tema di Office</vt:lpstr>
      <vt:lpstr>Neuromorphic engineering: computational neuroengineering module </vt:lpstr>
      <vt:lpstr>Presentazione standard di PowerPoint</vt:lpstr>
      <vt:lpstr>Presentazione standard di PowerPoint</vt:lpstr>
      <vt:lpstr>Presentazione standard di PowerPoint</vt:lpstr>
      <vt:lpstr>Neural Coding</vt:lpstr>
      <vt:lpstr>Neural Coding</vt:lpstr>
      <vt:lpstr>Neuronal Coding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How do we know what we know</vt:lpstr>
      <vt:lpstr>Neuronal Models</vt:lpstr>
      <vt:lpstr>Why should I model neurons?</vt:lpstr>
      <vt:lpstr>Why should I model neurons?</vt:lpstr>
      <vt:lpstr>Why should I model neurons?</vt:lpstr>
      <vt:lpstr>Why should I model neurons?</vt:lpstr>
      <vt:lpstr>Why should I model neurons?</vt:lpstr>
      <vt:lpstr>William of Ockham (c. 1287–1347)</vt:lpstr>
      <vt:lpstr>The simplest model</vt:lpstr>
      <vt:lpstr>Simple model, complex consequences</vt:lpstr>
      <vt:lpstr>Simple model, complex consequences</vt:lpstr>
      <vt:lpstr>Simple model, complex consequences</vt:lpstr>
      <vt:lpstr>Introducing time: rate models</vt:lpstr>
      <vt:lpstr>Introducing time: rate models</vt:lpstr>
      <vt:lpstr>Introducing potential: the integrate and fire neuron</vt:lpstr>
      <vt:lpstr>Introducing potential: the integrate and fire neuron</vt:lpstr>
      <vt:lpstr>Introducing inhibitory inputs  the integrate and fire neuron</vt:lpstr>
      <vt:lpstr>Introducing resting potential:  the LEAKY integrate and fire neuron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Network response to constant input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Models</dc:title>
  <dc:creator>alberto</dc:creator>
  <cp:lastModifiedBy>Alberto Mazzoni</cp:lastModifiedBy>
  <cp:revision>41</cp:revision>
  <dcterms:created xsi:type="dcterms:W3CDTF">2016-10-12T06:46:34Z</dcterms:created>
  <dcterms:modified xsi:type="dcterms:W3CDTF">2026-03-09T08:55:10Z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0x010100D54833CCD4C2FF43A3A3C271054A5EB0</vt:lpwstr>
  </property>
</Properties>
</file>