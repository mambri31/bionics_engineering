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9"/>
  </p:notesMasterIdLst>
  <p:sldIdLst>
    <p:sldId id="269" r:id="rId5"/>
    <p:sldId id="308" r:id="rId6"/>
    <p:sldId id="309" r:id="rId7"/>
    <p:sldId id="310" r:id="rId8"/>
    <p:sldId id="771" r:id="rId9"/>
    <p:sldId id="773" r:id="rId10"/>
    <p:sldId id="772"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328" r:id="rId25"/>
    <p:sldId id="326" r:id="rId26"/>
    <p:sldId id="355" r:id="rId27"/>
    <p:sldId id="332" r:id="rId28"/>
    <p:sldId id="356" r:id="rId29"/>
    <p:sldId id="333" r:id="rId30"/>
    <p:sldId id="275" r:id="rId31"/>
    <p:sldId id="444" r:id="rId32"/>
    <p:sldId id="445" r:id="rId33"/>
    <p:sldId id="446" r:id="rId34"/>
    <p:sldId id="447" r:id="rId35"/>
    <p:sldId id="448" r:id="rId36"/>
    <p:sldId id="325" r:id="rId37"/>
    <p:sldId id="277" r:id="rId38"/>
    <p:sldId id="334" r:id="rId39"/>
    <p:sldId id="357" r:id="rId40"/>
    <p:sldId id="335" r:id="rId41"/>
    <p:sldId id="336" r:id="rId42"/>
    <p:sldId id="358" r:id="rId43"/>
    <p:sldId id="359" r:id="rId44"/>
    <p:sldId id="337" r:id="rId45"/>
    <p:sldId id="338" r:id="rId46"/>
    <p:sldId id="339" r:id="rId47"/>
    <p:sldId id="340" r:id="rId48"/>
    <p:sldId id="342" r:id="rId49"/>
    <p:sldId id="361" r:id="rId50"/>
    <p:sldId id="362" r:id="rId51"/>
    <p:sldId id="343" r:id="rId52"/>
    <p:sldId id="344" r:id="rId53"/>
    <p:sldId id="345" r:id="rId54"/>
    <p:sldId id="346" r:id="rId55"/>
    <p:sldId id="774" r:id="rId56"/>
    <p:sldId id="775" r:id="rId57"/>
    <p:sldId id="776" r:id="rId58"/>
    <p:sldId id="777" r:id="rId59"/>
    <p:sldId id="329" r:id="rId60"/>
    <p:sldId id="441" r:id="rId61"/>
    <p:sldId id="331" r:id="rId62"/>
    <p:sldId id="443" r:id="rId63"/>
    <p:sldId id="442" r:id="rId64"/>
    <p:sldId id="778" r:id="rId65"/>
    <p:sldId id="779" r:id="rId66"/>
    <p:sldId id="780" r:id="rId67"/>
    <p:sldId id="781" r:id="rId68"/>
    <p:sldId id="782" r:id="rId69"/>
    <p:sldId id="783" r:id="rId70"/>
    <p:sldId id="341" r:id="rId71"/>
    <p:sldId id="784" r:id="rId72"/>
    <p:sldId id="428" r:id="rId73"/>
    <p:sldId id="429" r:id="rId74"/>
    <p:sldId id="430" r:id="rId75"/>
    <p:sldId id="431" r:id="rId76"/>
    <p:sldId id="432" r:id="rId77"/>
    <p:sldId id="785" r:id="rId78"/>
    <p:sldId id="278" r:id="rId79"/>
    <p:sldId id="279" r:id="rId80"/>
    <p:sldId id="369" r:id="rId81"/>
    <p:sldId id="370" r:id="rId82"/>
    <p:sldId id="371" r:id="rId83"/>
    <p:sldId id="380" r:id="rId84"/>
    <p:sldId id="363" r:id="rId85"/>
    <p:sldId id="364" r:id="rId86"/>
    <p:sldId id="365" r:id="rId87"/>
    <p:sldId id="366" r:id="rId88"/>
    <p:sldId id="786" r:id="rId89"/>
    <p:sldId id="311" r:id="rId90"/>
    <p:sldId id="280" r:id="rId91"/>
    <p:sldId id="281" r:id="rId92"/>
    <p:sldId id="282" r:id="rId93"/>
    <p:sldId id="283" r:id="rId94"/>
    <p:sldId id="284" r:id="rId95"/>
    <p:sldId id="286" r:id="rId96"/>
    <p:sldId id="287" r:id="rId97"/>
    <p:sldId id="289" r:id="rId98"/>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12" autoAdjust="0"/>
    <p:restoredTop sz="94660"/>
  </p:normalViewPr>
  <p:slideViewPr>
    <p:cSldViewPr>
      <p:cViewPr varScale="1">
        <p:scale>
          <a:sx n="68" d="100"/>
          <a:sy n="68" d="100"/>
        </p:scale>
        <p:origin x="1548" y="3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heme" Target="theme/theme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9BCCC9-48D1-4D4A-B72C-600EB59FF11D}" type="datetimeFigureOut">
              <a:rPr lang="it-IT" smtClean="0"/>
              <a:t>17/05/2026</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24F757-6D6D-4DA2-BF18-C54B9DE9750C}" type="slidenum">
              <a:rPr lang="it-IT" smtClean="0"/>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574EEF1-EF77-42BE-A48C-B005F9A3A0A8}" type="slidenum">
              <a:rPr lang="en-US" sz="1200" smtClean="0"/>
              <a:pPr/>
              <a:t>17</a:t>
            </a:fld>
            <a:endParaRPr lang="en-US" sz="1200"/>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The case of un uninformative neuron :</a:t>
            </a:r>
          </a:p>
          <a:p>
            <a:r>
              <a:rPr lang="en-GB" dirty="0"/>
              <a:t>1- We have 2 stimuli , these are the possible responses and the green line represent the TRUE probability distribution</a:t>
            </a:r>
          </a:p>
          <a:p>
            <a:r>
              <a:rPr lang="en-GB" dirty="0"/>
              <a:t>That describe the behaviour of this neuron. In this case we have zero information transmitted. </a:t>
            </a:r>
          </a:p>
          <a:p>
            <a:r>
              <a:rPr lang="en-GB" dirty="0"/>
              <a:t>In fact there is no correlation between the response and the stimuli</a:t>
            </a:r>
          </a:p>
          <a:p>
            <a:endParaRPr lang="en-GB" dirty="0"/>
          </a:p>
          <a:p>
            <a:r>
              <a:rPr lang="en-GB" dirty="0"/>
              <a:t>2-any way when we can only sample it we get (for example ) this red line  and </a:t>
            </a:r>
          </a:p>
          <a:p>
            <a:r>
              <a:rPr lang="en-GB" dirty="0"/>
              <a:t>It seem that the second stimulus has a higher firing rate so apparently the neuron is conveying some information !!</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D5C418E-BE39-4AA4-A540-FE9105D26597}" type="slidenum">
              <a:rPr lang="en-US" sz="1200" smtClean="0"/>
              <a:pPr/>
              <a:t>18</a:t>
            </a:fld>
            <a:endParaRPr lang="en-US" sz="1200"/>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The case of un uninformative neuron :</a:t>
            </a:r>
          </a:p>
          <a:p>
            <a:r>
              <a:rPr lang="en-GB" dirty="0"/>
              <a:t>1- We have 2 stimuli , these are the possible responses and the green line represent the TRUE probability distribution</a:t>
            </a:r>
          </a:p>
          <a:p>
            <a:r>
              <a:rPr lang="en-GB" dirty="0"/>
              <a:t>That describe the behaviour of this neuron. In this case we have zero information transmitted. </a:t>
            </a:r>
          </a:p>
          <a:p>
            <a:r>
              <a:rPr lang="en-GB" dirty="0"/>
              <a:t>In fact there is no correlation between the response and the stimuli</a:t>
            </a:r>
          </a:p>
          <a:p>
            <a:endParaRPr lang="en-GB" dirty="0"/>
          </a:p>
          <a:p>
            <a:r>
              <a:rPr lang="en-GB" dirty="0"/>
              <a:t>2-any way when we can only sample it we get (for example ) this red line  and </a:t>
            </a:r>
          </a:p>
          <a:p>
            <a:r>
              <a:rPr lang="en-GB" dirty="0"/>
              <a:t>It seem that the second stimulus has a higher firing rate so apparently the neuron is conveying some information !!</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Segnaposto immagine diapositiva 1"/>
          <p:cNvSpPr>
            <a:spLocks noGrp="1" noRot="1" noChangeAspect="1" noTextEdit="1"/>
          </p:cNvSpPr>
          <p:nvPr>
            <p:ph type="sldImg"/>
          </p:nvPr>
        </p:nvSpPr>
        <p:spPr>
          <a:ln/>
        </p:spPr>
      </p:sp>
      <p:sp>
        <p:nvSpPr>
          <p:cNvPr id="135170"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p>
        </p:txBody>
      </p:sp>
      <p:sp>
        <p:nvSpPr>
          <p:cNvPr id="135171" name="Segnaposto numero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D5D64FD-D32D-402C-89CD-84495E0EB294}" type="slidenum">
              <a:rPr lang="en-US" sz="1200" smtClean="0"/>
              <a:pPr/>
              <a:t>26</a:t>
            </a:fld>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830" y="4343322"/>
            <a:ext cx="5486308" cy="4037592"/>
          </a:xfrm>
        </p:spPr>
        <p:txBody>
          <a:bodyPr/>
          <a:lstStyle/>
          <a:p>
            <a:r>
              <a:rPr lang="it-IT" dirty="0" err="1"/>
              <a:t>Remember</a:t>
            </a:r>
            <a:r>
              <a:rPr lang="it-IT" dirty="0"/>
              <a:t> the </a:t>
            </a:r>
            <a:r>
              <a:rPr lang="it-IT" dirty="0" err="1"/>
              <a:t>monkeys</a:t>
            </a:r>
            <a:endParaRPr lang="it-IT"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830" y="4343322"/>
            <a:ext cx="5486308" cy="4037592"/>
          </a:xfrm>
        </p:spPr>
        <p:txBody>
          <a:bodyPr/>
          <a:lstStyle/>
          <a:p>
            <a:r>
              <a:rPr lang="it-IT" dirty="0" err="1"/>
              <a:t>Remember</a:t>
            </a:r>
            <a:r>
              <a:rPr lang="it-IT" dirty="0"/>
              <a:t> the </a:t>
            </a:r>
            <a:r>
              <a:rPr lang="it-IT" dirty="0" err="1"/>
              <a:t>monkeys</a:t>
            </a:r>
            <a:endParaRPr lang="it-IT" dirty="0"/>
          </a:p>
        </p:txBody>
      </p:sp>
    </p:spTree>
    <p:extLst>
      <p:ext uri="{BB962C8B-B14F-4D97-AF65-F5344CB8AC3E}">
        <p14:creationId xmlns:p14="http://schemas.microsoft.com/office/powerpoint/2010/main" val="782988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3982B3F-C3D4-4546-804C-01CD88EA3F0A}" type="slidenum">
              <a:rPr lang="en-US"/>
              <a:pPr fontAlgn="base">
                <a:spcBef>
                  <a:spcPct val="0"/>
                </a:spcBef>
                <a:spcAft>
                  <a:spcPct val="0"/>
                </a:spcAft>
                <a:defRPr/>
              </a:pPr>
              <a:t>34</a:t>
            </a:fld>
            <a:endParaRPr lang="en-US"/>
          </a:p>
        </p:txBody>
      </p:sp>
      <p:sp>
        <p:nvSpPr>
          <p:cNvPr id="276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76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z="10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gnaposto immagine diapositiva 1"/>
          <p:cNvSpPr>
            <a:spLocks noGrp="1" noRot="1" noChangeAspect="1" noTextEdit="1"/>
          </p:cNvSpPr>
          <p:nvPr>
            <p:ph type="sldImg"/>
          </p:nvPr>
        </p:nvSpPr>
        <p:spPr>
          <a:ln/>
        </p:spPr>
      </p:sp>
      <p:sp>
        <p:nvSpPr>
          <p:cNvPr id="65539"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p>
        </p:txBody>
      </p:sp>
      <p:sp>
        <p:nvSpPr>
          <p:cNvPr id="65540" name="Segnaposto numero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Times New Roman" pitchFamily="18" charset="0"/>
              </a:defRPr>
            </a:lvl1pPr>
            <a:lvl2pPr marL="685817" indent="-263776">
              <a:defRPr sz="2200">
                <a:solidFill>
                  <a:schemeClr val="tx1"/>
                </a:solidFill>
                <a:latin typeface="Times New Roman" pitchFamily="18" charset="0"/>
              </a:defRPr>
            </a:lvl2pPr>
            <a:lvl3pPr marL="1055103" indent="-211021">
              <a:defRPr sz="2200">
                <a:solidFill>
                  <a:schemeClr val="tx1"/>
                </a:solidFill>
                <a:latin typeface="Times New Roman" pitchFamily="18" charset="0"/>
              </a:defRPr>
            </a:lvl3pPr>
            <a:lvl4pPr marL="1477145" indent="-211021">
              <a:defRPr sz="2200">
                <a:solidFill>
                  <a:schemeClr val="tx1"/>
                </a:solidFill>
                <a:latin typeface="Times New Roman" pitchFamily="18" charset="0"/>
              </a:defRPr>
            </a:lvl4pPr>
            <a:lvl5pPr marL="1899186" indent="-211021">
              <a:defRPr sz="2200">
                <a:solidFill>
                  <a:schemeClr val="tx1"/>
                </a:solidFill>
                <a:latin typeface="Times New Roman" pitchFamily="18" charset="0"/>
              </a:defRPr>
            </a:lvl5pPr>
            <a:lvl6pPr marL="2321227" indent="-211021" eaLnBrk="0" fontAlgn="base" hangingPunct="0">
              <a:spcBef>
                <a:spcPct val="0"/>
              </a:spcBef>
              <a:spcAft>
                <a:spcPct val="0"/>
              </a:spcAft>
              <a:defRPr sz="2200">
                <a:solidFill>
                  <a:schemeClr val="tx1"/>
                </a:solidFill>
                <a:latin typeface="Times New Roman" pitchFamily="18" charset="0"/>
              </a:defRPr>
            </a:lvl6pPr>
            <a:lvl7pPr marL="2743269" indent="-211021" eaLnBrk="0" fontAlgn="base" hangingPunct="0">
              <a:spcBef>
                <a:spcPct val="0"/>
              </a:spcBef>
              <a:spcAft>
                <a:spcPct val="0"/>
              </a:spcAft>
              <a:defRPr sz="2200">
                <a:solidFill>
                  <a:schemeClr val="tx1"/>
                </a:solidFill>
                <a:latin typeface="Times New Roman" pitchFamily="18" charset="0"/>
              </a:defRPr>
            </a:lvl7pPr>
            <a:lvl8pPr marL="3165310" indent="-211021" eaLnBrk="0" fontAlgn="base" hangingPunct="0">
              <a:spcBef>
                <a:spcPct val="0"/>
              </a:spcBef>
              <a:spcAft>
                <a:spcPct val="0"/>
              </a:spcAft>
              <a:defRPr sz="2200">
                <a:solidFill>
                  <a:schemeClr val="tx1"/>
                </a:solidFill>
                <a:latin typeface="Times New Roman" pitchFamily="18" charset="0"/>
              </a:defRPr>
            </a:lvl8pPr>
            <a:lvl9pPr marL="3587351" indent="-211021" eaLnBrk="0" fontAlgn="base" hangingPunct="0">
              <a:spcBef>
                <a:spcPct val="0"/>
              </a:spcBef>
              <a:spcAft>
                <a:spcPct val="0"/>
              </a:spcAft>
              <a:defRPr sz="2200">
                <a:solidFill>
                  <a:schemeClr val="tx1"/>
                </a:solidFill>
                <a:latin typeface="Times New Roman" pitchFamily="18" charset="0"/>
              </a:defRPr>
            </a:lvl9pPr>
          </a:lstStyle>
          <a:p>
            <a:fld id="{DE57C2BE-1A4E-4A9F-8DE4-C38E10F3F703}" type="slidenum">
              <a:rPr lang="en-US" sz="1200"/>
              <a:pPr/>
              <a:t>45</a:t>
            </a:fld>
            <a:endParaRPr lang="en-US" sz="1200"/>
          </a:p>
        </p:txBody>
      </p:sp>
    </p:spTree>
    <p:extLst>
      <p:ext uri="{BB962C8B-B14F-4D97-AF65-F5344CB8AC3E}">
        <p14:creationId xmlns:p14="http://schemas.microsoft.com/office/powerpoint/2010/main" val="3413174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gnaposto immagine diapositiva 1"/>
          <p:cNvSpPr>
            <a:spLocks noGrp="1" noRot="1" noChangeAspect="1" noTextEdit="1"/>
          </p:cNvSpPr>
          <p:nvPr>
            <p:ph type="sldImg"/>
          </p:nvPr>
        </p:nvSpPr>
        <p:spPr>
          <a:ln/>
        </p:spPr>
      </p:sp>
      <p:sp>
        <p:nvSpPr>
          <p:cNvPr id="65539"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p>
        </p:txBody>
      </p:sp>
      <p:sp>
        <p:nvSpPr>
          <p:cNvPr id="65540" name="Segnaposto numero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Times New Roman" pitchFamily="18" charset="0"/>
              </a:defRPr>
            </a:lvl1pPr>
            <a:lvl2pPr marL="685817" indent="-263776">
              <a:defRPr sz="2200">
                <a:solidFill>
                  <a:schemeClr val="tx1"/>
                </a:solidFill>
                <a:latin typeface="Times New Roman" pitchFamily="18" charset="0"/>
              </a:defRPr>
            </a:lvl2pPr>
            <a:lvl3pPr marL="1055103" indent="-211021">
              <a:defRPr sz="2200">
                <a:solidFill>
                  <a:schemeClr val="tx1"/>
                </a:solidFill>
                <a:latin typeface="Times New Roman" pitchFamily="18" charset="0"/>
              </a:defRPr>
            </a:lvl3pPr>
            <a:lvl4pPr marL="1477145" indent="-211021">
              <a:defRPr sz="2200">
                <a:solidFill>
                  <a:schemeClr val="tx1"/>
                </a:solidFill>
                <a:latin typeface="Times New Roman" pitchFamily="18" charset="0"/>
              </a:defRPr>
            </a:lvl4pPr>
            <a:lvl5pPr marL="1899186" indent="-211021">
              <a:defRPr sz="2200">
                <a:solidFill>
                  <a:schemeClr val="tx1"/>
                </a:solidFill>
                <a:latin typeface="Times New Roman" pitchFamily="18" charset="0"/>
              </a:defRPr>
            </a:lvl5pPr>
            <a:lvl6pPr marL="2321227" indent="-211021" eaLnBrk="0" fontAlgn="base" hangingPunct="0">
              <a:spcBef>
                <a:spcPct val="0"/>
              </a:spcBef>
              <a:spcAft>
                <a:spcPct val="0"/>
              </a:spcAft>
              <a:defRPr sz="2200">
                <a:solidFill>
                  <a:schemeClr val="tx1"/>
                </a:solidFill>
                <a:latin typeface="Times New Roman" pitchFamily="18" charset="0"/>
              </a:defRPr>
            </a:lvl6pPr>
            <a:lvl7pPr marL="2743269" indent="-211021" eaLnBrk="0" fontAlgn="base" hangingPunct="0">
              <a:spcBef>
                <a:spcPct val="0"/>
              </a:spcBef>
              <a:spcAft>
                <a:spcPct val="0"/>
              </a:spcAft>
              <a:defRPr sz="2200">
                <a:solidFill>
                  <a:schemeClr val="tx1"/>
                </a:solidFill>
                <a:latin typeface="Times New Roman" pitchFamily="18" charset="0"/>
              </a:defRPr>
            </a:lvl7pPr>
            <a:lvl8pPr marL="3165310" indent="-211021" eaLnBrk="0" fontAlgn="base" hangingPunct="0">
              <a:spcBef>
                <a:spcPct val="0"/>
              </a:spcBef>
              <a:spcAft>
                <a:spcPct val="0"/>
              </a:spcAft>
              <a:defRPr sz="2200">
                <a:solidFill>
                  <a:schemeClr val="tx1"/>
                </a:solidFill>
                <a:latin typeface="Times New Roman" pitchFamily="18" charset="0"/>
              </a:defRPr>
            </a:lvl8pPr>
            <a:lvl9pPr marL="3587351" indent="-211021" eaLnBrk="0" fontAlgn="base" hangingPunct="0">
              <a:spcBef>
                <a:spcPct val="0"/>
              </a:spcBef>
              <a:spcAft>
                <a:spcPct val="0"/>
              </a:spcAft>
              <a:defRPr sz="2200">
                <a:solidFill>
                  <a:schemeClr val="tx1"/>
                </a:solidFill>
                <a:latin typeface="Times New Roman" pitchFamily="18" charset="0"/>
              </a:defRPr>
            </a:lvl9pPr>
          </a:lstStyle>
          <a:p>
            <a:fld id="{DE57C2BE-1A4E-4A9F-8DE4-C38E10F3F703}" type="slidenum">
              <a:rPr lang="en-US" sz="1200"/>
              <a:pPr/>
              <a:t>46</a:t>
            </a:fld>
            <a:endParaRPr lang="en-US" sz="1200"/>
          </a:p>
        </p:txBody>
      </p:sp>
    </p:spTree>
    <p:extLst>
      <p:ext uri="{BB962C8B-B14F-4D97-AF65-F5344CB8AC3E}">
        <p14:creationId xmlns:p14="http://schemas.microsoft.com/office/powerpoint/2010/main" val="1205222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gnaposto immagine diapositiva 1"/>
          <p:cNvSpPr>
            <a:spLocks noGrp="1" noRot="1" noChangeAspect="1" noTextEdit="1"/>
          </p:cNvSpPr>
          <p:nvPr>
            <p:ph type="sldImg"/>
          </p:nvPr>
        </p:nvSpPr>
        <p:spPr>
          <a:ln/>
        </p:spPr>
      </p:sp>
      <p:sp>
        <p:nvSpPr>
          <p:cNvPr id="65539"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p>
        </p:txBody>
      </p:sp>
      <p:sp>
        <p:nvSpPr>
          <p:cNvPr id="65540" name="Segnaposto numero diapositiva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Times New Roman" pitchFamily="18" charset="0"/>
              </a:defRPr>
            </a:lvl1pPr>
            <a:lvl2pPr marL="685817" indent="-263776">
              <a:defRPr sz="2200">
                <a:solidFill>
                  <a:schemeClr val="tx1"/>
                </a:solidFill>
                <a:latin typeface="Times New Roman" pitchFamily="18" charset="0"/>
              </a:defRPr>
            </a:lvl2pPr>
            <a:lvl3pPr marL="1055103" indent="-211021">
              <a:defRPr sz="2200">
                <a:solidFill>
                  <a:schemeClr val="tx1"/>
                </a:solidFill>
                <a:latin typeface="Times New Roman" pitchFamily="18" charset="0"/>
              </a:defRPr>
            </a:lvl3pPr>
            <a:lvl4pPr marL="1477145" indent="-211021">
              <a:defRPr sz="2200">
                <a:solidFill>
                  <a:schemeClr val="tx1"/>
                </a:solidFill>
                <a:latin typeface="Times New Roman" pitchFamily="18" charset="0"/>
              </a:defRPr>
            </a:lvl4pPr>
            <a:lvl5pPr marL="1899186" indent="-211021">
              <a:defRPr sz="2200">
                <a:solidFill>
                  <a:schemeClr val="tx1"/>
                </a:solidFill>
                <a:latin typeface="Times New Roman" pitchFamily="18" charset="0"/>
              </a:defRPr>
            </a:lvl5pPr>
            <a:lvl6pPr marL="2321227" indent="-211021" eaLnBrk="0" fontAlgn="base" hangingPunct="0">
              <a:spcBef>
                <a:spcPct val="0"/>
              </a:spcBef>
              <a:spcAft>
                <a:spcPct val="0"/>
              </a:spcAft>
              <a:defRPr sz="2200">
                <a:solidFill>
                  <a:schemeClr val="tx1"/>
                </a:solidFill>
                <a:latin typeface="Times New Roman" pitchFamily="18" charset="0"/>
              </a:defRPr>
            </a:lvl6pPr>
            <a:lvl7pPr marL="2743269" indent="-211021" eaLnBrk="0" fontAlgn="base" hangingPunct="0">
              <a:spcBef>
                <a:spcPct val="0"/>
              </a:spcBef>
              <a:spcAft>
                <a:spcPct val="0"/>
              </a:spcAft>
              <a:defRPr sz="2200">
                <a:solidFill>
                  <a:schemeClr val="tx1"/>
                </a:solidFill>
                <a:latin typeface="Times New Roman" pitchFamily="18" charset="0"/>
              </a:defRPr>
            </a:lvl7pPr>
            <a:lvl8pPr marL="3165310" indent="-211021" eaLnBrk="0" fontAlgn="base" hangingPunct="0">
              <a:spcBef>
                <a:spcPct val="0"/>
              </a:spcBef>
              <a:spcAft>
                <a:spcPct val="0"/>
              </a:spcAft>
              <a:defRPr sz="2200">
                <a:solidFill>
                  <a:schemeClr val="tx1"/>
                </a:solidFill>
                <a:latin typeface="Times New Roman" pitchFamily="18" charset="0"/>
              </a:defRPr>
            </a:lvl8pPr>
            <a:lvl9pPr marL="3587351" indent="-211021" eaLnBrk="0" fontAlgn="base" hangingPunct="0">
              <a:spcBef>
                <a:spcPct val="0"/>
              </a:spcBef>
              <a:spcAft>
                <a:spcPct val="0"/>
              </a:spcAft>
              <a:defRPr sz="2200">
                <a:solidFill>
                  <a:schemeClr val="tx1"/>
                </a:solidFill>
                <a:latin typeface="Times New Roman" pitchFamily="18" charset="0"/>
              </a:defRPr>
            </a:lvl9pPr>
          </a:lstStyle>
          <a:p>
            <a:fld id="{DE57C2BE-1A4E-4A9F-8DE4-C38E10F3F703}" type="slidenum">
              <a:rPr lang="en-US" sz="1200"/>
              <a:pPr/>
              <a:t>47</a:t>
            </a:fld>
            <a:endParaRPr lang="en-US" sz="1200"/>
          </a:p>
        </p:txBody>
      </p:sp>
    </p:spTree>
    <p:extLst>
      <p:ext uri="{BB962C8B-B14F-4D97-AF65-F5344CB8AC3E}">
        <p14:creationId xmlns:p14="http://schemas.microsoft.com/office/powerpoint/2010/main" val="4873562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3982B3F-C3D4-4546-804C-01CD88EA3F0A}" type="slidenum">
              <a:rPr lang="en-US"/>
              <a:pPr fontAlgn="base">
                <a:spcBef>
                  <a:spcPct val="0"/>
                </a:spcBef>
                <a:spcAft>
                  <a:spcPct val="0"/>
                </a:spcAft>
                <a:defRPr/>
              </a:pPr>
              <a:t>53</a:t>
            </a:fld>
            <a:endParaRPr lang="en-US"/>
          </a:p>
        </p:txBody>
      </p:sp>
      <p:sp>
        <p:nvSpPr>
          <p:cNvPr id="276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76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z="10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Times New Roman" pitchFamily="18" charset="0"/>
              </a:defRPr>
            </a:lvl1pPr>
            <a:lvl2pPr marL="685817" indent="-263776">
              <a:defRPr sz="2200">
                <a:solidFill>
                  <a:schemeClr val="tx1"/>
                </a:solidFill>
                <a:latin typeface="Times New Roman" pitchFamily="18" charset="0"/>
              </a:defRPr>
            </a:lvl2pPr>
            <a:lvl3pPr marL="1055103" indent="-211021">
              <a:defRPr sz="2200">
                <a:solidFill>
                  <a:schemeClr val="tx1"/>
                </a:solidFill>
                <a:latin typeface="Times New Roman" pitchFamily="18" charset="0"/>
              </a:defRPr>
            </a:lvl3pPr>
            <a:lvl4pPr marL="1477145" indent="-211021">
              <a:defRPr sz="2200">
                <a:solidFill>
                  <a:schemeClr val="tx1"/>
                </a:solidFill>
                <a:latin typeface="Times New Roman" pitchFamily="18" charset="0"/>
              </a:defRPr>
            </a:lvl4pPr>
            <a:lvl5pPr marL="1899186" indent="-211021">
              <a:defRPr sz="2200">
                <a:solidFill>
                  <a:schemeClr val="tx1"/>
                </a:solidFill>
                <a:latin typeface="Times New Roman" pitchFamily="18" charset="0"/>
              </a:defRPr>
            </a:lvl5pPr>
            <a:lvl6pPr marL="2321227" indent="-211021" eaLnBrk="0" fontAlgn="base" hangingPunct="0">
              <a:spcBef>
                <a:spcPct val="0"/>
              </a:spcBef>
              <a:spcAft>
                <a:spcPct val="0"/>
              </a:spcAft>
              <a:defRPr sz="2200">
                <a:solidFill>
                  <a:schemeClr val="tx1"/>
                </a:solidFill>
                <a:latin typeface="Times New Roman" pitchFamily="18" charset="0"/>
              </a:defRPr>
            </a:lvl6pPr>
            <a:lvl7pPr marL="2743269" indent="-211021" eaLnBrk="0" fontAlgn="base" hangingPunct="0">
              <a:spcBef>
                <a:spcPct val="0"/>
              </a:spcBef>
              <a:spcAft>
                <a:spcPct val="0"/>
              </a:spcAft>
              <a:defRPr sz="2200">
                <a:solidFill>
                  <a:schemeClr val="tx1"/>
                </a:solidFill>
                <a:latin typeface="Times New Roman" pitchFamily="18" charset="0"/>
              </a:defRPr>
            </a:lvl7pPr>
            <a:lvl8pPr marL="3165310" indent="-211021" eaLnBrk="0" fontAlgn="base" hangingPunct="0">
              <a:spcBef>
                <a:spcPct val="0"/>
              </a:spcBef>
              <a:spcAft>
                <a:spcPct val="0"/>
              </a:spcAft>
              <a:defRPr sz="2200">
                <a:solidFill>
                  <a:schemeClr val="tx1"/>
                </a:solidFill>
                <a:latin typeface="Times New Roman" pitchFamily="18" charset="0"/>
              </a:defRPr>
            </a:lvl8pPr>
            <a:lvl9pPr marL="3587351" indent="-211021" eaLnBrk="0" fontAlgn="base" hangingPunct="0">
              <a:spcBef>
                <a:spcPct val="0"/>
              </a:spcBef>
              <a:spcAft>
                <a:spcPct val="0"/>
              </a:spcAft>
              <a:defRPr sz="2200">
                <a:solidFill>
                  <a:schemeClr val="tx1"/>
                </a:solidFill>
                <a:latin typeface="Times New Roman" pitchFamily="18" charset="0"/>
              </a:defRPr>
            </a:lvl9pPr>
          </a:lstStyle>
          <a:p>
            <a:r>
              <a:rPr lang="en-US" sz="1200"/>
              <a:t>Computational Neuroscience 2006</a:t>
            </a:r>
          </a:p>
        </p:txBody>
      </p:sp>
      <p:sp>
        <p:nvSpPr>
          <p:cNvPr id="6861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Times New Roman" pitchFamily="18" charset="0"/>
              </a:defRPr>
            </a:lvl1pPr>
            <a:lvl2pPr marL="685817" indent="-263776">
              <a:defRPr sz="2200">
                <a:solidFill>
                  <a:schemeClr val="tx1"/>
                </a:solidFill>
                <a:latin typeface="Times New Roman" pitchFamily="18" charset="0"/>
              </a:defRPr>
            </a:lvl2pPr>
            <a:lvl3pPr marL="1055103" indent="-211021">
              <a:defRPr sz="2200">
                <a:solidFill>
                  <a:schemeClr val="tx1"/>
                </a:solidFill>
                <a:latin typeface="Times New Roman" pitchFamily="18" charset="0"/>
              </a:defRPr>
            </a:lvl3pPr>
            <a:lvl4pPr marL="1477145" indent="-211021">
              <a:defRPr sz="2200">
                <a:solidFill>
                  <a:schemeClr val="tx1"/>
                </a:solidFill>
                <a:latin typeface="Times New Roman" pitchFamily="18" charset="0"/>
              </a:defRPr>
            </a:lvl4pPr>
            <a:lvl5pPr marL="1899186" indent="-211021">
              <a:defRPr sz="2200">
                <a:solidFill>
                  <a:schemeClr val="tx1"/>
                </a:solidFill>
                <a:latin typeface="Times New Roman" pitchFamily="18" charset="0"/>
              </a:defRPr>
            </a:lvl5pPr>
            <a:lvl6pPr marL="2321227" indent="-211021" eaLnBrk="0" fontAlgn="base" hangingPunct="0">
              <a:spcBef>
                <a:spcPct val="0"/>
              </a:spcBef>
              <a:spcAft>
                <a:spcPct val="0"/>
              </a:spcAft>
              <a:defRPr sz="2200">
                <a:solidFill>
                  <a:schemeClr val="tx1"/>
                </a:solidFill>
                <a:latin typeface="Times New Roman" pitchFamily="18" charset="0"/>
              </a:defRPr>
            </a:lvl6pPr>
            <a:lvl7pPr marL="2743269" indent="-211021" eaLnBrk="0" fontAlgn="base" hangingPunct="0">
              <a:spcBef>
                <a:spcPct val="0"/>
              </a:spcBef>
              <a:spcAft>
                <a:spcPct val="0"/>
              </a:spcAft>
              <a:defRPr sz="2200">
                <a:solidFill>
                  <a:schemeClr val="tx1"/>
                </a:solidFill>
                <a:latin typeface="Times New Roman" pitchFamily="18" charset="0"/>
              </a:defRPr>
            </a:lvl7pPr>
            <a:lvl8pPr marL="3165310" indent="-211021" eaLnBrk="0" fontAlgn="base" hangingPunct="0">
              <a:spcBef>
                <a:spcPct val="0"/>
              </a:spcBef>
              <a:spcAft>
                <a:spcPct val="0"/>
              </a:spcAft>
              <a:defRPr sz="2200">
                <a:solidFill>
                  <a:schemeClr val="tx1"/>
                </a:solidFill>
                <a:latin typeface="Times New Roman" pitchFamily="18" charset="0"/>
              </a:defRPr>
            </a:lvl8pPr>
            <a:lvl9pPr marL="3587351" indent="-211021" eaLnBrk="0" fontAlgn="base" hangingPunct="0">
              <a:spcBef>
                <a:spcPct val="0"/>
              </a:spcBef>
              <a:spcAft>
                <a:spcPct val="0"/>
              </a:spcAft>
              <a:defRPr sz="2200">
                <a:solidFill>
                  <a:schemeClr val="tx1"/>
                </a:solidFill>
                <a:latin typeface="Times New Roman" pitchFamily="18" charset="0"/>
              </a:defRPr>
            </a:lvl9pPr>
          </a:lstStyle>
          <a:p>
            <a:r>
              <a:rPr lang="en-US" sz="1200"/>
              <a:t>Lecture#2</a:t>
            </a:r>
          </a:p>
        </p:txBody>
      </p:sp>
      <p:sp>
        <p:nvSpPr>
          <p:cNvPr id="6861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Times New Roman" pitchFamily="18" charset="0"/>
              </a:defRPr>
            </a:lvl1pPr>
            <a:lvl2pPr marL="685817" indent="-263776">
              <a:defRPr sz="2200">
                <a:solidFill>
                  <a:schemeClr val="tx1"/>
                </a:solidFill>
                <a:latin typeface="Times New Roman" pitchFamily="18" charset="0"/>
              </a:defRPr>
            </a:lvl2pPr>
            <a:lvl3pPr marL="1055103" indent="-211021">
              <a:defRPr sz="2200">
                <a:solidFill>
                  <a:schemeClr val="tx1"/>
                </a:solidFill>
                <a:latin typeface="Times New Roman" pitchFamily="18" charset="0"/>
              </a:defRPr>
            </a:lvl3pPr>
            <a:lvl4pPr marL="1477145" indent="-211021">
              <a:defRPr sz="2200">
                <a:solidFill>
                  <a:schemeClr val="tx1"/>
                </a:solidFill>
                <a:latin typeface="Times New Roman" pitchFamily="18" charset="0"/>
              </a:defRPr>
            </a:lvl4pPr>
            <a:lvl5pPr marL="1899186" indent="-211021">
              <a:defRPr sz="2200">
                <a:solidFill>
                  <a:schemeClr val="tx1"/>
                </a:solidFill>
                <a:latin typeface="Times New Roman" pitchFamily="18" charset="0"/>
              </a:defRPr>
            </a:lvl5pPr>
            <a:lvl6pPr marL="2321227" indent="-211021" eaLnBrk="0" fontAlgn="base" hangingPunct="0">
              <a:spcBef>
                <a:spcPct val="0"/>
              </a:spcBef>
              <a:spcAft>
                <a:spcPct val="0"/>
              </a:spcAft>
              <a:defRPr sz="2200">
                <a:solidFill>
                  <a:schemeClr val="tx1"/>
                </a:solidFill>
                <a:latin typeface="Times New Roman" pitchFamily="18" charset="0"/>
              </a:defRPr>
            </a:lvl6pPr>
            <a:lvl7pPr marL="2743269" indent="-211021" eaLnBrk="0" fontAlgn="base" hangingPunct="0">
              <a:spcBef>
                <a:spcPct val="0"/>
              </a:spcBef>
              <a:spcAft>
                <a:spcPct val="0"/>
              </a:spcAft>
              <a:defRPr sz="2200">
                <a:solidFill>
                  <a:schemeClr val="tx1"/>
                </a:solidFill>
                <a:latin typeface="Times New Roman" pitchFamily="18" charset="0"/>
              </a:defRPr>
            </a:lvl7pPr>
            <a:lvl8pPr marL="3165310" indent="-211021" eaLnBrk="0" fontAlgn="base" hangingPunct="0">
              <a:spcBef>
                <a:spcPct val="0"/>
              </a:spcBef>
              <a:spcAft>
                <a:spcPct val="0"/>
              </a:spcAft>
              <a:defRPr sz="2200">
                <a:solidFill>
                  <a:schemeClr val="tx1"/>
                </a:solidFill>
                <a:latin typeface="Times New Roman" pitchFamily="18" charset="0"/>
              </a:defRPr>
            </a:lvl8pPr>
            <a:lvl9pPr marL="3587351" indent="-211021" eaLnBrk="0" fontAlgn="base" hangingPunct="0">
              <a:spcBef>
                <a:spcPct val="0"/>
              </a:spcBef>
              <a:spcAft>
                <a:spcPct val="0"/>
              </a:spcAft>
              <a:defRPr sz="2200">
                <a:solidFill>
                  <a:schemeClr val="tx1"/>
                </a:solidFill>
                <a:latin typeface="Times New Roman" pitchFamily="18" charset="0"/>
              </a:defRPr>
            </a:lvl9pPr>
          </a:lstStyle>
          <a:p>
            <a:fld id="{70300863-8618-4C23-83FE-48238F789D1A}" type="slidenum">
              <a:rPr lang="en-US" sz="1200"/>
              <a:pPr/>
              <a:t>55</a:t>
            </a:fld>
            <a:endParaRPr lang="en-US" sz="1200"/>
          </a:p>
        </p:txBody>
      </p:sp>
      <p:sp>
        <p:nvSpPr>
          <p:cNvPr id="68613" name="Rectangle 2"/>
          <p:cNvSpPr>
            <a:spLocks noGrp="1" noRot="1" noChangeAspect="1" noChangeArrowheads="1" noTextEdit="1"/>
          </p:cNvSpPr>
          <p:nvPr>
            <p:ph type="sldImg"/>
          </p:nvPr>
        </p:nvSpPr>
        <p:spPr>
          <a:ln/>
        </p:spPr>
      </p:sp>
      <p:sp>
        <p:nvSpPr>
          <p:cNvPr id="6861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Times New Roman" pitchFamily="18" charset="0"/>
              </a:defRPr>
            </a:lvl1pPr>
            <a:lvl2pPr marL="685817" indent="-263776">
              <a:defRPr sz="2200">
                <a:solidFill>
                  <a:schemeClr val="tx1"/>
                </a:solidFill>
                <a:latin typeface="Times New Roman" pitchFamily="18" charset="0"/>
              </a:defRPr>
            </a:lvl2pPr>
            <a:lvl3pPr marL="1055103" indent="-211021">
              <a:defRPr sz="2200">
                <a:solidFill>
                  <a:schemeClr val="tx1"/>
                </a:solidFill>
                <a:latin typeface="Times New Roman" pitchFamily="18" charset="0"/>
              </a:defRPr>
            </a:lvl3pPr>
            <a:lvl4pPr marL="1477145" indent="-211021">
              <a:defRPr sz="2200">
                <a:solidFill>
                  <a:schemeClr val="tx1"/>
                </a:solidFill>
                <a:latin typeface="Times New Roman" pitchFamily="18" charset="0"/>
              </a:defRPr>
            </a:lvl4pPr>
            <a:lvl5pPr marL="1899186" indent="-211021">
              <a:defRPr sz="2200">
                <a:solidFill>
                  <a:schemeClr val="tx1"/>
                </a:solidFill>
                <a:latin typeface="Times New Roman" pitchFamily="18" charset="0"/>
              </a:defRPr>
            </a:lvl5pPr>
            <a:lvl6pPr marL="2321227" indent="-211021" eaLnBrk="0" fontAlgn="base" hangingPunct="0">
              <a:spcBef>
                <a:spcPct val="0"/>
              </a:spcBef>
              <a:spcAft>
                <a:spcPct val="0"/>
              </a:spcAft>
              <a:defRPr sz="2200">
                <a:solidFill>
                  <a:schemeClr val="tx1"/>
                </a:solidFill>
                <a:latin typeface="Times New Roman" pitchFamily="18" charset="0"/>
              </a:defRPr>
            </a:lvl6pPr>
            <a:lvl7pPr marL="2743269" indent="-211021" eaLnBrk="0" fontAlgn="base" hangingPunct="0">
              <a:spcBef>
                <a:spcPct val="0"/>
              </a:spcBef>
              <a:spcAft>
                <a:spcPct val="0"/>
              </a:spcAft>
              <a:defRPr sz="2200">
                <a:solidFill>
                  <a:schemeClr val="tx1"/>
                </a:solidFill>
                <a:latin typeface="Times New Roman" pitchFamily="18" charset="0"/>
              </a:defRPr>
            </a:lvl7pPr>
            <a:lvl8pPr marL="3165310" indent="-211021" eaLnBrk="0" fontAlgn="base" hangingPunct="0">
              <a:spcBef>
                <a:spcPct val="0"/>
              </a:spcBef>
              <a:spcAft>
                <a:spcPct val="0"/>
              </a:spcAft>
              <a:defRPr sz="2200">
                <a:solidFill>
                  <a:schemeClr val="tx1"/>
                </a:solidFill>
                <a:latin typeface="Times New Roman" pitchFamily="18" charset="0"/>
              </a:defRPr>
            </a:lvl8pPr>
            <a:lvl9pPr marL="3587351" indent="-211021" eaLnBrk="0" fontAlgn="base" hangingPunct="0">
              <a:spcBef>
                <a:spcPct val="0"/>
              </a:spcBef>
              <a:spcAft>
                <a:spcPct val="0"/>
              </a:spcAft>
              <a:defRPr sz="2200">
                <a:solidFill>
                  <a:schemeClr val="tx1"/>
                </a:solidFill>
                <a:latin typeface="Times New Roman" pitchFamily="18" charset="0"/>
              </a:defRPr>
            </a:lvl9pPr>
          </a:lstStyle>
          <a:p>
            <a:r>
              <a:rPr lang="en-US" sz="1200"/>
              <a:t>Computational Neuroscience 2006</a:t>
            </a:r>
          </a:p>
        </p:txBody>
      </p:sp>
      <p:sp>
        <p:nvSpPr>
          <p:cNvPr id="6963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Times New Roman" pitchFamily="18" charset="0"/>
              </a:defRPr>
            </a:lvl1pPr>
            <a:lvl2pPr marL="685817" indent="-263776">
              <a:defRPr sz="2200">
                <a:solidFill>
                  <a:schemeClr val="tx1"/>
                </a:solidFill>
                <a:latin typeface="Times New Roman" pitchFamily="18" charset="0"/>
              </a:defRPr>
            </a:lvl2pPr>
            <a:lvl3pPr marL="1055103" indent="-211021">
              <a:defRPr sz="2200">
                <a:solidFill>
                  <a:schemeClr val="tx1"/>
                </a:solidFill>
                <a:latin typeface="Times New Roman" pitchFamily="18" charset="0"/>
              </a:defRPr>
            </a:lvl3pPr>
            <a:lvl4pPr marL="1477145" indent="-211021">
              <a:defRPr sz="2200">
                <a:solidFill>
                  <a:schemeClr val="tx1"/>
                </a:solidFill>
                <a:latin typeface="Times New Roman" pitchFamily="18" charset="0"/>
              </a:defRPr>
            </a:lvl4pPr>
            <a:lvl5pPr marL="1899186" indent="-211021">
              <a:defRPr sz="2200">
                <a:solidFill>
                  <a:schemeClr val="tx1"/>
                </a:solidFill>
                <a:latin typeface="Times New Roman" pitchFamily="18" charset="0"/>
              </a:defRPr>
            </a:lvl5pPr>
            <a:lvl6pPr marL="2321227" indent="-211021" eaLnBrk="0" fontAlgn="base" hangingPunct="0">
              <a:spcBef>
                <a:spcPct val="0"/>
              </a:spcBef>
              <a:spcAft>
                <a:spcPct val="0"/>
              </a:spcAft>
              <a:defRPr sz="2200">
                <a:solidFill>
                  <a:schemeClr val="tx1"/>
                </a:solidFill>
                <a:latin typeface="Times New Roman" pitchFamily="18" charset="0"/>
              </a:defRPr>
            </a:lvl6pPr>
            <a:lvl7pPr marL="2743269" indent="-211021" eaLnBrk="0" fontAlgn="base" hangingPunct="0">
              <a:spcBef>
                <a:spcPct val="0"/>
              </a:spcBef>
              <a:spcAft>
                <a:spcPct val="0"/>
              </a:spcAft>
              <a:defRPr sz="2200">
                <a:solidFill>
                  <a:schemeClr val="tx1"/>
                </a:solidFill>
                <a:latin typeface="Times New Roman" pitchFamily="18" charset="0"/>
              </a:defRPr>
            </a:lvl7pPr>
            <a:lvl8pPr marL="3165310" indent="-211021" eaLnBrk="0" fontAlgn="base" hangingPunct="0">
              <a:spcBef>
                <a:spcPct val="0"/>
              </a:spcBef>
              <a:spcAft>
                <a:spcPct val="0"/>
              </a:spcAft>
              <a:defRPr sz="2200">
                <a:solidFill>
                  <a:schemeClr val="tx1"/>
                </a:solidFill>
                <a:latin typeface="Times New Roman" pitchFamily="18" charset="0"/>
              </a:defRPr>
            </a:lvl8pPr>
            <a:lvl9pPr marL="3587351" indent="-211021" eaLnBrk="0" fontAlgn="base" hangingPunct="0">
              <a:spcBef>
                <a:spcPct val="0"/>
              </a:spcBef>
              <a:spcAft>
                <a:spcPct val="0"/>
              </a:spcAft>
              <a:defRPr sz="2200">
                <a:solidFill>
                  <a:schemeClr val="tx1"/>
                </a:solidFill>
                <a:latin typeface="Times New Roman" pitchFamily="18" charset="0"/>
              </a:defRPr>
            </a:lvl9pPr>
          </a:lstStyle>
          <a:p>
            <a:r>
              <a:rPr lang="en-US" sz="1200"/>
              <a:t>Lecture#2</a:t>
            </a:r>
          </a:p>
        </p:txBody>
      </p:sp>
      <p:sp>
        <p:nvSpPr>
          <p:cNvPr id="6963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a:solidFill>
                  <a:schemeClr val="tx1"/>
                </a:solidFill>
                <a:latin typeface="Times New Roman" pitchFamily="18" charset="0"/>
              </a:defRPr>
            </a:lvl1pPr>
            <a:lvl2pPr marL="685817" indent="-263776">
              <a:defRPr sz="2200">
                <a:solidFill>
                  <a:schemeClr val="tx1"/>
                </a:solidFill>
                <a:latin typeface="Times New Roman" pitchFamily="18" charset="0"/>
              </a:defRPr>
            </a:lvl2pPr>
            <a:lvl3pPr marL="1055103" indent="-211021">
              <a:defRPr sz="2200">
                <a:solidFill>
                  <a:schemeClr val="tx1"/>
                </a:solidFill>
                <a:latin typeface="Times New Roman" pitchFamily="18" charset="0"/>
              </a:defRPr>
            </a:lvl3pPr>
            <a:lvl4pPr marL="1477145" indent="-211021">
              <a:defRPr sz="2200">
                <a:solidFill>
                  <a:schemeClr val="tx1"/>
                </a:solidFill>
                <a:latin typeface="Times New Roman" pitchFamily="18" charset="0"/>
              </a:defRPr>
            </a:lvl4pPr>
            <a:lvl5pPr marL="1899186" indent="-211021">
              <a:defRPr sz="2200">
                <a:solidFill>
                  <a:schemeClr val="tx1"/>
                </a:solidFill>
                <a:latin typeface="Times New Roman" pitchFamily="18" charset="0"/>
              </a:defRPr>
            </a:lvl5pPr>
            <a:lvl6pPr marL="2321227" indent="-211021" eaLnBrk="0" fontAlgn="base" hangingPunct="0">
              <a:spcBef>
                <a:spcPct val="0"/>
              </a:spcBef>
              <a:spcAft>
                <a:spcPct val="0"/>
              </a:spcAft>
              <a:defRPr sz="2200">
                <a:solidFill>
                  <a:schemeClr val="tx1"/>
                </a:solidFill>
                <a:latin typeface="Times New Roman" pitchFamily="18" charset="0"/>
              </a:defRPr>
            </a:lvl6pPr>
            <a:lvl7pPr marL="2743269" indent="-211021" eaLnBrk="0" fontAlgn="base" hangingPunct="0">
              <a:spcBef>
                <a:spcPct val="0"/>
              </a:spcBef>
              <a:spcAft>
                <a:spcPct val="0"/>
              </a:spcAft>
              <a:defRPr sz="2200">
                <a:solidFill>
                  <a:schemeClr val="tx1"/>
                </a:solidFill>
                <a:latin typeface="Times New Roman" pitchFamily="18" charset="0"/>
              </a:defRPr>
            </a:lvl7pPr>
            <a:lvl8pPr marL="3165310" indent="-211021" eaLnBrk="0" fontAlgn="base" hangingPunct="0">
              <a:spcBef>
                <a:spcPct val="0"/>
              </a:spcBef>
              <a:spcAft>
                <a:spcPct val="0"/>
              </a:spcAft>
              <a:defRPr sz="2200">
                <a:solidFill>
                  <a:schemeClr val="tx1"/>
                </a:solidFill>
                <a:latin typeface="Times New Roman" pitchFamily="18" charset="0"/>
              </a:defRPr>
            </a:lvl8pPr>
            <a:lvl9pPr marL="3587351" indent="-211021" eaLnBrk="0" fontAlgn="base" hangingPunct="0">
              <a:spcBef>
                <a:spcPct val="0"/>
              </a:spcBef>
              <a:spcAft>
                <a:spcPct val="0"/>
              </a:spcAft>
              <a:defRPr sz="2200">
                <a:solidFill>
                  <a:schemeClr val="tx1"/>
                </a:solidFill>
                <a:latin typeface="Times New Roman" pitchFamily="18" charset="0"/>
              </a:defRPr>
            </a:lvl9pPr>
          </a:lstStyle>
          <a:p>
            <a:fld id="{8CFA2629-C113-429A-9A5C-30DC289453F3}" type="slidenum">
              <a:rPr lang="en-US" sz="1200"/>
              <a:pPr/>
              <a:t>56</a:t>
            </a:fld>
            <a:endParaRPr lang="en-US" sz="1200"/>
          </a:p>
        </p:txBody>
      </p:sp>
      <p:sp>
        <p:nvSpPr>
          <p:cNvPr id="69637" name="Rectangle 2"/>
          <p:cNvSpPr>
            <a:spLocks noGrp="1" noRot="1" noChangeAspect="1" noChangeArrowheads="1" noTextEdit="1"/>
          </p:cNvSpPr>
          <p:nvPr>
            <p:ph type="sldImg"/>
          </p:nvPr>
        </p:nvSpPr>
        <p:spPr>
          <a:xfrm>
            <a:off x="1144588" y="685800"/>
            <a:ext cx="4573587" cy="3430588"/>
          </a:xfrm>
          <a:ln/>
        </p:spPr>
      </p:sp>
      <p:sp>
        <p:nvSpPr>
          <p:cNvPr id="69638" name="Rectangle 3"/>
          <p:cNvSpPr>
            <a:spLocks noGrp="1" noChangeArrowheads="1"/>
          </p:cNvSpPr>
          <p:nvPr>
            <p:ph type="body" idx="1"/>
          </p:nvPr>
        </p:nvSpPr>
        <p:spPr>
          <a:xfrm>
            <a:off x="915525" y="4342939"/>
            <a:ext cx="5026951" cy="41160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aim of quantifying neural coding is addressed by </a:t>
            </a:r>
            <a:r>
              <a:rPr lang="en-US" b="1"/>
              <a:t>information theory</a:t>
            </a:r>
            <a:r>
              <a:rPr lang="en-US"/>
              <a:t>.  Since spike separation is important for what follows, all the following analysis used small arrays of </a:t>
            </a:r>
            <a:r>
              <a:rPr lang="en-US" b="1"/>
              <a:t>tungsten electrodes</a:t>
            </a:r>
            <a:r>
              <a:rPr lang="en-US"/>
              <a:t>.</a:t>
            </a:r>
          </a:p>
          <a:p>
            <a:r>
              <a:rPr lang="en-US"/>
              <a:t>The first step is to quantify the neural response.  First, we define a </a:t>
            </a:r>
            <a:r>
              <a:rPr lang="en-US" b="1"/>
              <a:t>response window</a:t>
            </a:r>
            <a:r>
              <a:rPr lang="en-US"/>
              <a:t> - in this example, 0-40 ms post-stimulus.  </a:t>
            </a:r>
            <a:r>
              <a:rPr lang="en-US">
                <a:solidFill>
                  <a:schemeClr val="accent2"/>
                </a:solidFill>
              </a:rPr>
              <a:t>“Time spots” and PSTHs  indicated that essentially the entire neuronal response was terminated by this time..</a:t>
            </a:r>
            <a:r>
              <a:rPr lang="en-US"/>
              <a:t>  On a given trial, the </a:t>
            </a:r>
            <a:r>
              <a:rPr lang="en-US" b="1"/>
              <a:t>spike count</a:t>
            </a:r>
            <a:r>
              <a:rPr lang="en-US"/>
              <a:t> is simply the number of spikes that occurred in the response interval.</a:t>
            </a:r>
          </a:p>
          <a:p>
            <a:r>
              <a:rPr lang="en-US"/>
              <a:t>To consider spike timing, we divide the response interval into </a:t>
            </a:r>
            <a:r>
              <a:rPr lang="en-US" b="1"/>
              <a:t>bins</a:t>
            </a:r>
            <a:r>
              <a:rPr lang="en-US"/>
              <a:t>, here 10ms wide.  The </a:t>
            </a:r>
            <a:r>
              <a:rPr lang="en-US" b="1"/>
              <a:t>spike timing</a:t>
            </a:r>
            <a:r>
              <a:rPr lang="en-US"/>
              <a:t> response is the 4-letter binary “word”.</a:t>
            </a:r>
          </a:p>
          <a:p>
            <a:endParaRPr lang="en-US"/>
          </a:p>
          <a:p>
            <a:r>
              <a:rPr lang="en-US"/>
              <a:t>Note that the spike count is completely redundant with the spike timing response.  Thus the information in spike timing must be at least as great as that in the spike count.</a:t>
            </a:r>
          </a:p>
          <a:p>
            <a:endParaRPr lang="en-US"/>
          </a:p>
          <a:p>
            <a:r>
              <a:rPr lang="en-US"/>
              <a:t>We do this for each cell in the population on each trial, for each stimuli.</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597FCB4-4716-4DB6-A9EE-9C88E7327E13}" type="slidenum">
              <a:rPr lang="en-US" sz="1200" smtClean="0"/>
              <a:pPr/>
              <a:t>61</a:t>
            </a:fld>
            <a:endParaRPr lang="en-US" sz="12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915989" y="4344025"/>
            <a:ext cx="5026025"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t>* Stimulate 4 different whiskers in a row</a:t>
            </a:r>
          </a:p>
          <a:p>
            <a:r>
              <a:rPr lang="en-GB"/>
              <a:t>* topography</a:t>
            </a:r>
          </a:p>
          <a:p>
            <a:r>
              <a:rPr lang="en-GB"/>
              <a:t>distrbuted coding</a:t>
            </a:r>
          </a:p>
          <a:p>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6443BF9-AE34-49FC-83A6-90963AECA1D4}" type="slidenum">
              <a:rPr lang="en-US" sz="1200" smtClean="0"/>
              <a:pPr/>
              <a:t>62</a:t>
            </a:fld>
            <a:endParaRPr lang="en-US" sz="120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xfrm>
            <a:off x="915989" y="4344025"/>
            <a:ext cx="5026025"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aim of quantifying neural coding is addressed by </a:t>
            </a:r>
            <a:r>
              <a:rPr lang="en-US" b="1"/>
              <a:t>information theory</a:t>
            </a:r>
            <a:r>
              <a:rPr lang="en-US"/>
              <a:t>.  Since spike separation is important for what follows, all the following analysis used small arrays of </a:t>
            </a:r>
            <a:r>
              <a:rPr lang="en-US" b="1"/>
              <a:t>tungsten electrodes</a:t>
            </a:r>
            <a:r>
              <a:rPr lang="en-US"/>
              <a:t>.</a:t>
            </a:r>
          </a:p>
          <a:p>
            <a:r>
              <a:rPr lang="en-US"/>
              <a:t>The first step is to quantify the neural response.  First, we define a </a:t>
            </a:r>
            <a:r>
              <a:rPr lang="en-US" b="1"/>
              <a:t>response window</a:t>
            </a:r>
            <a:r>
              <a:rPr lang="en-US"/>
              <a:t> - in this example, 0-40 ms post-stimulus.  </a:t>
            </a:r>
            <a:r>
              <a:rPr lang="en-US">
                <a:solidFill>
                  <a:schemeClr val="accent2"/>
                </a:solidFill>
              </a:rPr>
              <a:t>“Time spots” and PSTHs  indicated that essentially the entire neuronal response was terminated by this time..</a:t>
            </a:r>
            <a:r>
              <a:rPr lang="en-US"/>
              <a:t>  On a given trial, the </a:t>
            </a:r>
            <a:r>
              <a:rPr lang="en-US" b="1"/>
              <a:t>spike count</a:t>
            </a:r>
            <a:r>
              <a:rPr lang="en-US"/>
              <a:t> is simply the number of spikes that occurred in the response interval.</a:t>
            </a:r>
          </a:p>
          <a:p>
            <a:r>
              <a:rPr lang="en-US"/>
              <a:t>To consider spike timing, we divide the response interval into </a:t>
            </a:r>
            <a:r>
              <a:rPr lang="en-US" b="1"/>
              <a:t>bins</a:t>
            </a:r>
            <a:r>
              <a:rPr lang="en-US"/>
              <a:t>, here 10ms wide.  The </a:t>
            </a:r>
            <a:r>
              <a:rPr lang="en-US" b="1"/>
              <a:t>spike timing</a:t>
            </a:r>
            <a:r>
              <a:rPr lang="en-US"/>
              <a:t> response is the 4-letter binary “word”.</a:t>
            </a:r>
          </a:p>
          <a:p>
            <a:endParaRPr lang="en-US"/>
          </a:p>
          <a:p>
            <a:r>
              <a:rPr lang="en-US"/>
              <a:t>Note that the spike count is completely redundant with the spike timing response.  Thus the information in spike timing must be at least as great as that in the spike count.</a:t>
            </a:r>
          </a:p>
          <a:p>
            <a:endParaRPr lang="en-US"/>
          </a:p>
          <a:p>
            <a:r>
              <a:rPr lang="en-US"/>
              <a:t>We do this for each cell in the population on each trial, for each stimuli.</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B9841EC-5476-43B6-A8FB-A05281F47C5F}" type="slidenum">
              <a:rPr lang="en-US" sz="1200" smtClean="0"/>
              <a:pPr/>
              <a:t>63</a:t>
            </a:fld>
            <a:endParaRPr lang="en-US"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15989" y="4344025"/>
            <a:ext cx="5026025" cy="41144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aim of quantifying neural coding is addressed by </a:t>
            </a:r>
            <a:r>
              <a:rPr lang="en-US" b="1"/>
              <a:t>information theory</a:t>
            </a:r>
            <a:r>
              <a:rPr lang="en-US"/>
              <a:t>.  Since spike separation is important for what follows, all the following analysis used small arrays of </a:t>
            </a:r>
            <a:r>
              <a:rPr lang="en-US" b="1"/>
              <a:t>tungsten electrodes</a:t>
            </a:r>
            <a:r>
              <a:rPr lang="en-US"/>
              <a:t>.</a:t>
            </a:r>
          </a:p>
          <a:p>
            <a:r>
              <a:rPr lang="en-US"/>
              <a:t>The first step is to quantify the neural response.  First, we define a </a:t>
            </a:r>
            <a:r>
              <a:rPr lang="en-US" b="1"/>
              <a:t>response window</a:t>
            </a:r>
            <a:r>
              <a:rPr lang="en-US"/>
              <a:t> - in this example, 0-40 ms post-stimulus.  </a:t>
            </a:r>
            <a:r>
              <a:rPr lang="en-US">
                <a:solidFill>
                  <a:schemeClr val="accent2"/>
                </a:solidFill>
              </a:rPr>
              <a:t>“Time spots” and PSTHs  indicated that essentially the entire neuronal response was terminated by this time..</a:t>
            </a:r>
            <a:r>
              <a:rPr lang="en-US"/>
              <a:t>  On a given trial, the </a:t>
            </a:r>
            <a:r>
              <a:rPr lang="en-US" b="1"/>
              <a:t>spike count</a:t>
            </a:r>
            <a:r>
              <a:rPr lang="en-US"/>
              <a:t> is simply the number of spikes that occurred in the response interval.</a:t>
            </a:r>
          </a:p>
          <a:p>
            <a:r>
              <a:rPr lang="en-US"/>
              <a:t>To consider spike timing, we divide the response interval into </a:t>
            </a:r>
            <a:r>
              <a:rPr lang="en-US" b="1"/>
              <a:t>bins</a:t>
            </a:r>
            <a:r>
              <a:rPr lang="en-US"/>
              <a:t>, here 10ms wide.  The </a:t>
            </a:r>
            <a:r>
              <a:rPr lang="en-US" b="1"/>
              <a:t>spike timing</a:t>
            </a:r>
            <a:r>
              <a:rPr lang="en-US"/>
              <a:t> response is the 4-letter binary “word”.</a:t>
            </a:r>
          </a:p>
          <a:p>
            <a:endParaRPr lang="en-US"/>
          </a:p>
          <a:p>
            <a:r>
              <a:rPr lang="en-US"/>
              <a:t>Note that the spike count is completely redundant with the spike timing response.  Thus the information in spike timing must be at least as great as that in the spike count.</a:t>
            </a:r>
          </a:p>
          <a:p>
            <a:endParaRPr lang="en-US"/>
          </a:p>
          <a:p>
            <a:r>
              <a:rPr lang="en-US"/>
              <a:t>We do this for each cell in the population on each trial, for each stimuli.</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p>
            <a:fld id="{A1009033-E365-4AD4-AB75-1A57D8D1260B}" type="slidenum">
              <a:rPr lang="en-US" smtClean="0"/>
              <a:pPr/>
              <a:t>70</a:t>
            </a:fld>
            <a:endParaRPr lang="en-US"/>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p:spPr>
        <p:txBody>
          <a:bodyPr/>
          <a:lstStyle/>
          <a:p>
            <a:r>
              <a:rPr lang="en-US" sz="1000"/>
              <a:t>We evaluate which features of continuous signals are encoding information about an external stimulus</a:t>
            </a:r>
          </a:p>
          <a:p>
            <a:r>
              <a:rPr lang="en-US" sz="1000"/>
              <a:t>Information estimates number of bits shared between stimulus and response on average in a single trial</a:t>
            </a:r>
          </a:p>
          <a:p>
            <a:r>
              <a:rPr lang="en-US" sz="1000"/>
              <a:t>It takes into account contributions of correlations at all orders</a:t>
            </a:r>
          </a:p>
          <a:p>
            <a:r>
              <a:rPr lang="en-US" sz="1000"/>
              <a:t>We don’t need to specify a stimulus response model, we just need to compute response probabilities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266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6E392CA-738A-4DF7-AEA1-D4E2B9710815}" type="slidenum">
              <a:rPr lang="en-US"/>
              <a:pPr fontAlgn="base">
                <a:spcBef>
                  <a:spcPct val="0"/>
                </a:spcBef>
                <a:spcAft>
                  <a:spcPct val="0"/>
                </a:spcAft>
              </a:pPr>
              <a:t>73</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800"/>
              <a:t>Many studies on brain function measure field-potentials, either using EEG or LFP. However, neither the </a:t>
            </a:r>
            <a:r>
              <a:rPr lang="en-US" sz="800" b="1"/>
              <a:t>sources generating these signals</a:t>
            </a:r>
            <a:r>
              <a:rPr lang="en-US" sz="800"/>
              <a:t>, nor the </a:t>
            </a:r>
            <a:r>
              <a:rPr lang="en-US" sz="800" b="1"/>
              <a:t>passive electrical spread</a:t>
            </a:r>
            <a:r>
              <a:rPr lang="en-US" sz="800"/>
              <a:t> of these fields through cortical tissue is well understood. </a:t>
            </a:r>
          </a:p>
          <a:p>
            <a:r>
              <a:rPr lang="en-US" sz="800"/>
              <a:t>The </a:t>
            </a:r>
            <a:r>
              <a:rPr lang="en-US" sz="800" b="1"/>
              <a:t>resistive properties </a:t>
            </a:r>
            <a:r>
              <a:rPr lang="en-US" sz="800"/>
              <a:t>of the tissue determine how far a certain signal will spread, and hence also determine how many different sources could possibly be seen at any time.</a:t>
            </a:r>
          </a:p>
          <a:p>
            <a:r>
              <a:rPr lang="en-US" sz="800"/>
              <a:t>From what is known (Ranck et al), </a:t>
            </a:r>
            <a:r>
              <a:rPr lang="en-US" sz="800" b="1"/>
              <a:t>currents spread  mostly through the extracellular medium</a:t>
            </a:r>
            <a:r>
              <a:rPr lang="en-US" sz="800"/>
              <a:t>, not ‘through’ neurons. Hence, the resistive properties of the extracellular medium likely determine the properties of the signals recorded with microelectrodes.</a:t>
            </a:r>
          </a:p>
          <a:p>
            <a:r>
              <a:rPr lang="en-US" sz="800"/>
              <a:t>The goal of this study was to characterize the resistive properties of the gray matter, using the monkey visual cortex as a model system.</a:t>
            </a: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DF1968F-C8B9-42A1-9C4F-CC1A291DCD5E}" type="slidenum">
              <a:rPr lang="en-US" sz="1200" smtClean="0"/>
              <a:pPr/>
              <a:t>76</a:t>
            </a:fld>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charset="0"/>
              </a:rPr>
              <a:t>Computational Neuroscience 2006</a:t>
            </a:r>
          </a:p>
        </p:txBody>
      </p:sp>
      <p:sp>
        <p:nvSpPr>
          <p:cNvPr id="6246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charset="0"/>
              </a:rPr>
              <a:t>Lecture#2</a:t>
            </a:r>
          </a:p>
        </p:txBody>
      </p:sp>
      <p:sp>
        <p:nvSpPr>
          <p:cNvPr id="6246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fld id="{9A02BA03-6A8F-4FDD-B1F7-EB6F03B5438E}" type="slidenum">
              <a:rPr lang="en-US" sz="1200">
                <a:latin typeface="Arial" charset="0"/>
              </a:rPr>
              <a:pPr eaLnBrk="1" hangingPunct="1"/>
              <a:t>77</a:t>
            </a:fld>
            <a:endParaRPr lang="en-US" sz="1200">
              <a:latin typeface="Arial" charset="0"/>
            </a:endParaRPr>
          </a:p>
        </p:txBody>
      </p:sp>
      <p:sp>
        <p:nvSpPr>
          <p:cNvPr id="62469" name="Rectangle 2"/>
          <p:cNvSpPr>
            <a:spLocks noGrp="1" noRot="1" noChangeAspect="1" noChangeArrowheads="1" noTextEdit="1"/>
          </p:cNvSpPr>
          <p:nvPr>
            <p:ph type="sldImg"/>
          </p:nvPr>
        </p:nvSpPr>
        <p:spPr>
          <a:xfrm>
            <a:off x="1143000" y="685800"/>
            <a:ext cx="4573588" cy="3430588"/>
          </a:xfrm>
          <a:ln/>
        </p:spPr>
      </p:sp>
      <p:sp>
        <p:nvSpPr>
          <p:cNvPr id="624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atin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charset="0"/>
              </a:rPr>
              <a:t>Computational Neuroscience 2006</a:t>
            </a:r>
          </a:p>
        </p:txBody>
      </p:sp>
      <p:sp>
        <p:nvSpPr>
          <p:cNvPr id="634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charset="0"/>
              </a:rPr>
              <a:t>Lecture#2</a:t>
            </a:r>
          </a:p>
        </p:txBody>
      </p:sp>
      <p:sp>
        <p:nvSpPr>
          <p:cNvPr id="634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fld id="{FAF2F76C-A754-457C-8074-55E20CAC9D56}" type="slidenum">
              <a:rPr lang="en-US" sz="1200">
                <a:latin typeface="Arial" charset="0"/>
              </a:rPr>
              <a:pPr eaLnBrk="1" hangingPunct="1"/>
              <a:t>78</a:t>
            </a:fld>
            <a:endParaRPr lang="en-US" sz="1200">
              <a:latin typeface="Arial" charset="0"/>
            </a:endParaRPr>
          </a:p>
        </p:txBody>
      </p:sp>
      <p:sp>
        <p:nvSpPr>
          <p:cNvPr id="63493" name="Rectangle 2"/>
          <p:cNvSpPr>
            <a:spLocks noGrp="1" noRot="1" noChangeAspect="1" noChangeArrowheads="1" noTextEdit="1"/>
          </p:cNvSpPr>
          <p:nvPr>
            <p:ph type="sldImg"/>
          </p:nvPr>
        </p:nvSpPr>
        <p:spPr>
          <a:xfrm>
            <a:off x="1143000" y="685800"/>
            <a:ext cx="4573588" cy="3430588"/>
          </a:xfrm>
          <a:ln/>
        </p:spPr>
      </p:sp>
      <p:sp>
        <p:nvSpPr>
          <p:cNvPr id="634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charset="0"/>
              </a:rPr>
              <a:t>Computational Neuroscience 2006</a:t>
            </a:r>
          </a:p>
        </p:txBody>
      </p:sp>
      <p:sp>
        <p:nvSpPr>
          <p:cNvPr id="6451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charset="0"/>
              </a:rPr>
              <a:t>Lecture#2</a:t>
            </a:r>
          </a:p>
        </p:txBody>
      </p:sp>
      <p:sp>
        <p:nvSpPr>
          <p:cNvPr id="6451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fld id="{8A6CF5CA-D87A-4C32-AC0D-683407F0F93E}" type="slidenum">
              <a:rPr lang="en-US" sz="1200">
                <a:latin typeface="Arial" charset="0"/>
              </a:rPr>
              <a:pPr eaLnBrk="1" hangingPunct="1"/>
              <a:t>79</a:t>
            </a:fld>
            <a:endParaRPr lang="en-US" sz="1200">
              <a:latin typeface="Arial" charset="0"/>
            </a:endParaRPr>
          </a:p>
        </p:txBody>
      </p:sp>
      <p:sp>
        <p:nvSpPr>
          <p:cNvPr id="64517" name="Rectangle 2"/>
          <p:cNvSpPr>
            <a:spLocks noGrp="1" noRot="1" noChangeAspect="1" noChangeArrowheads="1" noTextEdit="1"/>
          </p:cNvSpPr>
          <p:nvPr>
            <p:ph type="sldImg"/>
          </p:nvPr>
        </p:nvSpPr>
        <p:spPr>
          <a:xfrm>
            <a:off x="1143000" y="685800"/>
            <a:ext cx="4573588" cy="3430588"/>
          </a:xfrm>
          <a:ln/>
        </p:spPr>
      </p:sp>
      <p:sp>
        <p:nvSpPr>
          <p:cNvPr id="6451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8"/>
          <p:cNvSpPr>
            <a:spLocks noGrp="1" noChangeArrowheads="1"/>
          </p:cNvSpPr>
          <p:nvPr>
            <p:ph type="sldNum" sz="quarter"/>
          </p:nvPr>
        </p:nvSpPr>
        <p:spPr>
          <a:noFill/>
          <a:ln>
            <a:round/>
            <a:headEnd/>
            <a:tailEnd/>
          </a:ln>
        </p:spPr>
        <p:txBody>
          <a:bodyPr/>
          <a:lstStyle/>
          <a:p>
            <a:pPr>
              <a:tabLst>
                <a:tab pos="0" algn="l"/>
                <a:tab pos="455697" algn="l"/>
                <a:tab pos="912859" algn="l"/>
                <a:tab pos="1370021" algn="l"/>
                <a:tab pos="1827183" algn="l"/>
                <a:tab pos="2284345" algn="l"/>
                <a:tab pos="2741507" algn="l"/>
                <a:tab pos="3198668" algn="l"/>
                <a:tab pos="3655830" algn="l"/>
                <a:tab pos="4112992" algn="l"/>
                <a:tab pos="4570154" algn="l"/>
                <a:tab pos="5027316" algn="l"/>
                <a:tab pos="5484478" algn="l"/>
                <a:tab pos="5941640" algn="l"/>
                <a:tab pos="6398802" algn="l"/>
                <a:tab pos="6855964" algn="l"/>
                <a:tab pos="7313126" algn="l"/>
                <a:tab pos="7770287" algn="l"/>
                <a:tab pos="8227449" algn="l"/>
                <a:tab pos="8684611" algn="l"/>
                <a:tab pos="9141773" algn="l"/>
              </a:tabLst>
            </a:pPr>
            <a:fld id="{1CBE03EB-B684-432B-B1F8-CA8BB7D9A450}" type="slidenum">
              <a:rPr lang="en-US" altLang="en-US" smtClean="0">
                <a:latin typeface="Times New Roman" pitchFamily="18" charset="0"/>
              </a:rPr>
              <a:pPr>
                <a:tabLst>
                  <a:tab pos="0" algn="l"/>
                  <a:tab pos="455697" algn="l"/>
                  <a:tab pos="912859" algn="l"/>
                  <a:tab pos="1370021" algn="l"/>
                  <a:tab pos="1827183" algn="l"/>
                  <a:tab pos="2284345" algn="l"/>
                  <a:tab pos="2741507" algn="l"/>
                  <a:tab pos="3198668" algn="l"/>
                  <a:tab pos="3655830" algn="l"/>
                  <a:tab pos="4112992" algn="l"/>
                  <a:tab pos="4570154" algn="l"/>
                  <a:tab pos="5027316" algn="l"/>
                  <a:tab pos="5484478" algn="l"/>
                  <a:tab pos="5941640" algn="l"/>
                  <a:tab pos="6398802" algn="l"/>
                  <a:tab pos="6855964" algn="l"/>
                  <a:tab pos="7313126" algn="l"/>
                  <a:tab pos="7770287" algn="l"/>
                  <a:tab pos="8227449" algn="l"/>
                  <a:tab pos="8684611" algn="l"/>
                  <a:tab pos="9141773" algn="l"/>
                </a:tabLst>
              </a:pPr>
              <a:t>80</a:t>
            </a:fld>
            <a:endParaRPr lang="en-US" altLang="en-US" dirty="0">
              <a:latin typeface="Times New Roman" pitchFamily="18" charset="0"/>
            </a:endParaRPr>
          </a:p>
        </p:txBody>
      </p:sp>
      <p:sp>
        <p:nvSpPr>
          <p:cNvPr id="80897" name="Text Box 1"/>
          <p:cNvSpPr txBox="1">
            <a:spLocks noChangeArrowheads="1"/>
          </p:cNvSpPr>
          <p:nvPr/>
        </p:nvSpPr>
        <p:spPr bwMode="auto">
          <a:xfrm>
            <a:off x="0" y="0"/>
            <a:ext cx="11796864" cy="11796696"/>
          </a:xfrm>
          <a:prstGeom prst="rect">
            <a:avLst/>
          </a:prstGeom>
          <a:noFill/>
          <a:ln>
            <a:noFill/>
          </a:ln>
          <a:effectLst/>
        </p:spPr>
        <p:txBody>
          <a:bodyPr lIns="89990" tIns="44995" rIns="89990" bIns="44995"/>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 pos="10134600" algn="l"/>
                <a:tab pos="10858500" algn="l"/>
                <a:tab pos="11582400" algn="l"/>
              </a:tabLst>
              <a:defRPr>
                <a:solidFill>
                  <a:srgbClr val="000000"/>
                </a:solidFill>
                <a:latin typeface="Arial" charset="0"/>
                <a:ea typeface="WenQuanYi Micro Hei" charset="0"/>
                <a:cs typeface="WenQuanYi Micro Hei"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 pos="10134600" algn="l"/>
                <a:tab pos="10858500" algn="l"/>
                <a:tab pos="11582400" algn="l"/>
              </a:tabLst>
              <a:defRPr>
                <a:solidFill>
                  <a:srgbClr val="000000"/>
                </a:solidFill>
                <a:latin typeface="Arial" charset="0"/>
                <a:ea typeface="WenQuanYi Micro Hei" charset="0"/>
                <a:cs typeface="WenQuanYi Micro Hei"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 pos="10134600" algn="l"/>
                <a:tab pos="10858500" algn="l"/>
                <a:tab pos="11582400" algn="l"/>
              </a:tabLst>
              <a:defRPr>
                <a:solidFill>
                  <a:srgbClr val="000000"/>
                </a:solidFill>
                <a:latin typeface="Arial" charset="0"/>
                <a:ea typeface="WenQuanYi Micro Hei" charset="0"/>
                <a:cs typeface="WenQuanYi Micro Hei"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 pos="10134600" algn="l"/>
                <a:tab pos="10858500" algn="l"/>
                <a:tab pos="11582400" algn="l"/>
              </a:tabLst>
              <a:defRPr>
                <a:solidFill>
                  <a:srgbClr val="000000"/>
                </a:solidFill>
                <a:latin typeface="Arial" charset="0"/>
                <a:ea typeface="WenQuanYi Micro Hei" charset="0"/>
                <a:cs typeface="WenQuanYi Micro Hei"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 pos="10134600" algn="l"/>
                <a:tab pos="10858500" algn="l"/>
                <a:tab pos="11582400" algn="l"/>
              </a:tabLst>
              <a:defRPr>
                <a:solidFill>
                  <a:srgbClr val="000000"/>
                </a:solidFill>
                <a:latin typeface="Arial" charset="0"/>
                <a:ea typeface="WenQuanYi Micro Hei" charset="0"/>
                <a:cs typeface="WenQuanYi Micro Hei" charset="0"/>
              </a:defRPr>
            </a:lvl5pPr>
            <a:lvl6pPr marL="25146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 pos="10134600" algn="l"/>
                <a:tab pos="10858500" algn="l"/>
                <a:tab pos="11582400" algn="l"/>
              </a:tabLst>
              <a:defRPr>
                <a:solidFill>
                  <a:srgbClr val="000000"/>
                </a:solidFill>
                <a:latin typeface="Arial" charset="0"/>
                <a:ea typeface="WenQuanYi Micro Hei" charset="0"/>
                <a:cs typeface="WenQuanYi Micro Hei" charset="0"/>
              </a:defRPr>
            </a:lvl6pPr>
            <a:lvl7pPr marL="29718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 pos="10134600" algn="l"/>
                <a:tab pos="10858500" algn="l"/>
                <a:tab pos="11582400" algn="l"/>
              </a:tabLst>
              <a:defRPr>
                <a:solidFill>
                  <a:srgbClr val="000000"/>
                </a:solidFill>
                <a:latin typeface="Arial" charset="0"/>
                <a:ea typeface="WenQuanYi Micro Hei" charset="0"/>
                <a:cs typeface="WenQuanYi Micro Hei" charset="0"/>
              </a:defRPr>
            </a:lvl7pPr>
            <a:lvl8pPr marL="34290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 pos="10134600" algn="l"/>
                <a:tab pos="10858500" algn="l"/>
                <a:tab pos="11582400" algn="l"/>
              </a:tabLst>
              <a:defRPr>
                <a:solidFill>
                  <a:srgbClr val="000000"/>
                </a:solidFill>
                <a:latin typeface="Arial" charset="0"/>
                <a:ea typeface="WenQuanYi Micro Hei" charset="0"/>
                <a:cs typeface="WenQuanYi Micro Hei" charset="0"/>
              </a:defRPr>
            </a:lvl8pPr>
            <a:lvl9pPr marL="3886200" indent="-228600" defTabSz="457200" fontAlgn="base" hangingPunct="0">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 pos="10134600" algn="l"/>
                <a:tab pos="10858500" algn="l"/>
                <a:tab pos="11582400" algn="l"/>
              </a:tabLst>
              <a:defRPr>
                <a:solidFill>
                  <a:srgbClr val="000000"/>
                </a:solidFill>
                <a:latin typeface="Arial" charset="0"/>
                <a:ea typeface="WenQuanYi Micro Hei" charset="0"/>
                <a:cs typeface="WenQuanYi Micro Hei" charset="0"/>
              </a:defRPr>
            </a:lvl9pPr>
          </a:lstStyle>
          <a:p>
            <a:pPr>
              <a:lnSpc>
                <a:spcPct val="100000"/>
              </a:lnSpc>
              <a:buClrTx/>
              <a:buFontTx/>
              <a:buNone/>
              <a:defRPr/>
            </a:pPr>
            <a:fld id="{0C531494-17E4-4C08-A52F-E9A422A0C69E}" type="slidenum">
              <a:rPr lang="en-US" altLang="en-US" smtClean="0">
                <a:latin typeface="+mn-lt" charset="0"/>
                <a:ea typeface="+mn-ea" charset="0"/>
                <a:cs typeface="+mn-ea" charset="0"/>
              </a:rPr>
              <a:pPr>
                <a:lnSpc>
                  <a:spcPct val="100000"/>
                </a:lnSpc>
                <a:buClrTx/>
                <a:buFontTx/>
                <a:buNone/>
                <a:defRPr/>
              </a:pPr>
              <a:t>80</a:t>
            </a:fld>
            <a:endParaRPr lang="en-US" altLang="en-US">
              <a:latin typeface="+mn-lt" charset="0"/>
              <a:ea typeface="+mn-ea" charset="0"/>
              <a:cs typeface="+mn-ea" charset="0"/>
            </a:endParaRPr>
          </a:p>
        </p:txBody>
      </p:sp>
      <p:sp>
        <p:nvSpPr>
          <p:cNvPr id="49156" name="Text Box 2"/>
          <p:cNvSpPr txBox="1">
            <a:spLocks noChangeArrowheads="1"/>
          </p:cNvSpPr>
          <p:nvPr/>
        </p:nvSpPr>
        <p:spPr bwMode="auto">
          <a:xfrm>
            <a:off x="3881192" y="8687226"/>
            <a:ext cx="2973742" cy="455356"/>
          </a:xfrm>
          <a:prstGeom prst="rect">
            <a:avLst/>
          </a:prstGeom>
          <a:noFill/>
          <a:ln w="9525">
            <a:noFill/>
            <a:round/>
            <a:headEnd/>
            <a:tailEnd/>
          </a:ln>
        </p:spPr>
        <p:txBody>
          <a:bodyPr lIns="0" tIns="0" rIns="0" bIns="0" anchor="b"/>
          <a:lstStyle/>
          <a:p>
            <a:pPr algn="r">
              <a:tabLst>
                <a:tab pos="0" algn="l"/>
                <a:tab pos="455697" algn="l"/>
                <a:tab pos="912859" algn="l"/>
                <a:tab pos="1370021" algn="l"/>
                <a:tab pos="1827183" algn="l"/>
                <a:tab pos="2284345" algn="l"/>
                <a:tab pos="2741507" algn="l"/>
                <a:tab pos="3198668" algn="l"/>
                <a:tab pos="3655830" algn="l"/>
                <a:tab pos="4112992" algn="l"/>
                <a:tab pos="4570154" algn="l"/>
                <a:tab pos="5027316" algn="l"/>
                <a:tab pos="5484478" algn="l"/>
                <a:tab pos="5941640" algn="l"/>
                <a:tab pos="6398802" algn="l"/>
                <a:tab pos="6855964" algn="l"/>
                <a:tab pos="7313126" algn="l"/>
                <a:tab pos="7770287" algn="l"/>
                <a:tab pos="8227449" algn="l"/>
                <a:tab pos="8684611" algn="l"/>
                <a:tab pos="9141773" algn="l"/>
              </a:tabLst>
            </a:pPr>
            <a:fld id="{DF24F388-BF18-4512-A9E8-C969A823A506}" type="slidenum">
              <a:rPr lang="en-US" altLang="en-US" sz="1300">
                <a:solidFill>
                  <a:srgbClr val="000000"/>
                </a:solidFill>
                <a:latin typeface="Times New Roman" pitchFamily="18" charset="0"/>
                <a:cs typeface="DejaVu Sans" charset="0"/>
              </a:rPr>
              <a:pPr algn="r">
                <a:tabLst>
                  <a:tab pos="0" algn="l"/>
                  <a:tab pos="455697" algn="l"/>
                  <a:tab pos="912859" algn="l"/>
                  <a:tab pos="1370021" algn="l"/>
                  <a:tab pos="1827183" algn="l"/>
                  <a:tab pos="2284345" algn="l"/>
                  <a:tab pos="2741507" algn="l"/>
                  <a:tab pos="3198668" algn="l"/>
                  <a:tab pos="3655830" algn="l"/>
                  <a:tab pos="4112992" algn="l"/>
                  <a:tab pos="4570154" algn="l"/>
                  <a:tab pos="5027316" algn="l"/>
                  <a:tab pos="5484478" algn="l"/>
                  <a:tab pos="5941640" algn="l"/>
                  <a:tab pos="6398802" algn="l"/>
                  <a:tab pos="6855964" algn="l"/>
                  <a:tab pos="7313126" algn="l"/>
                  <a:tab pos="7770287" algn="l"/>
                  <a:tab pos="8227449" algn="l"/>
                  <a:tab pos="8684611" algn="l"/>
                  <a:tab pos="9141773" algn="l"/>
                </a:tabLst>
              </a:pPr>
              <a:t>80</a:t>
            </a:fld>
            <a:endParaRPr lang="en-US" altLang="en-US" sz="1300" dirty="0">
              <a:solidFill>
                <a:srgbClr val="000000"/>
              </a:solidFill>
              <a:latin typeface="Times New Roman" pitchFamily="18" charset="0"/>
              <a:cs typeface="DejaVu Sans" charset="0"/>
            </a:endParaRPr>
          </a:p>
        </p:txBody>
      </p:sp>
      <p:sp>
        <p:nvSpPr>
          <p:cNvPr id="49157" name="Rectangle 3"/>
          <p:cNvSpPr>
            <a:spLocks noGrp="1" noChangeArrowheads="1"/>
          </p:cNvSpPr>
          <p:nvPr>
            <p:ph type="body"/>
          </p:nvPr>
        </p:nvSpPr>
        <p:spPr>
          <a:xfrm>
            <a:off x="685187" y="4343613"/>
            <a:ext cx="5487626" cy="4112389"/>
          </a:xfrm>
          <a:noFill/>
        </p:spPr>
        <p:txBody>
          <a:bodyPr wrap="none" anchor="ctr"/>
          <a:lstStyle/>
          <a:p>
            <a:pPr>
              <a:spcBef>
                <a:spcPts val="450"/>
              </a:spcBef>
              <a:tabLst>
                <a:tab pos="0" algn="l"/>
                <a:tab pos="455697" algn="l"/>
                <a:tab pos="912859" algn="l"/>
                <a:tab pos="1370021" algn="l"/>
                <a:tab pos="1827183" algn="l"/>
                <a:tab pos="2284345" algn="l"/>
                <a:tab pos="2741507" algn="l"/>
                <a:tab pos="3198668" algn="l"/>
                <a:tab pos="3655830" algn="l"/>
                <a:tab pos="4112992" algn="l"/>
                <a:tab pos="4570154" algn="l"/>
                <a:tab pos="5027316" algn="l"/>
                <a:tab pos="5484478" algn="l"/>
                <a:tab pos="5941640" algn="l"/>
                <a:tab pos="6398802" algn="l"/>
                <a:tab pos="6855964" algn="l"/>
                <a:tab pos="7313126" algn="l"/>
                <a:tab pos="7770287" algn="l"/>
                <a:tab pos="8227449" algn="l"/>
                <a:tab pos="8684611" algn="l"/>
                <a:tab pos="9141773" algn="l"/>
              </a:tabLst>
            </a:pPr>
            <a:endParaRPr lang="en-US" altLang="en-US" dirty="0">
              <a:latin typeface="Times New Roman" pitchFamily="18" charset="0"/>
              <a:ea typeface="WenQuanYi Micro Hei" charset="0"/>
              <a:cs typeface="WenQuanYi Micro Hei"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charset="0"/>
              </a:rPr>
              <a:t>Computational Neuroscience 2006</a:t>
            </a:r>
          </a:p>
        </p:txBody>
      </p:sp>
      <p:sp>
        <p:nvSpPr>
          <p:cNvPr id="655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latin typeface="Arial" charset="0"/>
              </a:rPr>
              <a:t>Lecture#2</a:t>
            </a:r>
          </a:p>
        </p:txBody>
      </p:sp>
      <p:sp>
        <p:nvSpPr>
          <p:cNvPr id="655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fld id="{7928A5E6-DCF9-40A1-AEBB-B5C9C673C5C7}" type="slidenum">
              <a:rPr lang="en-US" sz="1200">
                <a:latin typeface="Arial" charset="0"/>
              </a:rPr>
              <a:pPr eaLnBrk="1" hangingPunct="1"/>
              <a:t>81</a:t>
            </a:fld>
            <a:endParaRPr lang="en-US" sz="1200">
              <a:latin typeface="Arial" charset="0"/>
            </a:endParaRPr>
          </a:p>
        </p:txBody>
      </p:sp>
      <p:sp>
        <p:nvSpPr>
          <p:cNvPr id="65541" name="Rectangle 2"/>
          <p:cNvSpPr>
            <a:spLocks noGrp="1" noRot="1" noChangeAspect="1" noChangeArrowheads="1" noTextEdit="1"/>
          </p:cNvSpPr>
          <p:nvPr>
            <p:ph type="sldImg"/>
          </p:nvPr>
        </p:nvSpPr>
        <p:spPr>
          <a:xfrm>
            <a:off x="1143000" y="685800"/>
            <a:ext cx="4573588" cy="3430588"/>
          </a:xfrm>
          <a:ln/>
        </p:spPr>
      </p:sp>
      <p:sp>
        <p:nvSpPr>
          <p:cNvPr id="655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atin typeface="Arial"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t>Computational Neuroscience 2006</a:t>
            </a:r>
          </a:p>
        </p:txBody>
      </p:sp>
      <p:sp>
        <p:nvSpPr>
          <p:cNvPr id="6656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t>Lecture#2</a:t>
            </a:r>
          </a:p>
        </p:txBody>
      </p:sp>
      <p:sp>
        <p:nvSpPr>
          <p:cNvPr id="6656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fld id="{44FAD310-74B8-4319-92C1-B5C13ADE29D9}" type="slidenum">
              <a:rPr lang="en-US" sz="1200"/>
              <a:pPr eaLnBrk="1" hangingPunct="1"/>
              <a:t>83</a:t>
            </a:fld>
            <a:endParaRPr lang="en-US" sz="1200"/>
          </a:p>
        </p:txBody>
      </p:sp>
      <p:sp>
        <p:nvSpPr>
          <p:cNvPr id="66565" name="Rectangle 2"/>
          <p:cNvSpPr>
            <a:spLocks noGrp="1" noRot="1" noChangeAspect="1" noChangeArrowheads="1" noTextEdit="1"/>
          </p:cNvSpPr>
          <p:nvPr>
            <p:ph type="sldImg"/>
          </p:nvPr>
        </p:nvSpPr>
        <p:spPr>
          <a:ln/>
        </p:spPr>
      </p:sp>
      <p:sp>
        <p:nvSpPr>
          <p:cNvPr id="6656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t>Computational Neuroscience 2006</a:t>
            </a:r>
          </a:p>
        </p:txBody>
      </p:sp>
      <p:sp>
        <p:nvSpPr>
          <p:cNvPr id="6758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200"/>
              <a:t>Lecture#2</a:t>
            </a:r>
          </a:p>
        </p:txBody>
      </p:sp>
      <p:sp>
        <p:nvSpPr>
          <p:cNvPr id="6758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1167" indent="-285064" eaLnBrk="0" hangingPunct="0">
              <a:defRPr sz="2400">
                <a:solidFill>
                  <a:schemeClr val="tx1"/>
                </a:solidFill>
                <a:latin typeface="Times New Roman" pitchFamily="18" charset="0"/>
              </a:defRPr>
            </a:lvl2pPr>
            <a:lvl3pPr marL="1140257" indent="-228051" eaLnBrk="0" hangingPunct="0">
              <a:defRPr sz="2400">
                <a:solidFill>
                  <a:schemeClr val="tx1"/>
                </a:solidFill>
                <a:latin typeface="Times New Roman" pitchFamily="18" charset="0"/>
              </a:defRPr>
            </a:lvl3pPr>
            <a:lvl4pPr marL="1596360" indent="-228051" eaLnBrk="0" hangingPunct="0">
              <a:defRPr sz="2400">
                <a:solidFill>
                  <a:schemeClr val="tx1"/>
                </a:solidFill>
                <a:latin typeface="Times New Roman" pitchFamily="18" charset="0"/>
              </a:defRPr>
            </a:lvl4pPr>
            <a:lvl5pPr marL="2052462" indent="-228051" eaLnBrk="0" hangingPunct="0">
              <a:defRPr sz="2400">
                <a:solidFill>
                  <a:schemeClr val="tx1"/>
                </a:solidFill>
                <a:latin typeface="Times New Roman" pitchFamily="18" charset="0"/>
              </a:defRPr>
            </a:lvl5pPr>
            <a:lvl6pPr marL="2508565" indent="-228051" eaLnBrk="0" fontAlgn="base" hangingPunct="0">
              <a:spcBef>
                <a:spcPct val="0"/>
              </a:spcBef>
              <a:spcAft>
                <a:spcPct val="0"/>
              </a:spcAft>
              <a:defRPr sz="2400">
                <a:solidFill>
                  <a:schemeClr val="tx1"/>
                </a:solidFill>
                <a:latin typeface="Times New Roman" pitchFamily="18" charset="0"/>
              </a:defRPr>
            </a:lvl6pPr>
            <a:lvl7pPr marL="2964668" indent="-228051" eaLnBrk="0" fontAlgn="base" hangingPunct="0">
              <a:spcBef>
                <a:spcPct val="0"/>
              </a:spcBef>
              <a:spcAft>
                <a:spcPct val="0"/>
              </a:spcAft>
              <a:defRPr sz="2400">
                <a:solidFill>
                  <a:schemeClr val="tx1"/>
                </a:solidFill>
                <a:latin typeface="Times New Roman" pitchFamily="18" charset="0"/>
              </a:defRPr>
            </a:lvl7pPr>
            <a:lvl8pPr marL="3420770" indent="-228051" eaLnBrk="0" fontAlgn="base" hangingPunct="0">
              <a:spcBef>
                <a:spcPct val="0"/>
              </a:spcBef>
              <a:spcAft>
                <a:spcPct val="0"/>
              </a:spcAft>
              <a:defRPr sz="2400">
                <a:solidFill>
                  <a:schemeClr val="tx1"/>
                </a:solidFill>
                <a:latin typeface="Times New Roman" pitchFamily="18" charset="0"/>
              </a:defRPr>
            </a:lvl8pPr>
            <a:lvl9pPr marL="3876873" indent="-228051" eaLnBrk="0" fontAlgn="base" hangingPunct="0">
              <a:spcBef>
                <a:spcPct val="0"/>
              </a:spcBef>
              <a:spcAft>
                <a:spcPct val="0"/>
              </a:spcAft>
              <a:defRPr sz="2400">
                <a:solidFill>
                  <a:schemeClr val="tx1"/>
                </a:solidFill>
                <a:latin typeface="Times New Roman" pitchFamily="18" charset="0"/>
              </a:defRPr>
            </a:lvl9pPr>
          </a:lstStyle>
          <a:p>
            <a:pPr eaLnBrk="1" hangingPunct="1"/>
            <a:fld id="{29CAAB3C-BC4E-4CF1-AF65-76F0D7EDAE39}" type="slidenum">
              <a:rPr lang="en-US" sz="1200"/>
              <a:pPr eaLnBrk="1" hangingPunct="1"/>
              <a:t>84</a:t>
            </a:fld>
            <a:endParaRPr lang="en-US" sz="1200"/>
          </a:p>
        </p:txBody>
      </p:sp>
      <p:sp>
        <p:nvSpPr>
          <p:cNvPr id="67589" name="Rectangle 2"/>
          <p:cNvSpPr>
            <a:spLocks noGrp="1" noRot="1" noChangeAspect="1" noChangeArrowheads="1" noTextEdit="1"/>
          </p:cNvSpPr>
          <p:nvPr>
            <p:ph type="sldImg"/>
          </p:nvPr>
        </p:nvSpPr>
        <p:spPr>
          <a:xfrm>
            <a:off x="1143000" y="685800"/>
            <a:ext cx="4573588" cy="3430588"/>
          </a:xfrm>
          <a:ln/>
        </p:spPr>
      </p:sp>
      <p:sp>
        <p:nvSpPr>
          <p:cNvPr id="675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800" dirty="0"/>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DF1968F-C8B9-42A1-9C4F-CC1A291DCD5E}" type="slidenum">
              <a:rPr lang="en-US" sz="1200" smtClean="0"/>
              <a:pPr/>
              <a:t>85</a:t>
            </a:fld>
            <a:endParaRPr lang="en-US"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800" dirty="0"/>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DF1968F-C8B9-42A1-9C4F-CC1A291DCD5E}" type="slidenum">
              <a:rPr lang="en-US" sz="1200" smtClean="0"/>
              <a:pPr/>
              <a:t>86</a:t>
            </a:fld>
            <a:endParaRPr lang="en-US"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p>
            <a:fld id="{A1009033-E365-4AD4-AB75-1A57D8D1260B}" type="slidenum">
              <a:rPr lang="en-US" smtClean="0"/>
              <a:pPr/>
              <a:t>92</a:t>
            </a:fld>
            <a:endParaRPr lang="en-US"/>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p:spPr>
        <p:txBody>
          <a:bodyPr/>
          <a:lstStyle/>
          <a:p>
            <a:r>
              <a:rPr lang="en-US" sz="1000"/>
              <a:t>We evaluate which features of continuous signals are encoding information about an external stimulus</a:t>
            </a:r>
          </a:p>
          <a:p>
            <a:r>
              <a:rPr lang="en-US" sz="1000"/>
              <a:t>Information estimates number of bits shared between stimulus and response on average in a single trial</a:t>
            </a:r>
          </a:p>
          <a:p>
            <a:r>
              <a:rPr lang="en-US" sz="1000"/>
              <a:t>It takes into account contributions of correlations at all orders</a:t>
            </a:r>
          </a:p>
          <a:p>
            <a:r>
              <a:rPr lang="en-US" sz="1000"/>
              <a:t>We don’t need to specify a stimulus response model, we just need to compute response probabilities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DAF6D87E-29FE-4F14-B6E9-2B450EA8F199}" type="datetimeFigureOut">
              <a:rPr lang="it-IT" smtClean="0"/>
              <a:t>17/05/2026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DAF6D87E-29FE-4F14-B6E9-2B450EA8F199}" type="datetimeFigureOut">
              <a:rPr lang="it-IT" smtClean="0"/>
              <a:t>17/05/2026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DAF6D87E-29FE-4F14-B6E9-2B450EA8F199}" type="datetimeFigureOut">
              <a:rPr lang="it-IT" smtClean="0"/>
              <a:t>17/05/2026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DAF6D87E-29FE-4F14-B6E9-2B450EA8F199}" type="datetimeFigureOut">
              <a:rPr lang="it-IT" smtClean="0"/>
              <a:t>17/05/2026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DAF6D87E-29FE-4F14-B6E9-2B450EA8F199}" type="datetimeFigureOut">
              <a:rPr lang="it-IT" smtClean="0"/>
              <a:t>17/05/2026</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DAF6D87E-29FE-4F14-B6E9-2B450EA8F199}" type="datetimeFigureOut">
              <a:rPr lang="it-IT" smtClean="0"/>
              <a:t>17/05/2026</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DAF6D87E-29FE-4F14-B6E9-2B450EA8F199}" type="datetimeFigureOut">
              <a:rPr lang="it-IT" smtClean="0"/>
              <a:t>17/05/2026</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DAF6D87E-29FE-4F14-B6E9-2B450EA8F199}" type="datetimeFigureOut">
              <a:rPr lang="it-IT" smtClean="0"/>
              <a:t>17/05/2026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DAF6D87E-29FE-4F14-B6E9-2B450EA8F199}" type="datetimeFigureOut">
              <a:rPr lang="it-IT" smtClean="0"/>
              <a:t>17/05/2026</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DAF6D87E-29FE-4F14-B6E9-2B450EA8F199}" type="datetimeFigureOut">
              <a:rPr lang="it-IT" smtClean="0"/>
              <a:t>17/05/2026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DAF6D87E-29FE-4F14-B6E9-2B450EA8F199}" type="datetimeFigureOut">
              <a:rPr lang="it-IT" smtClean="0"/>
              <a:t>17/05/2026</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A15F2CC-FC43-45E6-B3EC-13D7722EA0BD}" type="slidenum">
              <a:rPr lang="it-IT" smtClean="0"/>
              <a:t>‹N›</a:t>
            </a:fld>
            <a:endParaRPr lang="it-IT"/>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olo e  contenuto 4">
    <p:spTree>
      <p:nvGrpSpPr>
        <p:cNvPr id="1" name=""/>
        <p:cNvGrpSpPr/>
        <p:nvPr/>
      </p:nvGrpSpPr>
      <p:grpSpPr>
        <a:xfrm>
          <a:off x="0" y="0"/>
          <a:ext cx="0" cy="0"/>
          <a:chOff x="0" y="0"/>
          <a:chExt cx="0" cy="0"/>
        </a:xfrm>
      </p:grpSpPr>
      <p:sp>
        <p:nvSpPr>
          <p:cNvPr id="2" name="Titolo 1"/>
          <p:cNvSpPr>
            <a:spLocks noGrp="1"/>
          </p:cNvSpPr>
          <p:nvPr>
            <p:ph type="title" sz="quarter"/>
          </p:nvPr>
        </p:nvSpPr>
        <p:spPr>
          <a:xfrm>
            <a:off x="457200" y="274638"/>
            <a:ext cx="8229600" cy="1143000"/>
          </a:xfrm>
        </p:spPr>
        <p:txBody>
          <a:bodyPr/>
          <a:lstStyle/>
          <a:p>
            <a:r>
              <a:rPr lang="it-IT"/>
              <a:t>Fare clic per modificare lo stile del titolo</a:t>
            </a:r>
            <a:endParaRPr lang="en-US"/>
          </a:p>
        </p:txBody>
      </p:sp>
      <p:sp>
        <p:nvSpPr>
          <p:cNvPr id="3" name="Segnaposto contenuto 2"/>
          <p:cNvSpPr>
            <a:spLocks noGrp="1"/>
          </p:cNvSpPr>
          <p:nvPr>
            <p:ph sz="quarter" idx="1"/>
          </p:nvPr>
        </p:nvSpPr>
        <p:spPr>
          <a:xfrm>
            <a:off x="457200" y="1600200"/>
            <a:ext cx="4038600" cy="21859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p:cNvSpPr>
            <a:spLocks noGrp="1"/>
          </p:cNvSpPr>
          <p:nvPr>
            <p:ph sz="quarter" idx="2"/>
          </p:nvPr>
        </p:nvSpPr>
        <p:spPr>
          <a:xfrm>
            <a:off x="4648200" y="1600200"/>
            <a:ext cx="4038600" cy="21859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contenuto 4"/>
          <p:cNvSpPr>
            <a:spLocks noGrp="1"/>
          </p:cNvSpPr>
          <p:nvPr>
            <p:ph sz="quarter" idx="3"/>
          </p:nvPr>
        </p:nvSpPr>
        <p:spPr>
          <a:xfrm>
            <a:off x="457200" y="3938588"/>
            <a:ext cx="4038600" cy="218757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contenuto 5"/>
          <p:cNvSpPr>
            <a:spLocks noGrp="1"/>
          </p:cNvSpPr>
          <p:nvPr>
            <p:ph sz="quarter" idx="4"/>
          </p:nvPr>
        </p:nvSpPr>
        <p:spPr>
          <a:xfrm>
            <a:off x="4648200" y="3938588"/>
            <a:ext cx="4038600" cy="218757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Segnaposto data 6"/>
          <p:cNvSpPr>
            <a:spLocks noGrp="1"/>
          </p:cNvSpPr>
          <p:nvPr>
            <p:ph type="dt" sz="half" idx="10"/>
          </p:nvPr>
        </p:nvSpPr>
        <p:spPr>
          <a:xfrm>
            <a:off x="457200" y="6245225"/>
            <a:ext cx="2133600" cy="476250"/>
          </a:xfrm>
        </p:spPr>
        <p:txBody>
          <a:bodyPr/>
          <a:lstStyle>
            <a:lvl1pPr>
              <a:defRPr/>
            </a:lvl1pPr>
          </a:lstStyle>
          <a:p>
            <a:pPr>
              <a:defRPr/>
            </a:pPr>
            <a:endParaRPr lang="en-US"/>
          </a:p>
        </p:txBody>
      </p:sp>
      <p:sp>
        <p:nvSpPr>
          <p:cNvPr id="8" name="Segnaposto piè di pagina 7"/>
          <p:cNvSpPr>
            <a:spLocks noGrp="1"/>
          </p:cNvSpPr>
          <p:nvPr>
            <p:ph type="ftr" sz="quarter" idx="11"/>
          </p:nvPr>
        </p:nvSpPr>
        <p:spPr>
          <a:xfrm>
            <a:off x="3124200" y="6245225"/>
            <a:ext cx="2895600" cy="476250"/>
          </a:xfrm>
        </p:spPr>
        <p:txBody>
          <a:bodyPr/>
          <a:lstStyle>
            <a:lvl1pPr>
              <a:defRPr/>
            </a:lvl1pPr>
          </a:lstStyle>
          <a:p>
            <a:pPr>
              <a:defRPr/>
            </a:pPr>
            <a:endParaRPr lang="en-US"/>
          </a:p>
        </p:txBody>
      </p:sp>
      <p:sp>
        <p:nvSpPr>
          <p:cNvPr id="9" name="Segnaposto numero diapositiva 8"/>
          <p:cNvSpPr>
            <a:spLocks noGrp="1"/>
          </p:cNvSpPr>
          <p:nvPr>
            <p:ph type="sldNum" sz="quarter" idx="12"/>
          </p:nvPr>
        </p:nvSpPr>
        <p:spPr>
          <a:xfrm>
            <a:off x="6553200" y="6245225"/>
            <a:ext cx="2133600" cy="476250"/>
          </a:xfrm>
        </p:spPr>
        <p:txBody>
          <a:bodyPr/>
          <a:lstStyle>
            <a:lvl1pPr>
              <a:defRPr/>
            </a:lvl1pPr>
          </a:lstStyle>
          <a:p>
            <a:pPr>
              <a:defRPr/>
            </a:pPr>
            <a:fld id="{4BC69C09-0978-46E5-9FA0-232C9C074754}" type="slidenum">
              <a:rPr lang="en-US"/>
              <a:pPr>
                <a:defRPr/>
              </a:pPr>
              <a:t>‹N›</a:t>
            </a:fld>
            <a:endParaRPr lang="en-US"/>
          </a:p>
        </p:txBody>
      </p:sp>
    </p:spTree>
    <p:extLst>
      <p:ext uri="{BB962C8B-B14F-4D97-AF65-F5344CB8AC3E}">
        <p14:creationId xmlns:p14="http://schemas.microsoft.com/office/powerpoint/2010/main" val="6157486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1406" y="20619"/>
            <a:ext cx="8929750" cy="83661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2096211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F6D87E-29FE-4F14-B6E9-2B450EA8F199}" type="datetimeFigureOut">
              <a:rPr lang="it-IT" smtClean="0"/>
              <a:t>17/05/2026</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15F2CC-FC43-45E6-B3EC-13D7722EA0BD}" type="slidenum">
              <a:rPr lang="it-IT" smtClean="0"/>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12.xml"/><Relationship Id="rId6" Type="http://schemas.openxmlformats.org/officeDocument/2006/relationships/oleObject" Target="../embeddings/oleObject5.bin"/><Relationship Id="rId5" Type="http://schemas.openxmlformats.org/officeDocument/2006/relationships/image" Target="../media/image5.w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6.bin"/><Relationship Id="rId1" Type="http://schemas.openxmlformats.org/officeDocument/2006/relationships/slideLayout" Target="../slideLayouts/slideLayout12.xml"/><Relationship Id="rId6" Type="http://schemas.openxmlformats.org/officeDocument/2006/relationships/image" Target="../media/image8.jpg"/><Relationship Id="rId5" Type="http://schemas.openxmlformats.org/officeDocument/2006/relationships/image" Target="../media/image7.wmf"/><Relationship Id="rId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8.bin"/><Relationship Id="rId1" Type="http://schemas.openxmlformats.org/officeDocument/2006/relationships/slideLayout" Target="../slideLayouts/slideLayout12.xml"/><Relationship Id="rId5" Type="http://schemas.openxmlformats.org/officeDocument/2006/relationships/image" Target="../media/image6.wmf"/><Relationship Id="rId4"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8.bin"/><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0.bin"/><Relationship Id="rId1" Type="http://schemas.openxmlformats.org/officeDocument/2006/relationships/slideLayout" Target="../slideLayouts/slideLayout12.xml"/><Relationship Id="rId6" Type="http://schemas.openxmlformats.org/officeDocument/2006/relationships/image" Target="../media/image11.tiff"/><Relationship Id="rId5" Type="http://schemas.openxmlformats.org/officeDocument/2006/relationships/image" Target="../media/image10.wmf"/><Relationship Id="rId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2.bin"/><Relationship Id="rId1" Type="http://schemas.openxmlformats.org/officeDocument/2006/relationships/slideLayout" Target="../slideLayouts/slideLayout12.xml"/><Relationship Id="rId5" Type="http://schemas.openxmlformats.org/officeDocument/2006/relationships/image" Target="../media/image12.wmf"/><Relationship Id="rId4"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image" Target="../media/image11.tiff"/><Relationship Id="rId1" Type="http://schemas.openxmlformats.org/officeDocument/2006/relationships/slideLayout" Target="../slideLayouts/slideLayout12.xml"/><Relationship Id="rId6" Type="http://schemas.openxmlformats.org/officeDocument/2006/relationships/image" Target="../media/image13.wmf"/><Relationship Id="rId5" Type="http://schemas.openxmlformats.org/officeDocument/2006/relationships/oleObject" Target="../embeddings/oleObject15.bin"/><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6.bin"/><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7.bin"/><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41.wmf"/><Relationship Id="rId3" Type="http://schemas.openxmlformats.org/officeDocument/2006/relationships/image" Target="../media/image35.png"/><Relationship Id="rId7" Type="http://schemas.openxmlformats.org/officeDocument/2006/relationships/oleObject" Target="../embeddings/oleObject20.bin"/><Relationship Id="rId12" Type="http://schemas.openxmlformats.org/officeDocument/2006/relationships/oleObject" Target="../embeddings/oleObject22.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7.wmf"/><Relationship Id="rId11" Type="http://schemas.openxmlformats.org/officeDocument/2006/relationships/image" Target="../media/image40.png"/><Relationship Id="rId5" Type="http://schemas.openxmlformats.org/officeDocument/2006/relationships/oleObject" Target="../embeddings/oleObject19.bin"/><Relationship Id="rId10" Type="http://schemas.openxmlformats.org/officeDocument/2006/relationships/image" Target="../media/image39.wmf"/><Relationship Id="rId4" Type="http://schemas.openxmlformats.org/officeDocument/2006/relationships/image" Target="../media/image36.png"/><Relationship Id="rId9" Type="http://schemas.openxmlformats.org/officeDocument/2006/relationships/oleObject" Target="../embeddings/oleObject21.bin"/><Relationship Id="rId14" Type="http://schemas.openxmlformats.org/officeDocument/2006/relationships/image" Target="../media/image34.png"/></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wmf"/><Relationship Id="rId4" Type="http://schemas.openxmlformats.org/officeDocument/2006/relationships/oleObject" Target="../embeddings/oleObject24.bin"/></Relationships>
</file>

<file path=ppt/slides/_rels/slide38.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7.wmf"/><Relationship Id="rId4" Type="http://schemas.openxmlformats.org/officeDocument/2006/relationships/oleObject" Target="../embeddings/oleObject26.bin"/></Relationships>
</file>

<file path=ppt/slides/_rels/slide39.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7.wmf"/><Relationship Id="rId4" Type="http://schemas.openxmlformats.org/officeDocument/2006/relationships/oleObject" Target="../embeddings/oleObject26.bin"/></Relationships>
</file>

<file path=ppt/slides/_rels/slide40.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7.wmf"/><Relationship Id="rId4" Type="http://schemas.openxmlformats.org/officeDocument/2006/relationships/oleObject" Target="../embeddings/oleObject26.bin"/></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0.wmf"/><Relationship Id="rId4" Type="http://schemas.openxmlformats.org/officeDocument/2006/relationships/oleObject" Target="../embeddings/oleObject27.bin"/></Relationships>
</file>

<file path=ppt/slides/_rels/slide42.xml.rels><?xml version="1.0" encoding="UTF-8" standalone="yes"?>
<Relationships xmlns="http://schemas.openxmlformats.org/package/2006/relationships"><Relationship Id="rId3" Type="http://schemas.openxmlformats.org/officeDocument/2006/relationships/image" Target="../media/image52.tiff"/><Relationship Id="rId2" Type="http://schemas.openxmlformats.org/officeDocument/2006/relationships/image" Target="../media/image51.tiff"/><Relationship Id="rId1" Type="http://schemas.openxmlformats.org/officeDocument/2006/relationships/slideLayout" Target="../slideLayouts/slideLayout2.xml"/><Relationship Id="rId6" Type="http://schemas.openxmlformats.org/officeDocument/2006/relationships/image" Target="../media/image55.tiff"/><Relationship Id="rId5" Type="http://schemas.openxmlformats.org/officeDocument/2006/relationships/image" Target="../media/image54.tiff"/><Relationship Id="rId4" Type="http://schemas.openxmlformats.org/officeDocument/2006/relationships/image" Target="../media/image53.tiff"/></Relationships>
</file>

<file path=ppt/slides/_rels/slide43.xml.rels><?xml version="1.0" encoding="UTF-8" standalone="yes"?>
<Relationships xmlns="http://schemas.openxmlformats.org/package/2006/relationships"><Relationship Id="rId2" Type="http://schemas.openxmlformats.org/officeDocument/2006/relationships/image" Target="../media/image56.tif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8.bin"/><Relationship Id="rId7"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29.bin"/><Relationship Id="rId4" Type="http://schemas.openxmlformats.org/officeDocument/2006/relationships/image" Target="../media/image57.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8.bin"/><Relationship Id="rId7"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29.bin"/><Relationship Id="rId4" Type="http://schemas.openxmlformats.org/officeDocument/2006/relationships/image" Target="../media/image57.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8.bin"/><Relationship Id="rId7"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29.bin"/><Relationship Id="rId4" Type="http://schemas.openxmlformats.org/officeDocument/2006/relationships/image" Target="../media/image57.wmf"/></Relationships>
</file>

<file path=ppt/slides/_rels/slide4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41.wmf"/><Relationship Id="rId3" Type="http://schemas.openxmlformats.org/officeDocument/2006/relationships/image" Target="../media/image35.png"/><Relationship Id="rId7" Type="http://schemas.openxmlformats.org/officeDocument/2006/relationships/oleObject" Target="../embeddings/oleObject20.bin"/><Relationship Id="rId12" Type="http://schemas.openxmlformats.org/officeDocument/2006/relationships/oleObject" Target="../embeddings/oleObject22.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7.wmf"/><Relationship Id="rId11" Type="http://schemas.openxmlformats.org/officeDocument/2006/relationships/image" Target="../media/image40.png"/><Relationship Id="rId5" Type="http://schemas.openxmlformats.org/officeDocument/2006/relationships/oleObject" Target="../embeddings/oleObject19.bin"/><Relationship Id="rId10" Type="http://schemas.openxmlformats.org/officeDocument/2006/relationships/image" Target="../media/image39.wmf"/><Relationship Id="rId4" Type="http://schemas.openxmlformats.org/officeDocument/2006/relationships/image" Target="../media/image36.png"/><Relationship Id="rId9" Type="http://schemas.openxmlformats.org/officeDocument/2006/relationships/oleObject" Target="../embeddings/oleObject21.bin"/><Relationship Id="rId14" Type="http://schemas.openxmlformats.org/officeDocument/2006/relationships/image" Target="../media/image3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6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6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oleObject" Target="../embeddings/oleObject35.bin"/><Relationship Id="rId3" Type="http://schemas.openxmlformats.org/officeDocument/2006/relationships/image" Target="../media/image76.tiff"/><Relationship Id="rId7" Type="http://schemas.openxmlformats.org/officeDocument/2006/relationships/image" Target="../media/image35.png"/><Relationship Id="rId12" Type="http://schemas.openxmlformats.org/officeDocument/2006/relationships/image" Target="../media/image81.w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9.jpeg"/><Relationship Id="rId11" Type="http://schemas.openxmlformats.org/officeDocument/2006/relationships/oleObject" Target="../embeddings/oleObject34.bin"/><Relationship Id="rId5" Type="http://schemas.openxmlformats.org/officeDocument/2006/relationships/image" Target="../media/image78.jpeg"/><Relationship Id="rId10" Type="http://schemas.openxmlformats.org/officeDocument/2006/relationships/image" Target="../media/image80.wmf"/><Relationship Id="rId4" Type="http://schemas.openxmlformats.org/officeDocument/2006/relationships/image" Target="../media/image77.jpeg"/><Relationship Id="rId9" Type="http://schemas.openxmlformats.org/officeDocument/2006/relationships/oleObject" Target="../embeddings/oleObject33.bin"/><Relationship Id="rId14" Type="http://schemas.openxmlformats.org/officeDocument/2006/relationships/image" Target="../media/image82.wmf"/></Relationships>
</file>

<file path=ppt/slides/_rels/slide7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slideLayout" Target="../slideLayouts/slideLayout1.xml"/><Relationship Id="rId1" Type="http://schemas.openxmlformats.org/officeDocument/2006/relationships/video" Target="file:///C:\Sonyste\finali_laptop\Kobe%20Osaka%20Oxford%20Lyon%202010%20Talks\LSattesa.wmv" TargetMode="External"/><Relationship Id="rId6" Type="http://schemas.openxmlformats.org/officeDocument/2006/relationships/image" Target="../media/image86.png"/><Relationship Id="rId5" Type="http://schemas.openxmlformats.org/officeDocument/2006/relationships/image" Target="../media/image85.tiff"/><Relationship Id="rId4" Type="http://schemas.openxmlformats.org/officeDocument/2006/relationships/image" Target="../media/image84.png"/></Relationships>
</file>

<file path=ppt/slides/_rels/slide7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5.tiff"/><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3.png"/><Relationship Id="rId3" Type="http://schemas.openxmlformats.org/officeDocument/2006/relationships/video" Target="file:///C:\Sonyste\finali_laptop\BCCNBerlin\BCCNBerlin\Catcam.wmv" TargetMode="External"/><Relationship Id="rId7" Type="http://schemas.openxmlformats.org/officeDocument/2006/relationships/image" Target="../media/image84.png"/><Relationship Id="rId12" Type="http://schemas.openxmlformats.org/officeDocument/2006/relationships/image" Target="../media/image92.png"/><Relationship Id="rId2" Type="http://schemas.openxmlformats.org/officeDocument/2006/relationships/video" Target="file:///C:\Sonyste\finali_laptop\BCCNBerlin\BCCNBerlin\LSbattle.wmv" TargetMode="External"/><Relationship Id="rId1" Type="http://schemas.openxmlformats.org/officeDocument/2006/relationships/video" Target="file:///C:\Sonyste\finali_laptop\BCCNBerlin\BCCNBerlin\LSattesa.wmv" TargetMode="External"/><Relationship Id="rId6" Type="http://schemas.openxmlformats.org/officeDocument/2006/relationships/image" Target="../media/image88.tiff"/><Relationship Id="rId11" Type="http://schemas.openxmlformats.org/officeDocument/2006/relationships/image" Target="../media/image83.png"/><Relationship Id="rId5" Type="http://schemas.openxmlformats.org/officeDocument/2006/relationships/notesSlide" Target="../notesSlides/notesSlide17.xml"/><Relationship Id="rId10" Type="http://schemas.openxmlformats.org/officeDocument/2006/relationships/image" Target="../media/image91.png"/><Relationship Id="rId4" Type="http://schemas.openxmlformats.org/officeDocument/2006/relationships/slideLayout" Target="../slideLayouts/slideLayout1.xml"/><Relationship Id="rId9" Type="http://schemas.openxmlformats.org/officeDocument/2006/relationships/image" Target="../media/image90.png"/></Relationships>
</file>

<file path=ppt/slides/_rels/slide74.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95.gif"/><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97.jpeg"/><Relationship Id="rId4" Type="http://schemas.openxmlformats.org/officeDocument/2006/relationships/image" Target="../media/image96.jpe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81.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107.tiff"/><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07.tiff"/><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07.tiff"/><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07.tiff"/><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110.tiff"/><Relationship Id="rId5" Type="http://schemas.openxmlformats.org/officeDocument/2006/relationships/image" Target="../media/image109.tiff"/><Relationship Id="rId4" Type="http://schemas.openxmlformats.org/officeDocument/2006/relationships/image" Target="../media/image37.wmf"/></Relationships>
</file>

<file path=ppt/slides/_rels/slide92.xml.rels><?xml version="1.0" encoding="UTF-8" standalone="yes"?>
<Relationships xmlns="http://schemas.openxmlformats.org/package/2006/relationships"><Relationship Id="rId8" Type="http://schemas.openxmlformats.org/officeDocument/2006/relationships/image" Target="../media/image114.jpeg"/><Relationship Id="rId3" Type="http://schemas.openxmlformats.org/officeDocument/2006/relationships/image" Target="../media/image111.png"/><Relationship Id="rId7" Type="http://schemas.openxmlformats.org/officeDocument/2006/relationships/image" Target="../media/image113.tiff"/><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80.wmf"/><Relationship Id="rId10" Type="http://schemas.openxmlformats.org/officeDocument/2006/relationships/image" Target="../media/image116.jpeg"/><Relationship Id="rId4" Type="http://schemas.openxmlformats.org/officeDocument/2006/relationships/oleObject" Target="../embeddings/oleObject37.bin"/><Relationship Id="rId9" Type="http://schemas.openxmlformats.org/officeDocument/2006/relationships/image" Target="../media/image115.jpeg"/></Relationships>
</file>

<file path=ppt/slides/_rels/slide9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jpeg"/><Relationship Id="rId1" Type="http://schemas.openxmlformats.org/officeDocument/2006/relationships/slideLayout" Target="../slideLayouts/slideLayout2.xml"/><Relationship Id="rId4" Type="http://schemas.openxmlformats.org/officeDocument/2006/relationships/image" Target="../media/image119.jpeg"/></Relationships>
</file>

<file path=ppt/slides/_rels/slide9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ome"/>
          <p:cNvPicPr>
            <a:picLocks noChangeAspect="1" noChangeArrowheads="1"/>
          </p:cNvPicPr>
          <p:nvPr/>
        </p:nvPicPr>
        <p:blipFill rotWithShape="1">
          <a:blip r:embed="rId2">
            <a:extLst>
              <a:ext uri="{28A0092B-C50C-407E-A947-70E740481C1C}">
                <a14:useLocalDpi xmlns:a14="http://schemas.microsoft.com/office/drawing/2010/main" val="0"/>
              </a:ext>
            </a:extLst>
          </a:blip>
          <a:srcRect l="-1" r="44357"/>
          <a:stretch/>
        </p:blipFill>
        <p:spPr bwMode="auto">
          <a:xfrm>
            <a:off x="0" y="4572000"/>
            <a:ext cx="8671791" cy="1828800"/>
          </a:xfrm>
          <a:prstGeom prst="rect">
            <a:avLst/>
          </a:prstGeom>
          <a:noFill/>
          <a:extLst>
            <a:ext uri="{909E8E84-426E-40DD-AFC4-6F175D3DCCD1}">
              <a14:hiddenFill xmlns:a14="http://schemas.microsoft.com/office/drawing/2010/main">
                <a:solidFill>
                  <a:srgbClr val="FFFFFF"/>
                </a:solidFill>
              </a14:hiddenFill>
            </a:ext>
          </a:extLst>
        </p:spPr>
      </p:pic>
      <p:sp>
        <p:nvSpPr>
          <p:cNvPr id="2" name="Titolo 1"/>
          <p:cNvSpPr>
            <a:spLocks noGrp="1"/>
          </p:cNvSpPr>
          <p:nvPr>
            <p:ph type="ctrTitle"/>
          </p:nvPr>
        </p:nvSpPr>
        <p:spPr>
          <a:xfrm>
            <a:off x="357158" y="1214422"/>
            <a:ext cx="8786842" cy="2000264"/>
          </a:xfrm>
        </p:spPr>
        <p:txBody>
          <a:bodyPr>
            <a:normAutofit/>
          </a:bodyPr>
          <a:lstStyle/>
          <a:p>
            <a:r>
              <a:rPr lang="it-IT" sz="6000" b="1" dirty="0" err="1">
                <a:solidFill>
                  <a:srgbClr val="FF0000"/>
                </a:solidFill>
              </a:rPr>
              <a:t>Introduction</a:t>
            </a:r>
            <a:r>
              <a:rPr lang="it-IT" sz="6000" b="1" dirty="0">
                <a:solidFill>
                  <a:srgbClr val="FF0000"/>
                </a:solidFill>
              </a:rPr>
              <a:t> </a:t>
            </a:r>
            <a:r>
              <a:rPr lang="it-IT" sz="6000" b="1" dirty="0" err="1">
                <a:solidFill>
                  <a:srgbClr val="FF0000"/>
                </a:solidFill>
              </a:rPr>
              <a:t>to</a:t>
            </a:r>
            <a:r>
              <a:rPr lang="it-IT" sz="6000" b="1" dirty="0">
                <a:solidFill>
                  <a:srgbClr val="FF0000"/>
                </a:solidFill>
              </a:rPr>
              <a:t> </a:t>
            </a:r>
            <a:r>
              <a:rPr lang="it-IT" sz="6000" b="1" dirty="0" err="1">
                <a:solidFill>
                  <a:srgbClr val="FF0000"/>
                </a:solidFill>
              </a:rPr>
              <a:t>neural</a:t>
            </a:r>
            <a:r>
              <a:rPr lang="it-IT" sz="6000" b="1" dirty="0">
                <a:solidFill>
                  <a:srgbClr val="FF0000"/>
                </a:solidFill>
              </a:rPr>
              <a:t> </a:t>
            </a:r>
            <a:r>
              <a:rPr lang="it-IT" sz="6000" b="1" dirty="0" err="1">
                <a:solidFill>
                  <a:srgbClr val="FF0000"/>
                </a:solidFill>
              </a:rPr>
              <a:t>coding</a:t>
            </a:r>
            <a:r>
              <a:rPr lang="it-IT" sz="6000" b="1" dirty="0">
                <a:solidFill>
                  <a:srgbClr val="FF0000"/>
                </a:solidFill>
              </a:rPr>
              <a:t> </a:t>
            </a:r>
            <a:r>
              <a:rPr lang="it-IT" sz="6000" b="1" dirty="0" err="1">
                <a:solidFill>
                  <a:srgbClr val="FF0000"/>
                </a:solidFill>
              </a:rPr>
              <a:t>analysis</a:t>
            </a:r>
            <a:r>
              <a:rPr lang="it-IT" sz="6000" b="1" dirty="0">
                <a:solidFill>
                  <a:srgbClr val="FF0000"/>
                </a:solidFill>
              </a:rPr>
              <a:t> </a:t>
            </a:r>
          </a:p>
        </p:txBody>
      </p:sp>
      <p:sp>
        <p:nvSpPr>
          <p:cNvPr id="3" name="Sottotitolo 2"/>
          <p:cNvSpPr>
            <a:spLocks noGrp="1"/>
          </p:cNvSpPr>
          <p:nvPr>
            <p:ph type="subTitle" idx="1"/>
          </p:nvPr>
        </p:nvSpPr>
        <p:spPr>
          <a:xfrm>
            <a:off x="2743232" y="4605358"/>
            <a:ext cx="6400800" cy="1752600"/>
          </a:xfrm>
        </p:spPr>
        <p:txBody>
          <a:bodyPr/>
          <a:lstStyle/>
          <a:p>
            <a:r>
              <a:rPr lang="it-IT" dirty="0"/>
              <a:t>Alberto </a:t>
            </a:r>
            <a:r>
              <a:rPr lang="it-IT" dirty="0" err="1"/>
              <a:t>Mazzoni</a:t>
            </a:r>
            <a:endParaRPr lang="it-IT" dirty="0"/>
          </a:p>
          <a:p>
            <a:r>
              <a:rPr lang="it-IT" dirty="0" err="1"/>
              <a:t>@Bionics</a:t>
            </a:r>
            <a:r>
              <a:rPr lang="it-IT" dirty="0"/>
              <a:t> </a:t>
            </a:r>
            <a:r>
              <a:rPr lang="it-IT" dirty="0" err="1"/>
              <a:t>Engineering</a:t>
            </a:r>
            <a:r>
              <a:rPr lang="it-IT" dirty="0"/>
              <a:t> </a:t>
            </a:r>
          </a:p>
          <a:p>
            <a:r>
              <a:rPr lang="it-IT" dirty="0"/>
              <a:t>2025-206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sz="quarter"/>
          </p:nvPr>
        </p:nvSpPr>
        <p:spPr>
          <a:xfrm>
            <a:off x="457200" y="274638"/>
            <a:ext cx="8229600" cy="490537"/>
          </a:xfrm>
        </p:spPr>
        <p:txBody>
          <a:bodyPr>
            <a:noAutofit/>
          </a:bodyPr>
          <a:lstStyle/>
          <a:p>
            <a:r>
              <a:rPr lang="en-GB" sz="3200" dirty="0">
                <a:solidFill>
                  <a:srgbClr val="FF0000"/>
                </a:solidFill>
              </a:rPr>
              <a:t>Shannon’s Information</a:t>
            </a:r>
            <a:endParaRPr lang="en-US" sz="3200" dirty="0">
              <a:solidFill>
                <a:srgbClr val="FF0000"/>
              </a:solidFill>
            </a:endParaRPr>
          </a:p>
        </p:txBody>
      </p:sp>
      <p:graphicFrame>
        <p:nvGraphicFramePr>
          <p:cNvPr id="3074" name="Object 2"/>
          <p:cNvGraphicFramePr>
            <a:graphicFrameLocks noGrp="1" noChangeAspect="1"/>
          </p:cNvGraphicFramePr>
          <p:nvPr>
            <p:ph sz="quarter" idx="1"/>
            <p:extLst>
              <p:ext uri="{D42A27DB-BD31-4B8C-83A1-F6EECF244321}">
                <p14:modId xmlns:p14="http://schemas.microsoft.com/office/powerpoint/2010/main" val="352731042"/>
              </p:ext>
            </p:extLst>
          </p:nvPr>
        </p:nvGraphicFramePr>
        <p:xfrm>
          <a:off x="2000250" y="1312862"/>
          <a:ext cx="4681538" cy="585788"/>
        </p:xfrm>
        <a:graphic>
          <a:graphicData uri="http://schemas.openxmlformats.org/presentationml/2006/ole">
            <mc:AlternateContent xmlns:mc="http://schemas.openxmlformats.org/markup-compatibility/2006">
              <mc:Choice xmlns:v="urn:schemas-microsoft-com:vml" Requires="v">
                <p:oleObj name="Equation" r:id="rId2" imgW="1625600" imgH="203200" progId="">
                  <p:embed/>
                </p:oleObj>
              </mc:Choice>
              <mc:Fallback>
                <p:oleObj name="Equation" r:id="rId2" imgW="1625600" imgH="203200" progId="">
                  <p:embed/>
                  <p:pic>
                    <p:nvPicPr>
                      <p:cNvPr id="3074"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1312862"/>
                        <a:ext cx="4681538"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
          <p:cNvGraphicFramePr>
            <a:graphicFrameLocks noGrp="1" noChangeAspect="1"/>
          </p:cNvGraphicFramePr>
          <p:nvPr>
            <p:ph sz="quarter" idx="2"/>
          </p:nvPr>
        </p:nvGraphicFramePr>
        <p:xfrm>
          <a:off x="5803900" y="885825"/>
          <a:ext cx="1625600" cy="203200"/>
        </p:xfrm>
        <a:graphic>
          <a:graphicData uri="http://schemas.openxmlformats.org/presentationml/2006/ole">
            <mc:AlternateContent xmlns:mc="http://schemas.openxmlformats.org/markup-compatibility/2006">
              <mc:Choice xmlns:v="urn:schemas-microsoft-com:vml" Requires="v">
                <p:oleObj name="Equation" r:id="rId4" imgW="2691000" imgH="330120" progId="Equation.3">
                  <p:embed/>
                </p:oleObj>
              </mc:Choice>
              <mc:Fallback>
                <p:oleObj name="Equation" r:id="rId4" imgW="2691000" imgH="330120" progId="Equation.3">
                  <p:embed/>
                  <p:pic>
                    <p:nvPicPr>
                      <p:cNvPr id="3075" name="Object 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3900" y="885825"/>
                        <a:ext cx="16256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8" name="Rectangle 6"/>
          <p:cNvSpPr>
            <a:spLocks noChangeArrowheads="1"/>
          </p:cNvSpPr>
          <p:nvPr/>
        </p:nvSpPr>
        <p:spPr bwMode="auto">
          <a:xfrm>
            <a:off x="1797050" y="914400"/>
            <a:ext cx="5049838" cy="1524000"/>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it-IT"/>
          </a:p>
        </p:txBody>
      </p:sp>
      <p:sp>
        <p:nvSpPr>
          <p:cNvPr id="3079" name="Line 7"/>
          <p:cNvSpPr>
            <a:spLocks noChangeShapeType="1"/>
          </p:cNvSpPr>
          <p:nvPr/>
        </p:nvSpPr>
        <p:spPr bwMode="auto">
          <a:xfrm>
            <a:off x="636588" y="1624012"/>
            <a:ext cx="1131887" cy="0"/>
          </a:xfrm>
          <a:prstGeom prst="line">
            <a:avLst/>
          </a:prstGeom>
          <a:noFill/>
          <a:ln w="50800">
            <a:solidFill>
              <a:srgbClr val="0000FF"/>
            </a:solidFill>
            <a:round/>
            <a:headEn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080" name="Text Box 8"/>
          <p:cNvSpPr txBox="1">
            <a:spLocks noChangeArrowheads="1"/>
          </p:cNvSpPr>
          <p:nvPr/>
        </p:nvSpPr>
        <p:spPr bwMode="auto">
          <a:xfrm>
            <a:off x="927100" y="1019175"/>
            <a:ext cx="3937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3200" b="1">
                <a:latin typeface="Tahoma" pitchFamily="34" charset="0"/>
              </a:rPr>
              <a:t>s</a:t>
            </a:r>
            <a:endParaRPr lang="en-US" sz="3200" b="1">
              <a:latin typeface="Tahoma" pitchFamily="34" charset="0"/>
            </a:endParaRPr>
          </a:p>
        </p:txBody>
      </p:sp>
      <p:sp>
        <p:nvSpPr>
          <p:cNvPr id="3081" name="Line 9"/>
          <p:cNvSpPr>
            <a:spLocks noChangeShapeType="1"/>
          </p:cNvSpPr>
          <p:nvPr/>
        </p:nvSpPr>
        <p:spPr bwMode="auto">
          <a:xfrm>
            <a:off x="6899275" y="1635125"/>
            <a:ext cx="1373188" cy="11112"/>
          </a:xfrm>
          <a:prstGeom prst="line">
            <a:avLst/>
          </a:prstGeom>
          <a:noFill/>
          <a:ln w="50800">
            <a:solidFill>
              <a:srgbClr val="0000FF"/>
            </a:solidFill>
            <a:round/>
            <a:headEn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082" name="Text Box 10"/>
          <p:cNvSpPr txBox="1">
            <a:spLocks noChangeArrowheads="1"/>
          </p:cNvSpPr>
          <p:nvPr/>
        </p:nvSpPr>
        <p:spPr bwMode="auto">
          <a:xfrm>
            <a:off x="7834313" y="1019175"/>
            <a:ext cx="3540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3200" b="1">
                <a:latin typeface="Tahoma" pitchFamily="34" charset="0"/>
              </a:rPr>
              <a:t>r</a:t>
            </a:r>
            <a:endParaRPr lang="en-US" sz="3200" b="1">
              <a:latin typeface="Tahoma" pitchFamily="34" charset="0"/>
            </a:endParaRPr>
          </a:p>
        </p:txBody>
      </p:sp>
      <p:sp>
        <p:nvSpPr>
          <p:cNvPr id="3083" name="Line 11"/>
          <p:cNvSpPr>
            <a:spLocks noChangeShapeType="1"/>
          </p:cNvSpPr>
          <p:nvPr/>
        </p:nvSpPr>
        <p:spPr bwMode="auto">
          <a:xfrm>
            <a:off x="7196138" y="1270000"/>
            <a:ext cx="0" cy="70961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3084" name="Line 12"/>
          <p:cNvSpPr>
            <a:spLocks noChangeShapeType="1"/>
          </p:cNvSpPr>
          <p:nvPr/>
        </p:nvSpPr>
        <p:spPr bwMode="auto">
          <a:xfrm>
            <a:off x="7373938" y="1270000"/>
            <a:ext cx="0" cy="70961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3085" name="Line 13"/>
          <p:cNvSpPr>
            <a:spLocks noChangeShapeType="1"/>
          </p:cNvSpPr>
          <p:nvPr/>
        </p:nvSpPr>
        <p:spPr bwMode="auto">
          <a:xfrm>
            <a:off x="7523163" y="1270000"/>
            <a:ext cx="0" cy="70961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3086" name="Text Box 14"/>
          <p:cNvSpPr txBox="1">
            <a:spLocks noChangeArrowheads="1"/>
          </p:cNvSpPr>
          <p:nvPr/>
        </p:nvSpPr>
        <p:spPr bwMode="auto">
          <a:xfrm>
            <a:off x="386217" y="2895600"/>
            <a:ext cx="8348662"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105000"/>
              </a:lnSpc>
              <a:spcBef>
                <a:spcPct val="20000"/>
              </a:spcBef>
            </a:pPr>
            <a:r>
              <a:rPr lang="en-GB" sz="1800" dirty="0">
                <a:latin typeface="Arial" charset="0"/>
              </a:rPr>
              <a:t>Shannon’s Information : it quantifies the average reduction of uncertainty (=information gained) after a single-trial observation of the neural response</a:t>
            </a:r>
          </a:p>
          <a:p>
            <a:pPr>
              <a:lnSpc>
                <a:spcPct val="105000"/>
              </a:lnSpc>
              <a:spcBef>
                <a:spcPct val="20000"/>
              </a:spcBef>
            </a:pPr>
            <a:r>
              <a:rPr lang="en-GB" sz="1800" dirty="0">
                <a:latin typeface="Arial" charset="0"/>
              </a:rPr>
              <a:t>Measured in bits. 1 bit = reduction of uncertainty by a factor of 2 (like a correct answer to a yes/no question)</a:t>
            </a:r>
            <a:endParaRPr lang="en-US" sz="1800" dirty="0">
              <a:latin typeface="Arial" charset="0"/>
            </a:endParaRPr>
          </a:p>
        </p:txBody>
      </p:sp>
      <p:grpSp>
        <p:nvGrpSpPr>
          <p:cNvPr id="2" name="Group 1"/>
          <p:cNvGrpSpPr/>
          <p:nvPr/>
        </p:nvGrpSpPr>
        <p:grpSpPr>
          <a:xfrm>
            <a:off x="457201" y="4768286"/>
            <a:ext cx="2701753" cy="1852028"/>
            <a:chOff x="457201" y="4038600"/>
            <a:chExt cx="3472826" cy="2581714"/>
          </a:xfrm>
        </p:grpSpPr>
        <p:pic>
          <p:nvPicPr>
            <p:cNvPr id="18"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1" y="4038600"/>
              <a:ext cx="3472826" cy="2581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quot;No&quot; Symbol 18"/>
            <p:cNvSpPr/>
            <p:nvPr/>
          </p:nvSpPr>
          <p:spPr>
            <a:xfrm>
              <a:off x="3456212" y="4394371"/>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quot;No&quot; Symbol 19"/>
            <p:cNvSpPr/>
            <p:nvPr/>
          </p:nvSpPr>
          <p:spPr>
            <a:xfrm>
              <a:off x="2957284" y="4713685"/>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quot;No&quot; Symbol 20"/>
            <p:cNvSpPr/>
            <p:nvPr/>
          </p:nvSpPr>
          <p:spPr>
            <a:xfrm>
              <a:off x="1700129" y="4165771"/>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quot;No&quot; Symbol 21"/>
            <p:cNvSpPr/>
            <p:nvPr/>
          </p:nvSpPr>
          <p:spPr>
            <a:xfrm>
              <a:off x="2064800" y="4235379"/>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quot;No&quot; Symbol 22"/>
            <p:cNvSpPr/>
            <p:nvPr/>
          </p:nvSpPr>
          <p:spPr>
            <a:xfrm>
              <a:off x="2405885" y="4264408"/>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quot;No&quot; Symbol 23"/>
            <p:cNvSpPr/>
            <p:nvPr/>
          </p:nvSpPr>
          <p:spPr>
            <a:xfrm>
              <a:off x="2734125" y="4264408"/>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quot;No&quot; Symbol 24"/>
            <p:cNvSpPr/>
            <p:nvPr/>
          </p:nvSpPr>
          <p:spPr>
            <a:xfrm>
              <a:off x="2734125" y="5100857"/>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quot;No&quot; Symbol 25"/>
            <p:cNvSpPr/>
            <p:nvPr/>
          </p:nvSpPr>
          <p:spPr>
            <a:xfrm>
              <a:off x="2581871" y="4653986"/>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quot;No&quot; Symbol 26"/>
            <p:cNvSpPr/>
            <p:nvPr/>
          </p:nvSpPr>
          <p:spPr>
            <a:xfrm>
              <a:off x="1562100" y="4485085"/>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quot;No&quot; Symbol 27"/>
            <p:cNvSpPr/>
            <p:nvPr/>
          </p:nvSpPr>
          <p:spPr>
            <a:xfrm>
              <a:off x="1981200" y="4986557"/>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quot;No&quot; Symbol 28"/>
            <p:cNvSpPr/>
            <p:nvPr/>
          </p:nvSpPr>
          <p:spPr>
            <a:xfrm>
              <a:off x="2957284" y="5526300"/>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quot;No&quot; Symbol 29"/>
            <p:cNvSpPr/>
            <p:nvPr/>
          </p:nvSpPr>
          <p:spPr>
            <a:xfrm>
              <a:off x="1333500" y="5294086"/>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quot;No&quot; Symbol 30"/>
            <p:cNvSpPr/>
            <p:nvPr/>
          </p:nvSpPr>
          <p:spPr>
            <a:xfrm>
              <a:off x="3044654" y="4370785"/>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quot;No&quot; Symbol 31"/>
            <p:cNvSpPr/>
            <p:nvPr/>
          </p:nvSpPr>
          <p:spPr>
            <a:xfrm>
              <a:off x="1865086" y="4539686"/>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quot;No&quot; Symbol 32"/>
            <p:cNvSpPr/>
            <p:nvPr/>
          </p:nvSpPr>
          <p:spPr>
            <a:xfrm>
              <a:off x="2211614" y="4599385"/>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quot;No&quot; Symbol 33"/>
            <p:cNvSpPr/>
            <p:nvPr/>
          </p:nvSpPr>
          <p:spPr>
            <a:xfrm>
              <a:off x="1271814" y="4872257"/>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quot;No&quot; Symbol 34"/>
            <p:cNvSpPr/>
            <p:nvPr/>
          </p:nvSpPr>
          <p:spPr>
            <a:xfrm>
              <a:off x="1638300" y="4876800"/>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quot;No&quot; Symbol 35"/>
            <p:cNvSpPr/>
            <p:nvPr/>
          </p:nvSpPr>
          <p:spPr>
            <a:xfrm>
              <a:off x="1752600" y="5361214"/>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quot;No&quot; Symbol 36"/>
            <p:cNvSpPr/>
            <p:nvPr/>
          </p:nvSpPr>
          <p:spPr>
            <a:xfrm>
              <a:off x="2520185" y="5475514"/>
              <a:ext cx="228600" cy="228600"/>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8" name="TextBox 37"/>
          <p:cNvSpPr txBox="1"/>
          <p:nvPr/>
        </p:nvSpPr>
        <p:spPr>
          <a:xfrm>
            <a:off x="3646034" y="5206454"/>
            <a:ext cx="4648200" cy="1477328"/>
          </a:xfrm>
          <a:prstGeom prst="rect">
            <a:avLst/>
          </a:prstGeom>
          <a:noFill/>
        </p:spPr>
        <p:txBody>
          <a:bodyPr wrap="square" rtlCol="0">
            <a:spAutoFit/>
          </a:bodyPr>
          <a:lstStyle/>
          <a:p>
            <a:endParaRPr lang="en-US" dirty="0"/>
          </a:p>
          <a:p>
            <a:r>
              <a:rPr lang="en-US" dirty="0"/>
              <a:t>I(Guess </a:t>
            </a:r>
            <a:r>
              <a:rPr lang="en-US" dirty="0" err="1"/>
              <a:t>Who|woman</a:t>
            </a:r>
            <a:r>
              <a:rPr lang="en-US" dirty="0"/>
              <a:t>) = 4.58 - 3.97 = 0.61 bits ;</a:t>
            </a:r>
          </a:p>
          <a:p>
            <a:endParaRPr lang="en-US" dirty="0"/>
          </a:p>
          <a:p>
            <a:r>
              <a:rPr lang="en-US" dirty="0"/>
              <a:t>I(Real </a:t>
            </a:r>
            <a:r>
              <a:rPr lang="en-US" dirty="0" err="1"/>
              <a:t>World|woman</a:t>
            </a:r>
            <a:r>
              <a:rPr lang="en-US" dirty="0"/>
              <a:t>) = 1 bit;</a:t>
            </a:r>
          </a:p>
          <a:p>
            <a:endParaRPr lang="en-US" dirty="0"/>
          </a:p>
        </p:txBody>
      </p:sp>
    </p:spTree>
    <p:extLst>
      <p:ext uri="{BB962C8B-B14F-4D97-AF65-F5344CB8AC3E}">
        <p14:creationId xmlns:p14="http://schemas.microsoft.com/office/powerpoint/2010/main" val="1310661159"/>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sz="quarter"/>
          </p:nvPr>
        </p:nvSpPr>
        <p:spPr>
          <a:xfrm>
            <a:off x="457200" y="274638"/>
            <a:ext cx="8229600" cy="490537"/>
          </a:xfrm>
        </p:spPr>
        <p:txBody>
          <a:bodyPr>
            <a:noAutofit/>
          </a:bodyPr>
          <a:lstStyle/>
          <a:p>
            <a:r>
              <a:rPr lang="en-GB" sz="3200" dirty="0">
                <a:solidFill>
                  <a:srgbClr val="FF0000"/>
                </a:solidFill>
                <a:latin typeface="Arial" panose="020B0604020202020204" pitchFamily="34" charset="0"/>
                <a:cs typeface="Arial" panose="020B0604020202020204" pitchFamily="34" charset="0"/>
              </a:rPr>
              <a:t>Information key equations</a:t>
            </a:r>
            <a:endParaRPr lang="en-US" sz="3200" dirty="0">
              <a:solidFill>
                <a:srgbClr val="FF0000"/>
              </a:solidFill>
              <a:latin typeface="Arial" panose="020B0604020202020204" pitchFamily="34" charset="0"/>
              <a:cs typeface="Arial" panose="020B0604020202020204" pitchFamily="34" charset="0"/>
            </a:endParaRPr>
          </a:p>
        </p:txBody>
      </p:sp>
      <p:graphicFrame>
        <p:nvGraphicFramePr>
          <p:cNvPr id="3075" name="Object 3"/>
          <p:cNvGraphicFramePr>
            <a:graphicFrameLocks noGrp="1" noChangeAspect="1"/>
          </p:cNvGraphicFramePr>
          <p:nvPr>
            <p:ph sz="quarter" idx="2"/>
          </p:nvPr>
        </p:nvGraphicFramePr>
        <p:xfrm>
          <a:off x="5803900" y="885825"/>
          <a:ext cx="1625600" cy="203200"/>
        </p:xfrm>
        <a:graphic>
          <a:graphicData uri="http://schemas.openxmlformats.org/presentationml/2006/ole">
            <mc:AlternateContent xmlns:mc="http://schemas.openxmlformats.org/markup-compatibility/2006">
              <mc:Choice xmlns:v="urn:schemas-microsoft-com:vml" Requires="v">
                <p:oleObj name="Equation" r:id="rId2" imgW="2691000" imgH="330120" progId="Equation.3">
                  <p:embed/>
                </p:oleObj>
              </mc:Choice>
              <mc:Fallback>
                <p:oleObj name="Equation" r:id="rId2" imgW="2691000" imgH="330120" progId="Equation.3">
                  <p:embed/>
                  <p:pic>
                    <p:nvPicPr>
                      <p:cNvPr id="3075"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885825"/>
                        <a:ext cx="16256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Grp="1" noChangeAspect="1"/>
          </p:cNvGraphicFramePr>
          <p:nvPr>
            <p:extLst>
              <p:ext uri="{D42A27DB-BD31-4B8C-83A1-F6EECF244321}">
                <p14:modId xmlns:p14="http://schemas.microsoft.com/office/powerpoint/2010/main" val="1433077310"/>
              </p:ext>
            </p:extLst>
          </p:nvPr>
        </p:nvGraphicFramePr>
        <p:xfrm>
          <a:off x="73785" y="1143000"/>
          <a:ext cx="9048750" cy="515937"/>
        </p:xfrm>
        <a:graphic>
          <a:graphicData uri="http://schemas.openxmlformats.org/presentationml/2006/ole">
            <mc:AlternateContent xmlns:mc="http://schemas.openxmlformats.org/markup-compatibility/2006">
              <mc:Choice xmlns:v="urn:schemas-microsoft-com:vml" Requires="v">
                <p:oleObj name="Equation" r:id="rId4" imgW="3352680" imgH="203040" progId="">
                  <p:embed/>
                </p:oleObj>
              </mc:Choice>
              <mc:Fallback>
                <p:oleObj name="Equation" r:id="rId4" imgW="3352680" imgH="203040" progId="">
                  <p:embed/>
                  <p:pic>
                    <p:nvPicPr>
                      <p:cNvPr id="3"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785" y="1143000"/>
                        <a:ext cx="9048750" cy="515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Grp="1" noChangeAspect="1"/>
          </p:cNvGraphicFramePr>
          <p:nvPr>
            <p:extLst>
              <p:ext uri="{D42A27DB-BD31-4B8C-83A1-F6EECF244321}">
                <p14:modId xmlns:p14="http://schemas.microsoft.com/office/powerpoint/2010/main" val="1760161529"/>
              </p:ext>
            </p:extLst>
          </p:nvPr>
        </p:nvGraphicFramePr>
        <p:xfrm>
          <a:off x="0" y="1905000"/>
          <a:ext cx="8888412" cy="1571625"/>
        </p:xfrm>
        <a:graphic>
          <a:graphicData uri="http://schemas.openxmlformats.org/presentationml/2006/ole">
            <mc:AlternateContent xmlns:mc="http://schemas.openxmlformats.org/markup-compatibility/2006">
              <mc:Choice xmlns:v="urn:schemas-microsoft-com:vml" Requires="v">
                <p:oleObj name="Equation" r:id="rId6" imgW="2489200" imgH="419100" progId="">
                  <p:embed/>
                </p:oleObj>
              </mc:Choice>
              <mc:Fallback>
                <p:oleObj name="Equation" r:id="rId6" imgW="2489200" imgH="419100" progId="">
                  <p:embed/>
                  <p:pic>
                    <p:nvPicPr>
                      <p:cNvPr id="4" name="Object 3"/>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905000"/>
                        <a:ext cx="8888412" cy="157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2710285647"/>
              </p:ext>
            </p:extLst>
          </p:nvPr>
        </p:nvGraphicFramePr>
        <p:xfrm>
          <a:off x="1581150" y="3733800"/>
          <a:ext cx="2686050" cy="1752600"/>
        </p:xfrm>
        <a:graphic>
          <a:graphicData uri="http://schemas.openxmlformats.org/drawingml/2006/table">
            <a:tbl>
              <a:tblPr firstRow="1" bandRow="1">
                <a:tableStyleId>{5C22544A-7EE6-4342-B048-85BDC9FD1C3A}</a:tableStyleId>
              </a:tblPr>
              <a:tblGrid>
                <a:gridCol w="8953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tblGrid>
              <a:tr h="350520">
                <a:tc>
                  <a:txBody>
                    <a:bodyPr/>
                    <a:lstStyle/>
                    <a:p>
                      <a:r>
                        <a:rPr lang="en-US" sz="1600" dirty="0"/>
                        <a:t>R</a:t>
                      </a:r>
                    </a:p>
                  </a:txBody>
                  <a:tcPr/>
                </a:tc>
                <a:tc>
                  <a:txBody>
                    <a:bodyPr/>
                    <a:lstStyle/>
                    <a:p>
                      <a:r>
                        <a:rPr lang="en-US" sz="1600" dirty="0" err="1"/>
                        <a:t>Stim</a:t>
                      </a:r>
                      <a:r>
                        <a:rPr lang="en-US" sz="1600" dirty="0"/>
                        <a:t> 1</a:t>
                      </a:r>
                    </a:p>
                  </a:txBody>
                  <a:tcPr/>
                </a:tc>
                <a:tc>
                  <a:txBody>
                    <a:bodyPr/>
                    <a:lstStyle/>
                    <a:p>
                      <a:r>
                        <a:rPr lang="en-US" sz="1600" dirty="0" err="1"/>
                        <a:t>Stim</a:t>
                      </a:r>
                      <a:r>
                        <a:rPr lang="en-US" sz="1600" baseline="0" dirty="0"/>
                        <a:t> 2</a:t>
                      </a:r>
                      <a:endParaRPr lang="en-US" sz="1600" dirty="0"/>
                    </a:p>
                  </a:txBody>
                  <a:tcPr/>
                </a:tc>
                <a:extLst>
                  <a:ext uri="{0D108BD9-81ED-4DB2-BD59-A6C34878D82A}">
                    <a16:rowId xmlns:a16="http://schemas.microsoft.com/office/drawing/2014/main" val="10000"/>
                  </a:ext>
                </a:extLst>
              </a:tr>
              <a:tr h="350520">
                <a:tc>
                  <a:txBody>
                    <a:bodyPr/>
                    <a:lstStyle/>
                    <a:p>
                      <a:r>
                        <a:rPr lang="en-US" sz="1600" dirty="0"/>
                        <a:t>Trial 1</a:t>
                      </a:r>
                    </a:p>
                  </a:txBody>
                  <a:tcPr/>
                </a:tc>
                <a:tc>
                  <a:txBody>
                    <a:bodyPr/>
                    <a:lstStyle/>
                    <a:p>
                      <a:r>
                        <a:rPr lang="en-US" sz="1600" dirty="0"/>
                        <a:t>10</a:t>
                      </a:r>
                    </a:p>
                  </a:txBody>
                  <a:tcPr/>
                </a:tc>
                <a:tc>
                  <a:txBody>
                    <a:bodyPr/>
                    <a:lstStyle/>
                    <a:p>
                      <a:r>
                        <a:rPr lang="en-US" sz="1600" dirty="0"/>
                        <a:t>5</a:t>
                      </a:r>
                    </a:p>
                  </a:txBody>
                  <a:tcPr/>
                </a:tc>
                <a:extLst>
                  <a:ext uri="{0D108BD9-81ED-4DB2-BD59-A6C34878D82A}">
                    <a16:rowId xmlns:a16="http://schemas.microsoft.com/office/drawing/2014/main" val="10001"/>
                  </a:ext>
                </a:extLst>
              </a:tr>
              <a:tr h="350520">
                <a:tc>
                  <a:txBody>
                    <a:bodyPr/>
                    <a:lstStyle/>
                    <a:p>
                      <a:r>
                        <a:rPr lang="en-US" sz="1600" dirty="0"/>
                        <a:t>Trial 2</a:t>
                      </a:r>
                    </a:p>
                  </a:txBody>
                  <a:tcPr/>
                </a:tc>
                <a:tc>
                  <a:txBody>
                    <a:bodyPr/>
                    <a:lstStyle/>
                    <a:p>
                      <a:r>
                        <a:rPr lang="en-US" sz="1600" dirty="0"/>
                        <a:t>9</a:t>
                      </a:r>
                    </a:p>
                  </a:txBody>
                  <a:tcPr/>
                </a:tc>
                <a:tc>
                  <a:txBody>
                    <a:bodyPr/>
                    <a:lstStyle/>
                    <a:p>
                      <a:r>
                        <a:rPr lang="en-US" sz="1600" dirty="0"/>
                        <a:t>3</a:t>
                      </a:r>
                    </a:p>
                  </a:txBody>
                  <a:tcPr/>
                </a:tc>
                <a:extLst>
                  <a:ext uri="{0D108BD9-81ED-4DB2-BD59-A6C34878D82A}">
                    <a16:rowId xmlns:a16="http://schemas.microsoft.com/office/drawing/2014/main" val="10002"/>
                  </a:ext>
                </a:extLst>
              </a:tr>
              <a:tr h="350520">
                <a:tc>
                  <a:txBody>
                    <a:bodyPr/>
                    <a:lstStyle/>
                    <a:p>
                      <a:r>
                        <a:rPr lang="en-US" sz="1600" dirty="0"/>
                        <a:t>Trial 3</a:t>
                      </a:r>
                    </a:p>
                  </a:txBody>
                  <a:tcPr/>
                </a:tc>
                <a:tc>
                  <a:txBody>
                    <a:bodyPr/>
                    <a:lstStyle/>
                    <a:p>
                      <a:r>
                        <a:rPr lang="en-US" sz="1600" dirty="0"/>
                        <a:t>8</a:t>
                      </a:r>
                    </a:p>
                  </a:txBody>
                  <a:tcPr/>
                </a:tc>
                <a:tc>
                  <a:txBody>
                    <a:bodyPr/>
                    <a:lstStyle/>
                    <a:p>
                      <a:r>
                        <a:rPr lang="en-US" sz="1600" dirty="0"/>
                        <a:t>5</a:t>
                      </a:r>
                    </a:p>
                  </a:txBody>
                  <a:tcPr/>
                </a:tc>
                <a:extLst>
                  <a:ext uri="{0D108BD9-81ED-4DB2-BD59-A6C34878D82A}">
                    <a16:rowId xmlns:a16="http://schemas.microsoft.com/office/drawing/2014/main" val="10003"/>
                  </a:ext>
                </a:extLst>
              </a:tr>
              <a:tr h="350520">
                <a:tc>
                  <a:txBody>
                    <a:bodyPr/>
                    <a:lstStyle/>
                    <a:p>
                      <a:r>
                        <a:rPr lang="en-US" sz="1600" dirty="0"/>
                        <a:t>Trial</a:t>
                      </a:r>
                      <a:r>
                        <a:rPr lang="en-US" sz="1600" baseline="0" dirty="0"/>
                        <a:t> 4</a:t>
                      </a:r>
                      <a:endParaRPr lang="en-US" sz="1600" dirty="0"/>
                    </a:p>
                  </a:txBody>
                  <a:tcPr/>
                </a:tc>
                <a:tc>
                  <a:txBody>
                    <a:bodyPr/>
                    <a:lstStyle/>
                    <a:p>
                      <a:r>
                        <a:rPr lang="en-US" sz="1600" dirty="0"/>
                        <a:t>10</a:t>
                      </a:r>
                    </a:p>
                  </a:txBody>
                  <a:tcPr/>
                </a:tc>
                <a:tc>
                  <a:txBody>
                    <a:bodyPr/>
                    <a:lstStyle/>
                    <a:p>
                      <a:r>
                        <a:rPr lang="en-US" sz="1600" dirty="0"/>
                        <a:t>4</a:t>
                      </a:r>
                    </a:p>
                  </a:txBody>
                  <a:tcPr/>
                </a:tc>
                <a:extLst>
                  <a:ext uri="{0D108BD9-81ED-4DB2-BD59-A6C34878D82A}">
                    <a16:rowId xmlns:a16="http://schemas.microsoft.com/office/drawing/2014/main" val="10004"/>
                  </a:ext>
                </a:extLst>
              </a:tr>
            </a:tbl>
          </a:graphicData>
        </a:graphic>
      </p:graphicFrame>
      <p:graphicFrame>
        <p:nvGraphicFramePr>
          <p:cNvPr id="41" name="Table 40"/>
          <p:cNvGraphicFramePr>
            <a:graphicFrameLocks noGrp="1"/>
          </p:cNvGraphicFramePr>
          <p:nvPr>
            <p:extLst>
              <p:ext uri="{D42A27DB-BD31-4B8C-83A1-F6EECF244321}">
                <p14:modId xmlns:p14="http://schemas.microsoft.com/office/powerpoint/2010/main" val="554590988"/>
              </p:ext>
            </p:extLst>
          </p:nvPr>
        </p:nvGraphicFramePr>
        <p:xfrm>
          <a:off x="4629150" y="3733800"/>
          <a:ext cx="2686050" cy="1752600"/>
        </p:xfrm>
        <a:graphic>
          <a:graphicData uri="http://schemas.openxmlformats.org/drawingml/2006/table">
            <a:tbl>
              <a:tblPr firstRow="1" bandRow="1">
                <a:tableStyleId>{5C22544A-7EE6-4342-B048-85BDC9FD1C3A}</a:tableStyleId>
              </a:tblPr>
              <a:tblGrid>
                <a:gridCol w="8953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tblGrid>
              <a:tr h="350520">
                <a:tc>
                  <a:txBody>
                    <a:bodyPr/>
                    <a:lstStyle/>
                    <a:p>
                      <a:r>
                        <a:rPr lang="en-US" sz="1600" dirty="0"/>
                        <a:t>R</a:t>
                      </a:r>
                    </a:p>
                  </a:txBody>
                  <a:tcPr/>
                </a:tc>
                <a:tc>
                  <a:txBody>
                    <a:bodyPr/>
                    <a:lstStyle/>
                    <a:p>
                      <a:r>
                        <a:rPr lang="en-US" sz="1600" dirty="0" err="1"/>
                        <a:t>Stim</a:t>
                      </a:r>
                      <a:r>
                        <a:rPr lang="en-US" sz="1600" dirty="0"/>
                        <a:t> 1</a:t>
                      </a:r>
                    </a:p>
                  </a:txBody>
                  <a:tcPr/>
                </a:tc>
                <a:tc>
                  <a:txBody>
                    <a:bodyPr/>
                    <a:lstStyle/>
                    <a:p>
                      <a:r>
                        <a:rPr lang="en-US" sz="1600" dirty="0" err="1"/>
                        <a:t>Stim</a:t>
                      </a:r>
                      <a:r>
                        <a:rPr lang="en-US" sz="1600" baseline="0" dirty="0"/>
                        <a:t> 2</a:t>
                      </a:r>
                      <a:endParaRPr lang="en-US" sz="1600" dirty="0"/>
                    </a:p>
                  </a:txBody>
                  <a:tcPr/>
                </a:tc>
                <a:extLst>
                  <a:ext uri="{0D108BD9-81ED-4DB2-BD59-A6C34878D82A}">
                    <a16:rowId xmlns:a16="http://schemas.microsoft.com/office/drawing/2014/main" val="10000"/>
                  </a:ext>
                </a:extLst>
              </a:tr>
              <a:tr h="350520">
                <a:tc>
                  <a:txBody>
                    <a:bodyPr/>
                    <a:lstStyle/>
                    <a:p>
                      <a:r>
                        <a:rPr lang="en-US" sz="1600" dirty="0"/>
                        <a:t>Trial 1</a:t>
                      </a:r>
                    </a:p>
                  </a:txBody>
                  <a:tcPr/>
                </a:tc>
                <a:tc>
                  <a:txBody>
                    <a:bodyPr/>
                    <a:lstStyle/>
                    <a:p>
                      <a:r>
                        <a:rPr lang="en-US" sz="1600" dirty="0"/>
                        <a:t>7</a:t>
                      </a:r>
                    </a:p>
                  </a:txBody>
                  <a:tcPr/>
                </a:tc>
                <a:tc>
                  <a:txBody>
                    <a:bodyPr/>
                    <a:lstStyle/>
                    <a:p>
                      <a:r>
                        <a:rPr lang="en-US" sz="1600" dirty="0"/>
                        <a:t>5</a:t>
                      </a:r>
                    </a:p>
                  </a:txBody>
                  <a:tcPr/>
                </a:tc>
                <a:extLst>
                  <a:ext uri="{0D108BD9-81ED-4DB2-BD59-A6C34878D82A}">
                    <a16:rowId xmlns:a16="http://schemas.microsoft.com/office/drawing/2014/main" val="10001"/>
                  </a:ext>
                </a:extLst>
              </a:tr>
              <a:tr h="350520">
                <a:tc>
                  <a:txBody>
                    <a:bodyPr/>
                    <a:lstStyle/>
                    <a:p>
                      <a:r>
                        <a:rPr lang="en-US" sz="1600" dirty="0"/>
                        <a:t>Trial 2</a:t>
                      </a:r>
                    </a:p>
                  </a:txBody>
                  <a:tcPr/>
                </a:tc>
                <a:tc>
                  <a:txBody>
                    <a:bodyPr/>
                    <a:lstStyle/>
                    <a:p>
                      <a:r>
                        <a:rPr lang="en-US" sz="1600" dirty="0"/>
                        <a:t>5</a:t>
                      </a:r>
                    </a:p>
                  </a:txBody>
                  <a:tcPr/>
                </a:tc>
                <a:tc>
                  <a:txBody>
                    <a:bodyPr/>
                    <a:lstStyle/>
                    <a:p>
                      <a:r>
                        <a:rPr lang="en-US" sz="1600" dirty="0"/>
                        <a:t>3</a:t>
                      </a:r>
                    </a:p>
                  </a:txBody>
                  <a:tcPr/>
                </a:tc>
                <a:extLst>
                  <a:ext uri="{0D108BD9-81ED-4DB2-BD59-A6C34878D82A}">
                    <a16:rowId xmlns:a16="http://schemas.microsoft.com/office/drawing/2014/main" val="10002"/>
                  </a:ext>
                </a:extLst>
              </a:tr>
              <a:tr h="350520">
                <a:tc>
                  <a:txBody>
                    <a:bodyPr/>
                    <a:lstStyle/>
                    <a:p>
                      <a:r>
                        <a:rPr lang="en-US" sz="1600" dirty="0"/>
                        <a:t>Trial 3</a:t>
                      </a:r>
                    </a:p>
                  </a:txBody>
                  <a:tcPr/>
                </a:tc>
                <a:tc>
                  <a:txBody>
                    <a:bodyPr/>
                    <a:lstStyle/>
                    <a:p>
                      <a:r>
                        <a:rPr lang="en-US" sz="1600" dirty="0"/>
                        <a:t>8</a:t>
                      </a:r>
                    </a:p>
                  </a:txBody>
                  <a:tcPr/>
                </a:tc>
                <a:tc>
                  <a:txBody>
                    <a:bodyPr/>
                    <a:lstStyle/>
                    <a:p>
                      <a:r>
                        <a:rPr lang="en-US" sz="1600" dirty="0"/>
                        <a:t>5</a:t>
                      </a:r>
                    </a:p>
                  </a:txBody>
                  <a:tcPr/>
                </a:tc>
                <a:extLst>
                  <a:ext uri="{0D108BD9-81ED-4DB2-BD59-A6C34878D82A}">
                    <a16:rowId xmlns:a16="http://schemas.microsoft.com/office/drawing/2014/main" val="10003"/>
                  </a:ext>
                </a:extLst>
              </a:tr>
              <a:tr h="350520">
                <a:tc>
                  <a:txBody>
                    <a:bodyPr/>
                    <a:lstStyle/>
                    <a:p>
                      <a:r>
                        <a:rPr lang="en-US" sz="1600" dirty="0"/>
                        <a:t>Trial</a:t>
                      </a:r>
                      <a:r>
                        <a:rPr lang="en-US" sz="1600" baseline="0" dirty="0"/>
                        <a:t> 4</a:t>
                      </a:r>
                      <a:endParaRPr lang="en-US" sz="1600" dirty="0"/>
                    </a:p>
                  </a:txBody>
                  <a:tcPr/>
                </a:tc>
                <a:tc>
                  <a:txBody>
                    <a:bodyPr/>
                    <a:lstStyle/>
                    <a:p>
                      <a:r>
                        <a:rPr lang="en-US" sz="1600" dirty="0"/>
                        <a:t>4</a:t>
                      </a:r>
                    </a:p>
                  </a:txBody>
                  <a:tcPr/>
                </a:tc>
                <a:tc>
                  <a:txBody>
                    <a:bodyPr/>
                    <a:lstStyle/>
                    <a:p>
                      <a:r>
                        <a:rPr lang="en-US" sz="1600" dirty="0"/>
                        <a:t>4</a:t>
                      </a:r>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1981200" y="5875436"/>
            <a:ext cx="2590800" cy="461665"/>
          </a:xfrm>
          <a:prstGeom prst="rect">
            <a:avLst/>
          </a:prstGeom>
          <a:noFill/>
        </p:spPr>
        <p:txBody>
          <a:bodyPr wrap="square" rtlCol="0">
            <a:spAutoFit/>
          </a:bodyPr>
          <a:lstStyle/>
          <a:p>
            <a:r>
              <a:rPr lang="en-US" sz="2400" dirty="0"/>
              <a:t>I(S;R) =1 bit</a:t>
            </a:r>
          </a:p>
        </p:txBody>
      </p:sp>
      <p:sp>
        <p:nvSpPr>
          <p:cNvPr id="44" name="TextBox 43"/>
          <p:cNvSpPr txBox="1"/>
          <p:nvPr/>
        </p:nvSpPr>
        <p:spPr>
          <a:xfrm>
            <a:off x="4724400" y="5888838"/>
            <a:ext cx="2590800" cy="461665"/>
          </a:xfrm>
          <a:prstGeom prst="rect">
            <a:avLst/>
          </a:prstGeom>
          <a:noFill/>
        </p:spPr>
        <p:txBody>
          <a:bodyPr wrap="square" rtlCol="0">
            <a:spAutoFit/>
          </a:bodyPr>
          <a:lstStyle/>
          <a:p>
            <a:r>
              <a:rPr lang="en-US" sz="2400" dirty="0"/>
              <a:t>I(S;R) =0.045 bit</a:t>
            </a:r>
          </a:p>
        </p:txBody>
      </p:sp>
    </p:spTree>
    <p:extLst>
      <p:ext uri="{BB962C8B-B14F-4D97-AF65-F5344CB8AC3E}">
        <p14:creationId xmlns:p14="http://schemas.microsoft.com/office/powerpoint/2010/main" val="975135486"/>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sz="quarter"/>
          </p:nvPr>
        </p:nvSpPr>
        <p:spPr>
          <a:xfrm>
            <a:off x="457200" y="274638"/>
            <a:ext cx="8229600" cy="490537"/>
          </a:xfrm>
        </p:spPr>
        <p:txBody>
          <a:bodyPr>
            <a:noAutofit/>
          </a:bodyPr>
          <a:lstStyle/>
          <a:p>
            <a:r>
              <a:rPr lang="en-GB" sz="3200" dirty="0">
                <a:solidFill>
                  <a:srgbClr val="FF0000"/>
                </a:solidFill>
                <a:latin typeface="Arial" panose="020B0604020202020204" pitchFamily="34" charset="0"/>
                <a:cs typeface="Arial" panose="020B0604020202020204" pitchFamily="34" charset="0"/>
              </a:rPr>
              <a:t>Repeat</a:t>
            </a:r>
            <a:endParaRPr lang="en-US" sz="3200" dirty="0">
              <a:solidFill>
                <a:srgbClr val="FF0000"/>
              </a:solidFill>
              <a:latin typeface="Arial" panose="020B0604020202020204" pitchFamily="34" charset="0"/>
              <a:cs typeface="Arial" panose="020B0604020202020204" pitchFamily="34" charset="0"/>
            </a:endParaRPr>
          </a:p>
        </p:txBody>
      </p:sp>
      <p:graphicFrame>
        <p:nvGraphicFramePr>
          <p:cNvPr id="3075" name="Object 3"/>
          <p:cNvGraphicFramePr>
            <a:graphicFrameLocks noGrp="1" noChangeAspect="1"/>
          </p:cNvGraphicFramePr>
          <p:nvPr>
            <p:ph sz="quarter" idx="2"/>
          </p:nvPr>
        </p:nvGraphicFramePr>
        <p:xfrm>
          <a:off x="5803900" y="885825"/>
          <a:ext cx="1625600" cy="203200"/>
        </p:xfrm>
        <a:graphic>
          <a:graphicData uri="http://schemas.openxmlformats.org/presentationml/2006/ole">
            <mc:AlternateContent xmlns:mc="http://schemas.openxmlformats.org/markup-compatibility/2006">
              <mc:Choice xmlns:v="urn:schemas-microsoft-com:vml" Requires="v">
                <p:oleObj name="Equation" r:id="rId2" imgW="2691000" imgH="330120" progId="Equation.3">
                  <p:embed/>
                </p:oleObj>
              </mc:Choice>
              <mc:Fallback>
                <p:oleObj name="Equation" r:id="rId2" imgW="2691000" imgH="330120" progId="Equation.3">
                  <p:embed/>
                  <p:pic>
                    <p:nvPicPr>
                      <p:cNvPr id="3075"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885825"/>
                        <a:ext cx="16256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Grp="1" noChangeAspect="1"/>
          </p:cNvGraphicFramePr>
          <p:nvPr>
            <p:extLst>
              <p:ext uri="{D42A27DB-BD31-4B8C-83A1-F6EECF244321}">
                <p14:modId xmlns:p14="http://schemas.microsoft.com/office/powerpoint/2010/main" val="840557323"/>
              </p:ext>
            </p:extLst>
          </p:nvPr>
        </p:nvGraphicFramePr>
        <p:xfrm>
          <a:off x="0" y="908720"/>
          <a:ext cx="8888412" cy="1571625"/>
        </p:xfrm>
        <a:graphic>
          <a:graphicData uri="http://schemas.openxmlformats.org/presentationml/2006/ole">
            <mc:AlternateContent xmlns:mc="http://schemas.openxmlformats.org/markup-compatibility/2006">
              <mc:Choice xmlns:v="urn:schemas-microsoft-com:vml" Requires="v">
                <p:oleObj name="Equation" r:id="rId4" imgW="2489200" imgH="419100" progId="">
                  <p:embed/>
                </p:oleObj>
              </mc:Choice>
              <mc:Fallback>
                <p:oleObj name="Equation" r:id="rId4" imgW="2489200" imgH="419100" progId="">
                  <p:embed/>
                  <p:pic>
                    <p:nvPicPr>
                      <p:cNvPr id="4" name="Object 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908720"/>
                        <a:ext cx="8888412" cy="157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CasellaDiTesto 1"/>
          <p:cNvSpPr txBox="1"/>
          <p:nvPr/>
        </p:nvSpPr>
        <p:spPr>
          <a:xfrm>
            <a:off x="6732240" y="2965008"/>
            <a:ext cx="2304256" cy="3416320"/>
          </a:xfrm>
          <a:prstGeom prst="rect">
            <a:avLst/>
          </a:prstGeom>
          <a:noFill/>
        </p:spPr>
        <p:txBody>
          <a:bodyPr wrap="square" rtlCol="0">
            <a:spAutoFit/>
          </a:bodyPr>
          <a:lstStyle/>
          <a:p>
            <a:r>
              <a:rPr lang="it-IT" sz="2400" dirty="0" err="1"/>
              <a:t>Each</a:t>
            </a:r>
            <a:r>
              <a:rPr lang="it-IT" sz="2400" dirty="0"/>
              <a:t> </a:t>
            </a:r>
            <a:r>
              <a:rPr lang="it-IT" sz="2400" dirty="0" err="1"/>
              <a:t>stimulus</a:t>
            </a:r>
            <a:r>
              <a:rPr lang="it-IT" sz="2400" dirty="0"/>
              <a:t> must be </a:t>
            </a:r>
            <a:r>
              <a:rPr lang="it-IT" sz="2400" dirty="0" err="1"/>
              <a:t>presented</a:t>
            </a:r>
            <a:r>
              <a:rPr lang="it-IT" sz="2400" dirty="0"/>
              <a:t> </a:t>
            </a:r>
            <a:r>
              <a:rPr lang="it-IT" sz="2400" dirty="0" err="1"/>
              <a:t>many</a:t>
            </a:r>
            <a:r>
              <a:rPr lang="it-IT" sz="2400" dirty="0"/>
              <a:t> </a:t>
            </a:r>
            <a:r>
              <a:rPr lang="it-IT" sz="2400" dirty="0" err="1"/>
              <a:t>times</a:t>
            </a:r>
            <a:r>
              <a:rPr lang="it-IT" sz="2400" dirty="0"/>
              <a:t> (trials) in </a:t>
            </a:r>
            <a:r>
              <a:rPr lang="it-IT" sz="2400" dirty="0" err="1"/>
              <a:t>order</a:t>
            </a:r>
            <a:r>
              <a:rPr lang="it-IT" sz="2400" dirty="0"/>
              <a:t> to </a:t>
            </a:r>
            <a:r>
              <a:rPr lang="it-IT" sz="2400" dirty="0" err="1"/>
              <a:t>get</a:t>
            </a:r>
            <a:r>
              <a:rPr lang="it-IT" sz="2400" dirty="0"/>
              <a:t> a </a:t>
            </a:r>
            <a:r>
              <a:rPr lang="it-IT" sz="2400" dirty="0" err="1"/>
              <a:t>good</a:t>
            </a:r>
            <a:r>
              <a:rPr lang="it-IT" sz="2400" dirty="0"/>
              <a:t> estimate of the </a:t>
            </a:r>
            <a:r>
              <a:rPr lang="it-IT" sz="2400" dirty="0" err="1"/>
              <a:t>probabilities</a:t>
            </a:r>
            <a:r>
              <a:rPr lang="it-IT" sz="2400" dirty="0"/>
              <a:t> and </a:t>
            </a:r>
            <a:r>
              <a:rPr lang="it-IT" sz="2400" dirty="0" err="1"/>
              <a:t>hence</a:t>
            </a:r>
            <a:r>
              <a:rPr lang="it-IT" sz="2400" dirty="0"/>
              <a:t> of the information.</a:t>
            </a:r>
          </a:p>
        </p:txBody>
      </p:sp>
      <p:pic>
        <p:nvPicPr>
          <p:cNvPr id="5" name="Immagine 4">
            <a:extLst>
              <a:ext uri="{FF2B5EF4-FFF2-40B4-BE49-F238E27FC236}">
                <a16:creationId xmlns:a16="http://schemas.microsoft.com/office/drawing/2014/main" id="{0251B68A-EEF5-84E2-1164-931C8914B3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7875" y="2632040"/>
            <a:ext cx="6084168" cy="3802605"/>
          </a:xfrm>
          <a:prstGeom prst="rect">
            <a:avLst/>
          </a:prstGeom>
        </p:spPr>
      </p:pic>
    </p:spTree>
    <p:extLst>
      <p:ext uri="{BB962C8B-B14F-4D97-AF65-F5344CB8AC3E}">
        <p14:creationId xmlns:p14="http://schemas.microsoft.com/office/powerpoint/2010/main" val="192842261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sz="quarter"/>
          </p:nvPr>
        </p:nvSpPr>
        <p:spPr>
          <a:xfrm>
            <a:off x="73785" y="274638"/>
            <a:ext cx="8613015" cy="622299"/>
          </a:xfrm>
        </p:spPr>
        <p:txBody>
          <a:bodyPr>
            <a:noAutofit/>
          </a:bodyPr>
          <a:lstStyle/>
          <a:p>
            <a:r>
              <a:rPr lang="en-GB" sz="3200" dirty="0">
                <a:solidFill>
                  <a:srgbClr val="FF0000"/>
                </a:solidFill>
                <a:latin typeface="Arial" panose="020B0604020202020204" pitchFamily="34" charset="0"/>
                <a:cs typeface="Arial" panose="020B0604020202020204" pitchFamily="34" charset="0"/>
              </a:rPr>
              <a:t>Good question 1: </a:t>
            </a:r>
            <a:br>
              <a:rPr lang="en-GB" sz="3200" dirty="0">
                <a:solidFill>
                  <a:srgbClr val="FF0000"/>
                </a:solidFill>
                <a:latin typeface="Arial" panose="020B0604020202020204" pitchFamily="34" charset="0"/>
                <a:cs typeface="Arial" panose="020B0604020202020204" pitchFamily="34" charset="0"/>
              </a:rPr>
            </a:br>
            <a:r>
              <a:rPr lang="en-GB" sz="3200" dirty="0">
                <a:solidFill>
                  <a:srgbClr val="FF0000"/>
                </a:solidFill>
                <a:latin typeface="Arial" panose="020B0604020202020204" pitchFamily="34" charset="0"/>
                <a:cs typeface="Arial" panose="020B0604020202020204" pitchFamily="34" charset="0"/>
              </a:rPr>
              <a:t>what about continuous variables?</a:t>
            </a:r>
            <a:endParaRPr lang="en-US" sz="3200" dirty="0">
              <a:solidFill>
                <a:srgbClr val="FF0000"/>
              </a:solidFill>
              <a:latin typeface="Arial" panose="020B0604020202020204" pitchFamily="34" charset="0"/>
              <a:cs typeface="Arial" panose="020B0604020202020204" pitchFamily="34" charset="0"/>
            </a:endParaRPr>
          </a:p>
        </p:txBody>
      </p:sp>
      <p:graphicFrame>
        <p:nvGraphicFramePr>
          <p:cNvPr id="3075" name="Object 3"/>
          <p:cNvGraphicFramePr>
            <a:graphicFrameLocks noGrp="1" noChangeAspect="1"/>
          </p:cNvGraphicFramePr>
          <p:nvPr>
            <p:ph sz="quarter" idx="2"/>
          </p:nvPr>
        </p:nvGraphicFramePr>
        <p:xfrm>
          <a:off x="5803900" y="885825"/>
          <a:ext cx="1625600" cy="203200"/>
        </p:xfrm>
        <a:graphic>
          <a:graphicData uri="http://schemas.openxmlformats.org/presentationml/2006/ole">
            <mc:AlternateContent xmlns:mc="http://schemas.openxmlformats.org/markup-compatibility/2006">
              <mc:Choice xmlns:v="urn:schemas-microsoft-com:vml" Requires="v">
                <p:oleObj name="Equation" r:id="rId2" imgW="2691000" imgH="330120" progId="Equation.3">
                  <p:embed/>
                </p:oleObj>
              </mc:Choice>
              <mc:Fallback>
                <p:oleObj name="Equation" r:id="rId2" imgW="2691000" imgH="330120" progId="Equation.3">
                  <p:embed/>
                  <p:pic>
                    <p:nvPicPr>
                      <p:cNvPr id="3075"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885825"/>
                        <a:ext cx="16256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Grp="1" noChangeAspect="1"/>
          </p:cNvGraphicFramePr>
          <p:nvPr/>
        </p:nvGraphicFramePr>
        <p:xfrm>
          <a:off x="127794" y="1352730"/>
          <a:ext cx="8888412" cy="1571625"/>
        </p:xfrm>
        <a:graphic>
          <a:graphicData uri="http://schemas.openxmlformats.org/presentationml/2006/ole">
            <mc:AlternateContent xmlns:mc="http://schemas.openxmlformats.org/markup-compatibility/2006">
              <mc:Choice xmlns:v="urn:schemas-microsoft-com:vml" Requires="v">
                <p:oleObj name="Equation" r:id="rId4" imgW="2489200" imgH="419100" progId="">
                  <p:embed/>
                </p:oleObj>
              </mc:Choice>
              <mc:Fallback>
                <p:oleObj name="Equation" r:id="rId4" imgW="2489200" imgH="419100" progId="">
                  <p:embed/>
                  <p:pic>
                    <p:nvPicPr>
                      <p:cNvPr id="4" name="Object 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94" y="1352730"/>
                        <a:ext cx="8888412" cy="157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CasellaDiTesto 1">
            <a:extLst>
              <a:ext uri="{FF2B5EF4-FFF2-40B4-BE49-F238E27FC236}">
                <a16:creationId xmlns:a16="http://schemas.microsoft.com/office/drawing/2014/main" id="{CB7CE021-B7F2-375E-A95D-0344403C0552}"/>
              </a:ext>
            </a:extLst>
          </p:cNvPr>
          <p:cNvSpPr txBox="1"/>
          <p:nvPr/>
        </p:nvSpPr>
        <p:spPr>
          <a:xfrm>
            <a:off x="426368" y="3188060"/>
            <a:ext cx="8291264" cy="3539430"/>
          </a:xfrm>
          <a:prstGeom prst="rect">
            <a:avLst/>
          </a:prstGeom>
          <a:noFill/>
        </p:spPr>
        <p:txBody>
          <a:bodyPr wrap="square" rtlCol="0">
            <a:spAutoFit/>
          </a:bodyPr>
          <a:lstStyle/>
          <a:p>
            <a:r>
              <a:rPr lang="it-IT" sz="2800" dirty="0" err="1"/>
              <a:t>If</a:t>
            </a:r>
            <a:r>
              <a:rPr lang="it-IT" sz="2800" dirty="0"/>
              <a:t> </a:t>
            </a:r>
            <a:r>
              <a:rPr lang="it-IT" sz="2800" i="1" dirty="0"/>
              <a:t>R</a:t>
            </a:r>
            <a:r>
              <a:rPr lang="it-IT" sz="2800" dirty="0"/>
              <a:t> </a:t>
            </a:r>
            <a:r>
              <a:rPr lang="it-IT" sz="2800" dirty="0" err="1"/>
              <a:t>is</a:t>
            </a:r>
            <a:r>
              <a:rPr lang="it-IT" sz="2800" dirty="0"/>
              <a:t> a set of </a:t>
            </a:r>
            <a:r>
              <a:rPr lang="it-IT" sz="2800" dirty="0" err="1"/>
              <a:t>continuous</a:t>
            </a:r>
            <a:r>
              <a:rPr lang="it-IT" sz="2800" dirty="0"/>
              <a:t> </a:t>
            </a:r>
            <a:r>
              <a:rPr lang="it-IT" sz="2800" dirty="0" err="1"/>
              <a:t>variables</a:t>
            </a:r>
            <a:r>
              <a:rPr lang="it-IT" sz="2800" dirty="0"/>
              <a:t> </a:t>
            </a:r>
            <a:r>
              <a:rPr lang="it-IT" sz="2800" dirty="0" err="1"/>
              <a:t>every</a:t>
            </a:r>
            <a:r>
              <a:rPr lang="it-IT" sz="2800" dirty="0"/>
              <a:t> </a:t>
            </a:r>
            <a:r>
              <a:rPr lang="it-IT" sz="2800" i="1" dirty="0"/>
              <a:t>r </a:t>
            </a:r>
            <a:r>
              <a:rPr lang="it-IT" sz="2800" dirty="0" err="1"/>
              <a:t>will</a:t>
            </a:r>
            <a:r>
              <a:rPr lang="it-IT" sz="2800" dirty="0"/>
              <a:t> </a:t>
            </a:r>
            <a:r>
              <a:rPr lang="it-IT" sz="2800" dirty="0" err="1"/>
              <a:t>appear</a:t>
            </a:r>
            <a:r>
              <a:rPr lang="it-IT" sz="2800" dirty="0"/>
              <a:t> </a:t>
            </a:r>
            <a:r>
              <a:rPr lang="it-IT" sz="2800" dirty="0" err="1"/>
              <a:t>exactly</a:t>
            </a:r>
            <a:r>
              <a:rPr lang="it-IT" sz="2800" dirty="0"/>
              <a:t> once and </a:t>
            </a:r>
            <a:r>
              <a:rPr lang="it-IT" sz="2800" dirty="0" err="1"/>
              <a:t>we</a:t>
            </a:r>
            <a:r>
              <a:rPr lang="it-IT" sz="2800" dirty="0"/>
              <a:t> </a:t>
            </a:r>
            <a:r>
              <a:rPr lang="it-IT" sz="2800" dirty="0" err="1"/>
              <a:t>will</a:t>
            </a:r>
            <a:r>
              <a:rPr lang="it-IT" sz="2800" dirty="0"/>
              <a:t> </a:t>
            </a:r>
            <a:r>
              <a:rPr lang="it-IT" sz="2800" dirty="0" err="1"/>
              <a:t>have</a:t>
            </a:r>
            <a:r>
              <a:rPr lang="it-IT" sz="2800" dirty="0"/>
              <a:t> no </a:t>
            </a:r>
            <a:r>
              <a:rPr lang="it-IT" sz="2800" dirty="0" err="1"/>
              <a:t>serious</a:t>
            </a:r>
            <a:r>
              <a:rPr lang="it-IT" sz="2800" dirty="0"/>
              <a:t> estimate of P(r) and P(</a:t>
            </a:r>
            <a:r>
              <a:rPr lang="it-IT" sz="2800" dirty="0" err="1"/>
              <a:t>r|s</a:t>
            </a:r>
            <a:r>
              <a:rPr lang="it-IT" sz="2800" dirty="0"/>
              <a:t>). So </a:t>
            </a:r>
            <a:r>
              <a:rPr lang="it-IT" sz="2800" dirty="0" err="1"/>
              <a:t>both</a:t>
            </a:r>
            <a:r>
              <a:rPr lang="it-IT" sz="2800" dirty="0"/>
              <a:t> sets </a:t>
            </a:r>
            <a:r>
              <a:rPr lang="it-IT" sz="2800" dirty="0" err="1"/>
              <a:t>need</a:t>
            </a:r>
            <a:r>
              <a:rPr lang="it-IT" sz="2800" dirty="0"/>
              <a:t> to be </a:t>
            </a:r>
            <a:r>
              <a:rPr lang="it-IT" sz="2800" dirty="0" err="1"/>
              <a:t>binned</a:t>
            </a:r>
            <a:r>
              <a:rPr lang="it-IT" sz="2800" dirty="0"/>
              <a:t>. </a:t>
            </a:r>
          </a:p>
          <a:p>
            <a:endParaRPr lang="it-IT" sz="2800" i="1" dirty="0"/>
          </a:p>
          <a:p>
            <a:r>
              <a:rPr lang="it-IT" sz="2800" i="1" dirty="0" err="1"/>
              <a:t>What</a:t>
            </a:r>
            <a:r>
              <a:rPr lang="it-IT" sz="2800" i="1" dirty="0"/>
              <a:t> </a:t>
            </a:r>
            <a:r>
              <a:rPr lang="it-IT" sz="2800" i="1" dirty="0" err="1"/>
              <a:t>is</a:t>
            </a:r>
            <a:r>
              <a:rPr lang="it-IT" sz="2800" i="1" dirty="0"/>
              <a:t> the </a:t>
            </a:r>
            <a:r>
              <a:rPr lang="it-IT" sz="2800" i="1" dirty="0" err="1"/>
              <a:t>relationship</a:t>
            </a:r>
            <a:r>
              <a:rPr lang="it-IT" sz="2800" i="1" dirty="0"/>
              <a:t> </a:t>
            </a:r>
            <a:r>
              <a:rPr lang="it-IT" sz="2800" i="1" dirty="0" err="1"/>
              <a:t>between</a:t>
            </a:r>
            <a:r>
              <a:rPr lang="it-IT" sz="2800" i="1" dirty="0"/>
              <a:t> the </a:t>
            </a:r>
            <a:r>
              <a:rPr lang="it-IT" sz="2800" i="1" dirty="0" err="1"/>
              <a:t>number</a:t>
            </a:r>
            <a:r>
              <a:rPr lang="it-IT" sz="2800" i="1" dirty="0"/>
              <a:t> of </a:t>
            </a:r>
            <a:r>
              <a:rPr lang="it-IT" sz="2800" i="1" dirty="0" err="1"/>
              <a:t>bins</a:t>
            </a:r>
            <a:r>
              <a:rPr lang="it-IT" sz="2800" i="1" dirty="0"/>
              <a:t> and </a:t>
            </a:r>
            <a:r>
              <a:rPr lang="it-IT" sz="2800" i="1" dirty="0" err="1"/>
              <a:t>starting</a:t>
            </a:r>
            <a:r>
              <a:rPr lang="it-IT" sz="2800" i="1" dirty="0"/>
              <a:t> </a:t>
            </a:r>
            <a:r>
              <a:rPr lang="it-IT" sz="2800" i="1" dirty="0" err="1"/>
              <a:t>entropy</a:t>
            </a:r>
            <a:r>
              <a:rPr lang="it-IT" sz="2800" i="1" dirty="0"/>
              <a:t>?</a:t>
            </a:r>
          </a:p>
          <a:p>
            <a:endParaRPr lang="it-IT" sz="2800" i="1" dirty="0"/>
          </a:p>
          <a:p>
            <a:r>
              <a:rPr lang="it-IT" sz="2800" i="1" dirty="0"/>
              <a:t>Given the </a:t>
            </a:r>
            <a:r>
              <a:rPr lang="it-IT" sz="2800" i="1" dirty="0" err="1"/>
              <a:t>starting</a:t>
            </a:r>
            <a:r>
              <a:rPr lang="it-IT" sz="2800" i="1" dirty="0"/>
              <a:t> </a:t>
            </a:r>
            <a:r>
              <a:rPr lang="it-IT" sz="2800" i="1" dirty="0" err="1"/>
              <a:t>entropy</a:t>
            </a:r>
            <a:r>
              <a:rPr lang="it-IT" sz="2800" i="1" dirty="0"/>
              <a:t>, </a:t>
            </a:r>
            <a:r>
              <a:rPr lang="it-IT" sz="2800" i="1" dirty="0" err="1"/>
              <a:t>how</a:t>
            </a:r>
            <a:r>
              <a:rPr lang="it-IT" sz="2800" i="1" dirty="0"/>
              <a:t> do I bin the </a:t>
            </a:r>
            <a:r>
              <a:rPr lang="it-IT" sz="2800" i="1" dirty="0" err="1"/>
              <a:t>response</a:t>
            </a:r>
            <a:r>
              <a:rPr lang="it-IT" sz="2800" i="1" dirty="0"/>
              <a:t>?</a:t>
            </a:r>
          </a:p>
        </p:txBody>
      </p:sp>
    </p:spTree>
    <p:extLst>
      <p:ext uri="{BB962C8B-B14F-4D97-AF65-F5344CB8AC3E}">
        <p14:creationId xmlns:p14="http://schemas.microsoft.com/office/powerpoint/2010/main" val="404526782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sz="quarter"/>
          </p:nvPr>
        </p:nvSpPr>
        <p:spPr>
          <a:xfrm>
            <a:off x="73785" y="274638"/>
            <a:ext cx="8613015" cy="622299"/>
          </a:xfrm>
        </p:spPr>
        <p:txBody>
          <a:bodyPr>
            <a:noAutofit/>
          </a:bodyPr>
          <a:lstStyle/>
          <a:p>
            <a:r>
              <a:rPr lang="en-GB" sz="3200" dirty="0">
                <a:solidFill>
                  <a:srgbClr val="FF0000"/>
                </a:solidFill>
                <a:latin typeface="Arial" panose="020B0604020202020204" pitchFamily="34" charset="0"/>
                <a:cs typeface="Arial" panose="020B0604020202020204" pitchFamily="34" charset="0"/>
              </a:rPr>
              <a:t>Good question 1: </a:t>
            </a:r>
            <a:br>
              <a:rPr lang="en-GB" sz="3200" dirty="0">
                <a:solidFill>
                  <a:srgbClr val="FF0000"/>
                </a:solidFill>
                <a:latin typeface="Arial" panose="020B0604020202020204" pitchFamily="34" charset="0"/>
                <a:cs typeface="Arial" panose="020B0604020202020204" pitchFamily="34" charset="0"/>
              </a:rPr>
            </a:br>
            <a:r>
              <a:rPr lang="en-GB" sz="3200" dirty="0">
                <a:solidFill>
                  <a:srgbClr val="FF0000"/>
                </a:solidFill>
                <a:latin typeface="Arial" panose="020B0604020202020204" pitchFamily="34" charset="0"/>
                <a:cs typeface="Arial" panose="020B0604020202020204" pitchFamily="34" charset="0"/>
              </a:rPr>
              <a:t>what about continuous variables?</a:t>
            </a:r>
            <a:endParaRPr lang="en-US" sz="3200" dirty="0">
              <a:solidFill>
                <a:srgbClr val="FF0000"/>
              </a:solidFill>
              <a:latin typeface="Arial" panose="020B0604020202020204" pitchFamily="34" charset="0"/>
              <a:cs typeface="Arial" panose="020B0604020202020204" pitchFamily="34" charset="0"/>
            </a:endParaRPr>
          </a:p>
        </p:txBody>
      </p:sp>
      <p:graphicFrame>
        <p:nvGraphicFramePr>
          <p:cNvPr id="3075" name="Object 3"/>
          <p:cNvGraphicFramePr>
            <a:graphicFrameLocks noGrp="1" noChangeAspect="1"/>
          </p:cNvGraphicFramePr>
          <p:nvPr>
            <p:ph sz="quarter" idx="2"/>
          </p:nvPr>
        </p:nvGraphicFramePr>
        <p:xfrm>
          <a:off x="5803900" y="885825"/>
          <a:ext cx="1625600" cy="203200"/>
        </p:xfrm>
        <a:graphic>
          <a:graphicData uri="http://schemas.openxmlformats.org/presentationml/2006/ole">
            <mc:AlternateContent xmlns:mc="http://schemas.openxmlformats.org/markup-compatibility/2006">
              <mc:Choice xmlns:v="urn:schemas-microsoft-com:vml" Requires="v">
                <p:oleObj name="Equation" r:id="rId2" imgW="2691000" imgH="330120" progId="Equation.3">
                  <p:embed/>
                </p:oleObj>
              </mc:Choice>
              <mc:Fallback>
                <p:oleObj name="Equation" r:id="rId2" imgW="2691000" imgH="330120" progId="Equation.3">
                  <p:embed/>
                  <p:pic>
                    <p:nvPicPr>
                      <p:cNvPr id="3075"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885825"/>
                        <a:ext cx="16256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CasellaDiTesto 1">
            <a:extLst>
              <a:ext uri="{FF2B5EF4-FFF2-40B4-BE49-F238E27FC236}">
                <a16:creationId xmlns:a16="http://schemas.microsoft.com/office/drawing/2014/main" id="{CB7CE021-B7F2-375E-A95D-0344403C0552}"/>
              </a:ext>
            </a:extLst>
          </p:cNvPr>
          <p:cNvSpPr txBox="1"/>
          <p:nvPr/>
        </p:nvSpPr>
        <p:spPr>
          <a:xfrm>
            <a:off x="395536" y="1320383"/>
            <a:ext cx="8291264" cy="5416868"/>
          </a:xfrm>
          <a:prstGeom prst="rect">
            <a:avLst/>
          </a:prstGeom>
          <a:noFill/>
        </p:spPr>
        <p:txBody>
          <a:bodyPr wrap="square" rtlCol="0">
            <a:spAutoFit/>
          </a:bodyPr>
          <a:lstStyle/>
          <a:p>
            <a:r>
              <a:rPr lang="it-IT" sz="2800" dirty="0" err="1"/>
              <a:t>If</a:t>
            </a:r>
            <a:r>
              <a:rPr lang="it-IT" sz="2800" dirty="0"/>
              <a:t> </a:t>
            </a:r>
            <a:r>
              <a:rPr lang="it-IT" sz="2800" i="1" dirty="0"/>
              <a:t>R</a:t>
            </a:r>
            <a:r>
              <a:rPr lang="it-IT" sz="2800" dirty="0"/>
              <a:t> </a:t>
            </a:r>
            <a:r>
              <a:rPr lang="it-IT" sz="2800" dirty="0" err="1"/>
              <a:t>is</a:t>
            </a:r>
            <a:r>
              <a:rPr lang="it-IT" sz="2800" dirty="0"/>
              <a:t> a set of </a:t>
            </a:r>
            <a:r>
              <a:rPr lang="it-IT" sz="2800" dirty="0" err="1"/>
              <a:t>continuous</a:t>
            </a:r>
            <a:r>
              <a:rPr lang="it-IT" sz="2800" dirty="0"/>
              <a:t> </a:t>
            </a:r>
            <a:r>
              <a:rPr lang="it-IT" sz="2800" dirty="0" err="1"/>
              <a:t>variables</a:t>
            </a:r>
            <a:r>
              <a:rPr lang="it-IT" sz="2800" dirty="0"/>
              <a:t> </a:t>
            </a:r>
            <a:r>
              <a:rPr lang="it-IT" sz="2800" dirty="0" err="1"/>
              <a:t>every</a:t>
            </a:r>
            <a:r>
              <a:rPr lang="it-IT" sz="2800" dirty="0"/>
              <a:t> </a:t>
            </a:r>
            <a:r>
              <a:rPr lang="it-IT" sz="2800" i="1" dirty="0"/>
              <a:t>r </a:t>
            </a:r>
            <a:r>
              <a:rPr lang="it-IT" sz="2800" dirty="0" err="1"/>
              <a:t>will</a:t>
            </a:r>
            <a:r>
              <a:rPr lang="it-IT" sz="2800" dirty="0"/>
              <a:t> </a:t>
            </a:r>
            <a:r>
              <a:rPr lang="it-IT" sz="2800" dirty="0" err="1"/>
              <a:t>appear</a:t>
            </a:r>
            <a:r>
              <a:rPr lang="it-IT" sz="2800" dirty="0"/>
              <a:t> </a:t>
            </a:r>
            <a:r>
              <a:rPr lang="it-IT" sz="2800" dirty="0" err="1"/>
              <a:t>exactly</a:t>
            </a:r>
            <a:r>
              <a:rPr lang="it-IT" sz="2800" dirty="0"/>
              <a:t> once and </a:t>
            </a:r>
            <a:r>
              <a:rPr lang="it-IT" sz="2800" dirty="0" err="1"/>
              <a:t>we</a:t>
            </a:r>
            <a:r>
              <a:rPr lang="it-IT" sz="2800" dirty="0"/>
              <a:t> </a:t>
            </a:r>
            <a:r>
              <a:rPr lang="it-IT" sz="2800" dirty="0" err="1"/>
              <a:t>will</a:t>
            </a:r>
            <a:r>
              <a:rPr lang="it-IT" sz="2800" dirty="0"/>
              <a:t> </a:t>
            </a:r>
            <a:r>
              <a:rPr lang="it-IT" sz="2800" dirty="0" err="1"/>
              <a:t>have</a:t>
            </a:r>
            <a:r>
              <a:rPr lang="it-IT" sz="2800" dirty="0"/>
              <a:t> no </a:t>
            </a:r>
            <a:r>
              <a:rPr lang="it-IT" sz="2800" dirty="0" err="1"/>
              <a:t>serious</a:t>
            </a:r>
            <a:r>
              <a:rPr lang="it-IT" sz="2800" dirty="0"/>
              <a:t> estimate of P(r) and P(</a:t>
            </a:r>
            <a:r>
              <a:rPr lang="it-IT" sz="2800" dirty="0" err="1"/>
              <a:t>r|s</a:t>
            </a:r>
            <a:r>
              <a:rPr lang="it-IT" sz="2800" dirty="0"/>
              <a:t>). So </a:t>
            </a:r>
            <a:r>
              <a:rPr lang="it-IT" sz="2800" dirty="0" err="1"/>
              <a:t>both</a:t>
            </a:r>
            <a:r>
              <a:rPr lang="it-IT" sz="2800" dirty="0"/>
              <a:t> sets </a:t>
            </a:r>
            <a:r>
              <a:rPr lang="it-IT" sz="2800" dirty="0" err="1"/>
              <a:t>need</a:t>
            </a:r>
            <a:r>
              <a:rPr lang="it-IT" sz="2800" dirty="0"/>
              <a:t> to be </a:t>
            </a:r>
            <a:r>
              <a:rPr lang="it-IT" sz="2800" dirty="0" err="1"/>
              <a:t>binned</a:t>
            </a:r>
            <a:r>
              <a:rPr lang="it-IT" sz="2800" dirty="0"/>
              <a:t>. </a:t>
            </a:r>
          </a:p>
          <a:p>
            <a:endParaRPr lang="it-IT" sz="2800" i="1" dirty="0"/>
          </a:p>
          <a:p>
            <a:r>
              <a:rPr lang="it-IT" sz="2800" i="1" dirty="0" err="1"/>
              <a:t>What</a:t>
            </a:r>
            <a:r>
              <a:rPr lang="it-IT" sz="2800" i="1" dirty="0"/>
              <a:t> </a:t>
            </a:r>
            <a:r>
              <a:rPr lang="it-IT" sz="2800" i="1" dirty="0" err="1"/>
              <a:t>is</a:t>
            </a:r>
            <a:r>
              <a:rPr lang="it-IT" sz="2800" i="1" dirty="0"/>
              <a:t> the </a:t>
            </a:r>
            <a:r>
              <a:rPr lang="it-IT" sz="2800" i="1" dirty="0" err="1"/>
              <a:t>relationship</a:t>
            </a:r>
            <a:r>
              <a:rPr lang="it-IT" sz="2800" i="1" dirty="0"/>
              <a:t> </a:t>
            </a:r>
            <a:r>
              <a:rPr lang="it-IT" sz="2800" i="1" dirty="0" err="1"/>
              <a:t>between</a:t>
            </a:r>
            <a:r>
              <a:rPr lang="it-IT" sz="2800" i="1" dirty="0"/>
              <a:t> the </a:t>
            </a:r>
            <a:r>
              <a:rPr lang="it-IT" sz="2800" i="1" dirty="0" err="1"/>
              <a:t>number</a:t>
            </a:r>
            <a:r>
              <a:rPr lang="it-IT" sz="2800" i="1" dirty="0"/>
              <a:t> of </a:t>
            </a:r>
            <a:r>
              <a:rPr lang="it-IT" sz="2800" i="1" dirty="0" err="1"/>
              <a:t>bins</a:t>
            </a:r>
            <a:r>
              <a:rPr lang="it-IT" sz="2800" i="1" dirty="0"/>
              <a:t> and </a:t>
            </a:r>
            <a:r>
              <a:rPr lang="it-IT" sz="2800" i="1" dirty="0" err="1"/>
              <a:t>starting</a:t>
            </a:r>
            <a:r>
              <a:rPr lang="it-IT" sz="2800" i="1" dirty="0"/>
              <a:t> </a:t>
            </a:r>
            <a:r>
              <a:rPr lang="it-IT" sz="2800" i="1" dirty="0" err="1"/>
              <a:t>entropy</a:t>
            </a:r>
            <a:r>
              <a:rPr lang="it-IT" sz="2800" i="1" dirty="0"/>
              <a:t>?</a:t>
            </a:r>
          </a:p>
          <a:p>
            <a:r>
              <a:rPr lang="it-IT" sz="2800" dirty="0" err="1">
                <a:solidFill>
                  <a:srgbClr val="FF0000"/>
                </a:solidFill>
              </a:rPr>
              <a:t>They</a:t>
            </a:r>
            <a:r>
              <a:rPr lang="it-IT" sz="2800" dirty="0">
                <a:solidFill>
                  <a:srgbClr val="FF0000"/>
                </a:solidFill>
              </a:rPr>
              <a:t> </a:t>
            </a:r>
            <a:r>
              <a:rPr lang="it-IT" sz="2800" dirty="0" err="1">
                <a:solidFill>
                  <a:srgbClr val="FF0000"/>
                </a:solidFill>
              </a:rPr>
              <a:t>positively</a:t>
            </a:r>
            <a:r>
              <a:rPr lang="it-IT" sz="2800" dirty="0">
                <a:solidFill>
                  <a:srgbClr val="FF0000"/>
                </a:solidFill>
              </a:rPr>
              <a:t> correlate</a:t>
            </a:r>
          </a:p>
          <a:p>
            <a:endParaRPr lang="it-IT" sz="2800" i="1" dirty="0"/>
          </a:p>
          <a:p>
            <a:r>
              <a:rPr lang="it-IT" sz="2800" i="1" dirty="0"/>
              <a:t>Given the </a:t>
            </a:r>
            <a:r>
              <a:rPr lang="it-IT" sz="2800" i="1" dirty="0" err="1"/>
              <a:t>starting</a:t>
            </a:r>
            <a:r>
              <a:rPr lang="it-IT" sz="2800" i="1" dirty="0"/>
              <a:t> </a:t>
            </a:r>
            <a:r>
              <a:rPr lang="it-IT" sz="2800" i="1" dirty="0" err="1"/>
              <a:t>entropy</a:t>
            </a:r>
            <a:r>
              <a:rPr lang="it-IT" sz="2800" i="1" dirty="0"/>
              <a:t>, </a:t>
            </a:r>
            <a:r>
              <a:rPr lang="it-IT" sz="2800" i="1" dirty="0" err="1"/>
              <a:t>how</a:t>
            </a:r>
            <a:r>
              <a:rPr lang="it-IT" sz="2800" i="1" dirty="0"/>
              <a:t> do I bin the </a:t>
            </a:r>
            <a:r>
              <a:rPr lang="it-IT" sz="2800" i="1" dirty="0" err="1"/>
              <a:t>response</a:t>
            </a:r>
            <a:r>
              <a:rPr lang="it-IT" sz="2800" i="1" dirty="0"/>
              <a:t>?</a:t>
            </a:r>
          </a:p>
          <a:p>
            <a:r>
              <a:rPr lang="it-IT" sz="2800" dirty="0" err="1">
                <a:solidFill>
                  <a:srgbClr val="FF0000"/>
                </a:solidFill>
              </a:rPr>
              <a:t>Indicatively</a:t>
            </a:r>
            <a:r>
              <a:rPr lang="it-IT" sz="2800" dirty="0">
                <a:solidFill>
                  <a:srgbClr val="FF0000"/>
                </a:solidFill>
              </a:rPr>
              <a:t>, to </a:t>
            </a:r>
            <a:r>
              <a:rPr lang="it-IT" sz="2800" dirty="0" err="1">
                <a:solidFill>
                  <a:srgbClr val="FF0000"/>
                </a:solidFill>
              </a:rPr>
              <a:t>have</a:t>
            </a:r>
            <a:r>
              <a:rPr lang="it-IT" sz="2800" dirty="0">
                <a:solidFill>
                  <a:srgbClr val="FF0000"/>
                </a:solidFill>
              </a:rPr>
              <a:t> </a:t>
            </a:r>
            <a:r>
              <a:rPr lang="it-IT" sz="2800" dirty="0" err="1">
                <a:solidFill>
                  <a:srgbClr val="FF0000"/>
                </a:solidFill>
              </a:rPr>
              <a:t>at</a:t>
            </a:r>
            <a:r>
              <a:rPr lang="it-IT" sz="2800" dirty="0">
                <a:solidFill>
                  <a:srgbClr val="FF0000"/>
                </a:solidFill>
              </a:rPr>
              <a:t> </a:t>
            </a:r>
            <a:r>
              <a:rPr lang="it-IT" sz="2800" dirty="0" err="1">
                <a:solidFill>
                  <a:srgbClr val="FF0000"/>
                </a:solidFill>
              </a:rPr>
              <a:t>least</a:t>
            </a:r>
            <a:r>
              <a:rPr lang="it-IT" sz="2800" dirty="0">
                <a:solidFill>
                  <a:srgbClr val="FF0000"/>
                </a:solidFill>
              </a:rPr>
              <a:t> the </a:t>
            </a:r>
            <a:r>
              <a:rPr lang="it-IT" sz="2800" dirty="0" err="1">
                <a:solidFill>
                  <a:srgbClr val="FF0000"/>
                </a:solidFill>
              </a:rPr>
              <a:t>same</a:t>
            </a:r>
            <a:r>
              <a:rPr lang="it-IT" sz="2800" dirty="0">
                <a:solidFill>
                  <a:srgbClr val="FF0000"/>
                </a:solidFill>
              </a:rPr>
              <a:t> </a:t>
            </a:r>
            <a:r>
              <a:rPr lang="it-IT" sz="2800" dirty="0" err="1">
                <a:solidFill>
                  <a:srgbClr val="FF0000"/>
                </a:solidFill>
              </a:rPr>
              <a:t>starting</a:t>
            </a:r>
            <a:r>
              <a:rPr lang="it-IT" sz="2800" dirty="0">
                <a:solidFill>
                  <a:srgbClr val="FF0000"/>
                </a:solidFill>
              </a:rPr>
              <a:t> </a:t>
            </a:r>
            <a:r>
              <a:rPr lang="it-IT" sz="2800" dirty="0" err="1">
                <a:solidFill>
                  <a:srgbClr val="FF0000"/>
                </a:solidFill>
              </a:rPr>
              <a:t>entropy</a:t>
            </a:r>
            <a:r>
              <a:rPr lang="it-IT" sz="2800" dirty="0">
                <a:solidFill>
                  <a:srgbClr val="FF0000"/>
                </a:solidFill>
              </a:rPr>
              <a:t>, </a:t>
            </a:r>
            <a:r>
              <a:rPr lang="it-IT" sz="6600" b="1" dirty="0">
                <a:solidFill>
                  <a:srgbClr val="FF0000"/>
                </a:solidFill>
              </a:rPr>
              <a:t>BUT…...</a:t>
            </a:r>
            <a:endParaRPr lang="it-IT" sz="2800" b="1" dirty="0">
              <a:solidFill>
                <a:srgbClr val="FF0000"/>
              </a:solidFill>
            </a:endParaRPr>
          </a:p>
        </p:txBody>
      </p:sp>
    </p:spTree>
    <p:extLst>
      <p:ext uri="{BB962C8B-B14F-4D97-AF65-F5344CB8AC3E}">
        <p14:creationId xmlns:p14="http://schemas.microsoft.com/office/powerpoint/2010/main" val="1809203488"/>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sz="quarter"/>
          </p:nvPr>
        </p:nvSpPr>
        <p:spPr>
          <a:xfrm>
            <a:off x="73785" y="274638"/>
            <a:ext cx="8613015" cy="622299"/>
          </a:xfrm>
        </p:spPr>
        <p:txBody>
          <a:bodyPr>
            <a:noAutofit/>
          </a:bodyPr>
          <a:lstStyle/>
          <a:p>
            <a:r>
              <a:rPr lang="en-GB" sz="3200" dirty="0">
                <a:solidFill>
                  <a:srgbClr val="FF0000"/>
                </a:solidFill>
                <a:latin typeface="Arial" panose="020B0604020202020204" pitchFamily="34" charset="0"/>
                <a:cs typeface="Arial" panose="020B0604020202020204" pitchFamily="34" charset="0"/>
              </a:rPr>
              <a:t>Binning the variables</a:t>
            </a:r>
            <a:endParaRPr lang="en-US" sz="3200" dirty="0">
              <a:solidFill>
                <a:srgbClr val="FF0000"/>
              </a:solidFill>
              <a:latin typeface="Arial" panose="020B0604020202020204" pitchFamily="34" charset="0"/>
              <a:cs typeface="Arial" panose="020B0604020202020204" pitchFamily="34" charset="0"/>
            </a:endParaRPr>
          </a:p>
        </p:txBody>
      </p:sp>
      <p:graphicFrame>
        <p:nvGraphicFramePr>
          <p:cNvPr id="3075" name="Object 3"/>
          <p:cNvGraphicFramePr>
            <a:graphicFrameLocks noGrp="1" noChangeAspect="1"/>
          </p:cNvGraphicFramePr>
          <p:nvPr>
            <p:ph sz="quarter" idx="2"/>
          </p:nvPr>
        </p:nvGraphicFramePr>
        <p:xfrm>
          <a:off x="5803900" y="885825"/>
          <a:ext cx="1625600" cy="203200"/>
        </p:xfrm>
        <a:graphic>
          <a:graphicData uri="http://schemas.openxmlformats.org/presentationml/2006/ole">
            <mc:AlternateContent xmlns:mc="http://schemas.openxmlformats.org/markup-compatibility/2006">
              <mc:Choice xmlns:v="urn:schemas-microsoft-com:vml" Requires="v">
                <p:oleObj name="Equation" r:id="rId2" imgW="2691000" imgH="330120" progId="Equation.3">
                  <p:embed/>
                </p:oleObj>
              </mc:Choice>
              <mc:Fallback>
                <p:oleObj name="Equation" r:id="rId2" imgW="2691000" imgH="330120" progId="Equation.3">
                  <p:embed/>
                  <p:pic>
                    <p:nvPicPr>
                      <p:cNvPr id="3075"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885825"/>
                        <a:ext cx="16256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CasellaDiTesto 1">
            <a:extLst>
              <a:ext uri="{FF2B5EF4-FFF2-40B4-BE49-F238E27FC236}">
                <a16:creationId xmlns:a16="http://schemas.microsoft.com/office/drawing/2014/main" id="{CB7CE021-B7F2-375E-A95D-0344403C0552}"/>
              </a:ext>
            </a:extLst>
          </p:cNvPr>
          <p:cNvSpPr txBox="1"/>
          <p:nvPr/>
        </p:nvSpPr>
        <p:spPr>
          <a:xfrm>
            <a:off x="0" y="2564904"/>
            <a:ext cx="2393124" cy="4401205"/>
          </a:xfrm>
          <a:prstGeom prst="rect">
            <a:avLst/>
          </a:prstGeom>
          <a:noFill/>
        </p:spPr>
        <p:txBody>
          <a:bodyPr wrap="square" rtlCol="0">
            <a:spAutoFit/>
          </a:bodyPr>
          <a:lstStyle/>
          <a:p>
            <a:r>
              <a:rPr lang="it-IT" sz="2800" dirty="0"/>
              <a:t>To </a:t>
            </a:r>
            <a:r>
              <a:rPr lang="it-IT" sz="2800" dirty="0" err="1"/>
              <a:t>maximize</a:t>
            </a:r>
            <a:r>
              <a:rPr lang="it-IT" sz="2800" dirty="0"/>
              <a:t> </a:t>
            </a:r>
            <a:r>
              <a:rPr lang="it-IT" sz="2800" dirty="0" err="1"/>
              <a:t>entropy</a:t>
            </a:r>
            <a:r>
              <a:rPr lang="it-IT" sz="2800" dirty="0"/>
              <a:t> the best </a:t>
            </a:r>
            <a:r>
              <a:rPr lang="it-IT" sz="2800" dirty="0" err="1"/>
              <a:t>binning</a:t>
            </a:r>
            <a:r>
              <a:rPr lang="it-IT" sz="2800" dirty="0"/>
              <a:t> </a:t>
            </a:r>
            <a:r>
              <a:rPr lang="it-IT" sz="2800" dirty="0" err="1"/>
              <a:t>is</a:t>
            </a:r>
            <a:r>
              <a:rPr lang="it-IT" sz="2800" dirty="0"/>
              <a:t> </a:t>
            </a:r>
            <a:r>
              <a:rPr lang="it-IT" sz="2800" dirty="0" err="1"/>
              <a:t>equipopulated</a:t>
            </a:r>
            <a:r>
              <a:rPr lang="it-IT" sz="2800" dirty="0"/>
              <a:t> </a:t>
            </a:r>
            <a:r>
              <a:rPr lang="it-IT" sz="2800" dirty="0" err="1"/>
              <a:t>bins</a:t>
            </a:r>
            <a:r>
              <a:rPr lang="it-IT" sz="2800" dirty="0"/>
              <a:t>.</a:t>
            </a:r>
          </a:p>
          <a:p>
            <a:endParaRPr lang="it-IT" sz="2800" dirty="0"/>
          </a:p>
          <a:p>
            <a:r>
              <a:rPr lang="it-IT" sz="2800" i="1" dirty="0" err="1"/>
              <a:t>Demonstrationis</a:t>
            </a:r>
            <a:r>
              <a:rPr lang="it-IT" sz="2800" i="1" dirty="0"/>
              <a:t> </a:t>
            </a:r>
            <a:r>
              <a:rPr lang="it-IT" sz="2800" i="1" dirty="0" err="1"/>
              <a:t>left</a:t>
            </a:r>
            <a:r>
              <a:rPr lang="it-IT" sz="2800" i="1" dirty="0"/>
              <a:t> to the reader</a:t>
            </a:r>
          </a:p>
          <a:p>
            <a:endParaRPr lang="it-IT" sz="2800" i="1" dirty="0"/>
          </a:p>
        </p:txBody>
      </p:sp>
      <p:pic>
        <p:nvPicPr>
          <p:cNvPr id="5" name="Immagine 4" descr="Immagine che contiene mappa&#10;&#10;Descrizione generata automaticamente">
            <a:extLst>
              <a:ext uri="{FF2B5EF4-FFF2-40B4-BE49-F238E27FC236}">
                <a16:creationId xmlns:a16="http://schemas.microsoft.com/office/drawing/2014/main" id="{7B0454ED-B595-4A8D-C1D8-C33FDA139C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83768" y="1340768"/>
            <a:ext cx="5553329" cy="5517232"/>
          </a:xfrm>
          <a:prstGeom prst="rect">
            <a:avLst/>
          </a:prstGeom>
        </p:spPr>
      </p:pic>
    </p:spTree>
    <p:extLst>
      <p:ext uri="{BB962C8B-B14F-4D97-AF65-F5344CB8AC3E}">
        <p14:creationId xmlns:p14="http://schemas.microsoft.com/office/powerpoint/2010/main" val="111343149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sz="quarter"/>
          </p:nvPr>
        </p:nvSpPr>
        <p:spPr>
          <a:xfrm>
            <a:off x="457200" y="274638"/>
            <a:ext cx="8229600" cy="490537"/>
          </a:xfrm>
        </p:spPr>
        <p:txBody>
          <a:bodyPr>
            <a:noAutofit/>
          </a:bodyPr>
          <a:lstStyle/>
          <a:p>
            <a:r>
              <a:rPr lang="en-GB" sz="3200" dirty="0">
                <a:solidFill>
                  <a:srgbClr val="FF0000"/>
                </a:solidFill>
                <a:latin typeface="Arial" panose="020B0604020202020204" pitchFamily="34" charset="0"/>
                <a:cs typeface="Arial" panose="020B0604020202020204" pitchFamily="34" charset="0"/>
              </a:rPr>
              <a:t>Combining different responses</a:t>
            </a:r>
            <a:endParaRPr lang="en-US" sz="3200" dirty="0">
              <a:solidFill>
                <a:srgbClr val="FF0000"/>
              </a:solidFill>
              <a:latin typeface="Arial" panose="020B0604020202020204" pitchFamily="34" charset="0"/>
              <a:cs typeface="Arial" panose="020B0604020202020204" pitchFamily="34" charset="0"/>
            </a:endParaRPr>
          </a:p>
        </p:txBody>
      </p:sp>
      <p:graphicFrame>
        <p:nvGraphicFramePr>
          <p:cNvPr id="3075" name="Object 3"/>
          <p:cNvGraphicFramePr>
            <a:graphicFrameLocks noGrp="1" noChangeAspect="1"/>
          </p:cNvGraphicFramePr>
          <p:nvPr>
            <p:ph sz="quarter" idx="2"/>
          </p:nvPr>
        </p:nvGraphicFramePr>
        <p:xfrm>
          <a:off x="5803900" y="885825"/>
          <a:ext cx="1625600" cy="203200"/>
        </p:xfrm>
        <a:graphic>
          <a:graphicData uri="http://schemas.openxmlformats.org/presentationml/2006/ole">
            <mc:AlternateContent xmlns:mc="http://schemas.openxmlformats.org/markup-compatibility/2006">
              <mc:Choice xmlns:v="urn:schemas-microsoft-com:vml" Requires="v">
                <p:oleObj name="Equation" r:id="rId2" imgW="2691000" imgH="330120" progId="Equation.3">
                  <p:embed/>
                </p:oleObj>
              </mc:Choice>
              <mc:Fallback>
                <p:oleObj name="Equation" r:id="rId2" imgW="2691000" imgH="330120" progId="Equation.3">
                  <p:embed/>
                  <p:pic>
                    <p:nvPicPr>
                      <p:cNvPr id="3075"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885825"/>
                        <a:ext cx="16256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Grp="1" noChangeAspect="1"/>
          </p:cNvGraphicFramePr>
          <p:nvPr>
            <p:extLst>
              <p:ext uri="{D42A27DB-BD31-4B8C-83A1-F6EECF244321}">
                <p14:modId xmlns:p14="http://schemas.microsoft.com/office/powerpoint/2010/main" val="1591556142"/>
              </p:ext>
            </p:extLst>
          </p:nvPr>
        </p:nvGraphicFramePr>
        <p:xfrm>
          <a:off x="-1" y="914400"/>
          <a:ext cx="9144001" cy="1090612"/>
        </p:xfrm>
        <a:graphic>
          <a:graphicData uri="http://schemas.openxmlformats.org/presentationml/2006/ole">
            <mc:AlternateContent xmlns:mc="http://schemas.openxmlformats.org/markup-compatibility/2006">
              <mc:Choice xmlns:v="urn:schemas-microsoft-com:vml" Requires="v">
                <p:oleObj name="Equation" r:id="rId4" imgW="3124080" imgH="431640" progId="">
                  <p:embed/>
                </p:oleObj>
              </mc:Choice>
              <mc:Fallback>
                <p:oleObj name="Equation" r:id="rId4" imgW="3124080" imgH="431640" progId="">
                  <p:embed/>
                  <p:pic>
                    <p:nvPicPr>
                      <p:cNvPr id="7" name="Object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914400"/>
                        <a:ext cx="9144001" cy="1090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204689519"/>
              </p:ext>
            </p:extLst>
          </p:nvPr>
        </p:nvGraphicFramePr>
        <p:xfrm>
          <a:off x="152400" y="2133600"/>
          <a:ext cx="3581400" cy="1752600"/>
        </p:xfrm>
        <a:graphic>
          <a:graphicData uri="http://schemas.openxmlformats.org/drawingml/2006/table">
            <a:tbl>
              <a:tblPr firstRow="1" bandRow="1">
                <a:tableStyleId>{5C22544A-7EE6-4342-B048-85BDC9FD1C3A}</a:tableStyleId>
              </a:tblPr>
              <a:tblGrid>
                <a:gridCol w="8953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tblGrid>
              <a:tr h="350520">
                <a:tc>
                  <a:txBody>
                    <a:bodyPr/>
                    <a:lstStyle/>
                    <a:p>
                      <a:r>
                        <a:rPr lang="en-US" sz="1600" dirty="0"/>
                        <a:t>R1</a:t>
                      </a:r>
                    </a:p>
                  </a:txBody>
                  <a:tcPr/>
                </a:tc>
                <a:tc>
                  <a:txBody>
                    <a:bodyPr/>
                    <a:lstStyle/>
                    <a:p>
                      <a:r>
                        <a:rPr lang="en-US" sz="1600" dirty="0" err="1"/>
                        <a:t>Stim</a:t>
                      </a:r>
                      <a:r>
                        <a:rPr lang="en-US" sz="1600" dirty="0"/>
                        <a:t> 1</a:t>
                      </a:r>
                    </a:p>
                  </a:txBody>
                  <a:tcPr/>
                </a:tc>
                <a:tc>
                  <a:txBody>
                    <a:bodyPr/>
                    <a:lstStyle/>
                    <a:p>
                      <a:r>
                        <a:rPr lang="en-US" sz="1600" dirty="0" err="1"/>
                        <a:t>Stim</a:t>
                      </a:r>
                      <a:r>
                        <a:rPr lang="en-US" sz="1600" baseline="0" dirty="0"/>
                        <a:t> 2</a:t>
                      </a:r>
                      <a:endParaRPr lang="en-US" sz="1600" dirty="0"/>
                    </a:p>
                  </a:txBody>
                  <a:tcPr/>
                </a:tc>
                <a:tc>
                  <a:txBody>
                    <a:bodyPr/>
                    <a:lstStyle/>
                    <a:p>
                      <a:r>
                        <a:rPr lang="en-US" sz="1600" dirty="0" err="1"/>
                        <a:t>Stim</a:t>
                      </a:r>
                      <a:r>
                        <a:rPr lang="en-US" sz="1600" dirty="0"/>
                        <a:t> 3</a:t>
                      </a:r>
                    </a:p>
                  </a:txBody>
                  <a:tcPr/>
                </a:tc>
                <a:extLst>
                  <a:ext uri="{0D108BD9-81ED-4DB2-BD59-A6C34878D82A}">
                    <a16:rowId xmlns:a16="http://schemas.microsoft.com/office/drawing/2014/main" val="10000"/>
                  </a:ext>
                </a:extLst>
              </a:tr>
              <a:tr h="350520">
                <a:tc>
                  <a:txBody>
                    <a:bodyPr/>
                    <a:lstStyle/>
                    <a:p>
                      <a:r>
                        <a:rPr lang="en-US" sz="1600" dirty="0"/>
                        <a:t>Trial 1</a:t>
                      </a:r>
                    </a:p>
                  </a:txBody>
                  <a:tcPr/>
                </a:tc>
                <a:tc>
                  <a:txBody>
                    <a:bodyPr/>
                    <a:lstStyle/>
                    <a:p>
                      <a:r>
                        <a:rPr lang="en-US" sz="1600" dirty="0"/>
                        <a:t>10</a:t>
                      </a:r>
                    </a:p>
                  </a:txBody>
                  <a:tcPr/>
                </a:tc>
                <a:tc>
                  <a:txBody>
                    <a:bodyPr/>
                    <a:lstStyle/>
                    <a:p>
                      <a:r>
                        <a:rPr lang="en-US" sz="1600" dirty="0"/>
                        <a:t>5</a:t>
                      </a:r>
                    </a:p>
                  </a:txBody>
                  <a:tcPr/>
                </a:tc>
                <a:tc>
                  <a:txBody>
                    <a:bodyPr/>
                    <a:lstStyle/>
                    <a:p>
                      <a:r>
                        <a:rPr lang="en-US" sz="1600" dirty="0"/>
                        <a:t>4</a:t>
                      </a:r>
                    </a:p>
                  </a:txBody>
                  <a:tcPr/>
                </a:tc>
                <a:extLst>
                  <a:ext uri="{0D108BD9-81ED-4DB2-BD59-A6C34878D82A}">
                    <a16:rowId xmlns:a16="http://schemas.microsoft.com/office/drawing/2014/main" val="10001"/>
                  </a:ext>
                </a:extLst>
              </a:tr>
              <a:tr h="350520">
                <a:tc>
                  <a:txBody>
                    <a:bodyPr/>
                    <a:lstStyle/>
                    <a:p>
                      <a:r>
                        <a:rPr lang="en-US" sz="1600" dirty="0"/>
                        <a:t>Trial 2</a:t>
                      </a:r>
                    </a:p>
                  </a:txBody>
                  <a:tcPr/>
                </a:tc>
                <a:tc>
                  <a:txBody>
                    <a:bodyPr/>
                    <a:lstStyle/>
                    <a:p>
                      <a:r>
                        <a:rPr lang="en-US" sz="1600" dirty="0"/>
                        <a:t>9</a:t>
                      </a:r>
                    </a:p>
                  </a:txBody>
                  <a:tcPr/>
                </a:tc>
                <a:tc>
                  <a:txBody>
                    <a:bodyPr/>
                    <a:lstStyle/>
                    <a:p>
                      <a:r>
                        <a:rPr lang="en-US" sz="1600" dirty="0"/>
                        <a:t>3</a:t>
                      </a:r>
                    </a:p>
                  </a:txBody>
                  <a:tcPr/>
                </a:tc>
                <a:tc>
                  <a:txBody>
                    <a:bodyPr/>
                    <a:lstStyle/>
                    <a:p>
                      <a:r>
                        <a:rPr lang="en-US" sz="1600" dirty="0"/>
                        <a:t>5</a:t>
                      </a:r>
                    </a:p>
                  </a:txBody>
                  <a:tcPr/>
                </a:tc>
                <a:extLst>
                  <a:ext uri="{0D108BD9-81ED-4DB2-BD59-A6C34878D82A}">
                    <a16:rowId xmlns:a16="http://schemas.microsoft.com/office/drawing/2014/main" val="10002"/>
                  </a:ext>
                </a:extLst>
              </a:tr>
              <a:tr h="350520">
                <a:tc>
                  <a:txBody>
                    <a:bodyPr/>
                    <a:lstStyle/>
                    <a:p>
                      <a:r>
                        <a:rPr lang="en-US" sz="1600" dirty="0"/>
                        <a:t>Trial 3</a:t>
                      </a:r>
                    </a:p>
                  </a:txBody>
                  <a:tcPr/>
                </a:tc>
                <a:tc>
                  <a:txBody>
                    <a:bodyPr/>
                    <a:lstStyle/>
                    <a:p>
                      <a:r>
                        <a:rPr lang="en-US" sz="1600" dirty="0"/>
                        <a:t>8</a:t>
                      </a:r>
                    </a:p>
                  </a:txBody>
                  <a:tcPr/>
                </a:tc>
                <a:tc>
                  <a:txBody>
                    <a:bodyPr/>
                    <a:lstStyle/>
                    <a:p>
                      <a:r>
                        <a:rPr lang="en-US" sz="1600" dirty="0"/>
                        <a:t>5</a:t>
                      </a:r>
                    </a:p>
                  </a:txBody>
                  <a:tcPr/>
                </a:tc>
                <a:tc>
                  <a:txBody>
                    <a:bodyPr/>
                    <a:lstStyle/>
                    <a:p>
                      <a:r>
                        <a:rPr lang="en-US" sz="1600" dirty="0"/>
                        <a:t>5</a:t>
                      </a:r>
                    </a:p>
                  </a:txBody>
                  <a:tcPr/>
                </a:tc>
                <a:extLst>
                  <a:ext uri="{0D108BD9-81ED-4DB2-BD59-A6C34878D82A}">
                    <a16:rowId xmlns:a16="http://schemas.microsoft.com/office/drawing/2014/main" val="10003"/>
                  </a:ext>
                </a:extLst>
              </a:tr>
              <a:tr h="350520">
                <a:tc>
                  <a:txBody>
                    <a:bodyPr/>
                    <a:lstStyle/>
                    <a:p>
                      <a:r>
                        <a:rPr lang="en-US" sz="1600" dirty="0"/>
                        <a:t>Trial</a:t>
                      </a:r>
                      <a:r>
                        <a:rPr lang="en-US" sz="1600" baseline="0" dirty="0"/>
                        <a:t> 4</a:t>
                      </a:r>
                      <a:endParaRPr lang="en-US" sz="1600" dirty="0"/>
                    </a:p>
                  </a:txBody>
                  <a:tcPr/>
                </a:tc>
                <a:tc>
                  <a:txBody>
                    <a:bodyPr/>
                    <a:lstStyle/>
                    <a:p>
                      <a:r>
                        <a:rPr lang="en-US" sz="1600" dirty="0"/>
                        <a:t>10</a:t>
                      </a:r>
                    </a:p>
                  </a:txBody>
                  <a:tcPr/>
                </a:tc>
                <a:tc>
                  <a:txBody>
                    <a:bodyPr/>
                    <a:lstStyle/>
                    <a:p>
                      <a:r>
                        <a:rPr lang="en-US" sz="1600" dirty="0"/>
                        <a:t>4</a:t>
                      </a:r>
                    </a:p>
                  </a:txBody>
                  <a:tcPr/>
                </a:tc>
                <a:tc>
                  <a:txBody>
                    <a:bodyPr/>
                    <a:lstStyle/>
                    <a:p>
                      <a:r>
                        <a:rPr lang="en-US" sz="1600" dirty="0"/>
                        <a:t>3</a:t>
                      </a:r>
                    </a:p>
                  </a:txBody>
                  <a:tcPr/>
                </a:tc>
                <a:extLst>
                  <a:ext uri="{0D108BD9-81ED-4DB2-BD59-A6C34878D82A}">
                    <a16:rowId xmlns:a16="http://schemas.microsoft.com/office/drawing/2014/main" val="10004"/>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40918005"/>
              </p:ext>
            </p:extLst>
          </p:nvPr>
        </p:nvGraphicFramePr>
        <p:xfrm>
          <a:off x="152400" y="4038600"/>
          <a:ext cx="3581400" cy="1752600"/>
        </p:xfrm>
        <a:graphic>
          <a:graphicData uri="http://schemas.openxmlformats.org/drawingml/2006/table">
            <a:tbl>
              <a:tblPr firstRow="1" bandRow="1">
                <a:tableStyleId>{F5AB1C69-6EDB-4FF4-983F-18BD219EF322}</a:tableStyleId>
              </a:tblPr>
              <a:tblGrid>
                <a:gridCol w="8953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tblGrid>
              <a:tr h="350520">
                <a:tc>
                  <a:txBody>
                    <a:bodyPr/>
                    <a:lstStyle/>
                    <a:p>
                      <a:r>
                        <a:rPr lang="en-US" sz="1600" dirty="0"/>
                        <a:t>R2</a:t>
                      </a:r>
                    </a:p>
                  </a:txBody>
                  <a:tcPr/>
                </a:tc>
                <a:tc>
                  <a:txBody>
                    <a:bodyPr/>
                    <a:lstStyle/>
                    <a:p>
                      <a:r>
                        <a:rPr lang="en-US" sz="1600" dirty="0" err="1"/>
                        <a:t>Stim</a:t>
                      </a:r>
                      <a:r>
                        <a:rPr lang="en-US" sz="1600" dirty="0"/>
                        <a:t> 1</a:t>
                      </a:r>
                    </a:p>
                  </a:txBody>
                  <a:tcPr/>
                </a:tc>
                <a:tc>
                  <a:txBody>
                    <a:bodyPr/>
                    <a:lstStyle/>
                    <a:p>
                      <a:r>
                        <a:rPr lang="en-US" sz="1600" dirty="0" err="1"/>
                        <a:t>Stim</a:t>
                      </a:r>
                      <a:r>
                        <a:rPr lang="en-US" sz="1600" baseline="0" dirty="0"/>
                        <a:t> 2</a:t>
                      </a:r>
                      <a:endParaRPr lang="en-US" sz="1600" dirty="0"/>
                    </a:p>
                  </a:txBody>
                  <a:tcPr/>
                </a:tc>
                <a:tc>
                  <a:txBody>
                    <a:bodyPr/>
                    <a:lstStyle/>
                    <a:p>
                      <a:r>
                        <a:rPr lang="en-US" sz="1600" dirty="0" err="1"/>
                        <a:t>Stim</a:t>
                      </a:r>
                      <a:r>
                        <a:rPr lang="en-US" sz="1600" dirty="0"/>
                        <a:t> 3</a:t>
                      </a:r>
                    </a:p>
                  </a:txBody>
                  <a:tcPr/>
                </a:tc>
                <a:extLst>
                  <a:ext uri="{0D108BD9-81ED-4DB2-BD59-A6C34878D82A}">
                    <a16:rowId xmlns:a16="http://schemas.microsoft.com/office/drawing/2014/main" val="10000"/>
                  </a:ext>
                </a:extLst>
              </a:tr>
              <a:tr h="350520">
                <a:tc>
                  <a:txBody>
                    <a:bodyPr/>
                    <a:lstStyle/>
                    <a:p>
                      <a:r>
                        <a:rPr lang="en-US" sz="1600" dirty="0"/>
                        <a:t>Trial 1</a:t>
                      </a:r>
                    </a:p>
                  </a:txBody>
                  <a:tcPr/>
                </a:tc>
                <a:tc>
                  <a:txBody>
                    <a:bodyPr/>
                    <a:lstStyle/>
                    <a:p>
                      <a:r>
                        <a:rPr lang="en-US" sz="1600" dirty="0"/>
                        <a:t>3</a:t>
                      </a:r>
                    </a:p>
                  </a:txBody>
                  <a:tcPr/>
                </a:tc>
                <a:tc>
                  <a:txBody>
                    <a:bodyPr/>
                    <a:lstStyle/>
                    <a:p>
                      <a:r>
                        <a:rPr lang="en-US" sz="1600" dirty="0"/>
                        <a:t>1</a:t>
                      </a:r>
                    </a:p>
                  </a:txBody>
                  <a:tcPr/>
                </a:tc>
                <a:tc>
                  <a:txBody>
                    <a:bodyPr/>
                    <a:lstStyle/>
                    <a:p>
                      <a:r>
                        <a:rPr lang="en-US" sz="1600" dirty="0"/>
                        <a:t>9</a:t>
                      </a:r>
                    </a:p>
                  </a:txBody>
                  <a:tcPr/>
                </a:tc>
                <a:extLst>
                  <a:ext uri="{0D108BD9-81ED-4DB2-BD59-A6C34878D82A}">
                    <a16:rowId xmlns:a16="http://schemas.microsoft.com/office/drawing/2014/main" val="10001"/>
                  </a:ext>
                </a:extLst>
              </a:tr>
              <a:tr h="350520">
                <a:tc>
                  <a:txBody>
                    <a:bodyPr/>
                    <a:lstStyle/>
                    <a:p>
                      <a:r>
                        <a:rPr lang="en-US" sz="1600" dirty="0"/>
                        <a:t>Trial 2</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8</a:t>
                      </a:r>
                    </a:p>
                  </a:txBody>
                  <a:tcPr/>
                </a:tc>
                <a:extLst>
                  <a:ext uri="{0D108BD9-81ED-4DB2-BD59-A6C34878D82A}">
                    <a16:rowId xmlns:a16="http://schemas.microsoft.com/office/drawing/2014/main" val="10002"/>
                  </a:ext>
                </a:extLst>
              </a:tr>
              <a:tr h="350520">
                <a:tc>
                  <a:txBody>
                    <a:bodyPr/>
                    <a:lstStyle/>
                    <a:p>
                      <a:r>
                        <a:rPr lang="en-US" sz="1600" dirty="0"/>
                        <a:t>Trial 3</a:t>
                      </a:r>
                    </a:p>
                  </a:txBody>
                  <a:tcPr/>
                </a:tc>
                <a:tc>
                  <a:txBody>
                    <a:bodyPr/>
                    <a:lstStyle/>
                    <a:p>
                      <a:r>
                        <a:rPr lang="en-US" sz="1600" dirty="0"/>
                        <a:t>0</a:t>
                      </a:r>
                    </a:p>
                  </a:txBody>
                  <a:tcPr/>
                </a:tc>
                <a:tc>
                  <a:txBody>
                    <a:bodyPr/>
                    <a:lstStyle/>
                    <a:p>
                      <a:r>
                        <a:rPr lang="en-US" sz="1600" dirty="0"/>
                        <a:t>3</a:t>
                      </a:r>
                    </a:p>
                  </a:txBody>
                  <a:tcPr/>
                </a:tc>
                <a:tc>
                  <a:txBody>
                    <a:bodyPr/>
                    <a:lstStyle/>
                    <a:p>
                      <a:r>
                        <a:rPr lang="en-US" sz="1600" dirty="0"/>
                        <a:t>8</a:t>
                      </a:r>
                    </a:p>
                  </a:txBody>
                  <a:tcPr/>
                </a:tc>
                <a:extLst>
                  <a:ext uri="{0D108BD9-81ED-4DB2-BD59-A6C34878D82A}">
                    <a16:rowId xmlns:a16="http://schemas.microsoft.com/office/drawing/2014/main" val="10003"/>
                  </a:ext>
                </a:extLst>
              </a:tr>
              <a:tr h="350520">
                <a:tc>
                  <a:txBody>
                    <a:bodyPr/>
                    <a:lstStyle/>
                    <a:p>
                      <a:r>
                        <a:rPr lang="en-US" sz="1600" dirty="0"/>
                        <a:t>Trial</a:t>
                      </a:r>
                      <a:r>
                        <a:rPr lang="en-US" sz="1600" baseline="0" dirty="0"/>
                        <a:t> 4</a:t>
                      </a:r>
                      <a:endParaRPr lang="en-US" sz="1600" dirty="0"/>
                    </a:p>
                  </a:txBody>
                  <a:tcPr/>
                </a:tc>
                <a:tc>
                  <a:txBody>
                    <a:bodyPr/>
                    <a:lstStyle/>
                    <a:p>
                      <a:r>
                        <a:rPr lang="en-US" sz="1600" dirty="0"/>
                        <a:t>2</a:t>
                      </a:r>
                    </a:p>
                  </a:txBody>
                  <a:tcPr/>
                </a:tc>
                <a:tc>
                  <a:txBody>
                    <a:bodyPr/>
                    <a:lstStyle/>
                    <a:p>
                      <a:r>
                        <a:rPr lang="en-US" sz="1600" dirty="0"/>
                        <a:t>2</a:t>
                      </a:r>
                    </a:p>
                  </a:txBody>
                  <a:tcPr/>
                </a:tc>
                <a:tc>
                  <a:txBody>
                    <a:bodyPr/>
                    <a:lstStyle/>
                    <a:p>
                      <a:r>
                        <a:rPr lang="en-US" sz="1600" dirty="0"/>
                        <a:t>9</a:t>
                      </a:r>
                    </a:p>
                  </a:txBody>
                  <a:tcPr/>
                </a:tc>
                <a:extLst>
                  <a:ext uri="{0D108BD9-81ED-4DB2-BD59-A6C34878D82A}">
                    <a16:rowId xmlns:a16="http://schemas.microsoft.com/office/drawing/2014/main" val="10004"/>
                  </a:ext>
                </a:extLst>
              </a:tr>
            </a:tbl>
          </a:graphicData>
        </a:graphic>
      </p:graphicFrame>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10816" y="2286000"/>
            <a:ext cx="5289481" cy="4267200"/>
          </a:xfrm>
          <a:prstGeom prst="rect">
            <a:avLst/>
          </a:prstGeom>
        </p:spPr>
      </p:pic>
    </p:spTree>
    <p:extLst>
      <p:ext uri="{BB962C8B-B14F-4D97-AF65-F5344CB8AC3E}">
        <p14:creationId xmlns:p14="http://schemas.microsoft.com/office/powerpoint/2010/main" val="945653154"/>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sz="quarter"/>
          </p:nvPr>
        </p:nvSpPr>
        <p:spPr>
          <a:xfrm>
            <a:off x="457200" y="274638"/>
            <a:ext cx="8229600" cy="490537"/>
          </a:xfrm>
        </p:spPr>
        <p:txBody>
          <a:bodyPr>
            <a:noAutofit/>
          </a:bodyPr>
          <a:lstStyle/>
          <a:p>
            <a:r>
              <a:rPr lang="en-GB" sz="3200" dirty="0">
                <a:solidFill>
                  <a:srgbClr val="FF0000"/>
                </a:solidFill>
                <a:latin typeface="Arial" panose="020B0604020202020204" pitchFamily="34" charset="0"/>
                <a:cs typeface="Arial" panose="020B0604020202020204" pitchFamily="34" charset="0"/>
              </a:rPr>
              <a:t>Combining different responses</a:t>
            </a:r>
            <a:endParaRPr lang="en-US" sz="3200" dirty="0">
              <a:solidFill>
                <a:srgbClr val="FF0000"/>
              </a:solidFill>
              <a:latin typeface="Arial" panose="020B0604020202020204" pitchFamily="34" charset="0"/>
              <a:cs typeface="Arial" panose="020B0604020202020204" pitchFamily="34" charset="0"/>
            </a:endParaRPr>
          </a:p>
        </p:txBody>
      </p:sp>
      <p:graphicFrame>
        <p:nvGraphicFramePr>
          <p:cNvPr id="3075" name="Object 3"/>
          <p:cNvGraphicFramePr>
            <a:graphicFrameLocks noGrp="1" noChangeAspect="1"/>
          </p:cNvGraphicFramePr>
          <p:nvPr>
            <p:ph sz="quarter" idx="2"/>
          </p:nvPr>
        </p:nvGraphicFramePr>
        <p:xfrm>
          <a:off x="5803900" y="885825"/>
          <a:ext cx="1625600" cy="203200"/>
        </p:xfrm>
        <a:graphic>
          <a:graphicData uri="http://schemas.openxmlformats.org/presentationml/2006/ole">
            <mc:AlternateContent xmlns:mc="http://schemas.openxmlformats.org/markup-compatibility/2006">
              <mc:Choice xmlns:v="urn:schemas-microsoft-com:vml" Requires="v">
                <p:oleObj name="Equation" r:id="rId2" imgW="2691000" imgH="330120" progId="Equation.3">
                  <p:embed/>
                </p:oleObj>
              </mc:Choice>
              <mc:Fallback>
                <p:oleObj name="Equation" r:id="rId2" imgW="2691000" imgH="330120" progId="Equation.3">
                  <p:embed/>
                  <p:pic>
                    <p:nvPicPr>
                      <p:cNvPr id="3075"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885825"/>
                        <a:ext cx="16256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Grp="1" noChangeAspect="1"/>
          </p:cNvGraphicFramePr>
          <p:nvPr>
            <p:extLst>
              <p:ext uri="{D42A27DB-BD31-4B8C-83A1-F6EECF244321}">
                <p14:modId xmlns:p14="http://schemas.microsoft.com/office/powerpoint/2010/main" val="2014243715"/>
              </p:ext>
            </p:extLst>
          </p:nvPr>
        </p:nvGraphicFramePr>
        <p:xfrm>
          <a:off x="-1" y="914400"/>
          <a:ext cx="9144001" cy="1090612"/>
        </p:xfrm>
        <a:graphic>
          <a:graphicData uri="http://schemas.openxmlformats.org/presentationml/2006/ole">
            <mc:AlternateContent xmlns:mc="http://schemas.openxmlformats.org/markup-compatibility/2006">
              <mc:Choice xmlns:v="urn:schemas-microsoft-com:vml" Requires="v">
                <p:oleObj name="Equation" r:id="rId4" imgW="3124080" imgH="431640" progId="">
                  <p:embed/>
                </p:oleObj>
              </mc:Choice>
              <mc:Fallback>
                <p:oleObj name="Equation" r:id="rId4" imgW="3124080" imgH="431640" progId="">
                  <p:embed/>
                  <p:pic>
                    <p:nvPicPr>
                      <p:cNvPr id="7" name="Object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914400"/>
                        <a:ext cx="9144001" cy="1090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Tabella 2"/>
          <p:cNvGraphicFramePr>
            <a:graphicFrameLocks noGrp="1"/>
          </p:cNvGraphicFramePr>
          <p:nvPr>
            <p:extLst>
              <p:ext uri="{D42A27DB-BD31-4B8C-83A1-F6EECF244321}">
                <p14:modId xmlns:p14="http://schemas.microsoft.com/office/powerpoint/2010/main" val="4258254465"/>
              </p:ext>
            </p:extLst>
          </p:nvPr>
        </p:nvGraphicFramePr>
        <p:xfrm>
          <a:off x="1524000" y="2240867"/>
          <a:ext cx="1175792" cy="4248475"/>
        </p:xfrm>
        <a:graphic>
          <a:graphicData uri="http://schemas.openxmlformats.org/drawingml/2006/table">
            <a:tbl>
              <a:tblPr firstRow="1" bandRow="1">
                <a:tableStyleId>{5C22544A-7EE6-4342-B048-85BDC9FD1C3A}</a:tableStyleId>
              </a:tblPr>
              <a:tblGrid>
                <a:gridCol w="1175792">
                  <a:extLst>
                    <a:ext uri="{9D8B030D-6E8A-4147-A177-3AD203B41FA5}">
                      <a16:colId xmlns:a16="http://schemas.microsoft.com/office/drawing/2014/main" val="20000"/>
                    </a:ext>
                  </a:extLst>
                </a:gridCol>
              </a:tblGrid>
              <a:tr h="849695">
                <a:tc>
                  <a:txBody>
                    <a:bodyPr/>
                    <a:lstStyle/>
                    <a:p>
                      <a:r>
                        <a:rPr lang="it-IT" sz="4000" dirty="0"/>
                        <a:t>S</a:t>
                      </a:r>
                    </a:p>
                  </a:txBody>
                  <a:tcPr/>
                </a:tc>
                <a:extLst>
                  <a:ext uri="{0D108BD9-81ED-4DB2-BD59-A6C34878D82A}">
                    <a16:rowId xmlns:a16="http://schemas.microsoft.com/office/drawing/2014/main" val="10000"/>
                  </a:ext>
                </a:extLst>
              </a:tr>
              <a:tr h="849695">
                <a:tc>
                  <a:txBody>
                    <a:bodyPr/>
                    <a:lstStyle/>
                    <a:p>
                      <a:r>
                        <a:rPr lang="it-IT" sz="4000" dirty="0"/>
                        <a:t>s1</a:t>
                      </a:r>
                    </a:p>
                  </a:txBody>
                  <a:tcPr/>
                </a:tc>
                <a:extLst>
                  <a:ext uri="{0D108BD9-81ED-4DB2-BD59-A6C34878D82A}">
                    <a16:rowId xmlns:a16="http://schemas.microsoft.com/office/drawing/2014/main" val="10001"/>
                  </a:ext>
                </a:extLst>
              </a:tr>
              <a:tr h="849695">
                <a:tc>
                  <a:txBody>
                    <a:bodyPr/>
                    <a:lstStyle/>
                    <a:p>
                      <a:r>
                        <a:rPr lang="it-IT" sz="4000" dirty="0"/>
                        <a:t>s2</a:t>
                      </a:r>
                    </a:p>
                  </a:txBody>
                  <a:tcPr/>
                </a:tc>
                <a:extLst>
                  <a:ext uri="{0D108BD9-81ED-4DB2-BD59-A6C34878D82A}">
                    <a16:rowId xmlns:a16="http://schemas.microsoft.com/office/drawing/2014/main" val="10002"/>
                  </a:ext>
                </a:extLst>
              </a:tr>
              <a:tr h="849695">
                <a:tc>
                  <a:txBody>
                    <a:bodyPr/>
                    <a:lstStyle/>
                    <a:p>
                      <a:r>
                        <a:rPr lang="it-IT" sz="4000" dirty="0"/>
                        <a:t>s3</a:t>
                      </a:r>
                    </a:p>
                  </a:txBody>
                  <a:tcPr/>
                </a:tc>
                <a:extLst>
                  <a:ext uri="{0D108BD9-81ED-4DB2-BD59-A6C34878D82A}">
                    <a16:rowId xmlns:a16="http://schemas.microsoft.com/office/drawing/2014/main" val="10003"/>
                  </a:ext>
                </a:extLst>
              </a:tr>
              <a:tr h="849695">
                <a:tc>
                  <a:txBody>
                    <a:bodyPr/>
                    <a:lstStyle/>
                    <a:p>
                      <a:r>
                        <a:rPr lang="it-IT" sz="4000" dirty="0"/>
                        <a:t>s4</a:t>
                      </a:r>
                    </a:p>
                  </a:txBody>
                  <a:tcPr/>
                </a:tc>
                <a:extLst>
                  <a:ext uri="{0D108BD9-81ED-4DB2-BD59-A6C34878D82A}">
                    <a16:rowId xmlns:a16="http://schemas.microsoft.com/office/drawing/2014/main" val="10004"/>
                  </a:ext>
                </a:extLst>
              </a:tr>
            </a:tbl>
          </a:graphicData>
        </a:graphic>
      </p:graphicFrame>
      <p:graphicFrame>
        <p:nvGraphicFramePr>
          <p:cNvPr id="4" name="Tabella 3"/>
          <p:cNvGraphicFramePr>
            <a:graphicFrameLocks noGrp="1"/>
          </p:cNvGraphicFramePr>
          <p:nvPr>
            <p:extLst>
              <p:ext uri="{D42A27DB-BD31-4B8C-83A1-F6EECF244321}">
                <p14:modId xmlns:p14="http://schemas.microsoft.com/office/powerpoint/2010/main" val="3366606351"/>
              </p:ext>
            </p:extLst>
          </p:nvPr>
        </p:nvGraphicFramePr>
        <p:xfrm>
          <a:off x="5508104" y="2240867"/>
          <a:ext cx="1175792" cy="4248475"/>
        </p:xfrm>
        <a:graphic>
          <a:graphicData uri="http://schemas.openxmlformats.org/drawingml/2006/table">
            <a:tbl>
              <a:tblPr firstRow="1" bandRow="1">
                <a:tableStyleId>{5C22544A-7EE6-4342-B048-85BDC9FD1C3A}</a:tableStyleId>
              </a:tblPr>
              <a:tblGrid>
                <a:gridCol w="1175792">
                  <a:extLst>
                    <a:ext uri="{9D8B030D-6E8A-4147-A177-3AD203B41FA5}">
                      <a16:colId xmlns:a16="http://schemas.microsoft.com/office/drawing/2014/main" val="20000"/>
                    </a:ext>
                  </a:extLst>
                </a:gridCol>
              </a:tblGrid>
              <a:tr h="849695">
                <a:tc>
                  <a:txBody>
                    <a:bodyPr/>
                    <a:lstStyle/>
                    <a:p>
                      <a:r>
                        <a:rPr lang="it-IT" sz="4000" dirty="0"/>
                        <a:t>R2</a:t>
                      </a:r>
                    </a:p>
                  </a:txBody>
                  <a:tcPr/>
                </a:tc>
                <a:extLst>
                  <a:ext uri="{0D108BD9-81ED-4DB2-BD59-A6C34878D82A}">
                    <a16:rowId xmlns:a16="http://schemas.microsoft.com/office/drawing/2014/main" val="10000"/>
                  </a:ext>
                </a:extLst>
              </a:tr>
              <a:tr h="849695">
                <a:tc>
                  <a:txBody>
                    <a:bodyPr/>
                    <a:lstStyle/>
                    <a:p>
                      <a:r>
                        <a:rPr lang="it-IT" sz="4000" dirty="0"/>
                        <a:t>r21</a:t>
                      </a:r>
                    </a:p>
                  </a:txBody>
                  <a:tcPr/>
                </a:tc>
                <a:extLst>
                  <a:ext uri="{0D108BD9-81ED-4DB2-BD59-A6C34878D82A}">
                    <a16:rowId xmlns:a16="http://schemas.microsoft.com/office/drawing/2014/main" val="10001"/>
                  </a:ext>
                </a:extLst>
              </a:tr>
              <a:tr h="849695">
                <a:tc>
                  <a:txBody>
                    <a:bodyPr/>
                    <a:lstStyle/>
                    <a:p>
                      <a:r>
                        <a:rPr lang="it-IT" sz="4000" dirty="0"/>
                        <a:t>r22</a:t>
                      </a:r>
                    </a:p>
                  </a:txBody>
                  <a:tcPr/>
                </a:tc>
                <a:extLst>
                  <a:ext uri="{0D108BD9-81ED-4DB2-BD59-A6C34878D82A}">
                    <a16:rowId xmlns:a16="http://schemas.microsoft.com/office/drawing/2014/main" val="10002"/>
                  </a:ext>
                </a:extLst>
              </a:tr>
              <a:tr h="849695">
                <a:tc>
                  <a:txBody>
                    <a:bodyPr/>
                    <a:lstStyle/>
                    <a:p>
                      <a:r>
                        <a:rPr lang="it-IT" sz="4000" dirty="0"/>
                        <a:t>r23</a:t>
                      </a:r>
                    </a:p>
                  </a:txBody>
                  <a:tcPr/>
                </a:tc>
                <a:extLst>
                  <a:ext uri="{0D108BD9-81ED-4DB2-BD59-A6C34878D82A}">
                    <a16:rowId xmlns:a16="http://schemas.microsoft.com/office/drawing/2014/main" val="10003"/>
                  </a:ext>
                </a:extLst>
              </a:tr>
              <a:tr h="849695">
                <a:tc>
                  <a:txBody>
                    <a:bodyPr/>
                    <a:lstStyle/>
                    <a:p>
                      <a:r>
                        <a:rPr lang="it-IT" sz="4000" dirty="0"/>
                        <a:t>r24</a:t>
                      </a:r>
                    </a:p>
                  </a:txBody>
                  <a:tcPr/>
                </a:tc>
                <a:extLst>
                  <a:ext uri="{0D108BD9-81ED-4DB2-BD59-A6C34878D82A}">
                    <a16:rowId xmlns:a16="http://schemas.microsoft.com/office/drawing/2014/main" val="10004"/>
                  </a:ext>
                </a:extLst>
              </a:tr>
            </a:tbl>
          </a:graphicData>
        </a:graphic>
      </p:graphicFrame>
      <p:graphicFrame>
        <p:nvGraphicFramePr>
          <p:cNvPr id="5" name="Tabella 4"/>
          <p:cNvGraphicFramePr>
            <a:graphicFrameLocks noGrp="1"/>
          </p:cNvGraphicFramePr>
          <p:nvPr>
            <p:extLst>
              <p:ext uri="{D42A27DB-BD31-4B8C-83A1-F6EECF244321}">
                <p14:modId xmlns:p14="http://schemas.microsoft.com/office/powerpoint/2010/main" val="3116690203"/>
              </p:ext>
            </p:extLst>
          </p:nvPr>
        </p:nvGraphicFramePr>
        <p:xfrm>
          <a:off x="3419872" y="2240867"/>
          <a:ext cx="1175792" cy="4248475"/>
        </p:xfrm>
        <a:graphic>
          <a:graphicData uri="http://schemas.openxmlformats.org/drawingml/2006/table">
            <a:tbl>
              <a:tblPr firstRow="1" bandRow="1">
                <a:tableStyleId>{5C22544A-7EE6-4342-B048-85BDC9FD1C3A}</a:tableStyleId>
              </a:tblPr>
              <a:tblGrid>
                <a:gridCol w="1175792">
                  <a:extLst>
                    <a:ext uri="{9D8B030D-6E8A-4147-A177-3AD203B41FA5}">
                      <a16:colId xmlns:a16="http://schemas.microsoft.com/office/drawing/2014/main" val="20000"/>
                    </a:ext>
                  </a:extLst>
                </a:gridCol>
              </a:tblGrid>
              <a:tr h="849695">
                <a:tc>
                  <a:txBody>
                    <a:bodyPr/>
                    <a:lstStyle/>
                    <a:p>
                      <a:r>
                        <a:rPr lang="it-IT" sz="4000" dirty="0"/>
                        <a:t>R1</a:t>
                      </a:r>
                    </a:p>
                  </a:txBody>
                  <a:tcPr/>
                </a:tc>
                <a:extLst>
                  <a:ext uri="{0D108BD9-81ED-4DB2-BD59-A6C34878D82A}">
                    <a16:rowId xmlns:a16="http://schemas.microsoft.com/office/drawing/2014/main" val="10000"/>
                  </a:ext>
                </a:extLst>
              </a:tr>
              <a:tr h="849695">
                <a:tc>
                  <a:txBody>
                    <a:bodyPr/>
                    <a:lstStyle/>
                    <a:p>
                      <a:r>
                        <a:rPr lang="it-IT" sz="4000" dirty="0"/>
                        <a:t>r11</a:t>
                      </a:r>
                    </a:p>
                  </a:txBody>
                  <a:tcPr/>
                </a:tc>
                <a:extLst>
                  <a:ext uri="{0D108BD9-81ED-4DB2-BD59-A6C34878D82A}">
                    <a16:rowId xmlns:a16="http://schemas.microsoft.com/office/drawing/2014/main" val="10001"/>
                  </a:ext>
                </a:extLst>
              </a:tr>
              <a:tr h="849695">
                <a:tc>
                  <a:txBody>
                    <a:bodyPr/>
                    <a:lstStyle/>
                    <a:p>
                      <a:r>
                        <a:rPr lang="it-IT" sz="4000" dirty="0"/>
                        <a:t>r12</a:t>
                      </a:r>
                    </a:p>
                  </a:txBody>
                  <a:tcPr/>
                </a:tc>
                <a:extLst>
                  <a:ext uri="{0D108BD9-81ED-4DB2-BD59-A6C34878D82A}">
                    <a16:rowId xmlns:a16="http://schemas.microsoft.com/office/drawing/2014/main" val="10002"/>
                  </a:ext>
                </a:extLst>
              </a:tr>
              <a:tr h="849695">
                <a:tc>
                  <a:txBody>
                    <a:bodyPr/>
                    <a:lstStyle/>
                    <a:p>
                      <a:r>
                        <a:rPr lang="it-IT" sz="4000" dirty="0"/>
                        <a:t>r13</a:t>
                      </a:r>
                    </a:p>
                  </a:txBody>
                  <a:tcPr/>
                </a:tc>
                <a:extLst>
                  <a:ext uri="{0D108BD9-81ED-4DB2-BD59-A6C34878D82A}">
                    <a16:rowId xmlns:a16="http://schemas.microsoft.com/office/drawing/2014/main" val="10003"/>
                  </a:ext>
                </a:extLst>
              </a:tr>
              <a:tr h="849695">
                <a:tc>
                  <a:txBody>
                    <a:bodyPr/>
                    <a:lstStyle/>
                    <a:p>
                      <a:r>
                        <a:rPr lang="it-IT" sz="4000" dirty="0"/>
                        <a:t>r14</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00123604"/>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0816" y="2286000"/>
            <a:ext cx="5289481" cy="4267200"/>
          </a:xfrm>
          <a:prstGeom prst="rect">
            <a:avLst/>
          </a:prstGeom>
        </p:spPr>
      </p:pic>
      <p:sp>
        <p:nvSpPr>
          <p:cNvPr id="3077" name="Rectangle 2"/>
          <p:cNvSpPr>
            <a:spLocks noGrp="1" noChangeArrowheads="1"/>
          </p:cNvSpPr>
          <p:nvPr>
            <p:ph type="title" sz="quarter"/>
          </p:nvPr>
        </p:nvSpPr>
        <p:spPr>
          <a:xfrm>
            <a:off x="457200" y="274638"/>
            <a:ext cx="8229600" cy="490537"/>
          </a:xfrm>
        </p:spPr>
        <p:txBody>
          <a:bodyPr>
            <a:noAutofit/>
          </a:bodyPr>
          <a:lstStyle/>
          <a:p>
            <a:r>
              <a:rPr lang="en-GB" sz="3200" dirty="0">
                <a:solidFill>
                  <a:srgbClr val="FF0000"/>
                </a:solidFill>
                <a:latin typeface="Arial" panose="020B0604020202020204" pitchFamily="34" charset="0"/>
                <a:cs typeface="Arial" panose="020B0604020202020204" pitchFamily="34" charset="0"/>
              </a:rPr>
              <a:t>Redundancy</a:t>
            </a:r>
            <a:endParaRPr lang="en-US" sz="3200" dirty="0">
              <a:solidFill>
                <a:srgbClr val="FF0000"/>
              </a:solidFill>
              <a:latin typeface="Arial" panose="020B0604020202020204" pitchFamily="34" charset="0"/>
              <a:cs typeface="Arial" panose="020B0604020202020204" pitchFamily="34" charset="0"/>
            </a:endParaRPr>
          </a:p>
        </p:txBody>
      </p:sp>
      <p:graphicFrame>
        <p:nvGraphicFramePr>
          <p:cNvPr id="3075" name="Object 3"/>
          <p:cNvGraphicFramePr>
            <a:graphicFrameLocks noGrp="1" noChangeAspect="1"/>
          </p:cNvGraphicFramePr>
          <p:nvPr>
            <p:ph sz="quarter" idx="2"/>
          </p:nvPr>
        </p:nvGraphicFramePr>
        <p:xfrm>
          <a:off x="5803900" y="885825"/>
          <a:ext cx="1625600" cy="203200"/>
        </p:xfrm>
        <a:graphic>
          <a:graphicData uri="http://schemas.openxmlformats.org/presentationml/2006/ole">
            <mc:AlternateContent xmlns:mc="http://schemas.openxmlformats.org/markup-compatibility/2006">
              <mc:Choice xmlns:v="urn:schemas-microsoft-com:vml" Requires="v">
                <p:oleObj name="Equation" r:id="rId3" imgW="2691000" imgH="330120" progId="Equation.3">
                  <p:embed/>
                </p:oleObj>
              </mc:Choice>
              <mc:Fallback>
                <p:oleObj name="Equation" r:id="rId3" imgW="2691000" imgH="330120" progId="Equation.3">
                  <p:embed/>
                  <p:pic>
                    <p:nvPicPr>
                      <p:cNvPr id="3075"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3900" y="885825"/>
                        <a:ext cx="16256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Grp="1" noChangeAspect="1"/>
          </p:cNvGraphicFramePr>
          <p:nvPr>
            <p:extLst>
              <p:ext uri="{D42A27DB-BD31-4B8C-83A1-F6EECF244321}">
                <p14:modId xmlns:p14="http://schemas.microsoft.com/office/powerpoint/2010/main" val="3632833612"/>
              </p:ext>
            </p:extLst>
          </p:nvPr>
        </p:nvGraphicFramePr>
        <p:xfrm>
          <a:off x="185738" y="1169988"/>
          <a:ext cx="8772525" cy="577850"/>
        </p:xfrm>
        <a:graphic>
          <a:graphicData uri="http://schemas.openxmlformats.org/presentationml/2006/ole">
            <mc:AlternateContent xmlns:mc="http://schemas.openxmlformats.org/markup-compatibility/2006">
              <mc:Choice xmlns:v="urn:schemas-microsoft-com:vml" Requires="v">
                <p:oleObj name="Equation" r:id="rId5" imgW="2997000" imgH="228600" progId="">
                  <p:embed/>
                </p:oleObj>
              </mc:Choice>
              <mc:Fallback>
                <p:oleObj name="Equation" r:id="rId5" imgW="2997000" imgH="228600" progId="">
                  <p:embed/>
                  <p:pic>
                    <p:nvPicPr>
                      <p:cNvPr id="7" name="Object 6"/>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738" y="1169988"/>
                        <a:ext cx="8772525"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989022306"/>
              </p:ext>
            </p:extLst>
          </p:nvPr>
        </p:nvGraphicFramePr>
        <p:xfrm>
          <a:off x="152400" y="2133600"/>
          <a:ext cx="3581400" cy="1752600"/>
        </p:xfrm>
        <a:graphic>
          <a:graphicData uri="http://schemas.openxmlformats.org/drawingml/2006/table">
            <a:tbl>
              <a:tblPr firstRow="1" bandRow="1">
                <a:tableStyleId>{5C22544A-7EE6-4342-B048-85BDC9FD1C3A}</a:tableStyleId>
              </a:tblPr>
              <a:tblGrid>
                <a:gridCol w="8953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tblGrid>
              <a:tr h="350520">
                <a:tc>
                  <a:txBody>
                    <a:bodyPr/>
                    <a:lstStyle/>
                    <a:p>
                      <a:r>
                        <a:rPr lang="en-US" sz="1600" dirty="0"/>
                        <a:t>R1</a:t>
                      </a:r>
                    </a:p>
                  </a:txBody>
                  <a:tcPr/>
                </a:tc>
                <a:tc>
                  <a:txBody>
                    <a:bodyPr/>
                    <a:lstStyle/>
                    <a:p>
                      <a:r>
                        <a:rPr lang="en-US" sz="1600" dirty="0" err="1"/>
                        <a:t>Stim</a:t>
                      </a:r>
                      <a:r>
                        <a:rPr lang="en-US" sz="1600" dirty="0"/>
                        <a:t> 1</a:t>
                      </a:r>
                    </a:p>
                  </a:txBody>
                  <a:tcPr/>
                </a:tc>
                <a:tc>
                  <a:txBody>
                    <a:bodyPr/>
                    <a:lstStyle/>
                    <a:p>
                      <a:r>
                        <a:rPr lang="en-US" sz="1600" dirty="0" err="1"/>
                        <a:t>Stim</a:t>
                      </a:r>
                      <a:r>
                        <a:rPr lang="en-US" sz="1600" baseline="0" dirty="0"/>
                        <a:t> 2</a:t>
                      </a:r>
                      <a:endParaRPr lang="en-US" sz="1600" dirty="0"/>
                    </a:p>
                  </a:txBody>
                  <a:tcPr/>
                </a:tc>
                <a:tc>
                  <a:txBody>
                    <a:bodyPr/>
                    <a:lstStyle/>
                    <a:p>
                      <a:r>
                        <a:rPr lang="en-US" sz="1600" dirty="0" err="1"/>
                        <a:t>Stim</a:t>
                      </a:r>
                      <a:r>
                        <a:rPr lang="en-US" sz="1600" dirty="0"/>
                        <a:t> 3</a:t>
                      </a:r>
                    </a:p>
                  </a:txBody>
                  <a:tcPr/>
                </a:tc>
                <a:extLst>
                  <a:ext uri="{0D108BD9-81ED-4DB2-BD59-A6C34878D82A}">
                    <a16:rowId xmlns:a16="http://schemas.microsoft.com/office/drawing/2014/main" val="10000"/>
                  </a:ext>
                </a:extLst>
              </a:tr>
              <a:tr h="350520">
                <a:tc>
                  <a:txBody>
                    <a:bodyPr/>
                    <a:lstStyle/>
                    <a:p>
                      <a:r>
                        <a:rPr lang="en-US" sz="1600" dirty="0"/>
                        <a:t>Trial 1</a:t>
                      </a:r>
                    </a:p>
                  </a:txBody>
                  <a:tcPr/>
                </a:tc>
                <a:tc>
                  <a:txBody>
                    <a:bodyPr/>
                    <a:lstStyle/>
                    <a:p>
                      <a:r>
                        <a:rPr lang="en-US" sz="1600" dirty="0"/>
                        <a:t>10</a:t>
                      </a:r>
                    </a:p>
                  </a:txBody>
                  <a:tcPr/>
                </a:tc>
                <a:tc>
                  <a:txBody>
                    <a:bodyPr/>
                    <a:lstStyle/>
                    <a:p>
                      <a:r>
                        <a:rPr lang="en-US" sz="1600" dirty="0"/>
                        <a:t>5</a:t>
                      </a:r>
                    </a:p>
                  </a:txBody>
                  <a:tcPr/>
                </a:tc>
                <a:tc>
                  <a:txBody>
                    <a:bodyPr/>
                    <a:lstStyle/>
                    <a:p>
                      <a:r>
                        <a:rPr lang="en-US" sz="1600" b="1" dirty="0"/>
                        <a:t>7</a:t>
                      </a:r>
                    </a:p>
                  </a:txBody>
                  <a:tcPr/>
                </a:tc>
                <a:extLst>
                  <a:ext uri="{0D108BD9-81ED-4DB2-BD59-A6C34878D82A}">
                    <a16:rowId xmlns:a16="http://schemas.microsoft.com/office/drawing/2014/main" val="10001"/>
                  </a:ext>
                </a:extLst>
              </a:tr>
              <a:tr h="350520">
                <a:tc>
                  <a:txBody>
                    <a:bodyPr/>
                    <a:lstStyle/>
                    <a:p>
                      <a:r>
                        <a:rPr lang="en-US" sz="1600" dirty="0"/>
                        <a:t>Trial 2</a:t>
                      </a:r>
                    </a:p>
                  </a:txBody>
                  <a:tcPr/>
                </a:tc>
                <a:tc>
                  <a:txBody>
                    <a:bodyPr/>
                    <a:lstStyle/>
                    <a:p>
                      <a:r>
                        <a:rPr lang="en-US" sz="1600" dirty="0"/>
                        <a:t>9</a:t>
                      </a:r>
                    </a:p>
                  </a:txBody>
                  <a:tcPr/>
                </a:tc>
                <a:tc>
                  <a:txBody>
                    <a:bodyPr/>
                    <a:lstStyle/>
                    <a:p>
                      <a:r>
                        <a:rPr lang="en-US" sz="1600" dirty="0"/>
                        <a:t>3</a:t>
                      </a:r>
                    </a:p>
                  </a:txBody>
                  <a:tcPr/>
                </a:tc>
                <a:tc>
                  <a:txBody>
                    <a:bodyPr/>
                    <a:lstStyle/>
                    <a:p>
                      <a:r>
                        <a:rPr lang="en-US" sz="1600" b="1" dirty="0"/>
                        <a:t>5</a:t>
                      </a:r>
                    </a:p>
                  </a:txBody>
                  <a:tcPr/>
                </a:tc>
                <a:extLst>
                  <a:ext uri="{0D108BD9-81ED-4DB2-BD59-A6C34878D82A}">
                    <a16:rowId xmlns:a16="http://schemas.microsoft.com/office/drawing/2014/main" val="10002"/>
                  </a:ext>
                </a:extLst>
              </a:tr>
              <a:tr h="350520">
                <a:tc>
                  <a:txBody>
                    <a:bodyPr/>
                    <a:lstStyle/>
                    <a:p>
                      <a:r>
                        <a:rPr lang="en-US" sz="1600" dirty="0"/>
                        <a:t>Trial 3</a:t>
                      </a:r>
                    </a:p>
                  </a:txBody>
                  <a:tcPr/>
                </a:tc>
                <a:tc>
                  <a:txBody>
                    <a:bodyPr/>
                    <a:lstStyle/>
                    <a:p>
                      <a:r>
                        <a:rPr lang="en-US" sz="1600" dirty="0"/>
                        <a:t>8</a:t>
                      </a:r>
                    </a:p>
                  </a:txBody>
                  <a:tcPr/>
                </a:tc>
                <a:tc>
                  <a:txBody>
                    <a:bodyPr/>
                    <a:lstStyle/>
                    <a:p>
                      <a:r>
                        <a:rPr lang="en-US" sz="1600" dirty="0"/>
                        <a:t>5</a:t>
                      </a:r>
                    </a:p>
                  </a:txBody>
                  <a:tcPr/>
                </a:tc>
                <a:tc>
                  <a:txBody>
                    <a:bodyPr/>
                    <a:lstStyle/>
                    <a:p>
                      <a:r>
                        <a:rPr lang="en-US" sz="1600" b="1" dirty="0"/>
                        <a:t>6</a:t>
                      </a:r>
                    </a:p>
                  </a:txBody>
                  <a:tcPr/>
                </a:tc>
                <a:extLst>
                  <a:ext uri="{0D108BD9-81ED-4DB2-BD59-A6C34878D82A}">
                    <a16:rowId xmlns:a16="http://schemas.microsoft.com/office/drawing/2014/main" val="10003"/>
                  </a:ext>
                </a:extLst>
              </a:tr>
              <a:tr h="350520">
                <a:tc>
                  <a:txBody>
                    <a:bodyPr/>
                    <a:lstStyle/>
                    <a:p>
                      <a:r>
                        <a:rPr lang="en-US" sz="1600" dirty="0"/>
                        <a:t>Trial</a:t>
                      </a:r>
                      <a:r>
                        <a:rPr lang="en-US" sz="1600" baseline="0" dirty="0"/>
                        <a:t> 4</a:t>
                      </a:r>
                      <a:endParaRPr lang="en-US" sz="1600" dirty="0"/>
                    </a:p>
                  </a:txBody>
                  <a:tcPr/>
                </a:tc>
                <a:tc>
                  <a:txBody>
                    <a:bodyPr/>
                    <a:lstStyle/>
                    <a:p>
                      <a:r>
                        <a:rPr lang="en-US" sz="1600" dirty="0"/>
                        <a:t>10</a:t>
                      </a:r>
                    </a:p>
                  </a:txBody>
                  <a:tcPr/>
                </a:tc>
                <a:tc>
                  <a:txBody>
                    <a:bodyPr/>
                    <a:lstStyle/>
                    <a:p>
                      <a:r>
                        <a:rPr lang="en-US" sz="1600" dirty="0"/>
                        <a:t>4</a:t>
                      </a:r>
                    </a:p>
                  </a:txBody>
                  <a:tcPr/>
                </a:tc>
                <a:tc>
                  <a:txBody>
                    <a:bodyPr/>
                    <a:lstStyle/>
                    <a:p>
                      <a:r>
                        <a:rPr lang="en-US" sz="1600" b="1" dirty="0"/>
                        <a:t>7</a:t>
                      </a:r>
                    </a:p>
                  </a:txBody>
                  <a:tcPr/>
                </a:tc>
                <a:extLst>
                  <a:ext uri="{0D108BD9-81ED-4DB2-BD59-A6C34878D82A}">
                    <a16:rowId xmlns:a16="http://schemas.microsoft.com/office/drawing/2014/main" val="10004"/>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151221575"/>
              </p:ext>
            </p:extLst>
          </p:nvPr>
        </p:nvGraphicFramePr>
        <p:xfrm>
          <a:off x="152400" y="4038600"/>
          <a:ext cx="3581400" cy="1752600"/>
        </p:xfrm>
        <a:graphic>
          <a:graphicData uri="http://schemas.openxmlformats.org/drawingml/2006/table">
            <a:tbl>
              <a:tblPr firstRow="1" bandRow="1">
                <a:tableStyleId>{F5AB1C69-6EDB-4FF4-983F-18BD219EF322}</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350520">
                <a:tc>
                  <a:txBody>
                    <a:bodyPr/>
                    <a:lstStyle/>
                    <a:p>
                      <a:r>
                        <a:rPr lang="en-US" sz="1600" dirty="0"/>
                        <a:t>R2</a:t>
                      </a:r>
                    </a:p>
                  </a:txBody>
                  <a:tcPr/>
                </a:tc>
                <a:tc>
                  <a:txBody>
                    <a:bodyPr/>
                    <a:lstStyle/>
                    <a:p>
                      <a:r>
                        <a:rPr lang="en-US" sz="1600" dirty="0" err="1"/>
                        <a:t>Stim</a:t>
                      </a:r>
                      <a:r>
                        <a:rPr lang="en-US" sz="1600" dirty="0"/>
                        <a:t> 1</a:t>
                      </a:r>
                    </a:p>
                  </a:txBody>
                  <a:tcPr/>
                </a:tc>
                <a:tc>
                  <a:txBody>
                    <a:bodyPr/>
                    <a:lstStyle/>
                    <a:p>
                      <a:r>
                        <a:rPr lang="en-US" sz="1600" dirty="0" err="1"/>
                        <a:t>Stim</a:t>
                      </a:r>
                      <a:r>
                        <a:rPr lang="en-US" sz="1600" baseline="0" dirty="0"/>
                        <a:t> 2</a:t>
                      </a:r>
                      <a:endParaRPr lang="en-US" sz="1600" dirty="0"/>
                    </a:p>
                  </a:txBody>
                  <a:tcPr/>
                </a:tc>
                <a:tc>
                  <a:txBody>
                    <a:bodyPr/>
                    <a:lstStyle/>
                    <a:p>
                      <a:r>
                        <a:rPr lang="en-US" sz="1600" dirty="0" err="1"/>
                        <a:t>Stim</a:t>
                      </a:r>
                      <a:r>
                        <a:rPr lang="en-US" sz="1600" dirty="0"/>
                        <a:t> 3</a:t>
                      </a:r>
                    </a:p>
                  </a:txBody>
                  <a:tcPr/>
                </a:tc>
                <a:extLst>
                  <a:ext uri="{0D108BD9-81ED-4DB2-BD59-A6C34878D82A}">
                    <a16:rowId xmlns:a16="http://schemas.microsoft.com/office/drawing/2014/main" val="10000"/>
                  </a:ext>
                </a:extLst>
              </a:tr>
              <a:tr h="350520">
                <a:tc>
                  <a:txBody>
                    <a:bodyPr/>
                    <a:lstStyle/>
                    <a:p>
                      <a:r>
                        <a:rPr lang="en-US" sz="1600" dirty="0"/>
                        <a:t>Trial 1</a:t>
                      </a:r>
                    </a:p>
                  </a:txBody>
                  <a:tcPr/>
                </a:tc>
                <a:tc>
                  <a:txBody>
                    <a:bodyPr/>
                    <a:lstStyle/>
                    <a:p>
                      <a:r>
                        <a:rPr lang="en-US" sz="1600" dirty="0"/>
                        <a:t>3</a:t>
                      </a:r>
                    </a:p>
                  </a:txBody>
                  <a:tcPr/>
                </a:tc>
                <a:tc>
                  <a:txBody>
                    <a:bodyPr/>
                    <a:lstStyle/>
                    <a:p>
                      <a:r>
                        <a:rPr lang="en-US" sz="1600" dirty="0"/>
                        <a:t>1</a:t>
                      </a:r>
                    </a:p>
                  </a:txBody>
                  <a:tcPr/>
                </a:tc>
                <a:tc>
                  <a:txBody>
                    <a:bodyPr/>
                    <a:lstStyle/>
                    <a:p>
                      <a:r>
                        <a:rPr lang="en-US" sz="1600" dirty="0"/>
                        <a:t>9</a:t>
                      </a:r>
                    </a:p>
                  </a:txBody>
                  <a:tcPr/>
                </a:tc>
                <a:extLst>
                  <a:ext uri="{0D108BD9-81ED-4DB2-BD59-A6C34878D82A}">
                    <a16:rowId xmlns:a16="http://schemas.microsoft.com/office/drawing/2014/main" val="10001"/>
                  </a:ext>
                </a:extLst>
              </a:tr>
              <a:tr h="350520">
                <a:tc>
                  <a:txBody>
                    <a:bodyPr/>
                    <a:lstStyle/>
                    <a:p>
                      <a:r>
                        <a:rPr lang="en-US" sz="1600" dirty="0"/>
                        <a:t>Trial 2</a:t>
                      </a:r>
                    </a:p>
                  </a:txBody>
                  <a:tcPr/>
                </a:tc>
                <a:tc>
                  <a:txBody>
                    <a:bodyPr/>
                    <a:lstStyle/>
                    <a:p>
                      <a:r>
                        <a:rPr lang="en-US" sz="1600" dirty="0"/>
                        <a:t>1</a:t>
                      </a:r>
                    </a:p>
                  </a:txBody>
                  <a:tcPr/>
                </a:tc>
                <a:tc>
                  <a:txBody>
                    <a:bodyPr/>
                    <a:lstStyle/>
                    <a:p>
                      <a:r>
                        <a:rPr lang="en-US" sz="1600" dirty="0"/>
                        <a:t>0</a:t>
                      </a:r>
                    </a:p>
                  </a:txBody>
                  <a:tcPr/>
                </a:tc>
                <a:tc>
                  <a:txBody>
                    <a:bodyPr/>
                    <a:lstStyle/>
                    <a:p>
                      <a:r>
                        <a:rPr lang="en-US" sz="1600" dirty="0"/>
                        <a:t>8</a:t>
                      </a:r>
                    </a:p>
                  </a:txBody>
                  <a:tcPr/>
                </a:tc>
                <a:extLst>
                  <a:ext uri="{0D108BD9-81ED-4DB2-BD59-A6C34878D82A}">
                    <a16:rowId xmlns:a16="http://schemas.microsoft.com/office/drawing/2014/main" val="10002"/>
                  </a:ext>
                </a:extLst>
              </a:tr>
              <a:tr h="350520">
                <a:tc>
                  <a:txBody>
                    <a:bodyPr/>
                    <a:lstStyle/>
                    <a:p>
                      <a:r>
                        <a:rPr lang="en-US" sz="1600" dirty="0"/>
                        <a:t>Trial 3</a:t>
                      </a:r>
                    </a:p>
                  </a:txBody>
                  <a:tcPr/>
                </a:tc>
                <a:tc>
                  <a:txBody>
                    <a:bodyPr/>
                    <a:lstStyle/>
                    <a:p>
                      <a:r>
                        <a:rPr lang="en-US" sz="1600" dirty="0"/>
                        <a:t>0</a:t>
                      </a:r>
                    </a:p>
                  </a:txBody>
                  <a:tcPr/>
                </a:tc>
                <a:tc>
                  <a:txBody>
                    <a:bodyPr/>
                    <a:lstStyle/>
                    <a:p>
                      <a:r>
                        <a:rPr lang="en-US" sz="1600" dirty="0"/>
                        <a:t>3</a:t>
                      </a:r>
                    </a:p>
                  </a:txBody>
                  <a:tcPr/>
                </a:tc>
                <a:tc>
                  <a:txBody>
                    <a:bodyPr/>
                    <a:lstStyle/>
                    <a:p>
                      <a:r>
                        <a:rPr lang="en-US" sz="1600" dirty="0"/>
                        <a:t>8</a:t>
                      </a:r>
                    </a:p>
                  </a:txBody>
                  <a:tcPr/>
                </a:tc>
                <a:extLst>
                  <a:ext uri="{0D108BD9-81ED-4DB2-BD59-A6C34878D82A}">
                    <a16:rowId xmlns:a16="http://schemas.microsoft.com/office/drawing/2014/main" val="10003"/>
                  </a:ext>
                </a:extLst>
              </a:tr>
              <a:tr h="350520">
                <a:tc>
                  <a:txBody>
                    <a:bodyPr/>
                    <a:lstStyle/>
                    <a:p>
                      <a:r>
                        <a:rPr lang="en-US" sz="1600" dirty="0"/>
                        <a:t>Trial</a:t>
                      </a:r>
                      <a:r>
                        <a:rPr lang="en-US" sz="1600" baseline="0" dirty="0"/>
                        <a:t> 4</a:t>
                      </a:r>
                      <a:endParaRPr lang="en-US" sz="1600" dirty="0"/>
                    </a:p>
                  </a:txBody>
                  <a:tcPr/>
                </a:tc>
                <a:tc>
                  <a:txBody>
                    <a:bodyPr/>
                    <a:lstStyle/>
                    <a:p>
                      <a:r>
                        <a:rPr lang="en-US" sz="1600" dirty="0"/>
                        <a:t>2</a:t>
                      </a:r>
                    </a:p>
                  </a:txBody>
                  <a:tcPr/>
                </a:tc>
                <a:tc>
                  <a:txBody>
                    <a:bodyPr/>
                    <a:lstStyle/>
                    <a:p>
                      <a:r>
                        <a:rPr lang="en-US" sz="1600" dirty="0"/>
                        <a:t>2</a:t>
                      </a:r>
                    </a:p>
                  </a:txBody>
                  <a:tcPr/>
                </a:tc>
                <a:tc>
                  <a:txBody>
                    <a:bodyPr/>
                    <a:lstStyle/>
                    <a:p>
                      <a:r>
                        <a:rPr lang="en-US" sz="1600" dirty="0"/>
                        <a:t>9</a:t>
                      </a:r>
                    </a:p>
                  </a:txBody>
                  <a:tcPr/>
                </a:tc>
                <a:extLst>
                  <a:ext uri="{0D108BD9-81ED-4DB2-BD59-A6C34878D82A}">
                    <a16:rowId xmlns:a16="http://schemas.microsoft.com/office/drawing/2014/main" val="10004"/>
                  </a:ext>
                </a:extLst>
              </a:tr>
            </a:tbl>
          </a:graphicData>
        </a:graphic>
      </p:graphicFrame>
      <p:sp>
        <p:nvSpPr>
          <p:cNvPr id="3" name="TextBox 2"/>
          <p:cNvSpPr txBox="1"/>
          <p:nvPr/>
        </p:nvSpPr>
        <p:spPr>
          <a:xfrm>
            <a:off x="440835" y="5972613"/>
            <a:ext cx="3435345" cy="707886"/>
          </a:xfrm>
          <a:prstGeom prst="rect">
            <a:avLst/>
          </a:prstGeom>
          <a:noFill/>
        </p:spPr>
        <p:txBody>
          <a:bodyPr wrap="square" rtlCol="0">
            <a:spAutoFit/>
          </a:bodyPr>
          <a:lstStyle/>
          <a:p>
            <a:r>
              <a:rPr lang="en-US" sz="4000" dirty="0"/>
              <a:t>Redundancy&gt;0</a:t>
            </a:r>
          </a:p>
        </p:txBody>
      </p:sp>
      <p:sp>
        <p:nvSpPr>
          <p:cNvPr id="10" name="CasellaDiTesto 9"/>
          <p:cNvSpPr txBox="1"/>
          <p:nvPr/>
        </p:nvSpPr>
        <p:spPr>
          <a:xfrm>
            <a:off x="3857620" y="1702346"/>
            <a:ext cx="714380" cy="369332"/>
          </a:xfrm>
          <a:prstGeom prst="rect">
            <a:avLst/>
          </a:prstGeom>
          <a:noFill/>
        </p:spPr>
        <p:txBody>
          <a:bodyPr wrap="square" rtlCol="0">
            <a:spAutoFit/>
          </a:bodyPr>
          <a:lstStyle/>
          <a:p>
            <a:r>
              <a:rPr lang="it-IT" dirty="0"/>
              <a:t>1</a:t>
            </a:r>
          </a:p>
        </p:txBody>
      </p:sp>
      <p:sp>
        <p:nvSpPr>
          <p:cNvPr id="11" name="CasellaDiTesto 10"/>
          <p:cNvSpPr txBox="1"/>
          <p:nvPr/>
        </p:nvSpPr>
        <p:spPr>
          <a:xfrm>
            <a:off x="5643570" y="1714488"/>
            <a:ext cx="714380" cy="369332"/>
          </a:xfrm>
          <a:prstGeom prst="rect">
            <a:avLst/>
          </a:prstGeom>
          <a:noFill/>
        </p:spPr>
        <p:txBody>
          <a:bodyPr wrap="square" rtlCol="0">
            <a:spAutoFit/>
          </a:bodyPr>
          <a:lstStyle/>
          <a:p>
            <a:r>
              <a:rPr lang="it-IT" dirty="0"/>
              <a:t>1</a:t>
            </a:r>
          </a:p>
        </p:txBody>
      </p:sp>
      <p:sp>
        <p:nvSpPr>
          <p:cNvPr id="13" name="CasellaDiTesto 12"/>
          <p:cNvSpPr txBox="1"/>
          <p:nvPr/>
        </p:nvSpPr>
        <p:spPr>
          <a:xfrm>
            <a:off x="7572396" y="1643050"/>
            <a:ext cx="714380" cy="369332"/>
          </a:xfrm>
          <a:prstGeom prst="rect">
            <a:avLst/>
          </a:prstGeom>
          <a:noFill/>
        </p:spPr>
        <p:txBody>
          <a:bodyPr wrap="square" rtlCol="0">
            <a:spAutoFit/>
          </a:bodyPr>
          <a:lstStyle/>
          <a:p>
            <a:r>
              <a:rPr lang="it-IT" dirty="0"/>
              <a:t>1.585</a:t>
            </a:r>
          </a:p>
        </p:txBody>
      </p:sp>
    </p:spTree>
    <p:extLst>
      <p:ext uri="{BB962C8B-B14F-4D97-AF65-F5344CB8AC3E}">
        <p14:creationId xmlns:p14="http://schemas.microsoft.com/office/powerpoint/2010/main" val="4232747142"/>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ctrTitle"/>
          </p:nvPr>
        </p:nvSpPr>
        <p:spPr>
          <a:xfrm>
            <a:off x="539750" y="80962"/>
            <a:ext cx="8299450" cy="1595438"/>
          </a:xfrm>
        </p:spPr>
        <p:txBody>
          <a:bodyPr/>
          <a:lstStyle/>
          <a:p>
            <a:r>
              <a:rPr lang="en-GB" sz="4000" b="1" dirty="0">
                <a:solidFill>
                  <a:srgbClr val="FF0000"/>
                </a:solidFill>
                <a:latin typeface="Arial" charset="0"/>
                <a:cs typeface="Arial" charset="0"/>
              </a:rPr>
              <a:t>Advanced information theory:</a:t>
            </a:r>
            <a:br>
              <a:rPr lang="en-GB" sz="4000" b="1" dirty="0">
                <a:solidFill>
                  <a:srgbClr val="FF0000"/>
                </a:solidFill>
                <a:latin typeface="Arial" charset="0"/>
                <a:cs typeface="Arial" charset="0"/>
              </a:rPr>
            </a:br>
            <a:r>
              <a:rPr lang="en-GB" sz="4000" b="1" dirty="0">
                <a:solidFill>
                  <a:srgbClr val="FF0000"/>
                </a:solidFill>
                <a:latin typeface="Arial" charset="0"/>
                <a:cs typeface="Arial" charset="0"/>
              </a:rPr>
              <a:t> BIAS</a:t>
            </a:r>
            <a:endParaRPr lang="en-US" sz="4000" b="1" dirty="0">
              <a:solidFill>
                <a:srgbClr val="FF0000"/>
              </a:solidFill>
              <a:latin typeface="Arial" charset="0"/>
              <a:cs typeface="Arial" charset="0"/>
            </a:endParaRPr>
          </a:p>
        </p:txBody>
      </p:sp>
      <p:pic>
        <p:nvPicPr>
          <p:cNvPr id="25602" name="Picture 2" descr="http://deadstate.org/wp-content/uploads/2014/01/ds-fox-news-stud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772816"/>
            <a:ext cx="7553684"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445439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285750" y="-24"/>
            <a:ext cx="8358188" cy="1143000"/>
          </a:xfrm>
        </p:spPr>
        <p:txBody>
          <a:bodyPr>
            <a:normAutofit/>
          </a:bodyPr>
          <a:lstStyle/>
          <a:p>
            <a:r>
              <a:rPr lang="en-GB" sz="3200" dirty="0">
                <a:solidFill>
                  <a:srgbClr val="FF0000"/>
                </a:solidFill>
                <a:latin typeface="Arial" charset="0"/>
                <a:cs typeface="Arial" charset="0"/>
              </a:rPr>
              <a:t>Low probabilities are difficult to estimate</a:t>
            </a:r>
            <a:endParaRPr lang="en-US" sz="3200" dirty="0">
              <a:solidFill>
                <a:srgbClr val="FF0000"/>
              </a:solidFill>
              <a:latin typeface="Arial" charset="0"/>
              <a:cs typeface="Arial" charset="0"/>
            </a:endParaRPr>
          </a:p>
        </p:txBody>
      </p:sp>
      <p:pic>
        <p:nvPicPr>
          <p:cNvPr id="145410" name="Picture 2" descr="https://mir-s3-cdn-cf.behance.net/projects/404/8078353.547561c575f4a.jpg"/>
          <p:cNvPicPr>
            <a:picLocks noChangeAspect="1" noChangeArrowheads="1"/>
          </p:cNvPicPr>
          <p:nvPr/>
        </p:nvPicPr>
        <p:blipFill>
          <a:blip r:embed="rId2"/>
          <a:srcRect/>
          <a:stretch>
            <a:fillRect/>
          </a:stretch>
        </p:blipFill>
        <p:spPr bwMode="auto">
          <a:xfrm>
            <a:off x="4143372" y="1932028"/>
            <a:ext cx="4562480" cy="3568674"/>
          </a:xfrm>
          <a:prstGeom prst="rect">
            <a:avLst/>
          </a:prstGeom>
          <a:noFill/>
        </p:spPr>
      </p:pic>
      <p:pic>
        <p:nvPicPr>
          <p:cNvPr id="145412" name="Picture 4" descr="https://images-na.ssl-images-amazon.com/images/M/MV5BMTk4NjM0MjI3MV5BMl5BanBnXkFtZTcwNjcxMDYzNg@@._V1_SY1000_CR0,0,674,1000_AL_.jpg"/>
          <p:cNvPicPr>
            <a:picLocks noChangeAspect="1" noChangeArrowheads="1"/>
          </p:cNvPicPr>
          <p:nvPr/>
        </p:nvPicPr>
        <p:blipFill>
          <a:blip r:embed="rId3"/>
          <a:srcRect/>
          <a:stretch>
            <a:fillRect/>
          </a:stretch>
        </p:blipFill>
        <p:spPr bwMode="auto">
          <a:xfrm>
            <a:off x="155575" y="1142984"/>
            <a:ext cx="3771900" cy="5600701"/>
          </a:xfrm>
          <a:prstGeom prst="rect">
            <a:avLst/>
          </a:prstGeom>
          <a:noFill/>
        </p:spPr>
      </p:pic>
    </p:spTree>
    <p:extLst>
      <p:ext uri="{BB962C8B-B14F-4D97-AF65-F5344CB8AC3E}">
        <p14:creationId xmlns:p14="http://schemas.microsoft.com/office/powerpoint/2010/main" val="137700120"/>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285750" y="290513"/>
            <a:ext cx="8358188" cy="1143000"/>
          </a:xfrm>
        </p:spPr>
        <p:txBody>
          <a:bodyPr>
            <a:normAutofit/>
          </a:bodyPr>
          <a:lstStyle/>
          <a:p>
            <a:r>
              <a:rPr lang="en-GB" sz="3200" dirty="0">
                <a:solidFill>
                  <a:srgbClr val="FF0000"/>
                </a:solidFill>
                <a:latin typeface="Arial" charset="0"/>
                <a:cs typeface="Arial" charset="0"/>
              </a:rPr>
              <a:t>The “plug-in” information estimation</a:t>
            </a:r>
            <a:endParaRPr lang="en-US" sz="3200" dirty="0">
              <a:solidFill>
                <a:srgbClr val="FF0000"/>
              </a:solidFill>
              <a:latin typeface="Arial" charset="0"/>
              <a:cs typeface="Arial" charset="0"/>
            </a:endParaRPr>
          </a:p>
        </p:txBody>
      </p:sp>
      <p:sp>
        <p:nvSpPr>
          <p:cNvPr id="97283" name="Text Box 2"/>
          <p:cNvSpPr txBox="1">
            <a:spLocks noChangeArrowheads="1"/>
          </p:cNvSpPr>
          <p:nvPr/>
        </p:nvSpPr>
        <p:spPr bwMode="auto">
          <a:xfrm>
            <a:off x="357188" y="1785938"/>
            <a:ext cx="878681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dirty="0">
                <a:latin typeface="Arial" charset="0"/>
              </a:rPr>
              <a:t>The most direct way to compute information and entropies is the “plug-in” method: estimate the response probabilities P(</a:t>
            </a:r>
            <a:r>
              <a:rPr lang="en-US" sz="1800" dirty="0" err="1">
                <a:latin typeface="Arial" charset="0"/>
              </a:rPr>
              <a:t>r|s</a:t>
            </a:r>
            <a:r>
              <a:rPr lang="en-US" sz="1800" dirty="0">
                <a:latin typeface="Arial" charset="0"/>
              </a:rPr>
              <a:t>) and P(r) as the experimental histogram of the frequency of each response across the available trials and then plug these empirical probability estimates into entropy Equations. </a:t>
            </a:r>
          </a:p>
          <a:p>
            <a:endParaRPr lang="en-US" dirty="0">
              <a:latin typeface="Arial" charset="0"/>
            </a:endParaRPr>
          </a:p>
          <a:p>
            <a:endParaRPr lang="en-US" dirty="0">
              <a:latin typeface="Arial" charset="0"/>
            </a:endParaRPr>
          </a:p>
          <a:p>
            <a:endParaRPr lang="en-US" dirty="0">
              <a:latin typeface="Arial"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359695487"/>
              </p:ext>
            </p:extLst>
          </p:nvPr>
        </p:nvGraphicFramePr>
        <p:xfrm>
          <a:off x="457200" y="3276600"/>
          <a:ext cx="4964112" cy="650875"/>
        </p:xfrm>
        <a:graphic>
          <a:graphicData uri="http://schemas.openxmlformats.org/presentationml/2006/ole">
            <mc:AlternateContent xmlns:mc="http://schemas.openxmlformats.org/markup-compatibility/2006">
              <mc:Choice xmlns:v="urn:schemas-microsoft-com:vml" Requires="v">
                <p:oleObj name="Equation" r:id="rId2" imgW="2616200" imgH="342900" progId="">
                  <p:embed/>
                </p:oleObj>
              </mc:Choice>
              <mc:Fallback>
                <p:oleObj name="Equation" r:id="rId2" imgW="2616200" imgH="342900" progId="">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276600"/>
                        <a:ext cx="4964112"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301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9363"/>
          <a:stretch/>
        </p:blipFill>
        <p:spPr bwMode="auto">
          <a:xfrm>
            <a:off x="1399055" y="3962400"/>
            <a:ext cx="5687545" cy="2831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7381556"/>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642938" y="214313"/>
            <a:ext cx="7315200" cy="1143000"/>
          </a:xfrm>
        </p:spPr>
        <p:txBody>
          <a:bodyPr>
            <a:normAutofit/>
          </a:bodyPr>
          <a:lstStyle/>
          <a:p>
            <a:r>
              <a:rPr lang="en-GB" sz="3200" dirty="0">
                <a:solidFill>
                  <a:srgbClr val="FF0000"/>
                </a:solidFill>
                <a:latin typeface="Arial" charset="0"/>
                <a:cs typeface="Arial" charset="0"/>
              </a:rPr>
              <a:t>The limited sampling bias</a:t>
            </a:r>
            <a:endParaRPr lang="en-US" sz="3200" dirty="0">
              <a:solidFill>
                <a:srgbClr val="FF0000"/>
              </a:solidFill>
              <a:latin typeface="Arial" charset="0"/>
              <a:cs typeface="Arial" charset="0"/>
            </a:endParaRPr>
          </a:p>
        </p:txBody>
      </p:sp>
      <p:sp>
        <p:nvSpPr>
          <p:cNvPr id="98307" name="Text Box 2"/>
          <p:cNvSpPr txBox="1">
            <a:spLocks noChangeArrowheads="1"/>
          </p:cNvSpPr>
          <p:nvPr/>
        </p:nvSpPr>
        <p:spPr bwMode="auto">
          <a:xfrm>
            <a:off x="76200" y="1214438"/>
            <a:ext cx="90678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400" dirty="0">
                <a:latin typeface="Arial" charset="0"/>
              </a:rPr>
              <a:t>The problem with the plug-in estimation is that these probabilities are not known but have to be measured experimentally from the available data. </a:t>
            </a:r>
          </a:p>
          <a:p>
            <a:endParaRPr lang="en-US" sz="1400" dirty="0">
              <a:latin typeface="Arial" charset="0"/>
            </a:endParaRPr>
          </a:p>
          <a:p>
            <a:r>
              <a:rPr lang="en-US" sz="1400" dirty="0">
                <a:latin typeface="Arial" charset="0"/>
              </a:rPr>
              <a:t>The estimated probabilities are subject to statistical error and necessarily fluctuate around their true values. The significance of these finite sampling fluctuations is that they lead to both systematic error (bias) and statistical error (variance) in estimates of entropies and information. These errors, particularly the bias, constitute the key practical problem in the use of information with neural data. </a:t>
            </a:r>
          </a:p>
          <a:p>
            <a:endParaRPr lang="en-US" sz="1400" dirty="0">
              <a:latin typeface="Arial" charset="0"/>
            </a:endParaRPr>
          </a:p>
          <a:p>
            <a:r>
              <a:rPr lang="en-US" sz="1400" dirty="0">
                <a:latin typeface="Arial" charset="0"/>
              </a:rPr>
              <a:t>If not corrected, bias can lead to serious misinterpretations of neural coding data.</a:t>
            </a:r>
          </a:p>
        </p:txBody>
      </p:sp>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350383"/>
            <a:ext cx="5981700" cy="3507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2"/>
          <p:cNvSpPr txBox="1">
            <a:spLocks noChangeArrowheads="1"/>
          </p:cNvSpPr>
          <p:nvPr/>
        </p:nvSpPr>
        <p:spPr bwMode="auto">
          <a:xfrm>
            <a:off x="5715000" y="4038600"/>
            <a:ext cx="326072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200" dirty="0" err="1">
                <a:latin typeface="Arial" charset="0"/>
              </a:rPr>
              <a:t>Panzeri</a:t>
            </a:r>
            <a:r>
              <a:rPr lang="en-US" sz="1200" dirty="0">
                <a:latin typeface="Arial" charset="0"/>
              </a:rPr>
              <a:t>, S., </a:t>
            </a:r>
            <a:r>
              <a:rPr lang="en-US" sz="1200" dirty="0" err="1">
                <a:latin typeface="Arial" charset="0"/>
              </a:rPr>
              <a:t>Senatore</a:t>
            </a:r>
            <a:r>
              <a:rPr lang="en-US" sz="1200" dirty="0">
                <a:latin typeface="Arial" charset="0"/>
              </a:rPr>
              <a:t>, R., </a:t>
            </a:r>
            <a:r>
              <a:rPr lang="en-US" sz="1200" dirty="0" err="1">
                <a:latin typeface="Arial" charset="0"/>
              </a:rPr>
              <a:t>Montemurro</a:t>
            </a:r>
            <a:r>
              <a:rPr lang="en-US" sz="1200" dirty="0">
                <a:latin typeface="Arial" charset="0"/>
              </a:rPr>
              <a:t>, M. A., and Petersen, R. S. (2007). Correcting for the sampling bias problem in spike train information measures. J </a:t>
            </a:r>
            <a:r>
              <a:rPr lang="en-US" sz="1200" dirty="0" err="1">
                <a:latin typeface="Arial" charset="0"/>
              </a:rPr>
              <a:t>Neurophysiol</a:t>
            </a:r>
            <a:r>
              <a:rPr lang="en-US" sz="1200" dirty="0">
                <a:latin typeface="Arial" charset="0"/>
              </a:rPr>
              <a:t> 98, 1064-1072.  Review paper</a:t>
            </a:r>
          </a:p>
          <a:p>
            <a:endParaRPr lang="cy-GB" sz="1200" dirty="0">
              <a:latin typeface="Arial" charset="0"/>
            </a:endParaRPr>
          </a:p>
          <a:p>
            <a:endParaRPr lang="en-US" sz="1200" dirty="0">
              <a:latin typeface="Arial" charset="0"/>
            </a:endParaRPr>
          </a:p>
          <a:p>
            <a:endParaRPr lang="en-US" sz="1200" dirty="0">
              <a:latin typeface="Arial" charset="0"/>
            </a:endParaRPr>
          </a:p>
          <a:p>
            <a:endParaRPr lang="en-US" sz="1200" dirty="0">
              <a:latin typeface="Arial" charset="0"/>
            </a:endParaRPr>
          </a:p>
          <a:p>
            <a:r>
              <a:rPr lang="en-US" sz="1200" dirty="0">
                <a:latin typeface="Arial" charset="0"/>
              </a:rPr>
              <a:t>S </a:t>
            </a:r>
            <a:r>
              <a:rPr lang="en-US" sz="1200" dirty="0" err="1">
                <a:latin typeface="Arial" charset="0"/>
              </a:rPr>
              <a:t>Panzeri</a:t>
            </a:r>
            <a:r>
              <a:rPr lang="en-US" sz="1200" dirty="0">
                <a:latin typeface="Arial" charset="0"/>
              </a:rPr>
              <a:t>, C </a:t>
            </a:r>
            <a:r>
              <a:rPr lang="en-US" sz="1200" dirty="0" err="1">
                <a:latin typeface="Arial" charset="0"/>
              </a:rPr>
              <a:t>Magri</a:t>
            </a:r>
            <a:r>
              <a:rPr lang="en-US" sz="1200" dirty="0">
                <a:latin typeface="Arial" charset="0"/>
              </a:rPr>
              <a:t>, L </a:t>
            </a:r>
            <a:r>
              <a:rPr lang="en-US" sz="1200" dirty="0" err="1">
                <a:latin typeface="Arial" charset="0"/>
              </a:rPr>
              <a:t>Carraro</a:t>
            </a:r>
            <a:r>
              <a:rPr lang="en-US" sz="1200" dirty="0">
                <a:latin typeface="Arial" charset="0"/>
              </a:rPr>
              <a:t> (2008) Sampling bias – </a:t>
            </a:r>
            <a:r>
              <a:rPr lang="en-US" sz="1200" dirty="0" err="1">
                <a:latin typeface="Arial" charset="0"/>
              </a:rPr>
              <a:t>Scholarpedia</a:t>
            </a:r>
            <a:r>
              <a:rPr lang="en-US" sz="1200" dirty="0">
                <a:latin typeface="Arial" charset="0"/>
              </a:rPr>
              <a:t> article (freely accessible)</a:t>
            </a:r>
          </a:p>
        </p:txBody>
      </p:sp>
      <p:sp>
        <p:nvSpPr>
          <p:cNvPr id="7" name="Rettangolo con angoli arrotondati 6">
            <a:extLst>
              <a:ext uri="{FF2B5EF4-FFF2-40B4-BE49-F238E27FC236}">
                <a16:creationId xmlns:a16="http://schemas.microsoft.com/office/drawing/2014/main" id="{7920C4EC-3B2C-4CEC-8E42-E370B6702E25}"/>
              </a:ext>
            </a:extLst>
          </p:cNvPr>
          <p:cNvSpPr/>
          <p:nvPr/>
        </p:nvSpPr>
        <p:spPr>
          <a:xfrm>
            <a:off x="7598098" y="3213900"/>
            <a:ext cx="720080" cy="72008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it-IT" sz="2800" dirty="0"/>
              <a:t>SR</a:t>
            </a:r>
          </a:p>
        </p:txBody>
      </p:sp>
    </p:spTree>
    <p:extLst>
      <p:ext uri="{BB962C8B-B14F-4D97-AF65-F5344CB8AC3E}">
        <p14:creationId xmlns:p14="http://schemas.microsoft.com/office/powerpoint/2010/main" val="2904825868"/>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642938" y="214313"/>
            <a:ext cx="7315200" cy="982439"/>
          </a:xfrm>
        </p:spPr>
        <p:txBody>
          <a:bodyPr>
            <a:normAutofit/>
          </a:bodyPr>
          <a:lstStyle/>
          <a:p>
            <a:r>
              <a:rPr lang="en-GB" sz="3200" dirty="0">
                <a:solidFill>
                  <a:srgbClr val="FF0000"/>
                </a:solidFill>
                <a:latin typeface="Arial" charset="0"/>
                <a:cs typeface="Arial" charset="0"/>
              </a:rPr>
              <a:t>Dimensionality curse</a:t>
            </a:r>
            <a:endParaRPr lang="en-US" sz="3200" dirty="0">
              <a:solidFill>
                <a:srgbClr val="FF0000"/>
              </a:solidFill>
              <a:latin typeface="Arial" charset="0"/>
              <a:cs typeface="Arial" charset="0"/>
            </a:endParaRPr>
          </a:p>
        </p:txBody>
      </p:sp>
      <p:graphicFrame>
        <p:nvGraphicFramePr>
          <p:cNvPr id="2" name="Tabella 1"/>
          <p:cNvGraphicFramePr>
            <a:graphicFrameLocks noGrp="1"/>
          </p:cNvGraphicFramePr>
          <p:nvPr>
            <p:extLst>
              <p:ext uri="{D42A27DB-BD31-4B8C-83A1-F6EECF244321}">
                <p14:modId xmlns:p14="http://schemas.microsoft.com/office/powerpoint/2010/main" val="3564132813"/>
              </p:ext>
            </p:extLst>
          </p:nvPr>
        </p:nvGraphicFramePr>
        <p:xfrm>
          <a:off x="539550" y="1397000"/>
          <a:ext cx="7992890" cy="1815976"/>
        </p:xfrm>
        <a:graphic>
          <a:graphicData uri="http://schemas.openxmlformats.org/drawingml/2006/table">
            <a:tbl>
              <a:tblPr firstRow="1" bandRow="1">
                <a:tableStyleId>{5C22544A-7EE6-4342-B048-85BDC9FD1C3A}</a:tableStyleId>
              </a:tblPr>
              <a:tblGrid>
                <a:gridCol w="799289">
                  <a:extLst>
                    <a:ext uri="{9D8B030D-6E8A-4147-A177-3AD203B41FA5}">
                      <a16:colId xmlns:a16="http://schemas.microsoft.com/office/drawing/2014/main" val="20000"/>
                    </a:ext>
                  </a:extLst>
                </a:gridCol>
                <a:gridCol w="799289">
                  <a:extLst>
                    <a:ext uri="{9D8B030D-6E8A-4147-A177-3AD203B41FA5}">
                      <a16:colId xmlns:a16="http://schemas.microsoft.com/office/drawing/2014/main" val="20001"/>
                    </a:ext>
                  </a:extLst>
                </a:gridCol>
                <a:gridCol w="799289">
                  <a:extLst>
                    <a:ext uri="{9D8B030D-6E8A-4147-A177-3AD203B41FA5}">
                      <a16:colId xmlns:a16="http://schemas.microsoft.com/office/drawing/2014/main" val="20002"/>
                    </a:ext>
                  </a:extLst>
                </a:gridCol>
                <a:gridCol w="799289">
                  <a:extLst>
                    <a:ext uri="{9D8B030D-6E8A-4147-A177-3AD203B41FA5}">
                      <a16:colId xmlns:a16="http://schemas.microsoft.com/office/drawing/2014/main" val="20003"/>
                    </a:ext>
                  </a:extLst>
                </a:gridCol>
                <a:gridCol w="799289">
                  <a:extLst>
                    <a:ext uri="{9D8B030D-6E8A-4147-A177-3AD203B41FA5}">
                      <a16:colId xmlns:a16="http://schemas.microsoft.com/office/drawing/2014/main" val="20004"/>
                    </a:ext>
                  </a:extLst>
                </a:gridCol>
                <a:gridCol w="799289">
                  <a:extLst>
                    <a:ext uri="{9D8B030D-6E8A-4147-A177-3AD203B41FA5}">
                      <a16:colId xmlns:a16="http://schemas.microsoft.com/office/drawing/2014/main" val="20005"/>
                    </a:ext>
                  </a:extLst>
                </a:gridCol>
                <a:gridCol w="799289">
                  <a:extLst>
                    <a:ext uri="{9D8B030D-6E8A-4147-A177-3AD203B41FA5}">
                      <a16:colId xmlns:a16="http://schemas.microsoft.com/office/drawing/2014/main" val="20006"/>
                    </a:ext>
                  </a:extLst>
                </a:gridCol>
                <a:gridCol w="799289">
                  <a:extLst>
                    <a:ext uri="{9D8B030D-6E8A-4147-A177-3AD203B41FA5}">
                      <a16:colId xmlns:a16="http://schemas.microsoft.com/office/drawing/2014/main" val="20007"/>
                    </a:ext>
                  </a:extLst>
                </a:gridCol>
                <a:gridCol w="799289">
                  <a:extLst>
                    <a:ext uri="{9D8B030D-6E8A-4147-A177-3AD203B41FA5}">
                      <a16:colId xmlns:a16="http://schemas.microsoft.com/office/drawing/2014/main" val="20008"/>
                    </a:ext>
                  </a:extLst>
                </a:gridCol>
                <a:gridCol w="799289">
                  <a:extLst>
                    <a:ext uri="{9D8B030D-6E8A-4147-A177-3AD203B41FA5}">
                      <a16:colId xmlns:a16="http://schemas.microsoft.com/office/drawing/2014/main" val="20009"/>
                    </a:ext>
                  </a:extLst>
                </a:gridCol>
              </a:tblGrid>
              <a:tr h="1815976">
                <a:tc>
                  <a:txBody>
                    <a:bodyPr/>
                    <a:lstStyle/>
                    <a:p>
                      <a:r>
                        <a:rPr lang="it-IT" sz="4400" dirty="0"/>
                        <a:t>0</a:t>
                      </a:r>
                    </a:p>
                  </a:txBody>
                  <a:tcPr/>
                </a:tc>
                <a:tc>
                  <a:txBody>
                    <a:bodyPr/>
                    <a:lstStyle/>
                    <a:p>
                      <a:r>
                        <a:rPr lang="it-IT" sz="4400" dirty="0"/>
                        <a:t>1</a:t>
                      </a:r>
                    </a:p>
                  </a:txBody>
                  <a:tcPr/>
                </a:tc>
                <a:tc>
                  <a:txBody>
                    <a:bodyPr/>
                    <a:lstStyle/>
                    <a:p>
                      <a:r>
                        <a:rPr lang="it-IT" sz="4400" dirty="0"/>
                        <a:t>1</a:t>
                      </a:r>
                    </a:p>
                  </a:txBody>
                  <a:tcPr/>
                </a:tc>
                <a:tc>
                  <a:txBody>
                    <a:bodyPr/>
                    <a:lstStyle/>
                    <a:p>
                      <a:r>
                        <a:rPr lang="it-IT" sz="4400" dirty="0"/>
                        <a:t>2</a:t>
                      </a:r>
                    </a:p>
                  </a:txBody>
                  <a:tcPr/>
                </a:tc>
                <a:tc>
                  <a:txBody>
                    <a:bodyPr/>
                    <a:lstStyle/>
                    <a:p>
                      <a:r>
                        <a:rPr lang="it-IT" sz="4400" dirty="0"/>
                        <a:t>1</a:t>
                      </a:r>
                    </a:p>
                  </a:txBody>
                  <a:tcPr/>
                </a:tc>
                <a:tc>
                  <a:txBody>
                    <a:bodyPr/>
                    <a:lstStyle/>
                    <a:p>
                      <a:r>
                        <a:rPr lang="it-IT" sz="4400" dirty="0"/>
                        <a:t>3</a:t>
                      </a:r>
                    </a:p>
                  </a:txBody>
                  <a:tcPr/>
                </a:tc>
                <a:tc>
                  <a:txBody>
                    <a:bodyPr/>
                    <a:lstStyle/>
                    <a:p>
                      <a:r>
                        <a:rPr lang="it-IT" sz="4400" dirty="0"/>
                        <a:t>6</a:t>
                      </a:r>
                    </a:p>
                  </a:txBody>
                  <a:tcPr/>
                </a:tc>
                <a:tc>
                  <a:txBody>
                    <a:bodyPr/>
                    <a:lstStyle/>
                    <a:p>
                      <a:r>
                        <a:rPr lang="it-IT" sz="4400" dirty="0"/>
                        <a:t>2</a:t>
                      </a:r>
                    </a:p>
                  </a:txBody>
                  <a:tcPr/>
                </a:tc>
                <a:tc>
                  <a:txBody>
                    <a:bodyPr/>
                    <a:lstStyle/>
                    <a:p>
                      <a:r>
                        <a:rPr lang="it-IT" sz="4400" dirty="0"/>
                        <a:t>4</a:t>
                      </a:r>
                    </a:p>
                  </a:txBody>
                  <a:tcPr/>
                </a:tc>
                <a:tc>
                  <a:txBody>
                    <a:bodyPr/>
                    <a:lstStyle/>
                    <a:p>
                      <a:r>
                        <a:rPr lang="it-IT" sz="4400" dirty="0"/>
                        <a:t>5</a:t>
                      </a:r>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3" name="CasellaDiTesto 2"/>
              <p:cNvSpPr txBox="1"/>
              <p:nvPr/>
            </p:nvSpPr>
            <p:spPr>
              <a:xfrm>
                <a:off x="1115616" y="3645024"/>
                <a:ext cx="6840760" cy="177298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it-IT" sz="3600" b="0" i="1" smtClean="0">
                          <a:latin typeface="Cambria Math"/>
                        </a:rPr>
                        <m:t>𝑁𝑢𝑚𝑏𝑒𝑟</m:t>
                      </m:r>
                      <m:r>
                        <a:rPr lang="it-IT" sz="3600" b="0" i="1" smtClean="0">
                          <a:latin typeface="Cambria Math"/>
                        </a:rPr>
                        <m:t> </m:t>
                      </m:r>
                      <m:r>
                        <a:rPr lang="it-IT" sz="3600" b="0" i="1" smtClean="0">
                          <a:latin typeface="Cambria Math"/>
                        </a:rPr>
                        <m:t>𝑜𝑓</m:t>
                      </m:r>
                      <m:r>
                        <a:rPr lang="it-IT" sz="3600" b="0" i="1" smtClean="0">
                          <a:latin typeface="Cambria Math"/>
                        </a:rPr>
                        <m:t> </m:t>
                      </m:r>
                      <m:r>
                        <a:rPr lang="it-IT" sz="3600" b="0" i="1" smtClean="0">
                          <a:latin typeface="Cambria Math"/>
                        </a:rPr>
                        <m:t>𝑝𝑜𝑠𝑠𝑖𝑏𝑙𝑒</m:t>
                      </m:r>
                      <m:r>
                        <a:rPr lang="it-IT" sz="3600" b="0" i="1" smtClean="0">
                          <a:latin typeface="Cambria Math"/>
                        </a:rPr>
                        <m:t> </m:t>
                      </m:r>
                      <m:r>
                        <a:rPr lang="it-IT" sz="3600" b="0" i="1" smtClean="0">
                          <a:latin typeface="Cambria Math"/>
                        </a:rPr>
                        <m:t>𝑟𝑒𝑠𝑝𝑜𝑛𝑠𝑒𝑠</m:t>
                      </m:r>
                    </m:oMath>
                  </m:oMathPara>
                </a14:m>
                <a:endParaRPr lang="it-IT" sz="3600" b="0" i="1" dirty="0">
                  <a:latin typeface="Cambria Math"/>
                </a:endParaRPr>
              </a:p>
              <a:p>
                <a:pPr algn="ctr"/>
                <a:r>
                  <a:rPr lang="it-IT" sz="3600" dirty="0"/>
                  <a:t>=</a:t>
                </a:r>
              </a:p>
              <a:p>
                <a:pPr algn="ctr"/>
                <a14:m>
                  <m:oMathPara xmlns:m="http://schemas.openxmlformats.org/officeDocument/2006/math">
                    <m:oMathParaPr>
                      <m:jc m:val="centerGroup"/>
                    </m:oMathParaPr>
                    <m:oMath xmlns:m="http://schemas.openxmlformats.org/officeDocument/2006/math">
                      <m:sSup>
                        <m:sSupPr>
                          <m:ctrlPr>
                            <a:rPr lang="it-IT" sz="3600" i="1" smtClean="0">
                              <a:latin typeface="Cambria Math" panose="02040503050406030204" pitchFamily="18" charset="0"/>
                            </a:rPr>
                          </m:ctrlPr>
                        </m:sSupPr>
                        <m:e>
                          <m:r>
                            <a:rPr lang="it-IT" sz="3600" b="0" i="1" smtClean="0">
                              <a:latin typeface="Cambria Math"/>
                            </a:rPr>
                            <m:t>[</m:t>
                          </m:r>
                          <m:r>
                            <a:rPr lang="it-IT" sz="3600" b="0" i="1" smtClean="0">
                              <a:latin typeface="Cambria Math"/>
                            </a:rPr>
                            <m:t>𝑁𝑢𝑚𝑏𝑒𝑟</m:t>
                          </m:r>
                          <m:r>
                            <a:rPr lang="it-IT" sz="3600" b="0" i="1" smtClean="0">
                              <a:latin typeface="Cambria Math"/>
                            </a:rPr>
                            <m:t> </m:t>
                          </m:r>
                          <m:r>
                            <a:rPr lang="it-IT" sz="3600" b="0" i="1" smtClean="0">
                              <a:latin typeface="Cambria Math"/>
                            </a:rPr>
                            <m:t>𝑜𝑓</m:t>
                          </m:r>
                          <m:r>
                            <a:rPr lang="it-IT" sz="3600" b="0" i="1" smtClean="0">
                              <a:latin typeface="Cambria Math"/>
                            </a:rPr>
                            <m:t> </m:t>
                          </m:r>
                          <m:r>
                            <a:rPr lang="it-IT" sz="3600" b="0" i="1" smtClean="0">
                              <a:latin typeface="Cambria Math"/>
                            </a:rPr>
                            <m:t>𝑠𝑦𝑚𝑏𝑜𝑙𝑠</m:t>
                          </m:r>
                          <m:r>
                            <a:rPr lang="it-IT" sz="3600" b="0" i="1" smtClean="0">
                              <a:latin typeface="Cambria Math"/>
                            </a:rPr>
                            <m:t>]</m:t>
                          </m:r>
                        </m:e>
                        <m:sup>
                          <m:r>
                            <a:rPr lang="it-IT" sz="3600" b="0" i="1" smtClean="0">
                              <a:latin typeface="Cambria Math"/>
                            </a:rPr>
                            <m:t>𝑁𝑢𝑚𝑏𝑒𝑟</m:t>
                          </m:r>
                          <m:r>
                            <a:rPr lang="it-IT" sz="3600" b="0" i="1" smtClean="0">
                              <a:latin typeface="Cambria Math"/>
                            </a:rPr>
                            <m:t> </m:t>
                          </m:r>
                          <m:r>
                            <a:rPr lang="it-IT" sz="3600" b="0" i="1" smtClean="0">
                              <a:latin typeface="Cambria Math"/>
                            </a:rPr>
                            <m:t>𝑜𝑓</m:t>
                          </m:r>
                          <m:r>
                            <a:rPr lang="it-IT" sz="3600" b="0" i="1" smtClean="0">
                              <a:latin typeface="Cambria Math"/>
                            </a:rPr>
                            <m:t> </m:t>
                          </m:r>
                          <m:r>
                            <a:rPr lang="it-IT" sz="3600" b="0" i="1" smtClean="0">
                              <a:latin typeface="Cambria Math"/>
                            </a:rPr>
                            <m:t>𝑏𝑖𝑛𝑠</m:t>
                          </m:r>
                        </m:sup>
                      </m:sSup>
                    </m:oMath>
                  </m:oMathPara>
                </a14:m>
                <a:endParaRPr lang="it-IT" sz="3600" dirty="0"/>
              </a:p>
            </p:txBody>
          </p:sp>
        </mc:Choice>
        <mc:Fallback xmlns="">
          <p:sp>
            <p:nvSpPr>
              <p:cNvPr id="3" name="CasellaDiTesto 2"/>
              <p:cNvSpPr txBox="1">
                <a:spLocks noRot="1" noChangeAspect="1" noMove="1" noResize="1" noEditPoints="1" noAdjustHandles="1" noChangeArrowheads="1" noChangeShapeType="1" noTextEdit="1"/>
              </p:cNvSpPr>
              <p:nvPr/>
            </p:nvSpPr>
            <p:spPr>
              <a:xfrm>
                <a:off x="1115616" y="3645024"/>
                <a:ext cx="6840760" cy="1772986"/>
              </a:xfrm>
              <a:prstGeom prst="rect">
                <a:avLst/>
              </a:prstGeom>
              <a:blipFill rotWithShape="1">
                <a:blip r:embed="rId2"/>
                <a:stretch>
                  <a:fillRect l="-1515" r="-267"/>
                </a:stretch>
              </a:blipFill>
            </p:spPr>
            <p:txBody>
              <a:bodyPr/>
              <a:lstStyle/>
              <a:p>
                <a:r>
                  <a:rPr lang="it-IT">
                    <a:noFill/>
                  </a:rPr>
                  <a:t> </a:t>
                </a:r>
              </a:p>
            </p:txBody>
          </p:sp>
        </mc:Fallback>
      </mc:AlternateContent>
    </p:spTree>
    <p:extLst>
      <p:ext uri="{BB962C8B-B14F-4D97-AF65-F5344CB8AC3E}">
        <p14:creationId xmlns:p14="http://schemas.microsoft.com/office/powerpoint/2010/main" val="588393153"/>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kern="0" dirty="0">
                <a:solidFill>
                  <a:srgbClr val="FF0000"/>
                </a:solidFill>
              </a:rPr>
              <a:t>Statistics of information values:</a:t>
            </a:r>
            <a:br>
              <a:rPr lang="en-GB" sz="3200" kern="0" dirty="0">
                <a:solidFill>
                  <a:srgbClr val="FF0000"/>
                </a:solidFill>
              </a:rPr>
            </a:br>
            <a:r>
              <a:rPr lang="en-GB" sz="3200" kern="0" dirty="0">
                <a:solidFill>
                  <a:srgbClr val="FF0000"/>
                </a:solidFill>
              </a:rPr>
              <a:t> bias and variance due to limited sampling</a:t>
            </a:r>
            <a:endParaRPr lang="en-US" sz="3200"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75" y="1676400"/>
            <a:ext cx="7512050" cy="313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a:spLocks noChangeArrowheads="1"/>
          </p:cNvSpPr>
          <p:nvPr/>
        </p:nvSpPr>
        <p:spPr bwMode="auto">
          <a:xfrm>
            <a:off x="5486400" y="6256228"/>
            <a:ext cx="3429000" cy="465029"/>
          </a:xfrm>
          <a:prstGeom prst="rect">
            <a:avLst/>
          </a:prstGeom>
          <a:noFill/>
          <a:ln w="9525">
            <a:noFill/>
            <a:miter lim="800000"/>
            <a:headEnd/>
            <a:tailEnd/>
          </a:ln>
        </p:spPr>
        <p:txBody>
          <a:bodyPr wrap="square" lIns="64291" tIns="32146" rIns="64291" bIns="32146">
            <a:spAutoFit/>
          </a:bodyPr>
          <a:lstStyle/>
          <a:p>
            <a:r>
              <a:rPr lang="it-IT" sz="1300" dirty="0">
                <a:latin typeface="+mj-lt"/>
                <a:cs typeface="Arial" pitchFamily="34" charset="0"/>
              </a:rPr>
              <a:t>Ince et al  (2010) Frontiers Neurosci</a:t>
            </a:r>
          </a:p>
          <a:p>
            <a:r>
              <a:rPr lang="it-IT" sz="1300" dirty="0">
                <a:latin typeface="+mj-lt"/>
                <a:cs typeface="Arial" pitchFamily="34" charset="0"/>
              </a:rPr>
              <a:t>Panzeri et al (2007) J Neurophysiol</a:t>
            </a:r>
          </a:p>
        </p:txBody>
      </p:sp>
      <p:sp>
        <p:nvSpPr>
          <p:cNvPr id="5" name="Text Box 4"/>
          <p:cNvSpPr txBox="1">
            <a:spLocks noChangeArrowheads="1"/>
          </p:cNvSpPr>
          <p:nvPr/>
        </p:nvSpPr>
        <p:spPr bwMode="auto">
          <a:xfrm>
            <a:off x="437833" y="5274707"/>
            <a:ext cx="8012112"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dirty="0">
                <a:latin typeface="Arial" charset="0"/>
                <a:cs typeface="Arial" charset="0"/>
              </a:rPr>
              <a:t>The bias of a given functional F of a  probability distribution P is defined as the difference between the trial-averaged value of F when the probability distributions are computed from </a:t>
            </a:r>
            <a:r>
              <a:rPr lang="en-US" sz="1600" i="1" dirty="0">
                <a:latin typeface="Arial" charset="0"/>
                <a:cs typeface="Arial" charset="0"/>
              </a:rPr>
              <a:t>N </a:t>
            </a:r>
            <a:r>
              <a:rPr lang="en-US" sz="1600" dirty="0">
                <a:latin typeface="Arial" charset="0"/>
                <a:cs typeface="Arial" charset="0"/>
              </a:rPr>
              <a:t>trials only and the value of F computed with the true probability distributions (obtained from infinite number of trials).</a:t>
            </a:r>
          </a:p>
          <a:p>
            <a:endParaRPr lang="en-US" dirty="0"/>
          </a:p>
        </p:txBody>
      </p:sp>
      <p:sp>
        <p:nvSpPr>
          <p:cNvPr id="6" name="TextBox 3">
            <a:extLst>
              <a:ext uri="{FF2B5EF4-FFF2-40B4-BE49-F238E27FC236}">
                <a16:creationId xmlns:a16="http://schemas.microsoft.com/office/drawing/2014/main" id="{C2ACB8F7-6C6E-498E-9B88-54AD052EA62F}"/>
              </a:ext>
            </a:extLst>
          </p:cNvPr>
          <p:cNvSpPr txBox="1">
            <a:spLocks noChangeArrowheads="1"/>
          </p:cNvSpPr>
          <p:nvPr/>
        </p:nvSpPr>
        <p:spPr bwMode="auto">
          <a:xfrm>
            <a:off x="5486400" y="6256228"/>
            <a:ext cx="3429000" cy="465029"/>
          </a:xfrm>
          <a:prstGeom prst="rect">
            <a:avLst/>
          </a:prstGeom>
          <a:noFill/>
          <a:ln w="9525">
            <a:noFill/>
            <a:miter lim="800000"/>
            <a:headEnd/>
            <a:tailEnd/>
          </a:ln>
        </p:spPr>
        <p:txBody>
          <a:bodyPr wrap="square" lIns="64291" tIns="32146" rIns="64291" bIns="32146">
            <a:spAutoFit/>
          </a:bodyPr>
          <a:lstStyle/>
          <a:p>
            <a:r>
              <a:rPr lang="it-IT" sz="1300" dirty="0">
                <a:latin typeface="+mj-lt"/>
                <a:cs typeface="Arial" pitchFamily="34" charset="0"/>
              </a:rPr>
              <a:t>Ince et al  (2010) Frontiers Neurosci</a:t>
            </a:r>
          </a:p>
          <a:p>
            <a:r>
              <a:rPr lang="it-IT" sz="1300" dirty="0">
                <a:latin typeface="+mj-lt"/>
                <a:cs typeface="Arial" pitchFamily="34" charset="0"/>
              </a:rPr>
              <a:t>Panzeri et al (2007) J Neurophysiol</a:t>
            </a:r>
          </a:p>
        </p:txBody>
      </p:sp>
      <p:sp>
        <p:nvSpPr>
          <p:cNvPr id="7" name="Rettangolo con angoli arrotondati 6">
            <a:extLst>
              <a:ext uri="{FF2B5EF4-FFF2-40B4-BE49-F238E27FC236}">
                <a16:creationId xmlns:a16="http://schemas.microsoft.com/office/drawing/2014/main" id="{329B5C99-0175-4331-8566-1333856CF765}"/>
              </a:ext>
            </a:extLst>
          </p:cNvPr>
          <p:cNvSpPr/>
          <p:nvPr/>
        </p:nvSpPr>
        <p:spPr>
          <a:xfrm>
            <a:off x="8195320" y="5997982"/>
            <a:ext cx="720080" cy="72008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it-IT" sz="2800" dirty="0"/>
              <a:t>SR</a:t>
            </a:r>
          </a:p>
        </p:txBody>
      </p:sp>
    </p:spTree>
    <p:extLst>
      <p:ext uri="{BB962C8B-B14F-4D97-AF65-F5344CB8AC3E}">
        <p14:creationId xmlns:p14="http://schemas.microsoft.com/office/powerpoint/2010/main" val="1697549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ChangeArrowheads="1"/>
          </p:cNvSpPr>
          <p:nvPr>
            <p:ph type="title" idx="4294967295"/>
          </p:nvPr>
        </p:nvSpPr>
        <p:spPr>
          <a:xfrm>
            <a:off x="0" y="0"/>
            <a:ext cx="9001125" cy="928688"/>
          </a:xfrm>
        </p:spPr>
        <p:txBody>
          <a:bodyPr/>
          <a:lstStyle/>
          <a:p>
            <a:r>
              <a:rPr lang="en-US" sz="3200" dirty="0">
                <a:solidFill>
                  <a:srgbClr val="FF0000"/>
                </a:solidFill>
                <a:latin typeface="Arial" charset="0"/>
                <a:cs typeface="Arial" charset="0"/>
              </a:rPr>
              <a:t>The limited sampling bias</a:t>
            </a:r>
          </a:p>
        </p:txBody>
      </p:sp>
      <p:pic>
        <p:nvPicPr>
          <p:cNvPr id="10035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731838"/>
            <a:ext cx="7000875" cy="518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5" name="CasellaDiTesto 33"/>
          <p:cNvSpPr txBox="1">
            <a:spLocks noChangeArrowheads="1"/>
          </p:cNvSpPr>
          <p:nvPr/>
        </p:nvSpPr>
        <p:spPr bwMode="auto">
          <a:xfrm>
            <a:off x="3143250" y="1344613"/>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a:latin typeface="Helvetica" pitchFamily="34" charset="0"/>
              </a:rPr>
              <a:t>1</a:t>
            </a:r>
          </a:p>
        </p:txBody>
      </p:sp>
      <p:sp>
        <p:nvSpPr>
          <p:cNvPr id="100356" name="CasellaDiTesto 34"/>
          <p:cNvSpPr txBox="1">
            <a:spLocks noChangeArrowheads="1"/>
          </p:cNvSpPr>
          <p:nvPr/>
        </p:nvSpPr>
        <p:spPr bwMode="auto">
          <a:xfrm>
            <a:off x="4929188" y="13573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a:latin typeface="Helvetica" pitchFamily="34" charset="0"/>
              </a:rPr>
              <a:t>2</a:t>
            </a:r>
          </a:p>
        </p:txBody>
      </p:sp>
    </p:spTree>
    <p:extLst>
      <p:ext uri="{BB962C8B-B14F-4D97-AF65-F5344CB8AC3E}">
        <p14:creationId xmlns:p14="http://schemas.microsoft.com/office/powerpoint/2010/main" val="291792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750888"/>
            <a:ext cx="6786563"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2" name="Rectangle 2"/>
          <p:cNvSpPr>
            <a:spLocks noGrp="1" noChangeArrowheads="1"/>
          </p:cNvSpPr>
          <p:nvPr>
            <p:ph type="title" idx="4294967295"/>
          </p:nvPr>
        </p:nvSpPr>
        <p:spPr>
          <a:xfrm>
            <a:off x="0" y="0"/>
            <a:ext cx="9001125" cy="928688"/>
          </a:xfrm>
        </p:spPr>
        <p:txBody>
          <a:bodyPr/>
          <a:lstStyle/>
          <a:p>
            <a:r>
              <a:rPr lang="en-US" sz="3200" dirty="0">
                <a:solidFill>
                  <a:srgbClr val="FF0000"/>
                </a:solidFill>
                <a:latin typeface="Arial" charset="0"/>
                <a:cs typeface="Arial" charset="0"/>
              </a:rPr>
              <a:t>The limited sampling bias</a:t>
            </a:r>
          </a:p>
        </p:txBody>
      </p:sp>
      <p:sp>
        <p:nvSpPr>
          <p:cNvPr id="102403" name="CasellaDiTesto 33"/>
          <p:cNvSpPr txBox="1">
            <a:spLocks noChangeArrowheads="1"/>
          </p:cNvSpPr>
          <p:nvPr/>
        </p:nvSpPr>
        <p:spPr bwMode="auto">
          <a:xfrm>
            <a:off x="3143250" y="128587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a:latin typeface="Helvetica" pitchFamily="34" charset="0"/>
              </a:rPr>
              <a:t>1</a:t>
            </a:r>
          </a:p>
        </p:txBody>
      </p:sp>
      <p:sp>
        <p:nvSpPr>
          <p:cNvPr id="102404" name="CasellaDiTesto 34"/>
          <p:cNvSpPr txBox="1">
            <a:spLocks noChangeArrowheads="1"/>
          </p:cNvSpPr>
          <p:nvPr/>
        </p:nvSpPr>
        <p:spPr bwMode="auto">
          <a:xfrm>
            <a:off x="4786313" y="1285875"/>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a:latin typeface="Helvetica" pitchFamily="34" charset="0"/>
              </a:rPr>
              <a:t>2</a:t>
            </a:r>
          </a:p>
        </p:txBody>
      </p:sp>
    </p:spTree>
    <p:extLst>
      <p:ext uri="{BB962C8B-B14F-4D97-AF65-F5344CB8AC3E}">
        <p14:creationId xmlns:p14="http://schemas.microsoft.com/office/powerpoint/2010/main" val="108065205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ext Box 4"/>
          <p:cNvSpPr txBox="1">
            <a:spLocks noChangeArrowheads="1"/>
          </p:cNvSpPr>
          <p:nvPr/>
        </p:nvSpPr>
        <p:spPr bwMode="auto">
          <a:xfrm>
            <a:off x="447675" y="327025"/>
            <a:ext cx="79961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cy-GB" sz="3200" dirty="0">
                <a:solidFill>
                  <a:srgbClr val="FF0000"/>
                </a:solidFill>
                <a:latin typeface="Arial" pitchFamily="34" charset="0"/>
                <a:cs typeface="Arial" pitchFamily="34" charset="0"/>
              </a:rPr>
              <a:t>Procedures to alleviate – eliminate the bias</a:t>
            </a:r>
            <a:endParaRPr lang="en-US" sz="3200" dirty="0">
              <a:solidFill>
                <a:srgbClr val="FF0000"/>
              </a:solidFill>
              <a:latin typeface="Arial" pitchFamily="34" charset="0"/>
              <a:cs typeface="Arial" pitchFamily="34" charset="0"/>
            </a:endParaRPr>
          </a:p>
        </p:txBody>
      </p:sp>
      <p:sp>
        <p:nvSpPr>
          <p:cNvPr id="113666" name="Text Box 5"/>
          <p:cNvSpPr txBox="1">
            <a:spLocks noChangeArrowheads="1"/>
          </p:cNvSpPr>
          <p:nvPr/>
        </p:nvSpPr>
        <p:spPr bwMode="auto">
          <a:xfrm>
            <a:off x="304800" y="1752600"/>
            <a:ext cx="7280275"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457200" indent="-457200">
              <a:buFont typeface="Arial" pitchFamily="34" charset="0"/>
              <a:buChar char="•"/>
            </a:pPr>
            <a:r>
              <a:rPr lang="cy-GB" sz="2800" dirty="0"/>
              <a:t>Bootstrapping </a:t>
            </a:r>
          </a:p>
          <a:p>
            <a:r>
              <a:rPr lang="cy-GB" sz="2800" dirty="0"/>
              <a:t>     and subtracting</a:t>
            </a:r>
          </a:p>
          <a:p>
            <a:pPr marL="457200" indent="-457200">
              <a:buFont typeface="Arial" pitchFamily="34" charset="0"/>
              <a:buChar char="•"/>
            </a:pPr>
            <a:endParaRPr lang="cy-GB" sz="2800" dirty="0"/>
          </a:p>
          <a:p>
            <a:pPr marL="457200" indent="-457200">
              <a:buFont typeface="Arial" pitchFamily="34" charset="0"/>
              <a:buChar char="•"/>
            </a:pPr>
            <a:r>
              <a:rPr lang="cy-GB" sz="2800" dirty="0"/>
              <a:t>Quadratic Extrapolation</a:t>
            </a:r>
          </a:p>
          <a:p>
            <a:pPr marL="457200" indent="-457200">
              <a:buFont typeface="Arial" pitchFamily="34" charset="0"/>
              <a:buChar char="•"/>
            </a:pPr>
            <a:endParaRPr lang="cy-GB" sz="2800" dirty="0"/>
          </a:p>
          <a:p>
            <a:pPr marL="457200" indent="-457200">
              <a:buFont typeface="Arial" pitchFamily="34" charset="0"/>
              <a:buChar char="•"/>
            </a:pPr>
            <a:r>
              <a:rPr lang="cy-GB" sz="2800" dirty="0"/>
              <a:t>Panzeri Treves correction </a:t>
            </a:r>
          </a:p>
          <a:p>
            <a:pPr marL="457200" indent="-457200">
              <a:buFont typeface="Arial" pitchFamily="34" charset="0"/>
              <a:buChar char="•"/>
            </a:pPr>
            <a:endParaRPr lang="cy-GB" sz="2800" dirty="0"/>
          </a:p>
          <a:p>
            <a:pPr marL="457200" indent="-457200">
              <a:buFont typeface="Arial" pitchFamily="34" charset="0"/>
              <a:buChar char="•"/>
            </a:pPr>
            <a:r>
              <a:rPr lang="cy-GB" sz="2800" dirty="0"/>
              <a:t>Shuffling </a:t>
            </a:r>
          </a:p>
          <a:p>
            <a:r>
              <a:rPr lang="cy-GB" sz="2800" dirty="0"/>
              <a:t>     (for 2 dimensions or more)</a:t>
            </a:r>
            <a:endParaRPr lang="en-US" sz="2800" dirty="0"/>
          </a:p>
        </p:txBody>
      </p:sp>
      <p:pic>
        <p:nvPicPr>
          <p:cNvPr id="471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678" r="27539"/>
          <a:stretch/>
        </p:blipFill>
        <p:spPr bwMode="auto">
          <a:xfrm>
            <a:off x="5060321" y="1743521"/>
            <a:ext cx="3949312" cy="3514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ttangolo con angoli arrotondati 4">
            <a:extLst>
              <a:ext uri="{FF2B5EF4-FFF2-40B4-BE49-F238E27FC236}">
                <a16:creationId xmlns:a16="http://schemas.microsoft.com/office/drawing/2014/main" id="{73E6A08E-40B1-4652-A105-E4CE754AD464}"/>
              </a:ext>
            </a:extLst>
          </p:cNvPr>
          <p:cNvSpPr/>
          <p:nvPr/>
        </p:nvSpPr>
        <p:spPr>
          <a:xfrm>
            <a:off x="1690011" y="5728073"/>
            <a:ext cx="720080" cy="72008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it-IT" sz="2800" dirty="0"/>
              <a:t>SR</a:t>
            </a:r>
          </a:p>
        </p:txBody>
      </p:sp>
      <p:sp>
        <p:nvSpPr>
          <p:cNvPr id="6" name="Text Box 5">
            <a:extLst>
              <a:ext uri="{FF2B5EF4-FFF2-40B4-BE49-F238E27FC236}">
                <a16:creationId xmlns:a16="http://schemas.microsoft.com/office/drawing/2014/main" id="{641B339F-CE35-49DF-8702-0AA8E4A04505}"/>
              </a:ext>
            </a:extLst>
          </p:cNvPr>
          <p:cNvSpPr txBox="1">
            <a:spLocks noChangeArrowheads="1"/>
          </p:cNvSpPr>
          <p:nvPr/>
        </p:nvSpPr>
        <p:spPr bwMode="auto">
          <a:xfrm>
            <a:off x="2699792" y="5913934"/>
            <a:ext cx="41857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1800" dirty="0">
                <a:latin typeface="Arial" charset="0"/>
                <a:cs typeface="Arial" charset="0"/>
              </a:rPr>
              <a:t>C Magri et al 2009  BMC Neuroscience</a:t>
            </a:r>
            <a:endParaRPr lang="en-US" sz="1800" dirty="0">
              <a:latin typeface="Arial" charset="0"/>
              <a:cs typeface="Arial" charset="0"/>
            </a:endParaRPr>
          </a:p>
        </p:txBody>
      </p:sp>
    </p:spTree>
    <p:extLst>
      <p:ext uri="{BB962C8B-B14F-4D97-AF65-F5344CB8AC3E}">
        <p14:creationId xmlns:p14="http://schemas.microsoft.com/office/powerpoint/2010/main" val="2652350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Text Box 2"/>
          <p:cNvSpPr txBox="1">
            <a:spLocks noChangeArrowheads="1"/>
          </p:cNvSpPr>
          <p:nvPr/>
        </p:nvSpPr>
        <p:spPr bwMode="auto">
          <a:xfrm>
            <a:off x="357188" y="3286125"/>
            <a:ext cx="850106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atin typeface="Arial" charset="0"/>
                <a:cs typeface="Arial" charset="0"/>
              </a:rPr>
              <a:t>This expansion converges only if N is large (large enough that each response with non-zero probability is observed several times)</a:t>
            </a:r>
          </a:p>
          <a:p>
            <a:endParaRPr lang="cy-GB">
              <a:latin typeface="Arial" charset="0"/>
              <a:cs typeface="Arial" charset="0"/>
            </a:endParaRPr>
          </a:p>
          <a:p>
            <a:r>
              <a:rPr lang="cy-GB">
                <a:latin typeface="Arial" charset="0"/>
                <a:cs typeface="Arial" charset="0"/>
              </a:rPr>
              <a:t>Note: All coefficients are  non-negative</a:t>
            </a:r>
            <a:endParaRPr lang="en-US">
              <a:latin typeface="Arial" charset="0"/>
              <a:cs typeface="Arial" charset="0"/>
            </a:endParaRPr>
          </a:p>
        </p:txBody>
      </p:sp>
      <p:sp>
        <p:nvSpPr>
          <p:cNvPr id="68612" name="Text Box 3"/>
          <p:cNvSpPr txBox="1">
            <a:spLocks noChangeArrowheads="1"/>
          </p:cNvSpPr>
          <p:nvPr/>
        </p:nvSpPr>
        <p:spPr bwMode="auto">
          <a:xfrm>
            <a:off x="250825" y="260350"/>
            <a:ext cx="8383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3200" dirty="0">
                <a:solidFill>
                  <a:srgbClr val="FF0000"/>
                </a:solidFill>
                <a:latin typeface="Arial" charset="0"/>
                <a:cs typeface="Arial" charset="0"/>
              </a:rPr>
              <a:t>The Information Bias – Asymptotic expansion</a:t>
            </a:r>
            <a:endParaRPr lang="en-US" sz="3200" dirty="0">
              <a:solidFill>
                <a:srgbClr val="FF0000"/>
              </a:solidFill>
              <a:latin typeface="Arial" charset="0"/>
              <a:cs typeface="Arial" charset="0"/>
            </a:endParaRPr>
          </a:p>
        </p:txBody>
      </p:sp>
      <p:graphicFrame>
        <p:nvGraphicFramePr>
          <p:cNvPr id="68610" name="Object 2"/>
          <p:cNvGraphicFramePr>
            <a:graphicFrameLocks noChangeAspect="1"/>
          </p:cNvGraphicFramePr>
          <p:nvPr>
            <p:extLst>
              <p:ext uri="{D42A27DB-BD31-4B8C-83A1-F6EECF244321}">
                <p14:modId xmlns:p14="http://schemas.microsoft.com/office/powerpoint/2010/main" val="3814666939"/>
              </p:ext>
            </p:extLst>
          </p:nvPr>
        </p:nvGraphicFramePr>
        <p:xfrm>
          <a:off x="357188" y="1524000"/>
          <a:ext cx="8764587" cy="954919"/>
        </p:xfrm>
        <a:graphic>
          <a:graphicData uri="http://schemas.openxmlformats.org/presentationml/2006/ole">
            <mc:AlternateContent xmlns:mc="http://schemas.openxmlformats.org/markup-compatibility/2006">
              <mc:Choice xmlns:v="urn:schemas-microsoft-com:vml" Requires="v">
                <p:oleObj name="Equation" r:id="rId2" imgW="2755800" imgH="393480" progId="">
                  <p:embed/>
                </p:oleObj>
              </mc:Choice>
              <mc:Fallback>
                <p:oleObj name="Equation" r:id="rId2" imgW="2755800" imgH="393480" progId="">
                  <p:embed/>
                  <p:pic>
                    <p:nvPicPr>
                      <p:cNvPr id="6861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524000"/>
                        <a:ext cx="8764587" cy="9549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13" name="Text Box 5"/>
          <p:cNvSpPr txBox="1">
            <a:spLocks noChangeArrowheads="1"/>
          </p:cNvSpPr>
          <p:nvPr/>
        </p:nvSpPr>
        <p:spPr bwMode="auto">
          <a:xfrm>
            <a:off x="5715000" y="5380038"/>
            <a:ext cx="3494088"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1800">
                <a:latin typeface="Arial" charset="0"/>
                <a:cs typeface="Arial" charset="0"/>
              </a:rPr>
              <a:t>Miller, 1955</a:t>
            </a:r>
          </a:p>
          <a:p>
            <a:r>
              <a:rPr lang="cy-GB" sz="1800">
                <a:latin typeface="Arial" charset="0"/>
                <a:cs typeface="Arial" charset="0"/>
              </a:rPr>
              <a:t>Treves &amp; Panzeri 1995</a:t>
            </a:r>
          </a:p>
          <a:p>
            <a:r>
              <a:rPr lang="cy-GB" sz="1800">
                <a:latin typeface="Arial" charset="0"/>
                <a:cs typeface="Arial" charset="0"/>
              </a:rPr>
              <a:t>Panzeri &amp; Treves, Network 1996</a:t>
            </a:r>
          </a:p>
          <a:p>
            <a:r>
              <a:rPr lang="cy-GB" sz="1800">
                <a:latin typeface="Arial" charset="0"/>
                <a:cs typeface="Arial" charset="0"/>
              </a:rPr>
              <a:t>Victor, Neur. Comp. 2000</a:t>
            </a:r>
          </a:p>
          <a:p>
            <a:r>
              <a:rPr lang="cy-GB" sz="1800">
                <a:latin typeface="Arial" charset="0"/>
                <a:cs typeface="Arial" charset="0"/>
              </a:rPr>
              <a:t>Paninski, Neur.  Comp. 2003</a:t>
            </a:r>
            <a:endParaRPr lang="en-US" sz="1800">
              <a:latin typeface="Arial" charset="0"/>
              <a:cs typeface="Arial" charset="0"/>
            </a:endParaRPr>
          </a:p>
        </p:txBody>
      </p:sp>
    </p:spTree>
    <p:extLst>
      <p:ext uri="{BB962C8B-B14F-4D97-AF65-F5344CB8AC3E}">
        <p14:creationId xmlns:p14="http://schemas.microsoft.com/office/powerpoint/2010/main" val="314337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2"/>
          <p:cNvSpPr txBox="1">
            <a:spLocks noChangeArrowheads="1"/>
          </p:cNvSpPr>
          <p:nvPr/>
        </p:nvSpPr>
        <p:spPr bwMode="auto">
          <a:xfrm>
            <a:off x="395288" y="3284538"/>
            <a:ext cx="8012112"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t>-) Collect N data </a:t>
            </a:r>
          </a:p>
          <a:p>
            <a:r>
              <a:rPr lang="en-US" dirty="0"/>
              <a:t>-) Divide then into blocks of N/2 , N/4 …</a:t>
            </a:r>
          </a:p>
          <a:p>
            <a:r>
              <a:rPr lang="cy-GB" dirty="0"/>
              <a:t>-) Compute average information for N , N/2 , N/4 ... Data and fit the dependence of I on N  to the above  quadratic expression</a:t>
            </a:r>
          </a:p>
          <a:p>
            <a:r>
              <a:rPr lang="cy-GB" dirty="0"/>
              <a:t>-) Estimate the true (N=</a:t>
            </a:r>
            <a:r>
              <a:rPr lang="cy-GB" dirty="0">
                <a:cs typeface="Times New Roman" pitchFamily="18" charset="0"/>
              </a:rPr>
              <a:t>∞) value from the best-fit expression</a:t>
            </a:r>
          </a:p>
        </p:txBody>
      </p:sp>
      <p:sp>
        <p:nvSpPr>
          <p:cNvPr id="71684" name="Text Box 3"/>
          <p:cNvSpPr txBox="1">
            <a:spLocks noChangeArrowheads="1"/>
          </p:cNvSpPr>
          <p:nvPr/>
        </p:nvSpPr>
        <p:spPr bwMode="auto">
          <a:xfrm>
            <a:off x="463550" y="260350"/>
            <a:ext cx="528542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3200" dirty="0">
                <a:solidFill>
                  <a:srgbClr val="FF0000"/>
                </a:solidFill>
                <a:latin typeface="Arial" pitchFamily="34" charset="0"/>
                <a:cs typeface="Arial" pitchFamily="34" charset="0"/>
              </a:rPr>
              <a:t>The Quadratic Extrapolation</a:t>
            </a:r>
            <a:endParaRPr lang="en-US" sz="3200" dirty="0">
              <a:solidFill>
                <a:srgbClr val="FF0000"/>
              </a:solidFill>
              <a:latin typeface="Arial" pitchFamily="34" charset="0"/>
              <a:cs typeface="Arial" pitchFamily="34" charset="0"/>
            </a:endParaRPr>
          </a:p>
        </p:txBody>
      </p:sp>
      <p:graphicFrame>
        <p:nvGraphicFramePr>
          <p:cNvPr id="71682" name="Object 2"/>
          <p:cNvGraphicFramePr>
            <a:graphicFrameLocks noChangeAspect="1"/>
          </p:cNvGraphicFramePr>
          <p:nvPr>
            <p:extLst>
              <p:ext uri="{D42A27DB-BD31-4B8C-83A1-F6EECF244321}">
                <p14:modId xmlns:p14="http://schemas.microsoft.com/office/powerpoint/2010/main" val="3206051167"/>
              </p:ext>
            </p:extLst>
          </p:nvPr>
        </p:nvGraphicFramePr>
        <p:xfrm>
          <a:off x="781050" y="1327150"/>
          <a:ext cx="5091691" cy="1263650"/>
        </p:xfrm>
        <a:graphic>
          <a:graphicData uri="http://schemas.openxmlformats.org/presentationml/2006/ole">
            <mc:AlternateContent xmlns:mc="http://schemas.openxmlformats.org/markup-compatibility/2006">
              <mc:Choice xmlns:v="urn:schemas-microsoft-com:vml" Requires="v">
                <p:oleObj name="Equation" r:id="rId2" imgW="1586811" imgH="393529" progId="Equation.3">
                  <p:embed/>
                </p:oleObj>
              </mc:Choice>
              <mc:Fallback>
                <p:oleObj name="Equation" r:id="rId2" imgW="1586811" imgH="393529" progId="Equation.3">
                  <p:embed/>
                  <p:pic>
                    <p:nvPicPr>
                      <p:cNvPr id="7168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50" y="1327150"/>
                        <a:ext cx="5091691" cy="126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30658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ext Box 2"/>
          <p:cNvSpPr txBox="1">
            <a:spLocks noChangeArrowheads="1"/>
          </p:cNvSpPr>
          <p:nvPr/>
        </p:nvSpPr>
        <p:spPr bwMode="auto">
          <a:xfrm>
            <a:off x="152400" y="1484313"/>
            <a:ext cx="8763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latin typeface="Arial" charset="0"/>
                <a:cs typeface="Arial" charset="0"/>
              </a:rPr>
              <a:t>One way to estimate the bias is to randomly “bootstrap” stimulus-response data pairs. The resulting information </a:t>
            </a:r>
            <a:r>
              <a:rPr lang="en-US" dirty="0" err="1">
                <a:latin typeface="Arial" charset="0"/>
                <a:cs typeface="Arial" charset="0"/>
              </a:rPr>
              <a:t>I</a:t>
            </a:r>
            <a:r>
              <a:rPr lang="en-US" baseline="-25000" dirty="0" err="1">
                <a:latin typeface="Arial" charset="0"/>
                <a:cs typeface="Arial" charset="0"/>
              </a:rPr>
              <a:t>boot</a:t>
            </a:r>
            <a:r>
              <a:rPr lang="en-US" dirty="0">
                <a:latin typeface="Arial" charset="0"/>
                <a:cs typeface="Arial" charset="0"/>
              </a:rPr>
              <a:t> should be zero.</a:t>
            </a:r>
          </a:p>
          <a:p>
            <a:endParaRPr lang="en-US" dirty="0">
              <a:latin typeface="Arial" charset="0"/>
              <a:cs typeface="Arial" charset="0"/>
            </a:endParaRPr>
          </a:p>
          <a:p>
            <a:r>
              <a:rPr lang="en-US" dirty="0">
                <a:latin typeface="Arial" charset="0"/>
                <a:cs typeface="Arial" charset="0"/>
              </a:rPr>
              <a:t>In practice, because of finite sampling, we will find </a:t>
            </a:r>
            <a:r>
              <a:rPr lang="en-US" dirty="0" err="1">
                <a:latin typeface="Arial" charset="0"/>
                <a:cs typeface="Arial" charset="0"/>
              </a:rPr>
              <a:t>I</a:t>
            </a:r>
            <a:r>
              <a:rPr lang="en-US" baseline="-25000" dirty="0" err="1">
                <a:latin typeface="Arial" charset="0"/>
                <a:cs typeface="Arial" charset="0"/>
              </a:rPr>
              <a:t>boot</a:t>
            </a:r>
            <a:r>
              <a:rPr lang="en-US" dirty="0">
                <a:latin typeface="Arial" charset="0"/>
                <a:cs typeface="Arial" charset="0"/>
              </a:rPr>
              <a:t> &gt; 0. The mean of the distribution of </a:t>
            </a:r>
            <a:r>
              <a:rPr lang="en-US" dirty="0" err="1">
                <a:latin typeface="Arial" charset="0"/>
                <a:cs typeface="Arial" charset="0"/>
              </a:rPr>
              <a:t>I</a:t>
            </a:r>
            <a:r>
              <a:rPr lang="en-US" baseline="-25000" dirty="0" err="1">
                <a:latin typeface="Arial" charset="0"/>
                <a:cs typeface="Arial" charset="0"/>
              </a:rPr>
              <a:t>boot</a:t>
            </a:r>
            <a:r>
              <a:rPr lang="en-US" dirty="0">
                <a:latin typeface="Arial" charset="0"/>
                <a:cs typeface="Arial" charset="0"/>
              </a:rPr>
              <a:t> is equal to the bias of </a:t>
            </a:r>
            <a:r>
              <a:rPr lang="en-US" dirty="0" err="1">
                <a:latin typeface="Arial" charset="0"/>
                <a:cs typeface="Arial" charset="0"/>
              </a:rPr>
              <a:t>I</a:t>
            </a:r>
            <a:r>
              <a:rPr lang="en-US" baseline="-25000" dirty="0" err="1">
                <a:latin typeface="Arial" charset="0"/>
                <a:cs typeface="Arial" charset="0"/>
              </a:rPr>
              <a:t>boot</a:t>
            </a:r>
            <a:r>
              <a:rPr lang="en-US" dirty="0">
                <a:latin typeface="Arial" charset="0"/>
                <a:cs typeface="Arial" charset="0"/>
              </a:rPr>
              <a:t>.</a:t>
            </a:r>
          </a:p>
        </p:txBody>
      </p:sp>
      <p:sp>
        <p:nvSpPr>
          <p:cNvPr id="114690" name="Text Box 3"/>
          <p:cNvSpPr txBox="1">
            <a:spLocks noChangeArrowheads="1"/>
          </p:cNvSpPr>
          <p:nvPr/>
        </p:nvSpPr>
        <p:spPr bwMode="auto">
          <a:xfrm>
            <a:off x="762000" y="428624"/>
            <a:ext cx="77652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3200" dirty="0">
                <a:solidFill>
                  <a:srgbClr val="FF0000"/>
                </a:solidFill>
                <a:latin typeface="Arial" charset="0"/>
                <a:cs typeface="Arial" charset="0"/>
              </a:rPr>
              <a:t>The boostrapping and subtracting method</a:t>
            </a:r>
            <a:endParaRPr lang="en-US" sz="3200" dirty="0">
              <a:solidFill>
                <a:srgbClr val="FF0000"/>
              </a:solidFill>
              <a:latin typeface="Arial" charset="0"/>
              <a:cs typeface="Arial"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654015144"/>
              </p:ext>
            </p:extLst>
          </p:nvPr>
        </p:nvGraphicFramePr>
        <p:xfrm>
          <a:off x="304800" y="4038600"/>
          <a:ext cx="3200400" cy="2595880"/>
        </p:xfrm>
        <a:graphic>
          <a:graphicData uri="http://schemas.openxmlformats.org/drawingml/2006/table">
            <a:tbl>
              <a:tblPr firstRow="1" bandRow="1">
                <a:tableStyleId>{073A0DAA-6AF3-43AB-8588-CEC1D06C72B9}</a:tableStyleId>
              </a:tblPr>
              <a:tblGrid>
                <a:gridCol w="8001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err="1"/>
                        <a:t>Stim</a:t>
                      </a:r>
                      <a:r>
                        <a:rPr lang="en-US" dirty="0"/>
                        <a:t> 1</a:t>
                      </a:r>
                    </a:p>
                  </a:txBody>
                  <a:tcPr/>
                </a:tc>
                <a:tc>
                  <a:txBody>
                    <a:bodyPr/>
                    <a:lstStyle/>
                    <a:p>
                      <a:r>
                        <a:rPr lang="en-US" dirty="0" err="1"/>
                        <a:t>Stim</a:t>
                      </a:r>
                      <a:r>
                        <a:rPr lang="en-US" baseline="0" dirty="0"/>
                        <a:t> 2</a:t>
                      </a:r>
                      <a:endParaRPr lang="en-US" dirty="0"/>
                    </a:p>
                  </a:txBody>
                  <a:tcPr/>
                </a:tc>
                <a:tc>
                  <a:txBody>
                    <a:bodyPr/>
                    <a:lstStyle/>
                    <a:p>
                      <a:r>
                        <a:rPr lang="en-US" dirty="0" err="1"/>
                        <a:t>Stim</a:t>
                      </a:r>
                      <a:r>
                        <a:rPr lang="en-US" dirty="0"/>
                        <a:t> 3</a:t>
                      </a:r>
                    </a:p>
                  </a:txBody>
                  <a:tcPr/>
                </a:tc>
                <a:extLst>
                  <a:ext uri="{0D108BD9-81ED-4DB2-BD59-A6C34878D82A}">
                    <a16:rowId xmlns:a16="http://schemas.microsoft.com/office/drawing/2014/main" val="10000"/>
                  </a:ext>
                </a:extLst>
              </a:tr>
              <a:tr h="370840">
                <a:tc>
                  <a:txBody>
                    <a:bodyPr/>
                    <a:lstStyle/>
                    <a:p>
                      <a:r>
                        <a:rPr lang="en-US" dirty="0"/>
                        <a:t>Trial</a:t>
                      </a:r>
                      <a:r>
                        <a:rPr lang="en-US" baseline="0" dirty="0"/>
                        <a:t> 1</a:t>
                      </a:r>
                      <a:endParaRPr lang="en-US" dirty="0"/>
                    </a:p>
                  </a:txBody>
                  <a:tcPr/>
                </a:tc>
                <a:tc>
                  <a:txBody>
                    <a:bodyPr/>
                    <a:lstStyle/>
                    <a:p>
                      <a:r>
                        <a:rPr lang="en-US" dirty="0"/>
                        <a:t>4</a:t>
                      </a:r>
                    </a:p>
                  </a:txBody>
                  <a:tcPr/>
                </a:tc>
                <a:tc>
                  <a:txBody>
                    <a:bodyPr/>
                    <a:lstStyle/>
                    <a:p>
                      <a:r>
                        <a:rPr lang="en-US" dirty="0"/>
                        <a:t>3</a:t>
                      </a:r>
                    </a:p>
                  </a:txBody>
                  <a:tcPr/>
                </a:tc>
                <a:tc>
                  <a:txBody>
                    <a:bodyPr/>
                    <a:lstStyle/>
                    <a:p>
                      <a:r>
                        <a:rPr lang="en-US" dirty="0"/>
                        <a:t>1</a:t>
                      </a:r>
                    </a:p>
                  </a:txBody>
                  <a:tcPr/>
                </a:tc>
                <a:extLst>
                  <a:ext uri="{0D108BD9-81ED-4DB2-BD59-A6C34878D82A}">
                    <a16:rowId xmlns:a16="http://schemas.microsoft.com/office/drawing/2014/main" val="10001"/>
                  </a:ext>
                </a:extLst>
              </a:tr>
              <a:tr h="370840">
                <a:tc>
                  <a:txBody>
                    <a:bodyPr/>
                    <a:lstStyle/>
                    <a:p>
                      <a:r>
                        <a:rPr lang="en-US" dirty="0"/>
                        <a:t>Trial 2</a:t>
                      </a:r>
                    </a:p>
                  </a:txBody>
                  <a:tcPr/>
                </a:tc>
                <a:tc>
                  <a:txBody>
                    <a:bodyPr/>
                    <a:lstStyle/>
                    <a:p>
                      <a:r>
                        <a:rPr lang="en-US" dirty="0"/>
                        <a:t>3</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10002"/>
                  </a:ext>
                </a:extLst>
              </a:tr>
              <a:tr h="370840">
                <a:tc>
                  <a:txBody>
                    <a:bodyPr/>
                    <a:lstStyle/>
                    <a:p>
                      <a:r>
                        <a:rPr lang="en-US" dirty="0"/>
                        <a:t>Trial 3</a:t>
                      </a:r>
                    </a:p>
                  </a:txBody>
                  <a:tcPr/>
                </a:tc>
                <a:tc>
                  <a:txBody>
                    <a:bodyPr/>
                    <a:lstStyle/>
                    <a:p>
                      <a:r>
                        <a:rPr lang="en-US" dirty="0"/>
                        <a:t>3</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10003"/>
                  </a:ext>
                </a:extLst>
              </a:tr>
              <a:tr h="370840">
                <a:tc>
                  <a:txBody>
                    <a:bodyPr/>
                    <a:lstStyle/>
                    <a:p>
                      <a:r>
                        <a:rPr lang="en-US" dirty="0"/>
                        <a:t>Trial 4</a:t>
                      </a:r>
                    </a:p>
                  </a:txBody>
                  <a:tcPr/>
                </a:tc>
                <a:tc>
                  <a:txBody>
                    <a:bodyPr/>
                    <a:lstStyle/>
                    <a:p>
                      <a:r>
                        <a:rPr lang="en-US" dirty="0"/>
                        <a:t>3</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4"/>
                  </a:ext>
                </a:extLst>
              </a:tr>
              <a:tr h="370840">
                <a:tc>
                  <a:txBody>
                    <a:bodyPr/>
                    <a:lstStyle/>
                    <a:p>
                      <a:r>
                        <a:rPr lang="en-US" dirty="0"/>
                        <a:t>Trial 5</a:t>
                      </a:r>
                    </a:p>
                  </a:txBody>
                  <a:tcPr/>
                </a:tc>
                <a:tc>
                  <a:txBody>
                    <a:bodyPr/>
                    <a:lstStyle/>
                    <a:p>
                      <a:r>
                        <a:rPr lang="en-US" dirty="0"/>
                        <a:t>5</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10005"/>
                  </a:ext>
                </a:extLst>
              </a:tr>
              <a:tr h="370840">
                <a:tc>
                  <a:txBody>
                    <a:bodyPr/>
                    <a:lstStyle/>
                    <a:p>
                      <a:r>
                        <a:rPr lang="en-US" dirty="0"/>
                        <a:t>Tot</a:t>
                      </a:r>
                    </a:p>
                  </a:txBody>
                  <a:tcPr>
                    <a:solidFill>
                      <a:schemeClr val="accent2">
                        <a:lumMod val="40000"/>
                        <a:lumOff val="60000"/>
                      </a:schemeClr>
                    </a:solidFill>
                  </a:tcPr>
                </a:tc>
                <a:tc>
                  <a:txBody>
                    <a:bodyPr/>
                    <a:lstStyle/>
                    <a:p>
                      <a:r>
                        <a:rPr lang="en-US" dirty="0"/>
                        <a:t>18</a:t>
                      </a:r>
                    </a:p>
                  </a:txBody>
                  <a:tcPr>
                    <a:solidFill>
                      <a:schemeClr val="accent2">
                        <a:lumMod val="40000"/>
                        <a:lumOff val="60000"/>
                      </a:schemeClr>
                    </a:solidFill>
                  </a:tcPr>
                </a:tc>
                <a:tc>
                  <a:txBody>
                    <a:bodyPr/>
                    <a:lstStyle/>
                    <a:p>
                      <a:r>
                        <a:rPr lang="en-US" dirty="0"/>
                        <a:t>12</a:t>
                      </a:r>
                    </a:p>
                  </a:txBody>
                  <a:tcPr>
                    <a:solidFill>
                      <a:schemeClr val="accent2">
                        <a:lumMod val="40000"/>
                        <a:lumOff val="60000"/>
                      </a:schemeClr>
                    </a:solidFill>
                  </a:tcPr>
                </a:tc>
                <a:tc>
                  <a:txBody>
                    <a:bodyPr/>
                    <a:lstStyle/>
                    <a:p>
                      <a:r>
                        <a:rPr lang="en-US" dirty="0"/>
                        <a:t>7</a:t>
                      </a:r>
                    </a:p>
                  </a:txBody>
                  <a:tcPr>
                    <a:solidFill>
                      <a:schemeClr val="accent2">
                        <a:lumMod val="40000"/>
                        <a:lumOff val="60000"/>
                      </a:schemeClr>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67094175"/>
              </p:ext>
            </p:extLst>
          </p:nvPr>
        </p:nvGraphicFramePr>
        <p:xfrm>
          <a:off x="5562600" y="4038600"/>
          <a:ext cx="3200400" cy="2595880"/>
        </p:xfrm>
        <a:graphic>
          <a:graphicData uri="http://schemas.openxmlformats.org/drawingml/2006/table">
            <a:tbl>
              <a:tblPr firstRow="1" bandRow="1">
                <a:tableStyleId>{073A0DAA-6AF3-43AB-8588-CEC1D06C72B9}</a:tableStyleId>
              </a:tblPr>
              <a:tblGrid>
                <a:gridCol w="8001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err="1"/>
                        <a:t>Stim</a:t>
                      </a:r>
                      <a:r>
                        <a:rPr lang="en-US" dirty="0"/>
                        <a:t> 1</a:t>
                      </a:r>
                    </a:p>
                  </a:txBody>
                  <a:tcPr/>
                </a:tc>
                <a:tc>
                  <a:txBody>
                    <a:bodyPr/>
                    <a:lstStyle/>
                    <a:p>
                      <a:r>
                        <a:rPr lang="en-US" dirty="0" err="1"/>
                        <a:t>Stim</a:t>
                      </a:r>
                      <a:r>
                        <a:rPr lang="en-US" baseline="0" dirty="0"/>
                        <a:t> 2</a:t>
                      </a:r>
                      <a:endParaRPr lang="en-US" dirty="0"/>
                    </a:p>
                  </a:txBody>
                  <a:tcPr/>
                </a:tc>
                <a:tc>
                  <a:txBody>
                    <a:bodyPr/>
                    <a:lstStyle/>
                    <a:p>
                      <a:r>
                        <a:rPr lang="en-US" dirty="0" err="1"/>
                        <a:t>Stim</a:t>
                      </a:r>
                      <a:r>
                        <a:rPr lang="en-US" dirty="0"/>
                        <a:t> 3</a:t>
                      </a:r>
                    </a:p>
                  </a:txBody>
                  <a:tcPr/>
                </a:tc>
                <a:extLst>
                  <a:ext uri="{0D108BD9-81ED-4DB2-BD59-A6C34878D82A}">
                    <a16:rowId xmlns:a16="http://schemas.microsoft.com/office/drawing/2014/main" val="10000"/>
                  </a:ext>
                </a:extLst>
              </a:tr>
              <a:tr h="370840">
                <a:tc>
                  <a:txBody>
                    <a:bodyPr/>
                    <a:lstStyle/>
                    <a:p>
                      <a:r>
                        <a:rPr lang="en-US" dirty="0"/>
                        <a:t>Trial</a:t>
                      </a:r>
                      <a:r>
                        <a:rPr lang="en-US" baseline="0" dirty="0"/>
                        <a:t> 1</a:t>
                      </a:r>
                      <a:endParaRPr lang="en-US" dirty="0"/>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1"/>
                  </a:ext>
                </a:extLst>
              </a:tr>
              <a:tr h="370840">
                <a:tc>
                  <a:txBody>
                    <a:bodyPr/>
                    <a:lstStyle/>
                    <a:p>
                      <a:r>
                        <a:rPr lang="en-US" dirty="0"/>
                        <a:t>Trial 2</a:t>
                      </a:r>
                    </a:p>
                  </a:txBody>
                  <a:tcPr/>
                </a:tc>
                <a:tc>
                  <a:txBody>
                    <a:bodyPr/>
                    <a:lstStyle/>
                    <a:p>
                      <a:r>
                        <a:rPr lang="en-US" dirty="0"/>
                        <a:t>3</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2"/>
                  </a:ext>
                </a:extLst>
              </a:tr>
              <a:tr h="370840">
                <a:tc>
                  <a:txBody>
                    <a:bodyPr/>
                    <a:lstStyle/>
                    <a:p>
                      <a:r>
                        <a:rPr lang="en-US" dirty="0"/>
                        <a:t>Trial 3</a:t>
                      </a:r>
                    </a:p>
                  </a:txBody>
                  <a:tcPr/>
                </a:tc>
                <a:tc>
                  <a:txBody>
                    <a:bodyPr/>
                    <a:lstStyle/>
                    <a:p>
                      <a:r>
                        <a:rPr lang="en-US" dirty="0"/>
                        <a:t>1</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3"/>
                  </a:ext>
                </a:extLst>
              </a:tr>
              <a:tr h="370840">
                <a:tc>
                  <a:txBody>
                    <a:bodyPr/>
                    <a:lstStyle/>
                    <a:p>
                      <a:r>
                        <a:rPr lang="en-US" dirty="0"/>
                        <a:t>Trial 4</a:t>
                      </a:r>
                    </a:p>
                  </a:txBody>
                  <a:tcPr/>
                </a:tc>
                <a:tc>
                  <a:txBody>
                    <a:bodyPr/>
                    <a:lstStyle/>
                    <a:p>
                      <a:r>
                        <a:rPr lang="en-US" dirty="0"/>
                        <a:t>3</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4"/>
                  </a:ext>
                </a:extLst>
              </a:tr>
              <a:tr h="370840">
                <a:tc>
                  <a:txBody>
                    <a:bodyPr/>
                    <a:lstStyle/>
                    <a:p>
                      <a:r>
                        <a:rPr lang="en-US" dirty="0"/>
                        <a:t>Trial 5</a:t>
                      </a:r>
                    </a:p>
                  </a:txBody>
                  <a:tcPr/>
                </a:tc>
                <a:tc>
                  <a:txBody>
                    <a:bodyPr/>
                    <a:lstStyle/>
                    <a:p>
                      <a:r>
                        <a:rPr lang="en-US" dirty="0"/>
                        <a:t>1</a:t>
                      </a:r>
                    </a:p>
                  </a:txBody>
                  <a:tcPr/>
                </a:tc>
                <a:tc>
                  <a:txBody>
                    <a:bodyPr/>
                    <a:lstStyle/>
                    <a:p>
                      <a:r>
                        <a:rPr lang="en-US" dirty="0"/>
                        <a:t>5</a:t>
                      </a:r>
                    </a:p>
                  </a:txBody>
                  <a:tcPr/>
                </a:tc>
                <a:tc>
                  <a:txBody>
                    <a:bodyPr/>
                    <a:lstStyle/>
                    <a:p>
                      <a:r>
                        <a:rPr lang="en-US" dirty="0"/>
                        <a:t>2</a:t>
                      </a:r>
                    </a:p>
                  </a:txBody>
                  <a:tcPr/>
                </a:tc>
                <a:extLst>
                  <a:ext uri="{0D108BD9-81ED-4DB2-BD59-A6C34878D82A}">
                    <a16:rowId xmlns:a16="http://schemas.microsoft.com/office/drawing/2014/main" val="10005"/>
                  </a:ext>
                </a:extLst>
              </a:tr>
              <a:tr h="370840">
                <a:tc>
                  <a:txBody>
                    <a:bodyPr/>
                    <a:lstStyle/>
                    <a:p>
                      <a:r>
                        <a:rPr lang="en-US" dirty="0"/>
                        <a:t>Tot</a:t>
                      </a:r>
                    </a:p>
                  </a:txBody>
                  <a:tcPr>
                    <a:solidFill>
                      <a:schemeClr val="accent2">
                        <a:lumMod val="40000"/>
                        <a:lumOff val="60000"/>
                      </a:schemeClr>
                    </a:solidFill>
                  </a:tcPr>
                </a:tc>
                <a:tc>
                  <a:txBody>
                    <a:bodyPr/>
                    <a:lstStyle/>
                    <a:p>
                      <a:r>
                        <a:rPr lang="en-US" dirty="0"/>
                        <a:t>9</a:t>
                      </a:r>
                    </a:p>
                  </a:txBody>
                  <a:tcPr>
                    <a:solidFill>
                      <a:schemeClr val="accent2">
                        <a:lumMod val="40000"/>
                        <a:lumOff val="60000"/>
                      </a:schemeClr>
                    </a:solidFill>
                  </a:tcPr>
                </a:tc>
                <a:tc>
                  <a:txBody>
                    <a:bodyPr/>
                    <a:lstStyle/>
                    <a:p>
                      <a:r>
                        <a:rPr lang="en-US" dirty="0"/>
                        <a:t>15</a:t>
                      </a:r>
                    </a:p>
                  </a:txBody>
                  <a:tcPr>
                    <a:solidFill>
                      <a:schemeClr val="accent2">
                        <a:lumMod val="40000"/>
                        <a:lumOff val="60000"/>
                      </a:schemeClr>
                    </a:solidFill>
                  </a:tcPr>
                </a:tc>
                <a:tc>
                  <a:txBody>
                    <a:bodyPr/>
                    <a:lstStyle/>
                    <a:p>
                      <a:r>
                        <a:rPr lang="en-US" dirty="0"/>
                        <a:t>12</a:t>
                      </a:r>
                    </a:p>
                  </a:txBody>
                  <a:tcPr>
                    <a:solidFill>
                      <a:schemeClr val="accent2">
                        <a:lumMod val="40000"/>
                        <a:lumOff val="60000"/>
                      </a:schemeClr>
                    </a:solidFill>
                  </a:tcPr>
                </a:tc>
                <a:extLst>
                  <a:ext uri="{0D108BD9-81ED-4DB2-BD59-A6C34878D82A}">
                    <a16:rowId xmlns:a16="http://schemas.microsoft.com/office/drawing/2014/main" val="10006"/>
                  </a:ext>
                </a:extLst>
              </a:tr>
            </a:tbl>
          </a:graphicData>
        </a:graphic>
      </p:graphicFrame>
      <p:sp>
        <p:nvSpPr>
          <p:cNvPr id="9" name="Right Arrow 8"/>
          <p:cNvSpPr/>
          <p:nvPr/>
        </p:nvSpPr>
        <p:spPr>
          <a:xfrm>
            <a:off x="3733800" y="4876800"/>
            <a:ext cx="1524000" cy="8382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boot</a:t>
            </a:r>
            <a:r>
              <a:rPr lang="en-US" dirty="0" err="1"/>
              <a:t>t</a:t>
            </a:r>
            <a:endParaRPr lang="en-US" dirty="0"/>
          </a:p>
        </p:txBody>
      </p:sp>
    </p:spTree>
    <p:extLst>
      <p:ext uri="{BB962C8B-B14F-4D97-AF65-F5344CB8AC3E}">
        <p14:creationId xmlns:p14="http://schemas.microsoft.com/office/powerpoint/2010/main" val="1456036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ext Box 2"/>
          <p:cNvSpPr txBox="1">
            <a:spLocks noChangeArrowheads="1"/>
          </p:cNvSpPr>
          <p:nvPr/>
        </p:nvSpPr>
        <p:spPr bwMode="auto">
          <a:xfrm>
            <a:off x="152400" y="1484313"/>
            <a:ext cx="8763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latin typeface="Arial" charset="0"/>
                <a:cs typeface="Arial" charset="0"/>
              </a:rPr>
              <a:t>A complementary possibility is to use bootstrap as test (as we have seen with correlation). You permute n*20 times and you assess the level of p=0.05 significance by taking the n-</a:t>
            </a:r>
            <a:r>
              <a:rPr lang="en-US" dirty="0" err="1">
                <a:latin typeface="Arial" charset="0"/>
                <a:cs typeface="Arial" charset="0"/>
              </a:rPr>
              <a:t>th</a:t>
            </a:r>
            <a:r>
              <a:rPr lang="en-US" dirty="0">
                <a:latin typeface="Arial" charset="0"/>
                <a:cs typeface="Arial" charset="0"/>
              </a:rPr>
              <a:t> highest value.</a:t>
            </a:r>
          </a:p>
          <a:p>
            <a:r>
              <a:rPr lang="en-US" dirty="0">
                <a:latin typeface="Arial" charset="0"/>
                <a:cs typeface="Arial" charset="0"/>
              </a:rPr>
              <a:t>Be sure to have enough data to generate n*20 independent realizations!</a:t>
            </a:r>
          </a:p>
        </p:txBody>
      </p:sp>
      <p:sp>
        <p:nvSpPr>
          <p:cNvPr id="114690" name="Text Box 3"/>
          <p:cNvSpPr txBox="1">
            <a:spLocks noChangeArrowheads="1"/>
          </p:cNvSpPr>
          <p:nvPr/>
        </p:nvSpPr>
        <p:spPr bwMode="auto">
          <a:xfrm>
            <a:off x="762000" y="428624"/>
            <a:ext cx="40334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3200" dirty="0">
                <a:solidFill>
                  <a:srgbClr val="FF0000"/>
                </a:solidFill>
                <a:latin typeface="Arial" charset="0"/>
                <a:cs typeface="Arial" charset="0"/>
              </a:rPr>
              <a:t>Bootstrapping as test</a:t>
            </a:r>
            <a:endParaRPr lang="en-US" sz="3200" dirty="0">
              <a:solidFill>
                <a:srgbClr val="FF0000"/>
              </a:solidFill>
              <a:latin typeface="Arial" charset="0"/>
              <a:cs typeface="Arial" charset="0"/>
            </a:endParaRPr>
          </a:p>
        </p:txBody>
      </p:sp>
      <p:graphicFrame>
        <p:nvGraphicFramePr>
          <p:cNvPr id="4" name="Table 3"/>
          <p:cNvGraphicFramePr>
            <a:graphicFrameLocks noGrp="1"/>
          </p:cNvGraphicFramePr>
          <p:nvPr/>
        </p:nvGraphicFramePr>
        <p:xfrm>
          <a:off x="304800" y="4038600"/>
          <a:ext cx="3200400" cy="2595880"/>
        </p:xfrm>
        <a:graphic>
          <a:graphicData uri="http://schemas.openxmlformats.org/drawingml/2006/table">
            <a:tbl>
              <a:tblPr firstRow="1" bandRow="1">
                <a:tableStyleId>{073A0DAA-6AF3-43AB-8588-CEC1D06C72B9}</a:tableStyleId>
              </a:tblPr>
              <a:tblGrid>
                <a:gridCol w="8001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err="1"/>
                        <a:t>Stim</a:t>
                      </a:r>
                      <a:r>
                        <a:rPr lang="en-US" dirty="0"/>
                        <a:t> 1</a:t>
                      </a:r>
                    </a:p>
                  </a:txBody>
                  <a:tcPr/>
                </a:tc>
                <a:tc>
                  <a:txBody>
                    <a:bodyPr/>
                    <a:lstStyle/>
                    <a:p>
                      <a:r>
                        <a:rPr lang="en-US" dirty="0" err="1"/>
                        <a:t>Stim</a:t>
                      </a:r>
                      <a:r>
                        <a:rPr lang="en-US" baseline="0" dirty="0"/>
                        <a:t> 2</a:t>
                      </a:r>
                      <a:endParaRPr lang="en-US" dirty="0"/>
                    </a:p>
                  </a:txBody>
                  <a:tcPr/>
                </a:tc>
                <a:tc>
                  <a:txBody>
                    <a:bodyPr/>
                    <a:lstStyle/>
                    <a:p>
                      <a:r>
                        <a:rPr lang="en-US" dirty="0" err="1"/>
                        <a:t>Stim</a:t>
                      </a:r>
                      <a:r>
                        <a:rPr lang="en-US" dirty="0"/>
                        <a:t> 3</a:t>
                      </a:r>
                    </a:p>
                  </a:txBody>
                  <a:tcPr/>
                </a:tc>
                <a:extLst>
                  <a:ext uri="{0D108BD9-81ED-4DB2-BD59-A6C34878D82A}">
                    <a16:rowId xmlns:a16="http://schemas.microsoft.com/office/drawing/2014/main" val="10000"/>
                  </a:ext>
                </a:extLst>
              </a:tr>
              <a:tr h="370840">
                <a:tc>
                  <a:txBody>
                    <a:bodyPr/>
                    <a:lstStyle/>
                    <a:p>
                      <a:r>
                        <a:rPr lang="en-US" dirty="0"/>
                        <a:t>Trial</a:t>
                      </a:r>
                      <a:r>
                        <a:rPr lang="en-US" baseline="0" dirty="0"/>
                        <a:t> 1</a:t>
                      </a:r>
                      <a:endParaRPr lang="en-US" dirty="0"/>
                    </a:p>
                  </a:txBody>
                  <a:tcPr/>
                </a:tc>
                <a:tc>
                  <a:txBody>
                    <a:bodyPr/>
                    <a:lstStyle/>
                    <a:p>
                      <a:r>
                        <a:rPr lang="en-US" dirty="0"/>
                        <a:t>4</a:t>
                      </a:r>
                    </a:p>
                  </a:txBody>
                  <a:tcPr/>
                </a:tc>
                <a:tc>
                  <a:txBody>
                    <a:bodyPr/>
                    <a:lstStyle/>
                    <a:p>
                      <a:r>
                        <a:rPr lang="en-US" dirty="0"/>
                        <a:t>3</a:t>
                      </a:r>
                    </a:p>
                  </a:txBody>
                  <a:tcPr/>
                </a:tc>
                <a:tc>
                  <a:txBody>
                    <a:bodyPr/>
                    <a:lstStyle/>
                    <a:p>
                      <a:r>
                        <a:rPr lang="en-US" dirty="0"/>
                        <a:t>1</a:t>
                      </a:r>
                    </a:p>
                  </a:txBody>
                  <a:tcPr/>
                </a:tc>
                <a:extLst>
                  <a:ext uri="{0D108BD9-81ED-4DB2-BD59-A6C34878D82A}">
                    <a16:rowId xmlns:a16="http://schemas.microsoft.com/office/drawing/2014/main" val="10001"/>
                  </a:ext>
                </a:extLst>
              </a:tr>
              <a:tr h="370840">
                <a:tc>
                  <a:txBody>
                    <a:bodyPr/>
                    <a:lstStyle/>
                    <a:p>
                      <a:r>
                        <a:rPr lang="en-US" dirty="0"/>
                        <a:t>Trial 2</a:t>
                      </a:r>
                    </a:p>
                  </a:txBody>
                  <a:tcPr/>
                </a:tc>
                <a:tc>
                  <a:txBody>
                    <a:bodyPr/>
                    <a:lstStyle/>
                    <a:p>
                      <a:r>
                        <a:rPr lang="en-US" dirty="0"/>
                        <a:t>3</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10002"/>
                  </a:ext>
                </a:extLst>
              </a:tr>
              <a:tr h="370840">
                <a:tc>
                  <a:txBody>
                    <a:bodyPr/>
                    <a:lstStyle/>
                    <a:p>
                      <a:r>
                        <a:rPr lang="en-US" dirty="0"/>
                        <a:t>Trial 3</a:t>
                      </a:r>
                    </a:p>
                  </a:txBody>
                  <a:tcPr/>
                </a:tc>
                <a:tc>
                  <a:txBody>
                    <a:bodyPr/>
                    <a:lstStyle/>
                    <a:p>
                      <a:r>
                        <a:rPr lang="en-US" dirty="0"/>
                        <a:t>3</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10003"/>
                  </a:ext>
                </a:extLst>
              </a:tr>
              <a:tr h="370840">
                <a:tc>
                  <a:txBody>
                    <a:bodyPr/>
                    <a:lstStyle/>
                    <a:p>
                      <a:r>
                        <a:rPr lang="en-US" dirty="0"/>
                        <a:t>Trial 4</a:t>
                      </a:r>
                    </a:p>
                  </a:txBody>
                  <a:tcPr/>
                </a:tc>
                <a:tc>
                  <a:txBody>
                    <a:bodyPr/>
                    <a:lstStyle/>
                    <a:p>
                      <a:r>
                        <a:rPr lang="en-US" dirty="0"/>
                        <a:t>3</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4"/>
                  </a:ext>
                </a:extLst>
              </a:tr>
              <a:tr h="370840">
                <a:tc>
                  <a:txBody>
                    <a:bodyPr/>
                    <a:lstStyle/>
                    <a:p>
                      <a:r>
                        <a:rPr lang="en-US" dirty="0"/>
                        <a:t>Trial 5</a:t>
                      </a:r>
                    </a:p>
                  </a:txBody>
                  <a:tcPr/>
                </a:tc>
                <a:tc>
                  <a:txBody>
                    <a:bodyPr/>
                    <a:lstStyle/>
                    <a:p>
                      <a:r>
                        <a:rPr lang="en-US" dirty="0"/>
                        <a:t>5</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10005"/>
                  </a:ext>
                </a:extLst>
              </a:tr>
              <a:tr h="370840">
                <a:tc>
                  <a:txBody>
                    <a:bodyPr/>
                    <a:lstStyle/>
                    <a:p>
                      <a:r>
                        <a:rPr lang="en-US" dirty="0"/>
                        <a:t>Tot</a:t>
                      </a:r>
                    </a:p>
                  </a:txBody>
                  <a:tcPr>
                    <a:solidFill>
                      <a:schemeClr val="accent2">
                        <a:lumMod val="40000"/>
                        <a:lumOff val="60000"/>
                      </a:schemeClr>
                    </a:solidFill>
                  </a:tcPr>
                </a:tc>
                <a:tc>
                  <a:txBody>
                    <a:bodyPr/>
                    <a:lstStyle/>
                    <a:p>
                      <a:r>
                        <a:rPr lang="en-US" dirty="0"/>
                        <a:t>18</a:t>
                      </a:r>
                    </a:p>
                  </a:txBody>
                  <a:tcPr>
                    <a:solidFill>
                      <a:schemeClr val="accent2">
                        <a:lumMod val="40000"/>
                        <a:lumOff val="60000"/>
                      </a:schemeClr>
                    </a:solidFill>
                  </a:tcPr>
                </a:tc>
                <a:tc>
                  <a:txBody>
                    <a:bodyPr/>
                    <a:lstStyle/>
                    <a:p>
                      <a:r>
                        <a:rPr lang="en-US" dirty="0"/>
                        <a:t>12</a:t>
                      </a:r>
                    </a:p>
                  </a:txBody>
                  <a:tcPr>
                    <a:solidFill>
                      <a:schemeClr val="accent2">
                        <a:lumMod val="40000"/>
                        <a:lumOff val="60000"/>
                      </a:schemeClr>
                    </a:solidFill>
                  </a:tcPr>
                </a:tc>
                <a:tc>
                  <a:txBody>
                    <a:bodyPr/>
                    <a:lstStyle/>
                    <a:p>
                      <a:r>
                        <a:rPr lang="en-US" dirty="0"/>
                        <a:t>6</a:t>
                      </a:r>
                    </a:p>
                  </a:txBody>
                  <a:tcPr>
                    <a:solidFill>
                      <a:schemeClr val="accent2">
                        <a:lumMod val="40000"/>
                        <a:lumOff val="60000"/>
                      </a:schemeClr>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5562600" y="4038600"/>
          <a:ext cx="3200400" cy="2595880"/>
        </p:xfrm>
        <a:graphic>
          <a:graphicData uri="http://schemas.openxmlformats.org/drawingml/2006/table">
            <a:tbl>
              <a:tblPr firstRow="1" bandRow="1">
                <a:tableStyleId>{073A0DAA-6AF3-43AB-8588-CEC1D06C72B9}</a:tableStyleId>
              </a:tblPr>
              <a:tblGrid>
                <a:gridCol w="8001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err="1"/>
                        <a:t>Stim</a:t>
                      </a:r>
                      <a:r>
                        <a:rPr lang="en-US" dirty="0"/>
                        <a:t> 1</a:t>
                      </a:r>
                    </a:p>
                  </a:txBody>
                  <a:tcPr/>
                </a:tc>
                <a:tc>
                  <a:txBody>
                    <a:bodyPr/>
                    <a:lstStyle/>
                    <a:p>
                      <a:r>
                        <a:rPr lang="en-US" dirty="0" err="1"/>
                        <a:t>Stim</a:t>
                      </a:r>
                      <a:r>
                        <a:rPr lang="en-US" baseline="0" dirty="0"/>
                        <a:t> 2</a:t>
                      </a:r>
                      <a:endParaRPr lang="en-US" dirty="0"/>
                    </a:p>
                  </a:txBody>
                  <a:tcPr/>
                </a:tc>
                <a:tc>
                  <a:txBody>
                    <a:bodyPr/>
                    <a:lstStyle/>
                    <a:p>
                      <a:r>
                        <a:rPr lang="en-US" dirty="0" err="1"/>
                        <a:t>Stim</a:t>
                      </a:r>
                      <a:r>
                        <a:rPr lang="en-US" dirty="0"/>
                        <a:t> 3</a:t>
                      </a:r>
                    </a:p>
                  </a:txBody>
                  <a:tcPr/>
                </a:tc>
                <a:extLst>
                  <a:ext uri="{0D108BD9-81ED-4DB2-BD59-A6C34878D82A}">
                    <a16:rowId xmlns:a16="http://schemas.microsoft.com/office/drawing/2014/main" val="10000"/>
                  </a:ext>
                </a:extLst>
              </a:tr>
              <a:tr h="370840">
                <a:tc>
                  <a:txBody>
                    <a:bodyPr/>
                    <a:lstStyle/>
                    <a:p>
                      <a:r>
                        <a:rPr lang="en-US" dirty="0"/>
                        <a:t>Trial</a:t>
                      </a:r>
                      <a:r>
                        <a:rPr lang="en-US" baseline="0" dirty="0"/>
                        <a:t> 1</a:t>
                      </a:r>
                      <a:endParaRPr lang="en-US" dirty="0"/>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1"/>
                  </a:ext>
                </a:extLst>
              </a:tr>
              <a:tr h="370840">
                <a:tc>
                  <a:txBody>
                    <a:bodyPr/>
                    <a:lstStyle/>
                    <a:p>
                      <a:r>
                        <a:rPr lang="en-US" dirty="0"/>
                        <a:t>Trial 2</a:t>
                      </a:r>
                    </a:p>
                  </a:txBody>
                  <a:tcPr/>
                </a:tc>
                <a:tc>
                  <a:txBody>
                    <a:bodyPr/>
                    <a:lstStyle/>
                    <a:p>
                      <a:r>
                        <a:rPr lang="en-US" dirty="0"/>
                        <a:t>3</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2"/>
                  </a:ext>
                </a:extLst>
              </a:tr>
              <a:tr h="370840">
                <a:tc>
                  <a:txBody>
                    <a:bodyPr/>
                    <a:lstStyle/>
                    <a:p>
                      <a:r>
                        <a:rPr lang="en-US" dirty="0"/>
                        <a:t>Trial 3</a:t>
                      </a:r>
                    </a:p>
                  </a:txBody>
                  <a:tcPr/>
                </a:tc>
                <a:tc>
                  <a:txBody>
                    <a:bodyPr/>
                    <a:lstStyle/>
                    <a:p>
                      <a:r>
                        <a:rPr lang="en-US" dirty="0"/>
                        <a:t>1</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3"/>
                  </a:ext>
                </a:extLst>
              </a:tr>
              <a:tr h="370840">
                <a:tc>
                  <a:txBody>
                    <a:bodyPr/>
                    <a:lstStyle/>
                    <a:p>
                      <a:r>
                        <a:rPr lang="en-US" dirty="0"/>
                        <a:t>Trial 4</a:t>
                      </a:r>
                    </a:p>
                  </a:txBody>
                  <a:tcPr/>
                </a:tc>
                <a:tc>
                  <a:txBody>
                    <a:bodyPr/>
                    <a:lstStyle/>
                    <a:p>
                      <a:r>
                        <a:rPr lang="en-US" dirty="0"/>
                        <a:t>3</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4"/>
                  </a:ext>
                </a:extLst>
              </a:tr>
              <a:tr h="370840">
                <a:tc>
                  <a:txBody>
                    <a:bodyPr/>
                    <a:lstStyle/>
                    <a:p>
                      <a:r>
                        <a:rPr lang="en-US" dirty="0"/>
                        <a:t>Trial 5</a:t>
                      </a:r>
                    </a:p>
                  </a:txBody>
                  <a:tcPr/>
                </a:tc>
                <a:tc>
                  <a:txBody>
                    <a:bodyPr/>
                    <a:lstStyle/>
                    <a:p>
                      <a:r>
                        <a:rPr lang="en-US" dirty="0"/>
                        <a:t>1</a:t>
                      </a:r>
                    </a:p>
                  </a:txBody>
                  <a:tcPr/>
                </a:tc>
                <a:tc>
                  <a:txBody>
                    <a:bodyPr/>
                    <a:lstStyle/>
                    <a:p>
                      <a:r>
                        <a:rPr lang="en-US" dirty="0"/>
                        <a:t>5</a:t>
                      </a:r>
                    </a:p>
                  </a:txBody>
                  <a:tcPr/>
                </a:tc>
                <a:tc>
                  <a:txBody>
                    <a:bodyPr/>
                    <a:lstStyle/>
                    <a:p>
                      <a:r>
                        <a:rPr lang="en-US" dirty="0"/>
                        <a:t>2</a:t>
                      </a:r>
                    </a:p>
                  </a:txBody>
                  <a:tcPr/>
                </a:tc>
                <a:extLst>
                  <a:ext uri="{0D108BD9-81ED-4DB2-BD59-A6C34878D82A}">
                    <a16:rowId xmlns:a16="http://schemas.microsoft.com/office/drawing/2014/main" val="10005"/>
                  </a:ext>
                </a:extLst>
              </a:tr>
              <a:tr h="370840">
                <a:tc>
                  <a:txBody>
                    <a:bodyPr/>
                    <a:lstStyle/>
                    <a:p>
                      <a:r>
                        <a:rPr lang="en-US" dirty="0"/>
                        <a:t>Tot</a:t>
                      </a:r>
                    </a:p>
                  </a:txBody>
                  <a:tcPr>
                    <a:solidFill>
                      <a:schemeClr val="accent2">
                        <a:lumMod val="40000"/>
                        <a:lumOff val="60000"/>
                      </a:schemeClr>
                    </a:solidFill>
                  </a:tcPr>
                </a:tc>
                <a:tc>
                  <a:txBody>
                    <a:bodyPr/>
                    <a:lstStyle/>
                    <a:p>
                      <a:r>
                        <a:rPr lang="en-US" dirty="0"/>
                        <a:t>9</a:t>
                      </a:r>
                    </a:p>
                  </a:txBody>
                  <a:tcPr>
                    <a:solidFill>
                      <a:schemeClr val="accent2">
                        <a:lumMod val="40000"/>
                        <a:lumOff val="60000"/>
                      </a:schemeClr>
                    </a:solidFill>
                  </a:tcPr>
                </a:tc>
                <a:tc>
                  <a:txBody>
                    <a:bodyPr/>
                    <a:lstStyle/>
                    <a:p>
                      <a:r>
                        <a:rPr lang="en-US" dirty="0"/>
                        <a:t>15</a:t>
                      </a:r>
                    </a:p>
                  </a:txBody>
                  <a:tcPr>
                    <a:solidFill>
                      <a:schemeClr val="accent2">
                        <a:lumMod val="40000"/>
                        <a:lumOff val="60000"/>
                      </a:schemeClr>
                    </a:solidFill>
                  </a:tcPr>
                </a:tc>
                <a:tc>
                  <a:txBody>
                    <a:bodyPr/>
                    <a:lstStyle/>
                    <a:p>
                      <a:r>
                        <a:rPr lang="en-US" dirty="0"/>
                        <a:t>12</a:t>
                      </a:r>
                    </a:p>
                  </a:txBody>
                  <a:tcPr>
                    <a:solidFill>
                      <a:schemeClr val="accent2">
                        <a:lumMod val="40000"/>
                        <a:lumOff val="60000"/>
                      </a:schemeClr>
                    </a:solidFill>
                  </a:tcPr>
                </a:tc>
                <a:extLst>
                  <a:ext uri="{0D108BD9-81ED-4DB2-BD59-A6C34878D82A}">
                    <a16:rowId xmlns:a16="http://schemas.microsoft.com/office/drawing/2014/main" val="10006"/>
                  </a:ext>
                </a:extLst>
              </a:tr>
            </a:tbl>
          </a:graphicData>
        </a:graphic>
      </p:graphicFrame>
      <p:sp>
        <p:nvSpPr>
          <p:cNvPr id="9" name="Right Arrow 8"/>
          <p:cNvSpPr/>
          <p:nvPr/>
        </p:nvSpPr>
        <p:spPr>
          <a:xfrm>
            <a:off x="3733800" y="4876800"/>
            <a:ext cx="1524000" cy="8382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boot</a:t>
            </a:r>
            <a:r>
              <a:rPr lang="en-US" dirty="0" err="1"/>
              <a:t>t</a:t>
            </a:r>
            <a:endParaRPr lang="en-US" dirty="0"/>
          </a:p>
        </p:txBody>
      </p:sp>
    </p:spTree>
    <p:extLst>
      <p:ext uri="{BB962C8B-B14F-4D97-AF65-F5344CB8AC3E}">
        <p14:creationId xmlns:p14="http://schemas.microsoft.com/office/powerpoint/2010/main" val="1571084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44388"/>
            <a:ext cx="8382000" cy="22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655758"/>
            <a:ext cx="8305800" cy="4202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6895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44388"/>
            <a:ext cx="8382000" cy="22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655758"/>
            <a:ext cx="8305800" cy="4202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reccia in giù 1">
            <a:extLst>
              <a:ext uri="{FF2B5EF4-FFF2-40B4-BE49-F238E27FC236}">
                <a16:creationId xmlns:a16="http://schemas.microsoft.com/office/drawing/2014/main" id="{2094988D-A517-4903-90FA-77AB23D0283B}"/>
              </a:ext>
            </a:extLst>
          </p:cNvPr>
          <p:cNvSpPr/>
          <p:nvPr/>
        </p:nvSpPr>
        <p:spPr>
          <a:xfrm rot="3887710">
            <a:off x="4180145" y="1255915"/>
            <a:ext cx="1105945" cy="6201263"/>
          </a:xfrm>
          <a:prstGeom prst="downArrow">
            <a:avLst>
              <a:gd name="adj1" fmla="val 100000"/>
              <a:gd name="adj2" fmla="val 56303"/>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it-IT" dirty="0"/>
              <a:t>My favorite: QE + </a:t>
            </a:r>
            <a:r>
              <a:rPr lang="it-IT" dirty="0" err="1"/>
              <a:t>shuffling</a:t>
            </a:r>
            <a:r>
              <a:rPr lang="it-IT" dirty="0"/>
              <a:t> and no bootstrap </a:t>
            </a:r>
            <a:r>
              <a:rPr lang="it-IT" dirty="0" err="1"/>
              <a:t>correction</a:t>
            </a:r>
            <a:r>
              <a:rPr lang="it-IT" dirty="0"/>
              <a:t>. Fast </a:t>
            </a:r>
            <a:r>
              <a:rPr lang="it-IT" dirty="0" err="1"/>
              <a:t>convergence</a:t>
            </a:r>
            <a:r>
              <a:rPr lang="it-IT" dirty="0"/>
              <a:t> and I use bootstrap to test </a:t>
            </a:r>
            <a:r>
              <a:rPr lang="it-IT" dirty="0" err="1"/>
              <a:t>significance</a:t>
            </a:r>
            <a:r>
              <a:rPr lang="it-IT" dirty="0"/>
              <a:t>.</a:t>
            </a:r>
          </a:p>
        </p:txBody>
      </p:sp>
    </p:spTree>
    <p:extLst>
      <p:ext uri="{BB962C8B-B14F-4D97-AF65-F5344CB8AC3E}">
        <p14:creationId xmlns:p14="http://schemas.microsoft.com/office/powerpoint/2010/main" val="685449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CasellaDiTesto 1"/>
          <p:cNvSpPr txBox="1">
            <a:spLocks noChangeArrowheads="1"/>
          </p:cNvSpPr>
          <p:nvPr/>
        </p:nvSpPr>
        <p:spPr bwMode="auto">
          <a:xfrm>
            <a:off x="214313" y="285750"/>
            <a:ext cx="89296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dirty="0">
                <a:solidFill>
                  <a:srgbClr val="FF0000"/>
                </a:solidFill>
                <a:latin typeface="Arial" charset="0"/>
                <a:cs typeface="Arial" charset="0"/>
              </a:rPr>
              <a:t>Sampling rules of thumb for I(S;R)</a:t>
            </a:r>
          </a:p>
        </p:txBody>
      </p:sp>
      <p:sp>
        <p:nvSpPr>
          <p:cNvPr id="134146" name="CasellaDiTesto 3"/>
          <p:cNvSpPr txBox="1">
            <a:spLocks noChangeArrowheads="1"/>
          </p:cNvSpPr>
          <p:nvPr/>
        </p:nvSpPr>
        <p:spPr bwMode="auto">
          <a:xfrm>
            <a:off x="285750" y="1000125"/>
            <a:ext cx="7858125"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atin typeface="Arial" charset="0"/>
                <a:cs typeface="Arial" charset="0"/>
              </a:rPr>
              <a:t>The previous results suggest rules of thumb for data sampling (i.e. the number of trials per stimulus Ns) necessary to obtained unbiased information estimates:</a:t>
            </a:r>
          </a:p>
          <a:p>
            <a:endParaRPr lang="en-US">
              <a:latin typeface="Arial" charset="0"/>
              <a:cs typeface="Arial" charset="0"/>
            </a:endParaRPr>
          </a:p>
          <a:p>
            <a:r>
              <a:rPr lang="en-US">
                <a:latin typeface="Arial" charset="0"/>
                <a:cs typeface="Arial" charset="0"/>
              </a:rPr>
              <a:t>If no bias correction is used:</a:t>
            </a:r>
          </a:p>
          <a:p>
            <a:r>
              <a:rPr lang="en-US">
                <a:latin typeface="Arial" charset="0"/>
                <a:cs typeface="Arial" charset="0"/>
              </a:rPr>
              <a:t>Ns &gt;&gt; number of possible responses R</a:t>
            </a:r>
          </a:p>
          <a:p>
            <a:endParaRPr lang="en-US">
              <a:latin typeface="Arial" charset="0"/>
              <a:cs typeface="Arial" charset="0"/>
            </a:endParaRPr>
          </a:p>
          <a:p>
            <a:r>
              <a:rPr lang="en-US">
                <a:latin typeface="Arial" charset="0"/>
                <a:cs typeface="Arial" charset="0"/>
              </a:rPr>
              <a:t>If we use an appropriate bias correction, then the constraint on data becomes much better:</a:t>
            </a:r>
          </a:p>
          <a:p>
            <a:r>
              <a:rPr lang="en-US">
                <a:latin typeface="Arial" charset="0"/>
                <a:cs typeface="Arial" charset="0"/>
              </a:rPr>
              <a:t>Ns ≥ number of possible responses R</a:t>
            </a:r>
          </a:p>
          <a:p>
            <a:endParaRPr lang="en-US">
              <a:latin typeface="Arial" charset="0"/>
              <a:cs typeface="Arial" charset="0"/>
            </a:endParaRPr>
          </a:p>
        </p:txBody>
      </p:sp>
    </p:spTree>
    <p:extLst>
      <p:ext uri="{BB962C8B-B14F-4D97-AF65-F5344CB8AC3E}">
        <p14:creationId xmlns:p14="http://schemas.microsoft.com/office/powerpoint/2010/main" val="1266147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6200"/>
            <a:ext cx="8964488" cy="1026157"/>
          </a:xfrm>
          <a:prstGeom prst="rect">
            <a:avLst/>
          </a:prstGeom>
          <a:noFill/>
          <a:ln>
            <a:noFill/>
          </a:ln>
        </p:spPr>
        <p:txBody>
          <a:bodyPr vert="horz" wrap="square" lIns="81639" tIns="40820" rIns="81639" bIns="40820" compatLnSpc="0">
            <a:spAutoFit/>
          </a:bodyPr>
          <a:lstStyle/>
          <a:p>
            <a:pPr algn="ctr" hangingPunct="0">
              <a:spcBef>
                <a:spcPts val="0"/>
              </a:spcBef>
              <a:spcAft>
                <a:spcPts val="0"/>
              </a:spcAft>
            </a:pPr>
            <a:r>
              <a:rPr lang="it-IT" sz="3200" dirty="0">
                <a:solidFill>
                  <a:srgbClr val="FF0000"/>
                </a:solidFill>
                <a:latin typeface="Arial" panose="020B0604020202020204" pitchFamily="34" charset="0"/>
                <a:ea typeface="DejaVu Sans" pitchFamily="2"/>
                <a:cs typeface="Arial" panose="020B0604020202020204" pitchFamily="34" charset="0"/>
              </a:rPr>
              <a:t>Response to multiple </a:t>
            </a:r>
            <a:r>
              <a:rPr lang="it-IT" sz="3200" dirty="0" err="1">
                <a:solidFill>
                  <a:srgbClr val="FF0000"/>
                </a:solidFill>
                <a:latin typeface="Arial" panose="020B0604020202020204" pitchFamily="34" charset="0"/>
                <a:ea typeface="DejaVu Sans" pitchFamily="2"/>
                <a:cs typeface="Arial" panose="020B0604020202020204" pitchFamily="34" charset="0"/>
              </a:rPr>
              <a:t>presentations</a:t>
            </a:r>
            <a:r>
              <a:rPr lang="it-IT" sz="3200" dirty="0">
                <a:solidFill>
                  <a:srgbClr val="FF0000"/>
                </a:solidFill>
                <a:latin typeface="Arial" panose="020B0604020202020204" pitchFamily="34" charset="0"/>
                <a:ea typeface="DejaVu Sans" pitchFamily="2"/>
                <a:cs typeface="Arial" panose="020B0604020202020204" pitchFamily="34" charset="0"/>
              </a:rPr>
              <a:t> </a:t>
            </a:r>
          </a:p>
          <a:p>
            <a:pPr algn="ctr" hangingPunct="0">
              <a:spcBef>
                <a:spcPts val="0"/>
              </a:spcBef>
              <a:spcAft>
                <a:spcPts val="0"/>
              </a:spcAft>
            </a:pPr>
            <a:r>
              <a:rPr lang="it-IT" sz="3200" dirty="0">
                <a:solidFill>
                  <a:srgbClr val="FF0000"/>
                </a:solidFill>
                <a:latin typeface="Arial" panose="020B0604020202020204" pitchFamily="34" charset="0"/>
                <a:ea typeface="DejaVu Sans" pitchFamily="2"/>
                <a:cs typeface="Arial" panose="020B0604020202020204" pitchFamily="34" charset="0"/>
              </a:rPr>
              <a:t>of the same movie clip</a:t>
            </a:r>
          </a:p>
        </p:txBody>
      </p:sp>
      <p:pic>
        <p:nvPicPr>
          <p:cNvPr id="3" name="Picture 2"/>
          <p:cNvPicPr>
            <a:picLocks noChangeAspect="1"/>
          </p:cNvPicPr>
          <p:nvPr/>
        </p:nvPicPr>
        <p:blipFill>
          <a:blip r:embed="rId3" cstate="print">
            <a:alphaModFix/>
            <a:lum/>
          </a:blip>
          <a:srcRect t="13812" b="35196"/>
          <a:stretch>
            <a:fillRect/>
          </a:stretch>
        </p:blipFill>
        <p:spPr>
          <a:xfrm>
            <a:off x="-979" y="2251488"/>
            <a:ext cx="4140931" cy="3193736"/>
          </a:xfrm>
          <a:prstGeom prst="rect">
            <a:avLst/>
          </a:prstGeom>
          <a:noFill/>
          <a:ln>
            <a:noFill/>
          </a:ln>
        </p:spPr>
      </p:pic>
      <p:sp>
        <p:nvSpPr>
          <p:cNvPr id="4" name="TextBox 3"/>
          <p:cNvSpPr txBox="1"/>
          <p:nvPr/>
        </p:nvSpPr>
        <p:spPr>
          <a:xfrm>
            <a:off x="827584" y="5445224"/>
            <a:ext cx="2808312" cy="347895"/>
          </a:xfrm>
          <a:prstGeom prst="rect">
            <a:avLst/>
          </a:prstGeom>
          <a:noFill/>
          <a:ln>
            <a:noFill/>
          </a:ln>
        </p:spPr>
        <p:txBody>
          <a:bodyPr vert="horz" wrap="square" lIns="81639" tIns="40820" rIns="81639" bIns="40820" compatLnSpc="0">
            <a:spAutoFit/>
          </a:bodyPr>
          <a:lstStyle/>
          <a:p>
            <a:pPr hangingPunct="0">
              <a:spcBef>
                <a:spcPts val="0"/>
              </a:spcBef>
              <a:spcAft>
                <a:spcPts val="0"/>
              </a:spcAft>
            </a:pPr>
            <a:r>
              <a:rPr lang="it-IT" dirty="0">
                <a:latin typeface="Nimbus Sans L" pitchFamily="18"/>
                <a:ea typeface="DejaVu Sans" pitchFamily="2"/>
                <a:cs typeface="DejaVu Sans" pitchFamily="2"/>
              </a:rPr>
              <a:t>Single </a:t>
            </a:r>
            <a:r>
              <a:rPr lang="it-IT" dirty="0" err="1">
                <a:latin typeface="Nimbus Sans L" pitchFamily="18"/>
                <a:ea typeface="DejaVu Sans" pitchFamily="2"/>
                <a:cs typeface="DejaVu Sans" pitchFamily="2"/>
              </a:rPr>
              <a:t>unit</a:t>
            </a:r>
            <a:r>
              <a:rPr lang="it-IT" dirty="0">
                <a:latin typeface="Nimbus Sans L" pitchFamily="18"/>
                <a:ea typeface="DejaVu Sans" pitchFamily="2"/>
                <a:cs typeface="DejaVu Sans" pitchFamily="2"/>
              </a:rPr>
              <a:t> </a:t>
            </a:r>
            <a:r>
              <a:rPr lang="it-IT" dirty="0" err="1">
                <a:latin typeface="Nimbus Sans L" pitchFamily="18"/>
                <a:ea typeface="DejaVu Sans" pitchFamily="2"/>
                <a:cs typeface="DejaVu Sans" pitchFamily="2"/>
              </a:rPr>
              <a:t>activity</a:t>
            </a:r>
            <a:r>
              <a:rPr lang="it-IT" dirty="0">
                <a:latin typeface="Nimbus Sans L" pitchFamily="18"/>
                <a:ea typeface="DejaVu Sans" pitchFamily="2"/>
                <a:cs typeface="DejaVu Sans" pitchFamily="2"/>
              </a:rPr>
              <a:t> - 10 </a:t>
            </a:r>
            <a:r>
              <a:rPr lang="it-IT" dirty="0" err="1">
                <a:latin typeface="Nimbus Sans L" pitchFamily="18"/>
                <a:ea typeface="DejaVu Sans" pitchFamily="2"/>
                <a:cs typeface="DejaVu Sans" pitchFamily="2"/>
              </a:rPr>
              <a:t>secs</a:t>
            </a:r>
            <a:endParaRPr lang="it-IT" dirty="0">
              <a:latin typeface="Nimbus Sans L" pitchFamily="18"/>
              <a:ea typeface="DejaVu Sans" pitchFamily="2"/>
              <a:cs typeface="DejaVu Sans" pitchFamily="2"/>
            </a:endParaRPr>
          </a:p>
        </p:txBody>
      </p:sp>
      <p:pic>
        <p:nvPicPr>
          <p:cNvPr id="5" name="Picture 4"/>
          <p:cNvPicPr>
            <a:picLocks noChangeAspect="1"/>
          </p:cNvPicPr>
          <p:nvPr/>
        </p:nvPicPr>
        <p:blipFill>
          <a:blip r:embed="rId3" cstate="print">
            <a:alphaModFix/>
            <a:lum/>
          </a:blip>
          <a:srcRect t="32207" r="1954" b="51697"/>
          <a:stretch>
            <a:fillRect/>
          </a:stretch>
        </p:blipFill>
        <p:spPr>
          <a:xfrm>
            <a:off x="35496" y="1340768"/>
            <a:ext cx="4060035" cy="1008112"/>
          </a:xfrm>
          <a:prstGeom prst="rect">
            <a:avLst/>
          </a:prstGeom>
          <a:noFill/>
          <a:ln>
            <a:noFill/>
          </a:ln>
        </p:spPr>
      </p:pic>
      <p:sp>
        <p:nvSpPr>
          <p:cNvPr id="6" name="Rectangle 5"/>
          <p:cNvSpPr/>
          <p:nvPr/>
        </p:nvSpPr>
        <p:spPr>
          <a:xfrm>
            <a:off x="1259632" y="3429000"/>
            <a:ext cx="65225"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39752" y="3501008"/>
            <a:ext cx="65225"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419872" y="3429000"/>
            <a:ext cx="65225"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483768" y="3429000"/>
            <a:ext cx="65225"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cstate="print">
            <a:alphaModFix/>
            <a:lum/>
          </a:blip>
          <a:srcRect l="12212" t="11208" r="8243" b="15020"/>
          <a:stretch>
            <a:fillRect/>
          </a:stretch>
        </p:blipFill>
        <p:spPr>
          <a:xfrm>
            <a:off x="4067944" y="1052736"/>
            <a:ext cx="4896544" cy="4464496"/>
          </a:xfrm>
          <a:prstGeom prst="rect">
            <a:avLst/>
          </a:prstGeom>
          <a:noFill/>
          <a:ln>
            <a:noFill/>
          </a:ln>
        </p:spPr>
      </p:pic>
      <p:sp>
        <p:nvSpPr>
          <p:cNvPr id="11" name="TextBox 10"/>
          <p:cNvSpPr txBox="1"/>
          <p:nvPr/>
        </p:nvSpPr>
        <p:spPr>
          <a:xfrm>
            <a:off x="4644008" y="5445224"/>
            <a:ext cx="4104456" cy="347895"/>
          </a:xfrm>
          <a:prstGeom prst="rect">
            <a:avLst/>
          </a:prstGeom>
          <a:noFill/>
          <a:ln>
            <a:noFill/>
          </a:ln>
        </p:spPr>
        <p:txBody>
          <a:bodyPr vert="horz" wrap="square" lIns="81639" tIns="40820" rIns="81639" bIns="40820" compatLnSpc="0">
            <a:spAutoFit/>
          </a:bodyPr>
          <a:lstStyle/>
          <a:p>
            <a:pPr hangingPunct="0">
              <a:spcBef>
                <a:spcPts val="0"/>
              </a:spcBef>
              <a:spcAft>
                <a:spcPts val="0"/>
              </a:spcAft>
            </a:pPr>
            <a:r>
              <a:rPr lang="it-IT" dirty="0" err="1">
                <a:latin typeface="Nimbus Sans L" pitchFamily="18"/>
                <a:ea typeface="DejaVu Sans" pitchFamily="2"/>
                <a:cs typeface="DejaVu Sans" pitchFamily="2"/>
              </a:rPr>
              <a:t>Local</a:t>
            </a:r>
            <a:r>
              <a:rPr lang="it-IT" dirty="0">
                <a:latin typeface="Nimbus Sans L" pitchFamily="18"/>
                <a:ea typeface="DejaVu Sans" pitchFamily="2"/>
                <a:cs typeface="DejaVu Sans" pitchFamily="2"/>
              </a:rPr>
              <a:t> </a:t>
            </a:r>
            <a:r>
              <a:rPr lang="it-IT" dirty="0" err="1">
                <a:latin typeface="Nimbus Sans L" pitchFamily="18"/>
                <a:ea typeface="DejaVu Sans" pitchFamily="2"/>
                <a:cs typeface="DejaVu Sans" pitchFamily="2"/>
              </a:rPr>
              <a:t>Field</a:t>
            </a:r>
            <a:r>
              <a:rPr lang="it-IT" dirty="0">
                <a:latin typeface="Nimbus Sans L" pitchFamily="18"/>
                <a:ea typeface="DejaVu Sans" pitchFamily="2"/>
                <a:cs typeface="DejaVu Sans" pitchFamily="2"/>
              </a:rPr>
              <a:t> </a:t>
            </a:r>
            <a:r>
              <a:rPr lang="it-IT" dirty="0" err="1">
                <a:latin typeface="Nimbus Sans L" pitchFamily="18"/>
                <a:ea typeface="DejaVu Sans" pitchFamily="2"/>
                <a:cs typeface="DejaVu Sans" pitchFamily="2"/>
              </a:rPr>
              <a:t>Potential</a:t>
            </a:r>
            <a:r>
              <a:rPr lang="it-IT" dirty="0">
                <a:latin typeface="Nimbus Sans L" pitchFamily="18"/>
                <a:ea typeface="DejaVu Sans" pitchFamily="2"/>
                <a:cs typeface="DejaVu Sans" pitchFamily="2"/>
              </a:rPr>
              <a:t> - 10 </a:t>
            </a:r>
            <a:r>
              <a:rPr lang="it-IT" dirty="0" err="1">
                <a:latin typeface="Nimbus Sans L" pitchFamily="18"/>
                <a:ea typeface="DejaVu Sans" pitchFamily="2"/>
                <a:cs typeface="DejaVu Sans" pitchFamily="2"/>
              </a:rPr>
              <a:t>secs</a:t>
            </a:r>
            <a:endParaRPr lang="it-IT" dirty="0">
              <a:latin typeface="Nimbus Sans L" pitchFamily="18"/>
              <a:ea typeface="DejaVu Sans" pitchFamily="2"/>
              <a:cs typeface="DejaVu Sans" pitchFamily="2"/>
            </a:endParaRPr>
          </a:p>
        </p:txBody>
      </p:sp>
      <p:sp>
        <p:nvSpPr>
          <p:cNvPr id="13" name="Text Box 4"/>
          <p:cNvSpPr txBox="1">
            <a:spLocks noChangeArrowheads="1"/>
          </p:cNvSpPr>
          <p:nvPr/>
        </p:nvSpPr>
        <p:spPr bwMode="auto">
          <a:xfrm>
            <a:off x="179512" y="6021288"/>
            <a:ext cx="8574782" cy="830997"/>
          </a:xfrm>
          <a:prstGeom prst="rect">
            <a:avLst/>
          </a:prstGeom>
          <a:noFill/>
          <a:ln w="9525">
            <a:noFill/>
            <a:miter lim="800000"/>
            <a:headEnd/>
            <a:tailEnd/>
          </a:ln>
        </p:spPr>
        <p:txBody>
          <a:bodyPr wrap="square">
            <a:spAutoFit/>
          </a:bodyPr>
          <a:lstStyle/>
          <a:p>
            <a:pPr algn="ctr">
              <a:spcBef>
                <a:spcPct val="50000"/>
              </a:spcBef>
            </a:pPr>
            <a:r>
              <a:rPr lang="en-US" sz="2400" dirty="0">
                <a:cs typeface="Arial" charset="0"/>
              </a:rPr>
              <a:t>The code must be composed by features that are DIFFERENT from scene to scene and SIMILAR across trials</a:t>
            </a:r>
          </a:p>
        </p:txBody>
      </p:sp>
    </p:spTree>
    <p:extLst>
      <p:ext uri="{BB962C8B-B14F-4D97-AF65-F5344CB8AC3E}">
        <p14:creationId xmlns:p14="http://schemas.microsoft.com/office/powerpoint/2010/main" val="194360546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6200"/>
            <a:ext cx="8964488" cy="1026157"/>
          </a:xfrm>
          <a:prstGeom prst="rect">
            <a:avLst/>
          </a:prstGeom>
          <a:noFill/>
          <a:ln>
            <a:noFill/>
          </a:ln>
        </p:spPr>
        <p:txBody>
          <a:bodyPr vert="horz" wrap="square" lIns="81639" tIns="40820" rIns="81639" bIns="40820" compatLnSpc="0">
            <a:spAutoFit/>
          </a:bodyPr>
          <a:lstStyle/>
          <a:p>
            <a:pPr algn="ctr" hangingPunct="0">
              <a:spcBef>
                <a:spcPts val="0"/>
              </a:spcBef>
              <a:spcAft>
                <a:spcPts val="0"/>
              </a:spcAft>
            </a:pPr>
            <a:r>
              <a:rPr lang="it-IT" sz="3200" dirty="0">
                <a:solidFill>
                  <a:srgbClr val="FF0000"/>
                </a:solidFill>
                <a:latin typeface="Arial" panose="020B0604020202020204" pitchFamily="34" charset="0"/>
                <a:ea typeface="DejaVu Sans" pitchFamily="2"/>
                <a:cs typeface="Arial" panose="020B0604020202020204" pitchFamily="34" charset="0"/>
              </a:rPr>
              <a:t>Response to multiple </a:t>
            </a:r>
            <a:r>
              <a:rPr lang="it-IT" sz="3200" dirty="0" err="1">
                <a:solidFill>
                  <a:srgbClr val="FF0000"/>
                </a:solidFill>
                <a:latin typeface="Arial" panose="020B0604020202020204" pitchFamily="34" charset="0"/>
                <a:ea typeface="DejaVu Sans" pitchFamily="2"/>
                <a:cs typeface="Arial" panose="020B0604020202020204" pitchFamily="34" charset="0"/>
              </a:rPr>
              <a:t>presentations</a:t>
            </a:r>
            <a:r>
              <a:rPr lang="it-IT" sz="3200" dirty="0">
                <a:solidFill>
                  <a:srgbClr val="FF0000"/>
                </a:solidFill>
                <a:latin typeface="Arial" panose="020B0604020202020204" pitchFamily="34" charset="0"/>
                <a:ea typeface="DejaVu Sans" pitchFamily="2"/>
                <a:cs typeface="Arial" panose="020B0604020202020204" pitchFamily="34" charset="0"/>
              </a:rPr>
              <a:t> </a:t>
            </a:r>
          </a:p>
          <a:p>
            <a:pPr algn="ctr" hangingPunct="0">
              <a:spcBef>
                <a:spcPts val="0"/>
              </a:spcBef>
              <a:spcAft>
                <a:spcPts val="0"/>
              </a:spcAft>
            </a:pPr>
            <a:r>
              <a:rPr lang="it-IT" sz="3200" dirty="0">
                <a:solidFill>
                  <a:srgbClr val="FF0000"/>
                </a:solidFill>
                <a:latin typeface="Arial" panose="020B0604020202020204" pitchFamily="34" charset="0"/>
                <a:ea typeface="DejaVu Sans" pitchFamily="2"/>
                <a:cs typeface="Arial" panose="020B0604020202020204" pitchFamily="34" charset="0"/>
              </a:rPr>
              <a:t>of the same movie clip</a:t>
            </a:r>
          </a:p>
        </p:txBody>
      </p:sp>
      <p:pic>
        <p:nvPicPr>
          <p:cNvPr id="3" name="Picture 2"/>
          <p:cNvPicPr>
            <a:picLocks noChangeAspect="1"/>
          </p:cNvPicPr>
          <p:nvPr/>
        </p:nvPicPr>
        <p:blipFill>
          <a:blip r:embed="rId3" cstate="print">
            <a:alphaModFix/>
            <a:lum/>
          </a:blip>
          <a:srcRect t="13812" b="35196"/>
          <a:stretch>
            <a:fillRect/>
          </a:stretch>
        </p:blipFill>
        <p:spPr>
          <a:xfrm>
            <a:off x="-979" y="2251488"/>
            <a:ext cx="4140931" cy="3193736"/>
          </a:xfrm>
          <a:prstGeom prst="rect">
            <a:avLst/>
          </a:prstGeom>
          <a:noFill/>
          <a:ln>
            <a:noFill/>
          </a:ln>
        </p:spPr>
      </p:pic>
      <p:sp>
        <p:nvSpPr>
          <p:cNvPr id="4" name="TextBox 3"/>
          <p:cNvSpPr txBox="1"/>
          <p:nvPr/>
        </p:nvSpPr>
        <p:spPr>
          <a:xfrm>
            <a:off x="827584" y="5445224"/>
            <a:ext cx="2808312" cy="347895"/>
          </a:xfrm>
          <a:prstGeom prst="rect">
            <a:avLst/>
          </a:prstGeom>
          <a:noFill/>
          <a:ln>
            <a:noFill/>
          </a:ln>
        </p:spPr>
        <p:txBody>
          <a:bodyPr vert="horz" wrap="square" lIns="81639" tIns="40820" rIns="81639" bIns="40820" compatLnSpc="0">
            <a:spAutoFit/>
          </a:bodyPr>
          <a:lstStyle/>
          <a:p>
            <a:pPr hangingPunct="0">
              <a:spcBef>
                <a:spcPts val="0"/>
              </a:spcBef>
              <a:spcAft>
                <a:spcPts val="0"/>
              </a:spcAft>
            </a:pPr>
            <a:r>
              <a:rPr lang="it-IT" dirty="0">
                <a:latin typeface="Nimbus Sans L" pitchFamily="18"/>
                <a:ea typeface="DejaVu Sans" pitchFamily="2"/>
                <a:cs typeface="DejaVu Sans" pitchFamily="2"/>
              </a:rPr>
              <a:t>Single </a:t>
            </a:r>
            <a:r>
              <a:rPr lang="it-IT" dirty="0" err="1">
                <a:latin typeface="Nimbus Sans L" pitchFamily="18"/>
                <a:ea typeface="DejaVu Sans" pitchFamily="2"/>
                <a:cs typeface="DejaVu Sans" pitchFamily="2"/>
              </a:rPr>
              <a:t>unit</a:t>
            </a:r>
            <a:r>
              <a:rPr lang="it-IT" dirty="0">
                <a:latin typeface="Nimbus Sans L" pitchFamily="18"/>
                <a:ea typeface="DejaVu Sans" pitchFamily="2"/>
                <a:cs typeface="DejaVu Sans" pitchFamily="2"/>
              </a:rPr>
              <a:t> </a:t>
            </a:r>
            <a:r>
              <a:rPr lang="it-IT" dirty="0" err="1">
                <a:latin typeface="Nimbus Sans L" pitchFamily="18"/>
                <a:ea typeface="DejaVu Sans" pitchFamily="2"/>
                <a:cs typeface="DejaVu Sans" pitchFamily="2"/>
              </a:rPr>
              <a:t>activity</a:t>
            </a:r>
            <a:r>
              <a:rPr lang="it-IT" dirty="0">
                <a:latin typeface="Nimbus Sans L" pitchFamily="18"/>
                <a:ea typeface="DejaVu Sans" pitchFamily="2"/>
                <a:cs typeface="DejaVu Sans" pitchFamily="2"/>
              </a:rPr>
              <a:t> - 10 </a:t>
            </a:r>
            <a:r>
              <a:rPr lang="it-IT" dirty="0" err="1">
                <a:latin typeface="Nimbus Sans L" pitchFamily="18"/>
                <a:ea typeface="DejaVu Sans" pitchFamily="2"/>
                <a:cs typeface="DejaVu Sans" pitchFamily="2"/>
              </a:rPr>
              <a:t>secs</a:t>
            </a:r>
            <a:endParaRPr lang="it-IT" dirty="0">
              <a:latin typeface="Nimbus Sans L" pitchFamily="18"/>
              <a:ea typeface="DejaVu Sans" pitchFamily="2"/>
              <a:cs typeface="DejaVu Sans" pitchFamily="2"/>
            </a:endParaRPr>
          </a:p>
        </p:txBody>
      </p:sp>
      <p:pic>
        <p:nvPicPr>
          <p:cNvPr id="5" name="Picture 4"/>
          <p:cNvPicPr>
            <a:picLocks noChangeAspect="1"/>
          </p:cNvPicPr>
          <p:nvPr/>
        </p:nvPicPr>
        <p:blipFill>
          <a:blip r:embed="rId3" cstate="print">
            <a:alphaModFix/>
            <a:lum/>
          </a:blip>
          <a:srcRect t="32207" r="1954" b="51697"/>
          <a:stretch>
            <a:fillRect/>
          </a:stretch>
        </p:blipFill>
        <p:spPr>
          <a:xfrm>
            <a:off x="35496" y="1340768"/>
            <a:ext cx="4060035" cy="1008112"/>
          </a:xfrm>
          <a:prstGeom prst="rect">
            <a:avLst/>
          </a:prstGeom>
          <a:noFill/>
          <a:ln>
            <a:noFill/>
          </a:ln>
        </p:spPr>
      </p:pic>
      <p:sp>
        <p:nvSpPr>
          <p:cNvPr id="6" name="Rectangle 5"/>
          <p:cNvSpPr/>
          <p:nvPr/>
        </p:nvSpPr>
        <p:spPr>
          <a:xfrm>
            <a:off x="1259632" y="3429000"/>
            <a:ext cx="65225"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39752" y="3501008"/>
            <a:ext cx="65225"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419872" y="3429000"/>
            <a:ext cx="65225"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483768" y="3429000"/>
            <a:ext cx="65225"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cstate="print">
            <a:alphaModFix/>
            <a:lum/>
          </a:blip>
          <a:srcRect l="12212" t="11208" r="8243" b="15020"/>
          <a:stretch>
            <a:fillRect/>
          </a:stretch>
        </p:blipFill>
        <p:spPr>
          <a:xfrm>
            <a:off x="4067944" y="1052736"/>
            <a:ext cx="4896544" cy="4464496"/>
          </a:xfrm>
          <a:prstGeom prst="rect">
            <a:avLst/>
          </a:prstGeom>
          <a:noFill/>
          <a:ln>
            <a:noFill/>
          </a:ln>
        </p:spPr>
      </p:pic>
      <p:sp>
        <p:nvSpPr>
          <p:cNvPr id="11" name="TextBox 10"/>
          <p:cNvSpPr txBox="1"/>
          <p:nvPr/>
        </p:nvSpPr>
        <p:spPr>
          <a:xfrm>
            <a:off x="4644008" y="5445224"/>
            <a:ext cx="4104456" cy="347895"/>
          </a:xfrm>
          <a:prstGeom prst="rect">
            <a:avLst/>
          </a:prstGeom>
          <a:noFill/>
          <a:ln>
            <a:noFill/>
          </a:ln>
        </p:spPr>
        <p:txBody>
          <a:bodyPr vert="horz" wrap="square" lIns="81639" tIns="40820" rIns="81639" bIns="40820" compatLnSpc="0">
            <a:spAutoFit/>
          </a:bodyPr>
          <a:lstStyle/>
          <a:p>
            <a:pPr hangingPunct="0">
              <a:spcBef>
                <a:spcPts val="0"/>
              </a:spcBef>
              <a:spcAft>
                <a:spcPts val="0"/>
              </a:spcAft>
            </a:pPr>
            <a:r>
              <a:rPr lang="it-IT" dirty="0" err="1">
                <a:latin typeface="Nimbus Sans L" pitchFamily="18"/>
                <a:ea typeface="DejaVu Sans" pitchFamily="2"/>
                <a:cs typeface="DejaVu Sans" pitchFamily="2"/>
              </a:rPr>
              <a:t>Local</a:t>
            </a:r>
            <a:r>
              <a:rPr lang="it-IT" dirty="0">
                <a:latin typeface="Nimbus Sans L" pitchFamily="18"/>
                <a:ea typeface="DejaVu Sans" pitchFamily="2"/>
                <a:cs typeface="DejaVu Sans" pitchFamily="2"/>
              </a:rPr>
              <a:t> </a:t>
            </a:r>
            <a:r>
              <a:rPr lang="it-IT" dirty="0" err="1">
                <a:latin typeface="Nimbus Sans L" pitchFamily="18"/>
                <a:ea typeface="DejaVu Sans" pitchFamily="2"/>
                <a:cs typeface="DejaVu Sans" pitchFamily="2"/>
              </a:rPr>
              <a:t>Field</a:t>
            </a:r>
            <a:r>
              <a:rPr lang="it-IT" dirty="0">
                <a:latin typeface="Nimbus Sans L" pitchFamily="18"/>
                <a:ea typeface="DejaVu Sans" pitchFamily="2"/>
                <a:cs typeface="DejaVu Sans" pitchFamily="2"/>
              </a:rPr>
              <a:t> </a:t>
            </a:r>
            <a:r>
              <a:rPr lang="it-IT" dirty="0" err="1">
                <a:latin typeface="Nimbus Sans L" pitchFamily="18"/>
                <a:ea typeface="DejaVu Sans" pitchFamily="2"/>
                <a:cs typeface="DejaVu Sans" pitchFamily="2"/>
              </a:rPr>
              <a:t>Potential</a:t>
            </a:r>
            <a:r>
              <a:rPr lang="it-IT" dirty="0">
                <a:latin typeface="Nimbus Sans L" pitchFamily="18"/>
                <a:ea typeface="DejaVu Sans" pitchFamily="2"/>
                <a:cs typeface="DejaVu Sans" pitchFamily="2"/>
              </a:rPr>
              <a:t> - 10 </a:t>
            </a:r>
            <a:r>
              <a:rPr lang="it-IT" dirty="0" err="1">
                <a:latin typeface="Nimbus Sans L" pitchFamily="18"/>
                <a:ea typeface="DejaVu Sans" pitchFamily="2"/>
                <a:cs typeface="DejaVu Sans" pitchFamily="2"/>
              </a:rPr>
              <a:t>secs</a:t>
            </a:r>
            <a:endParaRPr lang="it-IT" dirty="0">
              <a:latin typeface="Nimbus Sans L" pitchFamily="18"/>
              <a:ea typeface="DejaVu Sans" pitchFamily="2"/>
              <a:cs typeface="DejaVu Sans" pitchFamily="2"/>
            </a:endParaRPr>
          </a:p>
        </p:txBody>
      </p:sp>
      <p:sp>
        <p:nvSpPr>
          <p:cNvPr id="13" name="Text Box 4"/>
          <p:cNvSpPr txBox="1">
            <a:spLocks noChangeArrowheads="1"/>
          </p:cNvSpPr>
          <p:nvPr/>
        </p:nvSpPr>
        <p:spPr bwMode="auto">
          <a:xfrm>
            <a:off x="179512" y="6021288"/>
            <a:ext cx="8574782" cy="830997"/>
          </a:xfrm>
          <a:prstGeom prst="rect">
            <a:avLst/>
          </a:prstGeom>
          <a:noFill/>
          <a:ln w="9525">
            <a:noFill/>
            <a:miter lim="800000"/>
            <a:headEnd/>
            <a:tailEnd/>
          </a:ln>
        </p:spPr>
        <p:txBody>
          <a:bodyPr wrap="square">
            <a:spAutoFit/>
          </a:bodyPr>
          <a:lstStyle/>
          <a:p>
            <a:pPr algn="ctr">
              <a:spcBef>
                <a:spcPct val="50000"/>
              </a:spcBef>
            </a:pPr>
            <a:r>
              <a:rPr lang="en-US" sz="2400" dirty="0">
                <a:cs typeface="Arial" charset="0"/>
              </a:rPr>
              <a:t>The code must be composed by features that are DIFFERENT from scene to scene and SIMILAR across trials</a:t>
            </a:r>
          </a:p>
        </p:txBody>
      </p:sp>
      <p:sp>
        <p:nvSpPr>
          <p:cNvPr id="12" name="Ovale 11">
            <a:extLst>
              <a:ext uri="{FF2B5EF4-FFF2-40B4-BE49-F238E27FC236}">
                <a16:creationId xmlns:a16="http://schemas.microsoft.com/office/drawing/2014/main" id="{ECFFBCC2-9A88-4F42-9708-F014D8E8BF92}"/>
              </a:ext>
            </a:extLst>
          </p:cNvPr>
          <p:cNvSpPr/>
          <p:nvPr/>
        </p:nvSpPr>
        <p:spPr>
          <a:xfrm>
            <a:off x="357158" y="1104605"/>
            <a:ext cx="7527210" cy="4815967"/>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t-IT" sz="2400" b="1" dirty="0"/>
              <a:t>Reliability: </a:t>
            </a:r>
            <a:r>
              <a:rPr lang="it-IT" sz="2400" dirty="0"/>
              <a:t>the </a:t>
            </a:r>
            <a:r>
              <a:rPr lang="it-IT" sz="2400" dirty="0" err="1"/>
              <a:t>response</a:t>
            </a:r>
            <a:r>
              <a:rPr lang="it-IT" sz="2400" dirty="0"/>
              <a:t> </a:t>
            </a:r>
            <a:r>
              <a:rPr lang="it-IT" sz="2400" dirty="0" err="1"/>
              <a:t>is</a:t>
            </a:r>
            <a:r>
              <a:rPr lang="it-IT" sz="2400" dirty="0"/>
              <a:t> </a:t>
            </a:r>
            <a:r>
              <a:rPr lang="it-IT" sz="2400" dirty="0" err="1"/>
              <a:t>similar</a:t>
            </a:r>
            <a:r>
              <a:rPr lang="it-IT" sz="2400" dirty="0"/>
              <a:t> </a:t>
            </a:r>
            <a:r>
              <a:rPr lang="it-IT" sz="2400" dirty="0" err="1"/>
              <a:t>across</a:t>
            </a:r>
            <a:r>
              <a:rPr lang="it-IT" sz="2400" dirty="0"/>
              <a:t> </a:t>
            </a:r>
            <a:r>
              <a:rPr lang="it-IT" sz="2400" dirty="0" err="1"/>
              <a:t>different</a:t>
            </a:r>
            <a:r>
              <a:rPr lang="it-IT" sz="2400" dirty="0"/>
              <a:t> </a:t>
            </a:r>
            <a:r>
              <a:rPr lang="it-IT" sz="2400" dirty="0" err="1"/>
              <a:t>presentations</a:t>
            </a:r>
            <a:r>
              <a:rPr lang="it-IT" sz="2400" dirty="0"/>
              <a:t> of the </a:t>
            </a:r>
            <a:r>
              <a:rPr lang="it-IT" sz="2400" dirty="0" err="1"/>
              <a:t>same</a:t>
            </a:r>
            <a:r>
              <a:rPr lang="it-IT" sz="2400" dirty="0"/>
              <a:t> </a:t>
            </a:r>
            <a:r>
              <a:rPr lang="it-IT" sz="2400" dirty="0" err="1"/>
              <a:t>stimuli</a:t>
            </a:r>
            <a:r>
              <a:rPr lang="it-IT" sz="2400" dirty="0"/>
              <a:t>. (</a:t>
            </a:r>
            <a:r>
              <a:rPr lang="it-IT" sz="2400" dirty="0" err="1"/>
              <a:t>Important</a:t>
            </a:r>
            <a:r>
              <a:rPr lang="it-IT" sz="2400" dirty="0"/>
              <a:t> to </a:t>
            </a:r>
            <a:r>
              <a:rPr lang="it-IT" sz="2400" dirty="0" err="1"/>
              <a:t>define</a:t>
            </a:r>
            <a:r>
              <a:rPr lang="it-IT" sz="2400" dirty="0"/>
              <a:t> </a:t>
            </a:r>
            <a:r>
              <a:rPr lang="it-IT" sz="2400" dirty="0" err="1"/>
              <a:t>properly</a:t>
            </a:r>
            <a:r>
              <a:rPr lang="it-IT" sz="2400" dirty="0"/>
              <a:t> </a:t>
            </a:r>
            <a:r>
              <a:rPr lang="it-IT" sz="2400" dirty="0" err="1"/>
              <a:t>what</a:t>
            </a:r>
            <a:r>
              <a:rPr lang="it-IT" sz="2400" dirty="0"/>
              <a:t> do </a:t>
            </a:r>
            <a:r>
              <a:rPr lang="it-IT" sz="2400" dirty="0" err="1"/>
              <a:t>we</a:t>
            </a:r>
            <a:r>
              <a:rPr lang="it-IT" sz="2400" dirty="0"/>
              <a:t> </a:t>
            </a:r>
            <a:r>
              <a:rPr lang="it-IT" sz="2400" dirty="0" err="1"/>
              <a:t>mean</a:t>
            </a:r>
            <a:r>
              <a:rPr lang="it-IT" sz="2400" dirty="0"/>
              <a:t> with «</a:t>
            </a:r>
            <a:r>
              <a:rPr lang="it-IT" sz="2400" dirty="0" err="1"/>
              <a:t>similar</a:t>
            </a:r>
            <a:r>
              <a:rPr lang="it-IT" sz="2400" dirty="0"/>
              <a:t>») </a:t>
            </a:r>
          </a:p>
          <a:p>
            <a:pPr algn="ctr"/>
            <a:r>
              <a:rPr lang="it-IT" sz="2400" b="1" dirty="0" err="1"/>
              <a:t>Sensitivity</a:t>
            </a:r>
            <a:r>
              <a:rPr lang="it-IT" sz="2400" b="1" dirty="0"/>
              <a:t>: </a:t>
            </a:r>
            <a:r>
              <a:rPr lang="it-IT" sz="2400" dirty="0"/>
              <a:t>The </a:t>
            </a:r>
            <a:r>
              <a:rPr lang="it-IT" sz="2400" dirty="0" err="1"/>
              <a:t>response</a:t>
            </a:r>
            <a:r>
              <a:rPr lang="it-IT" sz="2400" dirty="0"/>
              <a:t> to </a:t>
            </a:r>
            <a:r>
              <a:rPr lang="it-IT" sz="2400" dirty="0" err="1"/>
              <a:t>different</a:t>
            </a:r>
            <a:r>
              <a:rPr lang="it-IT" sz="2400" dirty="0"/>
              <a:t> </a:t>
            </a:r>
            <a:r>
              <a:rPr lang="it-IT" sz="2400" dirty="0" err="1"/>
              <a:t>stimuli</a:t>
            </a:r>
            <a:r>
              <a:rPr lang="it-IT" sz="2400" dirty="0"/>
              <a:t> </a:t>
            </a:r>
            <a:r>
              <a:rPr lang="it-IT" sz="2400" dirty="0" err="1"/>
              <a:t>is</a:t>
            </a:r>
            <a:r>
              <a:rPr lang="it-IT" sz="2400" dirty="0"/>
              <a:t> </a:t>
            </a:r>
            <a:r>
              <a:rPr lang="it-IT" sz="2400" dirty="0" err="1"/>
              <a:t>not</a:t>
            </a:r>
            <a:r>
              <a:rPr lang="it-IT" sz="2400" dirty="0"/>
              <a:t> </a:t>
            </a:r>
            <a:r>
              <a:rPr lang="it-IT" sz="2400" dirty="0" err="1"/>
              <a:t>similar</a:t>
            </a:r>
            <a:r>
              <a:rPr lang="it-IT" sz="2400" dirty="0"/>
              <a:t> (on </a:t>
            </a:r>
            <a:r>
              <a:rPr lang="it-IT" sz="2400" dirty="0" err="1"/>
              <a:t>average</a:t>
            </a:r>
            <a:r>
              <a:rPr lang="it-IT" sz="2400" dirty="0"/>
              <a:t> </a:t>
            </a:r>
            <a:r>
              <a:rPr lang="it-IT" sz="2400" dirty="0" err="1"/>
              <a:t>across</a:t>
            </a:r>
            <a:r>
              <a:rPr lang="it-IT" sz="2400" dirty="0"/>
              <a:t> </a:t>
            </a:r>
            <a:r>
              <a:rPr lang="it-IT" sz="2400" dirty="0" err="1"/>
              <a:t>presentations</a:t>
            </a:r>
            <a:r>
              <a:rPr lang="it-IT" sz="2400" dirty="0"/>
              <a:t>).</a:t>
            </a:r>
          </a:p>
          <a:p>
            <a:pPr algn="ctr"/>
            <a:r>
              <a:rPr lang="it-IT" sz="2400" dirty="0" err="1"/>
              <a:t>You</a:t>
            </a:r>
            <a:r>
              <a:rPr lang="it-IT" sz="2400" dirty="0"/>
              <a:t> </a:t>
            </a:r>
            <a:r>
              <a:rPr lang="it-IT" sz="2400" dirty="0" err="1"/>
              <a:t>need</a:t>
            </a:r>
            <a:r>
              <a:rPr lang="it-IT" sz="2400" dirty="0"/>
              <a:t> BOTH </a:t>
            </a:r>
            <a:r>
              <a:rPr lang="it-IT" sz="2400" dirty="0" err="1"/>
              <a:t>things</a:t>
            </a:r>
            <a:r>
              <a:rPr lang="it-IT" sz="2400" dirty="0"/>
              <a:t> for a code to be informative</a:t>
            </a:r>
          </a:p>
        </p:txBody>
      </p:sp>
    </p:spTree>
    <p:extLst>
      <p:ext uri="{BB962C8B-B14F-4D97-AF65-F5344CB8AC3E}">
        <p14:creationId xmlns:p14="http://schemas.microsoft.com/office/powerpoint/2010/main" val="370169546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2"/>
          </p:nvPr>
        </p:nvSpPr>
        <p:spPr/>
        <p:txBody>
          <a:bodyPr/>
          <a:lstStyle/>
          <a:p>
            <a:fld id="{D9FE0BB3-1E11-4A32-BE68-2E31BE9B7F1F}" type="slidenum">
              <a:rPr lang="en-US"/>
              <a:pPr/>
              <a:t>29</a:t>
            </a:fld>
            <a:endParaRPr lang="en-US"/>
          </a:p>
        </p:txBody>
      </p:sp>
      <p:sp>
        <p:nvSpPr>
          <p:cNvPr id="162818" name="Text Box 2"/>
          <p:cNvSpPr txBox="1">
            <a:spLocks noChangeArrowheads="1"/>
          </p:cNvSpPr>
          <p:nvPr/>
        </p:nvSpPr>
        <p:spPr bwMode="auto">
          <a:xfrm>
            <a:off x="357188" y="404813"/>
            <a:ext cx="84296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sz="2800" b="1" dirty="0">
                <a:solidFill>
                  <a:srgbClr val="FF0000"/>
                </a:solidFill>
              </a:rPr>
              <a:t>The spike count hypothesis</a:t>
            </a:r>
            <a:endParaRPr lang="en-US" sz="2800" dirty="0">
              <a:solidFill>
                <a:srgbClr val="FF0000"/>
              </a:solidFill>
            </a:endParaRPr>
          </a:p>
        </p:txBody>
      </p:sp>
      <p:sp>
        <p:nvSpPr>
          <p:cNvPr id="162819" name="Text Box 3"/>
          <p:cNvSpPr txBox="1">
            <a:spLocks noChangeArrowheads="1"/>
          </p:cNvSpPr>
          <p:nvPr/>
        </p:nvSpPr>
        <p:spPr bwMode="auto">
          <a:xfrm>
            <a:off x="323850" y="1052513"/>
            <a:ext cx="8012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120000"/>
              </a:lnSpc>
              <a:buFontTx/>
              <a:buChar char="•"/>
            </a:pPr>
            <a:endParaRPr lang="it-IT" sz="2000" i="1">
              <a:latin typeface="Times New Roman" pitchFamily="18" charset="0"/>
            </a:endParaRPr>
          </a:p>
        </p:txBody>
      </p:sp>
      <p:sp>
        <p:nvSpPr>
          <p:cNvPr id="162820" name="Text Box 4"/>
          <p:cNvSpPr txBox="1">
            <a:spLocks noChangeArrowheads="1"/>
          </p:cNvSpPr>
          <p:nvPr/>
        </p:nvSpPr>
        <p:spPr bwMode="auto">
          <a:xfrm>
            <a:off x="539750" y="836613"/>
            <a:ext cx="7653338"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dirty="0"/>
              <a:t>The simple hypothesis is that the intensity of the stimulus is encoded by the number of spikes emitted by the neuron: the higher the stimulus intensity, the higher the number of spikes emitted by the neuron</a:t>
            </a:r>
          </a:p>
          <a:p>
            <a:endParaRPr lang="en-GB" dirty="0"/>
          </a:p>
          <a:p>
            <a:r>
              <a:rPr lang="en-GB" dirty="0"/>
              <a:t>The spike count hypothesis is also called the firing rate hypothesis (firing rate = number of spikes per second)</a:t>
            </a:r>
            <a:endParaRPr lang="en-US" dirty="0"/>
          </a:p>
        </p:txBody>
      </p:sp>
      <p:pic>
        <p:nvPicPr>
          <p:cNvPr id="162821" name="Picture 5"/>
          <p:cNvPicPr>
            <a:picLocks noChangeAspect="1" noChangeArrowheads="1"/>
          </p:cNvPicPr>
          <p:nvPr/>
        </p:nvPicPr>
        <p:blipFill>
          <a:blip r:embed="rId2">
            <a:extLst>
              <a:ext uri="{28A0092B-C50C-407E-A947-70E740481C1C}">
                <a14:useLocalDpi xmlns:a14="http://schemas.microsoft.com/office/drawing/2010/main" val="0"/>
              </a:ext>
            </a:extLst>
          </a:blip>
          <a:srcRect r="51846"/>
          <a:stretch>
            <a:fillRect/>
          </a:stretch>
        </p:blipFill>
        <p:spPr bwMode="auto">
          <a:xfrm>
            <a:off x="323850" y="2933700"/>
            <a:ext cx="3768725"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2822" name="Text Box 6"/>
          <p:cNvSpPr txBox="1">
            <a:spLocks noChangeArrowheads="1"/>
          </p:cNvSpPr>
          <p:nvPr/>
        </p:nvSpPr>
        <p:spPr bwMode="auto">
          <a:xfrm>
            <a:off x="4366419" y="3446462"/>
            <a:ext cx="4556125"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dirty="0"/>
              <a:t>Lord Adrian (1928). The pioneer of the spike count code.</a:t>
            </a:r>
          </a:p>
          <a:p>
            <a:r>
              <a:rPr lang="en-GB" dirty="0"/>
              <a:t>He showed that the number of spikes emitted by a frog’s stretch receptor on a muscle increased when increasing the weight load applied to the muscle.</a:t>
            </a:r>
          </a:p>
          <a:p>
            <a:r>
              <a:rPr lang="en-GB" dirty="0"/>
              <a:t>Spike counts increased with stimulus intensity. </a:t>
            </a:r>
            <a:endParaRPr lang="en-US" dirty="0"/>
          </a:p>
        </p:txBody>
      </p:sp>
      <p:sp>
        <p:nvSpPr>
          <p:cNvPr id="9" name="CasellaDiTesto 8"/>
          <p:cNvSpPr txBox="1"/>
          <p:nvPr/>
        </p:nvSpPr>
        <p:spPr>
          <a:xfrm>
            <a:off x="142844" y="5929330"/>
            <a:ext cx="7858180" cy="830997"/>
          </a:xfrm>
          <a:prstGeom prst="rect">
            <a:avLst/>
          </a:prstGeom>
          <a:noFill/>
        </p:spPr>
        <p:txBody>
          <a:bodyPr wrap="square" rtlCol="0">
            <a:spAutoFit/>
          </a:bodyPr>
          <a:lstStyle/>
          <a:p>
            <a:pPr algn="ctr"/>
            <a:r>
              <a:rPr lang="it-IT" sz="2400" dirty="0"/>
              <a:t>IT WORKS 80% OF THE TIMES OR MORE FOR INTENSITY MEASURES (CONTRAST, PRESSURE)</a:t>
            </a:r>
          </a:p>
        </p:txBody>
      </p:sp>
    </p:spTree>
    <p:extLst>
      <p:ext uri="{BB962C8B-B14F-4D97-AF65-F5344CB8AC3E}">
        <p14:creationId xmlns:p14="http://schemas.microsoft.com/office/powerpoint/2010/main" val="1560455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2"/>
          </p:nvPr>
        </p:nvSpPr>
        <p:spPr/>
        <p:txBody>
          <a:bodyPr/>
          <a:lstStyle/>
          <a:p>
            <a:fld id="{D9FE0BB3-1E11-4A32-BE68-2E31BE9B7F1F}" type="slidenum">
              <a:rPr lang="en-US"/>
              <a:pPr/>
              <a:t>30</a:t>
            </a:fld>
            <a:endParaRPr lang="en-US"/>
          </a:p>
        </p:txBody>
      </p:sp>
      <p:sp>
        <p:nvSpPr>
          <p:cNvPr id="162818" name="Text Box 2"/>
          <p:cNvSpPr txBox="1">
            <a:spLocks noChangeArrowheads="1"/>
          </p:cNvSpPr>
          <p:nvPr/>
        </p:nvSpPr>
        <p:spPr bwMode="auto">
          <a:xfrm>
            <a:off x="357188" y="404813"/>
            <a:ext cx="84296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sz="2800" b="1" dirty="0">
                <a:solidFill>
                  <a:srgbClr val="FF0000"/>
                </a:solidFill>
              </a:rPr>
              <a:t>The spike count hypothesis</a:t>
            </a:r>
            <a:endParaRPr lang="en-US" sz="2800" dirty="0">
              <a:solidFill>
                <a:srgbClr val="FF0000"/>
              </a:solidFill>
            </a:endParaRPr>
          </a:p>
        </p:txBody>
      </p:sp>
      <p:sp>
        <p:nvSpPr>
          <p:cNvPr id="162819" name="Text Box 3"/>
          <p:cNvSpPr txBox="1">
            <a:spLocks noChangeArrowheads="1"/>
          </p:cNvSpPr>
          <p:nvPr/>
        </p:nvSpPr>
        <p:spPr bwMode="auto">
          <a:xfrm>
            <a:off x="323850" y="1052513"/>
            <a:ext cx="8012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120000"/>
              </a:lnSpc>
              <a:buFontTx/>
              <a:buChar char="•"/>
            </a:pPr>
            <a:endParaRPr lang="it-IT" sz="2000" i="1">
              <a:latin typeface="Times New Roman" pitchFamily="18" charset="0"/>
            </a:endParaRPr>
          </a:p>
        </p:txBody>
      </p:sp>
      <p:sp>
        <p:nvSpPr>
          <p:cNvPr id="162820" name="Text Box 4"/>
          <p:cNvSpPr txBox="1">
            <a:spLocks noChangeArrowheads="1"/>
          </p:cNvSpPr>
          <p:nvPr/>
        </p:nvSpPr>
        <p:spPr bwMode="auto">
          <a:xfrm>
            <a:off x="539750" y="836613"/>
            <a:ext cx="7653338"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dirty="0"/>
              <a:t>The simple hypothesis is that the intensity of the stimulus is encoded by the number of spikes emitted by the neuron: the higher the stimulus intensity, the higher the number of spikes emitted by the neuron</a:t>
            </a:r>
          </a:p>
          <a:p>
            <a:endParaRPr lang="en-GB" dirty="0"/>
          </a:p>
          <a:p>
            <a:r>
              <a:rPr lang="en-GB" dirty="0"/>
              <a:t>The spike count hypothesis is also called the firing rate hypothesis (firing rate = number of spikes per second)</a:t>
            </a:r>
            <a:endParaRPr lang="en-US" dirty="0"/>
          </a:p>
        </p:txBody>
      </p:sp>
      <p:pic>
        <p:nvPicPr>
          <p:cNvPr id="162821" name="Picture 5"/>
          <p:cNvPicPr>
            <a:picLocks noChangeAspect="1" noChangeArrowheads="1"/>
          </p:cNvPicPr>
          <p:nvPr/>
        </p:nvPicPr>
        <p:blipFill>
          <a:blip r:embed="rId2">
            <a:extLst>
              <a:ext uri="{28A0092B-C50C-407E-A947-70E740481C1C}">
                <a14:useLocalDpi xmlns:a14="http://schemas.microsoft.com/office/drawing/2010/main" val="0"/>
              </a:ext>
            </a:extLst>
          </a:blip>
          <a:srcRect r="51846"/>
          <a:stretch>
            <a:fillRect/>
          </a:stretch>
        </p:blipFill>
        <p:spPr bwMode="auto">
          <a:xfrm>
            <a:off x="323850" y="2933700"/>
            <a:ext cx="3768725"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2822" name="Text Box 6"/>
          <p:cNvSpPr txBox="1">
            <a:spLocks noChangeArrowheads="1"/>
          </p:cNvSpPr>
          <p:nvPr/>
        </p:nvSpPr>
        <p:spPr bwMode="auto">
          <a:xfrm>
            <a:off x="4366419" y="3446462"/>
            <a:ext cx="4556125"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dirty="0"/>
              <a:t>Lord Adrian (1928). The pioneer of the spike count code.</a:t>
            </a:r>
          </a:p>
          <a:p>
            <a:r>
              <a:rPr lang="en-GB" dirty="0"/>
              <a:t>He showed that the number of spikes emitted by a frog’s stretch receptor on a muscle increased when increasing the weight load applied to the muscle.</a:t>
            </a:r>
          </a:p>
          <a:p>
            <a:r>
              <a:rPr lang="en-GB" dirty="0"/>
              <a:t>Spike counts increased with stimulus intensity. </a:t>
            </a:r>
            <a:endParaRPr lang="en-US" dirty="0"/>
          </a:p>
        </p:txBody>
      </p:sp>
      <p:sp>
        <p:nvSpPr>
          <p:cNvPr id="9" name="CasellaDiTesto 8"/>
          <p:cNvSpPr txBox="1"/>
          <p:nvPr/>
        </p:nvSpPr>
        <p:spPr>
          <a:xfrm>
            <a:off x="142844" y="5929330"/>
            <a:ext cx="7858180" cy="830997"/>
          </a:xfrm>
          <a:prstGeom prst="rect">
            <a:avLst/>
          </a:prstGeom>
          <a:noFill/>
        </p:spPr>
        <p:txBody>
          <a:bodyPr wrap="square" rtlCol="0">
            <a:spAutoFit/>
          </a:bodyPr>
          <a:lstStyle/>
          <a:p>
            <a:pPr algn="ctr"/>
            <a:r>
              <a:rPr lang="it-IT" sz="2400" dirty="0"/>
              <a:t>IT WORKS 80% OF THE TIMES OR MORE FOR INTENSITY MEASURES (CONTRAST, PRESSURE)</a:t>
            </a:r>
          </a:p>
        </p:txBody>
      </p:sp>
      <p:sp>
        <p:nvSpPr>
          <p:cNvPr id="2" name="Ovale 1">
            <a:extLst>
              <a:ext uri="{FF2B5EF4-FFF2-40B4-BE49-F238E27FC236}">
                <a16:creationId xmlns:a16="http://schemas.microsoft.com/office/drawing/2014/main" id="{46DC5269-FB36-4EAC-93A6-CB1DA8B1D9DD}"/>
              </a:ext>
            </a:extLst>
          </p:cNvPr>
          <p:cNvSpPr/>
          <p:nvPr/>
        </p:nvSpPr>
        <p:spPr>
          <a:xfrm>
            <a:off x="357158" y="1340768"/>
            <a:ext cx="7527210" cy="291703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t-IT" sz="2400" b="1" dirty="0"/>
              <a:t>Spike </a:t>
            </a:r>
            <a:r>
              <a:rPr lang="it-IT" sz="2400" b="1" dirty="0" err="1"/>
              <a:t>count</a:t>
            </a:r>
            <a:r>
              <a:rPr lang="it-IT" sz="2400" b="1" dirty="0"/>
              <a:t>: </a:t>
            </a:r>
            <a:r>
              <a:rPr lang="it-IT" sz="2400" dirty="0" err="1"/>
              <a:t>you</a:t>
            </a:r>
            <a:r>
              <a:rPr lang="it-IT" sz="2400" dirty="0"/>
              <a:t> </a:t>
            </a:r>
            <a:r>
              <a:rPr lang="it-IT" sz="2400" dirty="0" err="1"/>
              <a:t>identify</a:t>
            </a:r>
            <a:r>
              <a:rPr lang="it-IT" sz="2400" dirty="0"/>
              <a:t> the </a:t>
            </a:r>
            <a:r>
              <a:rPr lang="it-IT" sz="2400" dirty="0" err="1"/>
              <a:t>relevant</a:t>
            </a:r>
            <a:r>
              <a:rPr lang="it-IT" sz="2400" dirty="0"/>
              <a:t> </a:t>
            </a:r>
            <a:r>
              <a:rPr lang="it-IT" sz="2400" dirty="0" err="1"/>
              <a:t>response</a:t>
            </a:r>
            <a:r>
              <a:rPr lang="it-IT" sz="2400" dirty="0"/>
              <a:t> window to a </a:t>
            </a:r>
            <a:r>
              <a:rPr lang="it-IT" sz="2400" dirty="0" err="1"/>
              <a:t>given</a:t>
            </a:r>
            <a:r>
              <a:rPr lang="it-IT" sz="2400" dirty="0"/>
              <a:t> set of </a:t>
            </a:r>
            <a:r>
              <a:rPr lang="it-IT" sz="2400" dirty="0" err="1"/>
              <a:t>stimuli</a:t>
            </a:r>
            <a:r>
              <a:rPr lang="it-IT" sz="2400" dirty="0"/>
              <a:t>. The </a:t>
            </a:r>
            <a:r>
              <a:rPr lang="it-IT" sz="2400" dirty="0" err="1"/>
              <a:t>stimulus</a:t>
            </a:r>
            <a:r>
              <a:rPr lang="it-IT" sz="2400" dirty="0"/>
              <a:t> </a:t>
            </a:r>
            <a:r>
              <a:rPr lang="it-IT" sz="2400" dirty="0" err="1"/>
              <a:t>identity</a:t>
            </a:r>
            <a:r>
              <a:rPr lang="it-IT" sz="2400" dirty="0"/>
              <a:t> </a:t>
            </a:r>
            <a:r>
              <a:rPr lang="it-IT" sz="2400" dirty="0" err="1"/>
              <a:t>is</a:t>
            </a:r>
            <a:r>
              <a:rPr lang="it-IT" sz="2400" dirty="0"/>
              <a:t> </a:t>
            </a:r>
            <a:r>
              <a:rPr lang="it-IT" sz="2400" dirty="0" err="1"/>
              <a:t>encoded</a:t>
            </a:r>
            <a:r>
              <a:rPr lang="it-IT" sz="2400" dirty="0"/>
              <a:t> by the </a:t>
            </a:r>
            <a:r>
              <a:rPr lang="it-IT" sz="2400" dirty="0" err="1"/>
              <a:t>number</a:t>
            </a:r>
            <a:r>
              <a:rPr lang="it-IT" sz="2400" dirty="0"/>
              <a:t> of spikes </a:t>
            </a:r>
            <a:r>
              <a:rPr lang="it-IT" sz="2400" dirty="0" err="1"/>
              <a:t>fired</a:t>
            </a:r>
            <a:r>
              <a:rPr lang="it-IT" sz="2400" dirty="0"/>
              <a:t> in the window.</a:t>
            </a:r>
          </a:p>
        </p:txBody>
      </p:sp>
    </p:spTree>
    <p:extLst>
      <p:ext uri="{BB962C8B-B14F-4D97-AF65-F5344CB8AC3E}">
        <p14:creationId xmlns:p14="http://schemas.microsoft.com/office/powerpoint/2010/main" val="4291103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8A3CF669-BC33-4C50-BA25-D581818AD817}" type="slidenum">
              <a:rPr lang="en-US"/>
              <a:pPr/>
              <a:t>31</a:t>
            </a:fld>
            <a:endParaRPr lang="en-US"/>
          </a:p>
        </p:txBody>
      </p:sp>
      <p:sp>
        <p:nvSpPr>
          <p:cNvPr id="163842" name="Text Box 2"/>
          <p:cNvSpPr txBox="1">
            <a:spLocks noChangeArrowheads="1"/>
          </p:cNvSpPr>
          <p:nvPr/>
        </p:nvSpPr>
        <p:spPr bwMode="auto">
          <a:xfrm>
            <a:off x="357188" y="404813"/>
            <a:ext cx="84296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sz="3200" b="1" dirty="0">
                <a:solidFill>
                  <a:srgbClr val="FF0000"/>
                </a:solidFill>
              </a:rPr>
              <a:t>The spike count hypothesis - refined</a:t>
            </a:r>
            <a:endParaRPr lang="en-US" sz="3200" dirty="0">
              <a:solidFill>
                <a:srgbClr val="FF0000"/>
              </a:solidFill>
            </a:endParaRPr>
          </a:p>
        </p:txBody>
      </p:sp>
      <p:sp>
        <p:nvSpPr>
          <p:cNvPr id="163843" name="Text Box 3"/>
          <p:cNvSpPr txBox="1">
            <a:spLocks noChangeArrowheads="1"/>
          </p:cNvSpPr>
          <p:nvPr/>
        </p:nvSpPr>
        <p:spPr bwMode="auto">
          <a:xfrm>
            <a:off x="323850" y="1052513"/>
            <a:ext cx="8012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120000"/>
              </a:lnSpc>
              <a:buFontTx/>
              <a:buChar char="•"/>
            </a:pPr>
            <a:endParaRPr lang="it-IT" sz="2000" i="1">
              <a:latin typeface="Times New Roman" pitchFamily="18" charset="0"/>
            </a:endParaRPr>
          </a:p>
        </p:txBody>
      </p:sp>
      <p:sp>
        <p:nvSpPr>
          <p:cNvPr id="163844" name="Text Box 4"/>
          <p:cNvSpPr txBox="1">
            <a:spLocks noChangeArrowheads="1"/>
          </p:cNvSpPr>
          <p:nvPr/>
        </p:nvSpPr>
        <p:spPr bwMode="auto">
          <a:xfrm>
            <a:off x="142844" y="2673392"/>
            <a:ext cx="538957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GB" sz="2800" dirty="0"/>
          </a:p>
          <a:p>
            <a:r>
              <a:rPr lang="cy-GB" sz="2800" dirty="0"/>
              <a:t>Example: face-selective neurons in Inferior Temporal (IT) cortex of monkeys.</a:t>
            </a:r>
          </a:p>
          <a:p>
            <a:r>
              <a:rPr lang="cy-GB" sz="2800" dirty="0"/>
              <a:t>They encode the identity or the emotion of a face by increasing the total number of emitted spikes </a:t>
            </a:r>
            <a:r>
              <a:rPr lang="cy-GB" sz="2800" b="1" dirty="0"/>
              <a:t>only when</a:t>
            </a:r>
            <a:r>
              <a:rPr lang="cy-GB" sz="2800" dirty="0"/>
              <a:t> certain faces are presented to the animal</a:t>
            </a:r>
            <a:endParaRPr lang="en-US" sz="2800" dirty="0"/>
          </a:p>
        </p:txBody>
      </p:sp>
      <p:pic>
        <p:nvPicPr>
          <p:cNvPr id="7" name="Picture 2" descr="http://www.urbanlongbeach.com/wp-content/uploads/2014/07/The-Shining.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34102"/>
          <a:stretch/>
        </p:blipFill>
        <p:spPr bwMode="auto">
          <a:xfrm>
            <a:off x="5718987" y="3357562"/>
            <a:ext cx="3166918" cy="2357454"/>
          </a:xfrm>
          <a:prstGeom prst="rect">
            <a:avLst/>
          </a:prstGeom>
          <a:noFill/>
          <a:extLst>
            <a:ext uri="{909E8E84-426E-40DD-AFC4-6F175D3DCCD1}">
              <a14:hiddenFill xmlns:a14="http://schemas.microsoft.com/office/drawing/2010/main">
                <a:solidFill>
                  <a:srgbClr val="FFFFFF"/>
                </a:solidFill>
              </a14:hiddenFill>
            </a:ext>
          </a:extLst>
        </p:spPr>
      </p:pic>
      <p:sp>
        <p:nvSpPr>
          <p:cNvPr id="8" name="CasellaDiTesto 7"/>
          <p:cNvSpPr txBox="1"/>
          <p:nvPr/>
        </p:nvSpPr>
        <p:spPr>
          <a:xfrm>
            <a:off x="142844" y="1214422"/>
            <a:ext cx="8501122" cy="1661993"/>
          </a:xfrm>
          <a:prstGeom prst="rect">
            <a:avLst/>
          </a:prstGeom>
          <a:noFill/>
        </p:spPr>
        <p:txBody>
          <a:bodyPr wrap="square" rtlCol="0">
            <a:spAutoFit/>
          </a:bodyPr>
          <a:lstStyle/>
          <a:p>
            <a:r>
              <a:rPr lang="en-GB" sz="2800" dirty="0"/>
              <a:t>The number of spikes emitted by the neuron can also encoded the </a:t>
            </a:r>
            <a:r>
              <a:rPr lang="en-GB" sz="2800" b="1" dirty="0">
                <a:solidFill>
                  <a:srgbClr val="FF0000"/>
                </a:solidFill>
              </a:rPr>
              <a:t>identity</a:t>
            </a:r>
            <a:r>
              <a:rPr lang="en-GB" sz="2800" dirty="0"/>
              <a:t> of the stimulus (not only its intensity or magnitude).</a:t>
            </a:r>
          </a:p>
          <a:p>
            <a:endParaRPr lang="it-IT" dirty="0"/>
          </a:p>
        </p:txBody>
      </p:sp>
    </p:spTree>
    <p:extLst>
      <p:ext uri="{BB962C8B-B14F-4D97-AF65-F5344CB8AC3E}">
        <p14:creationId xmlns:p14="http://schemas.microsoft.com/office/powerpoint/2010/main" val="3833174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gnaposto numero diapositiva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64A689E-77A9-4846-9948-F553E17557C3}" type="slidenum">
              <a:rPr lang="en-US" sz="1400" smtClean="0"/>
              <a:pPr/>
              <a:t>32</a:t>
            </a:fld>
            <a:endParaRPr lang="en-US" sz="1400"/>
          </a:p>
        </p:txBody>
      </p:sp>
      <p:pic>
        <p:nvPicPr>
          <p:cNvPr id="53251" name="Picture 2" descr="sugase_1"/>
          <p:cNvPicPr>
            <a:picLocks noChangeAspect="1" noChangeArrowheads="1"/>
          </p:cNvPicPr>
          <p:nvPr/>
        </p:nvPicPr>
        <p:blipFill>
          <a:blip r:embed="rId2">
            <a:extLst>
              <a:ext uri="{28A0092B-C50C-407E-A947-70E740481C1C}">
                <a14:useLocalDpi xmlns:a14="http://schemas.microsoft.com/office/drawing/2010/main" val="0"/>
              </a:ext>
            </a:extLst>
          </a:blip>
          <a:srcRect l="35907" t="62320" r="52269" b="19147"/>
          <a:stretch>
            <a:fillRect/>
          </a:stretch>
        </p:blipFill>
        <p:spPr bwMode="auto">
          <a:xfrm>
            <a:off x="142844" y="1142984"/>
            <a:ext cx="1500198" cy="2164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3"/>
          <p:cNvSpPr txBox="1">
            <a:spLocks noChangeArrowheads="1"/>
          </p:cNvSpPr>
          <p:nvPr/>
        </p:nvSpPr>
        <p:spPr bwMode="auto">
          <a:xfrm>
            <a:off x="2982917" y="1142984"/>
            <a:ext cx="608967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dirty="0">
                <a:latin typeface="Arial" charset="0"/>
              </a:rPr>
              <a:t>A face neuron responds only to faces (to some faces, not to all faces).</a:t>
            </a:r>
          </a:p>
          <a:p>
            <a:r>
              <a:rPr lang="en-GB" dirty="0">
                <a:latin typeface="Arial" charset="0"/>
              </a:rPr>
              <a:t>Coding of face identity</a:t>
            </a:r>
            <a:endParaRPr lang="en-US" dirty="0">
              <a:latin typeface="Arial" charset="0"/>
            </a:endParaRPr>
          </a:p>
        </p:txBody>
      </p:sp>
      <p:pic>
        <p:nvPicPr>
          <p:cNvPr id="53253" name="Picture 4" descr="sugase_1"/>
          <p:cNvPicPr>
            <a:picLocks noChangeAspect="1" noChangeArrowheads="1"/>
          </p:cNvPicPr>
          <p:nvPr/>
        </p:nvPicPr>
        <p:blipFill>
          <a:blip r:embed="rId2">
            <a:extLst>
              <a:ext uri="{28A0092B-C50C-407E-A947-70E740481C1C}">
                <a14:useLocalDpi xmlns:a14="http://schemas.microsoft.com/office/drawing/2010/main" val="0"/>
              </a:ext>
            </a:extLst>
          </a:blip>
          <a:srcRect l="88913" t="63263" b="694"/>
          <a:stretch>
            <a:fillRect/>
          </a:stretch>
        </p:blipFill>
        <p:spPr bwMode="auto">
          <a:xfrm>
            <a:off x="857224" y="3714752"/>
            <a:ext cx="936625" cy="280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 Box 5"/>
          <p:cNvSpPr txBox="1">
            <a:spLocks noChangeArrowheads="1"/>
          </p:cNvSpPr>
          <p:nvPr/>
        </p:nvSpPr>
        <p:spPr bwMode="auto">
          <a:xfrm>
            <a:off x="2411413" y="3644900"/>
            <a:ext cx="3455987"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a:latin typeface="Arial" charset="0"/>
              </a:rPr>
              <a:t>A face neuron does not respond to simple stimuli (such as spots of light etc) or when the face is removed from view</a:t>
            </a:r>
            <a:endParaRPr lang="en-US">
              <a:latin typeface="Arial" charset="0"/>
            </a:endParaRPr>
          </a:p>
        </p:txBody>
      </p:sp>
      <p:pic>
        <p:nvPicPr>
          <p:cNvPr id="5325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349500"/>
            <a:ext cx="294322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sugase_1"/>
          <p:cNvPicPr>
            <a:picLocks noChangeAspect="1" noChangeArrowheads="1"/>
          </p:cNvPicPr>
          <p:nvPr/>
        </p:nvPicPr>
        <p:blipFill>
          <a:blip r:embed="rId2">
            <a:extLst>
              <a:ext uri="{28A0092B-C50C-407E-A947-70E740481C1C}">
                <a14:useLocalDpi xmlns:a14="http://schemas.microsoft.com/office/drawing/2010/main" val="0"/>
              </a:ext>
            </a:extLst>
          </a:blip>
          <a:srcRect l="35907" t="79619" r="52269" b="978"/>
          <a:stretch>
            <a:fillRect/>
          </a:stretch>
        </p:blipFill>
        <p:spPr bwMode="auto">
          <a:xfrm>
            <a:off x="1486674" y="1142984"/>
            <a:ext cx="1513690" cy="2286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a:xfrm>
            <a:off x="395288" y="177800"/>
            <a:ext cx="8569200" cy="29845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FF0000"/>
                </a:solidFill>
                <a:effectLst/>
                <a:uLnTx/>
                <a:uFillTx/>
                <a:latin typeface="Arial" charset="0"/>
                <a:ea typeface="+mj-ea"/>
                <a:cs typeface="Arial" charset="0"/>
              </a:rPr>
              <a:t>Face neurons</a:t>
            </a:r>
          </a:p>
        </p:txBody>
      </p:sp>
    </p:spTree>
    <p:extLst>
      <p:ext uri="{BB962C8B-B14F-4D97-AF65-F5344CB8AC3E}">
        <p14:creationId xmlns:p14="http://schemas.microsoft.com/office/powerpoint/2010/main" val="3839506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2">
            <a:extLst>
              <a:ext uri="{28A0092B-C50C-407E-A947-70E740481C1C}">
                <a14:useLocalDpi xmlns:a14="http://schemas.microsoft.com/office/drawing/2010/main" val="0"/>
              </a:ext>
            </a:extLst>
          </a:blip>
          <a:srcRect l="10464" r="8604" b="56232"/>
          <a:stretch>
            <a:fillRect/>
          </a:stretch>
        </p:blipFill>
        <p:spPr bwMode="auto">
          <a:xfrm>
            <a:off x="214312" y="785823"/>
            <a:ext cx="8708113" cy="442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CasellaDiTesto 2"/>
          <p:cNvSpPr txBox="1">
            <a:spLocks noChangeArrowheads="1"/>
          </p:cNvSpPr>
          <p:nvPr/>
        </p:nvSpPr>
        <p:spPr bwMode="auto">
          <a:xfrm>
            <a:off x="214313" y="6215063"/>
            <a:ext cx="3249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a:latin typeface="Arial" charset="0"/>
                <a:cs typeface="Arial" charset="0"/>
              </a:rPr>
              <a:t>RQ Quiroga et al Nature 2005</a:t>
            </a:r>
          </a:p>
        </p:txBody>
      </p:sp>
      <p:sp>
        <p:nvSpPr>
          <p:cNvPr id="54276" name="CasellaDiTesto 3"/>
          <p:cNvSpPr txBox="1">
            <a:spLocks noChangeArrowheads="1"/>
          </p:cNvSpPr>
          <p:nvPr/>
        </p:nvSpPr>
        <p:spPr bwMode="auto">
          <a:xfrm>
            <a:off x="0" y="5286375"/>
            <a:ext cx="9039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t>Spike counts encode Jennifer Aniston’s identity in human temporal lobe</a:t>
            </a:r>
          </a:p>
        </p:txBody>
      </p:sp>
      <p:sp>
        <p:nvSpPr>
          <p:cNvPr id="5" name="Rectangle 2"/>
          <p:cNvSpPr txBox="1">
            <a:spLocks noChangeArrowheads="1"/>
          </p:cNvSpPr>
          <p:nvPr/>
        </p:nvSpPr>
        <p:spPr>
          <a:xfrm>
            <a:off x="395288" y="177800"/>
            <a:ext cx="8569200" cy="29845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solidFill>
                  <a:srgbClr val="FF0000"/>
                </a:solidFill>
                <a:latin typeface="Arial" charset="0"/>
                <a:ea typeface="+mj-ea"/>
                <a:cs typeface="Arial" charset="0"/>
              </a:rPr>
              <a:t>Nineties glam neuroscience</a:t>
            </a:r>
            <a:endParaRPr kumimoji="0" lang="en-US" sz="3200" b="0" i="0" u="none" strike="noStrike" kern="1200" cap="none" spc="0" normalizeH="0" baseline="0" noProof="0" dirty="0">
              <a:ln>
                <a:noFill/>
              </a:ln>
              <a:solidFill>
                <a:srgbClr val="FF0000"/>
              </a:solidFill>
              <a:effectLst/>
              <a:uLnTx/>
              <a:uFillTx/>
              <a:latin typeface="Arial" charset="0"/>
              <a:ea typeface="+mj-ea"/>
              <a:cs typeface="Arial" charset="0"/>
            </a:endParaRPr>
          </a:p>
        </p:txBody>
      </p:sp>
    </p:spTree>
    <p:extLst>
      <p:ext uri="{BB962C8B-B14F-4D97-AF65-F5344CB8AC3E}">
        <p14:creationId xmlns:p14="http://schemas.microsoft.com/office/powerpoint/2010/main" val="1684520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4610" descr="prsa.tif"/>
          <p:cNvPicPr>
            <a:picLocks noChangeAspect="1"/>
          </p:cNvPicPr>
          <p:nvPr/>
        </p:nvPicPr>
        <p:blipFill>
          <a:blip r:embed="rId3" cstate="print"/>
          <a:srcRect/>
          <a:stretch>
            <a:fillRect/>
          </a:stretch>
        </p:blipFill>
        <p:spPr bwMode="auto">
          <a:xfrm>
            <a:off x="4427538" y="476250"/>
            <a:ext cx="1584325" cy="1300163"/>
          </a:xfrm>
          <a:prstGeom prst="rect">
            <a:avLst/>
          </a:prstGeom>
          <a:noFill/>
          <a:ln w="9525">
            <a:noFill/>
            <a:miter lim="800000"/>
            <a:headEnd/>
            <a:tailEnd/>
          </a:ln>
        </p:spPr>
      </p:pic>
      <p:pic>
        <p:nvPicPr>
          <p:cNvPr id="1031" name="Picture 4609" descr="prsb.tif"/>
          <p:cNvPicPr>
            <a:picLocks noChangeAspect="1"/>
          </p:cNvPicPr>
          <p:nvPr/>
        </p:nvPicPr>
        <p:blipFill>
          <a:blip r:embed="rId4" cstate="print"/>
          <a:srcRect/>
          <a:stretch>
            <a:fillRect/>
          </a:stretch>
        </p:blipFill>
        <p:spPr bwMode="auto">
          <a:xfrm>
            <a:off x="6156325" y="476250"/>
            <a:ext cx="1658938" cy="1296988"/>
          </a:xfrm>
          <a:prstGeom prst="rect">
            <a:avLst/>
          </a:prstGeom>
          <a:noFill/>
          <a:ln w="9525">
            <a:noFill/>
            <a:miter lim="800000"/>
            <a:headEnd/>
            <a:tailEnd/>
          </a:ln>
        </p:spPr>
      </p:pic>
      <p:sp>
        <p:nvSpPr>
          <p:cNvPr id="2057" name="Rectangle 102"/>
          <p:cNvSpPr>
            <a:spLocks noChangeArrowheads="1"/>
          </p:cNvSpPr>
          <p:nvPr/>
        </p:nvSpPr>
        <p:spPr bwMode="auto">
          <a:xfrm>
            <a:off x="3203575" y="1916113"/>
            <a:ext cx="5635625" cy="2808287"/>
          </a:xfrm>
          <a:prstGeom prst="rect">
            <a:avLst/>
          </a:prstGeom>
          <a:solidFill>
            <a:schemeClr val="bg1">
              <a:lumMod val="75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sp>
        <p:nvSpPr>
          <p:cNvPr id="2058" name="Rectangle 103"/>
          <p:cNvSpPr>
            <a:spLocks noChangeArrowheads="1"/>
          </p:cNvSpPr>
          <p:nvPr/>
        </p:nvSpPr>
        <p:spPr bwMode="auto">
          <a:xfrm>
            <a:off x="5184775" y="1916113"/>
            <a:ext cx="179388" cy="2808287"/>
          </a:xfrm>
          <a:prstGeom prst="rect">
            <a:avLst/>
          </a:prstGeom>
          <a:solidFill>
            <a:schemeClr val="accent6">
              <a:lumMod val="40000"/>
              <a:lumOff val="60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sp>
        <p:nvSpPr>
          <p:cNvPr id="2059" name="Rectangle 104"/>
          <p:cNvSpPr>
            <a:spLocks noChangeArrowheads="1"/>
          </p:cNvSpPr>
          <p:nvPr/>
        </p:nvSpPr>
        <p:spPr bwMode="auto">
          <a:xfrm>
            <a:off x="7056438" y="1916113"/>
            <a:ext cx="179387" cy="2808287"/>
          </a:xfrm>
          <a:prstGeom prst="rect">
            <a:avLst/>
          </a:prstGeom>
          <a:solidFill>
            <a:schemeClr val="accent6">
              <a:lumMod val="40000"/>
              <a:lumOff val="60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sp>
        <p:nvSpPr>
          <p:cNvPr id="1035" name="Rectangle 2"/>
          <p:cNvSpPr>
            <a:spLocks noGrp="1" noChangeArrowheads="1"/>
          </p:cNvSpPr>
          <p:nvPr>
            <p:ph type="title"/>
          </p:nvPr>
        </p:nvSpPr>
        <p:spPr>
          <a:xfrm>
            <a:off x="395288" y="177800"/>
            <a:ext cx="8569200" cy="298450"/>
          </a:xfrm>
        </p:spPr>
        <p:txBody>
          <a:bodyPr>
            <a:noAutofit/>
          </a:bodyPr>
          <a:lstStyle/>
          <a:p>
            <a:pPr eaLnBrk="1" hangingPunct="1"/>
            <a:r>
              <a:rPr lang="en-US" sz="3200" dirty="0">
                <a:solidFill>
                  <a:srgbClr val="FF0000"/>
                </a:solidFill>
                <a:latin typeface="Arial" charset="0"/>
                <a:cs typeface="Arial" charset="0"/>
              </a:rPr>
              <a:t>Information analysis with dynamic stimuli</a:t>
            </a:r>
          </a:p>
        </p:txBody>
      </p:sp>
      <p:sp>
        <p:nvSpPr>
          <p:cNvPr id="2055" name="Rectangle 106"/>
          <p:cNvSpPr>
            <a:spLocks noChangeArrowheads="1"/>
          </p:cNvSpPr>
          <p:nvPr/>
        </p:nvSpPr>
        <p:spPr bwMode="auto">
          <a:xfrm>
            <a:off x="3170238" y="765175"/>
            <a:ext cx="969962" cy="465138"/>
          </a:xfrm>
          <a:prstGeom prst="rect">
            <a:avLst/>
          </a:prstGeom>
          <a:solidFill>
            <a:schemeClr val="accent6">
              <a:lumMod val="40000"/>
              <a:lumOff val="60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sp>
        <p:nvSpPr>
          <p:cNvPr id="2056" name="Rectangle 105"/>
          <p:cNvSpPr>
            <a:spLocks noChangeArrowheads="1"/>
          </p:cNvSpPr>
          <p:nvPr/>
        </p:nvSpPr>
        <p:spPr bwMode="auto">
          <a:xfrm>
            <a:off x="3170238" y="1230313"/>
            <a:ext cx="969962" cy="466725"/>
          </a:xfrm>
          <a:prstGeom prst="rect">
            <a:avLst/>
          </a:prstGeom>
          <a:solidFill>
            <a:schemeClr val="bg1">
              <a:lumMod val="65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graphicFrame>
        <p:nvGraphicFramePr>
          <p:cNvPr id="1026" name="Object 81"/>
          <p:cNvGraphicFramePr>
            <a:graphicFrameLocks noChangeAspect="1"/>
          </p:cNvGraphicFramePr>
          <p:nvPr/>
        </p:nvGraphicFramePr>
        <p:xfrm>
          <a:off x="179388" y="857250"/>
          <a:ext cx="3841750" cy="842963"/>
        </p:xfrm>
        <a:graphic>
          <a:graphicData uri="http://schemas.openxmlformats.org/presentationml/2006/ole">
            <mc:AlternateContent xmlns:mc="http://schemas.openxmlformats.org/markup-compatibility/2006">
              <mc:Choice xmlns:v="urn:schemas-microsoft-com:vml" Requires="v">
                <p:oleObj name="Equazione" r:id="rId5" imgW="2273300" imgH="431800" progId="Equation.3">
                  <p:embed/>
                </p:oleObj>
              </mc:Choice>
              <mc:Fallback>
                <p:oleObj name="Equazione" r:id="rId5" imgW="2273300" imgH="431800" progId="Equation.3">
                  <p:embed/>
                  <p:pic>
                    <p:nvPicPr>
                      <p:cNvPr id="1026" name="Object 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857250"/>
                        <a:ext cx="3841750" cy="842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9" name="Text Box 76"/>
          <p:cNvSpPr txBox="1">
            <a:spLocks noChangeArrowheads="1"/>
          </p:cNvSpPr>
          <p:nvPr/>
        </p:nvSpPr>
        <p:spPr bwMode="auto">
          <a:xfrm>
            <a:off x="5003800" y="4652963"/>
            <a:ext cx="561975" cy="369887"/>
          </a:xfrm>
          <a:prstGeom prst="rect">
            <a:avLst/>
          </a:prstGeom>
          <a:noFill/>
          <a:ln w="9525">
            <a:noFill/>
            <a:miter lim="800000"/>
            <a:headEnd/>
            <a:tailEnd/>
          </a:ln>
        </p:spPr>
        <p:txBody>
          <a:bodyPr>
            <a:spAutoFit/>
          </a:bodyPr>
          <a:lstStyle/>
          <a:p>
            <a:pPr>
              <a:spcBef>
                <a:spcPct val="50000"/>
              </a:spcBef>
            </a:pPr>
            <a:r>
              <a:rPr lang="en-US"/>
              <a:t>s</a:t>
            </a:r>
            <a:r>
              <a:rPr lang="en-US" baseline="-25000"/>
              <a:t>A</a:t>
            </a:r>
            <a:endParaRPr lang="en-US"/>
          </a:p>
        </p:txBody>
      </p:sp>
      <p:graphicFrame>
        <p:nvGraphicFramePr>
          <p:cNvPr id="1027" name="Object 82"/>
          <p:cNvGraphicFramePr>
            <a:graphicFrameLocks noChangeAspect="1"/>
          </p:cNvGraphicFramePr>
          <p:nvPr/>
        </p:nvGraphicFramePr>
        <p:xfrm>
          <a:off x="5003800" y="692150"/>
          <a:ext cx="1096963" cy="433388"/>
        </p:xfrm>
        <a:graphic>
          <a:graphicData uri="http://schemas.openxmlformats.org/presentationml/2006/ole">
            <mc:AlternateContent xmlns:mc="http://schemas.openxmlformats.org/markup-compatibility/2006">
              <mc:Choice xmlns:v="urn:schemas-microsoft-com:vml" Requires="v">
                <p:oleObj name="Equazione" r:id="rId7" imgW="545626" imgH="215713" progId="Equation.3">
                  <p:embed/>
                </p:oleObj>
              </mc:Choice>
              <mc:Fallback>
                <p:oleObj name="Equazione" r:id="rId7" imgW="545626" imgH="215713" progId="Equation.3">
                  <p:embed/>
                  <p:pic>
                    <p:nvPicPr>
                      <p:cNvPr id="1027" name="Object 8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3800" y="692150"/>
                        <a:ext cx="1096963"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83"/>
          <p:cNvGraphicFramePr>
            <a:graphicFrameLocks noChangeAspect="1"/>
          </p:cNvGraphicFramePr>
          <p:nvPr/>
        </p:nvGraphicFramePr>
        <p:xfrm>
          <a:off x="6948488" y="692150"/>
          <a:ext cx="1089025" cy="431800"/>
        </p:xfrm>
        <a:graphic>
          <a:graphicData uri="http://schemas.openxmlformats.org/presentationml/2006/ole">
            <mc:AlternateContent xmlns:mc="http://schemas.openxmlformats.org/markup-compatibility/2006">
              <mc:Choice xmlns:v="urn:schemas-microsoft-com:vml" Requires="v">
                <p:oleObj name="Equazione" r:id="rId9" imgW="545626" imgH="215713" progId="Equation.3">
                  <p:embed/>
                </p:oleObj>
              </mc:Choice>
              <mc:Fallback>
                <p:oleObj name="Equazione" r:id="rId9" imgW="545626" imgH="215713" progId="Equation.3">
                  <p:embed/>
                  <p:pic>
                    <p:nvPicPr>
                      <p:cNvPr id="1028" name="Object 8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8488" y="692150"/>
                        <a:ext cx="1089025"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942"/>
          <p:cNvGrpSpPr>
            <a:grpSpLocks/>
          </p:cNvGrpSpPr>
          <p:nvPr/>
        </p:nvGrpSpPr>
        <p:grpSpPr bwMode="auto">
          <a:xfrm>
            <a:off x="3276600" y="1989138"/>
            <a:ext cx="5472113" cy="2735262"/>
            <a:chOff x="1543050" y="1873251"/>
            <a:chExt cx="6723063" cy="2795588"/>
          </a:xfrm>
        </p:grpSpPr>
        <p:grpSp>
          <p:nvGrpSpPr>
            <p:cNvPr id="3" name="Group 406"/>
            <p:cNvGrpSpPr>
              <a:grpSpLocks/>
            </p:cNvGrpSpPr>
            <p:nvPr/>
          </p:nvGrpSpPr>
          <p:grpSpPr bwMode="auto">
            <a:xfrm>
              <a:off x="1909841" y="4213368"/>
              <a:ext cx="6356610" cy="455628"/>
              <a:chOff x="1203" y="2654"/>
              <a:chExt cx="4004" cy="287"/>
            </a:xfrm>
          </p:grpSpPr>
          <p:sp>
            <p:nvSpPr>
              <p:cNvPr id="7611" name="Freeform 206"/>
              <p:cNvSpPr>
                <a:spLocks/>
              </p:cNvSpPr>
              <p:nvPr/>
            </p:nvSpPr>
            <p:spPr bwMode="auto">
              <a:xfrm>
                <a:off x="3241" y="2932"/>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12" name="Freeform 207"/>
              <p:cNvSpPr>
                <a:spLocks/>
              </p:cNvSpPr>
              <p:nvPr/>
            </p:nvSpPr>
            <p:spPr bwMode="auto">
              <a:xfrm>
                <a:off x="3248" y="2932"/>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13" name="Freeform 208"/>
              <p:cNvSpPr>
                <a:spLocks/>
              </p:cNvSpPr>
              <p:nvPr/>
            </p:nvSpPr>
            <p:spPr bwMode="auto">
              <a:xfrm>
                <a:off x="3311" y="2932"/>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14" name="Freeform 209"/>
              <p:cNvSpPr>
                <a:spLocks/>
              </p:cNvSpPr>
              <p:nvPr/>
            </p:nvSpPr>
            <p:spPr bwMode="auto">
              <a:xfrm>
                <a:off x="3329" y="2932"/>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15" name="Freeform 210"/>
              <p:cNvSpPr>
                <a:spLocks/>
              </p:cNvSpPr>
              <p:nvPr/>
            </p:nvSpPr>
            <p:spPr bwMode="auto">
              <a:xfrm>
                <a:off x="3336" y="2932"/>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16" name="Freeform 211"/>
              <p:cNvSpPr>
                <a:spLocks/>
              </p:cNvSpPr>
              <p:nvPr/>
            </p:nvSpPr>
            <p:spPr bwMode="auto">
              <a:xfrm>
                <a:off x="3362" y="2932"/>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17" name="Freeform 212"/>
              <p:cNvSpPr>
                <a:spLocks/>
              </p:cNvSpPr>
              <p:nvPr/>
            </p:nvSpPr>
            <p:spPr bwMode="auto">
              <a:xfrm>
                <a:off x="3526" y="2932"/>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18" name="Freeform 213"/>
              <p:cNvSpPr>
                <a:spLocks/>
              </p:cNvSpPr>
              <p:nvPr/>
            </p:nvSpPr>
            <p:spPr bwMode="auto">
              <a:xfrm>
                <a:off x="3859" y="2932"/>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19" name="Freeform 214"/>
              <p:cNvSpPr>
                <a:spLocks/>
              </p:cNvSpPr>
              <p:nvPr/>
            </p:nvSpPr>
            <p:spPr bwMode="auto">
              <a:xfrm>
                <a:off x="4207" y="2932"/>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20" name="Freeform 215"/>
              <p:cNvSpPr>
                <a:spLocks/>
              </p:cNvSpPr>
              <p:nvPr/>
            </p:nvSpPr>
            <p:spPr bwMode="auto">
              <a:xfrm>
                <a:off x="4290" y="2932"/>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1" name="Freeform 216"/>
              <p:cNvSpPr>
                <a:spLocks/>
              </p:cNvSpPr>
              <p:nvPr/>
            </p:nvSpPr>
            <p:spPr bwMode="auto">
              <a:xfrm>
                <a:off x="5177" y="2932"/>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22" name="Freeform 217"/>
              <p:cNvSpPr>
                <a:spLocks/>
              </p:cNvSpPr>
              <p:nvPr/>
            </p:nvSpPr>
            <p:spPr bwMode="auto">
              <a:xfrm>
                <a:off x="1564"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23" name="Freeform 218"/>
              <p:cNvSpPr>
                <a:spLocks/>
              </p:cNvSpPr>
              <p:nvPr/>
            </p:nvSpPr>
            <p:spPr bwMode="auto">
              <a:xfrm>
                <a:off x="1567" y="2892"/>
                <a:ext cx="11" cy="10"/>
              </a:xfrm>
              <a:custGeom>
                <a:avLst/>
                <a:gdLst>
                  <a:gd name="T0" fmla="*/ 4 w 11"/>
                  <a:gd name="T1" fmla="*/ 0 h 10"/>
                  <a:gd name="T2" fmla="*/ 7 w 11"/>
                  <a:gd name="T3" fmla="*/ 0 h 10"/>
                  <a:gd name="T4" fmla="*/ 11 w 11"/>
                  <a:gd name="T5" fmla="*/ 3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4" name="Freeform 219"/>
              <p:cNvSpPr>
                <a:spLocks/>
              </p:cNvSpPr>
              <p:nvPr/>
            </p:nvSpPr>
            <p:spPr bwMode="auto">
              <a:xfrm>
                <a:off x="1581"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5" name="Freeform 220"/>
              <p:cNvSpPr>
                <a:spLocks/>
              </p:cNvSpPr>
              <p:nvPr/>
            </p:nvSpPr>
            <p:spPr bwMode="auto">
              <a:xfrm>
                <a:off x="1597"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6" name="Freeform 221"/>
              <p:cNvSpPr>
                <a:spLocks/>
              </p:cNvSpPr>
              <p:nvPr/>
            </p:nvSpPr>
            <p:spPr bwMode="auto">
              <a:xfrm>
                <a:off x="1604"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7" name="Freeform 222"/>
              <p:cNvSpPr>
                <a:spLocks/>
              </p:cNvSpPr>
              <p:nvPr/>
            </p:nvSpPr>
            <p:spPr bwMode="auto">
              <a:xfrm>
                <a:off x="1630"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8" name="Freeform 223"/>
              <p:cNvSpPr>
                <a:spLocks/>
              </p:cNvSpPr>
              <p:nvPr/>
            </p:nvSpPr>
            <p:spPr bwMode="auto">
              <a:xfrm>
                <a:off x="1636" y="2892"/>
                <a:ext cx="8" cy="10"/>
              </a:xfrm>
              <a:custGeom>
                <a:avLst/>
                <a:gdLst>
                  <a:gd name="T0" fmla="*/ 3 w 8"/>
                  <a:gd name="T1" fmla="*/ 0 h 10"/>
                  <a:gd name="T2" fmla="*/ 5 w 8"/>
                  <a:gd name="T3" fmla="*/ 0 h 10"/>
                  <a:gd name="T4" fmla="*/ 8 w 8"/>
                  <a:gd name="T5" fmla="*/ 3 h 10"/>
                  <a:gd name="T6" fmla="*/ 8 w 8"/>
                  <a:gd name="T7" fmla="*/ 9 h 10"/>
                  <a:gd name="T8" fmla="*/ 7 w 8"/>
                  <a:gd name="T9" fmla="*/ 10 h 10"/>
                  <a:gd name="T10" fmla="*/ 1 w 8"/>
                  <a:gd name="T11" fmla="*/ 10 h 10"/>
                  <a:gd name="T12" fmla="*/ 0 w 8"/>
                  <a:gd name="T13" fmla="*/ 9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9"/>
                    </a:lnTo>
                    <a:lnTo>
                      <a:pt x="7"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29" name="Freeform 224"/>
              <p:cNvSpPr>
                <a:spLocks/>
              </p:cNvSpPr>
              <p:nvPr/>
            </p:nvSpPr>
            <p:spPr bwMode="auto">
              <a:xfrm>
                <a:off x="1656" y="2892"/>
                <a:ext cx="11" cy="10"/>
              </a:xfrm>
              <a:custGeom>
                <a:avLst/>
                <a:gdLst>
                  <a:gd name="T0" fmla="*/ 4 w 11"/>
                  <a:gd name="T1" fmla="*/ 0 h 10"/>
                  <a:gd name="T2" fmla="*/ 7 w 11"/>
                  <a:gd name="T3" fmla="*/ 0 h 10"/>
                  <a:gd name="T4" fmla="*/ 11 w 11"/>
                  <a:gd name="T5" fmla="*/ 3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0" name="Freeform 225"/>
              <p:cNvSpPr>
                <a:spLocks/>
              </p:cNvSpPr>
              <p:nvPr/>
            </p:nvSpPr>
            <p:spPr bwMode="auto">
              <a:xfrm>
                <a:off x="1686"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1" name="Freeform 226"/>
              <p:cNvSpPr>
                <a:spLocks/>
              </p:cNvSpPr>
              <p:nvPr/>
            </p:nvSpPr>
            <p:spPr bwMode="auto">
              <a:xfrm>
                <a:off x="1819"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32" name="Freeform 227"/>
              <p:cNvSpPr>
                <a:spLocks/>
              </p:cNvSpPr>
              <p:nvPr/>
            </p:nvSpPr>
            <p:spPr bwMode="auto">
              <a:xfrm>
                <a:off x="2510"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3" name="Freeform 228"/>
              <p:cNvSpPr>
                <a:spLocks/>
              </p:cNvSpPr>
              <p:nvPr/>
            </p:nvSpPr>
            <p:spPr bwMode="auto">
              <a:xfrm>
                <a:off x="2520"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4" name="Freeform 229"/>
              <p:cNvSpPr>
                <a:spLocks/>
              </p:cNvSpPr>
              <p:nvPr/>
            </p:nvSpPr>
            <p:spPr bwMode="auto">
              <a:xfrm>
                <a:off x="2536"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5" name="Freeform 230"/>
              <p:cNvSpPr>
                <a:spLocks/>
              </p:cNvSpPr>
              <p:nvPr/>
            </p:nvSpPr>
            <p:spPr bwMode="auto">
              <a:xfrm>
                <a:off x="2538" y="2892"/>
                <a:ext cx="10" cy="10"/>
              </a:xfrm>
              <a:custGeom>
                <a:avLst/>
                <a:gdLst>
                  <a:gd name="T0" fmla="*/ 3 w 10"/>
                  <a:gd name="T1" fmla="*/ 0 h 10"/>
                  <a:gd name="T2" fmla="*/ 7 w 10"/>
                  <a:gd name="T3" fmla="*/ 0 h 10"/>
                  <a:gd name="T4" fmla="*/ 10 w 10"/>
                  <a:gd name="T5" fmla="*/ 3 h 10"/>
                  <a:gd name="T6" fmla="*/ 10 w 10"/>
                  <a:gd name="T7" fmla="*/ 9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9"/>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36" name="Freeform 231"/>
              <p:cNvSpPr>
                <a:spLocks/>
              </p:cNvSpPr>
              <p:nvPr/>
            </p:nvSpPr>
            <p:spPr bwMode="auto">
              <a:xfrm>
                <a:off x="3222"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7" name="Freeform 232"/>
              <p:cNvSpPr>
                <a:spLocks/>
              </p:cNvSpPr>
              <p:nvPr/>
            </p:nvSpPr>
            <p:spPr bwMode="auto">
              <a:xfrm>
                <a:off x="3226" y="2892"/>
                <a:ext cx="10" cy="10"/>
              </a:xfrm>
              <a:custGeom>
                <a:avLst/>
                <a:gdLst>
                  <a:gd name="T0" fmla="*/ 3 w 10"/>
                  <a:gd name="T1" fmla="*/ 0 h 10"/>
                  <a:gd name="T2" fmla="*/ 7 w 10"/>
                  <a:gd name="T3" fmla="*/ 0 h 10"/>
                  <a:gd name="T4" fmla="*/ 10 w 10"/>
                  <a:gd name="T5" fmla="*/ 3 h 10"/>
                  <a:gd name="T6" fmla="*/ 10 w 10"/>
                  <a:gd name="T7" fmla="*/ 9 h 10"/>
                  <a:gd name="T8" fmla="*/ 8 w 10"/>
                  <a:gd name="T9" fmla="*/ 10 h 10"/>
                  <a:gd name="T10" fmla="*/ 1 w 10"/>
                  <a:gd name="T11" fmla="*/ 10 h 10"/>
                  <a:gd name="T12" fmla="*/ 0 w 10"/>
                  <a:gd name="T13" fmla="*/ 9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9"/>
                    </a:lnTo>
                    <a:lnTo>
                      <a:pt x="8"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38" name="Freeform 233"/>
              <p:cNvSpPr>
                <a:spLocks/>
              </p:cNvSpPr>
              <p:nvPr/>
            </p:nvSpPr>
            <p:spPr bwMode="auto">
              <a:xfrm>
                <a:off x="3301" y="2892"/>
                <a:ext cx="8" cy="10"/>
              </a:xfrm>
              <a:custGeom>
                <a:avLst/>
                <a:gdLst>
                  <a:gd name="T0" fmla="*/ 3 w 8"/>
                  <a:gd name="T1" fmla="*/ 0 h 10"/>
                  <a:gd name="T2" fmla="*/ 5 w 8"/>
                  <a:gd name="T3" fmla="*/ 0 h 10"/>
                  <a:gd name="T4" fmla="*/ 8 w 8"/>
                  <a:gd name="T5" fmla="*/ 3 h 10"/>
                  <a:gd name="T6" fmla="*/ 8 w 8"/>
                  <a:gd name="T7" fmla="*/ 9 h 10"/>
                  <a:gd name="T8" fmla="*/ 7 w 8"/>
                  <a:gd name="T9" fmla="*/ 10 h 10"/>
                  <a:gd name="T10" fmla="*/ 1 w 8"/>
                  <a:gd name="T11" fmla="*/ 10 h 10"/>
                  <a:gd name="T12" fmla="*/ 0 w 8"/>
                  <a:gd name="T13" fmla="*/ 9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9"/>
                    </a:lnTo>
                    <a:lnTo>
                      <a:pt x="7"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39" name="Freeform 234"/>
              <p:cNvSpPr>
                <a:spLocks/>
              </p:cNvSpPr>
              <p:nvPr/>
            </p:nvSpPr>
            <p:spPr bwMode="auto">
              <a:xfrm>
                <a:off x="3313" y="2892"/>
                <a:ext cx="10" cy="10"/>
              </a:xfrm>
              <a:custGeom>
                <a:avLst/>
                <a:gdLst>
                  <a:gd name="T0" fmla="*/ 3 w 10"/>
                  <a:gd name="T1" fmla="*/ 0 h 10"/>
                  <a:gd name="T2" fmla="*/ 7 w 10"/>
                  <a:gd name="T3" fmla="*/ 0 h 10"/>
                  <a:gd name="T4" fmla="*/ 10 w 10"/>
                  <a:gd name="T5" fmla="*/ 3 h 10"/>
                  <a:gd name="T6" fmla="*/ 10 w 10"/>
                  <a:gd name="T7" fmla="*/ 9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9"/>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40" name="Freeform 235"/>
              <p:cNvSpPr>
                <a:spLocks/>
              </p:cNvSpPr>
              <p:nvPr/>
            </p:nvSpPr>
            <p:spPr bwMode="auto">
              <a:xfrm>
                <a:off x="3337"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1" name="Freeform 236"/>
              <p:cNvSpPr>
                <a:spLocks/>
              </p:cNvSpPr>
              <p:nvPr/>
            </p:nvSpPr>
            <p:spPr bwMode="auto">
              <a:xfrm>
                <a:off x="3526"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42" name="Freeform 237"/>
              <p:cNvSpPr>
                <a:spLocks/>
              </p:cNvSpPr>
              <p:nvPr/>
            </p:nvSpPr>
            <p:spPr bwMode="auto">
              <a:xfrm>
                <a:off x="3531" y="2892"/>
                <a:ext cx="11" cy="10"/>
              </a:xfrm>
              <a:custGeom>
                <a:avLst/>
                <a:gdLst>
                  <a:gd name="T0" fmla="*/ 4 w 11"/>
                  <a:gd name="T1" fmla="*/ 0 h 10"/>
                  <a:gd name="T2" fmla="*/ 7 w 11"/>
                  <a:gd name="T3" fmla="*/ 0 h 10"/>
                  <a:gd name="T4" fmla="*/ 11 w 11"/>
                  <a:gd name="T5" fmla="*/ 3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3" name="Freeform 238"/>
              <p:cNvSpPr>
                <a:spLocks/>
              </p:cNvSpPr>
              <p:nvPr/>
            </p:nvSpPr>
            <p:spPr bwMode="auto">
              <a:xfrm>
                <a:off x="3981"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4" name="Freeform 239"/>
              <p:cNvSpPr>
                <a:spLocks/>
              </p:cNvSpPr>
              <p:nvPr/>
            </p:nvSpPr>
            <p:spPr bwMode="auto">
              <a:xfrm>
                <a:off x="3988"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5" name="Freeform 240"/>
              <p:cNvSpPr>
                <a:spLocks/>
              </p:cNvSpPr>
              <p:nvPr/>
            </p:nvSpPr>
            <p:spPr bwMode="auto">
              <a:xfrm>
                <a:off x="4184"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46" name="Freeform 241"/>
              <p:cNvSpPr>
                <a:spLocks/>
              </p:cNvSpPr>
              <p:nvPr/>
            </p:nvSpPr>
            <p:spPr bwMode="auto">
              <a:xfrm>
                <a:off x="4201"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7" name="Freeform 242"/>
              <p:cNvSpPr>
                <a:spLocks/>
              </p:cNvSpPr>
              <p:nvPr/>
            </p:nvSpPr>
            <p:spPr bwMode="auto">
              <a:xfrm>
                <a:off x="4208"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8" name="Freeform 243"/>
              <p:cNvSpPr>
                <a:spLocks/>
              </p:cNvSpPr>
              <p:nvPr/>
            </p:nvSpPr>
            <p:spPr bwMode="auto">
              <a:xfrm>
                <a:off x="4210"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9" name="Freeform 244"/>
              <p:cNvSpPr>
                <a:spLocks/>
              </p:cNvSpPr>
              <p:nvPr/>
            </p:nvSpPr>
            <p:spPr bwMode="auto">
              <a:xfrm>
                <a:off x="4310" y="2892"/>
                <a:ext cx="8" cy="10"/>
              </a:xfrm>
              <a:custGeom>
                <a:avLst/>
                <a:gdLst>
                  <a:gd name="T0" fmla="*/ 3 w 8"/>
                  <a:gd name="T1" fmla="*/ 0 h 10"/>
                  <a:gd name="T2" fmla="*/ 5 w 8"/>
                  <a:gd name="T3" fmla="*/ 0 h 10"/>
                  <a:gd name="T4" fmla="*/ 8 w 8"/>
                  <a:gd name="T5" fmla="*/ 3 h 10"/>
                  <a:gd name="T6" fmla="*/ 8 w 8"/>
                  <a:gd name="T7" fmla="*/ 9 h 10"/>
                  <a:gd name="T8" fmla="*/ 7 w 8"/>
                  <a:gd name="T9" fmla="*/ 10 h 10"/>
                  <a:gd name="T10" fmla="*/ 1 w 8"/>
                  <a:gd name="T11" fmla="*/ 10 h 10"/>
                  <a:gd name="T12" fmla="*/ 0 w 8"/>
                  <a:gd name="T13" fmla="*/ 9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9"/>
                    </a:lnTo>
                    <a:lnTo>
                      <a:pt x="7"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0" name="Freeform 245"/>
              <p:cNvSpPr>
                <a:spLocks/>
              </p:cNvSpPr>
              <p:nvPr/>
            </p:nvSpPr>
            <p:spPr bwMode="auto">
              <a:xfrm>
                <a:off x="1573" y="2854"/>
                <a:ext cx="8" cy="8"/>
              </a:xfrm>
              <a:custGeom>
                <a:avLst/>
                <a:gdLst>
                  <a:gd name="T0" fmla="*/ 1 w 8"/>
                  <a:gd name="T1" fmla="*/ 0 h 8"/>
                  <a:gd name="T2" fmla="*/ 5 w 8"/>
                  <a:gd name="T3" fmla="*/ 0 h 8"/>
                  <a:gd name="T4" fmla="*/ 8 w 8"/>
                  <a:gd name="T5" fmla="*/ 3 h 8"/>
                  <a:gd name="T6" fmla="*/ 8 w 8"/>
                  <a:gd name="T7" fmla="*/ 6 h 8"/>
                  <a:gd name="T8" fmla="*/ 7 w 8"/>
                  <a:gd name="T9" fmla="*/ 8 h 8"/>
                  <a:gd name="T10" fmla="*/ 1 w 8"/>
                  <a:gd name="T11" fmla="*/ 8 h 8"/>
                  <a:gd name="T12" fmla="*/ 0 w 8"/>
                  <a:gd name="T13" fmla="*/ 6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6"/>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51" name="Freeform 246"/>
              <p:cNvSpPr>
                <a:spLocks/>
              </p:cNvSpPr>
              <p:nvPr/>
            </p:nvSpPr>
            <p:spPr bwMode="auto">
              <a:xfrm>
                <a:off x="1576" y="2854"/>
                <a:ext cx="11" cy="8"/>
              </a:xfrm>
              <a:custGeom>
                <a:avLst/>
                <a:gdLst>
                  <a:gd name="T0" fmla="*/ 4 w 11"/>
                  <a:gd name="T1" fmla="*/ 0 h 8"/>
                  <a:gd name="T2" fmla="*/ 9 w 11"/>
                  <a:gd name="T3" fmla="*/ 0 h 8"/>
                  <a:gd name="T4" fmla="*/ 11 w 11"/>
                  <a:gd name="T5" fmla="*/ 1 h 8"/>
                  <a:gd name="T6" fmla="*/ 11 w 11"/>
                  <a:gd name="T7" fmla="*/ 6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52" name="Freeform 247"/>
              <p:cNvSpPr>
                <a:spLocks/>
              </p:cNvSpPr>
              <p:nvPr/>
            </p:nvSpPr>
            <p:spPr bwMode="auto">
              <a:xfrm>
                <a:off x="1587"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3" name="Freeform 248"/>
              <p:cNvSpPr>
                <a:spLocks/>
              </p:cNvSpPr>
              <p:nvPr/>
            </p:nvSpPr>
            <p:spPr bwMode="auto">
              <a:xfrm>
                <a:off x="2021" y="2854"/>
                <a:ext cx="9" cy="8"/>
              </a:xfrm>
              <a:custGeom>
                <a:avLst/>
                <a:gdLst>
                  <a:gd name="T0" fmla="*/ 2 w 9"/>
                  <a:gd name="T1" fmla="*/ 0 h 8"/>
                  <a:gd name="T2" fmla="*/ 6 w 9"/>
                  <a:gd name="T3" fmla="*/ 0 h 8"/>
                  <a:gd name="T4" fmla="*/ 9 w 9"/>
                  <a:gd name="T5" fmla="*/ 3 h 8"/>
                  <a:gd name="T6" fmla="*/ 9 w 9"/>
                  <a:gd name="T7" fmla="*/ 6 h 8"/>
                  <a:gd name="T8" fmla="*/ 7 w 9"/>
                  <a:gd name="T9" fmla="*/ 8 h 8"/>
                  <a:gd name="T10" fmla="*/ 2 w 9"/>
                  <a:gd name="T11" fmla="*/ 8 h 8"/>
                  <a:gd name="T12" fmla="*/ 0 w 9"/>
                  <a:gd name="T13" fmla="*/ 6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6"/>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54" name="Freeform 249"/>
              <p:cNvSpPr>
                <a:spLocks/>
              </p:cNvSpPr>
              <p:nvPr/>
            </p:nvSpPr>
            <p:spPr bwMode="auto">
              <a:xfrm>
                <a:off x="2093"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5" name="Freeform 250"/>
              <p:cNvSpPr>
                <a:spLocks/>
              </p:cNvSpPr>
              <p:nvPr/>
            </p:nvSpPr>
            <p:spPr bwMode="auto">
              <a:xfrm>
                <a:off x="2142" y="2854"/>
                <a:ext cx="8" cy="8"/>
              </a:xfrm>
              <a:custGeom>
                <a:avLst/>
                <a:gdLst>
                  <a:gd name="T0" fmla="*/ 1 w 8"/>
                  <a:gd name="T1" fmla="*/ 0 h 8"/>
                  <a:gd name="T2" fmla="*/ 5 w 8"/>
                  <a:gd name="T3" fmla="*/ 0 h 8"/>
                  <a:gd name="T4" fmla="*/ 8 w 8"/>
                  <a:gd name="T5" fmla="*/ 3 h 8"/>
                  <a:gd name="T6" fmla="*/ 8 w 8"/>
                  <a:gd name="T7" fmla="*/ 6 h 8"/>
                  <a:gd name="T8" fmla="*/ 7 w 8"/>
                  <a:gd name="T9" fmla="*/ 8 h 8"/>
                  <a:gd name="T10" fmla="*/ 1 w 8"/>
                  <a:gd name="T11" fmla="*/ 8 h 8"/>
                  <a:gd name="T12" fmla="*/ 0 w 8"/>
                  <a:gd name="T13" fmla="*/ 6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6"/>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56" name="Freeform 251"/>
              <p:cNvSpPr>
                <a:spLocks/>
              </p:cNvSpPr>
              <p:nvPr/>
            </p:nvSpPr>
            <p:spPr bwMode="auto">
              <a:xfrm>
                <a:off x="2147"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7" name="Freeform 252"/>
              <p:cNvSpPr>
                <a:spLocks/>
              </p:cNvSpPr>
              <p:nvPr/>
            </p:nvSpPr>
            <p:spPr bwMode="auto">
              <a:xfrm>
                <a:off x="2149"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8" name="Freeform 253"/>
              <p:cNvSpPr>
                <a:spLocks/>
              </p:cNvSpPr>
              <p:nvPr/>
            </p:nvSpPr>
            <p:spPr bwMode="auto">
              <a:xfrm>
                <a:off x="2463"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59" name="Freeform 254"/>
              <p:cNvSpPr>
                <a:spLocks/>
              </p:cNvSpPr>
              <p:nvPr/>
            </p:nvSpPr>
            <p:spPr bwMode="auto">
              <a:xfrm>
                <a:off x="2496" y="2854"/>
                <a:ext cx="11" cy="8"/>
              </a:xfrm>
              <a:custGeom>
                <a:avLst/>
                <a:gdLst>
                  <a:gd name="T0" fmla="*/ 4 w 11"/>
                  <a:gd name="T1" fmla="*/ 0 h 8"/>
                  <a:gd name="T2" fmla="*/ 9 w 11"/>
                  <a:gd name="T3" fmla="*/ 0 h 8"/>
                  <a:gd name="T4" fmla="*/ 11 w 11"/>
                  <a:gd name="T5" fmla="*/ 1 h 8"/>
                  <a:gd name="T6" fmla="*/ 11 w 11"/>
                  <a:gd name="T7" fmla="*/ 6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60" name="Freeform 255"/>
              <p:cNvSpPr>
                <a:spLocks/>
              </p:cNvSpPr>
              <p:nvPr/>
            </p:nvSpPr>
            <p:spPr bwMode="auto">
              <a:xfrm>
                <a:off x="2503" y="2854"/>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6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61" name="Freeform 256"/>
              <p:cNvSpPr>
                <a:spLocks/>
              </p:cNvSpPr>
              <p:nvPr/>
            </p:nvSpPr>
            <p:spPr bwMode="auto">
              <a:xfrm>
                <a:off x="2512"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62" name="Freeform 257"/>
              <p:cNvSpPr>
                <a:spLocks/>
              </p:cNvSpPr>
              <p:nvPr/>
            </p:nvSpPr>
            <p:spPr bwMode="auto">
              <a:xfrm>
                <a:off x="2533"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63" name="Freeform 258"/>
              <p:cNvSpPr>
                <a:spLocks/>
              </p:cNvSpPr>
              <p:nvPr/>
            </p:nvSpPr>
            <p:spPr bwMode="auto">
              <a:xfrm>
                <a:off x="2554" y="2854"/>
                <a:ext cx="10" cy="8"/>
              </a:xfrm>
              <a:custGeom>
                <a:avLst/>
                <a:gdLst>
                  <a:gd name="T0" fmla="*/ 3 w 10"/>
                  <a:gd name="T1" fmla="*/ 0 h 8"/>
                  <a:gd name="T2" fmla="*/ 8 w 10"/>
                  <a:gd name="T3" fmla="*/ 0 h 8"/>
                  <a:gd name="T4" fmla="*/ 10 w 10"/>
                  <a:gd name="T5" fmla="*/ 1 h 8"/>
                  <a:gd name="T6" fmla="*/ 10 w 10"/>
                  <a:gd name="T7" fmla="*/ 6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6"/>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64" name="Freeform 259"/>
              <p:cNvSpPr>
                <a:spLocks/>
              </p:cNvSpPr>
              <p:nvPr/>
            </p:nvSpPr>
            <p:spPr bwMode="auto">
              <a:xfrm>
                <a:off x="2564"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65" name="Freeform 260"/>
              <p:cNvSpPr>
                <a:spLocks/>
              </p:cNvSpPr>
              <p:nvPr/>
            </p:nvSpPr>
            <p:spPr bwMode="auto">
              <a:xfrm>
                <a:off x="3137" y="2854"/>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66" name="Freeform 261"/>
              <p:cNvSpPr>
                <a:spLocks/>
              </p:cNvSpPr>
              <p:nvPr/>
            </p:nvSpPr>
            <p:spPr bwMode="auto">
              <a:xfrm>
                <a:off x="3138" y="2854"/>
                <a:ext cx="11" cy="8"/>
              </a:xfrm>
              <a:custGeom>
                <a:avLst/>
                <a:gdLst>
                  <a:gd name="T0" fmla="*/ 4 w 11"/>
                  <a:gd name="T1" fmla="*/ 0 h 8"/>
                  <a:gd name="T2" fmla="*/ 9 w 11"/>
                  <a:gd name="T3" fmla="*/ 0 h 8"/>
                  <a:gd name="T4" fmla="*/ 11 w 11"/>
                  <a:gd name="T5" fmla="*/ 1 h 8"/>
                  <a:gd name="T6" fmla="*/ 11 w 11"/>
                  <a:gd name="T7" fmla="*/ 6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67" name="Freeform 262"/>
              <p:cNvSpPr>
                <a:spLocks/>
              </p:cNvSpPr>
              <p:nvPr/>
            </p:nvSpPr>
            <p:spPr bwMode="auto">
              <a:xfrm>
                <a:off x="3158"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68" name="Freeform 263"/>
              <p:cNvSpPr>
                <a:spLocks/>
              </p:cNvSpPr>
              <p:nvPr/>
            </p:nvSpPr>
            <p:spPr bwMode="auto">
              <a:xfrm>
                <a:off x="3161" y="2854"/>
                <a:ext cx="11" cy="8"/>
              </a:xfrm>
              <a:custGeom>
                <a:avLst/>
                <a:gdLst>
                  <a:gd name="T0" fmla="*/ 2 w 11"/>
                  <a:gd name="T1" fmla="*/ 0 h 8"/>
                  <a:gd name="T2" fmla="*/ 9 w 11"/>
                  <a:gd name="T3" fmla="*/ 0 h 8"/>
                  <a:gd name="T4" fmla="*/ 11 w 11"/>
                  <a:gd name="T5" fmla="*/ 1 h 8"/>
                  <a:gd name="T6" fmla="*/ 11 w 11"/>
                  <a:gd name="T7" fmla="*/ 6 h 8"/>
                  <a:gd name="T8" fmla="*/ 9 w 11"/>
                  <a:gd name="T9" fmla="*/ 8 h 8"/>
                  <a:gd name="T10" fmla="*/ 2 w 11"/>
                  <a:gd name="T11" fmla="*/ 8 h 8"/>
                  <a:gd name="T12" fmla="*/ 0 w 11"/>
                  <a:gd name="T13" fmla="*/ 6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9" y="0"/>
                    </a:lnTo>
                    <a:lnTo>
                      <a:pt x="11" y="1"/>
                    </a:lnTo>
                    <a:lnTo>
                      <a:pt x="11" y="6"/>
                    </a:lnTo>
                    <a:lnTo>
                      <a:pt x="9"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69" name="Freeform 264"/>
              <p:cNvSpPr>
                <a:spLocks/>
              </p:cNvSpPr>
              <p:nvPr/>
            </p:nvSpPr>
            <p:spPr bwMode="auto">
              <a:xfrm>
                <a:off x="3170" y="2854"/>
                <a:ext cx="10" cy="8"/>
              </a:xfrm>
              <a:custGeom>
                <a:avLst/>
                <a:gdLst>
                  <a:gd name="T0" fmla="*/ 3 w 10"/>
                  <a:gd name="T1" fmla="*/ 0 h 8"/>
                  <a:gd name="T2" fmla="*/ 9 w 10"/>
                  <a:gd name="T3" fmla="*/ 0 h 8"/>
                  <a:gd name="T4" fmla="*/ 10 w 10"/>
                  <a:gd name="T5" fmla="*/ 1 h 8"/>
                  <a:gd name="T6" fmla="*/ 10 w 10"/>
                  <a:gd name="T7" fmla="*/ 6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6"/>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70" name="Freeform 265"/>
              <p:cNvSpPr>
                <a:spLocks/>
              </p:cNvSpPr>
              <p:nvPr/>
            </p:nvSpPr>
            <p:spPr bwMode="auto">
              <a:xfrm>
                <a:off x="3173"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71" name="Freeform 266"/>
              <p:cNvSpPr>
                <a:spLocks/>
              </p:cNvSpPr>
              <p:nvPr/>
            </p:nvSpPr>
            <p:spPr bwMode="auto">
              <a:xfrm>
                <a:off x="3193" y="2854"/>
                <a:ext cx="10" cy="8"/>
              </a:xfrm>
              <a:custGeom>
                <a:avLst/>
                <a:gdLst>
                  <a:gd name="T0" fmla="*/ 1 w 10"/>
                  <a:gd name="T1" fmla="*/ 0 h 8"/>
                  <a:gd name="T2" fmla="*/ 6 w 10"/>
                  <a:gd name="T3" fmla="*/ 0 h 8"/>
                  <a:gd name="T4" fmla="*/ 10 w 10"/>
                  <a:gd name="T5" fmla="*/ 3 h 8"/>
                  <a:gd name="T6" fmla="*/ 10 w 10"/>
                  <a:gd name="T7" fmla="*/ 5 h 8"/>
                  <a:gd name="T8" fmla="*/ 6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6" y="0"/>
                    </a:lnTo>
                    <a:lnTo>
                      <a:pt x="10" y="3"/>
                    </a:lnTo>
                    <a:lnTo>
                      <a:pt x="10" y="5"/>
                    </a:lnTo>
                    <a:lnTo>
                      <a:pt x="6"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72" name="Freeform 267"/>
              <p:cNvSpPr>
                <a:spLocks/>
              </p:cNvSpPr>
              <p:nvPr/>
            </p:nvSpPr>
            <p:spPr bwMode="auto">
              <a:xfrm>
                <a:off x="3222"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73" name="Freeform 268"/>
              <p:cNvSpPr>
                <a:spLocks/>
              </p:cNvSpPr>
              <p:nvPr/>
            </p:nvSpPr>
            <p:spPr bwMode="auto">
              <a:xfrm>
                <a:off x="3224"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74" name="Freeform 269"/>
              <p:cNvSpPr>
                <a:spLocks/>
              </p:cNvSpPr>
              <p:nvPr/>
            </p:nvSpPr>
            <p:spPr bwMode="auto">
              <a:xfrm>
                <a:off x="3226" y="2854"/>
                <a:ext cx="10" cy="8"/>
              </a:xfrm>
              <a:custGeom>
                <a:avLst/>
                <a:gdLst>
                  <a:gd name="T0" fmla="*/ 1 w 10"/>
                  <a:gd name="T1" fmla="*/ 0 h 8"/>
                  <a:gd name="T2" fmla="*/ 8 w 10"/>
                  <a:gd name="T3" fmla="*/ 0 h 8"/>
                  <a:gd name="T4" fmla="*/ 10 w 10"/>
                  <a:gd name="T5" fmla="*/ 1 h 8"/>
                  <a:gd name="T6" fmla="*/ 10 w 10"/>
                  <a:gd name="T7" fmla="*/ 6 h 8"/>
                  <a:gd name="T8" fmla="*/ 8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8" y="0"/>
                    </a:lnTo>
                    <a:lnTo>
                      <a:pt x="10" y="1"/>
                    </a:lnTo>
                    <a:lnTo>
                      <a:pt x="10" y="6"/>
                    </a:lnTo>
                    <a:lnTo>
                      <a:pt x="8"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75" name="Freeform 270"/>
              <p:cNvSpPr>
                <a:spLocks/>
              </p:cNvSpPr>
              <p:nvPr/>
            </p:nvSpPr>
            <p:spPr bwMode="auto">
              <a:xfrm>
                <a:off x="3236"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76" name="Freeform 271"/>
              <p:cNvSpPr>
                <a:spLocks/>
              </p:cNvSpPr>
              <p:nvPr/>
            </p:nvSpPr>
            <p:spPr bwMode="auto">
              <a:xfrm>
                <a:off x="3240" y="2854"/>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77" name="Freeform 272"/>
              <p:cNvSpPr>
                <a:spLocks/>
              </p:cNvSpPr>
              <p:nvPr/>
            </p:nvSpPr>
            <p:spPr bwMode="auto">
              <a:xfrm>
                <a:off x="3278"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78" name="Freeform 273"/>
              <p:cNvSpPr>
                <a:spLocks/>
              </p:cNvSpPr>
              <p:nvPr/>
            </p:nvSpPr>
            <p:spPr bwMode="auto">
              <a:xfrm>
                <a:off x="3313" y="2854"/>
                <a:ext cx="10" cy="8"/>
              </a:xfrm>
              <a:custGeom>
                <a:avLst/>
                <a:gdLst>
                  <a:gd name="T0" fmla="*/ 3 w 10"/>
                  <a:gd name="T1" fmla="*/ 0 h 8"/>
                  <a:gd name="T2" fmla="*/ 9 w 10"/>
                  <a:gd name="T3" fmla="*/ 0 h 8"/>
                  <a:gd name="T4" fmla="*/ 10 w 10"/>
                  <a:gd name="T5" fmla="*/ 1 h 8"/>
                  <a:gd name="T6" fmla="*/ 10 w 10"/>
                  <a:gd name="T7" fmla="*/ 6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6"/>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79" name="Freeform 274"/>
              <p:cNvSpPr>
                <a:spLocks/>
              </p:cNvSpPr>
              <p:nvPr/>
            </p:nvSpPr>
            <p:spPr bwMode="auto">
              <a:xfrm>
                <a:off x="3318" y="2854"/>
                <a:ext cx="9" cy="8"/>
              </a:xfrm>
              <a:custGeom>
                <a:avLst/>
                <a:gdLst>
                  <a:gd name="T0" fmla="*/ 2 w 9"/>
                  <a:gd name="T1" fmla="*/ 0 h 8"/>
                  <a:gd name="T2" fmla="*/ 5 w 9"/>
                  <a:gd name="T3" fmla="*/ 0 h 8"/>
                  <a:gd name="T4" fmla="*/ 9 w 9"/>
                  <a:gd name="T5" fmla="*/ 3 h 8"/>
                  <a:gd name="T6" fmla="*/ 9 w 9"/>
                  <a:gd name="T7" fmla="*/ 6 h 8"/>
                  <a:gd name="T8" fmla="*/ 7 w 9"/>
                  <a:gd name="T9" fmla="*/ 8 h 8"/>
                  <a:gd name="T10" fmla="*/ 2 w 9"/>
                  <a:gd name="T11" fmla="*/ 8 h 8"/>
                  <a:gd name="T12" fmla="*/ 0 w 9"/>
                  <a:gd name="T13" fmla="*/ 6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6"/>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80" name="Freeform 275"/>
              <p:cNvSpPr>
                <a:spLocks/>
              </p:cNvSpPr>
              <p:nvPr/>
            </p:nvSpPr>
            <p:spPr bwMode="auto">
              <a:xfrm>
                <a:off x="4425"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81" name="Freeform 276"/>
              <p:cNvSpPr>
                <a:spLocks/>
              </p:cNvSpPr>
              <p:nvPr/>
            </p:nvSpPr>
            <p:spPr bwMode="auto">
              <a:xfrm>
                <a:off x="4451" y="2854"/>
                <a:ext cx="10" cy="8"/>
              </a:xfrm>
              <a:custGeom>
                <a:avLst/>
                <a:gdLst>
                  <a:gd name="T0" fmla="*/ 4 w 10"/>
                  <a:gd name="T1" fmla="*/ 0 h 8"/>
                  <a:gd name="T2" fmla="*/ 9 w 10"/>
                  <a:gd name="T3" fmla="*/ 0 h 8"/>
                  <a:gd name="T4" fmla="*/ 10 w 10"/>
                  <a:gd name="T5" fmla="*/ 1 h 8"/>
                  <a:gd name="T6" fmla="*/ 10 w 10"/>
                  <a:gd name="T7" fmla="*/ 6 h 8"/>
                  <a:gd name="T8" fmla="*/ 9 w 10"/>
                  <a:gd name="T9" fmla="*/ 8 h 8"/>
                  <a:gd name="T10" fmla="*/ 4 w 10"/>
                  <a:gd name="T11" fmla="*/ 8 h 8"/>
                  <a:gd name="T12" fmla="*/ 0 w 10"/>
                  <a:gd name="T13" fmla="*/ 5 h 8"/>
                  <a:gd name="T14" fmla="*/ 0 w 10"/>
                  <a:gd name="T15" fmla="*/ 3 h 8"/>
                  <a:gd name="T16" fmla="*/ 4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0"/>
                    </a:moveTo>
                    <a:lnTo>
                      <a:pt x="9" y="0"/>
                    </a:lnTo>
                    <a:lnTo>
                      <a:pt x="10" y="1"/>
                    </a:lnTo>
                    <a:lnTo>
                      <a:pt x="10"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82" name="Freeform 277"/>
              <p:cNvSpPr>
                <a:spLocks/>
              </p:cNvSpPr>
              <p:nvPr/>
            </p:nvSpPr>
            <p:spPr bwMode="auto">
              <a:xfrm>
                <a:off x="4510"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83" name="Freeform 278"/>
              <p:cNvSpPr>
                <a:spLocks/>
              </p:cNvSpPr>
              <p:nvPr/>
            </p:nvSpPr>
            <p:spPr bwMode="auto">
              <a:xfrm>
                <a:off x="4542"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84" name="Freeform 279"/>
              <p:cNvSpPr>
                <a:spLocks/>
              </p:cNvSpPr>
              <p:nvPr/>
            </p:nvSpPr>
            <p:spPr bwMode="auto">
              <a:xfrm>
                <a:off x="4582"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85" name="Freeform 280"/>
              <p:cNvSpPr>
                <a:spLocks/>
              </p:cNvSpPr>
              <p:nvPr/>
            </p:nvSpPr>
            <p:spPr bwMode="auto">
              <a:xfrm>
                <a:off x="1203"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86" name="Freeform 281"/>
              <p:cNvSpPr>
                <a:spLocks/>
              </p:cNvSpPr>
              <p:nvPr/>
            </p:nvSpPr>
            <p:spPr bwMode="auto">
              <a:xfrm>
                <a:off x="1232"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87" name="Freeform 282"/>
              <p:cNvSpPr>
                <a:spLocks/>
              </p:cNvSpPr>
              <p:nvPr/>
            </p:nvSpPr>
            <p:spPr bwMode="auto">
              <a:xfrm>
                <a:off x="1255" y="2813"/>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88" name="Freeform 283"/>
              <p:cNvSpPr>
                <a:spLocks/>
              </p:cNvSpPr>
              <p:nvPr/>
            </p:nvSpPr>
            <p:spPr bwMode="auto">
              <a:xfrm>
                <a:off x="1258" y="2813"/>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89" name="Freeform 284"/>
              <p:cNvSpPr>
                <a:spLocks/>
              </p:cNvSpPr>
              <p:nvPr/>
            </p:nvSpPr>
            <p:spPr bwMode="auto">
              <a:xfrm>
                <a:off x="1534" y="2813"/>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0" name="Freeform 285"/>
              <p:cNvSpPr>
                <a:spLocks/>
              </p:cNvSpPr>
              <p:nvPr/>
            </p:nvSpPr>
            <p:spPr bwMode="auto">
              <a:xfrm>
                <a:off x="1625"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91" name="Freeform 286"/>
              <p:cNvSpPr>
                <a:spLocks/>
              </p:cNvSpPr>
              <p:nvPr/>
            </p:nvSpPr>
            <p:spPr bwMode="auto">
              <a:xfrm>
                <a:off x="2526"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92" name="Freeform 287"/>
              <p:cNvSpPr>
                <a:spLocks/>
              </p:cNvSpPr>
              <p:nvPr/>
            </p:nvSpPr>
            <p:spPr bwMode="auto">
              <a:xfrm>
                <a:off x="2527" y="2813"/>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3" name="Freeform 288"/>
              <p:cNvSpPr>
                <a:spLocks/>
              </p:cNvSpPr>
              <p:nvPr/>
            </p:nvSpPr>
            <p:spPr bwMode="auto">
              <a:xfrm>
                <a:off x="2533"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94" name="Freeform 289"/>
              <p:cNvSpPr>
                <a:spLocks/>
              </p:cNvSpPr>
              <p:nvPr/>
            </p:nvSpPr>
            <p:spPr bwMode="auto">
              <a:xfrm>
                <a:off x="2541" y="2813"/>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5" name="Freeform 290"/>
              <p:cNvSpPr>
                <a:spLocks/>
              </p:cNvSpPr>
              <p:nvPr/>
            </p:nvSpPr>
            <p:spPr bwMode="auto">
              <a:xfrm>
                <a:off x="2543" y="2813"/>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6" name="Freeform 291"/>
              <p:cNvSpPr>
                <a:spLocks/>
              </p:cNvSpPr>
              <p:nvPr/>
            </p:nvSpPr>
            <p:spPr bwMode="auto">
              <a:xfrm>
                <a:off x="2559" y="2813"/>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7" name="Freeform 292"/>
              <p:cNvSpPr>
                <a:spLocks/>
              </p:cNvSpPr>
              <p:nvPr/>
            </p:nvSpPr>
            <p:spPr bwMode="auto">
              <a:xfrm>
                <a:off x="2582"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98" name="Freeform 293"/>
              <p:cNvSpPr>
                <a:spLocks/>
              </p:cNvSpPr>
              <p:nvPr/>
            </p:nvSpPr>
            <p:spPr bwMode="auto">
              <a:xfrm>
                <a:off x="2603" y="281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99" name="Freeform 294"/>
              <p:cNvSpPr>
                <a:spLocks/>
              </p:cNvSpPr>
              <p:nvPr/>
            </p:nvSpPr>
            <p:spPr bwMode="auto">
              <a:xfrm>
                <a:off x="2613" y="2813"/>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00" name="Freeform 295"/>
              <p:cNvSpPr>
                <a:spLocks/>
              </p:cNvSpPr>
              <p:nvPr/>
            </p:nvSpPr>
            <p:spPr bwMode="auto">
              <a:xfrm>
                <a:off x="3215" y="2813"/>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01" name="Freeform 296"/>
              <p:cNvSpPr>
                <a:spLocks/>
              </p:cNvSpPr>
              <p:nvPr/>
            </p:nvSpPr>
            <p:spPr bwMode="auto">
              <a:xfrm>
                <a:off x="3220" y="2813"/>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02" name="Freeform 297"/>
              <p:cNvSpPr>
                <a:spLocks/>
              </p:cNvSpPr>
              <p:nvPr/>
            </p:nvSpPr>
            <p:spPr bwMode="auto">
              <a:xfrm>
                <a:off x="3238" y="2813"/>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03" name="Freeform 298"/>
              <p:cNvSpPr>
                <a:spLocks/>
              </p:cNvSpPr>
              <p:nvPr/>
            </p:nvSpPr>
            <p:spPr bwMode="auto">
              <a:xfrm>
                <a:off x="3250"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04" name="Freeform 299"/>
              <p:cNvSpPr>
                <a:spLocks/>
              </p:cNvSpPr>
              <p:nvPr/>
            </p:nvSpPr>
            <p:spPr bwMode="auto">
              <a:xfrm>
                <a:off x="3280" y="2813"/>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05" name="Freeform 300"/>
              <p:cNvSpPr>
                <a:spLocks/>
              </p:cNvSpPr>
              <p:nvPr/>
            </p:nvSpPr>
            <p:spPr bwMode="auto">
              <a:xfrm>
                <a:off x="3287" y="2813"/>
                <a:ext cx="8" cy="9"/>
              </a:xfrm>
              <a:custGeom>
                <a:avLst/>
                <a:gdLst>
                  <a:gd name="T0" fmla="*/ 2 w 8"/>
                  <a:gd name="T1" fmla="*/ 0 h 9"/>
                  <a:gd name="T2" fmla="*/ 5 w 8"/>
                  <a:gd name="T3" fmla="*/ 0 h 9"/>
                  <a:gd name="T4" fmla="*/ 8 w 8"/>
                  <a:gd name="T5" fmla="*/ 4 h 9"/>
                  <a:gd name="T6" fmla="*/ 8 w 8"/>
                  <a:gd name="T7" fmla="*/ 7 h 9"/>
                  <a:gd name="T8" fmla="*/ 7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5" y="0"/>
                    </a:lnTo>
                    <a:lnTo>
                      <a:pt x="8" y="4"/>
                    </a:lnTo>
                    <a:lnTo>
                      <a:pt x="8"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06" name="Freeform 301"/>
              <p:cNvSpPr>
                <a:spLocks/>
              </p:cNvSpPr>
              <p:nvPr/>
            </p:nvSpPr>
            <p:spPr bwMode="auto">
              <a:xfrm>
                <a:off x="3289" y="2813"/>
                <a:ext cx="10" cy="9"/>
              </a:xfrm>
              <a:custGeom>
                <a:avLst/>
                <a:gdLst>
                  <a:gd name="T0" fmla="*/ 1 w 10"/>
                  <a:gd name="T1" fmla="*/ 0 h 9"/>
                  <a:gd name="T2" fmla="*/ 6 w 10"/>
                  <a:gd name="T3" fmla="*/ 0 h 9"/>
                  <a:gd name="T4" fmla="*/ 10 w 10"/>
                  <a:gd name="T5" fmla="*/ 4 h 9"/>
                  <a:gd name="T6" fmla="*/ 10 w 10"/>
                  <a:gd name="T7" fmla="*/ 6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4"/>
                    </a:lnTo>
                    <a:lnTo>
                      <a:pt x="10" y="6"/>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07" name="Freeform 302"/>
              <p:cNvSpPr>
                <a:spLocks/>
              </p:cNvSpPr>
              <p:nvPr/>
            </p:nvSpPr>
            <p:spPr bwMode="auto">
              <a:xfrm>
                <a:off x="3554" y="2813"/>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08" name="Freeform 303"/>
              <p:cNvSpPr>
                <a:spLocks/>
              </p:cNvSpPr>
              <p:nvPr/>
            </p:nvSpPr>
            <p:spPr bwMode="auto">
              <a:xfrm>
                <a:off x="3578"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09" name="Freeform 304"/>
              <p:cNvSpPr>
                <a:spLocks/>
              </p:cNvSpPr>
              <p:nvPr/>
            </p:nvSpPr>
            <p:spPr bwMode="auto">
              <a:xfrm>
                <a:off x="3622" y="2813"/>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10" name="Freeform 305"/>
              <p:cNvSpPr>
                <a:spLocks/>
              </p:cNvSpPr>
              <p:nvPr/>
            </p:nvSpPr>
            <p:spPr bwMode="auto">
              <a:xfrm>
                <a:off x="4261"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11" name="Freeform 306"/>
              <p:cNvSpPr>
                <a:spLocks/>
              </p:cNvSpPr>
              <p:nvPr/>
            </p:nvSpPr>
            <p:spPr bwMode="auto">
              <a:xfrm>
                <a:off x="4283"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12" name="Freeform 307"/>
              <p:cNvSpPr>
                <a:spLocks/>
              </p:cNvSpPr>
              <p:nvPr/>
            </p:nvSpPr>
            <p:spPr bwMode="auto">
              <a:xfrm>
                <a:off x="4339"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13" name="Freeform 308"/>
              <p:cNvSpPr>
                <a:spLocks/>
              </p:cNvSpPr>
              <p:nvPr/>
            </p:nvSpPr>
            <p:spPr bwMode="auto">
              <a:xfrm>
                <a:off x="4449" y="2813"/>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14" name="Freeform 309"/>
              <p:cNvSpPr>
                <a:spLocks/>
              </p:cNvSpPr>
              <p:nvPr/>
            </p:nvSpPr>
            <p:spPr bwMode="auto">
              <a:xfrm>
                <a:off x="4488" y="2813"/>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15" name="Freeform 310"/>
              <p:cNvSpPr>
                <a:spLocks/>
              </p:cNvSpPr>
              <p:nvPr/>
            </p:nvSpPr>
            <p:spPr bwMode="auto">
              <a:xfrm>
                <a:off x="1405" y="277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16" name="Freeform 311"/>
              <p:cNvSpPr>
                <a:spLocks/>
              </p:cNvSpPr>
              <p:nvPr/>
            </p:nvSpPr>
            <p:spPr bwMode="auto">
              <a:xfrm>
                <a:off x="1588"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17" name="Freeform 312"/>
              <p:cNvSpPr>
                <a:spLocks/>
              </p:cNvSpPr>
              <p:nvPr/>
            </p:nvSpPr>
            <p:spPr bwMode="auto">
              <a:xfrm>
                <a:off x="1590"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18" name="Freeform 313"/>
              <p:cNvSpPr>
                <a:spLocks/>
              </p:cNvSpPr>
              <p:nvPr/>
            </p:nvSpPr>
            <p:spPr bwMode="auto">
              <a:xfrm>
                <a:off x="1676" y="2773"/>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19" name="Freeform 314"/>
              <p:cNvSpPr>
                <a:spLocks/>
              </p:cNvSpPr>
              <p:nvPr/>
            </p:nvSpPr>
            <p:spPr bwMode="auto">
              <a:xfrm>
                <a:off x="1718" y="277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20" name="Freeform 315"/>
              <p:cNvSpPr>
                <a:spLocks/>
              </p:cNvSpPr>
              <p:nvPr/>
            </p:nvSpPr>
            <p:spPr bwMode="auto">
              <a:xfrm>
                <a:off x="1965" y="277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1" name="Freeform 316"/>
              <p:cNvSpPr>
                <a:spLocks/>
              </p:cNvSpPr>
              <p:nvPr/>
            </p:nvSpPr>
            <p:spPr bwMode="auto">
              <a:xfrm>
                <a:off x="2023" y="2773"/>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2" name="Freeform 317"/>
              <p:cNvSpPr>
                <a:spLocks/>
              </p:cNvSpPr>
              <p:nvPr/>
            </p:nvSpPr>
            <p:spPr bwMode="auto">
              <a:xfrm>
                <a:off x="2419"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3" name="Freeform 318"/>
              <p:cNvSpPr>
                <a:spLocks/>
              </p:cNvSpPr>
              <p:nvPr/>
            </p:nvSpPr>
            <p:spPr bwMode="auto">
              <a:xfrm>
                <a:off x="2437" y="277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24" name="Freeform 319"/>
              <p:cNvSpPr>
                <a:spLocks/>
              </p:cNvSpPr>
              <p:nvPr/>
            </p:nvSpPr>
            <p:spPr bwMode="auto">
              <a:xfrm>
                <a:off x="2440"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25" name="Freeform 320"/>
              <p:cNvSpPr>
                <a:spLocks/>
              </p:cNvSpPr>
              <p:nvPr/>
            </p:nvSpPr>
            <p:spPr bwMode="auto">
              <a:xfrm>
                <a:off x="2461"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6" name="Freeform 321"/>
              <p:cNvSpPr>
                <a:spLocks/>
              </p:cNvSpPr>
              <p:nvPr/>
            </p:nvSpPr>
            <p:spPr bwMode="auto">
              <a:xfrm>
                <a:off x="2541" y="277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7" name="Freeform 322"/>
              <p:cNvSpPr>
                <a:spLocks/>
              </p:cNvSpPr>
              <p:nvPr/>
            </p:nvSpPr>
            <p:spPr bwMode="auto">
              <a:xfrm>
                <a:off x="3009"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8" name="Freeform 323"/>
              <p:cNvSpPr>
                <a:spLocks/>
              </p:cNvSpPr>
              <p:nvPr/>
            </p:nvSpPr>
            <p:spPr bwMode="auto">
              <a:xfrm>
                <a:off x="3154"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29" name="Freeform 324"/>
              <p:cNvSpPr>
                <a:spLocks/>
              </p:cNvSpPr>
              <p:nvPr/>
            </p:nvSpPr>
            <p:spPr bwMode="auto">
              <a:xfrm>
                <a:off x="3165" y="2773"/>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30" name="Freeform 325"/>
              <p:cNvSpPr>
                <a:spLocks/>
              </p:cNvSpPr>
              <p:nvPr/>
            </p:nvSpPr>
            <p:spPr bwMode="auto">
              <a:xfrm>
                <a:off x="3175"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1" name="Freeform 326"/>
              <p:cNvSpPr>
                <a:spLocks/>
              </p:cNvSpPr>
              <p:nvPr/>
            </p:nvSpPr>
            <p:spPr bwMode="auto">
              <a:xfrm>
                <a:off x="3180"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2" name="Freeform 327"/>
              <p:cNvSpPr>
                <a:spLocks/>
              </p:cNvSpPr>
              <p:nvPr/>
            </p:nvSpPr>
            <p:spPr bwMode="auto">
              <a:xfrm>
                <a:off x="3233" y="2773"/>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33" name="Freeform 328"/>
              <p:cNvSpPr>
                <a:spLocks/>
              </p:cNvSpPr>
              <p:nvPr/>
            </p:nvSpPr>
            <p:spPr bwMode="auto">
              <a:xfrm>
                <a:off x="3236"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4" name="Freeform 329"/>
              <p:cNvSpPr>
                <a:spLocks/>
              </p:cNvSpPr>
              <p:nvPr/>
            </p:nvSpPr>
            <p:spPr bwMode="auto">
              <a:xfrm>
                <a:off x="3241"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35" name="Freeform 330"/>
              <p:cNvSpPr>
                <a:spLocks/>
              </p:cNvSpPr>
              <p:nvPr/>
            </p:nvSpPr>
            <p:spPr bwMode="auto">
              <a:xfrm>
                <a:off x="3269"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6" name="Freeform 331"/>
              <p:cNvSpPr>
                <a:spLocks/>
              </p:cNvSpPr>
              <p:nvPr/>
            </p:nvSpPr>
            <p:spPr bwMode="auto">
              <a:xfrm>
                <a:off x="3278"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7" name="Freeform 332"/>
              <p:cNvSpPr>
                <a:spLocks/>
              </p:cNvSpPr>
              <p:nvPr/>
            </p:nvSpPr>
            <p:spPr bwMode="auto">
              <a:xfrm>
                <a:off x="3287" y="2773"/>
                <a:ext cx="8" cy="9"/>
              </a:xfrm>
              <a:custGeom>
                <a:avLst/>
                <a:gdLst>
                  <a:gd name="T0" fmla="*/ 2 w 8"/>
                  <a:gd name="T1" fmla="*/ 0 h 9"/>
                  <a:gd name="T2" fmla="*/ 7 w 8"/>
                  <a:gd name="T3" fmla="*/ 0 h 9"/>
                  <a:gd name="T4" fmla="*/ 8 w 8"/>
                  <a:gd name="T5" fmla="*/ 2 h 9"/>
                  <a:gd name="T6" fmla="*/ 8 w 8"/>
                  <a:gd name="T7" fmla="*/ 5 h 9"/>
                  <a:gd name="T8" fmla="*/ 5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7" y="0"/>
                    </a:lnTo>
                    <a:lnTo>
                      <a:pt x="8" y="2"/>
                    </a:lnTo>
                    <a:lnTo>
                      <a:pt x="8"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8" name="Freeform 333"/>
              <p:cNvSpPr>
                <a:spLocks/>
              </p:cNvSpPr>
              <p:nvPr/>
            </p:nvSpPr>
            <p:spPr bwMode="auto">
              <a:xfrm>
                <a:off x="3290"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39" name="Freeform 334"/>
              <p:cNvSpPr>
                <a:spLocks/>
              </p:cNvSpPr>
              <p:nvPr/>
            </p:nvSpPr>
            <p:spPr bwMode="auto">
              <a:xfrm>
                <a:off x="3501"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0" name="Freeform 335"/>
              <p:cNvSpPr>
                <a:spLocks/>
              </p:cNvSpPr>
              <p:nvPr/>
            </p:nvSpPr>
            <p:spPr bwMode="auto">
              <a:xfrm>
                <a:off x="3954" y="277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41" name="Freeform 336"/>
              <p:cNvSpPr>
                <a:spLocks/>
              </p:cNvSpPr>
              <p:nvPr/>
            </p:nvSpPr>
            <p:spPr bwMode="auto">
              <a:xfrm>
                <a:off x="3961" y="277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42" name="Freeform 337"/>
              <p:cNvSpPr>
                <a:spLocks/>
              </p:cNvSpPr>
              <p:nvPr/>
            </p:nvSpPr>
            <p:spPr bwMode="auto">
              <a:xfrm>
                <a:off x="4105"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3" name="Freeform 338"/>
              <p:cNvSpPr>
                <a:spLocks/>
              </p:cNvSpPr>
              <p:nvPr/>
            </p:nvSpPr>
            <p:spPr bwMode="auto">
              <a:xfrm>
                <a:off x="4168" y="277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4" name="Freeform 339"/>
              <p:cNvSpPr>
                <a:spLocks/>
              </p:cNvSpPr>
              <p:nvPr/>
            </p:nvSpPr>
            <p:spPr bwMode="auto">
              <a:xfrm>
                <a:off x="4194"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45" name="Freeform 340"/>
              <p:cNvSpPr>
                <a:spLocks/>
              </p:cNvSpPr>
              <p:nvPr/>
            </p:nvSpPr>
            <p:spPr bwMode="auto">
              <a:xfrm>
                <a:off x="4201"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6" name="Freeform 341"/>
              <p:cNvSpPr>
                <a:spLocks/>
              </p:cNvSpPr>
              <p:nvPr/>
            </p:nvSpPr>
            <p:spPr bwMode="auto">
              <a:xfrm>
                <a:off x="4226" y="2773"/>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47" name="Freeform 342"/>
              <p:cNvSpPr>
                <a:spLocks/>
              </p:cNvSpPr>
              <p:nvPr/>
            </p:nvSpPr>
            <p:spPr bwMode="auto">
              <a:xfrm>
                <a:off x="4240" y="277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8" name="Freeform 343"/>
              <p:cNvSpPr>
                <a:spLocks/>
              </p:cNvSpPr>
              <p:nvPr/>
            </p:nvSpPr>
            <p:spPr bwMode="auto">
              <a:xfrm>
                <a:off x="1279" y="273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49" name="Freeform 344"/>
              <p:cNvSpPr>
                <a:spLocks/>
              </p:cNvSpPr>
              <p:nvPr/>
            </p:nvSpPr>
            <p:spPr bwMode="auto">
              <a:xfrm>
                <a:off x="1283" y="273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0" name="Freeform 345"/>
              <p:cNvSpPr>
                <a:spLocks/>
              </p:cNvSpPr>
              <p:nvPr/>
            </p:nvSpPr>
            <p:spPr bwMode="auto">
              <a:xfrm>
                <a:off x="1285"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51" name="Freeform 346"/>
              <p:cNvSpPr>
                <a:spLocks/>
              </p:cNvSpPr>
              <p:nvPr/>
            </p:nvSpPr>
            <p:spPr bwMode="auto">
              <a:xfrm>
                <a:off x="1323" y="273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2" name="Freeform 347"/>
              <p:cNvSpPr>
                <a:spLocks/>
              </p:cNvSpPr>
              <p:nvPr/>
            </p:nvSpPr>
            <p:spPr bwMode="auto">
              <a:xfrm>
                <a:off x="1606" y="273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3" name="Freeform 348"/>
              <p:cNvSpPr>
                <a:spLocks/>
              </p:cNvSpPr>
              <p:nvPr/>
            </p:nvSpPr>
            <p:spPr bwMode="auto">
              <a:xfrm>
                <a:off x="1637" y="273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4" name="Freeform 349"/>
              <p:cNvSpPr>
                <a:spLocks/>
              </p:cNvSpPr>
              <p:nvPr/>
            </p:nvSpPr>
            <p:spPr bwMode="auto">
              <a:xfrm>
                <a:off x="1641" y="273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55" name="Freeform 350"/>
              <p:cNvSpPr>
                <a:spLocks/>
              </p:cNvSpPr>
              <p:nvPr/>
            </p:nvSpPr>
            <p:spPr bwMode="auto">
              <a:xfrm>
                <a:off x="1669"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56" name="Freeform 351"/>
              <p:cNvSpPr>
                <a:spLocks/>
              </p:cNvSpPr>
              <p:nvPr/>
            </p:nvSpPr>
            <p:spPr bwMode="auto">
              <a:xfrm>
                <a:off x="2271" y="273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7" name="Freeform 352"/>
              <p:cNvSpPr>
                <a:spLocks/>
              </p:cNvSpPr>
              <p:nvPr/>
            </p:nvSpPr>
            <p:spPr bwMode="auto">
              <a:xfrm>
                <a:off x="2381" y="273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8" name="Freeform 353"/>
              <p:cNvSpPr>
                <a:spLocks/>
              </p:cNvSpPr>
              <p:nvPr/>
            </p:nvSpPr>
            <p:spPr bwMode="auto">
              <a:xfrm>
                <a:off x="2520"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9" name="Freeform 354"/>
              <p:cNvSpPr>
                <a:spLocks/>
              </p:cNvSpPr>
              <p:nvPr/>
            </p:nvSpPr>
            <p:spPr bwMode="auto">
              <a:xfrm>
                <a:off x="2526" y="2733"/>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60" name="Freeform 355"/>
              <p:cNvSpPr>
                <a:spLocks/>
              </p:cNvSpPr>
              <p:nvPr/>
            </p:nvSpPr>
            <p:spPr bwMode="auto">
              <a:xfrm>
                <a:off x="2527"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61" name="Freeform 356"/>
              <p:cNvSpPr>
                <a:spLocks/>
              </p:cNvSpPr>
              <p:nvPr/>
            </p:nvSpPr>
            <p:spPr bwMode="auto">
              <a:xfrm>
                <a:off x="2538" y="2733"/>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62" name="Freeform 357"/>
              <p:cNvSpPr>
                <a:spLocks/>
              </p:cNvSpPr>
              <p:nvPr/>
            </p:nvSpPr>
            <p:spPr bwMode="auto">
              <a:xfrm>
                <a:off x="2615"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63" name="Freeform 358"/>
              <p:cNvSpPr>
                <a:spLocks/>
              </p:cNvSpPr>
              <p:nvPr/>
            </p:nvSpPr>
            <p:spPr bwMode="auto">
              <a:xfrm>
                <a:off x="3193" y="2733"/>
                <a:ext cx="10" cy="9"/>
              </a:xfrm>
              <a:custGeom>
                <a:avLst/>
                <a:gdLst>
                  <a:gd name="T0" fmla="*/ 1 w 10"/>
                  <a:gd name="T1" fmla="*/ 0 h 9"/>
                  <a:gd name="T2" fmla="*/ 6 w 10"/>
                  <a:gd name="T3" fmla="*/ 0 h 9"/>
                  <a:gd name="T4" fmla="*/ 10 w 10"/>
                  <a:gd name="T5" fmla="*/ 3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3"/>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64" name="Freeform 359"/>
              <p:cNvSpPr>
                <a:spLocks/>
              </p:cNvSpPr>
              <p:nvPr/>
            </p:nvSpPr>
            <p:spPr bwMode="auto">
              <a:xfrm>
                <a:off x="3198"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65" name="Freeform 360"/>
              <p:cNvSpPr>
                <a:spLocks/>
              </p:cNvSpPr>
              <p:nvPr/>
            </p:nvSpPr>
            <p:spPr bwMode="auto">
              <a:xfrm>
                <a:off x="3222" y="273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66" name="Freeform 361"/>
              <p:cNvSpPr>
                <a:spLocks/>
              </p:cNvSpPr>
              <p:nvPr/>
            </p:nvSpPr>
            <p:spPr bwMode="auto">
              <a:xfrm>
                <a:off x="3224" y="2733"/>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67" name="Freeform 362"/>
              <p:cNvSpPr>
                <a:spLocks/>
              </p:cNvSpPr>
              <p:nvPr/>
            </p:nvSpPr>
            <p:spPr bwMode="auto">
              <a:xfrm>
                <a:off x="3255" y="273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68" name="Freeform 363"/>
              <p:cNvSpPr>
                <a:spLocks/>
              </p:cNvSpPr>
              <p:nvPr/>
            </p:nvSpPr>
            <p:spPr bwMode="auto">
              <a:xfrm>
                <a:off x="3257" y="273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69" name="Freeform 364"/>
              <p:cNvSpPr>
                <a:spLocks/>
              </p:cNvSpPr>
              <p:nvPr/>
            </p:nvSpPr>
            <p:spPr bwMode="auto">
              <a:xfrm>
                <a:off x="3315" y="273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70" name="Freeform 365"/>
              <p:cNvSpPr>
                <a:spLocks/>
              </p:cNvSpPr>
              <p:nvPr/>
            </p:nvSpPr>
            <p:spPr bwMode="auto">
              <a:xfrm>
                <a:off x="3577" y="2733"/>
                <a:ext cx="10" cy="9"/>
              </a:xfrm>
              <a:custGeom>
                <a:avLst/>
                <a:gdLst>
                  <a:gd name="T0" fmla="*/ 1 w 10"/>
                  <a:gd name="T1" fmla="*/ 0 h 9"/>
                  <a:gd name="T2" fmla="*/ 6 w 10"/>
                  <a:gd name="T3" fmla="*/ 0 h 9"/>
                  <a:gd name="T4" fmla="*/ 10 w 10"/>
                  <a:gd name="T5" fmla="*/ 3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3"/>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71" name="Freeform 366"/>
              <p:cNvSpPr>
                <a:spLocks/>
              </p:cNvSpPr>
              <p:nvPr/>
            </p:nvSpPr>
            <p:spPr bwMode="auto">
              <a:xfrm>
                <a:off x="4208"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2" name="Freeform 367"/>
              <p:cNvSpPr>
                <a:spLocks/>
              </p:cNvSpPr>
              <p:nvPr/>
            </p:nvSpPr>
            <p:spPr bwMode="auto">
              <a:xfrm>
                <a:off x="4297"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3" name="Freeform 368"/>
              <p:cNvSpPr>
                <a:spLocks/>
              </p:cNvSpPr>
              <p:nvPr/>
            </p:nvSpPr>
            <p:spPr bwMode="auto">
              <a:xfrm>
                <a:off x="1576"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74" name="Freeform 369"/>
              <p:cNvSpPr>
                <a:spLocks/>
              </p:cNvSpPr>
              <p:nvPr/>
            </p:nvSpPr>
            <p:spPr bwMode="auto">
              <a:xfrm>
                <a:off x="1580"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75" name="Freeform 370"/>
              <p:cNvSpPr>
                <a:spLocks/>
              </p:cNvSpPr>
              <p:nvPr/>
            </p:nvSpPr>
            <p:spPr bwMode="auto">
              <a:xfrm>
                <a:off x="1588"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6" name="Freeform 371"/>
              <p:cNvSpPr>
                <a:spLocks/>
              </p:cNvSpPr>
              <p:nvPr/>
            </p:nvSpPr>
            <p:spPr bwMode="auto">
              <a:xfrm>
                <a:off x="1590"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7" name="Freeform 372"/>
              <p:cNvSpPr>
                <a:spLocks/>
              </p:cNvSpPr>
              <p:nvPr/>
            </p:nvSpPr>
            <p:spPr bwMode="auto">
              <a:xfrm>
                <a:off x="1599" y="2693"/>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8" name="Freeform 373"/>
              <p:cNvSpPr>
                <a:spLocks/>
              </p:cNvSpPr>
              <p:nvPr/>
            </p:nvSpPr>
            <p:spPr bwMode="auto">
              <a:xfrm>
                <a:off x="1648" y="2693"/>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79" name="Freeform 374"/>
              <p:cNvSpPr>
                <a:spLocks/>
              </p:cNvSpPr>
              <p:nvPr/>
            </p:nvSpPr>
            <p:spPr bwMode="auto">
              <a:xfrm>
                <a:off x="2505" y="2693"/>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80" name="Freeform 375"/>
              <p:cNvSpPr>
                <a:spLocks/>
              </p:cNvSpPr>
              <p:nvPr/>
            </p:nvSpPr>
            <p:spPr bwMode="auto">
              <a:xfrm>
                <a:off x="2508"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81" name="Freeform 376"/>
              <p:cNvSpPr>
                <a:spLocks/>
              </p:cNvSpPr>
              <p:nvPr/>
            </p:nvSpPr>
            <p:spPr bwMode="auto">
              <a:xfrm>
                <a:off x="2526"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82" name="Freeform 377"/>
              <p:cNvSpPr>
                <a:spLocks/>
              </p:cNvSpPr>
              <p:nvPr/>
            </p:nvSpPr>
            <p:spPr bwMode="auto">
              <a:xfrm>
                <a:off x="2533"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83" name="Freeform 378"/>
              <p:cNvSpPr>
                <a:spLocks/>
              </p:cNvSpPr>
              <p:nvPr/>
            </p:nvSpPr>
            <p:spPr bwMode="auto">
              <a:xfrm>
                <a:off x="3166"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84" name="Freeform 379"/>
              <p:cNvSpPr>
                <a:spLocks/>
              </p:cNvSpPr>
              <p:nvPr/>
            </p:nvSpPr>
            <p:spPr bwMode="auto">
              <a:xfrm>
                <a:off x="3170" y="2693"/>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85" name="Freeform 380"/>
              <p:cNvSpPr>
                <a:spLocks/>
              </p:cNvSpPr>
              <p:nvPr/>
            </p:nvSpPr>
            <p:spPr bwMode="auto">
              <a:xfrm>
                <a:off x="3173"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86" name="Freeform 381"/>
              <p:cNvSpPr>
                <a:spLocks/>
              </p:cNvSpPr>
              <p:nvPr/>
            </p:nvSpPr>
            <p:spPr bwMode="auto">
              <a:xfrm>
                <a:off x="3191" y="2693"/>
                <a:ext cx="8" cy="10"/>
              </a:xfrm>
              <a:custGeom>
                <a:avLst/>
                <a:gdLst>
                  <a:gd name="T0" fmla="*/ 2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2"/>
                    </a:lnTo>
                    <a:lnTo>
                      <a:pt x="8"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87" name="Freeform 382"/>
              <p:cNvSpPr>
                <a:spLocks/>
              </p:cNvSpPr>
              <p:nvPr/>
            </p:nvSpPr>
            <p:spPr bwMode="auto">
              <a:xfrm>
                <a:off x="3194"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88" name="Freeform 383"/>
              <p:cNvSpPr>
                <a:spLocks/>
              </p:cNvSpPr>
              <p:nvPr/>
            </p:nvSpPr>
            <p:spPr bwMode="auto">
              <a:xfrm>
                <a:off x="3203" y="2693"/>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89" name="Freeform 384"/>
              <p:cNvSpPr>
                <a:spLocks/>
              </p:cNvSpPr>
              <p:nvPr/>
            </p:nvSpPr>
            <p:spPr bwMode="auto">
              <a:xfrm>
                <a:off x="3206"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0" name="Freeform 385"/>
              <p:cNvSpPr>
                <a:spLocks/>
              </p:cNvSpPr>
              <p:nvPr/>
            </p:nvSpPr>
            <p:spPr bwMode="auto">
              <a:xfrm>
                <a:off x="3208"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1" name="Freeform 386"/>
              <p:cNvSpPr>
                <a:spLocks/>
              </p:cNvSpPr>
              <p:nvPr/>
            </p:nvSpPr>
            <p:spPr bwMode="auto">
              <a:xfrm>
                <a:off x="3217" y="2693"/>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2" name="Freeform 387"/>
              <p:cNvSpPr>
                <a:spLocks/>
              </p:cNvSpPr>
              <p:nvPr/>
            </p:nvSpPr>
            <p:spPr bwMode="auto">
              <a:xfrm>
                <a:off x="3231"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3" name="Freeform 388"/>
              <p:cNvSpPr>
                <a:spLocks/>
              </p:cNvSpPr>
              <p:nvPr/>
            </p:nvSpPr>
            <p:spPr bwMode="auto">
              <a:xfrm>
                <a:off x="3278"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4" name="Freeform 389"/>
              <p:cNvSpPr>
                <a:spLocks/>
              </p:cNvSpPr>
              <p:nvPr/>
            </p:nvSpPr>
            <p:spPr bwMode="auto">
              <a:xfrm>
                <a:off x="3297"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95" name="Freeform 390"/>
              <p:cNvSpPr>
                <a:spLocks/>
              </p:cNvSpPr>
              <p:nvPr/>
            </p:nvSpPr>
            <p:spPr bwMode="auto">
              <a:xfrm>
                <a:off x="3301"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96" name="Freeform 391"/>
              <p:cNvSpPr>
                <a:spLocks/>
              </p:cNvSpPr>
              <p:nvPr/>
            </p:nvSpPr>
            <p:spPr bwMode="auto">
              <a:xfrm>
                <a:off x="3318"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7" name="Freeform 392"/>
              <p:cNvSpPr>
                <a:spLocks/>
              </p:cNvSpPr>
              <p:nvPr/>
            </p:nvSpPr>
            <p:spPr bwMode="auto">
              <a:xfrm>
                <a:off x="3320" y="2693"/>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8" name="Freeform 393"/>
              <p:cNvSpPr>
                <a:spLocks/>
              </p:cNvSpPr>
              <p:nvPr/>
            </p:nvSpPr>
            <p:spPr bwMode="auto">
              <a:xfrm>
                <a:off x="3535"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99" name="Freeform 394"/>
              <p:cNvSpPr>
                <a:spLocks/>
              </p:cNvSpPr>
              <p:nvPr/>
            </p:nvSpPr>
            <p:spPr bwMode="auto">
              <a:xfrm>
                <a:off x="3543"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800" name="Freeform 395"/>
              <p:cNvSpPr>
                <a:spLocks/>
              </p:cNvSpPr>
              <p:nvPr/>
            </p:nvSpPr>
            <p:spPr bwMode="auto">
              <a:xfrm>
                <a:off x="3545"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801" name="Freeform 396"/>
              <p:cNvSpPr>
                <a:spLocks/>
              </p:cNvSpPr>
              <p:nvPr/>
            </p:nvSpPr>
            <p:spPr bwMode="auto">
              <a:xfrm>
                <a:off x="3582"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802" name="Freeform 397"/>
              <p:cNvSpPr>
                <a:spLocks/>
              </p:cNvSpPr>
              <p:nvPr/>
            </p:nvSpPr>
            <p:spPr bwMode="auto">
              <a:xfrm>
                <a:off x="4290"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03" name="Freeform 398"/>
              <p:cNvSpPr>
                <a:spLocks/>
              </p:cNvSpPr>
              <p:nvPr/>
            </p:nvSpPr>
            <p:spPr bwMode="auto">
              <a:xfrm>
                <a:off x="4345"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804" name="Freeform 399"/>
              <p:cNvSpPr>
                <a:spLocks/>
              </p:cNvSpPr>
              <p:nvPr/>
            </p:nvSpPr>
            <p:spPr bwMode="auto">
              <a:xfrm>
                <a:off x="4392"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805" name="Freeform 400"/>
              <p:cNvSpPr>
                <a:spLocks/>
              </p:cNvSpPr>
              <p:nvPr/>
            </p:nvSpPr>
            <p:spPr bwMode="auto">
              <a:xfrm>
                <a:off x="4488"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806" name="Freeform 401"/>
              <p:cNvSpPr>
                <a:spLocks/>
              </p:cNvSpPr>
              <p:nvPr/>
            </p:nvSpPr>
            <p:spPr bwMode="auto">
              <a:xfrm>
                <a:off x="4512"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807" name="Freeform 402"/>
              <p:cNvSpPr>
                <a:spLocks/>
              </p:cNvSpPr>
              <p:nvPr/>
            </p:nvSpPr>
            <p:spPr bwMode="auto">
              <a:xfrm>
                <a:off x="4585"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808" name="Freeform 403"/>
              <p:cNvSpPr>
                <a:spLocks/>
              </p:cNvSpPr>
              <p:nvPr/>
            </p:nvSpPr>
            <p:spPr bwMode="auto">
              <a:xfrm>
                <a:off x="5196"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09" name="Freeform 404"/>
              <p:cNvSpPr>
                <a:spLocks/>
              </p:cNvSpPr>
              <p:nvPr/>
            </p:nvSpPr>
            <p:spPr bwMode="auto">
              <a:xfrm>
                <a:off x="1248" y="2654"/>
                <a:ext cx="10" cy="9"/>
              </a:xfrm>
              <a:custGeom>
                <a:avLst/>
                <a:gdLst>
                  <a:gd name="T0" fmla="*/ 4 w 10"/>
                  <a:gd name="T1" fmla="*/ 0 h 9"/>
                  <a:gd name="T2" fmla="*/ 9 w 10"/>
                  <a:gd name="T3" fmla="*/ 0 h 9"/>
                  <a:gd name="T4" fmla="*/ 10 w 10"/>
                  <a:gd name="T5" fmla="*/ 2 h 9"/>
                  <a:gd name="T6" fmla="*/ 10 w 10"/>
                  <a:gd name="T7" fmla="*/ 7 h 9"/>
                  <a:gd name="T8" fmla="*/ 9 w 10"/>
                  <a:gd name="T9" fmla="*/ 9 h 9"/>
                  <a:gd name="T10" fmla="*/ 4 w 10"/>
                  <a:gd name="T11" fmla="*/ 9 h 9"/>
                  <a:gd name="T12" fmla="*/ 0 w 10"/>
                  <a:gd name="T13" fmla="*/ 6 h 9"/>
                  <a:gd name="T14" fmla="*/ 0 w 10"/>
                  <a:gd name="T15" fmla="*/ 4 h 9"/>
                  <a:gd name="T16" fmla="*/ 4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4" y="0"/>
                    </a:moveTo>
                    <a:lnTo>
                      <a:pt x="9" y="0"/>
                    </a:lnTo>
                    <a:lnTo>
                      <a:pt x="10" y="2"/>
                    </a:lnTo>
                    <a:lnTo>
                      <a:pt x="10"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10" name="Freeform 405"/>
              <p:cNvSpPr>
                <a:spLocks/>
              </p:cNvSpPr>
              <p:nvPr/>
            </p:nvSpPr>
            <p:spPr bwMode="auto">
              <a:xfrm>
                <a:off x="1252" y="2654"/>
                <a:ext cx="8" cy="9"/>
              </a:xfrm>
              <a:custGeom>
                <a:avLst/>
                <a:gdLst>
                  <a:gd name="T0" fmla="*/ 3 w 8"/>
                  <a:gd name="T1" fmla="*/ 0 h 9"/>
                  <a:gd name="T2" fmla="*/ 6 w 8"/>
                  <a:gd name="T3" fmla="*/ 0 h 9"/>
                  <a:gd name="T4" fmla="*/ 8 w 8"/>
                  <a:gd name="T5" fmla="*/ 2 h 9"/>
                  <a:gd name="T6" fmla="*/ 8 w 8"/>
                  <a:gd name="T7" fmla="*/ 7 h 9"/>
                  <a:gd name="T8" fmla="*/ 6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6" y="0"/>
                    </a:lnTo>
                    <a:lnTo>
                      <a:pt x="8" y="2"/>
                    </a:lnTo>
                    <a:lnTo>
                      <a:pt x="8" y="7"/>
                    </a:lnTo>
                    <a:lnTo>
                      <a:pt x="6"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4" name="Group 607"/>
            <p:cNvGrpSpPr>
              <a:grpSpLocks/>
            </p:cNvGrpSpPr>
            <p:nvPr/>
          </p:nvGrpSpPr>
          <p:grpSpPr bwMode="auto">
            <a:xfrm>
              <a:off x="1682806" y="3895846"/>
              <a:ext cx="6104155" cy="331798"/>
              <a:chOff x="1060" y="2454"/>
              <a:chExt cx="3845" cy="209"/>
            </a:xfrm>
          </p:grpSpPr>
          <p:sp>
            <p:nvSpPr>
              <p:cNvPr id="7411" name="Freeform 407"/>
              <p:cNvSpPr>
                <a:spLocks/>
              </p:cNvSpPr>
              <p:nvPr/>
            </p:nvSpPr>
            <p:spPr bwMode="auto">
              <a:xfrm>
                <a:off x="1267"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12" name="Freeform 408"/>
              <p:cNvSpPr>
                <a:spLocks/>
              </p:cNvSpPr>
              <p:nvPr/>
            </p:nvSpPr>
            <p:spPr bwMode="auto">
              <a:xfrm>
                <a:off x="1583" y="2654"/>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13" name="Freeform 409"/>
              <p:cNvSpPr>
                <a:spLocks/>
              </p:cNvSpPr>
              <p:nvPr/>
            </p:nvSpPr>
            <p:spPr bwMode="auto">
              <a:xfrm>
                <a:off x="1615"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14" name="Freeform 410"/>
              <p:cNvSpPr>
                <a:spLocks/>
              </p:cNvSpPr>
              <p:nvPr/>
            </p:nvSpPr>
            <p:spPr bwMode="auto">
              <a:xfrm>
                <a:off x="1648"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15" name="Freeform 411"/>
              <p:cNvSpPr>
                <a:spLocks/>
              </p:cNvSpPr>
              <p:nvPr/>
            </p:nvSpPr>
            <p:spPr bwMode="auto">
              <a:xfrm>
                <a:off x="1704"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16" name="Freeform 412"/>
              <p:cNvSpPr>
                <a:spLocks/>
              </p:cNvSpPr>
              <p:nvPr/>
            </p:nvSpPr>
            <p:spPr bwMode="auto">
              <a:xfrm>
                <a:off x="1821" y="265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17" name="Freeform 413"/>
              <p:cNvSpPr>
                <a:spLocks/>
              </p:cNvSpPr>
              <p:nvPr/>
            </p:nvSpPr>
            <p:spPr bwMode="auto">
              <a:xfrm>
                <a:off x="2541" y="265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18" name="Freeform 414"/>
              <p:cNvSpPr>
                <a:spLocks/>
              </p:cNvSpPr>
              <p:nvPr/>
            </p:nvSpPr>
            <p:spPr bwMode="auto">
              <a:xfrm>
                <a:off x="2543"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19" name="Freeform 415"/>
              <p:cNvSpPr>
                <a:spLocks/>
              </p:cNvSpPr>
              <p:nvPr/>
            </p:nvSpPr>
            <p:spPr bwMode="auto">
              <a:xfrm>
                <a:off x="2548"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20" name="Freeform 416"/>
              <p:cNvSpPr>
                <a:spLocks/>
              </p:cNvSpPr>
              <p:nvPr/>
            </p:nvSpPr>
            <p:spPr bwMode="auto">
              <a:xfrm>
                <a:off x="2552" y="265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21" name="Freeform 417"/>
              <p:cNvSpPr>
                <a:spLocks/>
              </p:cNvSpPr>
              <p:nvPr/>
            </p:nvSpPr>
            <p:spPr bwMode="auto">
              <a:xfrm>
                <a:off x="2566"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22" name="Freeform 418"/>
              <p:cNvSpPr>
                <a:spLocks/>
              </p:cNvSpPr>
              <p:nvPr/>
            </p:nvSpPr>
            <p:spPr bwMode="auto">
              <a:xfrm>
                <a:off x="2568"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23" name="Freeform 419"/>
              <p:cNvSpPr>
                <a:spLocks/>
              </p:cNvSpPr>
              <p:nvPr/>
            </p:nvSpPr>
            <p:spPr bwMode="auto">
              <a:xfrm>
                <a:off x="2573" y="265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24" name="Freeform 420"/>
              <p:cNvSpPr>
                <a:spLocks/>
              </p:cNvSpPr>
              <p:nvPr/>
            </p:nvSpPr>
            <p:spPr bwMode="auto">
              <a:xfrm>
                <a:off x="2575"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25" name="Freeform 421"/>
              <p:cNvSpPr>
                <a:spLocks/>
              </p:cNvSpPr>
              <p:nvPr/>
            </p:nvSpPr>
            <p:spPr bwMode="auto">
              <a:xfrm>
                <a:off x="2603" y="265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26" name="Freeform 422"/>
              <p:cNvSpPr>
                <a:spLocks/>
              </p:cNvSpPr>
              <p:nvPr/>
            </p:nvSpPr>
            <p:spPr bwMode="auto">
              <a:xfrm>
                <a:off x="3018" y="265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27" name="Freeform 423"/>
              <p:cNvSpPr>
                <a:spLocks/>
              </p:cNvSpPr>
              <p:nvPr/>
            </p:nvSpPr>
            <p:spPr bwMode="auto">
              <a:xfrm>
                <a:off x="3215"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28" name="Freeform 424"/>
              <p:cNvSpPr>
                <a:spLocks/>
              </p:cNvSpPr>
              <p:nvPr/>
            </p:nvSpPr>
            <p:spPr bwMode="auto">
              <a:xfrm>
                <a:off x="3222"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29" name="Freeform 425"/>
              <p:cNvSpPr>
                <a:spLocks/>
              </p:cNvSpPr>
              <p:nvPr/>
            </p:nvSpPr>
            <p:spPr bwMode="auto">
              <a:xfrm>
                <a:off x="3285"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30" name="Freeform 426"/>
              <p:cNvSpPr>
                <a:spLocks/>
              </p:cNvSpPr>
              <p:nvPr/>
            </p:nvSpPr>
            <p:spPr bwMode="auto">
              <a:xfrm>
                <a:off x="3295" y="265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31" name="Freeform 427"/>
              <p:cNvSpPr>
                <a:spLocks/>
              </p:cNvSpPr>
              <p:nvPr/>
            </p:nvSpPr>
            <p:spPr bwMode="auto">
              <a:xfrm>
                <a:off x="3355" y="265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32" name="Freeform 428"/>
              <p:cNvSpPr>
                <a:spLocks/>
              </p:cNvSpPr>
              <p:nvPr/>
            </p:nvSpPr>
            <p:spPr bwMode="auto">
              <a:xfrm>
                <a:off x="3388" y="265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33" name="Freeform 429"/>
              <p:cNvSpPr>
                <a:spLocks/>
              </p:cNvSpPr>
              <p:nvPr/>
            </p:nvSpPr>
            <p:spPr bwMode="auto">
              <a:xfrm>
                <a:off x="3535" y="265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34" name="Freeform 430"/>
              <p:cNvSpPr>
                <a:spLocks/>
              </p:cNvSpPr>
              <p:nvPr/>
            </p:nvSpPr>
            <p:spPr bwMode="auto">
              <a:xfrm>
                <a:off x="4200" y="265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35" name="Freeform 431"/>
              <p:cNvSpPr>
                <a:spLocks/>
              </p:cNvSpPr>
              <p:nvPr/>
            </p:nvSpPr>
            <p:spPr bwMode="auto">
              <a:xfrm>
                <a:off x="4238"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36" name="Freeform 432"/>
              <p:cNvSpPr>
                <a:spLocks/>
              </p:cNvSpPr>
              <p:nvPr/>
            </p:nvSpPr>
            <p:spPr bwMode="auto">
              <a:xfrm>
                <a:off x="4242"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37" name="Freeform 433"/>
              <p:cNvSpPr>
                <a:spLocks/>
              </p:cNvSpPr>
              <p:nvPr/>
            </p:nvSpPr>
            <p:spPr bwMode="auto">
              <a:xfrm>
                <a:off x="4261" y="265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38" name="Freeform 434"/>
              <p:cNvSpPr>
                <a:spLocks/>
              </p:cNvSpPr>
              <p:nvPr/>
            </p:nvSpPr>
            <p:spPr bwMode="auto">
              <a:xfrm>
                <a:off x="4264" y="2654"/>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39" name="Freeform 435"/>
              <p:cNvSpPr>
                <a:spLocks/>
              </p:cNvSpPr>
              <p:nvPr/>
            </p:nvSpPr>
            <p:spPr bwMode="auto">
              <a:xfrm>
                <a:off x="4266" y="2654"/>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0" name="Freeform 436"/>
              <p:cNvSpPr>
                <a:spLocks/>
              </p:cNvSpPr>
              <p:nvPr/>
            </p:nvSpPr>
            <p:spPr bwMode="auto">
              <a:xfrm>
                <a:off x="4287"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1" name="Freeform 437"/>
              <p:cNvSpPr>
                <a:spLocks/>
              </p:cNvSpPr>
              <p:nvPr/>
            </p:nvSpPr>
            <p:spPr bwMode="auto">
              <a:xfrm>
                <a:off x="4458" y="265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2" name="Freeform 438"/>
              <p:cNvSpPr>
                <a:spLocks/>
              </p:cNvSpPr>
              <p:nvPr/>
            </p:nvSpPr>
            <p:spPr bwMode="auto">
              <a:xfrm>
                <a:off x="1615" y="2614"/>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43" name="Freeform 439"/>
              <p:cNvSpPr>
                <a:spLocks/>
              </p:cNvSpPr>
              <p:nvPr/>
            </p:nvSpPr>
            <p:spPr bwMode="auto">
              <a:xfrm>
                <a:off x="1662" y="261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44" name="Freeform 440"/>
              <p:cNvSpPr>
                <a:spLocks/>
              </p:cNvSpPr>
              <p:nvPr/>
            </p:nvSpPr>
            <p:spPr bwMode="auto">
              <a:xfrm>
                <a:off x="1855"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5" name="Freeform 441"/>
              <p:cNvSpPr>
                <a:spLocks/>
              </p:cNvSpPr>
              <p:nvPr/>
            </p:nvSpPr>
            <p:spPr bwMode="auto">
              <a:xfrm>
                <a:off x="2520"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6" name="Freeform 442"/>
              <p:cNvSpPr>
                <a:spLocks/>
              </p:cNvSpPr>
              <p:nvPr/>
            </p:nvSpPr>
            <p:spPr bwMode="auto">
              <a:xfrm>
                <a:off x="2533" y="261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47" name="Freeform 443"/>
              <p:cNvSpPr>
                <a:spLocks/>
              </p:cNvSpPr>
              <p:nvPr/>
            </p:nvSpPr>
            <p:spPr bwMode="auto">
              <a:xfrm>
                <a:off x="2536"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8" name="Freeform 444"/>
              <p:cNvSpPr>
                <a:spLocks/>
              </p:cNvSpPr>
              <p:nvPr/>
            </p:nvSpPr>
            <p:spPr bwMode="auto">
              <a:xfrm>
                <a:off x="2620" y="261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49" name="Freeform 445"/>
              <p:cNvSpPr>
                <a:spLocks/>
              </p:cNvSpPr>
              <p:nvPr/>
            </p:nvSpPr>
            <p:spPr bwMode="auto">
              <a:xfrm>
                <a:off x="3290" y="261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50" name="Freeform 446"/>
              <p:cNvSpPr>
                <a:spLocks/>
              </p:cNvSpPr>
              <p:nvPr/>
            </p:nvSpPr>
            <p:spPr bwMode="auto">
              <a:xfrm>
                <a:off x="3714" y="261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51" name="Freeform 447"/>
              <p:cNvSpPr>
                <a:spLocks/>
              </p:cNvSpPr>
              <p:nvPr/>
            </p:nvSpPr>
            <p:spPr bwMode="auto">
              <a:xfrm>
                <a:off x="3734" y="261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2" name="Freeform 448"/>
              <p:cNvSpPr>
                <a:spLocks/>
              </p:cNvSpPr>
              <p:nvPr/>
            </p:nvSpPr>
            <p:spPr bwMode="auto">
              <a:xfrm>
                <a:off x="3947" y="261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3" name="Freeform 449"/>
              <p:cNvSpPr>
                <a:spLocks/>
              </p:cNvSpPr>
              <p:nvPr/>
            </p:nvSpPr>
            <p:spPr bwMode="auto">
              <a:xfrm>
                <a:off x="4210"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54" name="Freeform 450"/>
              <p:cNvSpPr>
                <a:spLocks/>
              </p:cNvSpPr>
              <p:nvPr/>
            </p:nvSpPr>
            <p:spPr bwMode="auto">
              <a:xfrm>
                <a:off x="4215" y="261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55" name="Freeform 451"/>
              <p:cNvSpPr>
                <a:spLocks/>
              </p:cNvSpPr>
              <p:nvPr/>
            </p:nvSpPr>
            <p:spPr bwMode="auto">
              <a:xfrm>
                <a:off x="4219" y="261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6" name="Freeform 452"/>
              <p:cNvSpPr>
                <a:spLocks/>
              </p:cNvSpPr>
              <p:nvPr/>
            </p:nvSpPr>
            <p:spPr bwMode="auto">
              <a:xfrm>
                <a:off x="4247" y="261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7" name="Freeform 453"/>
              <p:cNvSpPr>
                <a:spLocks/>
              </p:cNvSpPr>
              <p:nvPr/>
            </p:nvSpPr>
            <p:spPr bwMode="auto">
              <a:xfrm>
                <a:off x="4254" y="261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2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8" name="Freeform 454"/>
              <p:cNvSpPr>
                <a:spLocks/>
              </p:cNvSpPr>
              <p:nvPr/>
            </p:nvSpPr>
            <p:spPr bwMode="auto">
              <a:xfrm>
                <a:off x="4358"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59" name="Freeform 455"/>
              <p:cNvSpPr>
                <a:spLocks/>
              </p:cNvSpPr>
              <p:nvPr/>
            </p:nvSpPr>
            <p:spPr bwMode="auto">
              <a:xfrm>
                <a:off x="4425" y="2614"/>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0" name="Freeform 456"/>
              <p:cNvSpPr>
                <a:spLocks/>
              </p:cNvSpPr>
              <p:nvPr/>
            </p:nvSpPr>
            <p:spPr bwMode="auto">
              <a:xfrm>
                <a:off x="4455" y="2614"/>
                <a:ext cx="8" cy="9"/>
              </a:xfrm>
              <a:custGeom>
                <a:avLst/>
                <a:gdLst>
                  <a:gd name="T0" fmla="*/ 3 w 8"/>
                  <a:gd name="T1" fmla="*/ 0 h 9"/>
                  <a:gd name="T2" fmla="*/ 6 w 8"/>
                  <a:gd name="T3" fmla="*/ 0 h 9"/>
                  <a:gd name="T4" fmla="*/ 8 w 8"/>
                  <a:gd name="T5" fmla="*/ 2 h 9"/>
                  <a:gd name="T6" fmla="*/ 8 w 8"/>
                  <a:gd name="T7" fmla="*/ 7 h 9"/>
                  <a:gd name="T8" fmla="*/ 6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6" y="0"/>
                    </a:lnTo>
                    <a:lnTo>
                      <a:pt x="8" y="2"/>
                    </a:lnTo>
                    <a:lnTo>
                      <a:pt x="8" y="7"/>
                    </a:lnTo>
                    <a:lnTo>
                      <a:pt x="6"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61" name="Freeform 457"/>
              <p:cNvSpPr>
                <a:spLocks/>
              </p:cNvSpPr>
              <p:nvPr/>
            </p:nvSpPr>
            <p:spPr bwMode="auto">
              <a:xfrm>
                <a:off x="4460" y="261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62" name="Freeform 458"/>
              <p:cNvSpPr>
                <a:spLocks/>
              </p:cNvSpPr>
              <p:nvPr/>
            </p:nvSpPr>
            <p:spPr bwMode="auto">
              <a:xfrm>
                <a:off x="4463" y="261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3" name="Freeform 459"/>
              <p:cNvSpPr>
                <a:spLocks/>
              </p:cNvSpPr>
              <p:nvPr/>
            </p:nvSpPr>
            <p:spPr bwMode="auto">
              <a:xfrm>
                <a:off x="4465" y="2614"/>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4" name="Freeform 460"/>
              <p:cNvSpPr>
                <a:spLocks/>
              </p:cNvSpPr>
              <p:nvPr/>
            </p:nvSpPr>
            <p:spPr bwMode="auto">
              <a:xfrm>
                <a:off x="4470"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65" name="Freeform 461"/>
              <p:cNvSpPr>
                <a:spLocks/>
              </p:cNvSpPr>
              <p:nvPr/>
            </p:nvSpPr>
            <p:spPr bwMode="auto">
              <a:xfrm>
                <a:off x="4510"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66" name="Freeform 462"/>
              <p:cNvSpPr>
                <a:spLocks/>
              </p:cNvSpPr>
              <p:nvPr/>
            </p:nvSpPr>
            <p:spPr bwMode="auto">
              <a:xfrm>
                <a:off x="4512" y="261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7" name="Freeform 463"/>
              <p:cNvSpPr>
                <a:spLocks/>
              </p:cNvSpPr>
              <p:nvPr/>
            </p:nvSpPr>
            <p:spPr bwMode="auto">
              <a:xfrm>
                <a:off x="4599" y="261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8" name="Freeform 464"/>
              <p:cNvSpPr>
                <a:spLocks/>
              </p:cNvSpPr>
              <p:nvPr/>
            </p:nvSpPr>
            <p:spPr bwMode="auto">
              <a:xfrm>
                <a:off x="4854"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69" name="Freeform 465"/>
              <p:cNvSpPr>
                <a:spLocks/>
              </p:cNvSpPr>
              <p:nvPr/>
            </p:nvSpPr>
            <p:spPr bwMode="auto">
              <a:xfrm>
                <a:off x="4858" y="2614"/>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0" name="Freeform 466"/>
              <p:cNvSpPr>
                <a:spLocks/>
              </p:cNvSpPr>
              <p:nvPr/>
            </p:nvSpPr>
            <p:spPr bwMode="auto">
              <a:xfrm>
                <a:off x="4865" y="261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1" name="Freeform 467"/>
              <p:cNvSpPr>
                <a:spLocks/>
              </p:cNvSpPr>
              <p:nvPr/>
            </p:nvSpPr>
            <p:spPr bwMode="auto">
              <a:xfrm>
                <a:off x="4872" y="261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2" name="Freeform 468"/>
              <p:cNvSpPr>
                <a:spLocks/>
              </p:cNvSpPr>
              <p:nvPr/>
            </p:nvSpPr>
            <p:spPr bwMode="auto">
              <a:xfrm>
                <a:off x="4896" y="261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73" name="Freeform 469"/>
              <p:cNvSpPr>
                <a:spLocks/>
              </p:cNvSpPr>
              <p:nvPr/>
            </p:nvSpPr>
            <p:spPr bwMode="auto">
              <a:xfrm>
                <a:off x="1567" y="257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74" name="Freeform 470"/>
              <p:cNvSpPr>
                <a:spLocks/>
              </p:cNvSpPr>
              <p:nvPr/>
            </p:nvSpPr>
            <p:spPr bwMode="auto">
              <a:xfrm>
                <a:off x="1587"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5" name="Freeform 471"/>
              <p:cNvSpPr>
                <a:spLocks/>
              </p:cNvSpPr>
              <p:nvPr/>
            </p:nvSpPr>
            <p:spPr bwMode="auto">
              <a:xfrm>
                <a:off x="1648" y="2574"/>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6" name="Freeform 472"/>
              <p:cNvSpPr>
                <a:spLocks/>
              </p:cNvSpPr>
              <p:nvPr/>
            </p:nvSpPr>
            <p:spPr bwMode="auto">
              <a:xfrm>
                <a:off x="1765"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7" name="Freeform 473"/>
              <p:cNvSpPr>
                <a:spLocks/>
              </p:cNvSpPr>
              <p:nvPr/>
            </p:nvSpPr>
            <p:spPr bwMode="auto">
              <a:xfrm>
                <a:off x="1772"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8" name="Freeform 474"/>
              <p:cNvSpPr>
                <a:spLocks/>
              </p:cNvSpPr>
              <p:nvPr/>
            </p:nvSpPr>
            <p:spPr bwMode="auto">
              <a:xfrm>
                <a:off x="2479" y="257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9" name="Freeform 475"/>
              <p:cNvSpPr>
                <a:spLocks/>
              </p:cNvSpPr>
              <p:nvPr/>
            </p:nvSpPr>
            <p:spPr bwMode="auto">
              <a:xfrm>
                <a:off x="2512" y="2574"/>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80" name="Freeform 476"/>
              <p:cNvSpPr>
                <a:spLocks/>
              </p:cNvSpPr>
              <p:nvPr/>
            </p:nvSpPr>
            <p:spPr bwMode="auto">
              <a:xfrm>
                <a:off x="2520" y="257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81" name="Freeform 477"/>
              <p:cNvSpPr>
                <a:spLocks/>
              </p:cNvSpPr>
              <p:nvPr/>
            </p:nvSpPr>
            <p:spPr bwMode="auto">
              <a:xfrm>
                <a:off x="2533"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82" name="Freeform 478"/>
              <p:cNvSpPr>
                <a:spLocks/>
              </p:cNvSpPr>
              <p:nvPr/>
            </p:nvSpPr>
            <p:spPr bwMode="auto">
              <a:xfrm>
                <a:off x="2545" y="257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83" name="Freeform 479"/>
              <p:cNvSpPr>
                <a:spLocks/>
              </p:cNvSpPr>
              <p:nvPr/>
            </p:nvSpPr>
            <p:spPr bwMode="auto">
              <a:xfrm>
                <a:off x="3522" y="257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84" name="Freeform 480"/>
              <p:cNvSpPr>
                <a:spLocks/>
              </p:cNvSpPr>
              <p:nvPr/>
            </p:nvSpPr>
            <p:spPr bwMode="auto">
              <a:xfrm>
                <a:off x="3542"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85" name="Freeform 481"/>
              <p:cNvSpPr>
                <a:spLocks/>
              </p:cNvSpPr>
              <p:nvPr/>
            </p:nvSpPr>
            <p:spPr bwMode="auto">
              <a:xfrm>
                <a:off x="4186" y="2574"/>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86" name="Freeform 482"/>
              <p:cNvSpPr>
                <a:spLocks/>
              </p:cNvSpPr>
              <p:nvPr/>
            </p:nvSpPr>
            <p:spPr bwMode="auto">
              <a:xfrm>
                <a:off x="4198" y="257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87" name="Freeform 483"/>
              <p:cNvSpPr>
                <a:spLocks/>
              </p:cNvSpPr>
              <p:nvPr/>
            </p:nvSpPr>
            <p:spPr bwMode="auto">
              <a:xfrm>
                <a:off x="4200" y="257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88" name="Freeform 484"/>
              <p:cNvSpPr>
                <a:spLocks/>
              </p:cNvSpPr>
              <p:nvPr/>
            </p:nvSpPr>
            <p:spPr bwMode="auto">
              <a:xfrm>
                <a:off x="4201" y="257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89" name="Freeform 485"/>
              <p:cNvSpPr>
                <a:spLocks/>
              </p:cNvSpPr>
              <p:nvPr/>
            </p:nvSpPr>
            <p:spPr bwMode="auto">
              <a:xfrm>
                <a:off x="4207"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90" name="Freeform 486"/>
              <p:cNvSpPr>
                <a:spLocks/>
              </p:cNvSpPr>
              <p:nvPr/>
            </p:nvSpPr>
            <p:spPr bwMode="auto">
              <a:xfrm>
                <a:off x="4231" y="257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1" name="Freeform 487"/>
              <p:cNvSpPr>
                <a:spLocks/>
              </p:cNvSpPr>
              <p:nvPr/>
            </p:nvSpPr>
            <p:spPr bwMode="auto">
              <a:xfrm>
                <a:off x="4264" y="257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2" name="Freeform 488"/>
              <p:cNvSpPr>
                <a:spLocks/>
              </p:cNvSpPr>
              <p:nvPr/>
            </p:nvSpPr>
            <p:spPr bwMode="auto">
              <a:xfrm>
                <a:off x="4271" y="257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3" name="Freeform 489"/>
              <p:cNvSpPr>
                <a:spLocks/>
              </p:cNvSpPr>
              <p:nvPr/>
            </p:nvSpPr>
            <p:spPr bwMode="auto">
              <a:xfrm>
                <a:off x="4275" y="257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94" name="Freeform 490"/>
              <p:cNvSpPr>
                <a:spLocks/>
              </p:cNvSpPr>
              <p:nvPr/>
            </p:nvSpPr>
            <p:spPr bwMode="auto">
              <a:xfrm>
                <a:off x="4325" y="257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5" name="Freeform 491"/>
              <p:cNvSpPr>
                <a:spLocks/>
              </p:cNvSpPr>
              <p:nvPr/>
            </p:nvSpPr>
            <p:spPr bwMode="auto">
              <a:xfrm>
                <a:off x="4479" y="257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6" name="Freeform 492"/>
              <p:cNvSpPr>
                <a:spLocks/>
              </p:cNvSpPr>
              <p:nvPr/>
            </p:nvSpPr>
            <p:spPr bwMode="auto">
              <a:xfrm>
                <a:off x="4491" y="257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97" name="Freeform 493"/>
              <p:cNvSpPr>
                <a:spLocks/>
              </p:cNvSpPr>
              <p:nvPr/>
            </p:nvSpPr>
            <p:spPr bwMode="auto">
              <a:xfrm>
                <a:off x="4495"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98" name="Freeform 494"/>
              <p:cNvSpPr>
                <a:spLocks/>
              </p:cNvSpPr>
              <p:nvPr/>
            </p:nvSpPr>
            <p:spPr bwMode="auto">
              <a:xfrm>
                <a:off x="1248" y="2534"/>
                <a:ext cx="10" cy="9"/>
              </a:xfrm>
              <a:custGeom>
                <a:avLst/>
                <a:gdLst>
                  <a:gd name="T0" fmla="*/ 4 w 10"/>
                  <a:gd name="T1" fmla="*/ 0 h 9"/>
                  <a:gd name="T2" fmla="*/ 9 w 10"/>
                  <a:gd name="T3" fmla="*/ 0 h 9"/>
                  <a:gd name="T4" fmla="*/ 10 w 10"/>
                  <a:gd name="T5" fmla="*/ 2 h 9"/>
                  <a:gd name="T6" fmla="*/ 10 w 10"/>
                  <a:gd name="T7" fmla="*/ 7 h 9"/>
                  <a:gd name="T8" fmla="*/ 9 w 10"/>
                  <a:gd name="T9" fmla="*/ 9 h 9"/>
                  <a:gd name="T10" fmla="*/ 4 w 10"/>
                  <a:gd name="T11" fmla="*/ 9 h 9"/>
                  <a:gd name="T12" fmla="*/ 0 w 10"/>
                  <a:gd name="T13" fmla="*/ 5 h 9"/>
                  <a:gd name="T14" fmla="*/ 0 w 10"/>
                  <a:gd name="T15" fmla="*/ 3 h 9"/>
                  <a:gd name="T16" fmla="*/ 4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4" y="0"/>
                    </a:moveTo>
                    <a:lnTo>
                      <a:pt x="9" y="0"/>
                    </a:lnTo>
                    <a:lnTo>
                      <a:pt x="10" y="2"/>
                    </a:lnTo>
                    <a:lnTo>
                      <a:pt x="10"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99" name="Freeform 495"/>
              <p:cNvSpPr>
                <a:spLocks/>
              </p:cNvSpPr>
              <p:nvPr/>
            </p:nvSpPr>
            <p:spPr bwMode="auto">
              <a:xfrm>
                <a:off x="1564"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0" name="Freeform 496"/>
              <p:cNvSpPr>
                <a:spLocks/>
              </p:cNvSpPr>
              <p:nvPr/>
            </p:nvSpPr>
            <p:spPr bwMode="auto">
              <a:xfrm>
                <a:off x="1573" y="253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01" name="Freeform 497"/>
              <p:cNvSpPr>
                <a:spLocks/>
              </p:cNvSpPr>
              <p:nvPr/>
            </p:nvSpPr>
            <p:spPr bwMode="auto">
              <a:xfrm>
                <a:off x="1580"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02" name="Freeform 498"/>
              <p:cNvSpPr>
                <a:spLocks/>
              </p:cNvSpPr>
              <p:nvPr/>
            </p:nvSpPr>
            <p:spPr bwMode="auto">
              <a:xfrm>
                <a:off x="1592" y="253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3" name="Freeform 499"/>
              <p:cNvSpPr>
                <a:spLocks/>
              </p:cNvSpPr>
              <p:nvPr/>
            </p:nvSpPr>
            <p:spPr bwMode="auto">
              <a:xfrm>
                <a:off x="1613"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4" name="Freeform 500"/>
              <p:cNvSpPr>
                <a:spLocks/>
              </p:cNvSpPr>
              <p:nvPr/>
            </p:nvSpPr>
            <p:spPr bwMode="auto">
              <a:xfrm>
                <a:off x="1632"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05" name="Freeform 501"/>
              <p:cNvSpPr>
                <a:spLocks/>
              </p:cNvSpPr>
              <p:nvPr/>
            </p:nvSpPr>
            <p:spPr bwMode="auto">
              <a:xfrm>
                <a:off x="1667"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6" name="Freeform 502"/>
              <p:cNvSpPr>
                <a:spLocks/>
              </p:cNvSpPr>
              <p:nvPr/>
            </p:nvSpPr>
            <p:spPr bwMode="auto">
              <a:xfrm>
                <a:off x="2503"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7" name="Freeform 503"/>
              <p:cNvSpPr>
                <a:spLocks/>
              </p:cNvSpPr>
              <p:nvPr/>
            </p:nvSpPr>
            <p:spPr bwMode="auto">
              <a:xfrm>
                <a:off x="2508"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8" name="Freeform 504"/>
              <p:cNvSpPr>
                <a:spLocks/>
              </p:cNvSpPr>
              <p:nvPr/>
            </p:nvSpPr>
            <p:spPr bwMode="auto">
              <a:xfrm>
                <a:off x="2512" y="2534"/>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9" name="Freeform 505"/>
              <p:cNvSpPr>
                <a:spLocks/>
              </p:cNvSpPr>
              <p:nvPr/>
            </p:nvSpPr>
            <p:spPr bwMode="auto">
              <a:xfrm>
                <a:off x="2515"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0" name="Freeform 506"/>
              <p:cNvSpPr>
                <a:spLocks/>
              </p:cNvSpPr>
              <p:nvPr/>
            </p:nvSpPr>
            <p:spPr bwMode="auto">
              <a:xfrm>
                <a:off x="2520"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1" name="Freeform 507"/>
              <p:cNvSpPr>
                <a:spLocks/>
              </p:cNvSpPr>
              <p:nvPr/>
            </p:nvSpPr>
            <p:spPr bwMode="auto">
              <a:xfrm>
                <a:off x="2524"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2" name="Freeform 508"/>
              <p:cNvSpPr>
                <a:spLocks/>
              </p:cNvSpPr>
              <p:nvPr/>
            </p:nvSpPr>
            <p:spPr bwMode="auto">
              <a:xfrm>
                <a:off x="2527"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3" name="Freeform 509"/>
              <p:cNvSpPr>
                <a:spLocks/>
              </p:cNvSpPr>
              <p:nvPr/>
            </p:nvSpPr>
            <p:spPr bwMode="auto">
              <a:xfrm>
                <a:off x="2552" y="253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4" name="Freeform 510"/>
              <p:cNvSpPr>
                <a:spLocks/>
              </p:cNvSpPr>
              <p:nvPr/>
            </p:nvSpPr>
            <p:spPr bwMode="auto">
              <a:xfrm>
                <a:off x="3013"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15" name="Freeform 511"/>
              <p:cNvSpPr>
                <a:spLocks/>
              </p:cNvSpPr>
              <p:nvPr/>
            </p:nvSpPr>
            <p:spPr bwMode="auto">
              <a:xfrm>
                <a:off x="3021"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6" name="Freeform 512"/>
              <p:cNvSpPr>
                <a:spLocks/>
              </p:cNvSpPr>
              <p:nvPr/>
            </p:nvSpPr>
            <p:spPr bwMode="auto">
              <a:xfrm>
                <a:off x="3039"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7" name="Freeform 513"/>
              <p:cNvSpPr>
                <a:spLocks/>
              </p:cNvSpPr>
              <p:nvPr/>
            </p:nvSpPr>
            <p:spPr bwMode="auto">
              <a:xfrm>
                <a:off x="3165"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18" name="Freeform 514"/>
              <p:cNvSpPr>
                <a:spLocks/>
              </p:cNvSpPr>
              <p:nvPr/>
            </p:nvSpPr>
            <p:spPr bwMode="auto">
              <a:xfrm>
                <a:off x="3193" y="2534"/>
                <a:ext cx="10" cy="9"/>
              </a:xfrm>
              <a:custGeom>
                <a:avLst/>
                <a:gdLst>
                  <a:gd name="T0" fmla="*/ 1 w 10"/>
                  <a:gd name="T1" fmla="*/ 0 h 9"/>
                  <a:gd name="T2" fmla="*/ 6 w 10"/>
                  <a:gd name="T3" fmla="*/ 0 h 9"/>
                  <a:gd name="T4" fmla="*/ 10 w 10"/>
                  <a:gd name="T5" fmla="*/ 3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3"/>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19" name="Freeform 515"/>
              <p:cNvSpPr>
                <a:spLocks/>
              </p:cNvSpPr>
              <p:nvPr/>
            </p:nvSpPr>
            <p:spPr bwMode="auto">
              <a:xfrm>
                <a:off x="3241"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20" name="Freeform 516"/>
              <p:cNvSpPr>
                <a:spLocks/>
              </p:cNvSpPr>
              <p:nvPr/>
            </p:nvSpPr>
            <p:spPr bwMode="auto">
              <a:xfrm>
                <a:off x="3259" y="253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21" name="Freeform 517"/>
              <p:cNvSpPr>
                <a:spLocks/>
              </p:cNvSpPr>
              <p:nvPr/>
            </p:nvSpPr>
            <p:spPr bwMode="auto">
              <a:xfrm>
                <a:off x="3269"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22" name="Freeform 518"/>
              <p:cNvSpPr>
                <a:spLocks/>
              </p:cNvSpPr>
              <p:nvPr/>
            </p:nvSpPr>
            <p:spPr bwMode="auto">
              <a:xfrm>
                <a:off x="3278"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23" name="Freeform 519"/>
              <p:cNvSpPr>
                <a:spLocks/>
              </p:cNvSpPr>
              <p:nvPr/>
            </p:nvSpPr>
            <p:spPr bwMode="auto">
              <a:xfrm>
                <a:off x="3290"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24" name="Freeform 520"/>
              <p:cNvSpPr>
                <a:spLocks/>
              </p:cNvSpPr>
              <p:nvPr/>
            </p:nvSpPr>
            <p:spPr bwMode="auto">
              <a:xfrm>
                <a:off x="3297"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25" name="Freeform 521"/>
              <p:cNvSpPr>
                <a:spLocks/>
              </p:cNvSpPr>
              <p:nvPr/>
            </p:nvSpPr>
            <p:spPr bwMode="auto">
              <a:xfrm>
                <a:off x="3301"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26" name="Freeform 522"/>
              <p:cNvSpPr>
                <a:spLocks/>
              </p:cNvSpPr>
              <p:nvPr/>
            </p:nvSpPr>
            <p:spPr bwMode="auto">
              <a:xfrm>
                <a:off x="3302" y="2534"/>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27" name="Freeform 523"/>
              <p:cNvSpPr>
                <a:spLocks/>
              </p:cNvSpPr>
              <p:nvPr/>
            </p:nvSpPr>
            <p:spPr bwMode="auto">
              <a:xfrm>
                <a:off x="3318"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28" name="Freeform 524"/>
              <p:cNvSpPr>
                <a:spLocks/>
              </p:cNvSpPr>
              <p:nvPr/>
            </p:nvSpPr>
            <p:spPr bwMode="auto">
              <a:xfrm>
                <a:off x="3522"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29" name="Freeform 525"/>
              <p:cNvSpPr>
                <a:spLocks/>
              </p:cNvSpPr>
              <p:nvPr/>
            </p:nvSpPr>
            <p:spPr bwMode="auto">
              <a:xfrm>
                <a:off x="3528" y="253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30" name="Freeform 526"/>
              <p:cNvSpPr>
                <a:spLocks/>
              </p:cNvSpPr>
              <p:nvPr/>
            </p:nvSpPr>
            <p:spPr bwMode="auto">
              <a:xfrm>
                <a:off x="3985" y="2534"/>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1" name="Freeform 527"/>
              <p:cNvSpPr>
                <a:spLocks/>
              </p:cNvSpPr>
              <p:nvPr/>
            </p:nvSpPr>
            <p:spPr bwMode="auto">
              <a:xfrm>
                <a:off x="4121"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2" name="Freeform 528"/>
              <p:cNvSpPr>
                <a:spLocks/>
              </p:cNvSpPr>
              <p:nvPr/>
            </p:nvSpPr>
            <p:spPr bwMode="auto">
              <a:xfrm>
                <a:off x="4132" y="253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33" name="Freeform 529"/>
              <p:cNvSpPr>
                <a:spLocks/>
              </p:cNvSpPr>
              <p:nvPr/>
            </p:nvSpPr>
            <p:spPr bwMode="auto">
              <a:xfrm>
                <a:off x="4172" y="253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34" name="Freeform 530"/>
              <p:cNvSpPr>
                <a:spLocks/>
              </p:cNvSpPr>
              <p:nvPr/>
            </p:nvSpPr>
            <p:spPr bwMode="auto">
              <a:xfrm>
                <a:off x="4191"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5" name="Freeform 531"/>
              <p:cNvSpPr>
                <a:spLocks/>
              </p:cNvSpPr>
              <p:nvPr/>
            </p:nvSpPr>
            <p:spPr bwMode="auto">
              <a:xfrm>
                <a:off x="4233"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6" name="Freeform 532"/>
              <p:cNvSpPr>
                <a:spLocks/>
              </p:cNvSpPr>
              <p:nvPr/>
            </p:nvSpPr>
            <p:spPr bwMode="auto">
              <a:xfrm>
                <a:off x="4262"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7" name="Freeform 533"/>
              <p:cNvSpPr>
                <a:spLocks/>
              </p:cNvSpPr>
              <p:nvPr/>
            </p:nvSpPr>
            <p:spPr bwMode="auto">
              <a:xfrm>
                <a:off x="4282" y="253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38" name="Freeform 534"/>
              <p:cNvSpPr>
                <a:spLocks/>
              </p:cNvSpPr>
              <p:nvPr/>
            </p:nvSpPr>
            <p:spPr bwMode="auto">
              <a:xfrm>
                <a:off x="4390"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9" name="Freeform 535"/>
              <p:cNvSpPr>
                <a:spLocks/>
              </p:cNvSpPr>
              <p:nvPr/>
            </p:nvSpPr>
            <p:spPr bwMode="auto">
              <a:xfrm>
                <a:off x="4455" y="2534"/>
                <a:ext cx="8" cy="9"/>
              </a:xfrm>
              <a:custGeom>
                <a:avLst/>
                <a:gdLst>
                  <a:gd name="T0" fmla="*/ 1 w 8"/>
                  <a:gd name="T1" fmla="*/ 0 h 9"/>
                  <a:gd name="T2" fmla="*/ 6 w 8"/>
                  <a:gd name="T3" fmla="*/ 0 h 9"/>
                  <a:gd name="T4" fmla="*/ 8 w 8"/>
                  <a:gd name="T5" fmla="*/ 2 h 9"/>
                  <a:gd name="T6" fmla="*/ 8 w 8"/>
                  <a:gd name="T7" fmla="*/ 7 h 9"/>
                  <a:gd name="T8" fmla="*/ 6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7"/>
                    </a:lnTo>
                    <a:lnTo>
                      <a:pt x="6"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40" name="Freeform 536"/>
              <p:cNvSpPr>
                <a:spLocks/>
              </p:cNvSpPr>
              <p:nvPr/>
            </p:nvSpPr>
            <p:spPr bwMode="auto">
              <a:xfrm>
                <a:off x="1060" y="2494"/>
                <a:ext cx="8" cy="10"/>
              </a:xfrm>
              <a:custGeom>
                <a:avLst/>
                <a:gdLst>
                  <a:gd name="T0" fmla="*/ 1 w 8"/>
                  <a:gd name="T1" fmla="*/ 0 h 10"/>
                  <a:gd name="T2" fmla="*/ 6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6"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41" name="Freeform 537"/>
              <p:cNvSpPr>
                <a:spLocks/>
              </p:cNvSpPr>
              <p:nvPr/>
            </p:nvSpPr>
            <p:spPr bwMode="auto">
              <a:xfrm>
                <a:off x="1084"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2" name="Freeform 538"/>
              <p:cNvSpPr>
                <a:spLocks/>
              </p:cNvSpPr>
              <p:nvPr/>
            </p:nvSpPr>
            <p:spPr bwMode="auto">
              <a:xfrm>
                <a:off x="1140"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3" name="Freeform 539"/>
              <p:cNvSpPr>
                <a:spLocks/>
              </p:cNvSpPr>
              <p:nvPr/>
            </p:nvSpPr>
            <p:spPr bwMode="auto">
              <a:xfrm>
                <a:off x="1215"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4" name="Freeform 540"/>
              <p:cNvSpPr>
                <a:spLocks/>
              </p:cNvSpPr>
              <p:nvPr/>
            </p:nvSpPr>
            <p:spPr bwMode="auto">
              <a:xfrm>
                <a:off x="1238"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45" name="Freeform 541"/>
              <p:cNvSpPr>
                <a:spLocks/>
              </p:cNvSpPr>
              <p:nvPr/>
            </p:nvSpPr>
            <p:spPr bwMode="auto">
              <a:xfrm>
                <a:off x="1615"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46" name="Freeform 542"/>
              <p:cNvSpPr>
                <a:spLocks/>
              </p:cNvSpPr>
              <p:nvPr/>
            </p:nvSpPr>
            <p:spPr bwMode="auto">
              <a:xfrm>
                <a:off x="1646"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7" name="Freeform 543"/>
              <p:cNvSpPr>
                <a:spLocks/>
              </p:cNvSpPr>
              <p:nvPr/>
            </p:nvSpPr>
            <p:spPr bwMode="auto">
              <a:xfrm>
                <a:off x="1656"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48" name="Freeform 544"/>
              <p:cNvSpPr>
                <a:spLocks/>
              </p:cNvSpPr>
              <p:nvPr/>
            </p:nvSpPr>
            <p:spPr bwMode="auto">
              <a:xfrm>
                <a:off x="1663"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9" name="Freeform 545"/>
              <p:cNvSpPr>
                <a:spLocks/>
              </p:cNvSpPr>
              <p:nvPr/>
            </p:nvSpPr>
            <p:spPr bwMode="auto">
              <a:xfrm>
                <a:off x="1686"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50" name="Freeform 546"/>
              <p:cNvSpPr>
                <a:spLocks/>
              </p:cNvSpPr>
              <p:nvPr/>
            </p:nvSpPr>
            <p:spPr bwMode="auto">
              <a:xfrm>
                <a:off x="1695"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51" name="Freeform 547"/>
              <p:cNvSpPr>
                <a:spLocks/>
              </p:cNvSpPr>
              <p:nvPr/>
            </p:nvSpPr>
            <p:spPr bwMode="auto">
              <a:xfrm>
                <a:off x="1960"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52" name="Freeform 548"/>
              <p:cNvSpPr>
                <a:spLocks/>
              </p:cNvSpPr>
              <p:nvPr/>
            </p:nvSpPr>
            <p:spPr bwMode="auto">
              <a:xfrm>
                <a:off x="2369" y="2494"/>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53" name="Freeform 549"/>
              <p:cNvSpPr>
                <a:spLocks/>
              </p:cNvSpPr>
              <p:nvPr/>
            </p:nvSpPr>
            <p:spPr bwMode="auto">
              <a:xfrm>
                <a:off x="2393"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54" name="Freeform 550"/>
              <p:cNvSpPr>
                <a:spLocks/>
              </p:cNvSpPr>
              <p:nvPr/>
            </p:nvSpPr>
            <p:spPr bwMode="auto">
              <a:xfrm>
                <a:off x="2472"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55" name="Freeform 551"/>
              <p:cNvSpPr>
                <a:spLocks/>
              </p:cNvSpPr>
              <p:nvPr/>
            </p:nvSpPr>
            <p:spPr bwMode="auto">
              <a:xfrm>
                <a:off x="2489"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56" name="Freeform 552"/>
              <p:cNvSpPr>
                <a:spLocks/>
              </p:cNvSpPr>
              <p:nvPr/>
            </p:nvSpPr>
            <p:spPr bwMode="auto">
              <a:xfrm>
                <a:off x="2498"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57" name="Freeform 553"/>
              <p:cNvSpPr>
                <a:spLocks/>
              </p:cNvSpPr>
              <p:nvPr/>
            </p:nvSpPr>
            <p:spPr bwMode="auto">
              <a:xfrm>
                <a:off x="2508" y="2494"/>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58" name="Freeform 554"/>
              <p:cNvSpPr>
                <a:spLocks/>
              </p:cNvSpPr>
              <p:nvPr/>
            </p:nvSpPr>
            <p:spPr bwMode="auto">
              <a:xfrm>
                <a:off x="2512"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59" name="Freeform 555"/>
              <p:cNvSpPr>
                <a:spLocks/>
              </p:cNvSpPr>
              <p:nvPr/>
            </p:nvSpPr>
            <p:spPr bwMode="auto">
              <a:xfrm>
                <a:off x="2526"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60" name="Freeform 556"/>
              <p:cNvSpPr>
                <a:spLocks/>
              </p:cNvSpPr>
              <p:nvPr/>
            </p:nvSpPr>
            <p:spPr bwMode="auto">
              <a:xfrm>
                <a:off x="2533"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61" name="Freeform 557"/>
              <p:cNvSpPr>
                <a:spLocks/>
              </p:cNvSpPr>
              <p:nvPr/>
            </p:nvSpPr>
            <p:spPr bwMode="auto">
              <a:xfrm>
                <a:off x="2541" y="2494"/>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2" name="Freeform 558"/>
              <p:cNvSpPr>
                <a:spLocks/>
              </p:cNvSpPr>
              <p:nvPr/>
            </p:nvSpPr>
            <p:spPr bwMode="auto">
              <a:xfrm>
                <a:off x="2543"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3" name="Freeform 559"/>
              <p:cNvSpPr>
                <a:spLocks/>
              </p:cNvSpPr>
              <p:nvPr/>
            </p:nvSpPr>
            <p:spPr bwMode="auto">
              <a:xfrm>
                <a:off x="2554" y="2494"/>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64" name="Freeform 560"/>
              <p:cNvSpPr>
                <a:spLocks/>
              </p:cNvSpPr>
              <p:nvPr/>
            </p:nvSpPr>
            <p:spPr bwMode="auto">
              <a:xfrm>
                <a:off x="2583"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5" name="Freeform 561"/>
              <p:cNvSpPr>
                <a:spLocks/>
              </p:cNvSpPr>
              <p:nvPr/>
            </p:nvSpPr>
            <p:spPr bwMode="auto">
              <a:xfrm>
                <a:off x="2592"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6" name="Freeform 562"/>
              <p:cNvSpPr>
                <a:spLocks/>
              </p:cNvSpPr>
              <p:nvPr/>
            </p:nvSpPr>
            <p:spPr bwMode="auto">
              <a:xfrm>
                <a:off x="3257"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67" name="Freeform 563"/>
              <p:cNvSpPr>
                <a:spLocks/>
              </p:cNvSpPr>
              <p:nvPr/>
            </p:nvSpPr>
            <p:spPr bwMode="auto">
              <a:xfrm>
                <a:off x="3266"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68" name="Freeform 564"/>
              <p:cNvSpPr>
                <a:spLocks/>
              </p:cNvSpPr>
              <p:nvPr/>
            </p:nvSpPr>
            <p:spPr bwMode="auto">
              <a:xfrm>
                <a:off x="3278"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9" name="Freeform 565"/>
              <p:cNvSpPr>
                <a:spLocks/>
              </p:cNvSpPr>
              <p:nvPr/>
            </p:nvSpPr>
            <p:spPr bwMode="auto">
              <a:xfrm>
                <a:off x="3289" y="2494"/>
                <a:ext cx="10" cy="10"/>
              </a:xfrm>
              <a:custGeom>
                <a:avLst/>
                <a:gdLst>
                  <a:gd name="T0" fmla="*/ 1 w 10"/>
                  <a:gd name="T1" fmla="*/ 0 h 10"/>
                  <a:gd name="T2" fmla="*/ 6 w 10"/>
                  <a:gd name="T3" fmla="*/ 0 h 10"/>
                  <a:gd name="T4" fmla="*/ 10 w 10"/>
                  <a:gd name="T5" fmla="*/ 3 h 10"/>
                  <a:gd name="T6" fmla="*/ 10 w 10"/>
                  <a:gd name="T7" fmla="*/ 7 h 10"/>
                  <a:gd name="T8" fmla="*/ 6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6" y="0"/>
                    </a:lnTo>
                    <a:lnTo>
                      <a:pt x="10" y="3"/>
                    </a:lnTo>
                    <a:lnTo>
                      <a:pt x="10" y="7"/>
                    </a:lnTo>
                    <a:lnTo>
                      <a:pt x="6"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70" name="Freeform 566"/>
              <p:cNvSpPr>
                <a:spLocks/>
              </p:cNvSpPr>
              <p:nvPr/>
            </p:nvSpPr>
            <p:spPr bwMode="auto">
              <a:xfrm>
                <a:off x="3304"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1" name="Freeform 567"/>
              <p:cNvSpPr>
                <a:spLocks/>
              </p:cNvSpPr>
              <p:nvPr/>
            </p:nvSpPr>
            <p:spPr bwMode="auto">
              <a:xfrm>
                <a:off x="3309" y="2494"/>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2" name="Freeform 568"/>
              <p:cNvSpPr>
                <a:spLocks/>
              </p:cNvSpPr>
              <p:nvPr/>
            </p:nvSpPr>
            <p:spPr bwMode="auto">
              <a:xfrm>
                <a:off x="3313"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73" name="Freeform 569"/>
              <p:cNvSpPr>
                <a:spLocks/>
              </p:cNvSpPr>
              <p:nvPr/>
            </p:nvSpPr>
            <p:spPr bwMode="auto">
              <a:xfrm>
                <a:off x="3325"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4" name="Freeform 570"/>
              <p:cNvSpPr>
                <a:spLocks/>
              </p:cNvSpPr>
              <p:nvPr/>
            </p:nvSpPr>
            <p:spPr bwMode="auto">
              <a:xfrm>
                <a:off x="3332"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5" name="Freeform 571"/>
              <p:cNvSpPr>
                <a:spLocks/>
              </p:cNvSpPr>
              <p:nvPr/>
            </p:nvSpPr>
            <p:spPr bwMode="auto">
              <a:xfrm>
                <a:off x="3374"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6" name="Freeform 572"/>
              <p:cNvSpPr>
                <a:spLocks/>
              </p:cNvSpPr>
              <p:nvPr/>
            </p:nvSpPr>
            <p:spPr bwMode="auto">
              <a:xfrm>
                <a:off x="3385" y="2494"/>
                <a:ext cx="10" cy="10"/>
              </a:xfrm>
              <a:custGeom>
                <a:avLst/>
                <a:gdLst>
                  <a:gd name="T0" fmla="*/ 1 w 10"/>
                  <a:gd name="T1" fmla="*/ 0 h 10"/>
                  <a:gd name="T2" fmla="*/ 6 w 10"/>
                  <a:gd name="T3" fmla="*/ 0 h 10"/>
                  <a:gd name="T4" fmla="*/ 10 w 10"/>
                  <a:gd name="T5" fmla="*/ 3 h 10"/>
                  <a:gd name="T6" fmla="*/ 10 w 10"/>
                  <a:gd name="T7" fmla="*/ 7 h 10"/>
                  <a:gd name="T8" fmla="*/ 6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6" y="0"/>
                    </a:lnTo>
                    <a:lnTo>
                      <a:pt x="10" y="3"/>
                    </a:lnTo>
                    <a:lnTo>
                      <a:pt x="10" y="7"/>
                    </a:lnTo>
                    <a:lnTo>
                      <a:pt x="6"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77" name="Freeform 573"/>
              <p:cNvSpPr>
                <a:spLocks/>
              </p:cNvSpPr>
              <p:nvPr/>
            </p:nvSpPr>
            <p:spPr bwMode="auto">
              <a:xfrm>
                <a:off x="3407"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8" name="Freeform 574"/>
              <p:cNvSpPr>
                <a:spLocks/>
              </p:cNvSpPr>
              <p:nvPr/>
            </p:nvSpPr>
            <p:spPr bwMode="auto">
              <a:xfrm>
                <a:off x="3416"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9" name="Freeform 575"/>
              <p:cNvSpPr>
                <a:spLocks/>
              </p:cNvSpPr>
              <p:nvPr/>
            </p:nvSpPr>
            <p:spPr bwMode="auto">
              <a:xfrm>
                <a:off x="3425"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80" name="Freeform 576"/>
              <p:cNvSpPr>
                <a:spLocks/>
              </p:cNvSpPr>
              <p:nvPr/>
            </p:nvSpPr>
            <p:spPr bwMode="auto">
              <a:xfrm>
                <a:off x="3479" y="2494"/>
                <a:ext cx="8" cy="10"/>
              </a:xfrm>
              <a:custGeom>
                <a:avLst/>
                <a:gdLst>
                  <a:gd name="T0" fmla="*/ 2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1"/>
                    </a:lnTo>
                    <a:lnTo>
                      <a:pt x="8"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1" name="Freeform 577"/>
              <p:cNvSpPr>
                <a:spLocks/>
              </p:cNvSpPr>
              <p:nvPr/>
            </p:nvSpPr>
            <p:spPr bwMode="auto">
              <a:xfrm>
                <a:off x="3517"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2" name="Freeform 578"/>
              <p:cNvSpPr>
                <a:spLocks/>
              </p:cNvSpPr>
              <p:nvPr/>
            </p:nvSpPr>
            <p:spPr bwMode="auto">
              <a:xfrm>
                <a:off x="3528"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83" name="Freeform 579"/>
              <p:cNvSpPr>
                <a:spLocks/>
              </p:cNvSpPr>
              <p:nvPr/>
            </p:nvSpPr>
            <p:spPr bwMode="auto">
              <a:xfrm>
                <a:off x="3531"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84" name="Freeform 580"/>
              <p:cNvSpPr>
                <a:spLocks/>
              </p:cNvSpPr>
              <p:nvPr/>
            </p:nvSpPr>
            <p:spPr bwMode="auto">
              <a:xfrm>
                <a:off x="3536"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5" name="Freeform 581"/>
              <p:cNvSpPr>
                <a:spLocks/>
              </p:cNvSpPr>
              <p:nvPr/>
            </p:nvSpPr>
            <p:spPr bwMode="auto">
              <a:xfrm>
                <a:off x="3545"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6" name="Freeform 582"/>
              <p:cNvSpPr>
                <a:spLocks/>
              </p:cNvSpPr>
              <p:nvPr/>
            </p:nvSpPr>
            <p:spPr bwMode="auto">
              <a:xfrm>
                <a:off x="3568"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7" name="Freeform 583"/>
              <p:cNvSpPr>
                <a:spLocks/>
              </p:cNvSpPr>
              <p:nvPr/>
            </p:nvSpPr>
            <p:spPr bwMode="auto">
              <a:xfrm>
                <a:off x="4187"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88" name="Freeform 584"/>
              <p:cNvSpPr>
                <a:spLocks/>
              </p:cNvSpPr>
              <p:nvPr/>
            </p:nvSpPr>
            <p:spPr bwMode="auto">
              <a:xfrm>
                <a:off x="4207"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89" name="Freeform 585"/>
              <p:cNvSpPr>
                <a:spLocks/>
              </p:cNvSpPr>
              <p:nvPr/>
            </p:nvSpPr>
            <p:spPr bwMode="auto">
              <a:xfrm>
                <a:off x="4210"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90" name="Freeform 586"/>
              <p:cNvSpPr>
                <a:spLocks/>
              </p:cNvSpPr>
              <p:nvPr/>
            </p:nvSpPr>
            <p:spPr bwMode="auto">
              <a:xfrm>
                <a:off x="4214"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91" name="Freeform 587"/>
              <p:cNvSpPr>
                <a:spLocks/>
              </p:cNvSpPr>
              <p:nvPr/>
            </p:nvSpPr>
            <p:spPr bwMode="auto">
              <a:xfrm>
                <a:off x="4219"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92" name="Freeform 588"/>
              <p:cNvSpPr>
                <a:spLocks/>
              </p:cNvSpPr>
              <p:nvPr/>
            </p:nvSpPr>
            <p:spPr bwMode="auto">
              <a:xfrm>
                <a:off x="4425"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93" name="Freeform 589"/>
              <p:cNvSpPr>
                <a:spLocks/>
              </p:cNvSpPr>
              <p:nvPr/>
            </p:nvSpPr>
            <p:spPr bwMode="auto">
              <a:xfrm>
                <a:off x="4432"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94" name="Freeform 590"/>
              <p:cNvSpPr>
                <a:spLocks/>
              </p:cNvSpPr>
              <p:nvPr/>
            </p:nvSpPr>
            <p:spPr bwMode="auto">
              <a:xfrm>
                <a:off x="4434"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95" name="Freeform 591"/>
              <p:cNvSpPr>
                <a:spLocks/>
              </p:cNvSpPr>
              <p:nvPr/>
            </p:nvSpPr>
            <p:spPr bwMode="auto">
              <a:xfrm>
                <a:off x="4608"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96" name="Freeform 592"/>
              <p:cNvSpPr>
                <a:spLocks/>
              </p:cNvSpPr>
              <p:nvPr/>
            </p:nvSpPr>
            <p:spPr bwMode="auto">
              <a:xfrm>
                <a:off x="1341"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97" name="Freeform 593"/>
              <p:cNvSpPr>
                <a:spLocks/>
              </p:cNvSpPr>
              <p:nvPr/>
            </p:nvSpPr>
            <p:spPr bwMode="auto">
              <a:xfrm>
                <a:off x="1869"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98" name="Freeform 594"/>
              <p:cNvSpPr>
                <a:spLocks/>
              </p:cNvSpPr>
              <p:nvPr/>
            </p:nvSpPr>
            <p:spPr bwMode="auto">
              <a:xfrm>
                <a:off x="1941"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99" name="Freeform 595"/>
              <p:cNvSpPr>
                <a:spLocks/>
              </p:cNvSpPr>
              <p:nvPr/>
            </p:nvSpPr>
            <p:spPr bwMode="auto">
              <a:xfrm>
                <a:off x="1953"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0" name="Freeform 596"/>
              <p:cNvSpPr>
                <a:spLocks/>
              </p:cNvSpPr>
              <p:nvPr/>
            </p:nvSpPr>
            <p:spPr bwMode="auto">
              <a:xfrm>
                <a:off x="2349"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1" name="Freeform 597"/>
              <p:cNvSpPr>
                <a:spLocks/>
              </p:cNvSpPr>
              <p:nvPr/>
            </p:nvSpPr>
            <p:spPr bwMode="auto">
              <a:xfrm>
                <a:off x="2353"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2" name="Freeform 598"/>
              <p:cNvSpPr>
                <a:spLocks/>
              </p:cNvSpPr>
              <p:nvPr/>
            </p:nvSpPr>
            <p:spPr bwMode="auto">
              <a:xfrm>
                <a:off x="2358"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3" name="Freeform 599"/>
              <p:cNvSpPr>
                <a:spLocks/>
              </p:cNvSpPr>
              <p:nvPr/>
            </p:nvSpPr>
            <p:spPr bwMode="auto">
              <a:xfrm>
                <a:off x="2374"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4" name="Freeform 600"/>
              <p:cNvSpPr>
                <a:spLocks/>
              </p:cNvSpPr>
              <p:nvPr/>
            </p:nvSpPr>
            <p:spPr bwMode="auto">
              <a:xfrm>
                <a:off x="2397"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5" name="Freeform 601"/>
              <p:cNvSpPr>
                <a:spLocks/>
              </p:cNvSpPr>
              <p:nvPr/>
            </p:nvSpPr>
            <p:spPr bwMode="auto">
              <a:xfrm>
                <a:off x="2543"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6" name="Freeform 602"/>
              <p:cNvSpPr>
                <a:spLocks/>
              </p:cNvSpPr>
              <p:nvPr/>
            </p:nvSpPr>
            <p:spPr bwMode="auto">
              <a:xfrm>
                <a:off x="2545"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7" name="Freeform 603"/>
              <p:cNvSpPr>
                <a:spLocks/>
              </p:cNvSpPr>
              <p:nvPr/>
            </p:nvSpPr>
            <p:spPr bwMode="auto">
              <a:xfrm>
                <a:off x="2550"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8" name="Freeform 604"/>
              <p:cNvSpPr>
                <a:spLocks/>
              </p:cNvSpPr>
              <p:nvPr/>
            </p:nvSpPr>
            <p:spPr bwMode="auto">
              <a:xfrm>
                <a:off x="2554" y="2454"/>
                <a:ext cx="10" cy="10"/>
              </a:xfrm>
              <a:custGeom>
                <a:avLst/>
                <a:gdLst>
                  <a:gd name="T0" fmla="*/ 3 w 10"/>
                  <a:gd name="T1" fmla="*/ 0 h 10"/>
                  <a:gd name="T2" fmla="*/ 7 w 10"/>
                  <a:gd name="T3" fmla="*/ 0 h 10"/>
                  <a:gd name="T4" fmla="*/ 10 w 10"/>
                  <a:gd name="T5" fmla="*/ 3 h 10"/>
                  <a:gd name="T6" fmla="*/ 10 w 10"/>
                  <a:gd name="T7" fmla="*/ 8 h 10"/>
                  <a:gd name="T8" fmla="*/ 8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8"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9" name="Freeform 605"/>
              <p:cNvSpPr>
                <a:spLocks/>
              </p:cNvSpPr>
              <p:nvPr/>
            </p:nvSpPr>
            <p:spPr bwMode="auto">
              <a:xfrm>
                <a:off x="2569"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10" name="Freeform 606"/>
              <p:cNvSpPr>
                <a:spLocks/>
              </p:cNvSpPr>
              <p:nvPr/>
            </p:nvSpPr>
            <p:spPr bwMode="auto">
              <a:xfrm>
                <a:off x="2575" y="2454"/>
                <a:ext cx="10" cy="10"/>
              </a:xfrm>
              <a:custGeom>
                <a:avLst/>
                <a:gdLst>
                  <a:gd name="T0" fmla="*/ 3 w 10"/>
                  <a:gd name="T1" fmla="*/ 0 h 10"/>
                  <a:gd name="T2" fmla="*/ 7 w 10"/>
                  <a:gd name="T3" fmla="*/ 0 h 10"/>
                  <a:gd name="T4" fmla="*/ 10 w 10"/>
                  <a:gd name="T5" fmla="*/ 3 h 10"/>
                  <a:gd name="T6" fmla="*/ 10 w 10"/>
                  <a:gd name="T7" fmla="*/ 6 h 10"/>
                  <a:gd name="T8" fmla="*/ 7 w 10"/>
                  <a:gd name="T9" fmla="*/ 10 h 10"/>
                  <a:gd name="T10" fmla="*/ 1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6"/>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5" name="Group 808"/>
            <p:cNvGrpSpPr>
              <a:grpSpLocks/>
            </p:cNvGrpSpPr>
            <p:nvPr/>
          </p:nvGrpSpPr>
          <p:grpSpPr bwMode="auto">
            <a:xfrm>
              <a:off x="1947928" y="3517910"/>
              <a:ext cx="6315288" cy="393701"/>
              <a:chOff x="1227" y="2216"/>
              <a:chExt cx="3978" cy="248"/>
            </a:xfrm>
          </p:grpSpPr>
          <p:sp>
            <p:nvSpPr>
              <p:cNvPr id="7211" name="Freeform 608"/>
              <p:cNvSpPr>
                <a:spLocks/>
              </p:cNvSpPr>
              <p:nvPr/>
            </p:nvSpPr>
            <p:spPr bwMode="auto">
              <a:xfrm>
                <a:off x="2597"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2" name="Freeform 609"/>
              <p:cNvSpPr>
                <a:spLocks/>
              </p:cNvSpPr>
              <p:nvPr/>
            </p:nvSpPr>
            <p:spPr bwMode="auto">
              <a:xfrm>
                <a:off x="2925"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3" name="Freeform 610"/>
              <p:cNvSpPr>
                <a:spLocks/>
              </p:cNvSpPr>
              <p:nvPr/>
            </p:nvSpPr>
            <p:spPr bwMode="auto">
              <a:xfrm>
                <a:off x="2974"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4" name="Freeform 611"/>
              <p:cNvSpPr>
                <a:spLocks/>
              </p:cNvSpPr>
              <p:nvPr/>
            </p:nvSpPr>
            <p:spPr bwMode="auto">
              <a:xfrm>
                <a:off x="3313"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15" name="Freeform 612"/>
              <p:cNvSpPr>
                <a:spLocks/>
              </p:cNvSpPr>
              <p:nvPr/>
            </p:nvSpPr>
            <p:spPr bwMode="auto">
              <a:xfrm>
                <a:off x="3522"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6" name="Freeform 613"/>
              <p:cNvSpPr>
                <a:spLocks/>
              </p:cNvSpPr>
              <p:nvPr/>
            </p:nvSpPr>
            <p:spPr bwMode="auto">
              <a:xfrm>
                <a:off x="3526"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17" name="Freeform 614"/>
              <p:cNvSpPr>
                <a:spLocks/>
              </p:cNvSpPr>
              <p:nvPr/>
            </p:nvSpPr>
            <p:spPr bwMode="auto">
              <a:xfrm>
                <a:off x="3529"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8" name="Freeform 615"/>
              <p:cNvSpPr>
                <a:spLocks/>
              </p:cNvSpPr>
              <p:nvPr/>
            </p:nvSpPr>
            <p:spPr bwMode="auto">
              <a:xfrm>
                <a:off x="3531"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9" name="Freeform 616"/>
              <p:cNvSpPr>
                <a:spLocks/>
              </p:cNvSpPr>
              <p:nvPr/>
            </p:nvSpPr>
            <p:spPr bwMode="auto">
              <a:xfrm>
                <a:off x="3535"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0" name="Freeform 617"/>
              <p:cNvSpPr>
                <a:spLocks/>
              </p:cNvSpPr>
              <p:nvPr/>
            </p:nvSpPr>
            <p:spPr bwMode="auto">
              <a:xfrm>
                <a:off x="3536" y="2454"/>
                <a:ext cx="11" cy="10"/>
              </a:xfrm>
              <a:custGeom>
                <a:avLst/>
                <a:gdLst>
                  <a:gd name="T0" fmla="*/ 4 w 11"/>
                  <a:gd name="T1" fmla="*/ 0 h 10"/>
                  <a:gd name="T2" fmla="*/ 7 w 11"/>
                  <a:gd name="T3" fmla="*/ 0 h 10"/>
                  <a:gd name="T4" fmla="*/ 11 w 11"/>
                  <a:gd name="T5" fmla="*/ 3 h 10"/>
                  <a:gd name="T6" fmla="*/ 11 w 11"/>
                  <a:gd name="T7" fmla="*/ 6 h 10"/>
                  <a:gd name="T8" fmla="*/ 7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6"/>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21" name="Freeform 618"/>
              <p:cNvSpPr>
                <a:spLocks/>
              </p:cNvSpPr>
              <p:nvPr/>
            </p:nvSpPr>
            <p:spPr bwMode="auto">
              <a:xfrm>
                <a:off x="3866"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22" name="Freeform 619"/>
              <p:cNvSpPr>
                <a:spLocks/>
              </p:cNvSpPr>
              <p:nvPr/>
            </p:nvSpPr>
            <p:spPr bwMode="auto">
              <a:xfrm>
                <a:off x="3870"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2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3" name="Freeform 620"/>
              <p:cNvSpPr>
                <a:spLocks/>
              </p:cNvSpPr>
              <p:nvPr/>
            </p:nvSpPr>
            <p:spPr bwMode="auto">
              <a:xfrm>
                <a:off x="4194"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24" name="Freeform 621"/>
              <p:cNvSpPr>
                <a:spLocks/>
              </p:cNvSpPr>
              <p:nvPr/>
            </p:nvSpPr>
            <p:spPr bwMode="auto">
              <a:xfrm>
                <a:off x="4205"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5" name="Freeform 622"/>
              <p:cNvSpPr>
                <a:spLocks/>
              </p:cNvSpPr>
              <p:nvPr/>
            </p:nvSpPr>
            <p:spPr bwMode="auto">
              <a:xfrm>
                <a:off x="4226"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6" name="Freeform 623"/>
              <p:cNvSpPr>
                <a:spLocks/>
              </p:cNvSpPr>
              <p:nvPr/>
            </p:nvSpPr>
            <p:spPr bwMode="auto">
              <a:xfrm>
                <a:off x="4385"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7" name="Freeform 624"/>
              <p:cNvSpPr>
                <a:spLocks/>
              </p:cNvSpPr>
              <p:nvPr/>
            </p:nvSpPr>
            <p:spPr bwMode="auto">
              <a:xfrm>
                <a:off x="4421"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28" name="Freeform 625"/>
              <p:cNvSpPr>
                <a:spLocks/>
              </p:cNvSpPr>
              <p:nvPr/>
            </p:nvSpPr>
            <p:spPr bwMode="auto">
              <a:xfrm>
                <a:off x="4448"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9" name="Freeform 626"/>
              <p:cNvSpPr>
                <a:spLocks/>
              </p:cNvSpPr>
              <p:nvPr/>
            </p:nvSpPr>
            <p:spPr bwMode="auto">
              <a:xfrm>
                <a:off x="4449"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30" name="Freeform 627"/>
              <p:cNvSpPr>
                <a:spLocks/>
              </p:cNvSpPr>
              <p:nvPr/>
            </p:nvSpPr>
            <p:spPr bwMode="auto">
              <a:xfrm>
                <a:off x="4455" y="2454"/>
                <a:ext cx="8" cy="10"/>
              </a:xfrm>
              <a:custGeom>
                <a:avLst/>
                <a:gdLst>
                  <a:gd name="T0" fmla="*/ 3 w 8"/>
                  <a:gd name="T1" fmla="*/ 0 h 10"/>
                  <a:gd name="T2" fmla="*/ 5 w 8"/>
                  <a:gd name="T3" fmla="*/ 0 h 10"/>
                  <a:gd name="T4" fmla="*/ 8 w 8"/>
                  <a:gd name="T5" fmla="*/ 3 h 10"/>
                  <a:gd name="T6" fmla="*/ 8 w 8"/>
                  <a:gd name="T7" fmla="*/ 8 h 10"/>
                  <a:gd name="T8" fmla="*/ 6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6"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31" name="Freeform 628"/>
              <p:cNvSpPr>
                <a:spLocks/>
              </p:cNvSpPr>
              <p:nvPr/>
            </p:nvSpPr>
            <p:spPr bwMode="auto">
              <a:xfrm>
                <a:off x="4465" y="2454"/>
                <a:ext cx="10" cy="10"/>
              </a:xfrm>
              <a:custGeom>
                <a:avLst/>
                <a:gdLst>
                  <a:gd name="T0" fmla="*/ 3 w 10"/>
                  <a:gd name="T1" fmla="*/ 0 h 10"/>
                  <a:gd name="T2" fmla="*/ 7 w 10"/>
                  <a:gd name="T3" fmla="*/ 0 h 10"/>
                  <a:gd name="T4" fmla="*/ 10 w 10"/>
                  <a:gd name="T5" fmla="*/ 3 h 10"/>
                  <a:gd name="T6" fmla="*/ 10 w 10"/>
                  <a:gd name="T7" fmla="*/ 6 h 10"/>
                  <a:gd name="T8" fmla="*/ 7 w 10"/>
                  <a:gd name="T9" fmla="*/ 10 h 10"/>
                  <a:gd name="T10" fmla="*/ 2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6"/>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32" name="Freeform 629"/>
              <p:cNvSpPr>
                <a:spLocks/>
              </p:cNvSpPr>
              <p:nvPr/>
            </p:nvSpPr>
            <p:spPr bwMode="auto">
              <a:xfrm>
                <a:off x="4477"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33" name="Freeform 630"/>
              <p:cNvSpPr>
                <a:spLocks/>
              </p:cNvSpPr>
              <p:nvPr/>
            </p:nvSpPr>
            <p:spPr bwMode="auto">
              <a:xfrm>
                <a:off x="1567"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34" name="Freeform 631"/>
              <p:cNvSpPr>
                <a:spLocks/>
              </p:cNvSpPr>
              <p:nvPr/>
            </p:nvSpPr>
            <p:spPr bwMode="auto">
              <a:xfrm>
                <a:off x="1573" y="2415"/>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35" name="Freeform 632"/>
              <p:cNvSpPr>
                <a:spLocks/>
              </p:cNvSpPr>
              <p:nvPr/>
            </p:nvSpPr>
            <p:spPr bwMode="auto">
              <a:xfrm>
                <a:off x="1581" y="2415"/>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36" name="Freeform 633"/>
              <p:cNvSpPr>
                <a:spLocks/>
              </p:cNvSpPr>
              <p:nvPr/>
            </p:nvSpPr>
            <p:spPr bwMode="auto">
              <a:xfrm>
                <a:off x="1583"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37" name="Freeform 634"/>
              <p:cNvSpPr>
                <a:spLocks/>
              </p:cNvSpPr>
              <p:nvPr/>
            </p:nvSpPr>
            <p:spPr bwMode="auto">
              <a:xfrm>
                <a:off x="1630" y="2415"/>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38" name="Freeform 635"/>
              <p:cNvSpPr>
                <a:spLocks/>
              </p:cNvSpPr>
              <p:nvPr/>
            </p:nvSpPr>
            <p:spPr bwMode="auto">
              <a:xfrm>
                <a:off x="1644"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39" name="Freeform 636"/>
              <p:cNvSpPr>
                <a:spLocks/>
              </p:cNvSpPr>
              <p:nvPr/>
            </p:nvSpPr>
            <p:spPr bwMode="auto">
              <a:xfrm>
                <a:off x="1646" y="2415"/>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0" name="Freeform 637"/>
              <p:cNvSpPr>
                <a:spLocks/>
              </p:cNvSpPr>
              <p:nvPr/>
            </p:nvSpPr>
            <p:spPr bwMode="auto">
              <a:xfrm>
                <a:off x="1670"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1" name="Freeform 638"/>
              <p:cNvSpPr>
                <a:spLocks/>
              </p:cNvSpPr>
              <p:nvPr/>
            </p:nvSpPr>
            <p:spPr bwMode="auto">
              <a:xfrm>
                <a:off x="1679" y="2415"/>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2" name="Freeform 639"/>
              <p:cNvSpPr>
                <a:spLocks/>
              </p:cNvSpPr>
              <p:nvPr/>
            </p:nvSpPr>
            <p:spPr bwMode="auto">
              <a:xfrm>
                <a:off x="1709" y="2415"/>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43" name="Freeform 640"/>
              <p:cNvSpPr>
                <a:spLocks/>
              </p:cNvSpPr>
              <p:nvPr/>
            </p:nvSpPr>
            <p:spPr bwMode="auto">
              <a:xfrm>
                <a:off x="2501" y="2415"/>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4" name="Freeform 641"/>
              <p:cNvSpPr>
                <a:spLocks/>
              </p:cNvSpPr>
              <p:nvPr/>
            </p:nvSpPr>
            <p:spPr bwMode="auto">
              <a:xfrm>
                <a:off x="2510"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5" name="Freeform 642"/>
              <p:cNvSpPr>
                <a:spLocks/>
              </p:cNvSpPr>
              <p:nvPr/>
            </p:nvSpPr>
            <p:spPr bwMode="auto">
              <a:xfrm>
                <a:off x="2515"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46" name="Freeform 643"/>
              <p:cNvSpPr>
                <a:spLocks/>
              </p:cNvSpPr>
              <p:nvPr/>
            </p:nvSpPr>
            <p:spPr bwMode="auto">
              <a:xfrm>
                <a:off x="2517" y="2415"/>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47" name="Freeform 644"/>
              <p:cNvSpPr>
                <a:spLocks/>
              </p:cNvSpPr>
              <p:nvPr/>
            </p:nvSpPr>
            <p:spPr bwMode="auto">
              <a:xfrm>
                <a:off x="2527"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8" name="Freeform 645"/>
              <p:cNvSpPr>
                <a:spLocks/>
              </p:cNvSpPr>
              <p:nvPr/>
            </p:nvSpPr>
            <p:spPr bwMode="auto">
              <a:xfrm>
                <a:off x="2529"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49" name="Freeform 646"/>
              <p:cNvSpPr>
                <a:spLocks/>
              </p:cNvSpPr>
              <p:nvPr/>
            </p:nvSpPr>
            <p:spPr bwMode="auto">
              <a:xfrm>
                <a:off x="2536"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0" name="Freeform 647"/>
              <p:cNvSpPr>
                <a:spLocks/>
              </p:cNvSpPr>
              <p:nvPr/>
            </p:nvSpPr>
            <p:spPr bwMode="auto">
              <a:xfrm>
                <a:off x="2538" y="241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51" name="Freeform 648"/>
              <p:cNvSpPr>
                <a:spLocks/>
              </p:cNvSpPr>
              <p:nvPr/>
            </p:nvSpPr>
            <p:spPr bwMode="auto">
              <a:xfrm>
                <a:off x="2576"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2" name="Freeform 649"/>
              <p:cNvSpPr>
                <a:spLocks/>
              </p:cNvSpPr>
              <p:nvPr/>
            </p:nvSpPr>
            <p:spPr bwMode="auto">
              <a:xfrm>
                <a:off x="3007"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3" name="Freeform 650"/>
              <p:cNvSpPr>
                <a:spLocks/>
              </p:cNvSpPr>
              <p:nvPr/>
            </p:nvSpPr>
            <p:spPr bwMode="auto">
              <a:xfrm>
                <a:off x="3013" y="2415"/>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54" name="Freeform 651"/>
              <p:cNvSpPr>
                <a:spLocks/>
              </p:cNvSpPr>
              <p:nvPr/>
            </p:nvSpPr>
            <p:spPr bwMode="auto">
              <a:xfrm>
                <a:off x="3037"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5" name="Freeform 652"/>
              <p:cNvSpPr>
                <a:spLocks/>
              </p:cNvSpPr>
              <p:nvPr/>
            </p:nvSpPr>
            <p:spPr bwMode="auto">
              <a:xfrm>
                <a:off x="3550"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56" name="Freeform 653"/>
              <p:cNvSpPr>
                <a:spLocks/>
              </p:cNvSpPr>
              <p:nvPr/>
            </p:nvSpPr>
            <p:spPr bwMode="auto">
              <a:xfrm>
                <a:off x="4161"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7" name="Freeform 654"/>
              <p:cNvSpPr>
                <a:spLocks/>
              </p:cNvSpPr>
              <p:nvPr/>
            </p:nvSpPr>
            <p:spPr bwMode="auto">
              <a:xfrm>
                <a:off x="4187"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58" name="Freeform 655"/>
              <p:cNvSpPr>
                <a:spLocks/>
              </p:cNvSpPr>
              <p:nvPr/>
            </p:nvSpPr>
            <p:spPr bwMode="auto">
              <a:xfrm>
                <a:off x="4200" y="2415"/>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59" name="Freeform 656"/>
              <p:cNvSpPr>
                <a:spLocks/>
              </p:cNvSpPr>
              <p:nvPr/>
            </p:nvSpPr>
            <p:spPr bwMode="auto">
              <a:xfrm>
                <a:off x="4231"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60" name="Freeform 657"/>
              <p:cNvSpPr>
                <a:spLocks/>
              </p:cNvSpPr>
              <p:nvPr/>
            </p:nvSpPr>
            <p:spPr bwMode="auto">
              <a:xfrm>
                <a:off x="4238"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61" name="Freeform 658"/>
              <p:cNvSpPr>
                <a:spLocks/>
              </p:cNvSpPr>
              <p:nvPr/>
            </p:nvSpPr>
            <p:spPr bwMode="auto">
              <a:xfrm>
                <a:off x="4322" y="2415"/>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62" name="Freeform 659"/>
              <p:cNvSpPr>
                <a:spLocks/>
              </p:cNvSpPr>
              <p:nvPr/>
            </p:nvSpPr>
            <p:spPr bwMode="auto">
              <a:xfrm>
                <a:off x="4327"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63" name="Freeform 660"/>
              <p:cNvSpPr>
                <a:spLocks/>
              </p:cNvSpPr>
              <p:nvPr/>
            </p:nvSpPr>
            <p:spPr bwMode="auto">
              <a:xfrm>
                <a:off x="4338" y="2415"/>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64" name="Freeform 661"/>
              <p:cNvSpPr>
                <a:spLocks/>
              </p:cNvSpPr>
              <p:nvPr/>
            </p:nvSpPr>
            <p:spPr bwMode="auto">
              <a:xfrm>
                <a:off x="4355" y="241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65" name="Freeform 662"/>
              <p:cNvSpPr>
                <a:spLocks/>
              </p:cNvSpPr>
              <p:nvPr/>
            </p:nvSpPr>
            <p:spPr bwMode="auto">
              <a:xfrm>
                <a:off x="4379"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66" name="Freeform 663"/>
              <p:cNvSpPr>
                <a:spLocks/>
              </p:cNvSpPr>
              <p:nvPr/>
            </p:nvSpPr>
            <p:spPr bwMode="auto">
              <a:xfrm>
                <a:off x="4411" y="241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67" name="Freeform 664"/>
              <p:cNvSpPr>
                <a:spLocks/>
              </p:cNvSpPr>
              <p:nvPr/>
            </p:nvSpPr>
            <p:spPr bwMode="auto">
              <a:xfrm>
                <a:off x="4430"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68" name="Freeform 665"/>
              <p:cNvSpPr>
                <a:spLocks/>
              </p:cNvSpPr>
              <p:nvPr/>
            </p:nvSpPr>
            <p:spPr bwMode="auto">
              <a:xfrm>
                <a:off x="4441" y="2415"/>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69" name="Freeform 666"/>
              <p:cNvSpPr>
                <a:spLocks/>
              </p:cNvSpPr>
              <p:nvPr/>
            </p:nvSpPr>
            <p:spPr bwMode="auto">
              <a:xfrm>
                <a:off x="4472"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0" name="Freeform 667"/>
              <p:cNvSpPr>
                <a:spLocks/>
              </p:cNvSpPr>
              <p:nvPr/>
            </p:nvSpPr>
            <p:spPr bwMode="auto">
              <a:xfrm>
                <a:off x="1606" y="2375"/>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1" name="Freeform 668"/>
              <p:cNvSpPr>
                <a:spLocks/>
              </p:cNvSpPr>
              <p:nvPr/>
            </p:nvSpPr>
            <p:spPr bwMode="auto">
              <a:xfrm>
                <a:off x="1637" y="2375"/>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2" name="Freeform 669"/>
              <p:cNvSpPr>
                <a:spLocks/>
              </p:cNvSpPr>
              <p:nvPr/>
            </p:nvSpPr>
            <p:spPr bwMode="auto">
              <a:xfrm>
                <a:off x="1644"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3" name="Freeform 670"/>
              <p:cNvSpPr>
                <a:spLocks/>
              </p:cNvSpPr>
              <p:nvPr/>
            </p:nvSpPr>
            <p:spPr bwMode="auto">
              <a:xfrm>
                <a:off x="1702" y="2375"/>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4" name="Freeform 671"/>
              <p:cNvSpPr>
                <a:spLocks/>
              </p:cNvSpPr>
              <p:nvPr/>
            </p:nvSpPr>
            <p:spPr bwMode="auto">
              <a:xfrm>
                <a:off x="1709"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5" name="Freeform 672"/>
              <p:cNvSpPr>
                <a:spLocks/>
              </p:cNvSpPr>
              <p:nvPr/>
            </p:nvSpPr>
            <p:spPr bwMode="auto">
              <a:xfrm>
                <a:off x="1716"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6" name="Freeform 673"/>
              <p:cNvSpPr>
                <a:spLocks/>
              </p:cNvSpPr>
              <p:nvPr/>
            </p:nvSpPr>
            <p:spPr bwMode="auto">
              <a:xfrm>
                <a:off x="1726" y="2375"/>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7" name="Freeform 674"/>
              <p:cNvSpPr>
                <a:spLocks/>
              </p:cNvSpPr>
              <p:nvPr/>
            </p:nvSpPr>
            <p:spPr bwMode="auto">
              <a:xfrm>
                <a:off x="1747"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8" name="Freeform 675"/>
              <p:cNvSpPr>
                <a:spLocks/>
              </p:cNvSpPr>
              <p:nvPr/>
            </p:nvSpPr>
            <p:spPr bwMode="auto">
              <a:xfrm>
                <a:off x="1751" y="2375"/>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79" name="Freeform 676"/>
              <p:cNvSpPr>
                <a:spLocks/>
              </p:cNvSpPr>
              <p:nvPr/>
            </p:nvSpPr>
            <p:spPr bwMode="auto">
              <a:xfrm>
                <a:off x="1752"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80" name="Freeform 677"/>
              <p:cNvSpPr>
                <a:spLocks/>
              </p:cNvSpPr>
              <p:nvPr/>
            </p:nvSpPr>
            <p:spPr bwMode="auto">
              <a:xfrm>
                <a:off x="2498" y="237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81" name="Freeform 678"/>
              <p:cNvSpPr>
                <a:spLocks/>
              </p:cNvSpPr>
              <p:nvPr/>
            </p:nvSpPr>
            <p:spPr bwMode="auto">
              <a:xfrm>
                <a:off x="2503" y="2375"/>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2" name="Freeform 679"/>
              <p:cNvSpPr>
                <a:spLocks/>
              </p:cNvSpPr>
              <p:nvPr/>
            </p:nvSpPr>
            <p:spPr bwMode="auto">
              <a:xfrm>
                <a:off x="2508"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3" name="Freeform 680"/>
              <p:cNvSpPr>
                <a:spLocks/>
              </p:cNvSpPr>
              <p:nvPr/>
            </p:nvSpPr>
            <p:spPr bwMode="auto">
              <a:xfrm>
                <a:off x="2519" y="2375"/>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84" name="Freeform 681"/>
              <p:cNvSpPr>
                <a:spLocks/>
              </p:cNvSpPr>
              <p:nvPr/>
            </p:nvSpPr>
            <p:spPr bwMode="auto">
              <a:xfrm>
                <a:off x="2520" y="2375"/>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5" name="Freeform 682"/>
              <p:cNvSpPr>
                <a:spLocks/>
              </p:cNvSpPr>
              <p:nvPr/>
            </p:nvSpPr>
            <p:spPr bwMode="auto">
              <a:xfrm>
                <a:off x="2527" y="2375"/>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6" name="Freeform 683"/>
              <p:cNvSpPr>
                <a:spLocks/>
              </p:cNvSpPr>
              <p:nvPr/>
            </p:nvSpPr>
            <p:spPr bwMode="auto">
              <a:xfrm>
                <a:off x="2529"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87" name="Freeform 684"/>
              <p:cNvSpPr>
                <a:spLocks/>
              </p:cNvSpPr>
              <p:nvPr/>
            </p:nvSpPr>
            <p:spPr bwMode="auto">
              <a:xfrm>
                <a:off x="2534" y="2375"/>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8" name="Freeform 685"/>
              <p:cNvSpPr>
                <a:spLocks/>
              </p:cNvSpPr>
              <p:nvPr/>
            </p:nvSpPr>
            <p:spPr bwMode="auto">
              <a:xfrm>
                <a:off x="2538" y="237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89" name="Freeform 686"/>
              <p:cNvSpPr>
                <a:spLocks/>
              </p:cNvSpPr>
              <p:nvPr/>
            </p:nvSpPr>
            <p:spPr bwMode="auto">
              <a:xfrm>
                <a:off x="4331" y="2375"/>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90" name="Freeform 687"/>
              <p:cNvSpPr>
                <a:spLocks/>
              </p:cNvSpPr>
              <p:nvPr/>
            </p:nvSpPr>
            <p:spPr bwMode="auto">
              <a:xfrm>
                <a:off x="4336" y="2375"/>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91" name="Freeform 688"/>
              <p:cNvSpPr>
                <a:spLocks/>
              </p:cNvSpPr>
              <p:nvPr/>
            </p:nvSpPr>
            <p:spPr bwMode="auto">
              <a:xfrm>
                <a:off x="4339"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2" name="Freeform 689"/>
              <p:cNvSpPr>
                <a:spLocks/>
              </p:cNvSpPr>
              <p:nvPr/>
            </p:nvSpPr>
            <p:spPr bwMode="auto">
              <a:xfrm>
                <a:off x="4346"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3" name="Freeform 690"/>
              <p:cNvSpPr>
                <a:spLocks/>
              </p:cNvSpPr>
              <p:nvPr/>
            </p:nvSpPr>
            <p:spPr bwMode="auto">
              <a:xfrm>
                <a:off x="4348" y="2375"/>
                <a:ext cx="10" cy="9"/>
              </a:xfrm>
              <a:custGeom>
                <a:avLst/>
                <a:gdLst>
                  <a:gd name="T0" fmla="*/ 4 w 10"/>
                  <a:gd name="T1" fmla="*/ 0 h 9"/>
                  <a:gd name="T2" fmla="*/ 9 w 10"/>
                  <a:gd name="T3" fmla="*/ 0 h 9"/>
                  <a:gd name="T4" fmla="*/ 10 w 10"/>
                  <a:gd name="T5" fmla="*/ 2 h 9"/>
                  <a:gd name="T6" fmla="*/ 10 w 10"/>
                  <a:gd name="T7" fmla="*/ 7 h 9"/>
                  <a:gd name="T8" fmla="*/ 9 w 10"/>
                  <a:gd name="T9" fmla="*/ 9 h 9"/>
                  <a:gd name="T10" fmla="*/ 4 w 10"/>
                  <a:gd name="T11" fmla="*/ 9 h 9"/>
                  <a:gd name="T12" fmla="*/ 0 w 10"/>
                  <a:gd name="T13" fmla="*/ 5 h 9"/>
                  <a:gd name="T14" fmla="*/ 0 w 10"/>
                  <a:gd name="T15" fmla="*/ 3 h 9"/>
                  <a:gd name="T16" fmla="*/ 4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4" y="0"/>
                    </a:moveTo>
                    <a:lnTo>
                      <a:pt x="9" y="0"/>
                    </a:lnTo>
                    <a:lnTo>
                      <a:pt x="10" y="2"/>
                    </a:lnTo>
                    <a:lnTo>
                      <a:pt x="10"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4" name="Freeform 691"/>
              <p:cNvSpPr>
                <a:spLocks/>
              </p:cNvSpPr>
              <p:nvPr/>
            </p:nvSpPr>
            <p:spPr bwMode="auto">
              <a:xfrm>
                <a:off x="4352" y="2375"/>
                <a:ext cx="8" cy="9"/>
              </a:xfrm>
              <a:custGeom>
                <a:avLst/>
                <a:gdLst>
                  <a:gd name="T0" fmla="*/ 1 w 8"/>
                  <a:gd name="T1" fmla="*/ 0 h 9"/>
                  <a:gd name="T2" fmla="*/ 6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95" name="Freeform 692"/>
              <p:cNvSpPr>
                <a:spLocks/>
              </p:cNvSpPr>
              <p:nvPr/>
            </p:nvSpPr>
            <p:spPr bwMode="auto">
              <a:xfrm>
                <a:off x="4386"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6" name="Freeform 693"/>
              <p:cNvSpPr>
                <a:spLocks/>
              </p:cNvSpPr>
              <p:nvPr/>
            </p:nvSpPr>
            <p:spPr bwMode="auto">
              <a:xfrm>
                <a:off x="4395"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7" name="Freeform 694"/>
              <p:cNvSpPr>
                <a:spLocks/>
              </p:cNvSpPr>
              <p:nvPr/>
            </p:nvSpPr>
            <p:spPr bwMode="auto">
              <a:xfrm>
                <a:off x="5182"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98" name="Freeform 695"/>
              <p:cNvSpPr>
                <a:spLocks/>
              </p:cNvSpPr>
              <p:nvPr/>
            </p:nvSpPr>
            <p:spPr bwMode="auto">
              <a:xfrm>
                <a:off x="1574"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99" name="Freeform 696"/>
              <p:cNvSpPr>
                <a:spLocks/>
              </p:cNvSpPr>
              <p:nvPr/>
            </p:nvSpPr>
            <p:spPr bwMode="auto">
              <a:xfrm>
                <a:off x="159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0" name="Freeform 697"/>
              <p:cNvSpPr>
                <a:spLocks/>
              </p:cNvSpPr>
              <p:nvPr/>
            </p:nvSpPr>
            <p:spPr bwMode="auto">
              <a:xfrm>
                <a:off x="1599"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1" name="Freeform 698"/>
              <p:cNvSpPr>
                <a:spLocks/>
              </p:cNvSpPr>
              <p:nvPr/>
            </p:nvSpPr>
            <p:spPr bwMode="auto">
              <a:xfrm>
                <a:off x="1622"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02" name="Freeform 699"/>
              <p:cNvSpPr>
                <a:spLocks/>
              </p:cNvSpPr>
              <p:nvPr/>
            </p:nvSpPr>
            <p:spPr bwMode="auto">
              <a:xfrm>
                <a:off x="1641" y="233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03" name="Freeform 700"/>
              <p:cNvSpPr>
                <a:spLocks/>
              </p:cNvSpPr>
              <p:nvPr/>
            </p:nvSpPr>
            <p:spPr bwMode="auto">
              <a:xfrm>
                <a:off x="1646"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4" name="Freeform 701"/>
              <p:cNvSpPr>
                <a:spLocks/>
              </p:cNvSpPr>
              <p:nvPr/>
            </p:nvSpPr>
            <p:spPr bwMode="auto">
              <a:xfrm>
                <a:off x="1815"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5" name="Freeform 702"/>
              <p:cNvSpPr>
                <a:spLocks/>
              </p:cNvSpPr>
              <p:nvPr/>
            </p:nvSpPr>
            <p:spPr bwMode="auto">
              <a:xfrm>
                <a:off x="247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6" name="Freeform 703"/>
              <p:cNvSpPr>
                <a:spLocks/>
              </p:cNvSpPr>
              <p:nvPr/>
            </p:nvSpPr>
            <p:spPr bwMode="auto">
              <a:xfrm>
                <a:off x="2487"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7" name="Freeform 704"/>
              <p:cNvSpPr>
                <a:spLocks/>
              </p:cNvSpPr>
              <p:nvPr/>
            </p:nvSpPr>
            <p:spPr bwMode="auto">
              <a:xfrm>
                <a:off x="2489"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08" name="Freeform 705"/>
              <p:cNvSpPr>
                <a:spLocks/>
              </p:cNvSpPr>
              <p:nvPr/>
            </p:nvSpPr>
            <p:spPr bwMode="auto">
              <a:xfrm>
                <a:off x="2512"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9" name="Freeform 706"/>
              <p:cNvSpPr>
                <a:spLocks/>
              </p:cNvSpPr>
              <p:nvPr/>
            </p:nvSpPr>
            <p:spPr bwMode="auto">
              <a:xfrm>
                <a:off x="251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0" name="Freeform 707"/>
              <p:cNvSpPr>
                <a:spLocks/>
              </p:cNvSpPr>
              <p:nvPr/>
            </p:nvSpPr>
            <p:spPr bwMode="auto">
              <a:xfrm>
                <a:off x="2520"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1" name="Freeform 708"/>
              <p:cNvSpPr>
                <a:spLocks/>
              </p:cNvSpPr>
              <p:nvPr/>
            </p:nvSpPr>
            <p:spPr bwMode="auto">
              <a:xfrm>
                <a:off x="2527"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2" name="Freeform 709"/>
              <p:cNvSpPr>
                <a:spLocks/>
              </p:cNvSpPr>
              <p:nvPr/>
            </p:nvSpPr>
            <p:spPr bwMode="auto">
              <a:xfrm>
                <a:off x="2529"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13" name="Freeform 710"/>
              <p:cNvSpPr>
                <a:spLocks/>
              </p:cNvSpPr>
              <p:nvPr/>
            </p:nvSpPr>
            <p:spPr bwMode="auto">
              <a:xfrm>
                <a:off x="2533"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14" name="Freeform 711"/>
              <p:cNvSpPr>
                <a:spLocks/>
              </p:cNvSpPr>
              <p:nvPr/>
            </p:nvSpPr>
            <p:spPr bwMode="auto">
              <a:xfrm>
                <a:off x="2534" y="233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5" name="Freeform 712"/>
              <p:cNvSpPr>
                <a:spLocks/>
              </p:cNvSpPr>
              <p:nvPr/>
            </p:nvSpPr>
            <p:spPr bwMode="auto">
              <a:xfrm>
                <a:off x="2538" y="233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16" name="Freeform 713"/>
              <p:cNvSpPr>
                <a:spLocks/>
              </p:cNvSpPr>
              <p:nvPr/>
            </p:nvSpPr>
            <p:spPr bwMode="auto">
              <a:xfrm>
                <a:off x="2552" y="2335"/>
                <a:ext cx="10" cy="10"/>
              </a:xfrm>
              <a:custGeom>
                <a:avLst/>
                <a:gdLst>
                  <a:gd name="T0" fmla="*/ 2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9" y="0"/>
                    </a:lnTo>
                    <a:lnTo>
                      <a:pt x="10" y="1"/>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7" name="Freeform 714"/>
              <p:cNvSpPr>
                <a:spLocks/>
              </p:cNvSpPr>
              <p:nvPr/>
            </p:nvSpPr>
            <p:spPr bwMode="auto">
              <a:xfrm>
                <a:off x="2561" y="233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18" name="Freeform 715"/>
              <p:cNvSpPr>
                <a:spLocks/>
              </p:cNvSpPr>
              <p:nvPr/>
            </p:nvSpPr>
            <p:spPr bwMode="auto">
              <a:xfrm>
                <a:off x="2793"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9" name="Freeform 716"/>
              <p:cNvSpPr>
                <a:spLocks/>
              </p:cNvSpPr>
              <p:nvPr/>
            </p:nvSpPr>
            <p:spPr bwMode="auto">
              <a:xfrm>
                <a:off x="3282" y="233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20" name="Freeform 717"/>
              <p:cNvSpPr>
                <a:spLocks/>
              </p:cNvSpPr>
              <p:nvPr/>
            </p:nvSpPr>
            <p:spPr bwMode="auto">
              <a:xfrm>
                <a:off x="3290"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21" name="Freeform 718"/>
              <p:cNvSpPr>
                <a:spLocks/>
              </p:cNvSpPr>
              <p:nvPr/>
            </p:nvSpPr>
            <p:spPr bwMode="auto">
              <a:xfrm>
                <a:off x="3320"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2" name="Freeform 719"/>
              <p:cNvSpPr>
                <a:spLocks/>
              </p:cNvSpPr>
              <p:nvPr/>
            </p:nvSpPr>
            <p:spPr bwMode="auto">
              <a:xfrm>
                <a:off x="3325"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3" name="Freeform 720"/>
              <p:cNvSpPr>
                <a:spLocks/>
              </p:cNvSpPr>
              <p:nvPr/>
            </p:nvSpPr>
            <p:spPr bwMode="auto">
              <a:xfrm>
                <a:off x="332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4" name="Freeform 721"/>
              <p:cNvSpPr>
                <a:spLocks/>
              </p:cNvSpPr>
              <p:nvPr/>
            </p:nvSpPr>
            <p:spPr bwMode="auto">
              <a:xfrm>
                <a:off x="3341"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5" name="Freeform 722"/>
              <p:cNvSpPr>
                <a:spLocks/>
              </p:cNvSpPr>
              <p:nvPr/>
            </p:nvSpPr>
            <p:spPr bwMode="auto">
              <a:xfrm>
                <a:off x="3528"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26" name="Freeform 723"/>
              <p:cNvSpPr>
                <a:spLocks/>
              </p:cNvSpPr>
              <p:nvPr/>
            </p:nvSpPr>
            <p:spPr bwMode="auto">
              <a:xfrm>
                <a:off x="3538"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27" name="Freeform 724"/>
              <p:cNvSpPr>
                <a:spLocks/>
              </p:cNvSpPr>
              <p:nvPr/>
            </p:nvSpPr>
            <p:spPr bwMode="auto">
              <a:xfrm>
                <a:off x="4191"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8" name="Freeform 725"/>
              <p:cNvSpPr>
                <a:spLocks/>
              </p:cNvSpPr>
              <p:nvPr/>
            </p:nvSpPr>
            <p:spPr bwMode="auto">
              <a:xfrm>
                <a:off x="4198"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9" name="Freeform 726"/>
              <p:cNvSpPr>
                <a:spLocks/>
              </p:cNvSpPr>
              <p:nvPr/>
            </p:nvSpPr>
            <p:spPr bwMode="auto">
              <a:xfrm>
                <a:off x="4200"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30" name="Freeform 727"/>
              <p:cNvSpPr>
                <a:spLocks/>
              </p:cNvSpPr>
              <p:nvPr/>
            </p:nvSpPr>
            <p:spPr bwMode="auto">
              <a:xfrm>
                <a:off x="4240"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1" name="Freeform 728"/>
              <p:cNvSpPr>
                <a:spLocks/>
              </p:cNvSpPr>
              <p:nvPr/>
            </p:nvSpPr>
            <p:spPr bwMode="auto">
              <a:xfrm>
                <a:off x="4416"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2" name="Freeform 729"/>
              <p:cNvSpPr>
                <a:spLocks/>
              </p:cNvSpPr>
              <p:nvPr/>
            </p:nvSpPr>
            <p:spPr bwMode="auto">
              <a:xfrm>
                <a:off x="4519"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3" name="Freeform 730"/>
              <p:cNvSpPr>
                <a:spLocks/>
              </p:cNvSpPr>
              <p:nvPr/>
            </p:nvSpPr>
            <p:spPr bwMode="auto">
              <a:xfrm>
                <a:off x="5195" y="233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34" name="Freeform 731"/>
              <p:cNvSpPr>
                <a:spLocks/>
              </p:cNvSpPr>
              <p:nvPr/>
            </p:nvSpPr>
            <p:spPr bwMode="auto">
              <a:xfrm>
                <a:off x="1227"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5" name="Freeform 732"/>
              <p:cNvSpPr>
                <a:spLocks/>
              </p:cNvSpPr>
              <p:nvPr/>
            </p:nvSpPr>
            <p:spPr bwMode="auto">
              <a:xfrm>
                <a:off x="1274"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6" name="Freeform 733"/>
              <p:cNvSpPr>
                <a:spLocks/>
              </p:cNvSpPr>
              <p:nvPr/>
            </p:nvSpPr>
            <p:spPr bwMode="auto">
              <a:xfrm>
                <a:off x="1559" y="229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37" name="Freeform 734"/>
              <p:cNvSpPr>
                <a:spLocks/>
              </p:cNvSpPr>
              <p:nvPr/>
            </p:nvSpPr>
            <p:spPr bwMode="auto">
              <a:xfrm>
                <a:off x="1576"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38" name="Freeform 735"/>
              <p:cNvSpPr>
                <a:spLocks/>
              </p:cNvSpPr>
              <p:nvPr/>
            </p:nvSpPr>
            <p:spPr bwMode="auto">
              <a:xfrm>
                <a:off x="1581" y="229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9" name="Freeform 736"/>
              <p:cNvSpPr>
                <a:spLocks/>
              </p:cNvSpPr>
              <p:nvPr/>
            </p:nvSpPr>
            <p:spPr bwMode="auto">
              <a:xfrm>
                <a:off x="1583"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40" name="Freeform 737"/>
              <p:cNvSpPr>
                <a:spLocks/>
              </p:cNvSpPr>
              <p:nvPr/>
            </p:nvSpPr>
            <p:spPr bwMode="auto">
              <a:xfrm>
                <a:off x="1641" y="229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1" name="Freeform 738"/>
              <p:cNvSpPr>
                <a:spLocks/>
              </p:cNvSpPr>
              <p:nvPr/>
            </p:nvSpPr>
            <p:spPr bwMode="auto">
              <a:xfrm>
                <a:off x="1667"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42" name="Freeform 739"/>
              <p:cNvSpPr>
                <a:spLocks/>
              </p:cNvSpPr>
              <p:nvPr/>
            </p:nvSpPr>
            <p:spPr bwMode="auto">
              <a:xfrm>
                <a:off x="2498"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3" name="Freeform 740"/>
              <p:cNvSpPr>
                <a:spLocks/>
              </p:cNvSpPr>
              <p:nvPr/>
            </p:nvSpPr>
            <p:spPr bwMode="auto">
              <a:xfrm>
                <a:off x="2512" y="229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44" name="Freeform 741"/>
              <p:cNvSpPr>
                <a:spLocks/>
              </p:cNvSpPr>
              <p:nvPr/>
            </p:nvSpPr>
            <p:spPr bwMode="auto">
              <a:xfrm>
                <a:off x="2526" y="229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45" name="Freeform 742"/>
              <p:cNvSpPr>
                <a:spLocks/>
              </p:cNvSpPr>
              <p:nvPr/>
            </p:nvSpPr>
            <p:spPr bwMode="auto">
              <a:xfrm>
                <a:off x="2538"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6" name="Freeform 743"/>
              <p:cNvSpPr>
                <a:spLocks/>
              </p:cNvSpPr>
              <p:nvPr/>
            </p:nvSpPr>
            <p:spPr bwMode="auto">
              <a:xfrm>
                <a:off x="2545"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7" name="Freeform 744"/>
              <p:cNvSpPr>
                <a:spLocks/>
              </p:cNvSpPr>
              <p:nvPr/>
            </p:nvSpPr>
            <p:spPr bwMode="auto">
              <a:xfrm>
                <a:off x="2554" y="229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8" name="Freeform 745"/>
              <p:cNvSpPr>
                <a:spLocks/>
              </p:cNvSpPr>
              <p:nvPr/>
            </p:nvSpPr>
            <p:spPr bwMode="auto">
              <a:xfrm>
                <a:off x="2564"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49" name="Freeform 746"/>
              <p:cNvSpPr>
                <a:spLocks/>
              </p:cNvSpPr>
              <p:nvPr/>
            </p:nvSpPr>
            <p:spPr bwMode="auto">
              <a:xfrm>
                <a:off x="2585"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50" name="Freeform 747"/>
              <p:cNvSpPr>
                <a:spLocks/>
              </p:cNvSpPr>
              <p:nvPr/>
            </p:nvSpPr>
            <p:spPr bwMode="auto">
              <a:xfrm>
                <a:off x="3173" y="229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1" name="Freeform 748"/>
              <p:cNvSpPr>
                <a:spLocks/>
              </p:cNvSpPr>
              <p:nvPr/>
            </p:nvSpPr>
            <p:spPr bwMode="auto">
              <a:xfrm>
                <a:off x="3287" y="2295"/>
                <a:ext cx="8" cy="10"/>
              </a:xfrm>
              <a:custGeom>
                <a:avLst/>
                <a:gdLst>
                  <a:gd name="T0" fmla="*/ 2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1"/>
                    </a:lnTo>
                    <a:lnTo>
                      <a:pt x="8"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2" name="Freeform 749"/>
              <p:cNvSpPr>
                <a:spLocks/>
              </p:cNvSpPr>
              <p:nvPr/>
            </p:nvSpPr>
            <p:spPr bwMode="auto">
              <a:xfrm>
                <a:off x="3295" y="229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3" name="Freeform 750"/>
              <p:cNvSpPr>
                <a:spLocks/>
              </p:cNvSpPr>
              <p:nvPr/>
            </p:nvSpPr>
            <p:spPr bwMode="auto">
              <a:xfrm>
                <a:off x="3320" y="229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4" name="Freeform 751"/>
              <p:cNvSpPr>
                <a:spLocks/>
              </p:cNvSpPr>
              <p:nvPr/>
            </p:nvSpPr>
            <p:spPr bwMode="auto">
              <a:xfrm>
                <a:off x="3522"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55" name="Freeform 752"/>
              <p:cNvSpPr>
                <a:spLocks/>
              </p:cNvSpPr>
              <p:nvPr/>
            </p:nvSpPr>
            <p:spPr bwMode="auto">
              <a:xfrm>
                <a:off x="3587"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56" name="Freeform 753"/>
              <p:cNvSpPr>
                <a:spLocks/>
              </p:cNvSpPr>
              <p:nvPr/>
            </p:nvSpPr>
            <p:spPr bwMode="auto">
              <a:xfrm>
                <a:off x="3657" y="229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7" name="Freeform 754"/>
              <p:cNvSpPr>
                <a:spLocks/>
              </p:cNvSpPr>
              <p:nvPr/>
            </p:nvSpPr>
            <p:spPr bwMode="auto">
              <a:xfrm>
                <a:off x="4139" y="229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58" name="Freeform 755"/>
              <p:cNvSpPr>
                <a:spLocks/>
              </p:cNvSpPr>
              <p:nvPr/>
            </p:nvSpPr>
            <p:spPr bwMode="auto">
              <a:xfrm>
                <a:off x="4187"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59" name="Freeform 756"/>
              <p:cNvSpPr>
                <a:spLocks/>
              </p:cNvSpPr>
              <p:nvPr/>
            </p:nvSpPr>
            <p:spPr bwMode="auto">
              <a:xfrm>
                <a:off x="4194"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60" name="Freeform 757"/>
              <p:cNvSpPr>
                <a:spLocks/>
              </p:cNvSpPr>
              <p:nvPr/>
            </p:nvSpPr>
            <p:spPr bwMode="auto">
              <a:xfrm>
                <a:off x="4208"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61" name="Freeform 758"/>
              <p:cNvSpPr>
                <a:spLocks/>
              </p:cNvSpPr>
              <p:nvPr/>
            </p:nvSpPr>
            <p:spPr bwMode="auto">
              <a:xfrm>
                <a:off x="4224"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62" name="Freeform 759"/>
              <p:cNvSpPr>
                <a:spLocks/>
              </p:cNvSpPr>
              <p:nvPr/>
            </p:nvSpPr>
            <p:spPr bwMode="auto">
              <a:xfrm>
                <a:off x="4242" y="229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63" name="Freeform 760"/>
              <p:cNvSpPr>
                <a:spLocks/>
              </p:cNvSpPr>
              <p:nvPr/>
            </p:nvSpPr>
            <p:spPr bwMode="auto">
              <a:xfrm>
                <a:off x="4243"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64" name="Freeform 761"/>
              <p:cNvSpPr>
                <a:spLocks/>
              </p:cNvSpPr>
              <p:nvPr/>
            </p:nvSpPr>
            <p:spPr bwMode="auto">
              <a:xfrm>
                <a:off x="4257"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65" name="Freeform 762"/>
              <p:cNvSpPr>
                <a:spLocks/>
              </p:cNvSpPr>
              <p:nvPr/>
            </p:nvSpPr>
            <p:spPr bwMode="auto">
              <a:xfrm>
                <a:off x="4290"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66" name="Freeform 763"/>
              <p:cNvSpPr>
                <a:spLocks/>
              </p:cNvSpPr>
              <p:nvPr/>
            </p:nvSpPr>
            <p:spPr bwMode="auto">
              <a:xfrm>
                <a:off x="4304"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67" name="Freeform 764"/>
              <p:cNvSpPr>
                <a:spLocks/>
              </p:cNvSpPr>
              <p:nvPr/>
            </p:nvSpPr>
            <p:spPr bwMode="auto">
              <a:xfrm>
                <a:off x="4411"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68" name="Freeform 765"/>
              <p:cNvSpPr>
                <a:spLocks/>
              </p:cNvSpPr>
              <p:nvPr/>
            </p:nvSpPr>
            <p:spPr bwMode="auto">
              <a:xfrm>
                <a:off x="1444" y="2254"/>
                <a:ext cx="8" cy="11"/>
              </a:xfrm>
              <a:custGeom>
                <a:avLst/>
                <a:gdLst>
                  <a:gd name="T0" fmla="*/ 3 w 8"/>
                  <a:gd name="T1" fmla="*/ 0 h 11"/>
                  <a:gd name="T2" fmla="*/ 5 w 8"/>
                  <a:gd name="T3" fmla="*/ 0 h 11"/>
                  <a:gd name="T4" fmla="*/ 8 w 8"/>
                  <a:gd name="T5" fmla="*/ 4 h 11"/>
                  <a:gd name="T6" fmla="*/ 8 w 8"/>
                  <a:gd name="T7" fmla="*/ 9 h 11"/>
                  <a:gd name="T8" fmla="*/ 6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6"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69" name="Freeform 766"/>
              <p:cNvSpPr>
                <a:spLocks/>
              </p:cNvSpPr>
              <p:nvPr/>
            </p:nvSpPr>
            <p:spPr bwMode="auto">
              <a:xfrm>
                <a:off x="1559"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0" name="Freeform 767"/>
              <p:cNvSpPr>
                <a:spLocks/>
              </p:cNvSpPr>
              <p:nvPr/>
            </p:nvSpPr>
            <p:spPr bwMode="auto">
              <a:xfrm>
                <a:off x="1613"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1" name="Freeform 768"/>
              <p:cNvSpPr>
                <a:spLocks/>
              </p:cNvSpPr>
              <p:nvPr/>
            </p:nvSpPr>
            <p:spPr bwMode="auto">
              <a:xfrm>
                <a:off x="1620"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2" name="Freeform 769"/>
              <p:cNvSpPr>
                <a:spLocks/>
              </p:cNvSpPr>
              <p:nvPr/>
            </p:nvSpPr>
            <p:spPr bwMode="auto">
              <a:xfrm>
                <a:off x="1653"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3" name="Freeform 770"/>
              <p:cNvSpPr>
                <a:spLocks/>
              </p:cNvSpPr>
              <p:nvPr/>
            </p:nvSpPr>
            <p:spPr bwMode="auto">
              <a:xfrm>
                <a:off x="1667"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4" name="Freeform 771"/>
              <p:cNvSpPr>
                <a:spLocks/>
              </p:cNvSpPr>
              <p:nvPr/>
            </p:nvSpPr>
            <p:spPr bwMode="auto">
              <a:xfrm>
                <a:off x="2397"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5" name="Freeform 772"/>
              <p:cNvSpPr>
                <a:spLocks/>
              </p:cNvSpPr>
              <p:nvPr/>
            </p:nvSpPr>
            <p:spPr bwMode="auto">
              <a:xfrm>
                <a:off x="2517"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6" name="Freeform 773"/>
              <p:cNvSpPr>
                <a:spLocks/>
              </p:cNvSpPr>
              <p:nvPr/>
            </p:nvSpPr>
            <p:spPr bwMode="auto">
              <a:xfrm>
                <a:off x="2534" y="2254"/>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77" name="Freeform 774"/>
              <p:cNvSpPr>
                <a:spLocks/>
              </p:cNvSpPr>
              <p:nvPr/>
            </p:nvSpPr>
            <p:spPr bwMode="auto">
              <a:xfrm>
                <a:off x="2548" y="2254"/>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78" name="Freeform 775"/>
              <p:cNvSpPr>
                <a:spLocks/>
              </p:cNvSpPr>
              <p:nvPr/>
            </p:nvSpPr>
            <p:spPr bwMode="auto">
              <a:xfrm>
                <a:off x="2554" y="2254"/>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9" name="Freeform 776"/>
              <p:cNvSpPr>
                <a:spLocks/>
              </p:cNvSpPr>
              <p:nvPr/>
            </p:nvSpPr>
            <p:spPr bwMode="auto">
              <a:xfrm>
                <a:off x="2569" y="2254"/>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80" name="Freeform 777"/>
              <p:cNvSpPr>
                <a:spLocks/>
              </p:cNvSpPr>
              <p:nvPr/>
            </p:nvSpPr>
            <p:spPr bwMode="auto">
              <a:xfrm>
                <a:off x="2582"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1" name="Freeform 778"/>
              <p:cNvSpPr>
                <a:spLocks/>
              </p:cNvSpPr>
              <p:nvPr/>
            </p:nvSpPr>
            <p:spPr bwMode="auto">
              <a:xfrm>
                <a:off x="3301"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2" name="Freeform 779"/>
              <p:cNvSpPr>
                <a:spLocks/>
              </p:cNvSpPr>
              <p:nvPr/>
            </p:nvSpPr>
            <p:spPr bwMode="auto">
              <a:xfrm>
                <a:off x="3320"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3" name="Freeform 780"/>
              <p:cNvSpPr>
                <a:spLocks/>
              </p:cNvSpPr>
              <p:nvPr/>
            </p:nvSpPr>
            <p:spPr bwMode="auto">
              <a:xfrm>
                <a:off x="3336"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4" name="Freeform 781"/>
              <p:cNvSpPr>
                <a:spLocks/>
              </p:cNvSpPr>
              <p:nvPr/>
            </p:nvSpPr>
            <p:spPr bwMode="auto">
              <a:xfrm>
                <a:off x="3337" y="2254"/>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85" name="Freeform 782"/>
              <p:cNvSpPr>
                <a:spLocks/>
              </p:cNvSpPr>
              <p:nvPr/>
            </p:nvSpPr>
            <p:spPr bwMode="auto">
              <a:xfrm>
                <a:off x="3536" y="2254"/>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86" name="Freeform 783"/>
              <p:cNvSpPr>
                <a:spLocks/>
              </p:cNvSpPr>
              <p:nvPr/>
            </p:nvSpPr>
            <p:spPr bwMode="auto">
              <a:xfrm>
                <a:off x="3549"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7" name="Freeform 784"/>
              <p:cNvSpPr>
                <a:spLocks/>
              </p:cNvSpPr>
              <p:nvPr/>
            </p:nvSpPr>
            <p:spPr bwMode="auto">
              <a:xfrm>
                <a:off x="3681" y="2254"/>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88" name="Freeform 785"/>
              <p:cNvSpPr>
                <a:spLocks/>
              </p:cNvSpPr>
              <p:nvPr/>
            </p:nvSpPr>
            <p:spPr bwMode="auto">
              <a:xfrm>
                <a:off x="3889"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9" name="Freeform 786"/>
              <p:cNvSpPr>
                <a:spLocks/>
              </p:cNvSpPr>
              <p:nvPr/>
            </p:nvSpPr>
            <p:spPr bwMode="auto">
              <a:xfrm>
                <a:off x="3919"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90" name="Freeform 787"/>
              <p:cNvSpPr>
                <a:spLocks/>
              </p:cNvSpPr>
              <p:nvPr/>
            </p:nvSpPr>
            <p:spPr bwMode="auto">
              <a:xfrm>
                <a:off x="3962" y="2254"/>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91" name="Freeform 788"/>
              <p:cNvSpPr>
                <a:spLocks/>
              </p:cNvSpPr>
              <p:nvPr/>
            </p:nvSpPr>
            <p:spPr bwMode="auto">
              <a:xfrm>
                <a:off x="3983" y="2254"/>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92" name="Freeform 789"/>
              <p:cNvSpPr>
                <a:spLocks/>
              </p:cNvSpPr>
              <p:nvPr/>
            </p:nvSpPr>
            <p:spPr bwMode="auto">
              <a:xfrm>
                <a:off x="4123" y="2254"/>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93" name="Freeform 790"/>
              <p:cNvSpPr>
                <a:spLocks/>
              </p:cNvSpPr>
              <p:nvPr/>
            </p:nvSpPr>
            <p:spPr bwMode="auto">
              <a:xfrm>
                <a:off x="4479"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94" name="Freeform 791"/>
              <p:cNvSpPr>
                <a:spLocks/>
              </p:cNvSpPr>
              <p:nvPr/>
            </p:nvSpPr>
            <p:spPr bwMode="auto">
              <a:xfrm>
                <a:off x="1583"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95" name="Freeform 792"/>
              <p:cNvSpPr>
                <a:spLocks/>
              </p:cNvSpPr>
              <p:nvPr/>
            </p:nvSpPr>
            <p:spPr bwMode="auto">
              <a:xfrm>
                <a:off x="1592" y="2216"/>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96" name="Freeform 793"/>
              <p:cNvSpPr>
                <a:spLocks/>
              </p:cNvSpPr>
              <p:nvPr/>
            </p:nvSpPr>
            <p:spPr bwMode="auto">
              <a:xfrm>
                <a:off x="1595" y="2216"/>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97" name="Freeform 794"/>
              <p:cNvSpPr>
                <a:spLocks/>
              </p:cNvSpPr>
              <p:nvPr/>
            </p:nvSpPr>
            <p:spPr bwMode="auto">
              <a:xfrm>
                <a:off x="1608" y="221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98" name="Freeform 795"/>
              <p:cNvSpPr>
                <a:spLocks/>
              </p:cNvSpPr>
              <p:nvPr/>
            </p:nvSpPr>
            <p:spPr bwMode="auto">
              <a:xfrm>
                <a:off x="1622" y="2216"/>
                <a:ext cx="8" cy="9"/>
              </a:xfrm>
              <a:custGeom>
                <a:avLst/>
                <a:gdLst>
                  <a:gd name="T0" fmla="*/ 1 w 8"/>
                  <a:gd name="T1" fmla="*/ 0 h 9"/>
                  <a:gd name="T2" fmla="*/ 5 w 8"/>
                  <a:gd name="T3" fmla="*/ 0 h 9"/>
                  <a:gd name="T4" fmla="*/ 8 w 8"/>
                  <a:gd name="T5" fmla="*/ 3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3"/>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99" name="Freeform 796"/>
              <p:cNvSpPr>
                <a:spLocks/>
              </p:cNvSpPr>
              <p:nvPr/>
            </p:nvSpPr>
            <p:spPr bwMode="auto">
              <a:xfrm>
                <a:off x="1749"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0" name="Freeform 797"/>
              <p:cNvSpPr>
                <a:spLocks/>
              </p:cNvSpPr>
              <p:nvPr/>
            </p:nvSpPr>
            <p:spPr bwMode="auto">
              <a:xfrm>
                <a:off x="1824"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01" name="Freeform 798"/>
              <p:cNvSpPr>
                <a:spLocks/>
              </p:cNvSpPr>
              <p:nvPr/>
            </p:nvSpPr>
            <p:spPr bwMode="auto">
              <a:xfrm>
                <a:off x="1840" y="221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02" name="Freeform 799"/>
              <p:cNvSpPr>
                <a:spLocks/>
              </p:cNvSpPr>
              <p:nvPr/>
            </p:nvSpPr>
            <p:spPr bwMode="auto">
              <a:xfrm>
                <a:off x="1875" y="2216"/>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3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03" name="Freeform 800"/>
              <p:cNvSpPr>
                <a:spLocks/>
              </p:cNvSpPr>
              <p:nvPr/>
            </p:nvSpPr>
            <p:spPr bwMode="auto">
              <a:xfrm>
                <a:off x="1965"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4" name="Freeform 801"/>
              <p:cNvSpPr>
                <a:spLocks/>
              </p:cNvSpPr>
              <p:nvPr/>
            </p:nvSpPr>
            <p:spPr bwMode="auto">
              <a:xfrm>
                <a:off x="2543"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5" name="Freeform 802"/>
              <p:cNvSpPr>
                <a:spLocks/>
              </p:cNvSpPr>
              <p:nvPr/>
            </p:nvSpPr>
            <p:spPr bwMode="auto">
              <a:xfrm>
                <a:off x="2552" y="2216"/>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6" name="Freeform 803"/>
              <p:cNvSpPr>
                <a:spLocks/>
              </p:cNvSpPr>
              <p:nvPr/>
            </p:nvSpPr>
            <p:spPr bwMode="auto">
              <a:xfrm>
                <a:off x="2568" y="221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07" name="Freeform 804"/>
              <p:cNvSpPr>
                <a:spLocks/>
              </p:cNvSpPr>
              <p:nvPr/>
            </p:nvSpPr>
            <p:spPr bwMode="auto">
              <a:xfrm>
                <a:off x="3030"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8" name="Freeform 805"/>
              <p:cNvSpPr>
                <a:spLocks/>
              </p:cNvSpPr>
              <p:nvPr/>
            </p:nvSpPr>
            <p:spPr bwMode="auto">
              <a:xfrm>
                <a:off x="3198" y="2216"/>
                <a:ext cx="8" cy="9"/>
              </a:xfrm>
              <a:custGeom>
                <a:avLst/>
                <a:gdLst>
                  <a:gd name="T0" fmla="*/ 1 w 8"/>
                  <a:gd name="T1" fmla="*/ 0 h 9"/>
                  <a:gd name="T2" fmla="*/ 5 w 8"/>
                  <a:gd name="T3" fmla="*/ 0 h 9"/>
                  <a:gd name="T4" fmla="*/ 8 w 8"/>
                  <a:gd name="T5" fmla="*/ 3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3"/>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09" name="Freeform 806"/>
              <p:cNvSpPr>
                <a:spLocks/>
              </p:cNvSpPr>
              <p:nvPr/>
            </p:nvSpPr>
            <p:spPr bwMode="auto">
              <a:xfrm>
                <a:off x="3201"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10" name="Freeform 807"/>
              <p:cNvSpPr>
                <a:spLocks/>
              </p:cNvSpPr>
              <p:nvPr/>
            </p:nvSpPr>
            <p:spPr bwMode="auto">
              <a:xfrm>
                <a:off x="3238" y="2216"/>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6" name="Group 1009"/>
            <p:cNvGrpSpPr>
              <a:grpSpLocks/>
            </p:cNvGrpSpPr>
            <p:nvPr/>
          </p:nvGrpSpPr>
          <p:grpSpPr bwMode="auto">
            <a:xfrm>
              <a:off x="1543151" y="3138592"/>
              <a:ext cx="6218638" cy="393713"/>
              <a:chOff x="972" y="1977"/>
              <a:chExt cx="3917" cy="248"/>
            </a:xfrm>
          </p:grpSpPr>
          <p:sp>
            <p:nvSpPr>
              <p:cNvPr id="1891" name="Freeform 809"/>
              <p:cNvSpPr>
                <a:spLocks/>
              </p:cNvSpPr>
              <p:nvPr/>
            </p:nvSpPr>
            <p:spPr bwMode="auto">
              <a:xfrm>
                <a:off x="3271"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92" name="Freeform 810"/>
              <p:cNvSpPr>
                <a:spLocks/>
              </p:cNvSpPr>
              <p:nvPr/>
            </p:nvSpPr>
            <p:spPr bwMode="auto">
              <a:xfrm>
                <a:off x="3273" y="221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93" name="Freeform 811"/>
              <p:cNvSpPr>
                <a:spLocks/>
              </p:cNvSpPr>
              <p:nvPr/>
            </p:nvSpPr>
            <p:spPr bwMode="auto">
              <a:xfrm>
                <a:off x="3278" y="2216"/>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94" name="Freeform 812"/>
              <p:cNvSpPr>
                <a:spLocks/>
              </p:cNvSpPr>
              <p:nvPr/>
            </p:nvSpPr>
            <p:spPr bwMode="auto">
              <a:xfrm>
                <a:off x="3287" y="2216"/>
                <a:ext cx="8" cy="9"/>
              </a:xfrm>
              <a:custGeom>
                <a:avLst/>
                <a:gdLst>
                  <a:gd name="T0" fmla="*/ 2 w 8"/>
                  <a:gd name="T1" fmla="*/ 0 h 9"/>
                  <a:gd name="T2" fmla="*/ 5 w 8"/>
                  <a:gd name="T3" fmla="*/ 0 h 9"/>
                  <a:gd name="T4" fmla="*/ 8 w 8"/>
                  <a:gd name="T5" fmla="*/ 3 h 9"/>
                  <a:gd name="T6" fmla="*/ 8 w 8"/>
                  <a:gd name="T7" fmla="*/ 7 h 9"/>
                  <a:gd name="T8" fmla="*/ 7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5" y="0"/>
                    </a:lnTo>
                    <a:lnTo>
                      <a:pt x="8" y="3"/>
                    </a:lnTo>
                    <a:lnTo>
                      <a:pt x="8"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95" name="Freeform 813"/>
              <p:cNvSpPr>
                <a:spLocks/>
              </p:cNvSpPr>
              <p:nvPr/>
            </p:nvSpPr>
            <p:spPr bwMode="auto">
              <a:xfrm>
                <a:off x="3290"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96" name="Freeform 814"/>
              <p:cNvSpPr>
                <a:spLocks/>
              </p:cNvSpPr>
              <p:nvPr/>
            </p:nvSpPr>
            <p:spPr bwMode="auto">
              <a:xfrm>
                <a:off x="3442"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97" name="Freeform 815"/>
              <p:cNvSpPr>
                <a:spLocks/>
              </p:cNvSpPr>
              <p:nvPr/>
            </p:nvSpPr>
            <p:spPr bwMode="auto">
              <a:xfrm>
                <a:off x="3517" y="2216"/>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98" name="Freeform 816"/>
              <p:cNvSpPr>
                <a:spLocks/>
              </p:cNvSpPr>
              <p:nvPr/>
            </p:nvSpPr>
            <p:spPr bwMode="auto">
              <a:xfrm>
                <a:off x="3587" y="221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99" name="Freeform 817"/>
              <p:cNvSpPr>
                <a:spLocks/>
              </p:cNvSpPr>
              <p:nvPr/>
            </p:nvSpPr>
            <p:spPr bwMode="auto">
              <a:xfrm>
                <a:off x="4215"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0" name="Freeform 818"/>
              <p:cNvSpPr>
                <a:spLocks/>
              </p:cNvSpPr>
              <p:nvPr/>
            </p:nvSpPr>
            <p:spPr bwMode="auto">
              <a:xfrm>
                <a:off x="4297"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1" name="Freeform 819"/>
              <p:cNvSpPr>
                <a:spLocks/>
              </p:cNvSpPr>
              <p:nvPr/>
            </p:nvSpPr>
            <p:spPr bwMode="auto">
              <a:xfrm>
                <a:off x="4304"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2" name="Freeform 820"/>
              <p:cNvSpPr>
                <a:spLocks/>
              </p:cNvSpPr>
              <p:nvPr/>
            </p:nvSpPr>
            <p:spPr bwMode="auto">
              <a:xfrm>
                <a:off x="4411" y="221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03" name="Freeform 821"/>
              <p:cNvSpPr>
                <a:spLocks/>
              </p:cNvSpPr>
              <p:nvPr/>
            </p:nvSpPr>
            <p:spPr bwMode="auto">
              <a:xfrm>
                <a:off x="4489"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4" name="Freeform 822"/>
              <p:cNvSpPr>
                <a:spLocks/>
              </p:cNvSpPr>
              <p:nvPr/>
            </p:nvSpPr>
            <p:spPr bwMode="auto">
              <a:xfrm>
                <a:off x="4496"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5" name="Freeform 823"/>
              <p:cNvSpPr>
                <a:spLocks/>
              </p:cNvSpPr>
              <p:nvPr/>
            </p:nvSpPr>
            <p:spPr bwMode="auto">
              <a:xfrm>
                <a:off x="4880"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6" name="Freeform 824"/>
              <p:cNvSpPr>
                <a:spLocks/>
              </p:cNvSpPr>
              <p:nvPr/>
            </p:nvSpPr>
            <p:spPr bwMode="auto">
              <a:xfrm>
                <a:off x="1559" y="217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07" name="Freeform 825"/>
              <p:cNvSpPr>
                <a:spLocks/>
              </p:cNvSpPr>
              <p:nvPr/>
            </p:nvSpPr>
            <p:spPr bwMode="auto">
              <a:xfrm>
                <a:off x="1566" y="2176"/>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08" name="Freeform 826"/>
              <p:cNvSpPr>
                <a:spLocks/>
              </p:cNvSpPr>
              <p:nvPr/>
            </p:nvSpPr>
            <p:spPr bwMode="auto">
              <a:xfrm>
                <a:off x="1573" y="2176"/>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09" name="Freeform 827"/>
              <p:cNvSpPr>
                <a:spLocks/>
              </p:cNvSpPr>
              <p:nvPr/>
            </p:nvSpPr>
            <p:spPr bwMode="auto">
              <a:xfrm>
                <a:off x="1616"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10" name="Freeform 828"/>
              <p:cNvSpPr>
                <a:spLocks/>
              </p:cNvSpPr>
              <p:nvPr/>
            </p:nvSpPr>
            <p:spPr bwMode="auto">
              <a:xfrm>
                <a:off x="1681"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1" name="Freeform 829"/>
              <p:cNvSpPr>
                <a:spLocks/>
              </p:cNvSpPr>
              <p:nvPr/>
            </p:nvSpPr>
            <p:spPr bwMode="auto">
              <a:xfrm>
                <a:off x="1985" y="217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2" name="Freeform 830"/>
              <p:cNvSpPr>
                <a:spLocks/>
              </p:cNvSpPr>
              <p:nvPr/>
            </p:nvSpPr>
            <p:spPr bwMode="auto">
              <a:xfrm>
                <a:off x="2390" y="2176"/>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13" name="Freeform 831"/>
              <p:cNvSpPr>
                <a:spLocks/>
              </p:cNvSpPr>
              <p:nvPr/>
            </p:nvSpPr>
            <p:spPr bwMode="auto">
              <a:xfrm>
                <a:off x="2421"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14" name="Freeform 832"/>
              <p:cNvSpPr>
                <a:spLocks/>
              </p:cNvSpPr>
              <p:nvPr/>
            </p:nvSpPr>
            <p:spPr bwMode="auto">
              <a:xfrm>
                <a:off x="2442"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5" name="Freeform 833"/>
              <p:cNvSpPr>
                <a:spLocks/>
              </p:cNvSpPr>
              <p:nvPr/>
            </p:nvSpPr>
            <p:spPr bwMode="auto">
              <a:xfrm>
                <a:off x="2449"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6" name="Freeform 834"/>
              <p:cNvSpPr>
                <a:spLocks/>
              </p:cNvSpPr>
              <p:nvPr/>
            </p:nvSpPr>
            <p:spPr bwMode="auto">
              <a:xfrm>
                <a:off x="2454" y="2176"/>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17" name="Freeform 835"/>
              <p:cNvSpPr>
                <a:spLocks/>
              </p:cNvSpPr>
              <p:nvPr/>
            </p:nvSpPr>
            <p:spPr bwMode="auto">
              <a:xfrm>
                <a:off x="2489"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18" name="Freeform 836"/>
              <p:cNvSpPr>
                <a:spLocks/>
              </p:cNvSpPr>
              <p:nvPr/>
            </p:nvSpPr>
            <p:spPr bwMode="auto">
              <a:xfrm>
                <a:off x="2505"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9" name="Freeform 837"/>
              <p:cNvSpPr>
                <a:spLocks/>
              </p:cNvSpPr>
              <p:nvPr/>
            </p:nvSpPr>
            <p:spPr bwMode="auto">
              <a:xfrm>
                <a:off x="2508"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0" name="Freeform 838"/>
              <p:cNvSpPr>
                <a:spLocks/>
              </p:cNvSpPr>
              <p:nvPr/>
            </p:nvSpPr>
            <p:spPr bwMode="auto">
              <a:xfrm>
                <a:off x="2512"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1" name="Freeform 839"/>
              <p:cNvSpPr>
                <a:spLocks/>
              </p:cNvSpPr>
              <p:nvPr/>
            </p:nvSpPr>
            <p:spPr bwMode="auto">
              <a:xfrm>
                <a:off x="2515"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2" name="Freeform 840"/>
              <p:cNvSpPr>
                <a:spLocks/>
              </p:cNvSpPr>
              <p:nvPr/>
            </p:nvSpPr>
            <p:spPr bwMode="auto">
              <a:xfrm>
                <a:off x="2569"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23" name="Freeform 841"/>
              <p:cNvSpPr>
                <a:spLocks/>
              </p:cNvSpPr>
              <p:nvPr/>
            </p:nvSpPr>
            <p:spPr bwMode="auto">
              <a:xfrm>
                <a:off x="2847"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4" name="Freeform 842"/>
              <p:cNvSpPr>
                <a:spLocks/>
              </p:cNvSpPr>
              <p:nvPr/>
            </p:nvSpPr>
            <p:spPr bwMode="auto">
              <a:xfrm>
                <a:off x="3203"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25" name="Freeform 843"/>
              <p:cNvSpPr>
                <a:spLocks/>
              </p:cNvSpPr>
              <p:nvPr/>
            </p:nvSpPr>
            <p:spPr bwMode="auto">
              <a:xfrm>
                <a:off x="3262" y="2176"/>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6" name="Freeform 844"/>
              <p:cNvSpPr>
                <a:spLocks/>
              </p:cNvSpPr>
              <p:nvPr/>
            </p:nvSpPr>
            <p:spPr bwMode="auto">
              <a:xfrm>
                <a:off x="3269"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7" name="Freeform 845"/>
              <p:cNvSpPr>
                <a:spLocks/>
              </p:cNvSpPr>
              <p:nvPr/>
            </p:nvSpPr>
            <p:spPr bwMode="auto">
              <a:xfrm>
                <a:off x="3273"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8" name="Freeform 846"/>
              <p:cNvSpPr>
                <a:spLocks/>
              </p:cNvSpPr>
              <p:nvPr/>
            </p:nvSpPr>
            <p:spPr bwMode="auto">
              <a:xfrm>
                <a:off x="3302" y="2176"/>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9" name="Freeform 847"/>
              <p:cNvSpPr>
                <a:spLocks/>
              </p:cNvSpPr>
              <p:nvPr/>
            </p:nvSpPr>
            <p:spPr bwMode="auto">
              <a:xfrm>
                <a:off x="3318" y="2176"/>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0" name="Freeform 848"/>
              <p:cNvSpPr>
                <a:spLocks/>
              </p:cNvSpPr>
              <p:nvPr/>
            </p:nvSpPr>
            <p:spPr bwMode="auto">
              <a:xfrm>
                <a:off x="4418"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1" name="Freeform 849"/>
              <p:cNvSpPr>
                <a:spLocks/>
              </p:cNvSpPr>
              <p:nvPr/>
            </p:nvSpPr>
            <p:spPr bwMode="auto">
              <a:xfrm>
                <a:off x="4421"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2" name="Freeform 850"/>
              <p:cNvSpPr>
                <a:spLocks/>
              </p:cNvSpPr>
              <p:nvPr/>
            </p:nvSpPr>
            <p:spPr bwMode="auto">
              <a:xfrm>
                <a:off x="4427" y="217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33" name="Freeform 851"/>
              <p:cNvSpPr>
                <a:spLocks/>
              </p:cNvSpPr>
              <p:nvPr/>
            </p:nvSpPr>
            <p:spPr bwMode="auto">
              <a:xfrm>
                <a:off x="4435"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34" name="Freeform 852"/>
              <p:cNvSpPr>
                <a:spLocks/>
              </p:cNvSpPr>
              <p:nvPr/>
            </p:nvSpPr>
            <p:spPr bwMode="auto">
              <a:xfrm>
                <a:off x="4439"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5" name="Freeform 853"/>
              <p:cNvSpPr>
                <a:spLocks/>
              </p:cNvSpPr>
              <p:nvPr/>
            </p:nvSpPr>
            <p:spPr bwMode="auto">
              <a:xfrm>
                <a:off x="4608" y="2176"/>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6" name="Freeform 854"/>
              <p:cNvSpPr>
                <a:spLocks/>
              </p:cNvSpPr>
              <p:nvPr/>
            </p:nvSpPr>
            <p:spPr bwMode="auto">
              <a:xfrm>
                <a:off x="4626" y="217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37" name="Freeform 855"/>
              <p:cNvSpPr>
                <a:spLocks/>
              </p:cNvSpPr>
              <p:nvPr/>
            </p:nvSpPr>
            <p:spPr bwMode="auto">
              <a:xfrm>
                <a:off x="1058" y="2136"/>
                <a:ext cx="8" cy="10"/>
              </a:xfrm>
              <a:custGeom>
                <a:avLst/>
                <a:gdLst>
                  <a:gd name="T0" fmla="*/ 2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1"/>
                    </a:lnTo>
                    <a:lnTo>
                      <a:pt x="8"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8" name="Freeform 856"/>
              <p:cNvSpPr>
                <a:spLocks/>
              </p:cNvSpPr>
              <p:nvPr/>
            </p:nvSpPr>
            <p:spPr bwMode="auto">
              <a:xfrm>
                <a:off x="1555"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9" name="Freeform 857"/>
              <p:cNvSpPr>
                <a:spLocks/>
              </p:cNvSpPr>
              <p:nvPr/>
            </p:nvSpPr>
            <p:spPr bwMode="auto">
              <a:xfrm>
                <a:off x="1560" y="2136"/>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40" name="Freeform 858"/>
              <p:cNvSpPr>
                <a:spLocks/>
              </p:cNvSpPr>
              <p:nvPr/>
            </p:nvSpPr>
            <p:spPr bwMode="auto">
              <a:xfrm>
                <a:off x="1567" y="2136"/>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41" name="Freeform 859"/>
              <p:cNvSpPr>
                <a:spLocks/>
              </p:cNvSpPr>
              <p:nvPr/>
            </p:nvSpPr>
            <p:spPr bwMode="auto">
              <a:xfrm>
                <a:off x="1629" y="2136"/>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42" name="Freeform 860"/>
              <p:cNvSpPr>
                <a:spLocks/>
              </p:cNvSpPr>
              <p:nvPr/>
            </p:nvSpPr>
            <p:spPr bwMode="auto">
              <a:xfrm>
                <a:off x="1646" y="2136"/>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43" name="Freeform 861"/>
              <p:cNvSpPr>
                <a:spLocks/>
              </p:cNvSpPr>
              <p:nvPr/>
            </p:nvSpPr>
            <p:spPr bwMode="auto">
              <a:xfrm>
                <a:off x="2276"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44" name="Freeform 862"/>
              <p:cNvSpPr>
                <a:spLocks/>
              </p:cNvSpPr>
              <p:nvPr/>
            </p:nvSpPr>
            <p:spPr bwMode="auto">
              <a:xfrm>
                <a:off x="2301" y="2136"/>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45" name="Freeform 863"/>
              <p:cNvSpPr>
                <a:spLocks/>
              </p:cNvSpPr>
              <p:nvPr/>
            </p:nvSpPr>
            <p:spPr bwMode="auto">
              <a:xfrm>
                <a:off x="2468"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46" name="Freeform 864"/>
              <p:cNvSpPr>
                <a:spLocks/>
              </p:cNvSpPr>
              <p:nvPr/>
            </p:nvSpPr>
            <p:spPr bwMode="auto">
              <a:xfrm>
                <a:off x="2470"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47" name="Freeform 865"/>
              <p:cNvSpPr>
                <a:spLocks/>
              </p:cNvSpPr>
              <p:nvPr/>
            </p:nvSpPr>
            <p:spPr bwMode="auto">
              <a:xfrm>
                <a:off x="2498"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48" name="Freeform 866"/>
              <p:cNvSpPr>
                <a:spLocks/>
              </p:cNvSpPr>
              <p:nvPr/>
            </p:nvSpPr>
            <p:spPr bwMode="auto">
              <a:xfrm>
                <a:off x="2575" y="2136"/>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49" name="Freeform 867"/>
              <p:cNvSpPr>
                <a:spLocks/>
              </p:cNvSpPr>
              <p:nvPr/>
            </p:nvSpPr>
            <p:spPr bwMode="auto">
              <a:xfrm>
                <a:off x="2594"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50" name="Freeform 868"/>
              <p:cNvSpPr>
                <a:spLocks/>
              </p:cNvSpPr>
              <p:nvPr/>
            </p:nvSpPr>
            <p:spPr bwMode="auto">
              <a:xfrm>
                <a:off x="3165" y="2136"/>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51" name="Freeform 869"/>
              <p:cNvSpPr>
                <a:spLocks/>
              </p:cNvSpPr>
              <p:nvPr/>
            </p:nvSpPr>
            <p:spPr bwMode="auto">
              <a:xfrm>
                <a:off x="3168"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2" name="Freeform 870"/>
              <p:cNvSpPr>
                <a:spLocks/>
              </p:cNvSpPr>
              <p:nvPr/>
            </p:nvSpPr>
            <p:spPr bwMode="auto">
              <a:xfrm>
                <a:off x="3184" y="2136"/>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3" name="Freeform 871"/>
              <p:cNvSpPr>
                <a:spLocks/>
              </p:cNvSpPr>
              <p:nvPr/>
            </p:nvSpPr>
            <p:spPr bwMode="auto">
              <a:xfrm>
                <a:off x="3193" y="2136"/>
                <a:ext cx="10" cy="10"/>
              </a:xfrm>
              <a:custGeom>
                <a:avLst/>
                <a:gdLst>
                  <a:gd name="T0" fmla="*/ 1 w 10"/>
                  <a:gd name="T1" fmla="*/ 0 h 10"/>
                  <a:gd name="T2" fmla="*/ 6 w 10"/>
                  <a:gd name="T3" fmla="*/ 0 h 10"/>
                  <a:gd name="T4" fmla="*/ 10 w 10"/>
                  <a:gd name="T5" fmla="*/ 3 h 10"/>
                  <a:gd name="T6" fmla="*/ 10 w 10"/>
                  <a:gd name="T7" fmla="*/ 7 h 10"/>
                  <a:gd name="T8" fmla="*/ 6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6" y="0"/>
                    </a:lnTo>
                    <a:lnTo>
                      <a:pt x="10" y="3"/>
                    </a:lnTo>
                    <a:lnTo>
                      <a:pt x="10" y="7"/>
                    </a:lnTo>
                    <a:lnTo>
                      <a:pt x="6"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54" name="Freeform 872"/>
              <p:cNvSpPr>
                <a:spLocks/>
              </p:cNvSpPr>
              <p:nvPr/>
            </p:nvSpPr>
            <p:spPr bwMode="auto">
              <a:xfrm>
                <a:off x="3194" y="2136"/>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55" name="Freeform 873"/>
              <p:cNvSpPr>
                <a:spLocks/>
              </p:cNvSpPr>
              <p:nvPr/>
            </p:nvSpPr>
            <p:spPr bwMode="auto">
              <a:xfrm>
                <a:off x="3199"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6" name="Freeform 874"/>
              <p:cNvSpPr>
                <a:spLocks/>
              </p:cNvSpPr>
              <p:nvPr/>
            </p:nvSpPr>
            <p:spPr bwMode="auto">
              <a:xfrm>
                <a:off x="3210"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57" name="Freeform 875"/>
              <p:cNvSpPr>
                <a:spLocks/>
              </p:cNvSpPr>
              <p:nvPr/>
            </p:nvSpPr>
            <p:spPr bwMode="auto">
              <a:xfrm>
                <a:off x="3215"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8" name="Freeform 876"/>
              <p:cNvSpPr>
                <a:spLocks/>
              </p:cNvSpPr>
              <p:nvPr/>
            </p:nvSpPr>
            <p:spPr bwMode="auto">
              <a:xfrm>
                <a:off x="3217" y="2136"/>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9" name="Freeform 877"/>
              <p:cNvSpPr>
                <a:spLocks/>
              </p:cNvSpPr>
              <p:nvPr/>
            </p:nvSpPr>
            <p:spPr bwMode="auto">
              <a:xfrm>
                <a:off x="3302"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0" name="Freeform 878"/>
              <p:cNvSpPr>
                <a:spLocks/>
              </p:cNvSpPr>
              <p:nvPr/>
            </p:nvSpPr>
            <p:spPr bwMode="auto">
              <a:xfrm>
                <a:off x="3311"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1" name="Freeform 879"/>
              <p:cNvSpPr>
                <a:spLocks/>
              </p:cNvSpPr>
              <p:nvPr/>
            </p:nvSpPr>
            <p:spPr bwMode="auto">
              <a:xfrm>
                <a:off x="4105"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2" name="Freeform 880"/>
              <p:cNvSpPr>
                <a:spLocks/>
              </p:cNvSpPr>
              <p:nvPr/>
            </p:nvSpPr>
            <p:spPr bwMode="auto">
              <a:xfrm>
                <a:off x="4201"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3" name="Freeform 881"/>
              <p:cNvSpPr>
                <a:spLocks/>
              </p:cNvSpPr>
              <p:nvPr/>
            </p:nvSpPr>
            <p:spPr bwMode="auto">
              <a:xfrm>
                <a:off x="4208"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4" name="Freeform 882"/>
              <p:cNvSpPr>
                <a:spLocks/>
              </p:cNvSpPr>
              <p:nvPr/>
            </p:nvSpPr>
            <p:spPr bwMode="auto">
              <a:xfrm>
                <a:off x="4210"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5" name="Freeform 883"/>
              <p:cNvSpPr>
                <a:spLocks/>
              </p:cNvSpPr>
              <p:nvPr/>
            </p:nvSpPr>
            <p:spPr bwMode="auto">
              <a:xfrm>
                <a:off x="4215"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6" name="Freeform 884"/>
              <p:cNvSpPr>
                <a:spLocks/>
              </p:cNvSpPr>
              <p:nvPr/>
            </p:nvSpPr>
            <p:spPr bwMode="auto">
              <a:xfrm>
                <a:off x="4226"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67" name="Freeform 885"/>
              <p:cNvSpPr>
                <a:spLocks/>
              </p:cNvSpPr>
              <p:nvPr/>
            </p:nvSpPr>
            <p:spPr bwMode="auto">
              <a:xfrm>
                <a:off x="4240"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8" name="Freeform 886"/>
              <p:cNvSpPr>
                <a:spLocks/>
              </p:cNvSpPr>
              <p:nvPr/>
            </p:nvSpPr>
            <p:spPr bwMode="auto">
              <a:xfrm>
                <a:off x="4257"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9" name="Freeform 887"/>
              <p:cNvSpPr>
                <a:spLocks/>
              </p:cNvSpPr>
              <p:nvPr/>
            </p:nvSpPr>
            <p:spPr bwMode="auto">
              <a:xfrm>
                <a:off x="4262"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0" name="Freeform 888"/>
              <p:cNvSpPr>
                <a:spLocks/>
              </p:cNvSpPr>
              <p:nvPr/>
            </p:nvSpPr>
            <p:spPr bwMode="auto">
              <a:xfrm>
                <a:off x="4280"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1" name="Freeform 889"/>
              <p:cNvSpPr>
                <a:spLocks/>
              </p:cNvSpPr>
              <p:nvPr/>
            </p:nvSpPr>
            <p:spPr bwMode="auto">
              <a:xfrm>
                <a:off x="4474" y="2136"/>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72" name="Freeform 890"/>
              <p:cNvSpPr>
                <a:spLocks/>
              </p:cNvSpPr>
              <p:nvPr/>
            </p:nvSpPr>
            <p:spPr bwMode="auto">
              <a:xfrm>
                <a:off x="4496"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3" name="Freeform 891"/>
              <p:cNvSpPr>
                <a:spLocks/>
              </p:cNvSpPr>
              <p:nvPr/>
            </p:nvSpPr>
            <p:spPr bwMode="auto">
              <a:xfrm>
                <a:off x="4528"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4" name="Freeform 892"/>
              <p:cNvSpPr>
                <a:spLocks/>
              </p:cNvSpPr>
              <p:nvPr/>
            </p:nvSpPr>
            <p:spPr bwMode="auto">
              <a:xfrm>
                <a:off x="972"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5" name="Freeform 893"/>
              <p:cNvSpPr>
                <a:spLocks/>
              </p:cNvSpPr>
              <p:nvPr/>
            </p:nvSpPr>
            <p:spPr bwMode="auto">
              <a:xfrm>
                <a:off x="976" y="2095"/>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76" name="Freeform 894"/>
              <p:cNvSpPr>
                <a:spLocks/>
              </p:cNvSpPr>
              <p:nvPr/>
            </p:nvSpPr>
            <p:spPr bwMode="auto">
              <a:xfrm>
                <a:off x="990" y="2095"/>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77" name="Freeform 895"/>
              <p:cNvSpPr>
                <a:spLocks/>
              </p:cNvSpPr>
              <p:nvPr/>
            </p:nvSpPr>
            <p:spPr bwMode="auto">
              <a:xfrm>
                <a:off x="1543" y="2095"/>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4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8" name="Freeform 896"/>
              <p:cNvSpPr>
                <a:spLocks/>
              </p:cNvSpPr>
              <p:nvPr/>
            </p:nvSpPr>
            <p:spPr bwMode="auto">
              <a:xfrm>
                <a:off x="1547" y="2095"/>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79" name="Freeform 897"/>
              <p:cNvSpPr>
                <a:spLocks/>
              </p:cNvSpPr>
              <p:nvPr/>
            </p:nvSpPr>
            <p:spPr bwMode="auto">
              <a:xfrm>
                <a:off x="1567"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80" name="Freeform 898"/>
              <p:cNvSpPr>
                <a:spLocks/>
              </p:cNvSpPr>
              <p:nvPr/>
            </p:nvSpPr>
            <p:spPr bwMode="auto">
              <a:xfrm>
                <a:off x="1580" y="2095"/>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81" name="Freeform 899"/>
              <p:cNvSpPr>
                <a:spLocks/>
              </p:cNvSpPr>
              <p:nvPr/>
            </p:nvSpPr>
            <p:spPr bwMode="auto">
              <a:xfrm>
                <a:off x="1606"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82" name="Freeform 900"/>
              <p:cNvSpPr>
                <a:spLocks/>
              </p:cNvSpPr>
              <p:nvPr/>
            </p:nvSpPr>
            <p:spPr bwMode="auto">
              <a:xfrm>
                <a:off x="1625"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83" name="Freeform 901"/>
              <p:cNvSpPr>
                <a:spLocks/>
              </p:cNvSpPr>
              <p:nvPr/>
            </p:nvSpPr>
            <p:spPr bwMode="auto">
              <a:xfrm>
                <a:off x="1763"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84" name="Freeform 902"/>
              <p:cNvSpPr>
                <a:spLocks/>
              </p:cNvSpPr>
              <p:nvPr/>
            </p:nvSpPr>
            <p:spPr bwMode="auto">
              <a:xfrm>
                <a:off x="2480"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85" name="Freeform 903"/>
              <p:cNvSpPr>
                <a:spLocks/>
              </p:cNvSpPr>
              <p:nvPr/>
            </p:nvSpPr>
            <p:spPr bwMode="auto">
              <a:xfrm>
                <a:off x="2486" y="2095"/>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86" name="Freeform 904"/>
              <p:cNvSpPr>
                <a:spLocks/>
              </p:cNvSpPr>
              <p:nvPr/>
            </p:nvSpPr>
            <p:spPr bwMode="auto">
              <a:xfrm>
                <a:off x="2527" y="2095"/>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87" name="Freeform 905"/>
              <p:cNvSpPr>
                <a:spLocks/>
              </p:cNvSpPr>
              <p:nvPr/>
            </p:nvSpPr>
            <p:spPr bwMode="auto">
              <a:xfrm>
                <a:off x="2529"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88" name="Freeform 906"/>
              <p:cNvSpPr>
                <a:spLocks/>
              </p:cNvSpPr>
              <p:nvPr/>
            </p:nvSpPr>
            <p:spPr bwMode="auto">
              <a:xfrm>
                <a:off x="2534" y="2095"/>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89" name="Freeform 907"/>
              <p:cNvSpPr>
                <a:spLocks/>
              </p:cNvSpPr>
              <p:nvPr/>
            </p:nvSpPr>
            <p:spPr bwMode="auto">
              <a:xfrm>
                <a:off x="3189"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0" name="Freeform 908"/>
              <p:cNvSpPr>
                <a:spLocks/>
              </p:cNvSpPr>
              <p:nvPr/>
            </p:nvSpPr>
            <p:spPr bwMode="auto">
              <a:xfrm>
                <a:off x="3217" y="2095"/>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1" name="Freeform 909"/>
              <p:cNvSpPr>
                <a:spLocks/>
              </p:cNvSpPr>
              <p:nvPr/>
            </p:nvSpPr>
            <p:spPr bwMode="auto">
              <a:xfrm>
                <a:off x="3290"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92" name="Freeform 910"/>
              <p:cNvSpPr>
                <a:spLocks/>
              </p:cNvSpPr>
              <p:nvPr/>
            </p:nvSpPr>
            <p:spPr bwMode="auto">
              <a:xfrm>
                <a:off x="3295" y="2095"/>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3" name="Freeform 911"/>
              <p:cNvSpPr>
                <a:spLocks/>
              </p:cNvSpPr>
              <p:nvPr/>
            </p:nvSpPr>
            <p:spPr bwMode="auto">
              <a:xfrm>
                <a:off x="3327"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4" name="Freeform 912"/>
              <p:cNvSpPr>
                <a:spLocks/>
              </p:cNvSpPr>
              <p:nvPr/>
            </p:nvSpPr>
            <p:spPr bwMode="auto">
              <a:xfrm>
                <a:off x="3336" y="2095"/>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95" name="Freeform 913"/>
              <p:cNvSpPr>
                <a:spLocks/>
              </p:cNvSpPr>
              <p:nvPr/>
            </p:nvSpPr>
            <p:spPr bwMode="auto">
              <a:xfrm>
                <a:off x="3526"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6" name="Freeform 914"/>
              <p:cNvSpPr>
                <a:spLocks/>
              </p:cNvSpPr>
              <p:nvPr/>
            </p:nvSpPr>
            <p:spPr bwMode="auto">
              <a:xfrm>
                <a:off x="4184"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7" name="Freeform 915"/>
              <p:cNvSpPr>
                <a:spLocks/>
              </p:cNvSpPr>
              <p:nvPr/>
            </p:nvSpPr>
            <p:spPr bwMode="auto">
              <a:xfrm>
                <a:off x="4191"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8" name="Freeform 916"/>
              <p:cNvSpPr>
                <a:spLocks/>
              </p:cNvSpPr>
              <p:nvPr/>
            </p:nvSpPr>
            <p:spPr bwMode="auto">
              <a:xfrm>
                <a:off x="4210" y="2095"/>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9" name="Freeform 917"/>
              <p:cNvSpPr>
                <a:spLocks/>
              </p:cNvSpPr>
              <p:nvPr/>
            </p:nvSpPr>
            <p:spPr bwMode="auto">
              <a:xfrm>
                <a:off x="4214" y="2095"/>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000" name="Freeform 918"/>
              <p:cNvSpPr>
                <a:spLocks/>
              </p:cNvSpPr>
              <p:nvPr/>
            </p:nvSpPr>
            <p:spPr bwMode="auto">
              <a:xfrm>
                <a:off x="4379"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1" name="Freeform 919"/>
              <p:cNvSpPr>
                <a:spLocks/>
              </p:cNvSpPr>
              <p:nvPr/>
            </p:nvSpPr>
            <p:spPr bwMode="auto">
              <a:xfrm>
                <a:off x="4395"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2" name="Freeform 920"/>
              <p:cNvSpPr>
                <a:spLocks/>
              </p:cNvSpPr>
              <p:nvPr/>
            </p:nvSpPr>
            <p:spPr bwMode="auto">
              <a:xfrm>
                <a:off x="1323"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3" name="Freeform 921"/>
              <p:cNvSpPr>
                <a:spLocks/>
              </p:cNvSpPr>
              <p:nvPr/>
            </p:nvSpPr>
            <p:spPr bwMode="auto">
              <a:xfrm>
                <a:off x="1611"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4" name="Freeform 922"/>
              <p:cNvSpPr>
                <a:spLocks/>
              </p:cNvSpPr>
              <p:nvPr/>
            </p:nvSpPr>
            <p:spPr bwMode="auto">
              <a:xfrm>
                <a:off x="1622"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05" name="Freeform 923"/>
              <p:cNvSpPr>
                <a:spLocks/>
              </p:cNvSpPr>
              <p:nvPr/>
            </p:nvSpPr>
            <p:spPr bwMode="auto">
              <a:xfrm>
                <a:off x="1625"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6" name="Freeform 924"/>
              <p:cNvSpPr>
                <a:spLocks/>
              </p:cNvSpPr>
              <p:nvPr/>
            </p:nvSpPr>
            <p:spPr bwMode="auto">
              <a:xfrm>
                <a:off x="2510"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7" name="Freeform 925"/>
              <p:cNvSpPr>
                <a:spLocks/>
              </p:cNvSpPr>
              <p:nvPr/>
            </p:nvSpPr>
            <p:spPr bwMode="auto">
              <a:xfrm>
                <a:off x="2524"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08" name="Freeform 926"/>
              <p:cNvSpPr>
                <a:spLocks/>
              </p:cNvSpPr>
              <p:nvPr/>
            </p:nvSpPr>
            <p:spPr bwMode="auto">
              <a:xfrm>
                <a:off x="2536" y="2055"/>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9" name="Freeform 927"/>
              <p:cNvSpPr>
                <a:spLocks/>
              </p:cNvSpPr>
              <p:nvPr/>
            </p:nvSpPr>
            <p:spPr bwMode="auto">
              <a:xfrm>
                <a:off x="2541"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0" name="Freeform 928"/>
              <p:cNvSpPr>
                <a:spLocks/>
              </p:cNvSpPr>
              <p:nvPr/>
            </p:nvSpPr>
            <p:spPr bwMode="auto">
              <a:xfrm>
                <a:off x="2892"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1" name="Freeform 929"/>
              <p:cNvSpPr>
                <a:spLocks/>
              </p:cNvSpPr>
              <p:nvPr/>
            </p:nvSpPr>
            <p:spPr bwMode="auto">
              <a:xfrm>
                <a:off x="3004"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12" name="Freeform 930"/>
              <p:cNvSpPr>
                <a:spLocks/>
              </p:cNvSpPr>
              <p:nvPr/>
            </p:nvSpPr>
            <p:spPr bwMode="auto">
              <a:xfrm>
                <a:off x="3014"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3" name="Freeform 931"/>
              <p:cNvSpPr>
                <a:spLocks/>
              </p:cNvSpPr>
              <p:nvPr/>
            </p:nvSpPr>
            <p:spPr bwMode="auto">
              <a:xfrm>
                <a:off x="3034"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14" name="Freeform 932"/>
              <p:cNvSpPr>
                <a:spLocks/>
              </p:cNvSpPr>
              <p:nvPr/>
            </p:nvSpPr>
            <p:spPr bwMode="auto">
              <a:xfrm>
                <a:off x="3055"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15" name="Freeform 933"/>
              <p:cNvSpPr>
                <a:spLocks/>
              </p:cNvSpPr>
              <p:nvPr/>
            </p:nvSpPr>
            <p:spPr bwMode="auto">
              <a:xfrm>
                <a:off x="3074" y="2055"/>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16" name="Freeform 934"/>
              <p:cNvSpPr>
                <a:spLocks/>
              </p:cNvSpPr>
              <p:nvPr/>
            </p:nvSpPr>
            <p:spPr bwMode="auto">
              <a:xfrm>
                <a:off x="3168" y="2055"/>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7" name="Freeform 935"/>
              <p:cNvSpPr>
                <a:spLocks/>
              </p:cNvSpPr>
              <p:nvPr/>
            </p:nvSpPr>
            <p:spPr bwMode="auto">
              <a:xfrm>
                <a:off x="3173"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8" name="Freeform 936"/>
              <p:cNvSpPr>
                <a:spLocks/>
              </p:cNvSpPr>
              <p:nvPr/>
            </p:nvSpPr>
            <p:spPr bwMode="auto">
              <a:xfrm>
                <a:off x="3189"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9" name="Freeform 937"/>
              <p:cNvSpPr>
                <a:spLocks/>
              </p:cNvSpPr>
              <p:nvPr/>
            </p:nvSpPr>
            <p:spPr bwMode="auto">
              <a:xfrm>
                <a:off x="3255"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0" name="Freeform 938"/>
              <p:cNvSpPr>
                <a:spLocks/>
              </p:cNvSpPr>
              <p:nvPr/>
            </p:nvSpPr>
            <p:spPr bwMode="auto">
              <a:xfrm>
                <a:off x="3257"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1" name="Freeform 939"/>
              <p:cNvSpPr>
                <a:spLocks/>
              </p:cNvSpPr>
              <p:nvPr/>
            </p:nvSpPr>
            <p:spPr bwMode="auto">
              <a:xfrm>
                <a:off x="3269"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2" name="Freeform 940"/>
              <p:cNvSpPr>
                <a:spLocks/>
              </p:cNvSpPr>
              <p:nvPr/>
            </p:nvSpPr>
            <p:spPr bwMode="auto">
              <a:xfrm>
                <a:off x="3273"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23" name="Freeform 941"/>
              <p:cNvSpPr>
                <a:spLocks/>
              </p:cNvSpPr>
              <p:nvPr/>
            </p:nvSpPr>
            <p:spPr bwMode="auto">
              <a:xfrm>
                <a:off x="3276"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4" name="Freeform 942"/>
              <p:cNvSpPr>
                <a:spLocks/>
              </p:cNvSpPr>
              <p:nvPr/>
            </p:nvSpPr>
            <p:spPr bwMode="auto">
              <a:xfrm>
                <a:off x="3285"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5" name="Freeform 943"/>
              <p:cNvSpPr>
                <a:spLocks/>
              </p:cNvSpPr>
              <p:nvPr/>
            </p:nvSpPr>
            <p:spPr bwMode="auto">
              <a:xfrm>
                <a:off x="3289" y="2055"/>
                <a:ext cx="10" cy="11"/>
              </a:xfrm>
              <a:custGeom>
                <a:avLst/>
                <a:gdLst>
                  <a:gd name="T0" fmla="*/ 3 w 10"/>
                  <a:gd name="T1" fmla="*/ 0 h 11"/>
                  <a:gd name="T2" fmla="*/ 6 w 10"/>
                  <a:gd name="T3" fmla="*/ 0 h 11"/>
                  <a:gd name="T4" fmla="*/ 10 w 10"/>
                  <a:gd name="T5" fmla="*/ 4 h 11"/>
                  <a:gd name="T6" fmla="*/ 10 w 10"/>
                  <a:gd name="T7" fmla="*/ 7 h 11"/>
                  <a:gd name="T8" fmla="*/ 6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6" y="0"/>
                    </a:lnTo>
                    <a:lnTo>
                      <a:pt x="10" y="4"/>
                    </a:lnTo>
                    <a:lnTo>
                      <a:pt x="10" y="7"/>
                    </a:lnTo>
                    <a:lnTo>
                      <a:pt x="6"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26" name="Freeform 944"/>
              <p:cNvSpPr>
                <a:spLocks/>
              </p:cNvSpPr>
              <p:nvPr/>
            </p:nvSpPr>
            <p:spPr bwMode="auto">
              <a:xfrm>
                <a:off x="3295"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7" name="Freeform 945"/>
              <p:cNvSpPr>
                <a:spLocks/>
              </p:cNvSpPr>
              <p:nvPr/>
            </p:nvSpPr>
            <p:spPr bwMode="auto">
              <a:xfrm>
                <a:off x="3297"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8" name="Freeform 946"/>
              <p:cNvSpPr>
                <a:spLocks/>
              </p:cNvSpPr>
              <p:nvPr/>
            </p:nvSpPr>
            <p:spPr bwMode="auto">
              <a:xfrm>
                <a:off x="3301"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29" name="Freeform 947"/>
              <p:cNvSpPr>
                <a:spLocks/>
              </p:cNvSpPr>
              <p:nvPr/>
            </p:nvSpPr>
            <p:spPr bwMode="auto">
              <a:xfrm>
                <a:off x="3309"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30" name="Freeform 948"/>
              <p:cNvSpPr>
                <a:spLocks/>
              </p:cNvSpPr>
              <p:nvPr/>
            </p:nvSpPr>
            <p:spPr bwMode="auto">
              <a:xfrm>
                <a:off x="3313" y="2055"/>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1" name="Freeform 949"/>
              <p:cNvSpPr>
                <a:spLocks/>
              </p:cNvSpPr>
              <p:nvPr/>
            </p:nvSpPr>
            <p:spPr bwMode="auto">
              <a:xfrm>
                <a:off x="3334"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2" name="Freeform 950"/>
              <p:cNvSpPr>
                <a:spLocks/>
              </p:cNvSpPr>
              <p:nvPr/>
            </p:nvSpPr>
            <p:spPr bwMode="auto">
              <a:xfrm>
                <a:off x="3536" y="2055"/>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33" name="Freeform 951"/>
              <p:cNvSpPr>
                <a:spLocks/>
              </p:cNvSpPr>
              <p:nvPr/>
            </p:nvSpPr>
            <p:spPr bwMode="auto">
              <a:xfrm>
                <a:off x="3550"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34" name="Freeform 952"/>
              <p:cNvSpPr>
                <a:spLocks/>
              </p:cNvSpPr>
              <p:nvPr/>
            </p:nvSpPr>
            <p:spPr bwMode="auto">
              <a:xfrm>
                <a:off x="3601"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5" name="Freeform 953"/>
              <p:cNvSpPr>
                <a:spLocks/>
              </p:cNvSpPr>
              <p:nvPr/>
            </p:nvSpPr>
            <p:spPr bwMode="auto">
              <a:xfrm>
                <a:off x="3617"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6" name="Freeform 954"/>
              <p:cNvSpPr>
                <a:spLocks/>
              </p:cNvSpPr>
              <p:nvPr/>
            </p:nvSpPr>
            <p:spPr bwMode="auto">
              <a:xfrm>
                <a:off x="3631"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7" name="Freeform 955"/>
              <p:cNvSpPr>
                <a:spLocks/>
              </p:cNvSpPr>
              <p:nvPr/>
            </p:nvSpPr>
            <p:spPr bwMode="auto">
              <a:xfrm>
                <a:off x="3950"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38" name="Freeform 956"/>
              <p:cNvSpPr>
                <a:spLocks/>
              </p:cNvSpPr>
              <p:nvPr/>
            </p:nvSpPr>
            <p:spPr bwMode="auto">
              <a:xfrm>
                <a:off x="3954"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9" name="Freeform 957"/>
              <p:cNvSpPr>
                <a:spLocks/>
              </p:cNvSpPr>
              <p:nvPr/>
            </p:nvSpPr>
            <p:spPr bwMode="auto">
              <a:xfrm>
                <a:off x="4179"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0" name="Freeform 958"/>
              <p:cNvSpPr>
                <a:spLocks/>
              </p:cNvSpPr>
              <p:nvPr/>
            </p:nvSpPr>
            <p:spPr bwMode="auto">
              <a:xfrm>
                <a:off x="4186"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1" name="Freeform 959"/>
              <p:cNvSpPr>
                <a:spLocks/>
              </p:cNvSpPr>
              <p:nvPr/>
            </p:nvSpPr>
            <p:spPr bwMode="auto">
              <a:xfrm>
                <a:off x="4191"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2" name="Freeform 960"/>
              <p:cNvSpPr>
                <a:spLocks/>
              </p:cNvSpPr>
              <p:nvPr/>
            </p:nvSpPr>
            <p:spPr bwMode="auto">
              <a:xfrm>
                <a:off x="4193"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3" name="Freeform 961"/>
              <p:cNvSpPr>
                <a:spLocks/>
              </p:cNvSpPr>
              <p:nvPr/>
            </p:nvSpPr>
            <p:spPr bwMode="auto">
              <a:xfrm>
                <a:off x="4226" y="2055"/>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4" name="Freeform 962"/>
              <p:cNvSpPr>
                <a:spLocks/>
              </p:cNvSpPr>
              <p:nvPr/>
            </p:nvSpPr>
            <p:spPr bwMode="auto">
              <a:xfrm>
                <a:off x="4348" y="2055"/>
                <a:ext cx="10" cy="11"/>
              </a:xfrm>
              <a:custGeom>
                <a:avLst/>
                <a:gdLst>
                  <a:gd name="T0" fmla="*/ 4 w 10"/>
                  <a:gd name="T1" fmla="*/ 0 h 11"/>
                  <a:gd name="T2" fmla="*/ 7 w 10"/>
                  <a:gd name="T3" fmla="*/ 0 h 11"/>
                  <a:gd name="T4" fmla="*/ 10 w 10"/>
                  <a:gd name="T5" fmla="*/ 4 h 11"/>
                  <a:gd name="T6" fmla="*/ 10 w 10"/>
                  <a:gd name="T7" fmla="*/ 9 h 11"/>
                  <a:gd name="T8" fmla="*/ 9 w 10"/>
                  <a:gd name="T9" fmla="*/ 11 h 11"/>
                  <a:gd name="T10" fmla="*/ 4 w 10"/>
                  <a:gd name="T11" fmla="*/ 11 h 11"/>
                  <a:gd name="T12" fmla="*/ 0 w 10"/>
                  <a:gd name="T13" fmla="*/ 7 h 11"/>
                  <a:gd name="T14" fmla="*/ 0 w 10"/>
                  <a:gd name="T15" fmla="*/ 4 h 11"/>
                  <a:gd name="T16" fmla="*/ 4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4" y="0"/>
                    </a:moveTo>
                    <a:lnTo>
                      <a:pt x="7" y="0"/>
                    </a:lnTo>
                    <a:lnTo>
                      <a:pt x="10" y="4"/>
                    </a:lnTo>
                    <a:lnTo>
                      <a:pt x="10"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45" name="Freeform 963"/>
              <p:cNvSpPr>
                <a:spLocks/>
              </p:cNvSpPr>
              <p:nvPr/>
            </p:nvSpPr>
            <p:spPr bwMode="auto">
              <a:xfrm>
                <a:off x="4425"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6" name="Freeform 964"/>
              <p:cNvSpPr>
                <a:spLocks/>
              </p:cNvSpPr>
              <p:nvPr/>
            </p:nvSpPr>
            <p:spPr bwMode="auto">
              <a:xfrm>
                <a:off x="4444"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47" name="Freeform 965"/>
              <p:cNvSpPr>
                <a:spLocks/>
              </p:cNvSpPr>
              <p:nvPr/>
            </p:nvSpPr>
            <p:spPr bwMode="auto">
              <a:xfrm>
                <a:off x="4448"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68" name="Freeform 966"/>
              <p:cNvSpPr>
                <a:spLocks/>
              </p:cNvSpPr>
              <p:nvPr/>
            </p:nvSpPr>
            <p:spPr bwMode="auto">
              <a:xfrm>
                <a:off x="1590" y="2017"/>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69" name="Freeform 967"/>
              <p:cNvSpPr>
                <a:spLocks/>
              </p:cNvSpPr>
              <p:nvPr/>
            </p:nvSpPr>
            <p:spPr bwMode="auto">
              <a:xfrm>
                <a:off x="2569" y="201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70" name="Freeform 968"/>
              <p:cNvSpPr>
                <a:spLocks/>
              </p:cNvSpPr>
              <p:nvPr/>
            </p:nvSpPr>
            <p:spPr bwMode="auto">
              <a:xfrm>
                <a:off x="2582" y="2017"/>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3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71" name="Freeform 969"/>
              <p:cNvSpPr>
                <a:spLocks/>
              </p:cNvSpPr>
              <p:nvPr/>
            </p:nvSpPr>
            <p:spPr bwMode="auto">
              <a:xfrm>
                <a:off x="3334" y="2017"/>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72" name="Freeform 970"/>
              <p:cNvSpPr>
                <a:spLocks/>
              </p:cNvSpPr>
              <p:nvPr/>
            </p:nvSpPr>
            <p:spPr bwMode="auto">
              <a:xfrm>
                <a:off x="3336" y="2017"/>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173" name="Freeform 971"/>
              <p:cNvSpPr>
                <a:spLocks/>
              </p:cNvSpPr>
              <p:nvPr/>
            </p:nvSpPr>
            <p:spPr bwMode="auto">
              <a:xfrm>
                <a:off x="3559"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74" name="Freeform 972"/>
              <p:cNvSpPr>
                <a:spLocks/>
              </p:cNvSpPr>
              <p:nvPr/>
            </p:nvSpPr>
            <p:spPr bwMode="auto">
              <a:xfrm>
                <a:off x="3660" y="2017"/>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75" name="Freeform 973"/>
              <p:cNvSpPr>
                <a:spLocks/>
              </p:cNvSpPr>
              <p:nvPr/>
            </p:nvSpPr>
            <p:spPr bwMode="auto">
              <a:xfrm>
                <a:off x="4186" y="2017"/>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176" name="Freeform 974"/>
              <p:cNvSpPr>
                <a:spLocks/>
              </p:cNvSpPr>
              <p:nvPr/>
            </p:nvSpPr>
            <p:spPr bwMode="auto">
              <a:xfrm>
                <a:off x="4269" y="2017"/>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77" name="Freeform 975"/>
              <p:cNvSpPr>
                <a:spLocks/>
              </p:cNvSpPr>
              <p:nvPr/>
            </p:nvSpPr>
            <p:spPr bwMode="auto">
              <a:xfrm>
                <a:off x="4275" y="201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78" name="Freeform 976"/>
              <p:cNvSpPr>
                <a:spLocks/>
              </p:cNvSpPr>
              <p:nvPr/>
            </p:nvSpPr>
            <p:spPr bwMode="auto">
              <a:xfrm>
                <a:off x="4280"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79" name="Freeform 977"/>
              <p:cNvSpPr>
                <a:spLocks/>
              </p:cNvSpPr>
              <p:nvPr/>
            </p:nvSpPr>
            <p:spPr bwMode="auto">
              <a:xfrm>
                <a:off x="4296" y="2017"/>
                <a:ext cx="8" cy="9"/>
              </a:xfrm>
              <a:custGeom>
                <a:avLst/>
                <a:gdLst>
                  <a:gd name="T0" fmla="*/ 1 w 8"/>
                  <a:gd name="T1" fmla="*/ 0 h 9"/>
                  <a:gd name="T2" fmla="*/ 5 w 8"/>
                  <a:gd name="T3" fmla="*/ 0 h 9"/>
                  <a:gd name="T4" fmla="*/ 8 w 8"/>
                  <a:gd name="T5" fmla="*/ 3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3"/>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180" name="Freeform 978"/>
              <p:cNvSpPr>
                <a:spLocks/>
              </p:cNvSpPr>
              <p:nvPr/>
            </p:nvSpPr>
            <p:spPr bwMode="auto">
              <a:xfrm>
                <a:off x="4411" y="2017"/>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81" name="Freeform 979"/>
              <p:cNvSpPr>
                <a:spLocks/>
              </p:cNvSpPr>
              <p:nvPr/>
            </p:nvSpPr>
            <p:spPr bwMode="auto">
              <a:xfrm>
                <a:off x="4425" y="2017"/>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82" name="Freeform 980"/>
              <p:cNvSpPr>
                <a:spLocks/>
              </p:cNvSpPr>
              <p:nvPr/>
            </p:nvSpPr>
            <p:spPr bwMode="auto">
              <a:xfrm>
                <a:off x="4432"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83" name="Freeform 981"/>
              <p:cNvSpPr>
                <a:spLocks/>
              </p:cNvSpPr>
              <p:nvPr/>
            </p:nvSpPr>
            <p:spPr bwMode="auto">
              <a:xfrm>
                <a:off x="4444" y="201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84" name="Freeform 982"/>
              <p:cNvSpPr>
                <a:spLocks/>
              </p:cNvSpPr>
              <p:nvPr/>
            </p:nvSpPr>
            <p:spPr bwMode="auto">
              <a:xfrm>
                <a:off x="4479" y="2017"/>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85" name="Freeform 983"/>
              <p:cNvSpPr>
                <a:spLocks/>
              </p:cNvSpPr>
              <p:nvPr/>
            </p:nvSpPr>
            <p:spPr bwMode="auto">
              <a:xfrm>
                <a:off x="4587" y="201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86" name="Freeform 984"/>
              <p:cNvSpPr>
                <a:spLocks/>
              </p:cNvSpPr>
              <p:nvPr/>
            </p:nvSpPr>
            <p:spPr bwMode="auto">
              <a:xfrm>
                <a:off x="4615"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87" name="Freeform 985"/>
              <p:cNvSpPr>
                <a:spLocks/>
              </p:cNvSpPr>
              <p:nvPr/>
            </p:nvSpPr>
            <p:spPr bwMode="auto">
              <a:xfrm>
                <a:off x="1051" y="1977"/>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88" name="Freeform 986"/>
              <p:cNvSpPr>
                <a:spLocks/>
              </p:cNvSpPr>
              <p:nvPr/>
            </p:nvSpPr>
            <p:spPr bwMode="auto">
              <a:xfrm>
                <a:off x="1302" y="1977"/>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89" name="Freeform 987"/>
              <p:cNvSpPr>
                <a:spLocks/>
              </p:cNvSpPr>
              <p:nvPr/>
            </p:nvSpPr>
            <p:spPr bwMode="auto">
              <a:xfrm>
                <a:off x="1587" y="1977"/>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90" name="Freeform 988"/>
              <p:cNvSpPr>
                <a:spLocks/>
              </p:cNvSpPr>
              <p:nvPr/>
            </p:nvSpPr>
            <p:spPr bwMode="auto">
              <a:xfrm>
                <a:off x="1616"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91" name="Freeform 989"/>
              <p:cNvSpPr>
                <a:spLocks/>
              </p:cNvSpPr>
              <p:nvPr/>
            </p:nvSpPr>
            <p:spPr bwMode="auto">
              <a:xfrm>
                <a:off x="1637" y="1977"/>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92" name="Freeform 990"/>
              <p:cNvSpPr>
                <a:spLocks/>
              </p:cNvSpPr>
              <p:nvPr/>
            </p:nvSpPr>
            <p:spPr bwMode="auto">
              <a:xfrm>
                <a:off x="2405"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93" name="Freeform 991"/>
              <p:cNvSpPr>
                <a:spLocks/>
              </p:cNvSpPr>
              <p:nvPr/>
            </p:nvSpPr>
            <p:spPr bwMode="auto">
              <a:xfrm>
                <a:off x="2489"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94" name="Freeform 992"/>
              <p:cNvSpPr>
                <a:spLocks/>
              </p:cNvSpPr>
              <p:nvPr/>
            </p:nvSpPr>
            <p:spPr bwMode="auto">
              <a:xfrm>
                <a:off x="2494" y="1977"/>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95" name="Freeform 993"/>
              <p:cNvSpPr>
                <a:spLocks/>
              </p:cNvSpPr>
              <p:nvPr/>
            </p:nvSpPr>
            <p:spPr bwMode="auto">
              <a:xfrm>
                <a:off x="2496"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96" name="Freeform 994"/>
              <p:cNvSpPr>
                <a:spLocks/>
              </p:cNvSpPr>
              <p:nvPr/>
            </p:nvSpPr>
            <p:spPr bwMode="auto">
              <a:xfrm>
                <a:off x="2501" y="1977"/>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97" name="Freeform 995"/>
              <p:cNvSpPr>
                <a:spLocks/>
              </p:cNvSpPr>
              <p:nvPr/>
            </p:nvSpPr>
            <p:spPr bwMode="auto">
              <a:xfrm>
                <a:off x="2505"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98" name="Freeform 996"/>
              <p:cNvSpPr>
                <a:spLocks/>
              </p:cNvSpPr>
              <p:nvPr/>
            </p:nvSpPr>
            <p:spPr bwMode="auto">
              <a:xfrm>
                <a:off x="2524" y="1977"/>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99" name="Freeform 997"/>
              <p:cNvSpPr>
                <a:spLocks/>
              </p:cNvSpPr>
              <p:nvPr/>
            </p:nvSpPr>
            <p:spPr bwMode="auto">
              <a:xfrm>
                <a:off x="2533" y="1977"/>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00" name="Freeform 998"/>
              <p:cNvSpPr>
                <a:spLocks/>
              </p:cNvSpPr>
              <p:nvPr/>
            </p:nvSpPr>
            <p:spPr bwMode="auto">
              <a:xfrm>
                <a:off x="2543" y="1977"/>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01" name="Freeform 999"/>
              <p:cNvSpPr>
                <a:spLocks/>
              </p:cNvSpPr>
              <p:nvPr/>
            </p:nvSpPr>
            <p:spPr bwMode="auto">
              <a:xfrm>
                <a:off x="2583" y="1977"/>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02" name="Freeform 1000"/>
              <p:cNvSpPr>
                <a:spLocks/>
              </p:cNvSpPr>
              <p:nvPr/>
            </p:nvSpPr>
            <p:spPr bwMode="auto">
              <a:xfrm>
                <a:off x="2594"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03" name="Freeform 1001"/>
              <p:cNvSpPr>
                <a:spLocks/>
              </p:cNvSpPr>
              <p:nvPr/>
            </p:nvSpPr>
            <p:spPr bwMode="auto">
              <a:xfrm>
                <a:off x="3170"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04" name="Freeform 1002"/>
              <p:cNvSpPr>
                <a:spLocks/>
              </p:cNvSpPr>
              <p:nvPr/>
            </p:nvSpPr>
            <p:spPr bwMode="auto">
              <a:xfrm>
                <a:off x="3177" y="1977"/>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05" name="Freeform 1003"/>
              <p:cNvSpPr>
                <a:spLocks/>
              </p:cNvSpPr>
              <p:nvPr/>
            </p:nvSpPr>
            <p:spPr bwMode="auto">
              <a:xfrm>
                <a:off x="3193" y="1977"/>
                <a:ext cx="10" cy="8"/>
              </a:xfrm>
              <a:custGeom>
                <a:avLst/>
                <a:gdLst>
                  <a:gd name="T0" fmla="*/ 1 w 10"/>
                  <a:gd name="T1" fmla="*/ 0 h 8"/>
                  <a:gd name="T2" fmla="*/ 6 w 10"/>
                  <a:gd name="T3" fmla="*/ 0 h 8"/>
                  <a:gd name="T4" fmla="*/ 10 w 10"/>
                  <a:gd name="T5" fmla="*/ 3 h 8"/>
                  <a:gd name="T6" fmla="*/ 10 w 10"/>
                  <a:gd name="T7" fmla="*/ 5 h 8"/>
                  <a:gd name="T8" fmla="*/ 6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6" y="0"/>
                    </a:lnTo>
                    <a:lnTo>
                      <a:pt x="10" y="3"/>
                    </a:lnTo>
                    <a:lnTo>
                      <a:pt x="10" y="5"/>
                    </a:lnTo>
                    <a:lnTo>
                      <a:pt x="6"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06" name="Freeform 1004"/>
              <p:cNvSpPr>
                <a:spLocks/>
              </p:cNvSpPr>
              <p:nvPr/>
            </p:nvSpPr>
            <p:spPr bwMode="auto">
              <a:xfrm>
                <a:off x="3220"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07" name="Freeform 1005"/>
              <p:cNvSpPr>
                <a:spLocks/>
              </p:cNvSpPr>
              <p:nvPr/>
            </p:nvSpPr>
            <p:spPr bwMode="auto">
              <a:xfrm>
                <a:off x="3257"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08" name="Freeform 1006"/>
              <p:cNvSpPr>
                <a:spLocks/>
              </p:cNvSpPr>
              <p:nvPr/>
            </p:nvSpPr>
            <p:spPr bwMode="auto">
              <a:xfrm>
                <a:off x="3271" y="1977"/>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09" name="Freeform 1007"/>
              <p:cNvSpPr>
                <a:spLocks/>
              </p:cNvSpPr>
              <p:nvPr/>
            </p:nvSpPr>
            <p:spPr bwMode="auto">
              <a:xfrm>
                <a:off x="3285"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0" name="Freeform 1008"/>
              <p:cNvSpPr>
                <a:spLocks/>
              </p:cNvSpPr>
              <p:nvPr/>
            </p:nvSpPr>
            <p:spPr bwMode="auto">
              <a:xfrm>
                <a:off x="3343" y="1977"/>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7" name="Group 1210"/>
            <p:cNvGrpSpPr>
              <a:grpSpLocks/>
            </p:cNvGrpSpPr>
            <p:nvPr/>
          </p:nvGrpSpPr>
          <p:grpSpPr bwMode="auto">
            <a:xfrm>
              <a:off x="1631999" y="2757495"/>
              <a:ext cx="6159676" cy="393701"/>
              <a:chOff x="1028" y="1737"/>
              <a:chExt cx="3880" cy="248"/>
            </a:xfrm>
          </p:grpSpPr>
          <p:sp>
            <p:nvSpPr>
              <p:cNvPr id="1691" name="Freeform 1010"/>
              <p:cNvSpPr>
                <a:spLocks/>
              </p:cNvSpPr>
              <p:nvPr/>
            </p:nvSpPr>
            <p:spPr bwMode="auto">
              <a:xfrm>
                <a:off x="3353"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92" name="Freeform 1011"/>
              <p:cNvSpPr>
                <a:spLocks/>
              </p:cNvSpPr>
              <p:nvPr/>
            </p:nvSpPr>
            <p:spPr bwMode="auto">
              <a:xfrm>
                <a:off x="4219"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93" name="Freeform 1012"/>
              <p:cNvSpPr>
                <a:spLocks/>
              </p:cNvSpPr>
              <p:nvPr/>
            </p:nvSpPr>
            <p:spPr bwMode="auto">
              <a:xfrm>
                <a:off x="4249" y="1977"/>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94" name="Freeform 1013"/>
              <p:cNvSpPr>
                <a:spLocks/>
              </p:cNvSpPr>
              <p:nvPr/>
            </p:nvSpPr>
            <p:spPr bwMode="auto">
              <a:xfrm>
                <a:off x="4250" y="1977"/>
                <a:ext cx="11" cy="8"/>
              </a:xfrm>
              <a:custGeom>
                <a:avLst/>
                <a:gdLst>
                  <a:gd name="T0" fmla="*/ 2 w 11"/>
                  <a:gd name="T1" fmla="*/ 0 h 8"/>
                  <a:gd name="T2" fmla="*/ 9 w 11"/>
                  <a:gd name="T3" fmla="*/ 0 h 8"/>
                  <a:gd name="T4" fmla="*/ 11 w 11"/>
                  <a:gd name="T5" fmla="*/ 1 h 8"/>
                  <a:gd name="T6" fmla="*/ 11 w 11"/>
                  <a:gd name="T7" fmla="*/ 7 h 8"/>
                  <a:gd name="T8" fmla="*/ 9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9" y="0"/>
                    </a:lnTo>
                    <a:lnTo>
                      <a:pt x="11" y="1"/>
                    </a:lnTo>
                    <a:lnTo>
                      <a:pt x="11" y="7"/>
                    </a:lnTo>
                    <a:lnTo>
                      <a:pt x="9"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5" name="Freeform 1014"/>
              <p:cNvSpPr>
                <a:spLocks/>
              </p:cNvSpPr>
              <p:nvPr/>
            </p:nvSpPr>
            <p:spPr bwMode="auto">
              <a:xfrm>
                <a:off x="4472" y="1977"/>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6" name="Freeform 1015"/>
              <p:cNvSpPr>
                <a:spLocks/>
              </p:cNvSpPr>
              <p:nvPr/>
            </p:nvSpPr>
            <p:spPr bwMode="auto">
              <a:xfrm>
                <a:off x="4894"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97" name="Freeform 1016"/>
              <p:cNvSpPr>
                <a:spLocks/>
              </p:cNvSpPr>
              <p:nvPr/>
            </p:nvSpPr>
            <p:spPr bwMode="auto">
              <a:xfrm>
                <a:off x="4898" y="1977"/>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8" name="Freeform 1017"/>
              <p:cNvSpPr>
                <a:spLocks/>
              </p:cNvSpPr>
              <p:nvPr/>
            </p:nvSpPr>
            <p:spPr bwMode="auto">
              <a:xfrm>
                <a:off x="1044"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9" name="Freeform 1018"/>
              <p:cNvSpPr>
                <a:spLocks/>
              </p:cNvSpPr>
              <p:nvPr/>
            </p:nvSpPr>
            <p:spPr bwMode="auto">
              <a:xfrm>
                <a:off x="1060" y="1936"/>
                <a:ext cx="8" cy="9"/>
              </a:xfrm>
              <a:custGeom>
                <a:avLst/>
                <a:gdLst>
                  <a:gd name="T0" fmla="*/ 1 w 8"/>
                  <a:gd name="T1" fmla="*/ 0 h 9"/>
                  <a:gd name="T2" fmla="*/ 6 w 8"/>
                  <a:gd name="T3" fmla="*/ 0 h 9"/>
                  <a:gd name="T4" fmla="*/ 8 w 8"/>
                  <a:gd name="T5" fmla="*/ 2 h 9"/>
                  <a:gd name="T6" fmla="*/ 8 w 8"/>
                  <a:gd name="T7" fmla="*/ 7 h 9"/>
                  <a:gd name="T8" fmla="*/ 6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7"/>
                    </a:lnTo>
                    <a:lnTo>
                      <a:pt x="6"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00" name="Freeform 1019"/>
              <p:cNvSpPr>
                <a:spLocks/>
              </p:cNvSpPr>
              <p:nvPr/>
            </p:nvSpPr>
            <p:spPr bwMode="auto">
              <a:xfrm>
                <a:off x="1063" y="1936"/>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1" name="Freeform 1020"/>
              <p:cNvSpPr>
                <a:spLocks/>
              </p:cNvSpPr>
              <p:nvPr/>
            </p:nvSpPr>
            <p:spPr bwMode="auto">
              <a:xfrm>
                <a:off x="1136"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02" name="Freeform 1021"/>
              <p:cNvSpPr>
                <a:spLocks/>
              </p:cNvSpPr>
              <p:nvPr/>
            </p:nvSpPr>
            <p:spPr bwMode="auto">
              <a:xfrm>
                <a:off x="1286" y="1936"/>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3" name="Freeform 1022"/>
              <p:cNvSpPr>
                <a:spLocks/>
              </p:cNvSpPr>
              <p:nvPr/>
            </p:nvSpPr>
            <p:spPr bwMode="auto">
              <a:xfrm>
                <a:off x="1316"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4" name="Freeform 1023"/>
              <p:cNvSpPr>
                <a:spLocks/>
              </p:cNvSpPr>
              <p:nvPr/>
            </p:nvSpPr>
            <p:spPr bwMode="auto">
              <a:xfrm>
                <a:off x="1348" y="1936"/>
                <a:ext cx="8" cy="9"/>
              </a:xfrm>
              <a:custGeom>
                <a:avLst/>
                <a:gdLst>
                  <a:gd name="T0" fmla="*/ 1 w 8"/>
                  <a:gd name="T1" fmla="*/ 0 h 9"/>
                  <a:gd name="T2" fmla="*/ 6 w 8"/>
                  <a:gd name="T3" fmla="*/ 0 h 9"/>
                  <a:gd name="T4" fmla="*/ 8 w 8"/>
                  <a:gd name="T5" fmla="*/ 2 h 9"/>
                  <a:gd name="T6" fmla="*/ 8 w 8"/>
                  <a:gd name="T7" fmla="*/ 7 h 9"/>
                  <a:gd name="T8" fmla="*/ 6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7"/>
                    </a:lnTo>
                    <a:lnTo>
                      <a:pt x="6"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05" name="Freeform 1024"/>
              <p:cNvSpPr>
                <a:spLocks/>
              </p:cNvSpPr>
              <p:nvPr/>
            </p:nvSpPr>
            <p:spPr bwMode="auto">
              <a:xfrm>
                <a:off x="1349" y="1936"/>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6" name="Freeform 1025"/>
              <p:cNvSpPr>
                <a:spLocks/>
              </p:cNvSpPr>
              <p:nvPr/>
            </p:nvSpPr>
            <p:spPr bwMode="auto">
              <a:xfrm>
                <a:off x="1574" y="1936"/>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7" name="Freeform 1026"/>
              <p:cNvSpPr>
                <a:spLocks/>
              </p:cNvSpPr>
              <p:nvPr/>
            </p:nvSpPr>
            <p:spPr bwMode="auto">
              <a:xfrm>
                <a:off x="1622"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08" name="Freeform 1027"/>
              <p:cNvSpPr>
                <a:spLocks/>
              </p:cNvSpPr>
              <p:nvPr/>
            </p:nvSpPr>
            <p:spPr bwMode="auto">
              <a:xfrm>
                <a:off x="1653"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9" name="Freeform 1028"/>
              <p:cNvSpPr>
                <a:spLocks/>
              </p:cNvSpPr>
              <p:nvPr/>
            </p:nvSpPr>
            <p:spPr bwMode="auto">
              <a:xfrm>
                <a:off x="1718"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0" name="Freeform 1029"/>
              <p:cNvSpPr>
                <a:spLocks/>
              </p:cNvSpPr>
              <p:nvPr/>
            </p:nvSpPr>
            <p:spPr bwMode="auto">
              <a:xfrm>
                <a:off x="2393"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11" name="Freeform 1030"/>
              <p:cNvSpPr>
                <a:spLocks/>
              </p:cNvSpPr>
              <p:nvPr/>
            </p:nvSpPr>
            <p:spPr bwMode="auto">
              <a:xfrm>
                <a:off x="2437"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2" name="Freeform 1031"/>
              <p:cNvSpPr>
                <a:spLocks/>
              </p:cNvSpPr>
              <p:nvPr/>
            </p:nvSpPr>
            <p:spPr bwMode="auto">
              <a:xfrm>
                <a:off x="2486"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3" name="Freeform 1032"/>
              <p:cNvSpPr>
                <a:spLocks/>
              </p:cNvSpPr>
              <p:nvPr/>
            </p:nvSpPr>
            <p:spPr bwMode="auto">
              <a:xfrm>
                <a:off x="2487" y="1936"/>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14" name="Freeform 1033"/>
              <p:cNvSpPr>
                <a:spLocks/>
              </p:cNvSpPr>
              <p:nvPr/>
            </p:nvSpPr>
            <p:spPr bwMode="auto">
              <a:xfrm>
                <a:off x="2519" y="1936"/>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5" name="Freeform 1034"/>
              <p:cNvSpPr>
                <a:spLocks/>
              </p:cNvSpPr>
              <p:nvPr/>
            </p:nvSpPr>
            <p:spPr bwMode="auto">
              <a:xfrm>
                <a:off x="3117"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16" name="Freeform 1035"/>
              <p:cNvSpPr>
                <a:spLocks/>
              </p:cNvSpPr>
              <p:nvPr/>
            </p:nvSpPr>
            <p:spPr bwMode="auto">
              <a:xfrm>
                <a:off x="3158" y="1936"/>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7" name="Freeform 1036"/>
              <p:cNvSpPr>
                <a:spLocks/>
              </p:cNvSpPr>
              <p:nvPr/>
            </p:nvSpPr>
            <p:spPr bwMode="auto">
              <a:xfrm>
                <a:off x="3165" y="1936"/>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8" name="Freeform 1037"/>
              <p:cNvSpPr>
                <a:spLocks/>
              </p:cNvSpPr>
              <p:nvPr/>
            </p:nvSpPr>
            <p:spPr bwMode="auto">
              <a:xfrm>
                <a:off x="3166" y="1936"/>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19" name="Freeform 1038"/>
              <p:cNvSpPr>
                <a:spLocks/>
              </p:cNvSpPr>
              <p:nvPr/>
            </p:nvSpPr>
            <p:spPr bwMode="auto">
              <a:xfrm>
                <a:off x="3198"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20" name="Freeform 1039"/>
              <p:cNvSpPr>
                <a:spLocks/>
              </p:cNvSpPr>
              <p:nvPr/>
            </p:nvSpPr>
            <p:spPr bwMode="auto">
              <a:xfrm>
                <a:off x="3206" y="1936"/>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21" name="Freeform 1040"/>
              <p:cNvSpPr>
                <a:spLocks/>
              </p:cNvSpPr>
              <p:nvPr/>
            </p:nvSpPr>
            <p:spPr bwMode="auto">
              <a:xfrm>
                <a:off x="3238"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22" name="Freeform 1041"/>
              <p:cNvSpPr>
                <a:spLocks/>
              </p:cNvSpPr>
              <p:nvPr/>
            </p:nvSpPr>
            <p:spPr bwMode="auto">
              <a:xfrm>
                <a:off x="3294" y="1936"/>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23" name="Freeform 1042"/>
              <p:cNvSpPr>
                <a:spLocks/>
              </p:cNvSpPr>
              <p:nvPr/>
            </p:nvSpPr>
            <p:spPr bwMode="auto">
              <a:xfrm>
                <a:off x="3522"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24" name="Freeform 1043"/>
              <p:cNvSpPr>
                <a:spLocks/>
              </p:cNvSpPr>
              <p:nvPr/>
            </p:nvSpPr>
            <p:spPr bwMode="auto">
              <a:xfrm>
                <a:off x="3528"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25" name="Freeform 1044"/>
              <p:cNvSpPr>
                <a:spLocks/>
              </p:cNvSpPr>
              <p:nvPr/>
            </p:nvSpPr>
            <p:spPr bwMode="auto">
              <a:xfrm>
                <a:off x="3529"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26" name="Freeform 1045"/>
              <p:cNvSpPr>
                <a:spLocks/>
              </p:cNvSpPr>
              <p:nvPr/>
            </p:nvSpPr>
            <p:spPr bwMode="auto">
              <a:xfrm>
                <a:off x="3599" y="1936"/>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27" name="Freeform 1046"/>
              <p:cNvSpPr>
                <a:spLocks/>
              </p:cNvSpPr>
              <p:nvPr/>
            </p:nvSpPr>
            <p:spPr bwMode="auto">
              <a:xfrm>
                <a:off x="3678" y="1936"/>
                <a:ext cx="8" cy="9"/>
              </a:xfrm>
              <a:custGeom>
                <a:avLst/>
                <a:gdLst>
                  <a:gd name="T0" fmla="*/ 2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7" y="0"/>
                    </a:lnTo>
                    <a:lnTo>
                      <a:pt x="8" y="2"/>
                    </a:lnTo>
                    <a:lnTo>
                      <a:pt x="8"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28" name="Freeform 1047"/>
              <p:cNvSpPr>
                <a:spLocks/>
              </p:cNvSpPr>
              <p:nvPr/>
            </p:nvSpPr>
            <p:spPr bwMode="auto">
              <a:xfrm>
                <a:off x="3681"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29" name="Freeform 1048"/>
              <p:cNvSpPr>
                <a:spLocks/>
              </p:cNvSpPr>
              <p:nvPr/>
            </p:nvSpPr>
            <p:spPr bwMode="auto">
              <a:xfrm>
                <a:off x="3690" y="193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30" name="Freeform 1049"/>
              <p:cNvSpPr>
                <a:spLocks/>
              </p:cNvSpPr>
              <p:nvPr/>
            </p:nvSpPr>
            <p:spPr bwMode="auto">
              <a:xfrm>
                <a:off x="3706" y="1936"/>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31" name="Freeform 1050"/>
              <p:cNvSpPr>
                <a:spLocks/>
              </p:cNvSpPr>
              <p:nvPr/>
            </p:nvSpPr>
            <p:spPr bwMode="auto">
              <a:xfrm>
                <a:off x="4414"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32" name="Freeform 1051"/>
              <p:cNvSpPr>
                <a:spLocks/>
              </p:cNvSpPr>
              <p:nvPr/>
            </p:nvSpPr>
            <p:spPr bwMode="auto">
              <a:xfrm>
                <a:off x="4421"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33" name="Freeform 1052"/>
              <p:cNvSpPr>
                <a:spLocks/>
              </p:cNvSpPr>
              <p:nvPr/>
            </p:nvSpPr>
            <p:spPr bwMode="auto">
              <a:xfrm>
                <a:off x="4442"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34" name="Freeform 1053"/>
              <p:cNvSpPr>
                <a:spLocks/>
              </p:cNvSpPr>
              <p:nvPr/>
            </p:nvSpPr>
            <p:spPr bwMode="auto">
              <a:xfrm>
                <a:off x="4474" y="1936"/>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35" name="Freeform 1054"/>
              <p:cNvSpPr>
                <a:spLocks/>
              </p:cNvSpPr>
              <p:nvPr/>
            </p:nvSpPr>
            <p:spPr bwMode="auto">
              <a:xfrm>
                <a:off x="4612" y="193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36" name="Freeform 1055"/>
              <p:cNvSpPr>
                <a:spLocks/>
              </p:cNvSpPr>
              <p:nvPr/>
            </p:nvSpPr>
            <p:spPr bwMode="auto">
              <a:xfrm>
                <a:off x="1613"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37" name="Freeform 1056"/>
              <p:cNvSpPr>
                <a:spLocks/>
              </p:cNvSpPr>
              <p:nvPr/>
            </p:nvSpPr>
            <p:spPr bwMode="auto">
              <a:xfrm>
                <a:off x="1622"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38" name="Freeform 1057"/>
              <p:cNvSpPr>
                <a:spLocks/>
              </p:cNvSpPr>
              <p:nvPr/>
            </p:nvSpPr>
            <p:spPr bwMode="auto">
              <a:xfrm>
                <a:off x="1653"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39" name="Freeform 1058"/>
              <p:cNvSpPr>
                <a:spLocks/>
              </p:cNvSpPr>
              <p:nvPr/>
            </p:nvSpPr>
            <p:spPr bwMode="auto">
              <a:xfrm>
                <a:off x="1667"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0" name="Freeform 1059"/>
              <p:cNvSpPr>
                <a:spLocks/>
              </p:cNvSpPr>
              <p:nvPr/>
            </p:nvSpPr>
            <p:spPr bwMode="auto">
              <a:xfrm>
                <a:off x="1693"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1" name="Freeform 1060"/>
              <p:cNvSpPr>
                <a:spLocks/>
              </p:cNvSpPr>
              <p:nvPr/>
            </p:nvSpPr>
            <p:spPr bwMode="auto">
              <a:xfrm>
                <a:off x="1719"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2" name="Freeform 1061"/>
              <p:cNvSpPr>
                <a:spLocks/>
              </p:cNvSpPr>
              <p:nvPr/>
            </p:nvSpPr>
            <p:spPr bwMode="auto">
              <a:xfrm>
                <a:off x="1747"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3" name="Freeform 1062"/>
              <p:cNvSpPr>
                <a:spLocks/>
              </p:cNvSpPr>
              <p:nvPr/>
            </p:nvSpPr>
            <p:spPr bwMode="auto">
              <a:xfrm>
                <a:off x="1780"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4" name="Freeform 1063"/>
              <p:cNvSpPr>
                <a:spLocks/>
              </p:cNvSpPr>
              <p:nvPr/>
            </p:nvSpPr>
            <p:spPr bwMode="auto">
              <a:xfrm>
                <a:off x="2386"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45" name="Freeform 1064"/>
              <p:cNvSpPr>
                <a:spLocks/>
              </p:cNvSpPr>
              <p:nvPr/>
            </p:nvSpPr>
            <p:spPr bwMode="auto">
              <a:xfrm>
                <a:off x="2400"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6" name="Freeform 1065"/>
              <p:cNvSpPr>
                <a:spLocks/>
              </p:cNvSpPr>
              <p:nvPr/>
            </p:nvSpPr>
            <p:spPr bwMode="auto">
              <a:xfrm>
                <a:off x="2407"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7" name="Freeform 1066"/>
              <p:cNvSpPr>
                <a:spLocks/>
              </p:cNvSpPr>
              <p:nvPr/>
            </p:nvSpPr>
            <p:spPr bwMode="auto">
              <a:xfrm>
                <a:off x="2416" y="1896"/>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8" name="Freeform 1067"/>
              <p:cNvSpPr>
                <a:spLocks/>
              </p:cNvSpPr>
              <p:nvPr/>
            </p:nvSpPr>
            <p:spPr bwMode="auto">
              <a:xfrm>
                <a:off x="2428"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9" name="Freeform 1068"/>
              <p:cNvSpPr>
                <a:spLocks/>
              </p:cNvSpPr>
              <p:nvPr/>
            </p:nvSpPr>
            <p:spPr bwMode="auto">
              <a:xfrm>
                <a:off x="2433"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50" name="Freeform 1069"/>
              <p:cNvSpPr>
                <a:spLocks/>
              </p:cNvSpPr>
              <p:nvPr/>
            </p:nvSpPr>
            <p:spPr bwMode="auto">
              <a:xfrm>
                <a:off x="2440"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51" name="Freeform 1070"/>
              <p:cNvSpPr>
                <a:spLocks/>
              </p:cNvSpPr>
              <p:nvPr/>
            </p:nvSpPr>
            <p:spPr bwMode="auto">
              <a:xfrm>
                <a:off x="2445"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52" name="Freeform 1071"/>
              <p:cNvSpPr>
                <a:spLocks/>
              </p:cNvSpPr>
              <p:nvPr/>
            </p:nvSpPr>
            <p:spPr bwMode="auto">
              <a:xfrm>
                <a:off x="2449"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53" name="Freeform 1072"/>
              <p:cNvSpPr>
                <a:spLocks/>
              </p:cNvSpPr>
              <p:nvPr/>
            </p:nvSpPr>
            <p:spPr bwMode="auto">
              <a:xfrm>
                <a:off x="2505"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54" name="Freeform 1073"/>
              <p:cNvSpPr>
                <a:spLocks/>
              </p:cNvSpPr>
              <p:nvPr/>
            </p:nvSpPr>
            <p:spPr bwMode="auto">
              <a:xfrm>
                <a:off x="2508"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55" name="Freeform 1074"/>
              <p:cNvSpPr>
                <a:spLocks/>
              </p:cNvSpPr>
              <p:nvPr/>
            </p:nvSpPr>
            <p:spPr bwMode="auto">
              <a:xfrm>
                <a:off x="2520"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56" name="Freeform 1075"/>
              <p:cNvSpPr>
                <a:spLocks/>
              </p:cNvSpPr>
              <p:nvPr/>
            </p:nvSpPr>
            <p:spPr bwMode="auto">
              <a:xfrm>
                <a:off x="2526"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57" name="Freeform 1076"/>
              <p:cNvSpPr>
                <a:spLocks/>
              </p:cNvSpPr>
              <p:nvPr/>
            </p:nvSpPr>
            <p:spPr bwMode="auto">
              <a:xfrm>
                <a:off x="2545"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58" name="Freeform 1077"/>
              <p:cNvSpPr>
                <a:spLocks/>
              </p:cNvSpPr>
              <p:nvPr/>
            </p:nvSpPr>
            <p:spPr bwMode="auto">
              <a:xfrm>
                <a:off x="2548"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59" name="Freeform 1078"/>
              <p:cNvSpPr>
                <a:spLocks/>
              </p:cNvSpPr>
              <p:nvPr/>
            </p:nvSpPr>
            <p:spPr bwMode="auto">
              <a:xfrm>
                <a:off x="2561" y="1896"/>
                <a:ext cx="10" cy="11"/>
              </a:xfrm>
              <a:custGeom>
                <a:avLst/>
                <a:gdLst>
                  <a:gd name="T0" fmla="*/ 3 w 10"/>
                  <a:gd name="T1" fmla="*/ 0 h 11"/>
                  <a:gd name="T2" fmla="*/ 8 w 10"/>
                  <a:gd name="T3" fmla="*/ 0 h 11"/>
                  <a:gd name="T4" fmla="*/ 10 w 10"/>
                  <a:gd name="T5" fmla="*/ 2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60" name="Freeform 1079"/>
              <p:cNvSpPr>
                <a:spLocks/>
              </p:cNvSpPr>
              <p:nvPr/>
            </p:nvSpPr>
            <p:spPr bwMode="auto">
              <a:xfrm>
                <a:off x="2575" y="1896"/>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61" name="Freeform 1080"/>
              <p:cNvSpPr>
                <a:spLocks/>
              </p:cNvSpPr>
              <p:nvPr/>
            </p:nvSpPr>
            <p:spPr bwMode="auto">
              <a:xfrm>
                <a:off x="2576"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62" name="Freeform 1081"/>
              <p:cNvSpPr>
                <a:spLocks/>
              </p:cNvSpPr>
              <p:nvPr/>
            </p:nvSpPr>
            <p:spPr bwMode="auto">
              <a:xfrm>
                <a:off x="2589"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63" name="Freeform 1082"/>
              <p:cNvSpPr>
                <a:spLocks/>
              </p:cNvSpPr>
              <p:nvPr/>
            </p:nvSpPr>
            <p:spPr bwMode="auto">
              <a:xfrm>
                <a:off x="3271"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64" name="Freeform 1083"/>
              <p:cNvSpPr>
                <a:spLocks/>
              </p:cNvSpPr>
              <p:nvPr/>
            </p:nvSpPr>
            <p:spPr bwMode="auto">
              <a:xfrm>
                <a:off x="3282" y="1896"/>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65" name="Freeform 1084"/>
              <p:cNvSpPr>
                <a:spLocks/>
              </p:cNvSpPr>
              <p:nvPr/>
            </p:nvSpPr>
            <p:spPr bwMode="auto">
              <a:xfrm>
                <a:off x="3306"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66" name="Freeform 1085"/>
              <p:cNvSpPr>
                <a:spLocks/>
              </p:cNvSpPr>
              <p:nvPr/>
            </p:nvSpPr>
            <p:spPr bwMode="auto">
              <a:xfrm>
                <a:off x="3309"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67" name="Freeform 1086"/>
              <p:cNvSpPr>
                <a:spLocks/>
              </p:cNvSpPr>
              <p:nvPr/>
            </p:nvSpPr>
            <p:spPr bwMode="auto">
              <a:xfrm>
                <a:off x="3313"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68" name="Freeform 1087"/>
              <p:cNvSpPr>
                <a:spLocks/>
              </p:cNvSpPr>
              <p:nvPr/>
            </p:nvSpPr>
            <p:spPr bwMode="auto">
              <a:xfrm>
                <a:off x="3325"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69" name="Freeform 1088"/>
              <p:cNvSpPr>
                <a:spLocks/>
              </p:cNvSpPr>
              <p:nvPr/>
            </p:nvSpPr>
            <p:spPr bwMode="auto">
              <a:xfrm>
                <a:off x="3329" y="1896"/>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70" name="Freeform 1089"/>
              <p:cNvSpPr>
                <a:spLocks/>
              </p:cNvSpPr>
              <p:nvPr/>
            </p:nvSpPr>
            <p:spPr bwMode="auto">
              <a:xfrm>
                <a:off x="3350"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71" name="Freeform 1090"/>
              <p:cNvSpPr>
                <a:spLocks/>
              </p:cNvSpPr>
              <p:nvPr/>
            </p:nvSpPr>
            <p:spPr bwMode="auto">
              <a:xfrm>
                <a:off x="3545"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72" name="Freeform 1091"/>
              <p:cNvSpPr>
                <a:spLocks/>
              </p:cNvSpPr>
              <p:nvPr/>
            </p:nvSpPr>
            <p:spPr bwMode="auto">
              <a:xfrm>
                <a:off x="3549"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73" name="Freeform 1092"/>
              <p:cNvSpPr>
                <a:spLocks/>
              </p:cNvSpPr>
              <p:nvPr/>
            </p:nvSpPr>
            <p:spPr bwMode="auto">
              <a:xfrm>
                <a:off x="4207"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74" name="Freeform 1093"/>
              <p:cNvSpPr>
                <a:spLocks/>
              </p:cNvSpPr>
              <p:nvPr/>
            </p:nvSpPr>
            <p:spPr bwMode="auto">
              <a:xfrm>
                <a:off x="4264"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75" name="Freeform 1094"/>
              <p:cNvSpPr>
                <a:spLocks/>
              </p:cNvSpPr>
              <p:nvPr/>
            </p:nvSpPr>
            <p:spPr bwMode="auto">
              <a:xfrm>
                <a:off x="4362" y="1896"/>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76" name="Freeform 1095"/>
              <p:cNvSpPr>
                <a:spLocks/>
              </p:cNvSpPr>
              <p:nvPr/>
            </p:nvSpPr>
            <p:spPr bwMode="auto">
              <a:xfrm>
                <a:off x="4500"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77" name="Freeform 1096"/>
              <p:cNvSpPr>
                <a:spLocks/>
              </p:cNvSpPr>
              <p:nvPr/>
            </p:nvSpPr>
            <p:spPr bwMode="auto">
              <a:xfrm>
                <a:off x="4610" y="1896"/>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78" name="Freeform 1097"/>
              <p:cNvSpPr>
                <a:spLocks/>
              </p:cNvSpPr>
              <p:nvPr/>
            </p:nvSpPr>
            <p:spPr bwMode="auto">
              <a:xfrm>
                <a:off x="4627"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79" name="Freeform 1098"/>
              <p:cNvSpPr>
                <a:spLocks/>
              </p:cNvSpPr>
              <p:nvPr/>
            </p:nvSpPr>
            <p:spPr bwMode="auto">
              <a:xfrm>
                <a:off x="4631"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80" name="Freeform 1099"/>
              <p:cNvSpPr>
                <a:spLocks/>
              </p:cNvSpPr>
              <p:nvPr/>
            </p:nvSpPr>
            <p:spPr bwMode="auto">
              <a:xfrm>
                <a:off x="1335"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1" name="Freeform 1100"/>
              <p:cNvSpPr>
                <a:spLocks/>
              </p:cNvSpPr>
              <p:nvPr/>
            </p:nvSpPr>
            <p:spPr bwMode="auto">
              <a:xfrm>
                <a:off x="1342"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2" name="Freeform 1101"/>
              <p:cNvSpPr>
                <a:spLocks/>
              </p:cNvSpPr>
              <p:nvPr/>
            </p:nvSpPr>
            <p:spPr bwMode="auto">
              <a:xfrm>
                <a:off x="1349"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3" name="Freeform 1102"/>
              <p:cNvSpPr>
                <a:spLocks/>
              </p:cNvSpPr>
              <p:nvPr/>
            </p:nvSpPr>
            <p:spPr bwMode="auto">
              <a:xfrm>
                <a:off x="1608"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84" name="Freeform 1103"/>
              <p:cNvSpPr>
                <a:spLocks/>
              </p:cNvSpPr>
              <p:nvPr/>
            </p:nvSpPr>
            <p:spPr bwMode="auto">
              <a:xfrm>
                <a:off x="2409" y="1856"/>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85" name="Freeform 1104"/>
              <p:cNvSpPr>
                <a:spLocks/>
              </p:cNvSpPr>
              <p:nvPr/>
            </p:nvSpPr>
            <p:spPr bwMode="auto">
              <a:xfrm>
                <a:off x="2412" y="1856"/>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6" name="Freeform 1105"/>
              <p:cNvSpPr>
                <a:spLocks/>
              </p:cNvSpPr>
              <p:nvPr/>
            </p:nvSpPr>
            <p:spPr bwMode="auto">
              <a:xfrm>
                <a:off x="2472" y="1856"/>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87" name="Freeform 1106"/>
              <p:cNvSpPr>
                <a:spLocks/>
              </p:cNvSpPr>
              <p:nvPr/>
            </p:nvSpPr>
            <p:spPr bwMode="auto">
              <a:xfrm>
                <a:off x="2550"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8" name="Freeform 1107"/>
              <p:cNvSpPr>
                <a:spLocks/>
              </p:cNvSpPr>
              <p:nvPr/>
            </p:nvSpPr>
            <p:spPr bwMode="auto">
              <a:xfrm>
                <a:off x="2561"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89" name="Freeform 1108"/>
              <p:cNvSpPr>
                <a:spLocks/>
              </p:cNvSpPr>
              <p:nvPr/>
            </p:nvSpPr>
            <p:spPr bwMode="auto">
              <a:xfrm>
                <a:off x="2566"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0" name="Freeform 1109"/>
              <p:cNvSpPr>
                <a:spLocks/>
              </p:cNvSpPr>
              <p:nvPr/>
            </p:nvSpPr>
            <p:spPr bwMode="auto">
              <a:xfrm>
                <a:off x="2573"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1" name="Freeform 1110"/>
              <p:cNvSpPr>
                <a:spLocks/>
              </p:cNvSpPr>
              <p:nvPr/>
            </p:nvSpPr>
            <p:spPr bwMode="auto">
              <a:xfrm>
                <a:off x="2601" y="1856"/>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2" name="Freeform 1111"/>
              <p:cNvSpPr>
                <a:spLocks/>
              </p:cNvSpPr>
              <p:nvPr/>
            </p:nvSpPr>
            <p:spPr bwMode="auto">
              <a:xfrm>
                <a:off x="2616"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93" name="Freeform 1112"/>
              <p:cNvSpPr>
                <a:spLocks/>
              </p:cNvSpPr>
              <p:nvPr/>
            </p:nvSpPr>
            <p:spPr bwMode="auto">
              <a:xfrm>
                <a:off x="3215"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94" name="Freeform 1113"/>
              <p:cNvSpPr>
                <a:spLocks/>
              </p:cNvSpPr>
              <p:nvPr/>
            </p:nvSpPr>
            <p:spPr bwMode="auto">
              <a:xfrm>
                <a:off x="3226"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5" name="Freeform 1114"/>
              <p:cNvSpPr>
                <a:spLocks/>
              </p:cNvSpPr>
              <p:nvPr/>
            </p:nvSpPr>
            <p:spPr bwMode="auto">
              <a:xfrm>
                <a:off x="3238"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6" name="Freeform 1115"/>
              <p:cNvSpPr>
                <a:spLocks/>
              </p:cNvSpPr>
              <p:nvPr/>
            </p:nvSpPr>
            <p:spPr bwMode="auto">
              <a:xfrm>
                <a:off x="3294" y="1856"/>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7" name="Freeform 1116"/>
              <p:cNvSpPr>
                <a:spLocks/>
              </p:cNvSpPr>
              <p:nvPr/>
            </p:nvSpPr>
            <p:spPr bwMode="auto">
              <a:xfrm>
                <a:off x="3297"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98" name="Freeform 1117"/>
              <p:cNvSpPr>
                <a:spLocks/>
              </p:cNvSpPr>
              <p:nvPr/>
            </p:nvSpPr>
            <p:spPr bwMode="auto">
              <a:xfrm>
                <a:off x="3315"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9" name="Freeform 1118"/>
              <p:cNvSpPr>
                <a:spLocks/>
              </p:cNvSpPr>
              <p:nvPr/>
            </p:nvSpPr>
            <p:spPr bwMode="auto">
              <a:xfrm>
                <a:off x="3318"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0" name="Freeform 1119"/>
              <p:cNvSpPr>
                <a:spLocks/>
              </p:cNvSpPr>
              <p:nvPr/>
            </p:nvSpPr>
            <p:spPr bwMode="auto">
              <a:xfrm>
                <a:off x="3344"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1" name="Freeform 1120"/>
              <p:cNvSpPr>
                <a:spLocks/>
              </p:cNvSpPr>
              <p:nvPr/>
            </p:nvSpPr>
            <p:spPr bwMode="auto">
              <a:xfrm>
                <a:off x="3388"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02" name="Freeform 1121"/>
              <p:cNvSpPr>
                <a:spLocks/>
              </p:cNvSpPr>
              <p:nvPr/>
            </p:nvSpPr>
            <p:spPr bwMode="auto">
              <a:xfrm>
                <a:off x="3529"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3" name="Freeform 1122"/>
              <p:cNvSpPr>
                <a:spLocks/>
              </p:cNvSpPr>
              <p:nvPr/>
            </p:nvSpPr>
            <p:spPr bwMode="auto">
              <a:xfrm>
                <a:off x="3536"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4" name="Freeform 1123"/>
              <p:cNvSpPr>
                <a:spLocks/>
              </p:cNvSpPr>
              <p:nvPr/>
            </p:nvSpPr>
            <p:spPr bwMode="auto">
              <a:xfrm>
                <a:off x="3543" y="1856"/>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5" name="Freeform 1124"/>
              <p:cNvSpPr>
                <a:spLocks/>
              </p:cNvSpPr>
              <p:nvPr/>
            </p:nvSpPr>
            <p:spPr bwMode="auto">
              <a:xfrm>
                <a:off x="4329" y="1856"/>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06" name="Freeform 1125"/>
              <p:cNvSpPr>
                <a:spLocks/>
              </p:cNvSpPr>
              <p:nvPr/>
            </p:nvSpPr>
            <p:spPr bwMode="auto">
              <a:xfrm>
                <a:off x="4435"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7" name="Freeform 1126"/>
              <p:cNvSpPr>
                <a:spLocks/>
              </p:cNvSpPr>
              <p:nvPr/>
            </p:nvSpPr>
            <p:spPr bwMode="auto">
              <a:xfrm>
                <a:off x="4449" y="1856"/>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8" name="Freeform 1127"/>
              <p:cNvSpPr>
                <a:spLocks/>
              </p:cNvSpPr>
              <p:nvPr/>
            </p:nvSpPr>
            <p:spPr bwMode="auto">
              <a:xfrm>
                <a:off x="4566"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9" name="Freeform 1128"/>
              <p:cNvSpPr>
                <a:spLocks/>
              </p:cNvSpPr>
              <p:nvPr/>
            </p:nvSpPr>
            <p:spPr bwMode="auto">
              <a:xfrm>
                <a:off x="4624"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0" name="Freeform 1129"/>
              <p:cNvSpPr>
                <a:spLocks/>
              </p:cNvSpPr>
              <p:nvPr/>
            </p:nvSpPr>
            <p:spPr bwMode="auto">
              <a:xfrm>
                <a:off x="4823"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1" name="Freeform 1130"/>
              <p:cNvSpPr>
                <a:spLocks/>
              </p:cNvSpPr>
              <p:nvPr/>
            </p:nvSpPr>
            <p:spPr bwMode="auto">
              <a:xfrm>
                <a:off x="4825" y="1856"/>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2" name="Freeform 1131"/>
              <p:cNvSpPr>
                <a:spLocks/>
              </p:cNvSpPr>
              <p:nvPr/>
            </p:nvSpPr>
            <p:spPr bwMode="auto">
              <a:xfrm>
                <a:off x="4884" y="1856"/>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3" name="Freeform 1132"/>
              <p:cNvSpPr>
                <a:spLocks/>
              </p:cNvSpPr>
              <p:nvPr/>
            </p:nvSpPr>
            <p:spPr bwMode="auto">
              <a:xfrm>
                <a:off x="4889"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14" name="Freeform 1133"/>
              <p:cNvSpPr>
                <a:spLocks/>
              </p:cNvSpPr>
              <p:nvPr/>
            </p:nvSpPr>
            <p:spPr bwMode="auto">
              <a:xfrm>
                <a:off x="1028"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15" name="Freeform 1134"/>
              <p:cNvSpPr>
                <a:spLocks/>
              </p:cNvSpPr>
              <p:nvPr/>
            </p:nvSpPr>
            <p:spPr bwMode="auto">
              <a:xfrm>
                <a:off x="1304"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6" name="Freeform 1135"/>
              <p:cNvSpPr>
                <a:spLocks/>
              </p:cNvSpPr>
              <p:nvPr/>
            </p:nvSpPr>
            <p:spPr bwMode="auto">
              <a:xfrm>
                <a:off x="1318" y="1818"/>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17" name="Freeform 1136"/>
              <p:cNvSpPr>
                <a:spLocks/>
              </p:cNvSpPr>
              <p:nvPr/>
            </p:nvSpPr>
            <p:spPr bwMode="auto">
              <a:xfrm>
                <a:off x="1323"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18" name="Freeform 1137"/>
              <p:cNvSpPr>
                <a:spLocks/>
              </p:cNvSpPr>
              <p:nvPr/>
            </p:nvSpPr>
            <p:spPr bwMode="auto">
              <a:xfrm>
                <a:off x="1332" y="1818"/>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9" name="Freeform 1138"/>
              <p:cNvSpPr>
                <a:spLocks/>
              </p:cNvSpPr>
              <p:nvPr/>
            </p:nvSpPr>
            <p:spPr bwMode="auto">
              <a:xfrm>
                <a:off x="1353" y="1818"/>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20" name="Freeform 1139"/>
              <p:cNvSpPr>
                <a:spLocks/>
              </p:cNvSpPr>
              <p:nvPr/>
            </p:nvSpPr>
            <p:spPr bwMode="auto">
              <a:xfrm>
                <a:off x="1358"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21" name="Freeform 1140"/>
              <p:cNvSpPr>
                <a:spLocks/>
              </p:cNvSpPr>
              <p:nvPr/>
            </p:nvSpPr>
            <p:spPr bwMode="auto">
              <a:xfrm>
                <a:off x="1375"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22" name="Freeform 1141"/>
              <p:cNvSpPr>
                <a:spLocks/>
              </p:cNvSpPr>
              <p:nvPr/>
            </p:nvSpPr>
            <p:spPr bwMode="auto">
              <a:xfrm>
                <a:off x="1548"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23" name="Freeform 1142"/>
              <p:cNvSpPr>
                <a:spLocks/>
              </p:cNvSpPr>
              <p:nvPr/>
            </p:nvSpPr>
            <p:spPr bwMode="auto">
              <a:xfrm>
                <a:off x="1552" y="1818"/>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24" name="Freeform 1143"/>
              <p:cNvSpPr>
                <a:spLocks/>
              </p:cNvSpPr>
              <p:nvPr/>
            </p:nvSpPr>
            <p:spPr bwMode="auto">
              <a:xfrm>
                <a:off x="1557"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25" name="Freeform 1144"/>
              <p:cNvSpPr>
                <a:spLocks/>
              </p:cNvSpPr>
              <p:nvPr/>
            </p:nvSpPr>
            <p:spPr bwMode="auto">
              <a:xfrm>
                <a:off x="1560" y="181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26" name="Freeform 1145"/>
              <p:cNvSpPr>
                <a:spLocks/>
              </p:cNvSpPr>
              <p:nvPr/>
            </p:nvSpPr>
            <p:spPr bwMode="auto">
              <a:xfrm>
                <a:off x="1564"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27" name="Freeform 1146"/>
              <p:cNvSpPr>
                <a:spLocks/>
              </p:cNvSpPr>
              <p:nvPr/>
            </p:nvSpPr>
            <p:spPr bwMode="auto">
              <a:xfrm>
                <a:off x="1576" y="181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28" name="Freeform 1147"/>
              <p:cNvSpPr>
                <a:spLocks/>
              </p:cNvSpPr>
              <p:nvPr/>
            </p:nvSpPr>
            <p:spPr bwMode="auto">
              <a:xfrm>
                <a:off x="1588"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29" name="Freeform 1148"/>
              <p:cNvSpPr>
                <a:spLocks/>
              </p:cNvSpPr>
              <p:nvPr/>
            </p:nvSpPr>
            <p:spPr bwMode="auto">
              <a:xfrm>
                <a:off x="1613"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30" name="Freeform 1149"/>
              <p:cNvSpPr>
                <a:spLocks/>
              </p:cNvSpPr>
              <p:nvPr/>
            </p:nvSpPr>
            <p:spPr bwMode="auto">
              <a:xfrm>
                <a:off x="1711" y="1818"/>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31" name="Freeform 1150"/>
              <p:cNvSpPr>
                <a:spLocks/>
              </p:cNvSpPr>
              <p:nvPr/>
            </p:nvSpPr>
            <p:spPr bwMode="auto">
              <a:xfrm>
                <a:off x="1775"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32" name="Freeform 1151"/>
              <p:cNvSpPr>
                <a:spLocks/>
              </p:cNvSpPr>
              <p:nvPr/>
            </p:nvSpPr>
            <p:spPr bwMode="auto">
              <a:xfrm>
                <a:off x="2363"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33" name="Freeform 1152"/>
              <p:cNvSpPr>
                <a:spLocks/>
              </p:cNvSpPr>
              <p:nvPr/>
            </p:nvSpPr>
            <p:spPr bwMode="auto">
              <a:xfrm>
                <a:off x="2533"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34" name="Freeform 1153"/>
              <p:cNvSpPr>
                <a:spLocks/>
              </p:cNvSpPr>
              <p:nvPr/>
            </p:nvSpPr>
            <p:spPr bwMode="auto">
              <a:xfrm>
                <a:off x="2538"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35" name="Freeform 1154"/>
              <p:cNvSpPr>
                <a:spLocks/>
              </p:cNvSpPr>
              <p:nvPr/>
            </p:nvSpPr>
            <p:spPr bwMode="auto">
              <a:xfrm>
                <a:off x="2541" y="181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36" name="Freeform 1155"/>
              <p:cNvSpPr>
                <a:spLocks/>
              </p:cNvSpPr>
              <p:nvPr/>
            </p:nvSpPr>
            <p:spPr bwMode="auto">
              <a:xfrm>
                <a:off x="2545"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37" name="Freeform 1156"/>
              <p:cNvSpPr>
                <a:spLocks/>
              </p:cNvSpPr>
              <p:nvPr/>
            </p:nvSpPr>
            <p:spPr bwMode="auto">
              <a:xfrm>
                <a:off x="2615"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38" name="Freeform 1157"/>
              <p:cNvSpPr>
                <a:spLocks/>
              </p:cNvSpPr>
              <p:nvPr/>
            </p:nvSpPr>
            <p:spPr bwMode="auto">
              <a:xfrm>
                <a:off x="2623"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39" name="Freeform 1158"/>
              <p:cNvSpPr>
                <a:spLocks/>
              </p:cNvSpPr>
              <p:nvPr/>
            </p:nvSpPr>
            <p:spPr bwMode="auto">
              <a:xfrm>
                <a:off x="2629"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0" name="Freeform 1159"/>
              <p:cNvSpPr>
                <a:spLocks/>
              </p:cNvSpPr>
              <p:nvPr/>
            </p:nvSpPr>
            <p:spPr bwMode="auto">
              <a:xfrm>
                <a:off x="2636"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1" name="Freeform 1160"/>
              <p:cNvSpPr>
                <a:spLocks/>
              </p:cNvSpPr>
              <p:nvPr/>
            </p:nvSpPr>
            <p:spPr bwMode="auto">
              <a:xfrm>
                <a:off x="2887"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42" name="Freeform 1161"/>
              <p:cNvSpPr>
                <a:spLocks/>
              </p:cNvSpPr>
              <p:nvPr/>
            </p:nvSpPr>
            <p:spPr bwMode="auto">
              <a:xfrm>
                <a:off x="2978"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3" name="Freeform 1162"/>
              <p:cNvSpPr>
                <a:spLocks/>
              </p:cNvSpPr>
              <p:nvPr/>
            </p:nvSpPr>
            <p:spPr bwMode="auto">
              <a:xfrm>
                <a:off x="2992" y="1818"/>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44" name="Freeform 1163"/>
              <p:cNvSpPr>
                <a:spLocks/>
              </p:cNvSpPr>
              <p:nvPr/>
            </p:nvSpPr>
            <p:spPr bwMode="auto">
              <a:xfrm>
                <a:off x="2997"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45" name="Freeform 1164"/>
              <p:cNvSpPr>
                <a:spLocks/>
              </p:cNvSpPr>
              <p:nvPr/>
            </p:nvSpPr>
            <p:spPr bwMode="auto">
              <a:xfrm>
                <a:off x="3013"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6" name="Freeform 1165"/>
              <p:cNvSpPr>
                <a:spLocks/>
              </p:cNvSpPr>
              <p:nvPr/>
            </p:nvSpPr>
            <p:spPr bwMode="auto">
              <a:xfrm>
                <a:off x="3018"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7" name="Freeform 1166"/>
              <p:cNvSpPr>
                <a:spLocks/>
              </p:cNvSpPr>
              <p:nvPr/>
            </p:nvSpPr>
            <p:spPr bwMode="auto">
              <a:xfrm>
                <a:off x="3182"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48" name="Freeform 1167"/>
              <p:cNvSpPr>
                <a:spLocks/>
              </p:cNvSpPr>
              <p:nvPr/>
            </p:nvSpPr>
            <p:spPr bwMode="auto">
              <a:xfrm>
                <a:off x="3193" y="1818"/>
                <a:ext cx="10" cy="8"/>
              </a:xfrm>
              <a:custGeom>
                <a:avLst/>
                <a:gdLst>
                  <a:gd name="T0" fmla="*/ 1 w 10"/>
                  <a:gd name="T1" fmla="*/ 0 h 8"/>
                  <a:gd name="T2" fmla="*/ 6 w 10"/>
                  <a:gd name="T3" fmla="*/ 0 h 8"/>
                  <a:gd name="T4" fmla="*/ 10 w 10"/>
                  <a:gd name="T5" fmla="*/ 3 h 8"/>
                  <a:gd name="T6" fmla="*/ 10 w 10"/>
                  <a:gd name="T7" fmla="*/ 5 h 8"/>
                  <a:gd name="T8" fmla="*/ 6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6" y="0"/>
                    </a:lnTo>
                    <a:lnTo>
                      <a:pt x="10" y="3"/>
                    </a:lnTo>
                    <a:lnTo>
                      <a:pt x="10" y="5"/>
                    </a:lnTo>
                    <a:lnTo>
                      <a:pt x="6"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49" name="Freeform 1168"/>
              <p:cNvSpPr>
                <a:spLocks/>
              </p:cNvSpPr>
              <p:nvPr/>
            </p:nvSpPr>
            <p:spPr bwMode="auto">
              <a:xfrm>
                <a:off x="3222"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50" name="Freeform 1169"/>
              <p:cNvSpPr>
                <a:spLocks/>
              </p:cNvSpPr>
              <p:nvPr/>
            </p:nvSpPr>
            <p:spPr bwMode="auto">
              <a:xfrm>
                <a:off x="3229"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51" name="Freeform 1170"/>
              <p:cNvSpPr>
                <a:spLocks/>
              </p:cNvSpPr>
              <p:nvPr/>
            </p:nvSpPr>
            <p:spPr bwMode="auto">
              <a:xfrm>
                <a:off x="3238" y="1818"/>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52" name="Freeform 1171"/>
              <p:cNvSpPr>
                <a:spLocks/>
              </p:cNvSpPr>
              <p:nvPr/>
            </p:nvSpPr>
            <p:spPr bwMode="auto">
              <a:xfrm>
                <a:off x="3278"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53" name="Freeform 1172"/>
              <p:cNvSpPr>
                <a:spLocks/>
              </p:cNvSpPr>
              <p:nvPr/>
            </p:nvSpPr>
            <p:spPr bwMode="auto">
              <a:xfrm>
                <a:off x="3282" y="1818"/>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54" name="Freeform 1173"/>
              <p:cNvSpPr>
                <a:spLocks/>
              </p:cNvSpPr>
              <p:nvPr/>
            </p:nvSpPr>
            <p:spPr bwMode="auto">
              <a:xfrm>
                <a:off x="3552"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55" name="Freeform 1174"/>
              <p:cNvSpPr>
                <a:spLocks/>
              </p:cNvSpPr>
              <p:nvPr/>
            </p:nvSpPr>
            <p:spPr bwMode="auto">
              <a:xfrm>
                <a:off x="3582"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56" name="Freeform 1175"/>
              <p:cNvSpPr>
                <a:spLocks/>
              </p:cNvSpPr>
              <p:nvPr/>
            </p:nvSpPr>
            <p:spPr bwMode="auto">
              <a:xfrm>
                <a:off x="4207"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57" name="Freeform 1176"/>
              <p:cNvSpPr>
                <a:spLocks/>
              </p:cNvSpPr>
              <p:nvPr/>
            </p:nvSpPr>
            <p:spPr bwMode="auto">
              <a:xfrm>
                <a:off x="4208"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58" name="Freeform 1177"/>
              <p:cNvSpPr>
                <a:spLocks/>
              </p:cNvSpPr>
              <p:nvPr/>
            </p:nvSpPr>
            <p:spPr bwMode="auto">
              <a:xfrm>
                <a:off x="4224"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59" name="Freeform 1178"/>
              <p:cNvSpPr>
                <a:spLocks/>
              </p:cNvSpPr>
              <p:nvPr/>
            </p:nvSpPr>
            <p:spPr bwMode="auto">
              <a:xfrm>
                <a:off x="4297"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60" name="Freeform 1179"/>
              <p:cNvSpPr>
                <a:spLocks/>
              </p:cNvSpPr>
              <p:nvPr/>
            </p:nvSpPr>
            <p:spPr bwMode="auto">
              <a:xfrm>
                <a:off x="4379" y="181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61" name="Freeform 1180"/>
              <p:cNvSpPr>
                <a:spLocks/>
              </p:cNvSpPr>
              <p:nvPr/>
            </p:nvSpPr>
            <p:spPr bwMode="auto">
              <a:xfrm>
                <a:off x="4441"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62" name="Freeform 1181"/>
              <p:cNvSpPr>
                <a:spLocks/>
              </p:cNvSpPr>
              <p:nvPr/>
            </p:nvSpPr>
            <p:spPr bwMode="auto">
              <a:xfrm>
                <a:off x="4448"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63" name="Freeform 1182"/>
              <p:cNvSpPr>
                <a:spLocks/>
              </p:cNvSpPr>
              <p:nvPr/>
            </p:nvSpPr>
            <p:spPr bwMode="auto">
              <a:xfrm>
                <a:off x="4451" y="1818"/>
                <a:ext cx="10" cy="8"/>
              </a:xfrm>
              <a:custGeom>
                <a:avLst/>
                <a:gdLst>
                  <a:gd name="T0" fmla="*/ 4 w 10"/>
                  <a:gd name="T1" fmla="*/ 0 h 8"/>
                  <a:gd name="T2" fmla="*/ 9 w 10"/>
                  <a:gd name="T3" fmla="*/ 0 h 8"/>
                  <a:gd name="T4" fmla="*/ 10 w 10"/>
                  <a:gd name="T5" fmla="*/ 1 h 8"/>
                  <a:gd name="T6" fmla="*/ 10 w 10"/>
                  <a:gd name="T7" fmla="*/ 7 h 8"/>
                  <a:gd name="T8" fmla="*/ 9 w 10"/>
                  <a:gd name="T9" fmla="*/ 8 h 8"/>
                  <a:gd name="T10" fmla="*/ 4 w 10"/>
                  <a:gd name="T11" fmla="*/ 8 h 8"/>
                  <a:gd name="T12" fmla="*/ 0 w 10"/>
                  <a:gd name="T13" fmla="*/ 5 h 8"/>
                  <a:gd name="T14" fmla="*/ 0 w 10"/>
                  <a:gd name="T15" fmla="*/ 3 h 8"/>
                  <a:gd name="T16" fmla="*/ 4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0"/>
                    </a:moveTo>
                    <a:lnTo>
                      <a:pt x="9" y="0"/>
                    </a:lnTo>
                    <a:lnTo>
                      <a:pt x="10" y="1"/>
                    </a:lnTo>
                    <a:lnTo>
                      <a:pt x="10"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64" name="Freeform 1183"/>
              <p:cNvSpPr>
                <a:spLocks/>
              </p:cNvSpPr>
              <p:nvPr/>
            </p:nvSpPr>
            <p:spPr bwMode="auto">
              <a:xfrm>
                <a:off x="4512"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65" name="Freeform 1184"/>
              <p:cNvSpPr>
                <a:spLocks/>
              </p:cNvSpPr>
              <p:nvPr/>
            </p:nvSpPr>
            <p:spPr bwMode="auto">
              <a:xfrm>
                <a:off x="1569" y="177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66" name="Freeform 1185"/>
              <p:cNvSpPr>
                <a:spLocks/>
              </p:cNvSpPr>
              <p:nvPr/>
            </p:nvSpPr>
            <p:spPr bwMode="auto">
              <a:xfrm>
                <a:off x="1573" y="177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67" name="Freeform 1186"/>
              <p:cNvSpPr>
                <a:spLocks/>
              </p:cNvSpPr>
              <p:nvPr/>
            </p:nvSpPr>
            <p:spPr bwMode="auto">
              <a:xfrm>
                <a:off x="1574" y="177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68" name="Freeform 1187"/>
              <p:cNvSpPr>
                <a:spLocks/>
              </p:cNvSpPr>
              <p:nvPr/>
            </p:nvSpPr>
            <p:spPr bwMode="auto">
              <a:xfrm>
                <a:off x="1580"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69" name="Freeform 1188"/>
              <p:cNvSpPr>
                <a:spLocks/>
              </p:cNvSpPr>
              <p:nvPr/>
            </p:nvSpPr>
            <p:spPr bwMode="auto">
              <a:xfrm>
                <a:off x="2419" y="177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70" name="Freeform 1189"/>
              <p:cNvSpPr>
                <a:spLocks/>
              </p:cNvSpPr>
              <p:nvPr/>
            </p:nvSpPr>
            <p:spPr bwMode="auto">
              <a:xfrm>
                <a:off x="2520" y="177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71" name="Freeform 1190"/>
              <p:cNvSpPr>
                <a:spLocks/>
              </p:cNvSpPr>
              <p:nvPr/>
            </p:nvSpPr>
            <p:spPr bwMode="auto">
              <a:xfrm>
                <a:off x="2526"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72" name="Freeform 1191"/>
              <p:cNvSpPr>
                <a:spLocks/>
              </p:cNvSpPr>
              <p:nvPr/>
            </p:nvSpPr>
            <p:spPr bwMode="auto">
              <a:xfrm>
                <a:off x="2534" y="177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73" name="Freeform 1192"/>
              <p:cNvSpPr>
                <a:spLocks/>
              </p:cNvSpPr>
              <p:nvPr/>
            </p:nvSpPr>
            <p:spPr bwMode="auto">
              <a:xfrm>
                <a:off x="2545"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74" name="Freeform 1193"/>
              <p:cNvSpPr>
                <a:spLocks/>
              </p:cNvSpPr>
              <p:nvPr/>
            </p:nvSpPr>
            <p:spPr bwMode="auto">
              <a:xfrm>
                <a:off x="2575" y="1778"/>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75" name="Freeform 1194"/>
              <p:cNvSpPr>
                <a:spLocks/>
              </p:cNvSpPr>
              <p:nvPr/>
            </p:nvSpPr>
            <p:spPr bwMode="auto">
              <a:xfrm>
                <a:off x="2582"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76" name="Freeform 1195"/>
              <p:cNvSpPr>
                <a:spLocks/>
              </p:cNvSpPr>
              <p:nvPr/>
            </p:nvSpPr>
            <p:spPr bwMode="auto">
              <a:xfrm>
                <a:off x="2589"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77" name="Freeform 1196"/>
              <p:cNvSpPr>
                <a:spLocks/>
              </p:cNvSpPr>
              <p:nvPr/>
            </p:nvSpPr>
            <p:spPr bwMode="auto">
              <a:xfrm>
                <a:off x="2597" y="177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78" name="Freeform 1197"/>
              <p:cNvSpPr>
                <a:spLocks/>
              </p:cNvSpPr>
              <p:nvPr/>
            </p:nvSpPr>
            <p:spPr bwMode="auto">
              <a:xfrm>
                <a:off x="3262" y="177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79" name="Freeform 1198"/>
              <p:cNvSpPr>
                <a:spLocks/>
              </p:cNvSpPr>
              <p:nvPr/>
            </p:nvSpPr>
            <p:spPr bwMode="auto">
              <a:xfrm>
                <a:off x="3287" y="1778"/>
                <a:ext cx="8" cy="8"/>
              </a:xfrm>
              <a:custGeom>
                <a:avLst/>
                <a:gdLst>
                  <a:gd name="T0" fmla="*/ 2 w 8"/>
                  <a:gd name="T1" fmla="*/ 0 h 8"/>
                  <a:gd name="T2" fmla="*/ 5 w 8"/>
                  <a:gd name="T3" fmla="*/ 0 h 8"/>
                  <a:gd name="T4" fmla="*/ 8 w 8"/>
                  <a:gd name="T5" fmla="*/ 3 h 8"/>
                  <a:gd name="T6" fmla="*/ 8 w 8"/>
                  <a:gd name="T7" fmla="*/ 7 h 8"/>
                  <a:gd name="T8" fmla="*/ 7 w 8"/>
                  <a:gd name="T9" fmla="*/ 8 h 8"/>
                  <a:gd name="T10" fmla="*/ 2 w 8"/>
                  <a:gd name="T11" fmla="*/ 8 h 8"/>
                  <a:gd name="T12" fmla="*/ 0 w 8"/>
                  <a:gd name="T13" fmla="*/ 7 h 8"/>
                  <a:gd name="T14" fmla="*/ 0 w 8"/>
                  <a:gd name="T15" fmla="*/ 1 h 8"/>
                  <a:gd name="T16" fmla="*/ 2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2" y="0"/>
                    </a:moveTo>
                    <a:lnTo>
                      <a:pt x="5" y="0"/>
                    </a:lnTo>
                    <a:lnTo>
                      <a:pt x="8" y="3"/>
                    </a:lnTo>
                    <a:lnTo>
                      <a:pt x="8"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80" name="Freeform 1199"/>
              <p:cNvSpPr>
                <a:spLocks/>
              </p:cNvSpPr>
              <p:nvPr/>
            </p:nvSpPr>
            <p:spPr bwMode="auto">
              <a:xfrm>
                <a:off x="3290" y="177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81" name="Freeform 1200"/>
              <p:cNvSpPr>
                <a:spLocks/>
              </p:cNvSpPr>
              <p:nvPr/>
            </p:nvSpPr>
            <p:spPr bwMode="auto">
              <a:xfrm>
                <a:off x="3294"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2" name="Freeform 1201"/>
              <p:cNvSpPr>
                <a:spLocks/>
              </p:cNvSpPr>
              <p:nvPr/>
            </p:nvSpPr>
            <p:spPr bwMode="auto">
              <a:xfrm>
                <a:off x="3304" y="177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83" name="Freeform 1202"/>
              <p:cNvSpPr>
                <a:spLocks/>
              </p:cNvSpPr>
              <p:nvPr/>
            </p:nvSpPr>
            <p:spPr bwMode="auto">
              <a:xfrm>
                <a:off x="3306"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4" name="Freeform 1203"/>
              <p:cNvSpPr>
                <a:spLocks/>
              </p:cNvSpPr>
              <p:nvPr/>
            </p:nvSpPr>
            <p:spPr bwMode="auto">
              <a:xfrm>
                <a:off x="3535" y="177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85" name="Freeform 1204"/>
              <p:cNvSpPr>
                <a:spLocks/>
              </p:cNvSpPr>
              <p:nvPr/>
            </p:nvSpPr>
            <p:spPr bwMode="auto">
              <a:xfrm>
                <a:off x="3563" y="1778"/>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6" name="Freeform 1205"/>
              <p:cNvSpPr>
                <a:spLocks/>
              </p:cNvSpPr>
              <p:nvPr/>
            </p:nvSpPr>
            <p:spPr bwMode="auto">
              <a:xfrm>
                <a:off x="4205" y="1778"/>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7" name="Freeform 1206"/>
              <p:cNvSpPr>
                <a:spLocks/>
              </p:cNvSpPr>
              <p:nvPr/>
            </p:nvSpPr>
            <p:spPr bwMode="auto">
              <a:xfrm>
                <a:off x="4219"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8" name="Freeform 1207"/>
              <p:cNvSpPr>
                <a:spLocks/>
              </p:cNvSpPr>
              <p:nvPr/>
            </p:nvSpPr>
            <p:spPr bwMode="auto">
              <a:xfrm>
                <a:off x="4278" y="177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89" name="Freeform 1208"/>
              <p:cNvSpPr>
                <a:spLocks/>
              </p:cNvSpPr>
              <p:nvPr/>
            </p:nvSpPr>
            <p:spPr bwMode="auto">
              <a:xfrm>
                <a:off x="4411"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90" name="Freeform 1209"/>
              <p:cNvSpPr>
                <a:spLocks/>
              </p:cNvSpPr>
              <p:nvPr/>
            </p:nvSpPr>
            <p:spPr bwMode="auto">
              <a:xfrm>
                <a:off x="1583"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8" name="Group 1411"/>
            <p:cNvGrpSpPr>
              <a:grpSpLocks/>
            </p:cNvGrpSpPr>
            <p:nvPr/>
          </p:nvGrpSpPr>
          <p:grpSpPr bwMode="auto">
            <a:xfrm>
              <a:off x="1695455" y="2505159"/>
              <a:ext cx="6065857" cy="266709"/>
              <a:chOff x="1068" y="1578"/>
              <a:chExt cx="3821" cy="168"/>
            </a:xfrm>
          </p:grpSpPr>
          <p:sp>
            <p:nvSpPr>
              <p:cNvPr id="1491" name="Freeform 1211"/>
              <p:cNvSpPr>
                <a:spLocks/>
              </p:cNvSpPr>
              <p:nvPr/>
            </p:nvSpPr>
            <p:spPr bwMode="auto">
              <a:xfrm>
                <a:off x="1587" y="1737"/>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92" name="Freeform 1212"/>
              <p:cNvSpPr>
                <a:spLocks/>
              </p:cNvSpPr>
              <p:nvPr/>
            </p:nvSpPr>
            <p:spPr bwMode="auto">
              <a:xfrm>
                <a:off x="1728" y="173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3" name="Freeform 1213"/>
              <p:cNvSpPr>
                <a:spLocks/>
              </p:cNvSpPr>
              <p:nvPr/>
            </p:nvSpPr>
            <p:spPr bwMode="auto">
              <a:xfrm>
                <a:off x="2393" y="173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4" name="Freeform 1214"/>
              <p:cNvSpPr>
                <a:spLocks/>
              </p:cNvSpPr>
              <p:nvPr/>
            </p:nvSpPr>
            <p:spPr bwMode="auto">
              <a:xfrm>
                <a:off x="2508"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95" name="Freeform 1215"/>
              <p:cNvSpPr>
                <a:spLocks/>
              </p:cNvSpPr>
              <p:nvPr/>
            </p:nvSpPr>
            <p:spPr bwMode="auto">
              <a:xfrm>
                <a:off x="2510"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96" name="Freeform 1216"/>
              <p:cNvSpPr>
                <a:spLocks/>
              </p:cNvSpPr>
              <p:nvPr/>
            </p:nvSpPr>
            <p:spPr bwMode="auto">
              <a:xfrm>
                <a:off x="2515"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97" name="Freeform 1217"/>
              <p:cNvSpPr>
                <a:spLocks/>
              </p:cNvSpPr>
              <p:nvPr/>
            </p:nvSpPr>
            <p:spPr bwMode="auto">
              <a:xfrm>
                <a:off x="2519" y="1737"/>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98" name="Freeform 1218"/>
              <p:cNvSpPr>
                <a:spLocks/>
              </p:cNvSpPr>
              <p:nvPr/>
            </p:nvSpPr>
            <p:spPr bwMode="auto">
              <a:xfrm>
                <a:off x="2533" y="1737"/>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99" name="Freeform 1219"/>
              <p:cNvSpPr>
                <a:spLocks/>
              </p:cNvSpPr>
              <p:nvPr/>
            </p:nvSpPr>
            <p:spPr bwMode="auto">
              <a:xfrm>
                <a:off x="2534"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0" name="Freeform 1220"/>
              <p:cNvSpPr>
                <a:spLocks/>
              </p:cNvSpPr>
              <p:nvPr/>
            </p:nvSpPr>
            <p:spPr bwMode="auto">
              <a:xfrm>
                <a:off x="2550"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1" name="Freeform 1221"/>
              <p:cNvSpPr>
                <a:spLocks/>
              </p:cNvSpPr>
              <p:nvPr/>
            </p:nvSpPr>
            <p:spPr bwMode="auto">
              <a:xfrm>
                <a:off x="2554" y="173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02" name="Freeform 1222"/>
              <p:cNvSpPr>
                <a:spLocks/>
              </p:cNvSpPr>
              <p:nvPr/>
            </p:nvSpPr>
            <p:spPr bwMode="auto">
              <a:xfrm>
                <a:off x="2557"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3" name="Freeform 1223"/>
              <p:cNvSpPr>
                <a:spLocks/>
              </p:cNvSpPr>
              <p:nvPr/>
            </p:nvSpPr>
            <p:spPr bwMode="auto">
              <a:xfrm>
                <a:off x="2561" y="173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04" name="Freeform 1224"/>
              <p:cNvSpPr>
                <a:spLocks/>
              </p:cNvSpPr>
              <p:nvPr/>
            </p:nvSpPr>
            <p:spPr bwMode="auto">
              <a:xfrm>
                <a:off x="2568" y="1737"/>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05" name="Freeform 1225"/>
              <p:cNvSpPr>
                <a:spLocks/>
              </p:cNvSpPr>
              <p:nvPr/>
            </p:nvSpPr>
            <p:spPr bwMode="auto">
              <a:xfrm>
                <a:off x="2569" y="173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06" name="Freeform 1226"/>
              <p:cNvSpPr>
                <a:spLocks/>
              </p:cNvSpPr>
              <p:nvPr/>
            </p:nvSpPr>
            <p:spPr bwMode="auto">
              <a:xfrm>
                <a:off x="2606"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7" name="Freeform 1227"/>
              <p:cNvSpPr>
                <a:spLocks/>
              </p:cNvSpPr>
              <p:nvPr/>
            </p:nvSpPr>
            <p:spPr bwMode="auto">
              <a:xfrm>
                <a:off x="3030"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8" name="Freeform 1228"/>
              <p:cNvSpPr>
                <a:spLocks/>
              </p:cNvSpPr>
              <p:nvPr/>
            </p:nvSpPr>
            <p:spPr bwMode="auto">
              <a:xfrm>
                <a:off x="3262"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9" name="Freeform 1229"/>
              <p:cNvSpPr>
                <a:spLocks/>
              </p:cNvSpPr>
              <p:nvPr/>
            </p:nvSpPr>
            <p:spPr bwMode="auto">
              <a:xfrm>
                <a:off x="3264"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0" name="Freeform 1230"/>
              <p:cNvSpPr>
                <a:spLocks/>
              </p:cNvSpPr>
              <p:nvPr/>
            </p:nvSpPr>
            <p:spPr bwMode="auto">
              <a:xfrm>
                <a:off x="3266" y="1737"/>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11" name="Freeform 1231"/>
              <p:cNvSpPr>
                <a:spLocks/>
              </p:cNvSpPr>
              <p:nvPr/>
            </p:nvSpPr>
            <p:spPr bwMode="auto">
              <a:xfrm>
                <a:off x="3278"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2" name="Freeform 1232"/>
              <p:cNvSpPr>
                <a:spLocks/>
              </p:cNvSpPr>
              <p:nvPr/>
            </p:nvSpPr>
            <p:spPr bwMode="auto">
              <a:xfrm>
                <a:off x="3282" y="1737"/>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13" name="Freeform 1233"/>
              <p:cNvSpPr>
                <a:spLocks/>
              </p:cNvSpPr>
              <p:nvPr/>
            </p:nvSpPr>
            <p:spPr bwMode="auto">
              <a:xfrm>
                <a:off x="3309"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4" name="Freeform 1234"/>
              <p:cNvSpPr>
                <a:spLocks/>
              </p:cNvSpPr>
              <p:nvPr/>
            </p:nvSpPr>
            <p:spPr bwMode="auto">
              <a:xfrm>
                <a:off x="3313" y="1737"/>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15" name="Freeform 1235"/>
              <p:cNvSpPr>
                <a:spLocks/>
              </p:cNvSpPr>
              <p:nvPr/>
            </p:nvSpPr>
            <p:spPr bwMode="auto">
              <a:xfrm>
                <a:off x="3498" y="1737"/>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6" name="Freeform 1236"/>
              <p:cNvSpPr>
                <a:spLocks/>
              </p:cNvSpPr>
              <p:nvPr/>
            </p:nvSpPr>
            <p:spPr bwMode="auto">
              <a:xfrm>
                <a:off x="3512" y="1737"/>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7" name="Freeform 1237"/>
              <p:cNvSpPr>
                <a:spLocks/>
              </p:cNvSpPr>
              <p:nvPr/>
            </p:nvSpPr>
            <p:spPr bwMode="auto">
              <a:xfrm>
                <a:off x="4172" y="173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18" name="Freeform 1238"/>
              <p:cNvSpPr>
                <a:spLocks/>
              </p:cNvSpPr>
              <p:nvPr/>
            </p:nvSpPr>
            <p:spPr bwMode="auto">
              <a:xfrm>
                <a:off x="4182"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9" name="Freeform 1239"/>
              <p:cNvSpPr>
                <a:spLocks/>
              </p:cNvSpPr>
              <p:nvPr/>
            </p:nvSpPr>
            <p:spPr bwMode="auto">
              <a:xfrm>
                <a:off x="4184"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0" name="Freeform 1240"/>
              <p:cNvSpPr>
                <a:spLocks/>
              </p:cNvSpPr>
              <p:nvPr/>
            </p:nvSpPr>
            <p:spPr bwMode="auto">
              <a:xfrm>
                <a:off x="4208"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1" name="Freeform 1241"/>
              <p:cNvSpPr>
                <a:spLocks/>
              </p:cNvSpPr>
              <p:nvPr/>
            </p:nvSpPr>
            <p:spPr bwMode="auto">
              <a:xfrm>
                <a:off x="4210"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2" name="Freeform 1242"/>
              <p:cNvSpPr>
                <a:spLocks/>
              </p:cNvSpPr>
              <p:nvPr/>
            </p:nvSpPr>
            <p:spPr bwMode="auto">
              <a:xfrm>
                <a:off x="4269"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3" name="Freeform 1243"/>
              <p:cNvSpPr>
                <a:spLocks/>
              </p:cNvSpPr>
              <p:nvPr/>
            </p:nvSpPr>
            <p:spPr bwMode="auto">
              <a:xfrm>
                <a:off x="4880"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4" name="Freeform 1244"/>
              <p:cNvSpPr>
                <a:spLocks/>
              </p:cNvSpPr>
              <p:nvPr/>
            </p:nvSpPr>
            <p:spPr bwMode="auto">
              <a:xfrm>
                <a:off x="1203"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25" name="Freeform 1245"/>
              <p:cNvSpPr>
                <a:spLocks/>
              </p:cNvSpPr>
              <p:nvPr/>
            </p:nvSpPr>
            <p:spPr bwMode="auto">
              <a:xfrm>
                <a:off x="1204"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6" name="Freeform 1246"/>
              <p:cNvSpPr>
                <a:spLocks/>
              </p:cNvSpPr>
              <p:nvPr/>
            </p:nvSpPr>
            <p:spPr bwMode="auto">
              <a:xfrm>
                <a:off x="1206"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7" name="Freeform 1247"/>
              <p:cNvSpPr>
                <a:spLocks/>
              </p:cNvSpPr>
              <p:nvPr/>
            </p:nvSpPr>
            <p:spPr bwMode="auto">
              <a:xfrm>
                <a:off x="1213"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8" name="Freeform 1248"/>
              <p:cNvSpPr>
                <a:spLocks/>
              </p:cNvSpPr>
              <p:nvPr/>
            </p:nvSpPr>
            <p:spPr bwMode="auto">
              <a:xfrm>
                <a:off x="1220"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9" name="Freeform 1249"/>
              <p:cNvSpPr>
                <a:spLocks/>
              </p:cNvSpPr>
              <p:nvPr/>
            </p:nvSpPr>
            <p:spPr bwMode="auto">
              <a:xfrm>
                <a:off x="1227"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0" name="Freeform 1250"/>
              <p:cNvSpPr>
                <a:spLocks/>
              </p:cNvSpPr>
              <p:nvPr/>
            </p:nvSpPr>
            <p:spPr bwMode="auto">
              <a:xfrm>
                <a:off x="1232"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1" name="Freeform 1251"/>
              <p:cNvSpPr>
                <a:spLocks/>
              </p:cNvSpPr>
              <p:nvPr/>
            </p:nvSpPr>
            <p:spPr bwMode="auto">
              <a:xfrm>
                <a:off x="1241"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2" name="Freeform 1252"/>
              <p:cNvSpPr>
                <a:spLocks/>
              </p:cNvSpPr>
              <p:nvPr/>
            </p:nvSpPr>
            <p:spPr bwMode="auto">
              <a:xfrm>
                <a:off x="1245"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33" name="Freeform 1253"/>
              <p:cNvSpPr>
                <a:spLocks/>
              </p:cNvSpPr>
              <p:nvPr/>
            </p:nvSpPr>
            <p:spPr bwMode="auto">
              <a:xfrm>
                <a:off x="1248" y="1697"/>
                <a:ext cx="10" cy="11"/>
              </a:xfrm>
              <a:custGeom>
                <a:avLst/>
                <a:gdLst>
                  <a:gd name="T0" fmla="*/ 4 w 10"/>
                  <a:gd name="T1" fmla="*/ 0 h 11"/>
                  <a:gd name="T2" fmla="*/ 9 w 10"/>
                  <a:gd name="T3" fmla="*/ 0 h 11"/>
                  <a:gd name="T4" fmla="*/ 10 w 10"/>
                  <a:gd name="T5" fmla="*/ 2 h 11"/>
                  <a:gd name="T6" fmla="*/ 10 w 10"/>
                  <a:gd name="T7" fmla="*/ 7 h 11"/>
                  <a:gd name="T8" fmla="*/ 7 w 10"/>
                  <a:gd name="T9" fmla="*/ 11 h 11"/>
                  <a:gd name="T10" fmla="*/ 4 w 10"/>
                  <a:gd name="T11" fmla="*/ 11 h 11"/>
                  <a:gd name="T12" fmla="*/ 0 w 10"/>
                  <a:gd name="T13" fmla="*/ 7 h 11"/>
                  <a:gd name="T14" fmla="*/ 0 w 10"/>
                  <a:gd name="T15" fmla="*/ 4 h 11"/>
                  <a:gd name="T16" fmla="*/ 4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4" y="0"/>
                    </a:moveTo>
                    <a:lnTo>
                      <a:pt x="9" y="0"/>
                    </a:lnTo>
                    <a:lnTo>
                      <a:pt x="10" y="2"/>
                    </a:lnTo>
                    <a:lnTo>
                      <a:pt x="10"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4" name="Freeform 1254"/>
              <p:cNvSpPr>
                <a:spLocks/>
              </p:cNvSpPr>
              <p:nvPr/>
            </p:nvSpPr>
            <p:spPr bwMode="auto">
              <a:xfrm>
                <a:off x="1252" y="1697"/>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35" name="Freeform 1255"/>
              <p:cNvSpPr>
                <a:spLocks/>
              </p:cNvSpPr>
              <p:nvPr/>
            </p:nvSpPr>
            <p:spPr bwMode="auto">
              <a:xfrm>
                <a:off x="1258"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6" name="Freeform 1256"/>
              <p:cNvSpPr>
                <a:spLocks/>
              </p:cNvSpPr>
              <p:nvPr/>
            </p:nvSpPr>
            <p:spPr bwMode="auto">
              <a:xfrm>
                <a:off x="1262"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7" name="Freeform 1257"/>
              <p:cNvSpPr>
                <a:spLocks/>
              </p:cNvSpPr>
              <p:nvPr/>
            </p:nvSpPr>
            <p:spPr bwMode="auto">
              <a:xfrm>
                <a:off x="1276"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8" name="Freeform 1258"/>
              <p:cNvSpPr>
                <a:spLocks/>
              </p:cNvSpPr>
              <p:nvPr/>
            </p:nvSpPr>
            <p:spPr bwMode="auto">
              <a:xfrm>
                <a:off x="1288"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9" name="Freeform 1259"/>
              <p:cNvSpPr>
                <a:spLocks/>
              </p:cNvSpPr>
              <p:nvPr/>
            </p:nvSpPr>
            <p:spPr bwMode="auto">
              <a:xfrm>
                <a:off x="1307"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0" name="Freeform 1260"/>
              <p:cNvSpPr>
                <a:spLocks/>
              </p:cNvSpPr>
              <p:nvPr/>
            </p:nvSpPr>
            <p:spPr bwMode="auto">
              <a:xfrm>
                <a:off x="1309"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1" name="Freeform 1261"/>
              <p:cNvSpPr>
                <a:spLocks/>
              </p:cNvSpPr>
              <p:nvPr/>
            </p:nvSpPr>
            <p:spPr bwMode="auto">
              <a:xfrm>
                <a:off x="1608"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42" name="Freeform 1262"/>
              <p:cNvSpPr>
                <a:spLocks/>
              </p:cNvSpPr>
              <p:nvPr/>
            </p:nvSpPr>
            <p:spPr bwMode="auto">
              <a:xfrm>
                <a:off x="1613"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3" name="Freeform 1263"/>
              <p:cNvSpPr>
                <a:spLocks/>
              </p:cNvSpPr>
              <p:nvPr/>
            </p:nvSpPr>
            <p:spPr bwMode="auto">
              <a:xfrm>
                <a:off x="1702"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4" name="Freeform 1264"/>
              <p:cNvSpPr>
                <a:spLocks/>
              </p:cNvSpPr>
              <p:nvPr/>
            </p:nvSpPr>
            <p:spPr bwMode="auto">
              <a:xfrm>
                <a:off x="1772"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45" name="Freeform 1265"/>
              <p:cNvSpPr>
                <a:spLocks/>
              </p:cNvSpPr>
              <p:nvPr/>
            </p:nvSpPr>
            <p:spPr bwMode="auto">
              <a:xfrm>
                <a:off x="2515"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6" name="Freeform 1266"/>
              <p:cNvSpPr>
                <a:spLocks/>
              </p:cNvSpPr>
              <p:nvPr/>
            </p:nvSpPr>
            <p:spPr bwMode="auto">
              <a:xfrm>
                <a:off x="2517"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7" name="Freeform 1267"/>
              <p:cNvSpPr>
                <a:spLocks/>
              </p:cNvSpPr>
              <p:nvPr/>
            </p:nvSpPr>
            <p:spPr bwMode="auto">
              <a:xfrm>
                <a:off x="2536"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8" name="Freeform 1268"/>
              <p:cNvSpPr>
                <a:spLocks/>
              </p:cNvSpPr>
              <p:nvPr/>
            </p:nvSpPr>
            <p:spPr bwMode="auto">
              <a:xfrm>
                <a:off x="2543"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9" name="Freeform 1269"/>
              <p:cNvSpPr>
                <a:spLocks/>
              </p:cNvSpPr>
              <p:nvPr/>
            </p:nvSpPr>
            <p:spPr bwMode="auto">
              <a:xfrm>
                <a:off x="2545"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50" name="Freeform 1270"/>
              <p:cNvSpPr>
                <a:spLocks/>
              </p:cNvSpPr>
              <p:nvPr/>
            </p:nvSpPr>
            <p:spPr bwMode="auto">
              <a:xfrm>
                <a:off x="2548"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1" name="Freeform 1271"/>
              <p:cNvSpPr>
                <a:spLocks/>
              </p:cNvSpPr>
              <p:nvPr/>
            </p:nvSpPr>
            <p:spPr bwMode="auto">
              <a:xfrm>
                <a:off x="2550"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2" name="Freeform 1272"/>
              <p:cNvSpPr>
                <a:spLocks/>
              </p:cNvSpPr>
              <p:nvPr/>
            </p:nvSpPr>
            <p:spPr bwMode="auto">
              <a:xfrm>
                <a:off x="2564"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3" name="Freeform 1273"/>
              <p:cNvSpPr>
                <a:spLocks/>
              </p:cNvSpPr>
              <p:nvPr/>
            </p:nvSpPr>
            <p:spPr bwMode="auto">
              <a:xfrm>
                <a:off x="2585"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4" name="Freeform 1274"/>
              <p:cNvSpPr>
                <a:spLocks/>
              </p:cNvSpPr>
              <p:nvPr/>
            </p:nvSpPr>
            <p:spPr bwMode="auto">
              <a:xfrm>
                <a:off x="2606"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5" name="Freeform 1275"/>
              <p:cNvSpPr>
                <a:spLocks/>
              </p:cNvSpPr>
              <p:nvPr/>
            </p:nvSpPr>
            <p:spPr bwMode="auto">
              <a:xfrm>
                <a:off x="3014"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6" name="Freeform 1276"/>
              <p:cNvSpPr>
                <a:spLocks/>
              </p:cNvSpPr>
              <p:nvPr/>
            </p:nvSpPr>
            <p:spPr bwMode="auto">
              <a:xfrm>
                <a:off x="3302"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7" name="Freeform 1277"/>
              <p:cNvSpPr>
                <a:spLocks/>
              </p:cNvSpPr>
              <p:nvPr/>
            </p:nvSpPr>
            <p:spPr bwMode="auto">
              <a:xfrm>
                <a:off x="3955"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8" name="Freeform 1278"/>
              <p:cNvSpPr>
                <a:spLocks/>
              </p:cNvSpPr>
              <p:nvPr/>
            </p:nvSpPr>
            <p:spPr bwMode="auto">
              <a:xfrm>
                <a:off x="3962"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9" name="Freeform 1279"/>
              <p:cNvSpPr>
                <a:spLocks/>
              </p:cNvSpPr>
              <p:nvPr/>
            </p:nvSpPr>
            <p:spPr bwMode="auto">
              <a:xfrm>
                <a:off x="3968" y="1697"/>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60" name="Freeform 1280"/>
              <p:cNvSpPr>
                <a:spLocks/>
              </p:cNvSpPr>
              <p:nvPr/>
            </p:nvSpPr>
            <p:spPr bwMode="auto">
              <a:xfrm>
                <a:off x="3985"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1" name="Freeform 1281"/>
              <p:cNvSpPr>
                <a:spLocks/>
              </p:cNvSpPr>
              <p:nvPr/>
            </p:nvSpPr>
            <p:spPr bwMode="auto">
              <a:xfrm>
                <a:off x="4002"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62" name="Freeform 1282"/>
              <p:cNvSpPr>
                <a:spLocks/>
              </p:cNvSpPr>
              <p:nvPr/>
            </p:nvSpPr>
            <p:spPr bwMode="auto">
              <a:xfrm>
                <a:off x="4016"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3" name="Freeform 1283"/>
              <p:cNvSpPr>
                <a:spLocks/>
              </p:cNvSpPr>
              <p:nvPr/>
            </p:nvSpPr>
            <p:spPr bwMode="auto">
              <a:xfrm>
                <a:off x="4187"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64" name="Freeform 1284"/>
              <p:cNvSpPr>
                <a:spLocks/>
              </p:cNvSpPr>
              <p:nvPr/>
            </p:nvSpPr>
            <p:spPr bwMode="auto">
              <a:xfrm>
                <a:off x="4194"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65" name="Freeform 1285"/>
              <p:cNvSpPr>
                <a:spLocks/>
              </p:cNvSpPr>
              <p:nvPr/>
            </p:nvSpPr>
            <p:spPr bwMode="auto">
              <a:xfrm>
                <a:off x="4210"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6" name="Freeform 1286"/>
              <p:cNvSpPr>
                <a:spLocks/>
              </p:cNvSpPr>
              <p:nvPr/>
            </p:nvSpPr>
            <p:spPr bwMode="auto">
              <a:xfrm>
                <a:off x="4217"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7" name="Freeform 1287"/>
              <p:cNvSpPr>
                <a:spLocks/>
              </p:cNvSpPr>
              <p:nvPr/>
            </p:nvSpPr>
            <p:spPr bwMode="auto">
              <a:xfrm>
                <a:off x="4222"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8" name="Freeform 1288"/>
              <p:cNvSpPr>
                <a:spLocks/>
              </p:cNvSpPr>
              <p:nvPr/>
            </p:nvSpPr>
            <p:spPr bwMode="auto">
              <a:xfrm>
                <a:off x="4228"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69" name="Freeform 1289"/>
              <p:cNvSpPr>
                <a:spLocks/>
              </p:cNvSpPr>
              <p:nvPr/>
            </p:nvSpPr>
            <p:spPr bwMode="auto">
              <a:xfrm>
                <a:off x="4235"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70" name="Freeform 1290"/>
              <p:cNvSpPr>
                <a:spLocks/>
              </p:cNvSpPr>
              <p:nvPr/>
            </p:nvSpPr>
            <p:spPr bwMode="auto">
              <a:xfrm>
                <a:off x="4238"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1" name="Freeform 1291"/>
              <p:cNvSpPr>
                <a:spLocks/>
              </p:cNvSpPr>
              <p:nvPr/>
            </p:nvSpPr>
            <p:spPr bwMode="auto">
              <a:xfrm>
                <a:off x="4247"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2" name="Freeform 1292"/>
              <p:cNvSpPr>
                <a:spLocks/>
              </p:cNvSpPr>
              <p:nvPr/>
            </p:nvSpPr>
            <p:spPr bwMode="auto">
              <a:xfrm>
                <a:off x="4256" y="1697"/>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73" name="Freeform 1293"/>
              <p:cNvSpPr>
                <a:spLocks/>
              </p:cNvSpPr>
              <p:nvPr/>
            </p:nvSpPr>
            <p:spPr bwMode="auto">
              <a:xfrm>
                <a:off x="4264"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4" name="Freeform 1294"/>
              <p:cNvSpPr>
                <a:spLocks/>
              </p:cNvSpPr>
              <p:nvPr/>
            </p:nvSpPr>
            <p:spPr bwMode="auto">
              <a:xfrm>
                <a:off x="4355"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75" name="Freeform 1295"/>
              <p:cNvSpPr>
                <a:spLocks/>
              </p:cNvSpPr>
              <p:nvPr/>
            </p:nvSpPr>
            <p:spPr bwMode="auto">
              <a:xfrm>
                <a:off x="4395"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76" name="Freeform 1296"/>
              <p:cNvSpPr>
                <a:spLocks/>
              </p:cNvSpPr>
              <p:nvPr/>
            </p:nvSpPr>
            <p:spPr bwMode="auto">
              <a:xfrm>
                <a:off x="4407"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7" name="Freeform 1297"/>
              <p:cNvSpPr>
                <a:spLocks/>
              </p:cNvSpPr>
              <p:nvPr/>
            </p:nvSpPr>
            <p:spPr bwMode="auto">
              <a:xfrm>
                <a:off x="4409"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8" name="Freeform 1298"/>
              <p:cNvSpPr>
                <a:spLocks/>
              </p:cNvSpPr>
              <p:nvPr/>
            </p:nvSpPr>
            <p:spPr bwMode="auto">
              <a:xfrm>
                <a:off x="4411"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79" name="Freeform 1299"/>
              <p:cNvSpPr>
                <a:spLocks/>
              </p:cNvSpPr>
              <p:nvPr/>
            </p:nvSpPr>
            <p:spPr bwMode="auto">
              <a:xfrm>
                <a:off x="4414"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0" name="Freeform 1300"/>
              <p:cNvSpPr>
                <a:spLocks/>
              </p:cNvSpPr>
              <p:nvPr/>
            </p:nvSpPr>
            <p:spPr bwMode="auto">
              <a:xfrm>
                <a:off x="4418"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1" name="Freeform 1301"/>
              <p:cNvSpPr>
                <a:spLocks/>
              </p:cNvSpPr>
              <p:nvPr/>
            </p:nvSpPr>
            <p:spPr bwMode="auto">
              <a:xfrm>
                <a:off x="4547" y="1697"/>
                <a:ext cx="10" cy="11"/>
              </a:xfrm>
              <a:custGeom>
                <a:avLst/>
                <a:gdLst>
                  <a:gd name="T0" fmla="*/ 4 w 10"/>
                  <a:gd name="T1" fmla="*/ 0 h 11"/>
                  <a:gd name="T2" fmla="*/ 9 w 10"/>
                  <a:gd name="T3" fmla="*/ 0 h 11"/>
                  <a:gd name="T4" fmla="*/ 10 w 10"/>
                  <a:gd name="T5" fmla="*/ 2 h 11"/>
                  <a:gd name="T6" fmla="*/ 10 w 10"/>
                  <a:gd name="T7" fmla="*/ 7 h 11"/>
                  <a:gd name="T8" fmla="*/ 7 w 10"/>
                  <a:gd name="T9" fmla="*/ 11 h 11"/>
                  <a:gd name="T10" fmla="*/ 4 w 10"/>
                  <a:gd name="T11" fmla="*/ 11 h 11"/>
                  <a:gd name="T12" fmla="*/ 0 w 10"/>
                  <a:gd name="T13" fmla="*/ 7 h 11"/>
                  <a:gd name="T14" fmla="*/ 0 w 10"/>
                  <a:gd name="T15" fmla="*/ 4 h 11"/>
                  <a:gd name="T16" fmla="*/ 4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4" y="0"/>
                    </a:moveTo>
                    <a:lnTo>
                      <a:pt x="9" y="0"/>
                    </a:lnTo>
                    <a:lnTo>
                      <a:pt x="10" y="2"/>
                    </a:lnTo>
                    <a:lnTo>
                      <a:pt x="10"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82" name="Freeform 1302"/>
              <p:cNvSpPr>
                <a:spLocks/>
              </p:cNvSpPr>
              <p:nvPr/>
            </p:nvSpPr>
            <p:spPr bwMode="auto">
              <a:xfrm>
                <a:off x="4554"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83" name="Freeform 1303"/>
              <p:cNvSpPr>
                <a:spLocks/>
              </p:cNvSpPr>
              <p:nvPr/>
            </p:nvSpPr>
            <p:spPr bwMode="auto">
              <a:xfrm>
                <a:off x="4591"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84" name="Freeform 1304"/>
              <p:cNvSpPr>
                <a:spLocks/>
              </p:cNvSpPr>
              <p:nvPr/>
            </p:nvSpPr>
            <p:spPr bwMode="auto">
              <a:xfrm>
                <a:off x="4840"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5" name="Freeform 1305"/>
              <p:cNvSpPr>
                <a:spLocks/>
              </p:cNvSpPr>
              <p:nvPr/>
            </p:nvSpPr>
            <p:spPr bwMode="auto">
              <a:xfrm>
                <a:off x="4844"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86" name="Freeform 1306"/>
              <p:cNvSpPr>
                <a:spLocks/>
              </p:cNvSpPr>
              <p:nvPr/>
            </p:nvSpPr>
            <p:spPr bwMode="auto">
              <a:xfrm>
                <a:off x="4854"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7" name="Freeform 1307"/>
              <p:cNvSpPr>
                <a:spLocks/>
              </p:cNvSpPr>
              <p:nvPr/>
            </p:nvSpPr>
            <p:spPr bwMode="auto">
              <a:xfrm>
                <a:off x="4880"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8" name="Freeform 1308"/>
              <p:cNvSpPr>
                <a:spLocks/>
              </p:cNvSpPr>
              <p:nvPr/>
            </p:nvSpPr>
            <p:spPr bwMode="auto">
              <a:xfrm>
                <a:off x="1241"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89" name="Freeform 1309"/>
              <p:cNvSpPr>
                <a:spLocks/>
              </p:cNvSpPr>
              <p:nvPr/>
            </p:nvSpPr>
            <p:spPr bwMode="auto">
              <a:xfrm>
                <a:off x="1267"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0" name="Freeform 1310"/>
              <p:cNvSpPr>
                <a:spLocks/>
              </p:cNvSpPr>
              <p:nvPr/>
            </p:nvSpPr>
            <p:spPr bwMode="auto">
              <a:xfrm>
                <a:off x="1543" y="1657"/>
                <a:ext cx="10" cy="10"/>
              </a:xfrm>
              <a:custGeom>
                <a:avLst/>
                <a:gdLst>
                  <a:gd name="T0" fmla="*/ 4 w 10"/>
                  <a:gd name="T1" fmla="*/ 0 h 10"/>
                  <a:gd name="T2" fmla="*/ 7 w 10"/>
                  <a:gd name="T3" fmla="*/ 0 h 10"/>
                  <a:gd name="T4" fmla="*/ 10 w 10"/>
                  <a:gd name="T5" fmla="*/ 4 h 10"/>
                  <a:gd name="T6" fmla="*/ 10 w 10"/>
                  <a:gd name="T7" fmla="*/ 7 h 10"/>
                  <a:gd name="T8" fmla="*/ 7 w 10"/>
                  <a:gd name="T9" fmla="*/ 10 h 10"/>
                  <a:gd name="T10" fmla="*/ 2 w 10"/>
                  <a:gd name="T11" fmla="*/ 10 h 10"/>
                  <a:gd name="T12" fmla="*/ 0 w 10"/>
                  <a:gd name="T13" fmla="*/ 9 h 10"/>
                  <a:gd name="T14" fmla="*/ 0 w 10"/>
                  <a:gd name="T15" fmla="*/ 4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7" y="0"/>
                    </a:lnTo>
                    <a:lnTo>
                      <a:pt x="10" y="4"/>
                    </a:lnTo>
                    <a:lnTo>
                      <a:pt x="10"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1" name="Freeform 1311"/>
              <p:cNvSpPr>
                <a:spLocks/>
              </p:cNvSpPr>
              <p:nvPr/>
            </p:nvSpPr>
            <p:spPr bwMode="auto">
              <a:xfrm>
                <a:off x="1547" y="1657"/>
                <a:ext cx="8" cy="10"/>
              </a:xfrm>
              <a:custGeom>
                <a:avLst/>
                <a:gdLst>
                  <a:gd name="T0" fmla="*/ 3 w 8"/>
                  <a:gd name="T1" fmla="*/ 0 h 10"/>
                  <a:gd name="T2" fmla="*/ 5 w 8"/>
                  <a:gd name="T3" fmla="*/ 0 h 10"/>
                  <a:gd name="T4" fmla="*/ 8 w 8"/>
                  <a:gd name="T5" fmla="*/ 4 h 10"/>
                  <a:gd name="T6" fmla="*/ 8 w 8"/>
                  <a:gd name="T7" fmla="*/ 9 h 10"/>
                  <a:gd name="T8" fmla="*/ 6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6"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2" name="Freeform 1312"/>
              <p:cNvSpPr>
                <a:spLocks/>
              </p:cNvSpPr>
              <p:nvPr/>
            </p:nvSpPr>
            <p:spPr bwMode="auto">
              <a:xfrm>
                <a:off x="1552"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3" name="Freeform 1313"/>
              <p:cNvSpPr>
                <a:spLocks/>
              </p:cNvSpPr>
              <p:nvPr/>
            </p:nvSpPr>
            <p:spPr bwMode="auto">
              <a:xfrm>
                <a:off x="1566"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4" name="Freeform 1314"/>
              <p:cNvSpPr>
                <a:spLocks/>
              </p:cNvSpPr>
              <p:nvPr/>
            </p:nvSpPr>
            <p:spPr bwMode="auto">
              <a:xfrm>
                <a:off x="1707"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5" name="Freeform 1315"/>
              <p:cNvSpPr>
                <a:spLocks/>
              </p:cNvSpPr>
              <p:nvPr/>
            </p:nvSpPr>
            <p:spPr bwMode="auto">
              <a:xfrm>
                <a:off x="1709" y="1657"/>
                <a:ext cx="9" cy="10"/>
              </a:xfrm>
              <a:custGeom>
                <a:avLst/>
                <a:gdLst>
                  <a:gd name="T0" fmla="*/ 3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4"/>
                    </a:lnTo>
                    <a:lnTo>
                      <a:pt x="9"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6" name="Freeform 1316"/>
              <p:cNvSpPr>
                <a:spLocks/>
              </p:cNvSpPr>
              <p:nvPr/>
            </p:nvSpPr>
            <p:spPr bwMode="auto">
              <a:xfrm>
                <a:off x="1728"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7" name="Freeform 1317"/>
              <p:cNvSpPr>
                <a:spLocks/>
              </p:cNvSpPr>
              <p:nvPr/>
            </p:nvSpPr>
            <p:spPr bwMode="auto">
              <a:xfrm>
                <a:off x="1957"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8" name="Freeform 1318"/>
              <p:cNvSpPr>
                <a:spLocks/>
              </p:cNvSpPr>
              <p:nvPr/>
            </p:nvSpPr>
            <p:spPr bwMode="auto">
              <a:xfrm>
                <a:off x="1969"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9" name="Freeform 1319"/>
              <p:cNvSpPr>
                <a:spLocks/>
              </p:cNvSpPr>
              <p:nvPr/>
            </p:nvSpPr>
            <p:spPr bwMode="auto">
              <a:xfrm>
                <a:off x="2070"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0" name="Freeform 1320"/>
              <p:cNvSpPr>
                <a:spLocks/>
              </p:cNvSpPr>
              <p:nvPr/>
            </p:nvSpPr>
            <p:spPr bwMode="auto">
              <a:xfrm>
                <a:off x="2365"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1" name="Freeform 1321"/>
              <p:cNvSpPr>
                <a:spLocks/>
              </p:cNvSpPr>
              <p:nvPr/>
            </p:nvSpPr>
            <p:spPr bwMode="auto">
              <a:xfrm>
                <a:off x="2369"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02" name="Freeform 1322"/>
              <p:cNvSpPr>
                <a:spLocks/>
              </p:cNvSpPr>
              <p:nvPr/>
            </p:nvSpPr>
            <p:spPr bwMode="auto">
              <a:xfrm>
                <a:off x="2376" y="1657"/>
                <a:ext cx="10" cy="10"/>
              </a:xfrm>
              <a:custGeom>
                <a:avLst/>
                <a:gdLst>
                  <a:gd name="T0" fmla="*/ 3 w 10"/>
                  <a:gd name="T1" fmla="*/ 0 h 10"/>
                  <a:gd name="T2" fmla="*/ 7 w 10"/>
                  <a:gd name="T3" fmla="*/ 0 h 10"/>
                  <a:gd name="T4" fmla="*/ 10 w 10"/>
                  <a:gd name="T5" fmla="*/ 4 h 10"/>
                  <a:gd name="T6" fmla="*/ 10 w 10"/>
                  <a:gd name="T7" fmla="*/ 7 h 10"/>
                  <a:gd name="T8" fmla="*/ 7 w 10"/>
                  <a:gd name="T9" fmla="*/ 10 h 10"/>
                  <a:gd name="T10" fmla="*/ 1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7"/>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03" name="Freeform 1323"/>
              <p:cNvSpPr>
                <a:spLocks/>
              </p:cNvSpPr>
              <p:nvPr/>
            </p:nvSpPr>
            <p:spPr bwMode="auto">
              <a:xfrm>
                <a:off x="2510"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4" name="Freeform 1324"/>
              <p:cNvSpPr>
                <a:spLocks/>
              </p:cNvSpPr>
              <p:nvPr/>
            </p:nvSpPr>
            <p:spPr bwMode="auto">
              <a:xfrm>
                <a:off x="2536"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5" name="Freeform 1325"/>
              <p:cNvSpPr>
                <a:spLocks/>
              </p:cNvSpPr>
              <p:nvPr/>
            </p:nvSpPr>
            <p:spPr bwMode="auto">
              <a:xfrm>
                <a:off x="2554"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06" name="Freeform 1326"/>
              <p:cNvSpPr>
                <a:spLocks/>
              </p:cNvSpPr>
              <p:nvPr/>
            </p:nvSpPr>
            <p:spPr bwMode="auto">
              <a:xfrm>
                <a:off x="2569"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7" name="Freeform 1327"/>
              <p:cNvSpPr>
                <a:spLocks/>
              </p:cNvSpPr>
              <p:nvPr/>
            </p:nvSpPr>
            <p:spPr bwMode="auto">
              <a:xfrm>
                <a:off x="2802" y="1657"/>
                <a:ext cx="10" cy="10"/>
              </a:xfrm>
              <a:custGeom>
                <a:avLst/>
                <a:gdLst>
                  <a:gd name="T0" fmla="*/ 3 w 10"/>
                  <a:gd name="T1" fmla="*/ 0 h 10"/>
                  <a:gd name="T2" fmla="*/ 6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6"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08" name="Freeform 1328"/>
              <p:cNvSpPr>
                <a:spLocks/>
              </p:cNvSpPr>
              <p:nvPr/>
            </p:nvSpPr>
            <p:spPr bwMode="auto">
              <a:xfrm>
                <a:off x="3201"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9" name="Freeform 1329"/>
              <p:cNvSpPr>
                <a:spLocks/>
              </p:cNvSpPr>
              <p:nvPr/>
            </p:nvSpPr>
            <p:spPr bwMode="auto">
              <a:xfrm>
                <a:off x="3245" y="1657"/>
                <a:ext cx="9" cy="10"/>
              </a:xfrm>
              <a:custGeom>
                <a:avLst/>
                <a:gdLst>
                  <a:gd name="T0" fmla="*/ 3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4"/>
                    </a:lnTo>
                    <a:lnTo>
                      <a:pt x="9"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0" name="Freeform 1330"/>
              <p:cNvSpPr>
                <a:spLocks/>
              </p:cNvSpPr>
              <p:nvPr/>
            </p:nvSpPr>
            <p:spPr bwMode="auto">
              <a:xfrm>
                <a:off x="3280" y="1657"/>
                <a:ext cx="10" cy="10"/>
              </a:xfrm>
              <a:custGeom>
                <a:avLst/>
                <a:gdLst>
                  <a:gd name="T0" fmla="*/ 3 w 10"/>
                  <a:gd name="T1" fmla="*/ 0 h 10"/>
                  <a:gd name="T2" fmla="*/ 7 w 10"/>
                  <a:gd name="T3" fmla="*/ 0 h 10"/>
                  <a:gd name="T4" fmla="*/ 10 w 10"/>
                  <a:gd name="T5" fmla="*/ 4 h 10"/>
                  <a:gd name="T6" fmla="*/ 10 w 10"/>
                  <a:gd name="T7" fmla="*/ 7 h 10"/>
                  <a:gd name="T8" fmla="*/ 7 w 10"/>
                  <a:gd name="T9" fmla="*/ 10 h 10"/>
                  <a:gd name="T10" fmla="*/ 2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7"/>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1" name="Freeform 1331"/>
              <p:cNvSpPr>
                <a:spLocks/>
              </p:cNvSpPr>
              <p:nvPr/>
            </p:nvSpPr>
            <p:spPr bwMode="auto">
              <a:xfrm>
                <a:off x="3285"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2" name="Freeform 1332"/>
              <p:cNvSpPr>
                <a:spLocks/>
              </p:cNvSpPr>
              <p:nvPr/>
            </p:nvSpPr>
            <p:spPr bwMode="auto">
              <a:xfrm>
                <a:off x="3287"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2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3" name="Freeform 1333"/>
              <p:cNvSpPr>
                <a:spLocks/>
              </p:cNvSpPr>
              <p:nvPr/>
            </p:nvSpPr>
            <p:spPr bwMode="auto">
              <a:xfrm>
                <a:off x="3311"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4" name="Freeform 1334"/>
              <p:cNvSpPr>
                <a:spLocks/>
              </p:cNvSpPr>
              <p:nvPr/>
            </p:nvSpPr>
            <p:spPr bwMode="auto">
              <a:xfrm>
                <a:off x="3315"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5" name="Freeform 1335"/>
              <p:cNvSpPr>
                <a:spLocks/>
              </p:cNvSpPr>
              <p:nvPr/>
            </p:nvSpPr>
            <p:spPr bwMode="auto">
              <a:xfrm>
                <a:off x="3501" y="1657"/>
                <a:ext cx="9" cy="10"/>
              </a:xfrm>
              <a:custGeom>
                <a:avLst/>
                <a:gdLst>
                  <a:gd name="T0" fmla="*/ 4 w 9"/>
                  <a:gd name="T1" fmla="*/ 0 h 10"/>
                  <a:gd name="T2" fmla="*/ 6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6" name="Freeform 1336"/>
              <p:cNvSpPr>
                <a:spLocks/>
              </p:cNvSpPr>
              <p:nvPr/>
            </p:nvSpPr>
            <p:spPr bwMode="auto">
              <a:xfrm>
                <a:off x="3505" y="1657"/>
                <a:ext cx="10" cy="10"/>
              </a:xfrm>
              <a:custGeom>
                <a:avLst/>
                <a:gdLst>
                  <a:gd name="T0" fmla="*/ 3 w 10"/>
                  <a:gd name="T1" fmla="*/ 0 h 10"/>
                  <a:gd name="T2" fmla="*/ 7 w 10"/>
                  <a:gd name="T3" fmla="*/ 0 h 10"/>
                  <a:gd name="T4" fmla="*/ 10 w 10"/>
                  <a:gd name="T5" fmla="*/ 4 h 10"/>
                  <a:gd name="T6" fmla="*/ 10 w 10"/>
                  <a:gd name="T7" fmla="*/ 7 h 10"/>
                  <a:gd name="T8" fmla="*/ 7 w 10"/>
                  <a:gd name="T9" fmla="*/ 10 h 10"/>
                  <a:gd name="T10" fmla="*/ 2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7"/>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7" name="Freeform 1337"/>
              <p:cNvSpPr>
                <a:spLocks/>
              </p:cNvSpPr>
              <p:nvPr/>
            </p:nvSpPr>
            <p:spPr bwMode="auto">
              <a:xfrm>
                <a:off x="3519" y="1657"/>
                <a:ext cx="9" cy="10"/>
              </a:xfrm>
              <a:custGeom>
                <a:avLst/>
                <a:gdLst>
                  <a:gd name="T0" fmla="*/ 3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4"/>
                    </a:lnTo>
                    <a:lnTo>
                      <a:pt x="9"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8" name="Freeform 1338"/>
              <p:cNvSpPr>
                <a:spLocks/>
              </p:cNvSpPr>
              <p:nvPr/>
            </p:nvSpPr>
            <p:spPr bwMode="auto">
              <a:xfrm>
                <a:off x="3559"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9" name="Freeform 1339"/>
              <p:cNvSpPr>
                <a:spLocks/>
              </p:cNvSpPr>
              <p:nvPr/>
            </p:nvSpPr>
            <p:spPr bwMode="auto">
              <a:xfrm>
                <a:off x="4121"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20" name="Freeform 1340"/>
              <p:cNvSpPr>
                <a:spLocks/>
              </p:cNvSpPr>
              <p:nvPr/>
            </p:nvSpPr>
            <p:spPr bwMode="auto">
              <a:xfrm>
                <a:off x="4123"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1" name="Freeform 1341"/>
              <p:cNvSpPr>
                <a:spLocks/>
              </p:cNvSpPr>
              <p:nvPr/>
            </p:nvSpPr>
            <p:spPr bwMode="auto">
              <a:xfrm>
                <a:off x="4200"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2" name="Freeform 1342"/>
              <p:cNvSpPr>
                <a:spLocks/>
              </p:cNvSpPr>
              <p:nvPr/>
            </p:nvSpPr>
            <p:spPr bwMode="auto">
              <a:xfrm>
                <a:off x="4219"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3" name="Freeform 1343"/>
              <p:cNvSpPr>
                <a:spLocks/>
              </p:cNvSpPr>
              <p:nvPr/>
            </p:nvSpPr>
            <p:spPr bwMode="auto">
              <a:xfrm>
                <a:off x="4304"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24" name="Freeform 1344"/>
              <p:cNvSpPr>
                <a:spLocks/>
              </p:cNvSpPr>
              <p:nvPr/>
            </p:nvSpPr>
            <p:spPr bwMode="auto">
              <a:xfrm>
                <a:off x="4313"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25" name="Freeform 1345"/>
              <p:cNvSpPr>
                <a:spLocks/>
              </p:cNvSpPr>
              <p:nvPr/>
            </p:nvSpPr>
            <p:spPr bwMode="auto">
              <a:xfrm>
                <a:off x="4441"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6" name="Freeform 1346"/>
              <p:cNvSpPr>
                <a:spLocks/>
              </p:cNvSpPr>
              <p:nvPr/>
            </p:nvSpPr>
            <p:spPr bwMode="auto">
              <a:xfrm>
                <a:off x="4448"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7" name="Freeform 1347"/>
              <p:cNvSpPr>
                <a:spLocks/>
              </p:cNvSpPr>
              <p:nvPr/>
            </p:nvSpPr>
            <p:spPr bwMode="auto">
              <a:xfrm>
                <a:off x="4451" y="1657"/>
                <a:ext cx="10" cy="10"/>
              </a:xfrm>
              <a:custGeom>
                <a:avLst/>
                <a:gdLst>
                  <a:gd name="T0" fmla="*/ 4 w 10"/>
                  <a:gd name="T1" fmla="*/ 0 h 10"/>
                  <a:gd name="T2" fmla="*/ 7 w 10"/>
                  <a:gd name="T3" fmla="*/ 0 h 10"/>
                  <a:gd name="T4" fmla="*/ 10 w 10"/>
                  <a:gd name="T5" fmla="*/ 4 h 10"/>
                  <a:gd name="T6" fmla="*/ 10 w 10"/>
                  <a:gd name="T7" fmla="*/ 9 h 10"/>
                  <a:gd name="T8" fmla="*/ 9 w 10"/>
                  <a:gd name="T9" fmla="*/ 10 h 10"/>
                  <a:gd name="T10" fmla="*/ 4 w 10"/>
                  <a:gd name="T11" fmla="*/ 10 h 10"/>
                  <a:gd name="T12" fmla="*/ 0 w 10"/>
                  <a:gd name="T13" fmla="*/ 7 h 10"/>
                  <a:gd name="T14" fmla="*/ 0 w 10"/>
                  <a:gd name="T15" fmla="*/ 4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7" y="0"/>
                    </a:lnTo>
                    <a:lnTo>
                      <a:pt x="10" y="4"/>
                    </a:lnTo>
                    <a:lnTo>
                      <a:pt x="10"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28" name="Freeform 1348"/>
              <p:cNvSpPr>
                <a:spLocks/>
              </p:cNvSpPr>
              <p:nvPr/>
            </p:nvSpPr>
            <p:spPr bwMode="auto">
              <a:xfrm>
                <a:off x="4458"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2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9" name="Freeform 1349"/>
              <p:cNvSpPr>
                <a:spLocks/>
              </p:cNvSpPr>
              <p:nvPr/>
            </p:nvSpPr>
            <p:spPr bwMode="auto">
              <a:xfrm>
                <a:off x="4460"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0" name="Freeform 1350"/>
              <p:cNvSpPr>
                <a:spLocks/>
              </p:cNvSpPr>
              <p:nvPr/>
            </p:nvSpPr>
            <p:spPr bwMode="auto">
              <a:xfrm>
                <a:off x="4463"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31" name="Freeform 1351"/>
              <p:cNvSpPr>
                <a:spLocks/>
              </p:cNvSpPr>
              <p:nvPr/>
            </p:nvSpPr>
            <p:spPr bwMode="auto">
              <a:xfrm>
                <a:off x="4495"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2" name="Freeform 1352"/>
              <p:cNvSpPr>
                <a:spLocks/>
              </p:cNvSpPr>
              <p:nvPr/>
            </p:nvSpPr>
            <p:spPr bwMode="auto">
              <a:xfrm>
                <a:off x="4498"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33" name="Freeform 1353"/>
              <p:cNvSpPr>
                <a:spLocks/>
              </p:cNvSpPr>
              <p:nvPr/>
            </p:nvSpPr>
            <p:spPr bwMode="auto">
              <a:xfrm>
                <a:off x="4500"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4" name="Freeform 1354"/>
              <p:cNvSpPr>
                <a:spLocks/>
              </p:cNvSpPr>
              <p:nvPr/>
            </p:nvSpPr>
            <p:spPr bwMode="auto">
              <a:xfrm>
                <a:off x="4551" y="1657"/>
                <a:ext cx="8" cy="10"/>
              </a:xfrm>
              <a:custGeom>
                <a:avLst/>
                <a:gdLst>
                  <a:gd name="T0" fmla="*/ 3 w 8"/>
                  <a:gd name="T1" fmla="*/ 0 h 10"/>
                  <a:gd name="T2" fmla="*/ 5 w 8"/>
                  <a:gd name="T3" fmla="*/ 0 h 10"/>
                  <a:gd name="T4" fmla="*/ 8 w 8"/>
                  <a:gd name="T5" fmla="*/ 4 h 10"/>
                  <a:gd name="T6" fmla="*/ 8 w 8"/>
                  <a:gd name="T7" fmla="*/ 9 h 10"/>
                  <a:gd name="T8" fmla="*/ 6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6"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5" name="Freeform 1355"/>
              <p:cNvSpPr>
                <a:spLocks/>
              </p:cNvSpPr>
              <p:nvPr/>
            </p:nvSpPr>
            <p:spPr bwMode="auto">
              <a:xfrm>
                <a:off x="4554"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6" name="Freeform 1356"/>
              <p:cNvSpPr>
                <a:spLocks/>
              </p:cNvSpPr>
              <p:nvPr/>
            </p:nvSpPr>
            <p:spPr bwMode="auto">
              <a:xfrm>
                <a:off x="4559"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37" name="Freeform 1357"/>
              <p:cNvSpPr>
                <a:spLocks/>
              </p:cNvSpPr>
              <p:nvPr/>
            </p:nvSpPr>
            <p:spPr bwMode="auto">
              <a:xfrm>
                <a:off x="1262" y="1619"/>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38" name="Freeform 1358"/>
              <p:cNvSpPr>
                <a:spLocks/>
              </p:cNvSpPr>
              <p:nvPr/>
            </p:nvSpPr>
            <p:spPr bwMode="auto">
              <a:xfrm>
                <a:off x="1285" y="1619"/>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39" name="Freeform 1359"/>
              <p:cNvSpPr>
                <a:spLocks/>
              </p:cNvSpPr>
              <p:nvPr/>
            </p:nvSpPr>
            <p:spPr bwMode="auto">
              <a:xfrm>
                <a:off x="1335"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0" name="Freeform 1360"/>
              <p:cNvSpPr>
                <a:spLocks/>
              </p:cNvSpPr>
              <p:nvPr/>
            </p:nvSpPr>
            <p:spPr bwMode="auto">
              <a:xfrm>
                <a:off x="1339"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41" name="Freeform 1361"/>
              <p:cNvSpPr>
                <a:spLocks/>
              </p:cNvSpPr>
              <p:nvPr/>
            </p:nvSpPr>
            <p:spPr bwMode="auto">
              <a:xfrm>
                <a:off x="1344" y="1619"/>
                <a:ext cx="10" cy="8"/>
              </a:xfrm>
              <a:custGeom>
                <a:avLst/>
                <a:gdLst>
                  <a:gd name="T0" fmla="*/ 4 w 10"/>
                  <a:gd name="T1" fmla="*/ 0 h 8"/>
                  <a:gd name="T2" fmla="*/ 9 w 10"/>
                  <a:gd name="T3" fmla="*/ 0 h 8"/>
                  <a:gd name="T4" fmla="*/ 10 w 10"/>
                  <a:gd name="T5" fmla="*/ 1 h 8"/>
                  <a:gd name="T6" fmla="*/ 10 w 10"/>
                  <a:gd name="T7" fmla="*/ 7 h 8"/>
                  <a:gd name="T8" fmla="*/ 9 w 10"/>
                  <a:gd name="T9" fmla="*/ 8 h 8"/>
                  <a:gd name="T10" fmla="*/ 4 w 10"/>
                  <a:gd name="T11" fmla="*/ 8 h 8"/>
                  <a:gd name="T12" fmla="*/ 0 w 10"/>
                  <a:gd name="T13" fmla="*/ 5 h 8"/>
                  <a:gd name="T14" fmla="*/ 0 w 10"/>
                  <a:gd name="T15" fmla="*/ 3 h 8"/>
                  <a:gd name="T16" fmla="*/ 4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0"/>
                    </a:moveTo>
                    <a:lnTo>
                      <a:pt x="9" y="0"/>
                    </a:lnTo>
                    <a:lnTo>
                      <a:pt x="10" y="1"/>
                    </a:lnTo>
                    <a:lnTo>
                      <a:pt x="10"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42" name="Freeform 1362"/>
              <p:cNvSpPr>
                <a:spLocks/>
              </p:cNvSpPr>
              <p:nvPr/>
            </p:nvSpPr>
            <p:spPr bwMode="auto">
              <a:xfrm>
                <a:off x="1375"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3" name="Freeform 1363"/>
              <p:cNvSpPr>
                <a:spLocks/>
              </p:cNvSpPr>
              <p:nvPr/>
            </p:nvSpPr>
            <p:spPr bwMode="auto">
              <a:xfrm>
                <a:off x="1389" y="1619"/>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4" name="Freeform 1364"/>
              <p:cNvSpPr>
                <a:spLocks/>
              </p:cNvSpPr>
              <p:nvPr/>
            </p:nvSpPr>
            <p:spPr bwMode="auto">
              <a:xfrm>
                <a:off x="1616"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45" name="Freeform 1365"/>
              <p:cNvSpPr>
                <a:spLocks/>
              </p:cNvSpPr>
              <p:nvPr/>
            </p:nvSpPr>
            <p:spPr bwMode="auto">
              <a:xfrm>
                <a:off x="1625"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46" name="Freeform 1366"/>
              <p:cNvSpPr>
                <a:spLocks/>
              </p:cNvSpPr>
              <p:nvPr/>
            </p:nvSpPr>
            <p:spPr bwMode="auto">
              <a:xfrm>
                <a:off x="1653"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47" name="Freeform 1367"/>
              <p:cNvSpPr>
                <a:spLocks/>
              </p:cNvSpPr>
              <p:nvPr/>
            </p:nvSpPr>
            <p:spPr bwMode="auto">
              <a:xfrm>
                <a:off x="1656"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48" name="Freeform 1368"/>
              <p:cNvSpPr>
                <a:spLocks/>
              </p:cNvSpPr>
              <p:nvPr/>
            </p:nvSpPr>
            <p:spPr bwMode="auto">
              <a:xfrm>
                <a:off x="1740"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9" name="Freeform 1369"/>
              <p:cNvSpPr>
                <a:spLocks/>
              </p:cNvSpPr>
              <p:nvPr/>
            </p:nvSpPr>
            <p:spPr bwMode="auto">
              <a:xfrm>
                <a:off x="2564"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50" name="Freeform 1370"/>
              <p:cNvSpPr>
                <a:spLocks/>
              </p:cNvSpPr>
              <p:nvPr/>
            </p:nvSpPr>
            <p:spPr bwMode="auto">
              <a:xfrm>
                <a:off x="2842"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51" name="Freeform 1371"/>
              <p:cNvSpPr>
                <a:spLocks/>
              </p:cNvSpPr>
              <p:nvPr/>
            </p:nvSpPr>
            <p:spPr bwMode="auto">
              <a:xfrm>
                <a:off x="3337"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2" name="Freeform 1372"/>
              <p:cNvSpPr>
                <a:spLocks/>
              </p:cNvSpPr>
              <p:nvPr/>
            </p:nvSpPr>
            <p:spPr bwMode="auto">
              <a:xfrm>
                <a:off x="3344"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3" name="Freeform 1373"/>
              <p:cNvSpPr>
                <a:spLocks/>
              </p:cNvSpPr>
              <p:nvPr/>
            </p:nvSpPr>
            <p:spPr bwMode="auto">
              <a:xfrm>
                <a:off x="3351" y="1619"/>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4" name="Freeform 1374"/>
              <p:cNvSpPr>
                <a:spLocks/>
              </p:cNvSpPr>
              <p:nvPr/>
            </p:nvSpPr>
            <p:spPr bwMode="auto">
              <a:xfrm>
                <a:off x="3371"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55" name="Freeform 1375"/>
              <p:cNvSpPr>
                <a:spLocks/>
              </p:cNvSpPr>
              <p:nvPr/>
            </p:nvSpPr>
            <p:spPr bwMode="auto">
              <a:xfrm>
                <a:off x="3381"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56" name="Freeform 1376"/>
              <p:cNvSpPr>
                <a:spLocks/>
              </p:cNvSpPr>
              <p:nvPr/>
            </p:nvSpPr>
            <p:spPr bwMode="auto">
              <a:xfrm>
                <a:off x="3383" y="1619"/>
                <a:ext cx="8" cy="8"/>
              </a:xfrm>
              <a:custGeom>
                <a:avLst/>
                <a:gdLst>
                  <a:gd name="T0" fmla="*/ 2 w 8"/>
                  <a:gd name="T1" fmla="*/ 0 h 8"/>
                  <a:gd name="T2" fmla="*/ 5 w 8"/>
                  <a:gd name="T3" fmla="*/ 0 h 8"/>
                  <a:gd name="T4" fmla="*/ 8 w 8"/>
                  <a:gd name="T5" fmla="*/ 3 h 8"/>
                  <a:gd name="T6" fmla="*/ 8 w 8"/>
                  <a:gd name="T7" fmla="*/ 7 h 8"/>
                  <a:gd name="T8" fmla="*/ 7 w 8"/>
                  <a:gd name="T9" fmla="*/ 8 h 8"/>
                  <a:gd name="T10" fmla="*/ 2 w 8"/>
                  <a:gd name="T11" fmla="*/ 8 h 8"/>
                  <a:gd name="T12" fmla="*/ 0 w 8"/>
                  <a:gd name="T13" fmla="*/ 7 h 8"/>
                  <a:gd name="T14" fmla="*/ 0 w 8"/>
                  <a:gd name="T15" fmla="*/ 1 h 8"/>
                  <a:gd name="T16" fmla="*/ 2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2" y="0"/>
                    </a:moveTo>
                    <a:lnTo>
                      <a:pt x="5" y="0"/>
                    </a:lnTo>
                    <a:lnTo>
                      <a:pt x="8" y="3"/>
                    </a:lnTo>
                    <a:lnTo>
                      <a:pt x="8"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7" name="Freeform 1377"/>
              <p:cNvSpPr>
                <a:spLocks/>
              </p:cNvSpPr>
              <p:nvPr/>
            </p:nvSpPr>
            <p:spPr bwMode="auto">
              <a:xfrm>
                <a:off x="3388"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58" name="Freeform 1378"/>
              <p:cNvSpPr>
                <a:spLocks/>
              </p:cNvSpPr>
              <p:nvPr/>
            </p:nvSpPr>
            <p:spPr bwMode="auto">
              <a:xfrm>
                <a:off x="3398" y="1619"/>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9" name="Freeform 1379"/>
              <p:cNvSpPr>
                <a:spLocks/>
              </p:cNvSpPr>
              <p:nvPr/>
            </p:nvSpPr>
            <p:spPr bwMode="auto">
              <a:xfrm>
                <a:off x="3529"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60" name="Freeform 1380"/>
              <p:cNvSpPr>
                <a:spLocks/>
              </p:cNvSpPr>
              <p:nvPr/>
            </p:nvSpPr>
            <p:spPr bwMode="auto">
              <a:xfrm>
                <a:off x="3536"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1" name="Freeform 1381"/>
              <p:cNvSpPr>
                <a:spLocks/>
              </p:cNvSpPr>
              <p:nvPr/>
            </p:nvSpPr>
            <p:spPr bwMode="auto">
              <a:xfrm>
                <a:off x="3570"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62" name="Freeform 1382"/>
              <p:cNvSpPr>
                <a:spLocks/>
              </p:cNvSpPr>
              <p:nvPr/>
            </p:nvSpPr>
            <p:spPr bwMode="auto">
              <a:xfrm>
                <a:off x="3575" y="1619"/>
                <a:ext cx="8" cy="8"/>
              </a:xfrm>
              <a:custGeom>
                <a:avLst/>
                <a:gdLst>
                  <a:gd name="T0" fmla="*/ 2 w 8"/>
                  <a:gd name="T1" fmla="*/ 0 h 8"/>
                  <a:gd name="T2" fmla="*/ 5 w 8"/>
                  <a:gd name="T3" fmla="*/ 0 h 8"/>
                  <a:gd name="T4" fmla="*/ 8 w 8"/>
                  <a:gd name="T5" fmla="*/ 3 h 8"/>
                  <a:gd name="T6" fmla="*/ 8 w 8"/>
                  <a:gd name="T7" fmla="*/ 7 h 8"/>
                  <a:gd name="T8" fmla="*/ 7 w 8"/>
                  <a:gd name="T9" fmla="*/ 8 h 8"/>
                  <a:gd name="T10" fmla="*/ 2 w 8"/>
                  <a:gd name="T11" fmla="*/ 8 h 8"/>
                  <a:gd name="T12" fmla="*/ 0 w 8"/>
                  <a:gd name="T13" fmla="*/ 7 h 8"/>
                  <a:gd name="T14" fmla="*/ 0 w 8"/>
                  <a:gd name="T15" fmla="*/ 1 h 8"/>
                  <a:gd name="T16" fmla="*/ 2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2" y="0"/>
                    </a:moveTo>
                    <a:lnTo>
                      <a:pt x="5" y="0"/>
                    </a:lnTo>
                    <a:lnTo>
                      <a:pt x="8" y="3"/>
                    </a:lnTo>
                    <a:lnTo>
                      <a:pt x="8"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3" name="Freeform 1383"/>
              <p:cNvSpPr>
                <a:spLocks/>
              </p:cNvSpPr>
              <p:nvPr/>
            </p:nvSpPr>
            <p:spPr bwMode="auto">
              <a:xfrm>
                <a:off x="3610" y="1619"/>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64" name="Freeform 1384"/>
              <p:cNvSpPr>
                <a:spLocks/>
              </p:cNvSpPr>
              <p:nvPr/>
            </p:nvSpPr>
            <p:spPr bwMode="auto">
              <a:xfrm>
                <a:off x="3622"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65" name="Freeform 1385"/>
              <p:cNvSpPr>
                <a:spLocks/>
              </p:cNvSpPr>
              <p:nvPr/>
            </p:nvSpPr>
            <p:spPr bwMode="auto">
              <a:xfrm>
                <a:off x="3915"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66" name="Freeform 1386"/>
              <p:cNvSpPr>
                <a:spLocks/>
              </p:cNvSpPr>
              <p:nvPr/>
            </p:nvSpPr>
            <p:spPr bwMode="auto">
              <a:xfrm>
                <a:off x="3920"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7" name="Freeform 1387"/>
              <p:cNvSpPr>
                <a:spLocks/>
              </p:cNvSpPr>
              <p:nvPr/>
            </p:nvSpPr>
            <p:spPr bwMode="auto">
              <a:xfrm>
                <a:off x="4076"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68" name="Freeform 1388"/>
              <p:cNvSpPr>
                <a:spLocks/>
              </p:cNvSpPr>
              <p:nvPr/>
            </p:nvSpPr>
            <p:spPr bwMode="auto">
              <a:xfrm>
                <a:off x="4135"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9" name="Freeform 1389"/>
              <p:cNvSpPr>
                <a:spLocks/>
              </p:cNvSpPr>
              <p:nvPr/>
            </p:nvSpPr>
            <p:spPr bwMode="auto">
              <a:xfrm>
                <a:off x="4139"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70" name="Freeform 1390"/>
              <p:cNvSpPr>
                <a:spLocks/>
              </p:cNvSpPr>
              <p:nvPr/>
            </p:nvSpPr>
            <p:spPr bwMode="auto">
              <a:xfrm>
                <a:off x="4168"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1" name="Freeform 1391"/>
              <p:cNvSpPr>
                <a:spLocks/>
              </p:cNvSpPr>
              <p:nvPr/>
            </p:nvSpPr>
            <p:spPr bwMode="auto">
              <a:xfrm>
                <a:off x="4313"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2" name="Freeform 1392"/>
              <p:cNvSpPr>
                <a:spLocks/>
              </p:cNvSpPr>
              <p:nvPr/>
            </p:nvSpPr>
            <p:spPr bwMode="auto">
              <a:xfrm>
                <a:off x="4336"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3" name="Freeform 1393"/>
              <p:cNvSpPr>
                <a:spLocks/>
              </p:cNvSpPr>
              <p:nvPr/>
            </p:nvSpPr>
            <p:spPr bwMode="auto">
              <a:xfrm>
                <a:off x="4402"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74" name="Freeform 1394"/>
              <p:cNvSpPr>
                <a:spLocks/>
              </p:cNvSpPr>
              <p:nvPr/>
            </p:nvSpPr>
            <p:spPr bwMode="auto">
              <a:xfrm>
                <a:off x="4425" y="1619"/>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5" name="Freeform 1395"/>
              <p:cNvSpPr>
                <a:spLocks/>
              </p:cNvSpPr>
              <p:nvPr/>
            </p:nvSpPr>
            <p:spPr bwMode="auto">
              <a:xfrm>
                <a:off x="4434" y="1619"/>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76" name="Freeform 1396"/>
              <p:cNvSpPr>
                <a:spLocks/>
              </p:cNvSpPr>
              <p:nvPr/>
            </p:nvSpPr>
            <p:spPr bwMode="auto">
              <a:xfrm>
                <a:off x="4456"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7" name="Freeform 1397"/>
              <p:cNvSpPr>
                <a:spLocks/>
              </p:cNvSpPr>
              <p:nvPr/>
            </p:nvSpPr>
            <p:spPr bwMode="auto">
              <a:xfrm>
                <a:off x="4470"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78" name="Freeform 1398"/>
              <p:cNvSpPr>
                <a:spLocks/>
              </p:cNvSpPr>
              <p:nvPr/>
            </p:nvSpPr>
            <p:spPr bwMode="auto">
              <a:xfrm>
                <a:off x="4489"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9" name="Freeform 1399"/>
              <p:cNvSpPr>
                <a:spLocks/>
              </p:cNvSpPr>
              <p:nvPr/>
            </p:nvSpPr>
            <p:spPr bwMode="auto">
              <a:xfrm>
                <a:off x="4500" y="1619"/>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0" name="Freeform 1400"/>
              <p:cNvSpPr>
                <a:spLocks/>
              </p:cNvSpPr>
              <p:nvPr/>
            </p:nvSpPr>
            <p:spPr bwMode="auto">
              <a:xfrm>
                <a:off x="4505"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81" name="Freeform 1401"/>
              <p:cNvSpPr>
                <a:spLocks/>
              </p:cNvSpPr>
              <p:nvPr/>
            </p:nvSpPr>
            <p:spPr bwMode="auto">
              <a:xfrm>
                <a:off x="4507" y="1619"/>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2" name="Freeform 1402"/>
              <p:cNvSpPr>
                <a:spLocks/>
              </p:cNvSpPr>
              <p:nvPr/>
            </p:nvSpPr>
            <p:spPr bwMode="auto">
              <a:xfrm>
                <a:off x="4519"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83" name="Freeform 1403"/>
              <p:cNvSpPr>
                <a:spLocks/>
              </p:cNvSpPr>
              <p:nvPr/>
            </p:nvSpPr>
            <p:spPr bwMode="auto">
              <a:xfrm>
                <a:off x="4521" y="1619"/>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84" name="Freeform 1404"/>
              <p:cNvSpPr>
                <a:spLocks/>
              </p:cNvSpPr>
              <p:nvPr/>
            </p:nvSpPr>
            <p:spPr bwMode="auto">
              <a:xfrm>
                <a:off x="4542"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5" name="Freeform 1405"/>
              <p:cNvSpPr>
                <a:spLocks/>
              </p:cNvSpPr>
              <p:nvPr/>
            </p:nvSpPr>
            <p:spPr bwMode="auto">
              <a:xfrm>
                <a:off x="4545"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86" name="Freeform 1406"/>
              <p:cNvSpPr>
                <a:spLocks/>
              </p:cNvSpPr>
              <p:nvPr/>
            </p:nvSpPr>
            <p:spPr bwMode="auto">
              <a:xfrm>
                <a:off x="4563"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7" name="Freeform 1407"/>
              <p:cNvSpPr>
                <a:spLocks/>
              </p:cNvSpPr>
              <p:nvPr/>
            </p:nvSpPr>
            <p:spPr bwMode="auto">
              <a:xfrm>
                <a:off x="4575"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8" name="Freeform 1408"/>
              <p:cNvSpPr>
                <a:spLocks/>
              </p:cNvSpPr>
              <p:nvPr/>
            </p:nvSpPr>
            <p:spPr bwMode="auto">
              <a:xfrm>
                <a:off x="1068"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89" name="Freeform 1409"/>
              <p:cNvSpPr>
                <a:spLocks/>
              </p:cNvSpPr>
              <p:nvPr/>
            </p:nvSpPr>
            <p:spPr bwMode="auto">
              <a:xfrm>
                <a:off x="1389"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0" name="Freeform 1410"/>
              <p:cNvSpPr>
                <a:spLocks/>
              </p:cNvSpPr>
              <p:nvPr/>
            </p:nvSpPr>
            <p:spPr bwMode="auto">
              <a:xfrm>
                <a:off x="1588"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9" name="Group 1612"/>
            <p:cNvGrpSpPr>
              <a:grpSpLocks/>
            </p:cNvGrpSpPr>
            <p:nvPr/>
          </p:nvGrpSpPr>
          <p:grpSpPr bwMode="auto">
            <a:xfrm>
              <a:off x="1698625" y="2314644"/>
              <a:ext cx="5656289" cy="204794"/>
              <a:chOff x="1070" y="1458"/>
              <a:chExt cx="3563" cy="129"/>
            </a:xfrm>
          </p:grpSpPr>
          <p:sp>
            <p:nvSpPr>
              <p:cNvPr id="1291" name="Freeform 1412"/>
              <p:cNvSpPr>
                <a:spLocks/>
              </p:cNvSpPr>
              <p:nvPr/>
            </p:nvSpPr>
            <p:spPr bwMode="auto">
              <a:xfrm>
                <a:off x="1592" y="1578"/>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2" name="Freeform 1413"/>
              <p:cNvSpPr>
                <a:spLocks/>
              </p:cNvSpPr>
              <p:nvPr/>
            </p:nvSpPr>
            <p:spPr bwMode="auto">
              <a:xfrm>
                <a:off x="1597"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3" name="Freeform 1414"/>
              <p:cNvSpPr>
                <a:spLocks/>
              </p:cNvSpPr>
              <p:nvPr/>
            </p:nvSpPr>
            <p:spPr bwMode="auto">
              <a:xfrm>
                <a:off x="1749"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4" name="Freeform 1415"/>
              <p:cNvSpPr>
                <a:spLocks/>
              </p:cNvSpPr>
              <p:nvPr/>
            </p:nvSpPr>
            <p:spPr bwMode="auto">
              <a:xfrm>
                <a:off x="2398"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5" name="Freeform 1416"/>
              <p:cNvSpPr>
                <a:spLocks/>
              </p:cNvSpPr>
              <p:nvPr/>
            </p:nvSpPr>
            <p:spPr bwMode="auto">
              <a:xfrm>
                <a:off x="2503"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6" name="Freeform 1417"/>
              <p:cNvSpPr>
                <a:spLocks/>
              </p:cNvSpPr>
              <p:nvPr/>
            </p:nvSpPr>
            <p:spPr bwMode="auto">
              <a:xfrm>
                <a:off x="2508"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97" name="Freeform 1418"/>
              <p:cNvSpPr>
                <a:spLocks/>
              </p:cNvSpPr>
              <p:nvPr/>
            </p:nvSpPr>
            <p:spPr bwMode="auto">
              <a:xfrm>
                <a:off x="2519"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98" name="Freeform 1419"/>
              <p:cNvSpPr>
                <a:spLocks/>
              </p:cNvSpPr>
              <p:nvPr/>
            </p:nvSpPr>
            <p:spPr bwMode="auto">
              <a:xfrm>
                <a:off x="2526"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99" name="Freeform 1420"/>
              <p:cNvSpPr>
                <a:spLocks/>
              </p:cNvSpPr>
              <p:nvPr/>
            </p:nvSpPr>
            <p:spPr bwMode="auto">
              <a:xfrm>
                <a:off x="2527"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0" name="Freeform 1421"/>
              <p:cNvSpPr>
                <a:spLocks/>
              </p:cNvSpPr>
              <p:nvPr/>
            </p:nvSpPr>
            <p:spPr bwMode="auto">
              <a:xfrm>
                <a:off x="2533"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1" name="Freeform 1422"/>
              <p:cNvSpPr>
                <a:spLocks/>
              </p:cNvSpPr>
              <p:nvPr/>
            </p:nvSpPr>
            <p:spPr bwMode="auto">
              <a:xfrm>
                <a:off x="2541"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2" name="Freeform 1423"/>
              <p:cNvSpPr>
                <a:spLocks/>
              </p:cNvSpPr>
              <p:nvPr/>
            </p:nvSpPr>
            <p:spPr bwMode="auto">
              <a:xfrm>
                <a:off x="2552" y="1578"/>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3" name="Freeform 1424"/>
              <p:cNvSpPr>
                <a:spLocks/>
              </p:cNvSpPr>
              <p:nvPr/>
            </p:nvSpPr>
            <p:spPr bwMode="auto">
              <a:xfrm>
                <a:off x="2554"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4" name="Freeform 1425"/>
              <p:cNvSpPr>
                <a:spLocks/>
              </p:cNvSpPr>
              <p:nvPr/>
            </p:nvSpPr>
            <p:spPr bwMode="auto">
              <a:xfrm>
                <a:off x="2566"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5" name="Freeform 1426"/>
              <p:cNvSpPr>
                <a:spLocks/>
              </p:cNvSpPr>
              <p:nvPr/>
            </p:nvSpPr>
            <p:spPr bwMode="auto">
              <a:xfrm>
                <a:off x="2573" y="1578"/>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6" name="Freeform 1427"/>
              <p:cNvSpPr>
                <a:spLocks/>
              </p:cNvSpPr>
              <p:nvPr/>
            </p:nvSpPr>
            <p:spPr bwMode="auto">
              <a:xfrm>
                <a:off x="2746"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7" name="Freeform 1428"/>
              <p:cNvSpPr>
                <a:spLocks/>
              </p:cNvSpPr>
              <p:nvPr/>
            </p:nvSpPr>
            <p:spPr bwMode="auto">
              <a:xfrm>
                <a:off x="3302"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8" name="Freeform 1429"/>
              <p:cNvSpPr>
                <a:spLocks/>
              </p:cNvSpPr>
              <p:nvPr/>
            </p:nvSpPr>
            <p:spPr bwMode="auto">
              <a:xfrm>
                <a:off x="3311"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9" name="Freeform 1430"/>
              <p:cNvSpPr>
                <a:spLocks/>
              </p:cNvSpPr>
              <p:nvPr/>
            </p:nvSpPr>
            <p:spPr bwMode="auto">
              <a:xfrm>
                <a:off x="3313" y="157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10" name="Freeform 1431"/>
              <p:cNvSpPr>
                <a:spLocks/>
              </p:cNvSpPr>
              <p:nvPr/>
            </p:nvSpPr>
            <p:spPr bwMode="auto">
              <a:xfrm>
                <a:off x="3318"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1" name="Freeform 1432"/>
              <p:cNvSpPr>
                <a:spLocks/>
              </p:cNvSpPr>
              <p:nvPr/>
            </p:nvSpPr>
            <p:spPr bwMode="auto">
              <a:xfrm>
                <a:off x="3329"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12" name="Freeform 1433"/>
              <p:cNvSpPr>
                <a:spLocks/>
              </p:cNvSpPr>
              <p:nvPr/>
            </p:nvSpPr>
            <p:spPr bwMode="auto">
              <a:xfrm>
                <a:off x="3337"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3" name="Freeform 1434"/>
              <p:cNvSpPr>
                <a:spLocks/>
              </p:cNvSpPr>
              <p:nvPr/>
            </p:nvSpPr>
            <p:spPr bwMode="auto">
              <a:xfrm>
                <a:off x="3353" y="157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14" name="Freeform 1435"/>
              <p:cNvSpPr>
                <a:spLocks/>
              </p:cNvSpPr>
              <p:nvPr/>
            </p:nvSpPr>
            <p:spPr bwMode="auto">
              <a:xfrm>
                <a:off x="3355" y="157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15" name="Freeform 1436"/>
              <p:cNvSpPr>
                <a:spLocks/>
              </p:cNvSpPr>
              <p:nvPr/>
            </p:nvSpPr>
            <p:spPr bwMode="auto">
              <a:xfrm>
                <a:off x="3371"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16" name="Freeform 1437"/>
              <p:cNvSpPr>
                <a:spLocks/>
              </p:cNvSpPr>
              <p:nvPr/>
            </p:nvSpPr>
            <p:spPr bwMode="auto">
              <a:xfrm>
                <a:off x="3381"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17" name="Freeform 1438"/>
              <p:cNvSpPr>
                <a:spLocks/>
              </p:cNvSpPr>
              <p:nvPr/>
            </p:nvSpPr>
            <p:spPr bwMode="auto">
              <a:xfrm>
                <a:off x="3475" y="157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18" name="Freeform 1439"/>
              <p:cNvSpPr>
                <a:spLocks/>
              </p:cNvSpPr>
              <p:nvPr/>
            </p:nvSpPr>
            <p:spPr bwMode="auto">
              <a:xfrm>
                <a:off x="3489"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9" name="Freeform 1440"/>
              <p:cNvSpPr>
                <a:spLocks/>
              </p:cNvSpPr>
              <p:nvPr/>
            </p:nvSpPr>
            <p:spPr bwMode="auto">
              <a:xfrm>
                <a:off x="3521"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20" name="Freeform 1441"/>
              <p:cNvSpPr>
                <a:spLocks/>
              </p:cNvSpPr>
              <p:nvPr/>
            </p:nvSpPr>
            <p:spPr bwMode="auto">
              <a:xfrm>
                <a:off x="3526"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1" name="Freeform 1442"/>
              <p:cNvSpPr>
                <a:spLocks/>
              </p:cNvSpPr>
              <p:nvPr/>
            </p:nvSpPr>
            <p:spPr bwMode="auto">
              <a:xfrm>
                <a:off x="4123" y="157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2" name="Freeform 1443"/>
              <p:cNvSpPr>
                <a:spLocks/>
              </p:cNvSpPr>
              <p:nvPr/>
            </p:nvSpPr>
            <p:spPr bwMode="auto">
              <a:xfrm>
                <a:off x="4132"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3" name="Freeform 1444"/>
              <p:cNvSpPr>
                <a:spLocks/>
              </p:cNvSpPr>
              <p:nvPr/>
            </p:nvSpPr>
            <p:spPr bwMode="auto">
              <a:xfrm>
                <a:off x="4177"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4" name="Freeform 1445"/>
              <p:cNvSpPr>
                <a:spLocks/>
              </p:cNvSpPr>
              <p:nvPr/>
            </p:nvSpPr>
            <p:spPr bwMode="auto">
              <a:xfrm>
                <a:off x="4182"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25" name="Freeform 1446"/>
              <p:cNvSpPr>
                <a:spLocks/>
              </p:cNvSpPr>
              <p:nvPr/>
            </p:nvSpPr>
            <p:spPr bwMode="auto">
              <a:xfrm>
                <a:off x="4207"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6" name="Freeform 1447"/>
              <p:cNvSpPr>
                <a:spLocks/>
              </p:cNvSpPr>
              <p:nvPr/>
            </p:nvSpPr>
            <p:spPr bwMode="auto">
              <a:xfrm>
                <a:off x="4215"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7" name="Freeform 1448"/>
              <p:cNvSpPr>
                <a:spLocks/>
              </p:cNvSpPr>
              <p:nvPr/>
            </p:nvSpPr>
            <p:spPr bwMode="auto">
              <a:xfrm>
                <a:off x="4224"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8" name="Freeform 1449"/>
              <p:cNvSpPr>
                <a:spLocks/>
              </p:cNvSpPr>
              <p:nvPr/>
            </p:nvSpPr>
            <p:spPr bwMode="auto">
              <a:xfrm>
                <a:off x="4269"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29" name="Freeform 1450"/>
              <p:cNvSpPr>
                <a:spLocks/>
              </p:cNvSpPr>
              <p:nvPr/>
            </p:nvSpPr>
            <p:spPr bwMode="auto">
              <a:xfrm>
                <a:off x="4280"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0" name="Freeform 1451"/>
              <p:cNvSpPr>
                <a:spLocks/>
              </p:cNvSpPr>
              <p:nvPr/>
            </p:nvSpPr>
            <p:spPr bwMode="auto">
              <a:xfrm>
                <a:off x="4315" y="1578"/>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1" name="Freeform 1452"/>
              <p:cNvSpPr>
                <a:spLocks/>
              </p:cNvSpPr>
              <p:nvPr/>
            </p:nvSpPr>
            <p:spPr bwMode="auto">
              <a:xfrm>
                <a:off x="4358"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32" name="Freeform 1453"/>
              <p:cNvSpPr>
                <a:spLocks/>
              </p:cNvSpPr>
              <p:nvPr/>
            </p:nvSpPr>
            <p:spPr bwMode="auto">
              <a:xfrm>
                <a:off x="4362" y="1578"/>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3" name="Freeform 1454"/>
              <p:cNvSpPr>
                <a:spLocks/>
              </p:cNvSpPr>
              <p:nvPr/>
            </p:nvSpPr>
            <p:spPr bwMode="auto">
              <a:xfrm>
                <a:off x="4385" y="1578"/>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34" name="Freeform 1455"/>
              <p:cNvSpPr>
                <a:spLocks/>
              </p:cNvSpPr>
              <p:nvPr/>
            </p:nvSpPr>
            <p:spPr bwMode="auto">
              <a:xfrm>
                <a:off x="4390" y="1578"/>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35" name="Freeform 1456"/>
              <p:cNvSpPr>
                <a:spLocks/>
              </p:cNvSpPr>
              <p:nvPr/>
            </p:nvSpPr>
            <p:spPr bwMode="auto">
              <a:xfrm>
                <a:off x="4392" y="1578"/>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36" name="Freeform 1457"/>
              <p:cNvSpPr>
                <a:spLocks/>
              </p:cNvSpPr>
              <p:nvPr/>
            </p:nvSpPr>
            <p:spPr bwMode="auto">
              <a:xfrm>
                <a:off x="4393"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7" name="Freeform 1458"/>
              <p:cNvSpPr>
                <a:spLocks/>
              </p:cNvSpPr>
              <p:nvPr/>
            </p:nvSpPr>
            <p:spPr bwMode="auto">
              <a:xfrm>
                <a:off x="4395" y="157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38" name="Freeform 1459"/>
              <p:cNvSpPr>
                <a:spLocks/>
              </p:cNvSpPr>
              <p:nvPr/>
            </p:nvSpPr>
            <p:spPr bwMode="auto">
              <a:xfrm>
                <a:off x="4416"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9" name="Freeform 1460"/>
              <p:cNvSpPr>
                <a:spLocks/>
              </p:cNvSpPr>
              <p:nvPr/>
            </p:nvSpPr>
            <p:spPr bwMode="auto">
              <a:xfrm>
                <a:off x="4418" y="1578"/>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40" name="Freeform 1461"/>
              <p:cNvSpPr>
                <a:spLocks/>
              </p:cNvSpPr>
              <p:nvPr/>
            </p:nvSpPr>
            <p:spPr bwMode="auto">
              <a:xfrm>
                <a:off x="4463"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41" name="Freeform 1462"/>
              <p:cNvSpPr>
                <a:spLocks/>
              </p:cNvSpPr>
              <p:nvPr/>
            </p:nvSpPr>
            <p:spPr bwMode="auto">
              <a:xfrm>
                <a:off x="4481"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2" name="Freeform 1463"/>
              <p:cNvSpPr>
                <a:spLocks/>
              </p:cNvSpPr>
              <p:nvPr/>
            </p:nvSpPr>
            <p:spPr bwMode="auto">
              <a:xfrm>
                <a:off x="4495"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43" name="Freeform 1464"/>
              <p:cNvSpPr>
                <a:spLocks/>
              </p:cNvSpPr>
              <p:nvPr/>
            </p:nvSpPr>
            <p:spPr bwMode="auto">
              <a:xfrm>
                <a:off x="4510"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44" name="Freeform 1465"/>
              <p:cNvSpPr>
                <a:spLocks/>
              </p:cNvSpPr>
              <p:nvPr/>
            </p:nvSpPr>
            <p:spPr bwMode="auto">
              <a:xfrm>
                <a:off x="1070"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45" name="Freeform 1466"/>
              <p:cNvSpPr>
                <a:spLocks/>
              </p:cNvSpPr>
              <p:nvPr/>
            </p:nvSpPr>
            <p:spPr bwMode="auto">
              <a:xfrm>
                <a:off x="1559"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6" name="Freeform 1467"/>
              <p:cNvSpPr>
                <a:spLocks/>
              </p:cNvSpPr>
              <p:nvPr/>
            </p:nvSpPr>
            <p:spPr bwMode="auto">
              <a:xfrm>
                <a:off x="1573" y="1538"/>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7" name="Freeform 1468"/>
              <p:cNvSpPr>
                <a:spLocks/>
              </p:cNvSpPr>
              <p:nvPr/>
            </p:nvSpPr>
            <p:spPr bwMode="auto">
              <a:xfrm>
                <a:off x="1576"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48" name="Freeform 1469"/>
              <p:cNvSpPr>
                <a:spLocks/>
              </p:cNvSpPr>
              <p:nvPr/>
            </p:nvSpPr>
            <p:spPr bwMode="auto">
              <a:xfrm>
                <a:off x="1606"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49" name="Freeform 1470"/>
              <p:cNvSpPr>
                <a:spLocks/>
              </p:cNvSpPr>
              <p:nvPr/>
            </p:nvSpPr>
            <p:spPr bwMode="auto">
              <a:xfrm>
                <a:off x="1625"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50" name="Freeform 1471"/>
              <p:cNvSpPr>
                <a:spLocks/>
              </p:cNvSpPr>
              <p:nvPr/>
            </p:nvSpPr>
            <p:spPr bwMode="auto">
              <a:xfrm>
                <a:off x="1670"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1" name="Freeform 1472"/>
              <p:cNvSpPr>
                <a:spLocks/>
              </p:cNvSpPr>
              <p:nvPr/>
            </p:nvSpPr>
            <p:spPr bwMode="auto">
              <a:xfrm>
                <a:off x="1726"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2" name="Freeform 1473"/>
              <p:cNvSpPr>
                <a:spLocks/>
              </p:cNvSpPr>
              <p:nvPr/>
            </p:nvSpPr>
            <p:spPr bwMode="auto">
              <a:xfrm>
                <a:off x="1936"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3" name="Freeform 1474"/>
              <p:cNvSpPr>
                <a:spLocks/>
              </p:cNvSpPr>
              <p:nvPr/>
            </p:nvSpPr>
            <p:spPr bwMode="auto">
              <a:xfrm>
                <a:off x="2390" y="1538"/>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4" name="Freeform 1475"/>
              <p:cNvSpPr>
                <a:spLocks/>
              </p:cNvSpPr>
              <p:nvPr/>
            </p:nvSpPr>
            <p:spPr bwMode="auto">
              <a:xfrm>
                <a:off x="2397" y="1538"/>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5" name="Freeform 1476"/>
              <p:cNvSpPr>
                <a:spLocks/>
              </p:cNvSpPr>
              <p:nvPr/>
            </p:nvSpPr>
            <p:spPr bwMode="auto">
              <a:xfrm>
                <a:off x="2400"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6" name="Freeform 1477"/>
              <p:cNvSpPr>
                <a:spLocks/>
              </p:cNvSpPr>
              <p:nvPr/>
            </p:nvSpPr>
            <p:spPr bwMode="auto">
              <a:xfrm>
                <a:off x="2407"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7" name="Freeform 1478"/>
              <p:cNvSpPr>
                <a:spLocks/>
              </p:cNvSpPr>
              <p:nvPr/>
            </p:nvSpPr>
            <p:spPr bwMode="auto">
              <a:xfrm>
                <a:off x="2419"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8" name="Freeform 1479"/>
              <p:cNvSpPr>
                <a:spLocks/>
              </p:cNvSpPr>
              <p:nvPr/>
            </p:nvSpPr>
            <p:spPr bwMode="auto">
              <a:xfrm>
                <a:off x="2472"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9" name="Freeform 1480"/>
              <p:cNvSpPr>
                <a:spLocks/>
              </p:cNvSpPr>
              <p:nvPr/>
            </p:nvSpPr>
            <p:spPr bwMode="auto">
              <a:xfrm>
                <a:off x="2501"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0" name="Freeform 1481"/>
              <p:cNvSpPr>
                <a:spLocks/>
              </p:cNvSpPr>
              <p:nvPr/>
            </p:nvSpPr>
            <p:spPr bwMode="auto">
              <a:xfrm>
                <a:off x="2517"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1" name="Freeform 1482"/>
              <p:cNvSpPr>
                <a:spLocks/>
              </p:cNvSpPr>
              <p:nvPr/>
            </p:nvSpPr>
            <p:spPr bwMode="auto">
              <a:xfrm>
                <a:off x="2534"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2" name="Freeform 1483"/>
              <p:cNvSpPr>
                <a:spLocks/>
              </p:cNvSpPr>
              <p:nvPr/>
            </p:nvSpPr>
            <p:spPr bwMode="auto">
              <a:xfrm>
                <a:off x="2538" y="153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63" name="Freeform 1484"/>
              <p:cNvSpPr>
                <a:spLocks/>
              </p:cNvSpPr>
              <p:nvPr/>
            </p:nvSpPr>
            <p:spPr bwMode="auto">
              <a:xfrm>
                <a:off x="2554" y="153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64" name="Freeform 1485"/>
              <p:cNvSpPr>
                <a:spLocks/>
              </p:cNvSpPr>
              <p:nvPr/>
            </p:nvSpPr>
            <p:spPr bwMode="auto">
              <a:xfrm>
                <a:off x="2582" y="1538"/>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65" name="Freeform 1486"/>
              <p:cNvSpPr>
                <a:spLocks/>
              </p:cNvSpPr>
              <p:nvPr/>
            </p:nvSpPr>
            <p:spPr bwMode="auto">
              <a:xfrm>
                <a:off x="2594" y="153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66" name="Freeform 1487"/>
              <p:cNvSpPr>
                <a:spLocks/>
              </p:cNvSpPr>
              <p:nvPr/>
            </p:nvSpPr>
            <p:spPr bwMode="auto">
              <a:xfrm>
                <a:off x="2606"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7" name="Freeform 1488"/>
              <p:cNvSpPr>
                <a:spLocks/>
              </p:cNvSpPr>
              <p:nvPr/>
            </p:nvSpPr>
            <p:spPr bwMode="auto">
              <a:xfrm>
                <a:off x="2733"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8" name="Freeform 1489"/>
              <p:cNvSpPr>
                <a:spLocks/>
              </p:cNvSpPr>
              <p:nvPr/>
            </p:nvSpPr>
            <p:spPr bwMode="auto">
              <a:xfrm>
                <a:off x="2765"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9" name="Freeform 1490"/>
              <p:cNvSpPr>
                <a:spLocks/>
              </p:cNvSpPr>
              <p:nvPr/>
            </p:nvSpPr>
            <p:spPr bwMode="auto">
              <a:xfrm>
                <a:off x="3257"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70" name="Freeform 1491"/>
              <p:cNvSpPr>
                <a:spLocks/>
              </p:cNvSpPr>
              <p:nvPr/>
            </p:nvSpPr>
            <p:spPr bwMode="auto">
              <a:xfrm>
                <a:off x="3297"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71" name="Freeform 1492"/>
              <p:cNvSpPr>
                <a:spLocks/>
              </p:cNvSpPr>
              <p:nvPr/>
            </p:nvSpPr>
            <p:spPr bwMode="auto">
              <a:xfrm>
                <a:off x="3318"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2" name="Freeform 1493"/>
              <p:cNvSpPr>
                <a:spLocks/>
              </p:cNvSpPr>
              <p:nvPr/>
            </p:nvSpPr>
            <p:spPr bwMode="auto">
              <a:xfrm>
                <a:off x="3322" y="153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73" name="Freeform 1494"/>
              <p:cNvSpPr>
                <a:spLocks/>
              </p:cNvSpPr>
              <p:nvPr/>
            </p:nvSpPr>
            <p:spPr bwMode="auto">
              <a:xfrm>
                <a:off x="3501"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4" name="Freeform 1495"/>
              <p:cNvSpPr>
                <a:spLocks/>
              </p:cNvSpPr>
              <p:nvPr/>
            </p:nvSpPr>
            <p:spPr bwMode="auto">
              <a:xfrm>
                <a:off x="3512"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5" name="Freeform 1496"/>
              <p:cNvSpPr>
                <a:spLocks/>
              </p:cNvSpPr>
              <p:nvPr/>
            </p:nvSpPr>
            <p:spPr bwMode="auto">
              <a:xfrm>
                <a:off x="3519"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6" name="Freeform 1497"/>
              <p:cNvSpPr>
                <a:spLocks/>
              </p:cNvSpPr>
              <p:nvPr/>
            </p:nvSpPr>
            <p:spPr bwMode="auto">
              <a:xfrm>
                <a:off x="3554"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7" name="Freeform 1498"/>
              <p:cNvSpPr>
                <a:spLocks/>
              </p:cNvSpPr>
              <p:nvPr/>
            </p:nvSpPr>
            <p:spPr bwMode="auto">
              <a:xfrm>
                <a:off x="3927"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8" name="Freeform 1499"/>
              <p:cNvSpPr>
                <a:spLocks/>
              </p:cNvSpPr>
              <p:nvPr/>
            </p:nvSpPr>
            <p:spPr bwMode="auto">
              <a:xfrm>
                <a:off x="3974"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9" name="Freeform 1500"/>
              <p:cNvSpPr>
                <a:spLocks/>
              </p:cNvSpPr>
              <p:nvPr/>
            </p:nvSpPr>
            <p:spPr bwMode="auto">
              <a:xfrm>
                <a:off x="3985"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0" name="Freeform 1501"/>
              <p:cNvSpPr>
                <a:spLocks/>
              </p:cNvSpPr>
              <p:nvPr/>
            </p:nvSpPr>
            <p:spPr bwMode="auto">
              <a:xfrm>
                <a:off x="3992"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1" name="Freeform 1502"/>
              <p:cNvSpPr>
                <a:spLocks/>
              </p:cNvSpPr>
              <p:nvPr/>
            </p:nvSpPr>
            <p:spPr bwMode="auto">
              <a:xfrm>
                <a:off x="4009"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2" name="Freeform 1503"/>
              <p:cNvSpPr>
                <a:spLocks/>
              </p:cNvSpPr>
              <p:nvPr/>
            </p:nvSpPr>
            <p:spPr bwMode="auto">
              <a:xfrm>
                <a:off x="4016"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3" name="Freeform 1504"/>
              <p:cNvSpPr>
                <a:spLocks/>
              </p:cNvSpPr>
              <p:nvPr/>
            </p:nvSpPr>
            <p:spPr bwMode="auto">
              <a:xfrm>
                <a:off x="4018"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84" name="Freeform 1505"/>
              <p:cNvSpPr>
                <a:spLocks/>
              </p:cNvSpPr>
              <p:nvPr/>
            </p:nvSpPr>
            <p:spPr bwMode="auto">
              <a:xfrm>
                <a:off x="4023"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5" name="Freeform 1506"/>
              <p:cNvSpPr>
                <a:spLocks/>
              </p:cNvSpPr>
              <p:nvPr/>
            </p:nvSpPr>
            <p:spPr bwMode="auto">
              <a:xfrm>
                <a:off x="4025"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6" name="Freeform 1507"/>
              <p:cNvSpPr>
                <a:spLocks/>
              </p:cNvSpPr>
              <p:nvPr/>
            </p:nvSpPr>
            <p:spPr bwMode="auto">
              <a:xfrm>
                <a:off x="4032"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7" name="Freeform 1508"/>
              <p:cNvSpPr>
                <a:spLocks/>
              </p:cNvSpPr>
              <p:nvPr/>
            </p:nvSpPr>
            <p:spPr bwMode="auto">
              <a:xfrm>
                <a:off x="4053"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8" name="Freeform 1509"/>
              <p:cNvSpPr>
                <a:spLocks/>
              </p:cNvSpPr>
              <p:nvPr/>
            </p:nvSpPr>
            <p:spPr bwMode="auto">
              <a:xfrm>
                <a:off x="4112"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9" name="Freeform 1510"/>
              <p:cNvSpPr>
                <a:spLocks/>
              </p:cNvSpPr>
              <p:nvPr/>
            </p:nvSpPr>
            <p:spPr bwMode="auto">
              <a:xfrm>
                <a:off x="4118" y="1538"/>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90" name="Freeform 1511"/>
              <p:cNvSpPr>
                <a:spLocks/>
              </p:cNvSpPr>
              <p:nvPr/>
            </p:nvSpPr>
            <p:spPr bwMode="auto">
              <a:xfrm>
                <a:off x="4184"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1" name="Freeform 1512"/>
              <p:cNvSpPr>
                <a:spLocks/>
              </p:cNvSpPr>
              <p:nvPr/>
            </p:nvSpPr>
            <p:spPr bwMode="auto">
              <a:xfrm>
                <a:off x="4210"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2" name="Freeform 1513"/>
              <p:cNvSpPr>
                <a:spLocks/>
              </p:cNvSpPr>
              <p:nvPr/>
            </p:nvSpPr>
            <p:spPr bwMode="auto">
              <a:xfrm>
                <a:off x="4235" y="153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93" name="Freeform 1514"/>
              <p:cNvSpPr>
                <a:spLocks/>
              </p:cNvSpPr>
              <p:nvPr/>
            </p:nvSpPr>
            <p:spPr bwMode="auto">
              <a:xfrm>
                <a:off x="4249"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94" name="Freeform 1515"/>
              <p:cNvSpPr>
                <a:spLocks/>
              </p:cNvSpPr>
              <p:nvPr/>
            </p:nvSpPr>
            <p:spPr bwMode="auto">
              <a:xfrm>
                <a:off x="4294"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5" name="Freeform 1516"/>
              <p:cNvSpPr>
                <a:spLocks/>
              </p:cNvSpPr>
              <p:nvPr/>
            </p:nvSpPr>
            <p:spPr bwMode="auto">
              <a:xfrm>
                <a:off x="4435"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96" name="Freeform 1517"/>
              <p:cNvSpPr>
                <a:spLocks/>
              </p:cNvSpPr>
              <p:nvPr/>
            </p:nvSpPr>
            <p:spPr bwMode="auto">
              <a:xfrm>
                <a:off x="4465"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7" name="Freeform 1518"/>
              <p:cNvSpPr>
                <a:spLocks/>
              </p:cNvSpPr>
              <p:nvPr/>
            </p:nvSpPr>
            <p:spPr bwMode="auto">
              <a:xfrm>
                <a:off x="4568"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8" name="Freeform 1519"/>
              <p:cNvSpPr>
                <a:spLocks/>
              </p:cNvSpPr>
              <p:nvPr/>
            </p:nvSpPr>
            <p:spPr bwMode="auto">
              <a:xfrm>
                <a:off x="4571"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99" name="Freeform 1520"/>
              <p:cNvSpPr>
                <a:spLocks/>
              </p:cNvSpPr>
              <p:nvPr/>
            </p:nvSpPr>
            <p:spPr bwMode="auto">
              <a:xfrm>
                <a:off x="1416"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00" name="Freeform 1521"/>
              <p:cNvSpPr>
                <a:spLocks/>
              </p:cNvSpPr>
              <p:nvPr/>
            </p:nvSpPr>
            <p:spPr bwMode="auto">
              <a:xfrm>
                <a:off x="1559" y="1498"/>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01" name="Freeform 1522"/>
              <p:cNvSpPr>
                <a:spLocks/>
              </p:cNvSpPr>
              <p:nvPr/>
            </p:nvSpPr>
            <p:spPr bwMode="auto">
              <a:xfrm>
                <a:off x="1695" y="1498"/>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2" name="Freeform 1523"/>
              <p:cNvSpPr>
                <a:spLocks/>
              </p:cNvSpPr>
              <p:nvPr/>
            </p:nvSpPr>
            <p:spPr bwMode="auto">
              <a:xfrm>
                <a:off x="1878"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3" name="Freeform 1524"/>
              <p:cNvSpPr>
                <a:spLocks/>
              </p:cNvSpPr>
              <p:nvPr/>
            </p:nvSpPr>
            <p:spPr bwMode="auto">
              <a:xfrm>
                <a:off x="1903" y="1498"/>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04" name="Freeform 1525"/>
              <p:cNvSpPr>
                <a:spLocks/>
              </p:cNvSpPr>
              <p:nvPr/>
            </p:nvSpPr>
            <p:spPr bwMode="auto">
              <a:xfrm>
                <a:off x="1904" y="1498"/>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05" name="Freeform 1526"/>
              <p:cNvSpPr>
                <a:spLocks/>
              </p:cNvSpPr>
              <p:nvPr/>
            </p:nvSpPr>
            <p:spPr bwMode="auto">
              <a:xfrm>
                <a:off x="1924"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06" name="Freeform 1527"/>
              <p:cNvSpPr>
                <a:spLocks/>
              </p:cNvSpPr>
              <p:nvPr/>
            </p:nvSpPr>
            <p:spPr bwMode="auto">
              <a:xfrm>
                <a:off x="1929"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07" name="Freeform 1528"/>
              <p:cNvSpPr>
                <a:spLocks/>
              </p:cNvSpPr>
              <p:nvPr/>
            </p:nvSpPr>
            <p:spPr bwMode="auto">
              <a:xfrm>
                <a:off x="1967"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8" name="Freeform 1529"/>
              <p:cNvSpPr>
                <a:spLocks/>
              </p:cNvSpPr>
              <p:nvPr/>
            </p:nvSpPr>
            <p:spPr bwMode="auto">
              <a:xfrm>
                <a:off x="1974"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9" name="Freeform 1530"/>
              <p:cNvSpPr>
                <a:spLocks/>
              </p:cNvSpPr>
              <p:nvPr/>
            </p:nvSpPr>
            <p:spPr bwMode="auto">
              <a:xfrm>
                <a:off x="2505" y="1498"/>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10" name="Freeform 1531"/>
              <p:cNvSpPr>
                <a:spLocks/>
              </p:cNvSpPr>
              <p:nvPr/>
            </p:nvSpPr>
            <p:spPr bwMode="auto">
              <a:xfrm>
                <a:off x="2550"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1" name="Freeform 1532"/>
              <p:cNvSpPr>
                <a:spLocks/>
              </p:cNvSpPr>
              <p:nvPr/>
            </p:nvSpPr>
            <p:spPr bwMode="auto">
              <a:xfrm>
                <a:off x="2552" y="1498"/>
                <a:ext cx="10" cy="11"/>
              </a:xfrm>
              <a:custGeom>
                <a:avLst/>
                <a:gdLst>
                  <a:gd name="T0" fmla="*/ 2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9" y="0"/>
                    </a:lnTo>
                    <a:lnTo>
                      <a:pt x="10" y="2"/>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2" name="Freeform 1533"/>
              <p:cNvSpPr>
                <a:spLocks/>
              </p:cNvSpPr>
              <p:nvPr/>
            </p:nvSpPr>
            <p:spPr bwMode="auto">
              <a:xfrm>
                <a:off x="3025" y="1498"/>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13" name="Freeform 1534"/>
              <p:cNvSpPr>
                <a:spLocks/>
              </p:cNvSpPr>
              <p:nvPr/>
            </p:nvSpPr>
            <p:spPr bwMode="auto">
              <a:xfrm>
                <a:off x="3280" y="1498"/>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4" name="Freeform 1535"/>
              <p:cNvSpPr>
                <a:spLocks/>
              </p:cNvSpPr>
              <p:nvPr/>
            </p:nvSpPr>
            <p:spPr bwMode="auto">
              <a:xfrm>
                <a:off x="3287" y="1498"/>
                <a:ext cx="8" cy="11"/>
              </a:xfrm>
              <a:custGeom>
                <a:avLst/>
                <a:gdLst>
                  <a:gd name="T0" fmla="*/ 2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2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2" y="0"/>
                    </a:moveTo>
                    <a:lnTo>
                      <a:pt x="7" y="0"/>
                    </a:lnTo>
                    <a:lnTo>
                      <a:pt x="8" y="2"/>
                    </a:lnTo>
                    <a:lnTo>
                      <a:pt x="8"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5" name="Freeform 1536"/>
              <p:cNvSpPr>
                <a:spLocks/>
              </p:cNvSpPr>
              <p:nvPr/>
            </p:nvSpPr>
            <p:spPr bwMode="auto">
              <a:xfrm>
                <a:off x="3297" y="1498"/>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16" name="Freeform 1537"/>
              <p:cNvSpPr>
                <a:spLocks/>
              </p:cNvSpPr>
              <p:nvPr/>
            </p:nvSpPr>
            <p:spPr bwMode="auto">
              <a:xfrm>
                <a:off x="3302"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7" name="Freeform 1538"/>
              <p:cNvSpPr>
                <a:spLocks/>
              </p:cNvSpPr>
              <p:nvPr/>
            </p:nvSpPr>
            <p:spPr bwMode="auto">
              <a:xfrm>
                <a:off x="3304"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8" name="Freeform 1539"/>
              <p:cNvSpPr>
                <a:spLocks/>
              </p:cNvSpPr>
              <p:nvPr/>
            </p:nvSpPr>
            <p:spPr bwMode="auto">
              <a:xfrm>
                <a:off x="3322"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19" name="Freeform 1540"/>
              <p:cNvSpPr>
                <a:spLocks/>
              </p:cNvSpPr>
              <p:nvPr/>
            </p:nvSpPr>
            <p:spPr bwMode="auto">
              <a:xfrm>
                <a:off x="3337"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0" name="Freeform 1541"/>
              <p:cNvSpPr>
                <a:spLocks/>
              </p:cNvSpPr>
              <p:nvPr/>
            </p:nvSpPr>
            <p:spPr bwMode="auto">
              <a:xfrm>
                <a:off x="3344"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1" name="Freeform 1542"/>
              <p:cNvSpPr>
                <a:spLocks/>
              </p:cNvSpPr>
              <p:nvPr/>
            </p:nvSpPr>
            <p:spPr bwMode="auto">
              <a:xfrm>
                <a:off x="3458" y="1498"/>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22" name="Freeform 1543"/>
              <p:cNvSpPr>
                <a:spLocks/>
              </p:cNvSpPr>
              <p:nvPr/>
            </p:nvSpPr>
            <p:spPr bwMode="auto">
              <a:xfrm>
                <a:off x="3501"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3" name="Freeform 1544"/>
              <p:cNvSpPr>
                <a:spLocks/>
              </p:cNvSpPr>
              <p:nvPr/>
            </p:nvSpPr>
            <p:spPr bwMode="auto">
              <a:xfrm>
                <a:off x="3577" y="1498"/>
                <a:ext cx="10" cy="11"/>
              </a:xfrm>
              <a:custGeom>
                <a:avLst/>
                <a:gdLst>
                  <a:gd name="T0" fmla="*/ 1 w 10"/>
                  <a:gd name="T1" fmla="*/ 0 h 11"/>
                  <a:gd name="T2" fmla="*/ 6 w 10"/>
                  <a:gd name="T3" fmla="*/ 0 h 11"/>
                  <a:gd name="T4" fmla="*/ 10 w 10"/>
                  <a:gd name="T5" fmla="*/ 4 h 11"/>
                  <a:gd name="T6" fmla="*/ 10 w 10"/>
                  <a:gd name="T7" fmla="*/ 7 h 11"/>
                  <a:gd name="T8" fmla="*/ 6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6" y="0"/>
                    </a:lnTo>
                    <a:lnTo>
                      <a:pt x="10" y="4"/>
                    </a:lnTo>
                    <a:lnTo>
                      <a:pt x="10" y="7"/>
                    </a:lnTo>
                    <a:lnTo>
                      <a:pt x="6"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24" name="Freeform 1545"/>
              <p:cNvSpPr>
                <a:spLocks/>
              </p:cNvSpPr>
              <p:nvPr/>
            </p:nvSpPr>
            <p:spPr bwMode="auto">
              <a:xfrm>
                <a:off x="4247"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5" name="Freeform 1546"/>
              <p:cNvSpPr>
                <a:spLocks/>
              </p:cNvSpPr>
              <p:nvPr/>
            </p:nvSpPr>
            <p:spPr bwMode="auto">
              <a:xfrm>
                <a:off x="4250" y="1498"/>
                <a:ext cx="11" cy="11"/>
              </a:xfrm>
              <a:custGeom>
                <a:avLst/>
                <a:gdLst>
                  <a:gd name="T0" fmla="*/ 2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9" y="0"/>
                    </a:lnTo>
                    <a:lnTo>
                      <a:pt x="11" y="2"/>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6" name="Freeform 1547"/>
              <p:cNvSpPr>
                <a:spLocks/>
              </p:cNvSpPr>
              <p:nvPr/>
            </p:nvSpPr>
            <p:spPr bwMode="auto">
              <a:xfrm>
                <a:off x="4273" y="1498"/>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7" name="Freeform 1548"/>
              <p:cNvSpPr>
                <a:spLocks/>
              </p:cNvSpPr>
              <p:nvPr/>
            </p:nvSpPr>
            <p:spPr bwMode="auto">
              <a:xfrm>
                <a:off x="4296"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28" name="Freeform 1549"/>
              <p:cNvSpPr>
                <a:spLocks/>
              </p:cNvSpPr>
              <p:nvPr/>
            </p:nvSpPr>
            <p:spPr bwMode="auto">
              <a:xfrm>
                <a:off x="4310"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29" name="Freeform 1550"/>
              <p:cNvSpPr>
                <a:spLocks/>
              </p:cNvSpPr>
              <p:nvPr/>
            </p:nvSpPr>
            <p:spPr bwMode="auto">
              <a:xfrm>
                <a:off x="4320"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0" name="Freeform 1551"/>
              <p:cNvSpPr>
                <a:spLocks/>
              </p:cNvSpPr>
              <p:nvPr/>
            </p:nvSpPr>
            <p:spPr bwMode="auto">
              <a:xfrm>
                <a:off x="4393"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1" name="Freeform 1552"/>
              <p:cNvSpPr>
                <a:spLocks/>
              </p:cNvSpPr>
              <p:nvPr/>
            </p:nvSpPr>
            <p:spPr bwMode="auto">
              <a:xfrm>
                <a:off x="4402" y="1498"/>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32" name="Freeform 1553"/>
              <p:cNvSpPr>
                <a:spLocks/>
              </p:cNvSpPr>
              <p:nvPr/>
            </p:nvSpPr>
            <p:spPr bwMode="auto">
              <a:xfrm>
                <a:off x="4407"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3" name="Freeform 1554"/>
              <p:cNvSpPr>
                <a:spLocks/>
              </p:cNvSpPr>
              <p:nvPr/>
            </p:nvSpPr>
            <p:spPr bwMode="auto">
              <a:xfrm>
                <a:off x="4439"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4" name="Freeform 1555"/>
              <p:cNvSpPr>
                <a:spLocks/>
              </p:cNvSpPr>
              <p:nvPr/>
            </p:nvSpPr>
            <p:spPr bwMode="auto">
              <a:xfrm>
                <a:off x="4448"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35" name="Freeform 1556"/>
              <p:cNvSpPr>
                <a:spLocks/>
              </p:cNvSpPr>
              <p:nvPr/>
            </p:nvSpPr>
            <p:spPr bwMode="auto">
              <a:xfrm>
                <a:off x="4456"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6" name="Freeform 1557"/>
              <p:cNvSpPr>
                <a:spLocks/>
              </p:cNvSpPr>
              <p:nvPr/>
            </p:nvSpPr>
            <p:spPr bwMode="auto">
              <a:xfrm>
                <a:off x="4467"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37" name="Freeform 1558"/>
              <p:cNvSpPr>
                <a:spLocks/>
              </p:cNvSpPr>
              <p:nvPr/>
            </p:nvSpPr>
            <p:spPr bwMode="auto">
              <a:xfrm>
                <a:off x="4472"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8" name="Freeform 1559"/>
              <p:cNvSpPr>
                <a:spLocks/>
              </p:cNvSpPr>
              <p:nvPr/>
            </p:nvSpPr>
            <p:spPr bwMode="auto">
              <a:xfrm>
                <a:off x="4479"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9" name="Freeform 1560"/>
              <p:cNvSpPr>
                <a:spLocks/>
              </p:cNvSpPr>
              <p:nvPr/>
            </p:nvSpPr>
            <p:spPr bwMode="auto">
              <a:xfrm>
                <a:off x="4496"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0" name="Freeform 1561"/>
              <p:cNvSpPr>
                <a:spLocks/>
              </p:cNvSpPr>
              <p:nvPr/>
            </p:nvSpPr>
            <p:spPr bwMode="auto">
              <a:xfrm>
                <a:off x="4510"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1" name="Freeform 1562"/>
              <p:cNvSpPr>
                <a:spLocks/>
              </p:cNvSpPr>
              <p:nvPr/>
            </p:nvSpPr>
            <p:spPr bwMode="auto">
              <a:xfrm>
                <a:off x="4624"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2" name="Freeform 1563"/>
              <p:cNvSpPr>
                <a:spLocks/>
              </p:cNvSpPr>
              <p:nvPr/>
            </p:nvSpPr>
            <p:spPr bwMode="auto">
              <a:xfrm>
                <a:off x="1409"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43" name="Freeform 1564"/>
              <p:cNvSpPr>
                <a:spLocks/>
              </p:cNvSpPr>
              <p:nvPr/>
            </p:nvSpPr>
            <p:spPr bwMode="auto">
              <a:xfrm>
                <a:off x="1440" y="1458"/>
                <a:ext cx="10" cy="10"/>
              </a:xfrm>
              <a:custGeom>
                <a:avLst/>
                <a:gdLst>
                  <a:gd name="T0" fmla="*/ 4 w 10"/>
                  <a:gd name="T1" fmla="*/ 0 h 10"/>
                  <a:gd name="T2" fmla="*/ 9 w 10"/>
                  <a:gd name="T3" fmla="*/ 0 h 10"/>
                  <a:gd name="T4" fmla="*/ 10 w 10"/>
                  <a:gd name="T5" fmla="*/ 2 h 10"/>
                  <a:gd name="T6" fmla="*/ 10 w 10"/>
                  <a:gd name="T7" fmla="*/ 7 h 10"/>
                  <a:gd name="T8" fmla="*/ 7 w 10"/>
                  <a:gd name="T9" fmla="*/ 10 h 10"/>
                  <a:gd name="T10" fmla="*/ 4 w 10"/>
                  <a:gd name="T11" fmla="*/ 10 h 10"/>
                  <a:gd name="T12" fmla="*/ 0 w 10"/>
                  <a:gd name="T13" fmla="*/ 7 h 10"/>
                  <a:gd name="T14" fmla="*/ 0 w 10"/>
                  <a:gd name="T15" fmla="*/ 3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9" y="0"/>
                    </a:lnTo>
                    <a:lnTo>
                      <a:pt x="10" y="2"/>
                    </a:lnTo>
                    <a:lnTo>
                      <a:pt x="10"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44" name="Freeform 1565"/>
              <p:cNvSpPr>
                <a:spLocks/>
              </p:cNvSpPr>
              <p:nvPr/>
            </p:nvSpPr>
            <p:spPr bwMode="auto">
              <a:xfrm>
                <a:off x="1503"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5" name="Freeform 1566"/>
              <p:cNvSpPr>
                <a:spLocks/>
              </p:cNvSpPr>
              <p:nvPr/>
            </p:nvSpPr>
            <p:spPr bwMode="auto">
              <a:xfrm>
                <a:off x="1541"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6" name="Freeform 1567"/>
              <p:cNvSpPr>
                <a:spLocks/>
              </p:cNvSpPr>
              <p:nvPr/>
            </p:nvSpPr>
            <p:spPr bwMode="auto">
              <a:xfrm>
                <a:off x="1547" y="1458"/>
                <a:ext cx="8" cy="10"/>
              </a:xfrm>
              <a:custGeom>
                <a:avLst/>
                <a:gdLst>
                  <a:gd name="T0" fmla="*/ 1 w 8"/>
                  <a:gd name="T1" fmla="*/ 0 h 10"/>
                  <a:gd name="T2" fmla="*/ 6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6"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47" name="Freeform 1568"/>
              <p:cNvSpPr>
                <a:spLocks/>
              </p:cNvSpPr>
              <p:nvPr/>
            </p:nvSpPr>
            <p:spPr bwMode="auto">
              <a:xfrm>
                <a:off x="1550"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8" name="Freeform 1569"/>
              <p:cNvSpPr>
                <a:spLocks/>
              </p:cNvSpPr>
              <p:nvPr/>
            </p:nvSpPr>
            <p:spPr bwMode="auto">
              <a:xfrm>
                <a:off x="1602"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9" name="Freeform 1570"/>
              <p:cNvSpPr>
                <a:spLocks/>
              </p:cNvSpPr>
              <p:nvPr/>
            </p:nvSpPr>
            <p:spPr bwMode="auto">
              <a:xfrm>
                <a:off x="1625" y="1458"/>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50" name="Freeform 1571"/>
              <p:cNvSpPr>
                <a:spLocks/>
              </p:cNvSpPr>
              <p:nvPr/>
            </p:nvSpPr>
            <p:spPr bwMode="auto">
              <a:xfrm>
                <a:off x="1670"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1" name="Freeform 1572"/>
              <p:cNvSpPr>
                <a:spLocks/>
              </p:cNvSpPr>
              <p:nvPr/>
            </p:nvSpPr>
            <p:spPr bwMode="auto">
              <a:xfrm>
                <a:off x="2527"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2" name="Freeform 1573"/>
              <p:cNvSpPr>
                <a:spLocks/>
              </p:cNvSpPr>
              <p:nvPr/>
            </p:nvSpPr>
            <p:spPr bwMode="auto">
              <a:xfrm>
                <a:off x="2529" y="1458"/>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53" name="Freeform 1574"/>
              <p:cNvSpPr>
                <a:spLocks/>
              </p:cNvSpPr>
              <p:nvPr/>
            </p:nvSpPr>
            <p:spPr bwMode="auto">
              <a:xfrm>
                <a:off x="2533" y="1458"/>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54" name="Freeform 1575"/>
              <p:cNvSpPr>
                <a:spLocks/>
              </p:cNvSpPr>
              <p:nvPr/>
            </p:nvSpPr>
            <p:spPr bwMode="auto">
              <a:xfrm>
                <a:off x="2536"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5" name="Freeform 1576"/>
              <p:cNvSpPr>
                <a:spLocks/>
              </p:cNvSpPr>
              <p:nvPr/>
            </p:nvSpPr>
            <p:spPr bwMode="auto">
              <a:xfrm>
                <a:off x="2557"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6" name="Freeform 1577"/>
              <p:cNvSpPr>
                <a:spLocks/>
              </p:cNvSpPr>
              <p:nvPr/>
            </p:nvSpPr>
            <p:spPr bwMode="auto">
              <a:xfrm>
                <a:off x="2564"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7" name="Freeform 1578"/>
              <p:cNvSpPr>
                <a:spLocks/>
              </p:cNvSpPr>
              <p:nvPr/>
            </p:nvSpPr>
            <p:spPr bwMode="auto">
              <a:xfrm>
                <a:off x="2576"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8" name="Freeform 1579"/>
              <p:cNvSpPr>
                <a:spLocks/>
              </p:cNvSpPr>
              <p:nvPr/>
            </p:nvSpPr>
            <p:spPr bwMode="auto">
              <a:xfrm>
                <a:off x="2583"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9" name="Freeform 1580"/>
              <p:cNvSpPr>
                <a:spLocks/>
              </p:cNvSpPr>
              <p:nvPr/>
            </p:nvSpPr>
            <p:spPr bwMode="auto">
              <a:xfrm>
                <a:off x="2728"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0" name="Freeform 1581"/>
              <p:cNvSpPr>
                <a:spLocks/>
              </p:cNvSpPr>
              <p:nvPr/>
            </p:nvSpPr>
            <p:spPr bwMode="auto">
              <a:xfrm>
                <a:off x="3276"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1" name="Freeform 1582"/>
              <p:cNvSpPr>
                <a:spLocks/>
              </p:cNvSpPr>
              <p:nvPr/>
            </p:nvSpPr>
            <p:spPr bwMode="auto">
              <a:xfrm>
                <a:off x="3295"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2" name="Freeform 1583"/>
              <p:cNvSpPr>
                <a:spLocks/>
              </p:cNvSpPr>
              <p:nvPr/>
            </p:nvSpPr>
            <p:spPr bwMode="auto">
              <a:xfrm>
                <a:off x="3297" y="1458"/>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63" name="Freeform 1584"/>
              <p:cNvSpPr>
                <a:spLocks/>
              </p:cNvSpPr>
              <p:nvPr/>
            </p:nvSpPr>
            <p:spPr bwMode="auto">
              <a:xfrm>
                <a:off x="3311"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4" name="Freeform 1585"/>
              <p:cNvSpPr>
                <a:spLocks/>
              </p:cNvSpPr>
              <p:nvPr/>
            </p:nvSpPr>
            <p:spPr bwMode="auto">
              <a:xfrm>
                <a:off x="3318"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5" name="Freeform 1586"/>
              <p:cNvSpPr>
                <a:spLocks/>
              </p:cNvSpPr>
              <p:nvPr/>
            </p:nvSpPr>
            <p:spPr bwMode="auto">
              <a:xfrm>
                <a:off x="3322"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66" name="Freeform 1587"/>
              <p:cNvSpPr>
                <a:spLocks/>
              </p:cNvSpPr>
              <p:nvPr/>
            </p:nvSpPr>
            <p:spPr bwMode="auto">
              <a:xfrm>
                <a:off x="3329" y="1458"/>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67" name="Freeform 1588"/>
              <p:cNvSpPr>
                <a:spLocks/>
              </p:cNvSpPr>
              <p:nvPr/>
            </p:nvSpPr>
            <p:spPr bwMode="auto">
              <a:xfrm>
                <a:off x="3332"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8" name="Freeform 1589"/>
              <p:cNvSpPr>
                <a:spLocks/>
              </p:cNvSpPr>
              <p:nvPr/>
            </p:nvSpPr>
            <p:spPr bwMode="auto">
              <a:xfrm>
                <a:off x="3505"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9" name="Freeform 1590"/>
              <p:cNvSpPr>
                <a:spLocks/>
              </p:cNvSpPr>
              <p:nvPr/>
            </p:nvSpPr>
            <p:spPr bwMode="auto">
              <a:xfrm>
                <a:off x="3508"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0" name="Freeform 1591"/>
              <p:cNvSpPr>
                <a:spLocks/>
              </p:cNvSpPr>
              <p:nvPr/>
            </p:nvSpPr>
            <p:spPr bwMode="auto">
              <a:xfrm>
                <a:off x="3519"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1" name="Freeform 1592"/>
              <p:cNvSpPr>
                <a:spLocks/>
              </p:cNvSpPr>
              <p:nvPr/>
            </p:nvSpPr>
            <p:spPr bwMode="auto">
              <a:xfrm>
                <a:off x="3521" y="1458"/>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72" name="Freeform 1593"/>
              <p:cNvSpPr>
                <a:spLocks/>
              </p:cNvSpPr>
              <p:nvPr/>
            </p:nvSpPr>
            <p:spPr bwMode="auto">
              <a:xfrm>
                <a:off x="3575" y="1458"/>
                <a:ext cx="8" cy="10"/>
              </a:xfrm>
              <a:custGeom>
                <a:avLst/>
                <a:gdLst>
                  <a:gd name="T0" fmla="*/ 2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2"/>
                    </a:lnTo>
                    <a:lnTo>
                      <a:pt x="8"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3" name="Freeform 1594"/>
              <p:cNvSpPr>
                <a:spLocks/>
              </p:cNvSpPr>
              <p:nvPr/>
            </p:nvSpPr>
            <p:spPr bwMode="auto">
              <a:xfrm>
                <a:off x="3632"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4" name="Freeform 1595"/>
              <p:cNvSpPr>
                <a:spLocks/>
              </p:cNvSpPr>
              <p:nvPr/>
            </p:nvSpPr>
            <p:spPr bwMode="auto">
              <a:xfrm>
                <a:off x="3947"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75" name="Freeform 1596"/>
              <p:cNvSpPr>
                <a:spLocks/>
              </p:cNvSpPr>
              <p:nvPr/>
            </p:nvSpPr>
            <p:spPr bwMode="auto">
              <a:xfrm>
                <a:off x="4034"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6" name="Freeform 1597"/>
              <p:cNvSpPr>
                <a:spLocks/>
              </p:cNvSpPr>
              <p:nvPr/>
            </p:nvSpPr>
            <p:spPr bwMode="auto">
              <a:xfrm>
                <a:off x="4039"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7" name="Freeform 1598"/>
              <p:cNvSpPr>
                <a:spLocks/>
              </p:cNvSpPr>
              <p:nvPr/>
            </p:nvSpPr>
            <p:spPr bwMode="auto">
              <a:xfrm>
                <a:off x="4118" y="1458"/>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78" name="Freeform 1599"/>
              <p:cNvSpPr>
                <a:spLocks/>
              </p:cNvSpPr>
              <p:nvPr/>
            </p:nvSpPr>
            <p:spPr bwMode="auto">
              <a:xfrm>
                <a:off x="4128"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9" name="Freeform 1600"/>
              <p:cNvSpPr>
                <a:spLocks/>
              </p:cNvSpPr>
              <p:nvPr/>
            </p:nvSpPr>
            <p:spPr bwMode="auto">
              <a:xfrm>
                <a:off x="4132"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0" name="Freeform 1601"/>
              <p:cNvSpPr>
                <a:spLocks/>
              </p:cNvSpPr>
              <p:nvPr/>
            </p:nvSpPr>
            <p:spPr bwMode="auto">
              <a:xfrm>
                <a:off x="4219" y="1458"/>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1" name="Freeform 1602"/>
              <p:cNvSpPr>
                <a:spLocks/>
              </p:cNvSpPr>
              <p:nvPr/>
            </p:nvSpPr>
            <p:spPr bwMode="auto">
              <a:xfrm>
                <a:off x="4226" y="1458"/>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2" name="Freeform 1603"/>
              <p:cNvSpPr>
                <a:spLocks/>
              </p:cNvSpPr>
              <p:nvPr/>
            </p:nvSpPr>
            <p:spPr bwMode="auto">
              <a:xfrm>
                <a:off x="4273"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3" name="Freeform 1604"/>
              <p:cNvSpPr>
                <a:spLocks/>
              </p:cNvSpPr>
              <p:nvPr/>
            </p:nvSpPr>
            <p:spPr bwMode="auto">
              <a:xfrm>
                <a:off x="4278"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4" name="Freeform 1605"/>
              <p:cNvSpPr>
                <a:spLocks/>
              </p:cNvSpPr>
              <p:nvPr/>
            </p:nvSpPr>
            <p:spPr bwMode="auto">
              <a:xfrm>
                <a:off x="4282"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5" name="Freeform 1606"/>
              <p:cNvSpPr>
                <a:spLocks/>
              </p:cNvSpPr>
              <p:nvPr/>
            </p:nvSpPr>
            <p:spPr bwMode="auto">
              <a:xfrm>
                <a:off x="4306"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6" name="Freeform 1607"/>
              <p:cNvSpPr>
                <a:spLocks/>
              </p:cNvSpPr>
              <p:nvPr/>
            </p:nvSpPr>
            <p:spPr bwMode="auto">
              <a:xfrm>
                <a:off x="4313"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7" name="Freeform 1608"/>
              <p:cNvSpPr>
                <a:spLocks/>
              </p:cNvSpPr>
              <p:nvPr/>
            </p:nvSpPr>
            <p:spPr bwMode="auto">
              <a:xfrm>
                <a:off x="4322"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8" name="Freeform 1609"/>
              <p:cNvSpPr>
                <a:spLocks/>
              </p:cNvSpPr>
              <p:nvPr/>
            </p:nvSpPr>
            <p:spPr bwMode="auto">
              <a:xfrm>
                <a:off x="4338" y="1458"/>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89" name="Freeform 1610"/>
              <p:cNvSpPr>
                <a:spLocks/>
              </p:cNvSpPr>
              <p:nvPr/>
            </p:nvSpPr>
            <p:spPr bwMode="auto">
              <a:xfrm>
                <a:off x="4343"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90" name="Freeform 1611"/>
              <p:cNvSpPr>
                <a:spLocks/>
              </p:cNvSpPr>
              <p:nvPr/>
            </p:nvSpPr>
            <p:spPr bwMode="auto">
              <a:xfrm>
                <a:off x="4348" y="1458"/>
                <a:ext cx="10" cy="10"/>
              </a:xfrm>
              <a:custGeom>
                <a:avLst/>
                <a:gdLst>
                  <a:gd name="T0" fmla="*/ 4 w 10"/>
                  <a:gd name="T1" fmla="*/ 0 h 10"/>
                  <a:gd name="T2" fmla="*/ 9 w 10"/>
                  <a:gd name="T3" fmla="*/ 0 h 10"/>
                  <a:gd name="T4" fmla="*/ 10 w 10"/>
                  <a:gd name="T5" fmla="*/ 2 h 10"/>
                  <a:gd name="T6" fmla="*/ 10 w 10"/>
                  <a:gd name="T7" fmla="*/ 7 h 10"/>
                  <a:gd name="T8" fmla="*/ 7 w 10"/>
                  <a:gd name="T9" fmla="*/ 10 h 10"/>
                  <a:gd name="T10" fmla="*/ 4 w 10"/>
                  <a:gd name="T11" fmla="*/ 10 h 10"/>
                  <a:gd name="T12" fmla="*/ 0 w 10"/>
                  <a:gd name="T13" fmla="*/ 7 h 10"/>
                  <a:gd name="T14" fmla="*/ 0 w 10"/>
                  <a:gd name="T15" fmla="*/ 3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9" y="0"/>
                    </a:lnTo>
                    <a:lnTo>
                      <a:pt x="10" y="2"/>
                    </a:lnTo>
                    <a:lnTo>
                      <a:pt x="10"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10" name="Group 1813"/>
            <p:cNvGrpSpPr>
              <a:grpSpLocks/>
            </p:cNvGrpSpPr>
            <p:nvPr/>
          </p:nvGrpSpPr>
          <p:grpSpPr bwMode="auto">
            <a:xfrm>
              <a:off x="2227353" y="1935161"/>
              <a:ext cx="5094494" cy="395288"/>
              <a:chOff x="1403" y="1219"/>
              <a:chExt cx="3209" cy="249"/>
            </a:xfrm>
          </p:grpSpPr>
          <p:sp>
            <p:nvSpPr>
              <p:cNvPr id="1091" name="Freeform 1613"/>
              <p:cNvSpPr>
                <a:spLocks/>
              </p:cNvSpPr>
              <p:nvPr/>
            </p:nvSpPr>
            <p:spPr bwMode="auto">
              <a:xfrm>
                <a:off x="4449"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2" name="Freeform 1614"/>
              <p:cNvSpPr>
                <a:spLocks/>
              </p:cNvSpPr>
              <p:nvPr/>
            </p:nvSpPr>
            <p:spPr bwMode="auto">
              <a:xfrm>
                <a:off x="4467"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3" name="Freeform 1615"/>
              <p:cNvSpPr>
                <a:spLocks/>
              </p:cNvSpPr>
              <p:nvPr/>
            </p:nvSpPr>
            <p:spPr bwMode="auto">
              <a:xfrm>
                <a:off x="4479"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4" name="Freeform 1616"/>
              <p:cNvSpPr>
                <a:spLocks/>
              </p:cNvSpPr>
              <p:nvPr/>
            </p:nvSpPr>
            <p:spPr bwMode="auto">
              <a:xfrm>
                <a:off x="4601"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5" name="Freeform 1617"/>
              <p:cNvSpPr>
                <a:spLocks/>
              </p:cNvSpPr>
              <p:nvPr/>
            </p:nvSpPr>
            <p:spPr bwMode="auto">
              <a:xfrm>
                <a:off x="1403"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96" name="Freeform 1618"/>
              <p:cNvSpPr>
                <a:spLocks/>
              </p:cNvSpPr>
              <p:nvPr/>
            </p:nvSpPr>
            <p:spPr bwMode="auto">
              <a:xfrm>
                <a:off x="1604"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97" name="Freeform 1619"/>
              <p:cNvSpPr>
                <a:spLocks/>
              </p:cNvSpPr>
              <p:nvPr/>
            </p:nvSpPr>
            <p:spPr bwMode="auto">
              <a:xfrm>
                <a:off x="1646" y="141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8" name="Freeform 1620"/>
              <p:cNvSpPr>
                <a:spLocks/>
              </p:cNvSpPr>
              <p:nvPr/>
            </p:nvSpPr>
            <p:spPr bwMode="auto">
              <a:xfrm>
                <a:off x="2168" y="141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9" name="Freeform 1621"/>
              <p:cNvSpPr>
                <a:spLocks/>
              </p:cNvSpPr>
              <p:nvPr/>
            </p:nvSpPr>
            <p:spPr bwMode="auto">
              <a:xfrm>
                <a:off x="2463" y="141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0" name="Freeform 1622"/>
              <p:cNvSpPr>
                <a:spLocks/>
              </p:cNvSpPr>
              <p:nvPr/>
            </p:nvSpPr>
            <p:spPr bwMode="auto">
              <a:xfrm>
                <a:off x="2498" y="141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01" name="Freeform 1623"/>
              <p:cNvSpPr>
                <a:spLocks/>
              </p:cNvSpPr>
              <p:nvPr/>
            </p:nvSpPr>
            <p:spPr bwMode="auto">
              <a:xfrm>
                <a:off x="2508"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02" name="Freeform 1624"/>
              <p:cNvSpPr>
                <a:spLocks/>
              </p:cNvSpPr>
              <p:nvPr/>
            </p:nvSpPr>
            <p:spPr bwMode="auto">
              <a:xfrm>
                <a:off x="2543" y="1419"/>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3" name="Freeform 1625"/>
              <p:cNvSpPr>
                <a:spLocks/>
              </p:cNvSpPr>
              <p:nvPr/>
            </p:nvSpPr>
            <p:spPr bwMode="auto">
              <a:xfrm>
                <a:off x="2592" y="1419"/>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4" name="Freeform 1626"/>
              <p:cNvSpPr>
                <a:spLocks/>
              </p:cNvSpPr>
              <p:nvPr/>
            </p:nvSpPr>
            <p:spPr bwMode="auto">
              <a:xfrm>
                <a:off x="3315" y="141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05" name="Freeform 1627"/>
              <p:cNvSpPr>
                <a:spLocks/>
              </p:cNvSpPr>
              <p:nvPr/>
            </p:nvSpPr>
            <p:spPr bwMode="auto">
              <a:xfrm>
                <a:off x="3322" y="141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06" name="Freeform 1628"/>
              <p:cNvSpPr>
                <a:spLocks/>
              </p:cNvSpPr>
              <p:nvPr/>
            </p:nvSpPr>
            <p:spPr bwMode="auto">
              <a:xfrm>
                <a:off x="3329" y="141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07" name="Freeform 1629"/>
              <p:cNvSpPr>
                <a:spLocks/>
              </p:cNvSpPr>
              <p:nvPr/>
            </p:nvSpPr>
            <p:spPr bwMode="auto">
              <a:xfrm>
                <a:off x="3337" y="1419"/>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8" name="Freeform 1630"/>
              <p:cNvSpPr>
                <a:spLocks/>
              </p:cNvSpPr>
              <p:nvPr/>
            </p:nvSpPr>
            <p:spPr bwMode="auto">
              <a:xfrm>
                <a:off x="3343" y="1419"/>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09" name="Freeform 1631"/>
              <p:cNvSpPr>
                <a:spLocks/>
              </p:cNvSpPr>
              <p:nvPr/>
            </p:nvSpPr>
            <p:spPr bwMode="auto">
              <a:xfrm>
                <a:off x="3517"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10" name="Freeform 1632"/>
              <p:cNvSpPr>
                <a:spLocks/>
              </p:cNvSpPr>
              <p:nvPr/>
            </p:nvSpPr>
            <p:spPr bwMode="auto">
              <a:xfrm>
                <a:off x="3604"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11" name="Freeform 1633"/>
              <p:cNvSpPr>
                <a:spLocks/>
              </p:cNvSpPr>
              <p:nvPr/>
            </p:nvSpPr>
            <p:spPr bwMode="auto">
              <a:xfrm>
                <a:off x="3606"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12" name="Freeform 1634"/>
              <p:cNvSpPr>
                <a:spLocks/>
              </p:cNvSpPr>
              <p:nvPr/>
            </p:nvSpPr>
            <p:spPr bwMode="auto">
              <a:xfrm>
                <a:off x="3615" y="1419"/>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13" name="Freeform 1635"/>
              <p:cNvSpPr>
                <a:spLocks/>
              </p:cNvSpPr>
              <p:nvPr/>
            </p:nvSpPr>
            <p:spPr bwMode="auto">
              <a:xfrm>
                <a:off x="3631" y="1419"/>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14" name="Freeform 1636"/>
              <p:cNvSpPr>
                <a:spLocks/>
              </p:cNvSpPr>
              <p:nvPr/>
            </p:nvSpPr>
            <p:spPr bwMode="auto">
              <a:xfrm>
                <a:off x="3699" y="141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15" name="Freeform 1637"/>
              <p:cNvSpPr>
                <a:spLocks/>
              </p:cNvSpPr>
              <p:nvPr/>
            </p:nvSpPr>
            <p:spPr bwMode="auto">
              <a:xfrm>
                <a:off x="3706" y="1419"/>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16" name="Freeform 1638"/>
              <p:cNvSpPr>
                <a:spLocks/>
              </p:cNvSpPr>
              <p:nvPr/>
            </p:nvSpPr>
            <p:spPr bwMode="auto">
              <a:xfrm>
                <a:off x="4111" y="1419"/>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17" name="Freeform 1639"/>
              <p:cNvSpPr>
                <a:spLocks/>
              </p:cNvSpPr>
              <p:nvPr/>
            </p:nvSpPr>
            <p:spPr bwMode="auto">
              <a:xfrm>
                <a:off x="4146" y="141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18" name="Freeform 1640"/>
              <p:cNvSpPr>
                <a:spLocks/>
              </p:cNvSpPr>
              <p:nvPr/>
            </p:nvSpPr>
            <p:spPr bwMode="auto">
              <a:xfrm>
                <a:off x="4205" y="1419"/>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19" name="Freeform 1641"/>
              <p:cNvSpPr>
                <a:spLocks/>
              </p:cNvSpPr>
              <p:nvPr/>
            </p:nvSpPr>
            <p:spPr bwMode="auto">
              <a:xfrm>
                <a:off x="4257" y="1419"/>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0" name="Freeform 1642"/>
              <p:cNvSpPr>
                <a:spLocks/>
              </p:cNvSpPr>
              <p:nvPr/>
            </p:nvSpPr>
            <p:spPr bwMode="auto">
              <a:xfrm>
                <a:off x="4266" y="141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1" name="Freeform 1643"/>
              <p:cNvSpPr>
                <a:spLocks/>
              </p:cNvSpPr>
              <p:nvPr/>
            </p:nvSpPr>
            <p:spPr bwMode="auto">
              <a:xfrm>
                <a:off x="4290" y="141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2" name="Freeform 1644"/>
              <p:cNvSpPr>
                <a:spLocks/>
              </p:cNvSpPr>
              <p:nvPr/>
            </p:nvSpPr>
            <p:spPr bwMode="auto">
              <a:xfrm>
                <a:off x="4311"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3" name="Freeform 1645"/>
              <p:cNvSpPr>
                <a:spLocks/>
              </p:cNvSpPr>
              <p:nvPr/>
            </p:nvSpPr>
            <p:spPr bwMode="auto">
              <a:xfrm>
                <a:off x="4315" y="1419"/>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4" name="Freeform 1646"/>
              <p:cNvSpPr>
                <a:spLocks/>
              </p:cNvSpPr>
              <p:nvPr/>
            </p:nvSpPr>
            <p:spPr bwMode="auto">
              <a:xfrm>
                <a:off x="4390" y="1419"/>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25" name="Freeform 1647"/>
              <p:cNvSpPr>
                <a:spLocks/>
              </p:cNvSpPr>
              <p:nvPr/>
            </p:nvSpPr>
            <p:spPr bwMode="auto">
              <a:xfrm>
                <a:off x="1560"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6" name="Freeform 1648"/>
              <p:cNvSpPr>
                <a:spLocks/>
              </p:cNvSpPr>
              <p:nvPr/>
            </p:nvSpPr>
            <p:spPr bwMode="auto">
              <a:xfrm>
                <a:off x="1567"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7" name="Freeform 1649"/>
              <p:cNvSpPr>
                <a:spLocks/>
              </p:cNvSpPr>
              <p:nvPr/>
            </p:nvSpPr>
            <p:spPr bwMode="auto">
              <a:xfrm>
                <a:off x="1580"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28" name="Freeform 1650"/>
              <p:cNvSpPr>
                <a:spLocks/>
              </p:cNvSpPr>
              <p:nvPr/>
            </p:nvSpPr>
            <p:spPr bwMode="auto">
              <a:xfrm>
                <a:off x="1581"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9" name="Freeform 1651"/>
              <p:cNvSpPr>
                <a:spLocks/>
              </p:cNvSpPr>
              <p:nvPr/>
            </p:nvSpPr>
            <p:spPr bwMode="auto">
              <a:xfrm>
                <a:off x="1702" y="137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0" name="Freeform 1652"/>
              <p:cNvSpPr>
                <a:spLocks/>
              </p:cNvSpPr>
              <p:nvPr/>
            </p:nvSpPr>
            <p:spPr bwMode="auto">
              <a:xfrm>
                <a:off x="1821"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31" name="Freeform 1653"/>
              <p:cNvSpPr>
                <a:spLocks/>
              </p:cNvSpPr>
              <p:nvPr/>
            </p:nvSpPr>
            <p:spPr bwMode="auto">
              <a:xfrm>
                <a:off x="1833" y="137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32" name="Freeform 1654"/>
              <p:cNvSpPr>
                <a:spLocks/>
              </p:cNvSpPr>
              <p:nvPr/>
            </p:nvSpPr>
            <p:spPr bwMode="auto">
              <a:xfrm>
                <a:off x="1892" y="1379"/>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3" name="Freeform 1655"/>
              <p:cNvSpPr>
                <a:spLocks/>
              </p:cNvSpPr>
              <p:nvPr/>
            </p:nvSpPr>
            <p:spPr bwMode="auto">
              <a:xfrm>
                <a:off x="1908" y="137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4" name="Freeform 1656"/>
              <p:cNvSpPr>
                <a:spLocks/>
              </p:cNvSpPr>
              <p:nvPr/>
            </p:nvSpPr>
            <p:spPr bwMode="auto">
              <a:xfrm>
                <a:off x="1934" y="1379"/>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5" name="Freeform 1657"/>
              <p:cNvSpPr>
                <a:spLocks/>
              </p:cNvSpPr>
              <p:nvPr/>
            </p:nvSpPr>
            <p:spPr bwMode="auto">
              <a:xfrm>
                <a:off x="1958"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6" name="Freeform 1658"/>
              <p:cNvSpPr>
                <a:spLocks/>
              </p:cNvSpPr>
              <p:nvPr/>
            </p:nvSpPr>
            <p:spPr bwMode="auto">
              <a:xfrm>
                <a:off x="1999" y="1379"/>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37" name="Freeform 1659"/>
              <p:cNvSpPr>
                <a:spLocks/>
              </p:cNvSpPr>
              <p:nvPr/>
            </p:nvSpPr>
            <p:spPr bwMode="auto">
              <a:xfrm>
                <a:off x="2007" y="1379"/>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8" name="Freeform 1660"/>
              <p:cNvSpPr>
                <a:spLocks/>
              </p:cNvSpPr>
              <p:nvPr/>
            </p:nvSpPr>
            <p:spPr bwMode="auto">
              <a:xfrm>
                <a:off x="2040"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39" name="Freeform 1661"/>
              <p:cNvSpPr>
                <a:spLocks/>
              </p:cNvSpPr>
              <p:nvPr/>
            </p:nvSpPr>
            <p:spPr bwMode="auto">
              <a:xfrm>
                <a:off x="2168"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40" name="Freeform 1662"/>
              <p:cNvSpPr>
                <a:spLocks/>
              </p:cNvSpPr>
              <p:nvPr/>
            </p:nvSpPr>
            <p:spPr bwMode="auto">
              <a:xfrm>
                <a:off x="2519" y="137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1" name="Freeform 1663"/>
              <p:cNvSpPr>
                <a:spLocks/>
              </p:cNvSpPr>
              <p:nvPr/>
            </p:nvSpPr>
            <p:spPr bwMode="auto">
              <a:xfrm>
                <a:off x="2568" y="137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2" name="Freeform 1664"/>
              <p:cNvSpPr>
                <a:spLocks/>
              </p:cNvSpPr>
              <p:nvPr/>
            </p:nvSpPr>
            <p:spPr bwMode="auto">
              <a:xfrm>
                <a:off x="2594"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43" name="Freeform 1665"/>
              <p:cNvSpPr>
                <a:spLocks/>
              </p:cNvSpPr>
              <p:nvPr/>
            </p:nvSpPr>
            <p:spPr bwMode="auto">
              <a:xfrm>
                <a:off x="3282" y="137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4" name="Freeform 1666"/>
              <p:cNvSpPr>
                <a:spLocks/>
              </p:cNvSpPr>
              <p:nvPr/>
            </p:nvSpPr>
            <p:spPr bwMode="auto">
              <a:xfrm>
                <a:off x="3287" y="1379"/>
                <a:ext cx="8" cy="9"/>
              </a:xfrm>
              <a:custGeom>
                <a:avLst/>
                <a:gdLst>
                  <a:gd name="T0" fmla="*/ 2 w 8"/>
                  <a:gd name="T1" fmla="*/ 0 h 9"/>
                  <a:gd name="T2" fmla="*/ 7 w 8"/>
                  <a:gd name="T3" fmla="*/ 0 h 9"/>
                  <a:gd name="T4" fmla="*/ 8 w 8"/>
                  <a:gd name="T5" fmla="*/ 2 h 9"/>
                  <a:gd name="T6" fmla="*/ 8 w 8"/>
                  <a:gd name="T7" fmla="*/ 6 h 9"/>
                  <a:gd name="T8" fmla="*/ 5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7" y="0"/>
                    </a:lnTo>
                    <a:lnTo>
                      <a:pt x="8" y="2"/>
                    </a:lnTo>
                    <a:lnTo>
                      <a:pt x="8"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5" name="Freeform 1667"/>
              <p:cNvSpPr>
                <a:spLocks/>
              </p:cNvSpPr>
              <p:nvPr/>
            </p:nvSpPr>
            <p:spPr bwMode="auto">
              <a:xfrm>
                <a:off x="3294"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6" name="Freeform 1668"/>
              <p:cNvSpPr>
                <a:spLocks/>
              </p:cNvSpPr>
              <p:nvPr/>
            </p:nvSpPr>
            <p:spPr bwMode="auto">
              <a:xfrm>
                <a:off x="3297"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47" name="Freeform 1669"/>
              <p:cNvSpPr>
                <a:spLocks/>
              </p:cNvSpPr>
              <p:nvPr/>
            </p:nvSpPr>
            <p:spPr bwMode="auto">
              <a:xfrm>
                <a:off x="3301"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8" name="Freeform 1670"/>
              <p:cNvSpPr>
                <a:spLocks/>
              </p:cNvSpPr>
              <p:nvPr/>
            </p:nvSpPr>
            <p:spPr bwMode="auto">
              <a:xfrm>
                <a:off x="3302"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9" name="Freeform 1671"/>
              <p:cNvSpPr>
                <a:spLocks/>
              </p:cNvSpPr>
              <p:nvPr/>
            </p:nvSpPr>
            <p:spPr bwMode="auto">
              <a:xfrm>
                <a:off x="3322" y="137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50" name="Freeform 1672"/>
              <p:cNvSpPr>
                <a:spLocks/>
              </p:cNvSpPr>
              <p:nvPr/>
            </p:nvSpPr>
            <p:spPr bwMode="auto">
              <a:xfrm>
                <a:off x="3334" y="137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1" name="Freeform 1673"/>
              <p:cNvSpPr>
                <a:spLocks/>
              </p:cNvSpPr>
              <p:nvPr/>
            </p:nvSpPr>
            <p:spPr bwMode="auto">
              <a:xfrm>
                <a:off x="3510" y="137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2" name="Freeform 1674"/>
              <p:cNvSpPr>
                <a:spLocks/>
              </p:cNvSpPr>
              <p:nvPr/>
            </p:nvSpPr>
            <p:spPr bwMode="auto">
              <a:xfrm>
                <a:off x="3519" y="1379"/>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3" name="Freeform 1675"/>
              <p:cNvSpPr>
                <a:spLocks/>
              </p:cNvSpPr>
              <p:nvPr/>
            </p:nvSpPr>
            <p:spPr bwMode="auto">
              <a:xfrm>
                <a:off x="3522"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54" name="Freeform 1676"/>
              <p:cNvSpPr>
                <a:spLocks/>
              </p:cNvSpPr>
              <p:nvPr/>
            </p:nvSpPr>
            <p:spPr bwMode="auto">
              <a:xfrm>
                <a:off x="3554" y="137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5" name="Freeform 1677"/>
              <p:cNvSpPr>
                <a:spLocks/>
              </p:cNvSpPr>
              <p:nvPr/>
            </p:nvSpPr>
            <p:spPr bwMode="auto">
              <a:xfrm>
                <a:off x="4112"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6" name="Freeform 1678"/>
              <p:cNvSpPr>
                <a:spLocks/>
              </p:cNvSpPr>
              <p:nvPr/>
            </p:nvSpPr>
            <p:spPr bwMode="auto">
              <a:xfrm>
                <a:off x="4118"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57" name="Freeform 1679"/>
              <p:cNvSpPr>
                <a:spLocks/>
              </p:cNvSpPr>
              <p:nvPr/>
            </p:nvSpPr>
            <p:spPr bwMode="auto">
              <a:xfrm>
                <a:off x="4170"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58" name="Freeform 1680"/>
              <p:cNvSpPr>
                <a:spLocks/>
              </p:cNvSpPr>
              <p:nvPr/>
            </p:nvSpPr>
            <p:spPr bwMode="auto">
              <a:xfrm>
                <a:off x="4179" y="137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59" name="Freeform 1681"/>
              <p:cNvSpPr>
                <a:spLocks/>
              </p:cNvSpPr>
              <p:nvPr/>
            </p:nvSpPr>
            <p:spPr bwMode="auto">
              <a:xfrm>
                <a:off x="4215"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0" name="Freeform 1682"/>
              <p:cNvSpPr>
                <a:spLocks/>
              </p:cNvSpPr>
              <p:nvPr/>
            </p:nvSpPr>
            <p:spPr bwMode="auto">
              <a:xfrm>
                <a:off x="4226"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61" name="Freeform 1683"/>
              <p:cNvSpPr>
                <a:spLocks/>
              </p:cNvSpPr>
              <p:nvPr/>
            </p:nvSpPr>
            <p:spPr bwMode="auto">
              <a:xfrm>
                <a:off x="4261"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62" name="Freeform 1684"/>
              <p:cNvSpPr>
                <a:spLocks/>
              </p:cNvSpPr>
              <p:nvPr/>
            </p:nvSpPr>
            <p:spPr bwMode="auto">
              <a:xfrm>
                <a:off x="4266" y="137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3" name="Freeform 1685"/>
              <p:cNvSpPr>
                <a:spLocks/>
              </p:cNvSpPr>
              <p:nvPr/>
            </p:nvSpPr>
            <p:spPr bwMode="auto">
              <a:xfrm>
                <a:off x="1541"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4" name="Freeform 1686"/>
              <p:cNvSpPr>
                <a:spLocks/>
              </p:cNvSpPr>
              <p:nvPr/>
            </p:nvSpPr>
            <p:spPr bwMode="auto">
              <a:xfrm>
                <a:off x="1543"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5" name="Freeform 1687"/>
              <p:cNvSpPr>
                <a:spLocks/>
              </p:cNvSpPr>
              <p:nvPr/>
            </p:nvSpPr>
            <p:spPr bwMode="auto">
              <a:xfrm>
                <a:off x="1564"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6" name="Freeform 1688"/>
              <p:cNvSpPr>
                <a:spLocks/>
              </p:cNvSpPr>
              <p:nvPr/>
            </p:nvSpPr>
            <p:spPr bwMode="auto">
              <a:xfrm>
                <a:off x="1951" y="1339"/>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7" name="Freeform 1689"/>
              <p:cNvSpPr>
                <a:spLocks/>
              </p:cNvSpPr>
              <p:nvPr/>
            </p:nvSpPr>
            <p:spPr bwMode="auto">
              <a:xfrm>
                <a:off x="1960"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68" name="Freeform 1690"/>
              <p:cNvSpPr>
                <a:spLocks/>
              </p:cNvSpPr>
              <p:nvPr/>
            </p:nvSpPr>
            <p:spPr bwMode="auto">
              <a:xfrm>
                <a:off x="1969"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69" name="Freeform 1691"/>
              <p:cNvSpPr>
                <a:spLocks/>
              </p:cNvSpPr>
              <p:nvPr/>
            </p:nvSpPr>
            <p:spPr bwMode="auto">
              <a:xfrm>
                <a:off x="1974"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0" name="Freeform 1692"/>
              <p:cNvSpPr>
                <a:spLocks/>
              </p:cNvSpPr>
              <p:nvPr/>
            </p:nvSpPr>
            <p:spPr bwMode="auto">
              <a:xfrm>
                <a:off x="1976"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1" name="Freeform 1693"/>
              <p:cNvSpPr>
                <a:spLocks/>
              </p:cNvSpPr>
              <p:nvPr/>
            </p:nvSpPr>
            <p:spPr bwMode="auto">
              <a:xfrm>
                <a:off x="1985" y="133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72" name="Freeform 1694"/>
              <p:cNvSpPr>
                <a:spLocks/>
              </p:cNvSpPr>
              <p:nvPr/>
            </p:nvSpPr>
            <p:spPr bwMode="auto">
              <a:xfrm>
                <a:off x="2007" y="1339"/>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3" name="Freeform 1695"/>
              <p:cNvSpPr>
                <a:spLocks/>
              </p:cNvSpPr>
              <p:nvPr/>
            </p:nvSpPr>
            <p:spPr bwMode="auto">
              <a:xfrm>
                <a:off x="2477"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4" name="Freeform 1696"/>
              <p:cNvSpPr>
                <a:spLocks/>
              </p:cNvSpPr>
              <p:nvPr/>
            </p:nvSpPr>
            <p:spPr bwMode="auto">
              <a:xfrm>
                <a:off x="2493" y="1339"/>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75" name="Freeform 1697"/>
              <p:cNvSpPr>
                <a:spLocks/>
              </p:cNvSpPr>
              <p:nvPr/>
            </p:nvSpPr>
            <p:spPr bwMode="auto">
              <a:xfrm>
                <a:off x="2498"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76" name="Freeform 1698"/>
              <p:cNvSpPr>
                <a:spLocks/>
              </p:cNvSpPr>
              <p:nvPr/>
            </p:nvSpPr>
            <p:spPr bwMode="auto">
              <a:xfrm>
                <a:off x="2501"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7" name="Freeform 1699"/>
              <p:cNvSpPr>
                <a:spLocks/>
              </p:cNvSpPr>
              <p:nvPr/>
            </p:nvSpPr>
            <p:spPr bwMode="auto">
              <a:xfrm>
                <a:off x="2512"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8" name="Freeform 1700"/>
              <p:cNvSpPr>
                <a:spLocks/>
              </p:cNvSpPr>
              <p:nvPr/>
            </p:nvSpPr>
            <p:spPr bwMode="auto">
              <a:xfrm>
                <a:off x="2533"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79" name="Freeform 1701"/>
              <p:cNvSpPr>
                <a:spLocks/>
              </p:cNvSpPr>
              <p:nvPr/>
            </p:nvSpPr>
            <p:spPr bwMode="auto">
              <a:xfrm>
                <a:off x="2576"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0" name="Freeform 1702"/>
              <p:cNvSpPr>
                <a:spLocks/>
              </p:cNvSpPr>
              <p:nvPr/>
            </p:nvSpPr>
            <p:spPr bwMode="auto">
              <a:xfrm>
                <a:off x="2585"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81" name="Freeform 1703"/>
              <p:cNvSpPr>
                <a:spLocks/>
              </p:cNvSpPr>
              <p:nvPr/>
            </p:nvSpPr>
            <p:spPr bwMode="auto">
              <a:xfrm>
                <a:off x="2589"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82" name="Freeform 1704"/>
              <p:cNvSpPr>
                <a:spLocks/>
              </p:cNvSpPr>
              <p:nvPr/>
            </p:nvSpPr>
            <p:spPr bwMode="auto">
              <a:xfrm>
                <a:off x="2594"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83" name="Freeform 1705"/>
              <p:cNvSpPr>
                <a:spLocks/>
              </p:cNvSpPr>
              <p:nvPr/>
            </p:nvSpPr>
            <p:spPr bwMode="auto">
              <a:xfrm>
                <a:off x="2606"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4" name="Freeform 1706"/>
              <p:cNvSpPr>
                <a:spLocks/>
              </p:cNvSpPr>
              <p:nvPr/>
            </p:nvSpPr>
            <p:spPr bwMode="auto">
              <a:xfrm>
                <a:off x="2608"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5" name="Freeform 1707"/>
              <p:cNvSpPr>
                <a:spLocks/>
              </p:cNvSpPr>
              <p:nvPr/>
            </p:nvSpPr>
            <p:spPr bwMode="auto">
              <a:xfrm>
                <a:off x="2625"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86" name="Freeform 1708"/>
              <p:cNvSpPr>
                <a:spLocks/>
              </p:cNvSpPr>
              <p:nvPr/>
            </p:nvSpPr>
            <p:spPr bwMode="auto">
              <a:xfrm>
                <a:off x="2641"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87" name="Freeform 1709"/>
              <p:cNvSpPr>
                <a:spLocks/>
              </p:cNvSpPr>
              <p:nvPr/>
            </p:nvSpPr>
            <p:spPr bwMode="auto">
              <a:xfrm>
                <a:off x="2653"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8" name="Freeform 1710"/>
              <p:cNvSpPr>
                <a:spLocks/>
              </p:cNvSpPr>
              <p:nvPr/>
            </p:nvSpPr>
            <p:spPr bwMode="auto">
              <a:xfrm>
                <a:off x="3290"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89" name="Freeform 1711"/>
              <p:cNvSpPr>
                <a:spLocks/>
              </p:cNvSpPr>
              <p:nvPr/>
            </p:nvSpPr>
            <p:spPr bwMode="auto">
              <a:xfrm>
                <a:off x="3294"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90" name="Freeform 1712"/>
              <p:cNvSpPr>
                <a:spLocks/>
              </p:cNvSpPr>
              <p:nvPr/>
            </p:nvSpPr>
            <p:spPr bwMode="auto">
              <a:xfrm>
                <a:off x="3297"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91" name="Freeform 1713"/>
              <p:cNvSpPr>
                <a:spLocks/>
              </p:cNvSpPr>
              <p:nvPr/>
            </p:nvSpPr>
            <p:spPr bwMode="auto">
              <a:xfrm>
                <a:off x="3302"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2" name="Freeform 1714"/>
              <p:cNvSpPr>
                <a:spLocks/>
              </p:cNvSpPr>
              <p:nvPr/>
            </p:nvSpPr>
            <p:spPr bwMode="auto">
              <a:xfrm>
                <a:off x="3304"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3" name="Freeform 1715"/>
              <p:cNvSpPr>
                <a:spLocks/>
              </p:cNvSpPr>
              <p:nvPr/>
            </p:nvSpPr>
            <p:spPr bwMode="auto">
              <a:xfrm>
                <a:off x="3313"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94" name="Freeform 1716"/>
              <p:cNvSpPr>
                <a:spLocks/>
              </p:cNvSpPr>
              <p:nvPr/>
            </p:nvSpPr>
            <p:spPr bwMode="auto">
              <a:xfrm>
                <a:off x="3341"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5" name="Freeform 1717"/>
              <p:cNvSpPr>
                <a:spLocks/>
              </p:cNvSpPr>
              <p:nvPr/>
            </p:nvSpPr>
            <p:spPr bwMode="auto">
              <a:xfrm>
                <a:off x="3360"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6" name="Freeform 1718"/>
              <p:cNvSpPr>
                <a:spLocks/>
              </p:cNvSpPr>
              <p:nvPr/>
            </p:nvSpPr>
            <p:spPr bwMode="auto">
              <a:xfrm>
                <a:off x="3367"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7" name="Freeform 1719"/>
              <p:cNvSpPr>
                <a:spLocks/>
              </p:cNvSpPr>
              <p:nvPr/>
            </p:nvSpPr>
            <p:spPr bwMode="auto">
              <a:xfrm>
                <a:off x="3538"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98" name="Freeform 1720"/>
              <p:cNvSpPr>
                <a:spLocks/>
              </p:cNvSpPr>
              <p:nvPr/>
            </p:nvSpPr>
            <p:spPr bwMode="auto">
              <a:xfrm>
                <a:off x="3542"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99" name="Freeform 1721"/>
              <p:cNvSpPr>
                <a:spLocks/>
              </p:cNvSpPr>
              <p:nvPr/>
            </p:nvSpPr>
            <p:spPr bwMode="auto">
              <a:xfrm>
                <a:off x="3554"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0" name="Freeform 1722"/>
              <p:cNvSpPr>
                <a:spLocks/>
              </p:cNvSpPr>
              <p:nvPr/>
            </p:nvSpPr>
            <p:spPr bwMode="auto">
              <a:xfrm>
                <a:off x="3577" y="1339"/>
                <a:ext cx="10" cy="9"/>
              </a:xfrm>
              <a:custGeom>
                <a:avLst/>
                <a:gdLst>
                  <a:gd name="T0" fmla="*/ 1 w 10"/>
                  <a:gd name="T1" fmla="*/ 0 h 9"/>
                  <a:gd name="T2" fmla="*/ 6 w 10"/>
                  <a:gd name="T3" fmla="*/ 0 h 9"/>
                  <a:gd name="T4" fmla="*/ 10 w 10"/>
                  <a:gd name="T5" fmla="*/ 4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4"/>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01" name="Freeform 1723"/>
              <p:cNvSpPr>
                <a:spLocks/>
              </p:cNvSpPr>
              <p:nvPr/>
            </p:nvSpPr>
            <p:spPr bwMode="auto">
              <a:xfrm>
                <a:off x="3594"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02" name="Freeform 1724"/>
              <p:cNvSpPr>
                <a:spLocks/>
              </p:cNvSpPr>
              <p:nvPr/>
            </p:nvSpPr>
            <p:spPr bwMode="auto">
              <a:xfrm>
                <a:off x="3610" y="1339"/>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03" name="Freeform 1725"/>
              <p:cNvSpPr>
                <a:spLocks/>
              </p:cNvSpPr>
              <p:nvPr/>
            </p:nvSpPr>
            <p:spPr bwMode="auto">
              <a:xfrm>
                <a:off x="3613"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4" name="Freeform 1726"/>
              <p:cNvSpPr>
                <a:spLocks/>
              </p:cNvSpPr>
              <p:nvPr/>
            </p:nvSpPr>
            <p:spPr bwMode="auto">
              <a:xfrm>
                <a:off x="4130"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05" name="Freeform 1727"/>
              <p:cNvSpPr>
                <a:spLocks/>
              </p:cNvSpPr>
              <p:nvPr/>
            </p:nvSpPr>
            <p:spPr bwMode="auto">
              <a:xfrm>
                <a:off x="4215"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6" name="Freeform 1728"/>
              <p:cNvSpPr>
                <a:spLocks/>
              </p:cNvSpPr>
              <p:nvPr/>
            </p:nvSpPr>
            <p:spPr bwMode="auto">
              <a:xfrm>
                <a:off x="4228" y="133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07" name="Freeform 1729"/>
              <p:cNvSpPr>
                <a:spLocks/>
              </p:cNvSpPr>
              <p:nvPr/>
            </p:nvSpPr>
            <p:spPr bwMode="auto">
              <a:xfrm>
                <a:off x="4289" y="1339"/>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08" name="Freeform 1730"/>
              <p:cNvSpPr>
                <a:spLocks/>
              </p:cNvSpPr>
              <p:nvPr/>
            </p:nvSpPr>
            <p:spPr bwMode="auto">
              <a:xfrm>
                <a:off x="4327"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9" name="Freeform 1731"/>
              <p:cNvSpPr>
                <a:spLocks/>
              </p:cNvSpPr>
              <p:nvPr/>
            </p:nvSpPr>
            <p:spPr bwMode="auto">
              <a:xfrm>
                <a:off x="4383"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0" name="Freeform 1732"/>
              <p:cNvSpPr>
                <a:spLocks/>
              </p:cNvSpPr>
              <p:nvPr/>
            </p:nvSpPr>
            <p:spPr bwMode="auto">
              <a:xfrm>
                <a:off x="4409"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1" name="Freeform 1733"/>
              <p:cNvSpPr>
                <a:spLocks/>
              </p:cNvSpPr>
              <p:nvPr/>
            </p:nvSpPr>
            <p:spPr bwMode="auto">
              <a:xfrm>
                <a:off x="4427" y="1339"/>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12" name="Freeform 1734"/>
              <p:cNvSpPr>
                <a:spLocks/>
              </p:cNvSpPr>
              <p:nvPr/>
            </p:nvSpPr>
            <p:spPr bwMode="auto">
              <a:xfrm>
                <a:off x="4432"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3" name="Freeform 1735"/>
              <p:cNvSpPr>
                <a:spLocks/>
              </p:cNvSpPr>
              <p:nvPr/>
            </p:nvSpPr>
            <p:spPr bwMode="auto">
              <a:xfrm>
                <a:off x="4435"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14" name="Freeform 1736"/>
              <p:cNvSpPr>
                <a:spLocks/>
              </p:cNvSpPr>
              <p:nvPr/>
            </p:nvSpPr>
            <p:spPr bwMode="auto">
              <a:xfrm>
                <a:off x="4500"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15" name="Freeform 1737"/>
              <p:cNvSpPr>
                <a:spLocks/>
              </p:cNvSpPr>
              <p:nvPr/>
            </p:nvSpPr>
            <p:spPr bwMode="auto">
              <a:xfrm>
                <a:off x="4521"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6" name="Freeform 1738"/>
              <p:cNvSpPr>
                <a:spLocks/>
              </p:cNvSpPr>
              <p:nvPr/>
            </p:nvSpPr>
            <p:spPr bwMode="auto">
              <a:xfrm>
                <a:off x="1993"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17" name="Freeform 1739"/>
              <p:cNvSpPr>
                <a:spLocks/>
              </p:cNvSpPr>
              <p:nvPr/>
            </p:nvSpPr>
            <p:spPr bwMode="auto">
              <a:xfrm>
                <a:off x="2028"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8" name="Freeform 1740"/>
              <p:cNvSpPr>
                <a:spLocks/>
              </p:cNvSpPr>
              <p:nvPr/>
            </p:nvSpPr>
            <p:spPr bwMode="auto">
              <a:xfrm>
                <a:off x="2039" y="129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19" name="Freeform 1741"/>
              <p:cNvSpPr>
                <a:spLocks/>
              </p:cNvSpPr>
              <p:nvPr/>
            </p:nvSpPr>
            <p:spPr bwMode="auto">
              <a:xfrm>
                <a:off x="2077"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0" name="Freeform 1742"/>
              <p:cNvSpPr>
                <a:spLocks/>
              </p:cNvSpPr>
              <p:nvPr/>
            </p:nvSpPr>
            <p:spPr bwMode="auto">
              <a:xfrm>
                <a:off x="2135" y="129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21" name="Freeform 1743"/>
              <p:cNvSpPr>
                <a:spLocks/>
              </p:cNvSpPr>
              <p:nvPr/>
            </p:nvSpPr>
            <p:spPr bwMode="auto">
              <a:xfrm>
                <a:off x="2156" y="1299"/>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22" name="Freeform 1744"/>
              <p:cNvSpPr>
                <a:spLocks/>
              </p:cNvSpPr>
              <p:nvPr/>
            </p:nvSpPr>
            <p:spPr bwMode="auto">
              <a:xfrm>
                <a:off x="2201"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23" name="Freeform 1745"/>
              <p:cNvSpPr>
                <a:spLocks/>
              </p:cNvSpPr>
              <p:nvPr/>
            </p:nvSpPr>
            <p:spPr bwMode="auto">
              <a:xfrm>
                <a:off x="2222"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4" name="Freeform 1746"/>
              <p:cNvSpPr>
                <a:spLocks/>
              </p:cNvSpPr>
              <p:nvPr/>
            </p:nvSpPr>
            <p:spPr bwMode="auto">
              <a:xfrm>
                <a:off x="2238" y="1299"/>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25" name="Freeform 1747"/>
              <p:cNvSpPr>
                <a:spLocks/>
              </p:cNvSpPr>
              <p:nvPr/>
            </p:nvSpPr>
            <p:spPr bwMode="auto">
              <a:xfrm>
                <a:off x="2239"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6" name="Freeform 1748"/>
              <p:cNvSpPr>
                <a:spLocks/>
              </p:cNvSpPr>
              <p:nvPr/>
            </p:nvSpPr>
            <p:spPr bwMode="auto">
              <a:xfrm>
                <a:off x="2253" y="1299"/>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7" name="Freeform 1749"/>
              <p:cNvSpPr>
                <a:spLocks/>
              </p:cNvSpPr>
              <p:nvPr/>
            </p:nvSpPr>
            <p:spPr bwMode="auto">
              <a:xfrm>
                <a:off x="3304"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8" name="Freeform 1750"/>
              <p:cNvSpPr>
                <a:spLocks/>
              </p:cNvSpPr>
              <p:nvPr/>
            </p:nvSpPr>
            <p:spPr bwMode="auto">
              <a:xfrm>
                <a:off x="3306" y="1299"/>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29" name="Freeform 1751"/>
              <p:cNvSpPr>
                <a:spLocks/>
              </p:cNvSpPr>
              <p:nvPr/>
            </p:nvSpPr>
            <p:spPr bwMode="auto">
              <a:xfrm>
                <a:off x="3315" y="1299"/>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30" name="Freeform 1752"/>
              <p:cNvSpPr>
                <a:spLocks/>
              </p:cNvSpPr>
              <p:nvPr/>
            </p:nvSpPr>
            <p:spPr bwMode="auto">
              <a:xfrm>
                <a:off x="3318"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1" name="Freeform 1753"/>
              <p:cNvSpPr>
                <a:spLocks/>
              </p:cNvSpPr>
              <p:nvPr/>
            </p:nvSpPr>
            <p:spPr bwMode="auto">
              <a:xfrm>
                <a:off x="3320" y="129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2" name="Freeform 1754"/>
              <p:cNvSpPr>
                <a:spLocks/>
              </p:cNvSpPr>
              <p:nvPr/>
            </p:nvSpPr>
            <p:spPr bwMode="auto">
              <a:xfrm>
                <a:off x="3336" y="129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33" name="Freeform 1755"/>
              <p:cNvSpPr>
                <a:spLocks/>
              </p:cNvSpPr>
              <p:nvPr/>
            </p:nvSpPr>
            <p:spPr bwMode="auto">
              <a:xfrm>
                <a:off x="3360"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4" name="Freeform 1756"/>
              <p:cNvSpPr>
                <a:spLocks/>
              </p:cNvSpPr>
              <p:nvPr/>
            </p:nvSpPr>
            <p:spPr bwMode="auto">
              <a:xfrm>
                <a:off x="3381"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5" name="Freeform 1757"/>
              <p:cNvSpPr>
                <a:spLocks/>
              </p:cNvSpPr>
              <p:nvPr/>
            </p:nvSpPr>
            <p:spPr bwMode="auto">
              <a:xfrm>
                <a:off x="3529"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36" name="Freeform 1758"/>
              <p:cNvSpPr>
                <a:spLocks/>
              </p:cNvSpPr>
              <p:nvPr/>
            </p:nvSpPr>
            <p:spPr bwMode="auto">
              <a:xfrm>
                <a:off x="3557" y="1299"/>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7" name="Freeform 1759"/>
              <p:cNvSpPr>
                <a:spLocks/>
              </p:cNvSpPr>
              <p:nvPr/>
            </p:nvSpPr>
            <p:spPr bwMode="auto">
              <a:xfrm>
                <a:off x="3568"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8" name="Freeform 1760"/>
              <p:cNvSpPr>
                <a:spLocks/>
              </p:cNvSpPr>
              <p:nvPr/>
            </p:nvSpPr>
            <p:spPr bwMode="auto">
              <a:xfrm>
                <a:off x="3575" y="1299"/>
                <a:ext cx="8" cy="10"/>
              </a:xfrm>
              <a:custGeom>
                <a:avLst/>
                <a:gdLst>
                  <a:gd name="T0" fmla="*/ 2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2"/>
                    </a:lnTo>
                    <a:lnTo>
                      <a:pt x="8"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9" name="Freeform 1761"/>
              <p:cNvSpPr>
                <a:spLocks/>
              </p:cNvSpPr>
              <p:nvPr/>
            </p:nvSpPr>
            <p:spPr bwMode="auto">
              <a:xfrm>
                <a:off x="3592"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0" name="Freeform 1762"/>
              <p:cNvSpPr>
                <a:spLocks/>
              </p:cNvSpPr>
              <p:nvPr/>
            </p:nvSpPr>
            <p:spPr bwMode="auto">
              <a:xfrm>
                <a:off x="3601" y="129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1" name="Freeform 1763"/>
              <p:cNvSpPr>
                <a:spLocks/>
              </p:cNvSpPr>
              <p:nvPr/>
            </p:nvSpPr>
            <p:spPr bwMode="auto">
              <a:xfrm>
                <a:off x="3613"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2" name="Freeform 1764"/>
              <p:cNvSpPr>
                <a:spLocks/>
              </p:cNvSpPr>
              <p:nvPr/>
            </p:nvSpPr>
            <p:spPr bwMode="auto">
              <a:xfrm>
                <a:off x="4228" y="1299"/>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3" name="Freeform 1765"/>
              <p:cNvSpPr>
                <a:spLocks/>
              </p:cNvSpPr>
              <p:nvPr/>
            </p:nvSpPr>
            <p:spPr bwMode="auto">
              <a:xfrm>
                <a:off x="4355" y="1299"/>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4" name="Freeform 1766"/>
              <p:cNvSpPr>
                <a:spLocks/>
              </p:cNvSpPr>
              <p:nvPr/>
            </p:nvSpPr>
            <p:spPr bwMode="auto">
              <a:xfrm>
                <a:off x="4360"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5" name="Freeform 1767"/>
              <p:cNvSpPr>
                <a:spLocks/>
              </p:cNvSpPr>
              <p:nvPr/>
            </p:nvSpPr>
            <p:spPr bwMode="auto">
              <a:xfrm>
                <a:off x="4418" y="129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6" name="Freeform 1768"/>
              <p:cNvSpPr>
                <a:spLocks/>
              </p:cNvSpPr>
              <p:nvPr/>
            </p:nvSpPr>
            <p:spPr bwMode="auto">
              <a:xfrm>
                <a:off x="4479"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7" name="Freeform 1769"/>
              <p:cNvSpPr>
                <a:spLocks/>
              </p:cNvSpPr>
              <p:nvPr/>
            </p:nvSpPr>
            <p:spPr bwMode="auto">
              <a:xfrm>
                <a:off x="4482"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8" name="Freeform 1770"/>
              <p:cNvSpPr>
                <a:spLocks/>
              </p:cNvSpPr>
              <p:nvPr/>
            </p:nvSpPr>
            <p:spPr bwMode="auto">
              <a:xfrm>
                <a:off x="4498"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49" name="Freeform 1771"/>
              <p:cNvSpPr>
                <a:spLocks/>
              </p:cNvSpPr>
              <p:nvPr/>
            </p:nvSpPr>
            <p:spPr bwMode="auto">
              <a:xfrm>
                <a:off x="4507" y="1299"/>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0" name="Freeform 1772"/>
              <p:cNvSpPr>
                <a:spLocks/>
              </p:cNvSpPr>
              <p:nvPr/>
            </p:nvSpPr>
            <p:spPr bwMode="auto">
              <a:xfrm>
                <a:off x="4535"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1" name="Freeform 1773"/>
              <p:cNvSpPr>
                <a:spLocks/>
              </p:cNvSpPr>
              <p:nvPr/>
            </p:nvSpPr>
            <p:spPr bwMode="auto">
              <a:xfrm>
                <a:off x="2264" y="125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9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2" name="Freeform 1774"/>
              <p:cNvSpPr>
                <a:spLocks/>
              </p:cNvSpPr>
              <p:nvPr/>
            </p:nvSpPr>
            <p:spPr bwMode="auto">
              <a:xfrm>
                <a:off x="2271"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3" name="Freeform 1775"/>
              <p:cNvSpPr>
                <a:spLocks/>
              </p:cNvSpPr>
              <p:nvPr/>
            </p:nvSpPr>
            <p:spPr bwMode="auto">
              <a:xfrm>
                <a:off x="2431" y="125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4" name="Freeform 1776"/>
              <p:cNvSpPr>
                <a:spLocks/>
              </p:cNvSpPr>
              <p:nvPr/>
            </p:nvSpPr>
            <p:spPr bwMode="auto">
              <a:xfrm>
                <a:off x="2470"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5" name="Freeform 1777"/>
              <p:cNvSpPr>
                <a:spLocks/>
              </p:cNvSpPr>
              <p:nvPr/>
            </p:nvSpPr>
            <p:spPr bwMode="auto">
              <a:xfrm>
                <a:off x="2650" y="1259"/>
                <a:ext cx="10" cy="10"/>
              </a:xfrm>
              <a:custGeom>
                <a:avLst/>
                <a:gdLst>
                  <a:gd name="T0" fmla="*/ 3 w 10"/>
                  <a:gd name="T1" fmla="*/ 0 h 10"/>
                  <a:gd name="T2" fmla="*/ 8 w 10"/>
                  <a:gd name="T3" fmla="*/ 0 h 10"/>
                  <a:gd name="T4" fmla="*/ 10 w 10"/>
                  <a:gd name="T5" fmla="*/ 2 h 10"/>
                  <a:gd name="T6" fmla="*/ 10 w 10"/>
                  <a:gd name="T7" fmla="*/ 9 h 10"/>
                  <a:gd name="T8" fmla="*/ 8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9"/>
                    </a:lnTo>
                    <a:lnTo>
                      <a:pt x="8"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6" name="Freeform 1778"/>
              <p:cNvSpPr>
                <a:spLocks/>
              </p:cNvSpPr>
              <p:nvPr/>
            </p:nvSpPr>
            <p:spPr bwMode="auto">
              <a:xfrm>
                <a:off x="3536" y="125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7" name="Freeform 1779"/>
              <p:cNvSpPr>
                <a:spLocks/>
              </p:cNvSpPr>
              <p:nvPr/>
            </p:nvSpPr>
            <p:spPr bwMode="auto">
              <a:xfrm>
                <a:off x="3538" y="1259"/>
                <a:ext cx="11" cy="10"/>
              </a:xfrm>
              <a:custGeom>
                <a:avLst/>
                <a:gdLst>
                  <a:gd name="T0" fmla="*/ 4 w 11"/>
                  <a:gd name="T1" fmla="*/ 0 h 10"/>
                  <a:gd name="T2" fmla="*/ 9 w 11"/>
                  <a:gd name="T3" fmla="*/ 0 h 10"/>
                  <a:gd name="T4" fmla="*/ 11 w 11"/>
                  <a:gd name="T5" fmla="*/ 2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58" name="Freeform 1780"/>
              <p:cNvSpPr>
                <a:spLocks/>
              </p:cNvSpPr>
              <p:nvPr/>
            </p:nvSpPr>
            <p:spPr bwMode="auto">
              <a:xfrm>
                <a:off x="3542" y="1259"/>
                <a:ext cx="8" cy="10"/>
              </a:xfrm>
              <a:custGeom>
                <a:avLst/>
                <a:gdLst>
                  <a:gd name="T0" fmla="*/ 1 w 8"/>
                  <a:gd name="T1" fmla="*/ 0 h 10"/>
                  <a:gd name="T2" fmla="*/ 7 w 8"/>
                  <a:gd name="T3" fmla="*/ 0 h 10"/>
                  <a:gd name="T4" fmla="*/ 8 w 8"/>
                  <a:gd name="T5" fmla="*/ 2 h 10"/>
                  <a:gd name="T6" fmla="*/ 8 w 8"/>
                  <a:gd name="T7" fmla="*/ 9 h 10"/>
                  <a:gd name="T8" fmla="*/ 7 w 8"/>
                  <a:gd name="T9" fmla="*/ 10 h 10"/>
                  <a:gd name="T10" fmla="*/ 1 w 8"/>
                  <a:gd name="T11" fmla="*/ 10 h 10"/>
                  <a:gd name="T12" fmla="*/ 0 w 8"/>
                  <a:gd name="T13" fmla="*/ 9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9"/>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59" name="Freeform 1781"/>
              <p:cNvSpPr>
                <a:spLocks/>
              </p:cNvSpPr>
              <p:nvPr/>
            </p:nvSpPr>
            <p:spPr bwMode="auto">
              <a:xfrm>
                <a:off x="3583"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0" name="Freeform 1782"/>
              <p:cNvSpPr>
                <a:spLocks/>
              </p:cNvSpPr>
              <p:nvPr/>
            </p:nvSpPr>
            <p:spPr bwMode="auto">
              <a:xfrm>
                <a:off x="3606"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1" name="Freeform 1783"/>
              <p:cNvSpPr>
                <a:spLocks/>
              </p:cNvSpPr>
              <p:nvPr/>
            </p:nvSpPr>
            <p:spPr bwMode="auto">
              <a:xfrm>
                <a:off x="4137" y="125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9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2" name="Freeform 1784"/>
              <p:cNvSpPr>
                <a:spLocks/>
              </p:cNvSpPr>
              <p:nvPr/>
            </p:nvSpPr>
            <p:spPr bwMode="auto">
              <a:xfrm>
                <a:off x="4224"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3" name="Freeform 1785"/>
              <p:cNvSpPr>
                <a:spLocks/>
              </p:cNvSpPr>
              <p:nvPr/>
            </p:nvSpPr>
            <p:spPr bwMode="auto">
              <a:xfrm>
                <a:off x="4250" y="1259"/>
                <a:ext cx="11" cy="10"/>
              </a:xfrm>
              <a:custGeom>
                <a:avLst/>
                <a:gdLst>
                  <a:gd name="T0" fmla="*/ 2 w 11"/>
                  <a:gd name="T1" fmla="*/ 0 h 10"/>
                  <a:gd name="T2" fmla="*/ 9 w 11"/>
                  <a:gd name="T3" fmla="*/ 0 h 10"/>
                  <a:gd name="T4" fmla="*/ 11 w 11"/>
                  <a:gd name="T5" fmla="*/ 2 h 10"/>
                  <a:gd name="T6" fmla="*/ 11 w 11"/>
                  <a:gd name="T7" fmla="*/ 9 h 10"/>
                  <a:gd name="T8" fmla="*/ 9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9" y="0"/>
                    </a:lnTo>
                    <a:lnTo>
                      <a:pt x="11" y="2"/>
                    </a:lnTo>
                    <a:lnTo>
                      <a:pt x="11" y="9"/>
                    </a:lnTo>
                    <a:lnTo>
                      <a:pt x="9"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4" name="Freeform 1786"/>
              <p:cNvSpPr>
                <a:spLocks/>
              </p:cNvSpPr>
              <p:nvPr/>
            </p:nvSpPr>
            <p:spPr bwMode="auto">
              <a:xfrm>
                <a:off x="4289" y="1259"/>
                <a:ext cx="8" cy="10"/>
              </a:xfrm>
              <a:custGeom>
                <a:avLst/>
                <a:gdLst>
                  <a:gd name="T0" fmla="*/ 1 w 8"/>
                  <a:gd name="T1" fmla="*/ 0 h 10"/>
                  <a:gd name="T2" fmla="*/ 7 w 8"/>
                  <a:gd name="T3" fmla="*/ 0 h 10"/>
                  <a:gd name="T4" fmla="*/ 8 w 8"/>
                  <a:gd name="T5" fmla="*/ 2 h 10"/>
                  <a:gd name="T6" fmla="*/ 8 w 8"/>
                  <a:gd name="T7" fmla="*/ 9 h 10"/>
                  <a:gd name="T8" fmla="*/ 7 w 8"/>
                  <a:gd name="T9" fmla="*/ 10 h 10"/>
                  <a:gd name="T10" fmla="*/ 1 w 8"/>
                  <a:gd name="T11" fmla="*/ 10 h 10"/>
                  <a:gd name="T12" fmla="*/ 0 w 8"/>
                  <a:gd name="T13" fmla="*/ 9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9"/>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65" name="Freeform 1787"/>
              <p:cNvSpPr>
                <a:spLocks/>
              </p:cNvSpPr>
              <p:nvPr/>
            </p:nvSpPr>
            <p:spPr bwMode="auto">
              <a:xfrm>
                <a:off x="4296" y="1259"/>
                <a:ext cx="8" cy="10"/>
              </a:xfrm>
              <a:custGeom>
                <a:avLst/>
                <a:gdLst>
                  <a:gd name="T0" fmla="*/ 1 w 8"/>
                  <a:gd name="T1" fmla="*/ 0 h 10"/>
                  <a:gd name="T2" fmla="*/ 7 w 8"/>
                  <a:gd name="T3" fmla="*/ 0 h 10"/>
                  <a:gd name="T4" fmla="*/ 8 w 8"/>
                  <a:gd name="T5" fmla="*/ 2 h 10"/>
                  <a:gd name="T6" fmla="*/ 8 w 8"/>
                  <a:gd name="T7" fmla="*/ 9 h 10"/>
                  <a:gd name="T8" fmla="*/ 7 w 8"/>
                  <a:gd name="T9" fmla="*/ 10 h 10"/>
                  <a:gd name="T10" fmla="*/ 1 w 8"/>
                  <a:gd name="T11" fmla="*/ 10 h 10"/>
                  <a:gd name="T12" fmla="*/ 0 w 8"/>
                  <a:gd name="T13" fmla="*/ 9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9"/>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66" name="Freeform 1788"/>
              <p:cNvSpPr>
                <a:spLocks/>
              </p:cNvSpPr>
              <p:nvPr/>
            </p:nvSpPr>
            <p:spPr bwMode="auto">
              <a:xfrm>
                <a:off x="4334"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7" name="Freeform 1789"/>
              <p:cNvSpPr>
                <a:spLocks/>
              </p:cNvSpPr>
              <p:nvPr/>
            </p:nvSpPr>
            <p:spPr bwMode="auto">
              <a:xfrm>
                <a:off x="4336"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8" name="Freeform 1790"/>
              <p:cNvSpPr>
                <a:spLocks/>
              </p:cNvSpPr>
              <p:nvPr/>
            </p:nvSpPr>
            <p:spPr bwMode="auto">
              <a:xfrm>
                <a:off x="4353" y="125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9" name="Freeform 1791"/>
              <p:cNvSpPr>
                <a:spLocks/>
              </p:cNvSpPr>
              <p:nvPr/>
            </p:nvSpPr>
            <p:spPr bwMode="auto">
              <a:xfrm>
                <a:off x="4365"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70" name="Freeform 1792"/>
              <p:cNvSpPr>
                <a:spLocks/>
              </p:cNvSpPr>
              <p:nvPr/>
            </p:nvSpPr>
            <p:spPr bwMode="auto">
              <a:xfrm>
                <a:off x="4386" y="1259"/>
                <a:ext cx="11" cy="10"/>
              </a:xfrm>
              <a:custGeom>
                <a:avLst/>
                <a:gdLst>
                  <a:gd name="T0" fmla="*/ 4 w 11"/>
                  <a:gd name="T1" fmla="*/ 0 h 10"/>
                  <a:gd name="T2" fmla="*/ 9 w 11"/>
                  <a:gd name="T3" fmla="*/ 0 h 10"/>
                  <a:gd name="T4" fmla="*/ 11 w 11"/>
                  <a:gd name="T5" fmla="*/ 2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1" name="Freeform 1793"/>
              <p:cNvSpPr>
                <a:spLocks/>
              </p:cNvSpPr>
              <p:nvPr/>
            </p:nvSpPr>
            <p:spPr bwMode="auto">
              <a:xfrm>
                <a:off x="4427" y="125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1 w 10"/>
                  <a:gd name="T11" fmla="*/ 10 h 10"/>
                  <a:gd name="T12" fmla="*/ 0 w 10"/>
                  <a:gd name="T13" fmla="*/ 9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72" name="Freeform 1794"/>
              <p:cNvSpPr>
                <a:spLocks/>
              </p:cNvSpPr>
              <p:nvPr/>
            </p:nvSpPr>
            <p:spPr bwMode="auto">
              <a:xfrm>
                <a:off x="4491" y="1259"/>
                <a:ext cx="11" cy="10"/>
              </a:xfrm>
              <a:custGeom>
                <a:avLst/>
                <a:gdLst>
                  <a:gd name="T0" fmla="*/ 4 w 11"/>
                  <a:gd name="T1" fmla="*/ 0 h 10"/>
                  <a:gd name="T2" fmla="*/ 9 w 11"/>
                  <a:gd name="T3" fmla="*/ 0 h 10"/>
                  <a:gd name="T4" fmla="*/ 11 w 11"/>
                  <a:gd name="T5" fmla="*/ 2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3" name="Freeform 1795"/>
              <p:cNvSpPr>
                <a:spLocks/>
              </p:cNvSpPr>
              <p:nvPr/>
            </p:nvSpPr>
            <p:spPr bwMode="auto">
              <a:xfrm>
                <a:off x="4521" y="125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9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74" name="Freeform 1796"/>
              <p:cNvSpPr>
                <a:spLocks/>
              </p:cNvSpPr>
              <p:nvPr/>
            </p:nvSpPr>
            <p:spPr bwMode="auto">
              <a:xfrm>
                <a:off x="1679" y="1219"/>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5" name="Freeform 1797"/>
              <p:cNvSpPr>
                <a:spLocks/>
              </p:cNvSpPr>
              <p:nvPr/>
            </p:nvSpPr>
            <p:spPr bwMode="auto">
              <a:xfrm>
                <a:off x="1684" y="1219"/>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6" name="Freeform 1798"/>
              <p:cNvSpPr>
                <a:spLocks/>
              </p:cNvSpPr>
              <p:nvPr/>
            </p:nvSpPr>
            <p:spPr bwMode="auto">
              <a:xfrm>
                <a:off x="1688" y="1219"/>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77" name="Freeform 1799"/>
              <p:cNvSpPr>
                <a:spLocks/>
              </p:cNvSpPr>
              <p:nvPr/>
            </p:nvSpPr>
            <p:spPr bwMode="auto">
              <a:xfrm>
                <a:off x="1756" y="1219"/>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78" name="Freeform 1800"/>
              <p:cNvSpPr>
                <a:spLocks/>
              </p:cNvSpPr>
              <p:nvPr/>
            </p:nvSpPr>
            <p:spPr bwMode="auto">
              <a:xfrm>
                <a:off x="1979" y="1219"/>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9" name="Freeform 1801"/>
              <p:cNvSpPr>
                <a:spLocks/>
              </p:cNvSpPr>
              <p:nvPr/>
            </p:nvSpPr>
            <p:spPr bwMode="auto">
              <a:xfrm>
                <a:off x="1983" y="1219"/>
                <a:ext cx="10" cy="10"/>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0" name="Freeform 1802"/>
              <p:cNvSpPr>
                <a:spLocks/>
              </p:cNvSpPr>
              <p:nvPr/>
            </p:nvSpPr>
            <p:spPr bwMode="auto">
              <a:xfrm>
                <a:off x="2493" y="1219"/>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1" name="Freeform 1803"/>
              <p:cNvSpPr>
                <a:spLocks/>
              </p:cNvSpPr>
              <p:nvPr/>
            </p:nvSpPr>
            <p:spPr bwMode="auto">
              <a:xfrm>
                <a:off x="3313" y="1219"/>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2" name="Freeform 1804"/>
              <p:cNvSpPr>
                <a:spLocks/>
              </p:cNvSpPr>
              <p:nvPr/>
            </p:nvSpPr>
            <p:spPr bwMode="auto">
              <a:xfrm>
                <a:off x="3315" y="1219"/>
                <a:ext cx="10" cy="10"/>
              </a:xfrm>
              <a:custGeom>
                <a:avLst/>
                <a:gdLst>
                  <a:gd name="T0" fmla="*/ 3 w 10"/>
                  <a:gd name="T1" fmla="*/ 0 h 10"/>
                  <a:gd name="T2" fmla="*/ 7 w 10"/>
                  <a:gd name="T3" fmla="*/ 0 h 10"/>
                  <a:gd name="T4" fmla="*/ 10 w 10"/>
                  <a:gd name="T5" fmla="*/ 3 h 10"/>
                  <a:gd name="T6" fmla="*/ 10 w 10"/>
                  <a:gd name="T7" fmla="*/ 8 h 10"/>
                  <a:gd name="T8" fmla="*/ 8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8"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3" name="Freeform 1805"/>
              <p:cNvSpPr>
                <a:spLocks/>
              </p:cNvSpPr>
              <p:nvPr/>
            </p:nvSpPr>
            <p:spPr bwMode="auto">
              <a:xfrm>
                <a:off x="3318" y="1219"/>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4" name="Freeform 1806"/>
              <p:cNvSpPr>
                <a:spLocks/>
              </p:cNvSpPr>
              <p:nvPr/>
            </p:nvSpPr>
            <p:spPr bwMode="auto">
              <a:xfrm>
                <a:off x="3334" y="1219"/>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5" name="Freeform 1807"/>
              <p:cNvSpPr>
                <a:spLocks/>
              </p:cNvSpPr>
              <p:nvPr/>
            </p:nvSpPr>
            <p:spPr bwMode="auto">
              <a:xfrm>
                <a:off x="3336" y="1219"/>
                <a:ext cx="10" cy="10"/>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1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6" name="Freeform 1808"/>
              <p:cNvSpPr>
                <a:spLocks/>
              </p:cNvSpPr>
              <p:nvPr/>
            </p:nvSpPr>
            <p:spPr bwMode="auto">
              <a:xfrm>
                <a:off x="3503" y="1219"/>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7" name="Freeform 1809"/>
              <p:cNvSpPr>
                <a:spLocks/>
              </p:cNvSpPr>
              <p:nvPr/>
            </p:nvSpPr>
            <p:spPr bwMode="auto">
              <a:xfrm>
                <a:off x="3531" y="1219"/>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8" name="Freeform 1810"/>
              <p:cNvSpPr>
                <a:spLocks/>
              </p:cNvSpPr>
              <p:nvPr/>
            </p:nvSpPr>
            <p:spPr bwMode="auto">
              <a:xfrm>
                <a:off x="3543" y="1219"/>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9" name="Freeform 1811"/>
              <p:cNvSpPr>
                <a:spLocks/>
              </p:cNvSpPr>
              <p:nvPr/>
            </p:nvSpPr>
            <p:spPr bwMode="auto">
              <a:xfrm>
                <a:off x="3545" y="1219"/>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90" name="Freeform 1812"/>
              <p:cNvSpPr>
                <a:spLocks/>
              </p:cNvSpPr>
              <p:nvPr/>
            </p:nvSpPr>
            <p:spPr bwMode="auto">
              <a:xfrm>
                <a:off x="3552" y="1219"/>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grpSp>
        <p:sp>
          <p:nvSpPr>
            <p:cNvPr id="1054" name="Freeform 1814"/>
            <p:cNvSpPr>
              <a:spLocks/>
            </p:cNvSpPr>
            <p:nvPr/>
          </p:nvSpPr>
          <p:spPr bwMode="auto">
            <a:xfrm>
              <a:off x="5646738" y="1935163"/>
              <a:ext cx="14288" cy="15875"/>
            </a:xfrm>
            <a:custGeom>
              <a:avLst/>
              <a:gdLst>
                <a:gd name="T0" fmla="*/ 10080977 w 9"/>
                <a:gd name="T1" fmla="*/ 0 h 10"/>
                <a:gd name="T2" fmla="*/ 15121466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55" name="Freeform 1815"/>
            <p:cNvSpPr>
              <a:spLocks/>
            </p:cNvSpPr>
            <p:nvPr/>
          </p:nvSpPr>
          <p:spPr bwMode="auto">
            <a:xfrm>
              <a:off x="5713413" y="1935163"/>
              <a:ext cx="14288" cy="15875"/>
            </a:xfrm>
            <a:custGeom>
              <a:avLst/>
              <a:gdLst>
                <a:gd name="T0" fmla="*/ 10080977 w 9"/>
                <a:gd name="T1" fmla="*/ 0 h 10"/>
                <a:gd name="T2" fmla="*/ 12602014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56" name="Freeform 1816"/>
            <p:cNvSpPr>
              <a:spLocks/>
            </p:cNvSpPr>
            <p:nvPr/>
          </p:nvSpPr>
          <p:spPr bwMode="auto">
            <a:xfrm>
              <a:off x="5716588" y="1935163"/>
              <a:ext cx="15875" cy="15875"/>
            </a:xfrm>
            <a:custGeom>
              <a:avLst/>
              <a:gdLst>
                <a:gd name="T0" fmla="*/ 7559675 w 10"/>
                <a:gd name="T1" fmla="*/ 0 h 10"/>
                <a:gd name="T2" fmla="*/ 17640299 w 10"/>
                <a:gd name="T3" fmla="*/ 0 h 10"/>
                <a:gd name="T4" fmla="*/ 25201559 w 10"/>
                <a:gd name="T5" fmla="*/ 7559675 h 10"/>
                <a:gd name="T6" fmla="*/ 25201559 w 10"/>
                <a:gd name="T7" fmla="*/ 17640299 h 10"/>
                <a:gd name="T8" fmla="*/ 17640299 w 10"/>
                <a:gd name="T9" fmla="*/ 25201559 h 10"/>
                <a:gd name="T10" fmla="*/ 5040312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57" name="Freeform 1817"/>
            <p:cNvSpPr>
              <a:spLocks/>
            </p:cNvSpPr>
            <p:nvPr/>
          </p:nvSpPr>
          <p:spPr bwMode="auto">
            <a:xfrm>
              <a:off x="5730875" y="1935163"/>
              <a:ext cx="15875" cy="15875"/>
            </a:xfrm>
            <a:custGeom>
              <a:avLst/>
              <a:gdLst>
                <a:gd name="T0" fmla="*/ 7559675 w 10"/>
                <a:gd name="T1" fmla="*/ 0 h 10"/>
                <a:gd name="T2" fmla="*/ 17640299 w 10"/>
                <a:gd name="T3" fmla="*/ 0 h 10"/>
                <a:gd name="T4" fmla="*/ 25201559 w 10"/>
                <a:gd name="T5" fmla="*/ 7559675 h 10"/>
                <a:gd name="T6" fmla="*/ 25201559 w 10"/>
                <a:gd name="T7" fmla="*/ 17640299 h 10"/>
                <a:gd name="T8" fmla="*/ 17640299 w 10"/>
                <a:gd name="T9" fmla="*/ 25201559 h 10"/>
                <a:gd name="T10" fmla="*/ 2520950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58" name="Freeform 1818"/>
            <p:cNvSpPr>
              <a:spLocks/>
            </p:cNvSpPr>
            <p:nvPr/>
          </p:nvSpPr>
          <p:spPr bwMode="auto">
            <a:xfrm>
              <a:off x="5735638" y="1935163"/>
              <a:ext cx="14288" cy="15875"/>
            </a:xfrm>
            <a:custGeom>
              <a:avLst/>
              <a:gdLst>
                <a:gd name="T0" fmla="*/ 10080977 w 9"/>
                <a:gd name="T1" fmla="*/ 0 h 10"/>
                <a:gd name="T2" fmla="*/ 12602014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59" name="Freeform 1819"/>
            <p:cNvSpPr>
              <a:spLocks/>
            </p:cNvSpPr>
            <p:nvPr/>
          </p:nvSpPr>
          <p:spPr bwMode="auto">
            <a:xfrm>
              <a:off x="6592888" y="1935163"/>
              <a:ext cx="15875" cy="15875"/>
            </a:xfrm>
            <a:custGeom>
              <a:avLst/>
              <a:gdLst>
                <a:gd name="T0" fmla="*/ 7559675 w 10"/>
                <a:gd name="T1" fmla="*/ 0 h 10"/>
                <a:gd name="T2" fmla="*/ 17640299 w 10"/>
                <a:gd name="T3" fmla="*/ 0 h 10"/>
                <a:gd name="T4" fmla="*/ 25201559 w 10"/>
                <a:gd name="T5" fmla="*/ 7559675 h 10"/>
                <a:gd name="T6" fmla="*/ 25201559 w 10"/>
                <a:gd name="T7" fmla="*/ 17640299 h 10"/>
                <a:gd name="T8" fmla="*/ 17640299 w 10"/>
                <a:gd name="T9" fmla="*/ 25201559 h 10"/>
                <a:gd name="T10" fmla="*/ 2520950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0" name="Freeform 1820"/>
            <p:cNvSpPr>
              <a:spLocks/>
            </p:cNvSpPr>
            <p:nvPr/>
          </p:nvSpPr>
          <p:spPr bwMode="auto">
            <a:xfrm>
              <a:off x="6716713" y="1935163"/>
              <a:ext cx="14288" cy="15875"/>
            </a:xfrm>
            <a:custGeom>
              <a:avLst/>
              <a:gdLst>
                <a:gd name="T0" fmla="*/ 10080977 w 9"/>
                <a:gd name="T1" fmla="*/ 0 h 10"/>
                <a:gd name="T2" fmla="*/ 12602014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61" name="Freeform 1821"/>
            <p:cNvSpPr>
              <a:spLocks/>
            </p:cNvSpPr>
            <p:nvPr/>
          </p:nvSpPr>
          <p:spPr bwMode="auto">
            <a:xfrm>
              <a:off x="6850063" y="1935163"/>
              <a:ext cx="15875" cy="15875"/>
            </a:xfrm>
            <a:custGeom>
              <a:avLst/>
              <a:gdLst>
                <a:gd name="T0" fmla="*/ 7559675 w 10"/>
                <a:gd name="T1" fmla="*/ 0 h 10"/>
                <a:gd name="T2" fmla="*/ 17640299 w 10"/>
                <a:gd name="T3" fmla="*/ 0 h 10"/>
                <a:gd name="T4" fmla="*/ 25201559 w 10"/>
                <a:gd name="T5" fmla="*/ 7559675 h 10"/>
                <a:gd name="T6" fmla="*/ 25201559 w 10"/>
                <a:gd name="T7" fmla="*/ 20161249 h 10"/>
                <a:gd name="T8" fmla="*/ 22682198 w 10"/>
                <a:gd name="T9" fmla="*/ 25201559 h 10"/>
                <a:gd name="T10" fmla="*/ 5040312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2" name="Freeform 1822"/>
            <p:cNvSpPr>
              <a:spLocks/>
            </p:cNvSpPr>
            <p:nvPr/>
          </p:nvSpPr>
          <p:spPr bwMode="auto">
            <a:xfrm>
              <a:off x="6961188" y="1935163"/>
              <a:ext cx="12700" cy="15875"/>
            </a:xfrm>
            <a:custGeom>
              <a:avLst/>
              <a:gdLst>
                <a:gd name="T0" fmla="*/ 7559674 w 8"/>
                <a:gd name="T1" fmla="*/ 0 h 10"/>
                <a:gd name="T2" fmla="*/ 12599985 w 8"/>
                <a:gd name="T3" fmla="*/ 0 h 10"/>
                <a:gd name="T4" fmla="*/ 20161247 w 8"/>
                <a:gd name="T5" fmla="*/ 7559675 h 10"/>
                <a:gd name="T6" fmla="*/ 20161247 w 8"/>
                <a:gd name="T7" fmla="*/ 20161249 h 10"/>
                <a:gd name="T8" fmla="*/ 17640298 w 8"/>
                <a:gd name="T9" fmla="*/ 25201559 h 10"/>
                <a:gd name="T10" fmla="*/ 2520950 w 8"/>
                <a:gd name="T11" fmla="*/ 25201559 h 10"/>
                <a:gd name="T12" fmla="*/ 0 w 8"/>
                <a:gd name="T13" fmla="*/ 20161249 h 10"/>
                <a:gd name="T14" fmla="*/ 0 w 8"/>
                <a:gd name="T15" fmla="*/ 7559675 h 10"/>
                <a:gd name="T16" fmla="*/ 7559674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3" name="Freeform 1823"/>
            <p:cNvSpPr>
              <a:spLocks/>
            </p:cNvSpPr>
            <p:nvPr/>
          </p:nvSpPr>
          <p:spPr bwMode="auto">
            <a:xfrm>
              <a:off x="7085013" y="1935163"/>
              <a:ext cx="14288" cy="15875"/>
            </a:xfrm>
            <a:custGeom>
              <a:avLst/>
              <a:gdLst>
                <a:gd name="T0" fmla="*/ 10080977 w 9"/>
                <a:gd name="T1" fmla="*/ 0 h 10"/>
                <a:gd name="T2" fmla="*/ 12602014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64" name="Freeform 1824"/>
            <p:cNvSpPr>
              <a:spLocks/>
            </p:cNvSpPr>
            <p:nvPr/>
          </p:nvSpPr>
          <p:spPr bwMode="auto">
            <a:xfrm>
              <a:off x="7165975" y="1935163"/>
              <a:ext cx="15875" cy="15875"/>
            </a:xfrm>
            <a:custGeom>
              <a:avLst/>
              <a:gdLst>
                <a:gd name="T0" fmla="*/ 7559675 w 10"/>
                <a:gd name="T1" fmla="*/ 0 h 10"/>
                <a:gd name="T2" fmla="*/ 17640299 w 10"/>
                <a:gd name="T3" fmla="*/ 0 h 10"/>
                <a:gd name="T4" fmla="*/ 25201559 w 10"/>
                <a:gd name="T5" fmla="*/ 7559675 h 10"/>
                <a:gd name="T6" fmla="*/ 25201559 w 10"/>
                <a:gd name="T7" fmla="*/ 17640299 h 10"/>
                <a:gd name="T8" fmla="*/ 17640299 w 10"/>
                <a:gd name="T9" fmla="*/ 25201559 h 10"/>
                <a:gd name="T10" fmla="*/ 5040312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5" name="Freeform 1825"/>
            <p:cNvSpPr>
              <a:spLocks/>
            </p:cNvSpPr>
            <p:nvPr/>
          </p:nvSpPr>
          <p:spPr bwMode="auto">
            <a:xfrm>
              <a:off x="2411413" y="1873251"/>
              <a:ext cx="15875" cy="14288"/>
            </a:xfrm>
            <a:custGeom>
              <a:avLst/>
              <a:gdLst>
                <a:gd name="T0" fmla="*/ 2520950 w 10"/>
                <a:gd name="T1" fmla="*/ 0 h 9"/>
                <a:gd name="T2" fmla="*/ 17640299 w 10"/>
                <a:gd name="T3" fmla="*/ 0 h 9"/>
                <a:gd name="T4" fmla="*/ 25201559 w 10"/>
                <a:gd name="T5" fmla="*/ 10080977 h 9"/>
                <a:gd name="T6" fmla="*/ 25201559 w 10"/>
                <a:gd name="T7" fmla="*/ 12602014 h 9"/>
                <a:gd name="T8" fmla="*/ 17640299 w 10"/>
                <a:gd name="T9" fmla="*/ 22682990 h 9"/>
                <a:gd name="T10" fmla="*/ 2520950 w 10"/>
                <a:gd name="T11" fmla="*/ 22682990 h 9"/>
                <a:gd name="T12" fmla="*/ 0 w 10"/>
                <a:gd name="T13" fmla="*/ 17642504 h 9"/>
                <a:gd name="T14" fmla="*/ 0 w 10"/>
                <a:gd name="T15" fmla="*/ 5040488 h 9"/>
                <a:gd name="T16" fmla="*/ 2520950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66" name="Freeform 1826"/>
            <p:cNvSpPr>
              <a:spLocks/>
            </p:cNvSpPr>
            <p:nvPr/>
          </p:nvSpPr>
          <p:spPr bwMode="auto">
            <a:xfrm>
              <a:off x="2419350"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756152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67" name="Freeform 1827"/>
            <p:cNvSpPr>
              <a:spLocks/>
            </p:cNvSpPr>
            <p:nvPr/>
          </p:nvSpPr>
          <p:spPr bwMode="auto">
            <a:xfrm>
              <a:off x="2424113" y="1873251"/>
              <a:ext cx="17463" cy="14288"/>
            </a:xfrm>
            <a:custGeom>
              <a:avLst/>
              <a:gdLst>
                <a:gd name="T0" fmla="*/ 5040457 w 11"/>
                <a:gd name="T1" fmla="*/ 0 h 9"/>
                <a:gd name="T2" fmla="*/ 22682848 w 11"/>
                <a:gd name="T3" fmla="*/ 0 h 9"/>
                <a:gd name="T4" fmla="*/ 27723309 w 11"/>
                <a:gd name="T5" fmla="*/ 5040488 h 9"/>
                <a:gd name="T6" fmla="*/ 27723309 w 11"/>
                <a:gd name="T7" fmla="*/ 17642504 h 9"/>
                <a:gd name="T8" fmla="*/ 22682848 w 11"/>
                <a:gd name="T9" fmla="*/ 22682990 h 9"/>
                <a:gd name="T10" fmla="*/ 5040457 w 11"/>
                <a:gd name="T11" fmla="*/ 22682990 h 9"/>
                <a:gd name="T12" fmla="*/ 0 w 11"/>
                <a:gd name="T13" fmla="*/ 17642504 h 9"/>
                <a:gd name="T14" fmla="*/ 0 w 11"/>
                <a:gd name="T15" fmla="*/ 5040488 h 9"/>
                <a:gd name="T16" fmla="*/ 5040457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68" name="Freeform 1828"/>
            <p:cNvSpPr>
              <a:spLocks/>
            </p:cNvSpPr>
            <p:nvPr/>
          </p:nvSpPr>
          <p:spPr bwMode="auto">
            <a:xfrm>
              <a:off x="2435225" y="1873251"/>
              <a:ext cx="17463" cy="14288"/>
            </a:xfrm>
            <a:custGeom>
              <a:avLst/>
              <a:gdLst>
                <a:gd name="T0" fmla="*/ 5040457 w 11"/>
                <a:gd name="T1" fmla="*/ 0 h 9"/>
                <a:gd name="T2" fmla="*/ 17642393 w 11"/>
                <a:gd name="T3" fmla="*/ 0 h 9"/>
                <a:gd name="T4" fmla="*/ 27723309 w 11"/>
                <a:gd name="T5" fmla="*/ 10080977 h 9"/>
                <a:gd name="T6" fmla="*/ 27723309 w 11"/>
                <a:gd name="T7" fmla="*/ 12602014 h 9"/>
                <a:gd name="T8" fmla="*/ 17642393 w 11"/>
                <a:gd name="T9" fmla="*/ 22682990 h 9"/>
                <a:gd name="T10" fmla="*/ 5040457 w 11"/>
                <a:gd name="T11" fmla="*/ 22682990 h 9"/>
                <a:gd name="T12" fmla="*/ 0 w 11"/>
                <a:gd name="T13" fmla="*/ 17642504 h 9"/>
                <a:gd name="T14" fmla="*/ 0 w 11"/>
                <a:gd name="T15" fmla="*/ 5040488 h 9"/>
                <a:gd name="T16" fmla="*/ 5040457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69" name="Freeform 1829"/>
            <p:cNvSpPr>
              <a:spLocks/>
            </p:cNvSpPr>
            <p:nvPr/>
          </p:nvSpPr>
          <p:spPr bwMode="auto">
            <a:xfrm>
              <a:off x="2444750" y="1873251"/>
              <a:ext cx="12700" cy="14288"/>
            </a:xfrm>
            <a:custGeom>
              <a:avLst/>
              <a:gdLst>
                <a:gd name="T0" fmla="*/ 2520950 w 8"/>
                <a:gd name="T1" fmla="*/ 0 h 9"/>
                <a:gd name="T2" fmla="*/ 17640298 w 8"/>
                <a:gd name="T3" fmla="*/ 0 h 9"/>
                <a:gd name="T4" fmla="*/ 20161247 w 8"/>
                <a:gd name="T5" fmla="*/ 5040488 h 9"/>
                <a:gd name="T6" fmla="*/ 20161247 w 8"/>
                <a:gd name="T7" fmla="*/ 17642504 h 9"/>
                <a:gd name="T8" fmla="*/ 17640298 w 8"/>
                <a:gd name="T9" fmla="*/ 22682990 h 9"/>
                <a:gd name="T10" fmla="*/ 7559674 w 8"/>
                <a:gd name="T11" fmla="*/ 22682990 h 9"/>
                <a:gd name="T12" fmla="*/ 0 w 8"/>
                <a:gd name="T13" fmla="*/ 12602014 h 9"/>
                <a:gd name="T14" fmla="*/ 0 w 8"/>
                <a:gd name="T15" fmla="*/ 5040488 h 9"/>
                <a:gd name="T16" fmla="*/ 2520950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70" name="Freeform 1830"/>
            <p:cNvSpPr>
              <a:spLocks/>
            </p:cNvSpPr>
            <p:nvPr/>
          </p:nvSpPr>
          <p:spPr bwMode="auto">
            <a:xfrm>
              <a:off x="2449513" y="1873251"/>
              <a:ext cx="15875" cy="14288"/>
            </a:xfrm>
            <a:custGeom>
              <a:avLst/>
              <a:gdLst>
                <a:gd name="T0" fmla="*/ 5040312 w 10"/>
                <a:gd name="T1" fmla="*/ 0 h 9"/>
                <a:gd name="T2" fmla="*/ 17640299 w 10"/>
                <a:gd name="T3" fmla="*/ 0 h 9"/>
                <a:gd name="T4" fmla="*/ 25201559 w 10"/>
                <a:gd name="T5" fmla="*/ 10080977 h 9"/>
                <a:gd name="T6" fmla="*/ 25201559 w 10"/>
                <a:gd name="T7" fmla="*/ 12602014 h 9"/>
                <a:gd name="T8" fmla="*/ 17640299 w 10"/>
                <a:gd name="T9" fmla="*/ 22682990 h 9"/>
                <a:gd name="T10" fmla="*/ 5040312 w 10"/>
                <a:gd name="T11" fmla="*/ 22682990 h 9"/>
                <a:gd name="T12" fmla="*/ 0 w 10"/>
                <a:gd name="T13" fmla="*/ 17642504 h 9"/>
                <a:gd name="T14" fmla="*/ 0 w 10"/>
                <a:gd name="T15" fmla="*/ 5040488 h 9"/>
                <a:gd name="T16" fmla="*/ 504031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1" name="Freeform 1831"/>
            <p:cNvSpPr>
              <a:spLocks/>
            </p:cNvSpPr>
            <p:nvPr/>
          </p:nvSpPr>
          <p:spPr bwMode="auto">
            <a:xfrm>
              <a:off x="2476500" y="1873251"/>
              <a:ext cx="17463" cy="14288"/>
            </a:xfrm>
            <a:custGeom>
              <a:avLst/>
              <a:gdLst>
                <a:gd name="T0" fmla="*/ 10080913 w 11"/>
                <a:gd name="T1" fmla="*/ 0 h 9"/>
                <a:gd name="T2" fmla="*/ 22682848 w 11"/>
                <a:gd name="T3" fmla="*/ 0 h 9"/>
                <a:gd name="T4" fmla="*/ 27723309 w 11"/>
                <a:gd name="T5" fmla="*/ 5040488 h 9"/>
                <a:gd name="T6" fmla="*/ 27723309 w 11"/>
                <a:gd name="T7" fmla="*/ 17642504 h 9"/>
                <a:gd name="T8" fmla="*/ 22682848 w 11"/>
                <a:gd name="T9" fmla="*/ 22682990 h 9"/>
                <a:gd name="T10" fmla="*/ 10080913 w 11"/>
                <a:gd name="T11" fmla="*/ 22682990 h 9"/>
                <a:gd name="T12" fmla="*/ 0 w 11"/>
                <a:gd name="T13" fmla="*/ 12602014 h 9"/>
                <a:gd name="T14" fmla="*/ 0 w 11"/>
                <a:gd name="T15" fmla="*/ 10080977 h 9"/>
                <a:gd name="T16" fmla="*/ 10080913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72" name="Freeform 1832"/>
            <p:cNvSpPr>
              <a:spLocks/>
            </p:cNvSpPr>
            <p:nvPr/>
          </p:nvSpPr>
          <p:spPr bwMode="auto">
            <a:xfrm>
              <a:off x="3884613" y="1873251"/>
              <a:ext cx="17463" cy="14288"/>
            </a:xfrm>
            <a:custGeom>
              <a:avLst/>
              <a:gdLst>
                <a:gd name="T0" fmla="*/ 5040457 w 11"/>
                <a:gd name="T1" fmla="*/ 0 h 9"/>
                <a:gd name="T2" fmla="*/ 17642393 w 11"/>
                <a:gd name="T3" fmla="*/ 0 h 9"/>
                <a:gd name="T4" fmla="*/ 27723309 w 11"/>
                <a:gd name="T5" fmla="*/ 10080977 h 9"/>
                <a:gd name="T6" fmla="*/ 27723309 w 11"/>
                <a:gd name="T7" fmla="*/ 12602014 h 9"/>
                <a:gd name="T8" fmla="*/ 17642393 w 11"/>
                <a:gd name="T9" fmla="*/ 22682990 h 9"/>
                <a:gd name="T10" fmla="*/ 5040457 w 11"/>
                <a:gd name="T11" fmla="*/ 22682990 h 9"/>
                <a:gd name="T12" fmla="*/ 0 w 11"/>
                <a:gd name="T13" fmla="*/ 17642504 h 9"/>
                <a:gd name="T14" fmla="*/ 0 w 11"/>
                <a:gd name="T15" fmla="*/ 5040488 h 9"/>
                <a:gd name="T16" fmla="*/ 5040457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3" name="Freeform 1833"/>
            <p:cNvSpPr>
              <a:spLocks/>
            </p:cNvSpPr>
            <p:nvPr/>
          </p:nvSpPr>
          <p:spPr bwMode="auto">
            <a:xfrm>
              <a:off x="3932238"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756152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4" name="Freeform 1834"/>
            <p:cNvSpPr>
              <a:spLocks/>
            </p:cNvSpPr>
            <p:nvPr/>
          </p:nvSpPr>
          <p:spPr bwMode="auto">
            <a:xfrm>
              <a:off x="3957638" y="1873251"/>
              <a:ext cx="12700" cy="14288"/>
            </a:xfrm>
            <a:custGeom>
              <a:avLst/>
              <a:gdLst>
                <a:gd name="T0" fmla="*/ 2520950 w 8"/>
                <a:gd name="T1" fmla="*/ 0 h 9"/>
                <a:gd name="T2" fmla="*/ 17640298 w 8"/>
                <a:gd name="T3" fmla="*/ 0 h 9"/>
                <a:gd name="T4" fmla="*/ 20161247 w 8"/>
                <a:gd name="T5" fmla="*/ 5040488 h 9"/>
                <a:gd name="T6" fmla="*/ 20161247 w 8"/>
                <a:gd name="T7" fmla="*/ 12602014 h 9"/>
                <a:gd name="T8" fmla="*/ 12599985 w 8"/>
                <a:gd name="T9" fmla="*/ 22682990 h 9"/>
                <a:gd name="T10" fmla="*/ 2520950 w 8"/>
                <a:gd name="T11" fmla="*/ 22682990 h 9"/>
                <a:gd name="T12" fmla="*/ 0 w 8"/>
                <a:gd name="T13" fmla="*/ 17642504 h 9"/>
                <a:gd name="T14" fmla="*/ 0 w 8"/>
                <a:gd name="T15" fmla="*/ 5040488 h 9"/>
                <a:gd name="T16" fmla="*/ 2520950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75" name="Freeform 1835"/>
            <p:cNvSpPr>
              <a:spLocks/>
            </p:cNvSpPr>
            <p:nvPr/>
          </p:nvSpPr>
          <p:spPr bwMode="auto">
            <a:xfrm>
              <a:off x="4022725"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5121466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6" name="Freeform 1836"/>
            <p:cNvSpPr>
              <a:spLocks/>
            </p:cNvSpPr>
            <p:nvPr/>
          </p:nvSpPr>
          <p:spPr bwMode="auto">
            <a:xfrm>
              <a:off x="5578475" y="1873251"/>
              <a:ext cx="15875" cy="14288"/>
            </a:xfrm>
            <a:custGeom>
              <a:avLst/>
              <a:gdLst>
                <a:gd name="T0" fmla="*/ 7559675 w 10"/>
                <a:gd name="T1" fmla="*/ 0 h 9"/>
                <a:gd name="T2" fmla="*/ 20161249 w 10"/>
                <a:gd name="T3" fmla="*/ 0 h 9"/>
                <a:gd name="T4" fmla="*/ 25201559 w 10"/>
                <a:gd name="T5" fmla="*/ 5040488 h 9"/>
                <a:gd name="T6" fmla="*/ 25201559 w 10"/>
                <a:gd name="T7" fmla="*/ 17642504 h 9"/>
                <a:gd name="T8" fmla="*/ 20161249 w 10"/>
                <a:gd name="T9" fmla="*/ 22682990 h 9"/>
                <a:gd name="T10" fmla="*/ 7559675 w 10"/>
                <a:gd name="T11" fmla="*/ 22682990 h 9"/>
                <a:gd name="T12" fmla="*/ 0 w 10"/>
                <a:gd name="T13" fmla="*/ 12602014 h 9"/>
                <a:gd name="T14" fmla="*/ 0 w 10"/>
                <a:gd name="T15" fmla="*/ 10080977 h 9"/>
                <a:gd name="T16" fmla="*/ 7559675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77" name="Freeform 1837"/>
            <p:cNvSpPr>
              <a:spLocks/>
            </p:cNvSpPr>
            <p:nvPr/>
          </p:nvSpPr>
          <p:spPr bwMode="auto">
            <a:xfrm>
              <a:off x="5589588" y="1873251"/>
              <a:ext cx="15875" cy="14288"/>
            </a:xfrm>
            <a:custGeom>
              <a:avLst/>
              <a:gdLst>
                <a:gd name="T0" fmla="*/ 2520950 w 10"/>
                <a:gd name="T1" fmla="*/ 0 h 9"/>
                <a:gd name="T2" fmla="*/ 17640299 w 10"/>
                <a:gd name="T3" fmla="*/ 0 h 9"/>
                <a:gd name="T4" fmla="*/ 25201559 w 10"/>
                <a:gd name="T5" fmla="*/ 10080977 h 9"/>
                <a:gd name="T6" fmla="*/ 25201559 w 10"/>
                <a:gd name="T7" fmla="*/ 12602014 h 9"/>
                <a:gd name="T8" fmla="*/ 17640299 w 10"/>
                <a:gd name="T9" fmla="*/ 22682990 h 9"/>
                <a:gd name="T10" fmla="*/ 2520950 w 10"/>
                <a:gd name="T11" fmla="*/ 22682990 h 9"/>
                <a:gd name="T12" fmla="*/ 0 w 10"/>
                <a:gd name="T13" fmla="*/ 17642504 h 9"/>
                <a:gd name="T14" fmla="*/ 0 w 10"/>
                <a:gd name="T15" fmla="*/ 5040488 h 9"/>
                <a:gd name="T16" fmla="*/ 2520950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78" name="Freeform 1838"/>
            <p:cNvSpPr>
              <a:spLocks/>
            </p:cNvSpPr>
            <p:nvPr/>
          </p:nvSpPr>
          <p:spPr bwMode="auto">
            <a:xfrm>
              <a:off x="5600700" y="1873251"/>
              <a:ext cx="12700" cy="14288"/>
            </a:xfrm>
            <a:custGeom>
              <a:avLst/>
              <a:gdLst>
                <a:gd name="T0" fmla="*/ 2520950 w 8"/>
                <a:gd name="T1" fmla="*/ 0 h 9"/>
                <a:gd name="T2" fmla="*/ 17640298 w 8"/>
                <a:gd name="T3" fmla="*/ 0 h 9"/>
                <a:gd name="T4" fmla="*/ 20161247 w 8"/>
                <a:gd name="T5" fmla="*/ 5040488 h 9"/>
                <a:gd name="T6" fmla="*/ 20161247 w 8"/>
                <a:gd name="T7" fmla="*/ 12602014 h 9"/>
                <a:gd name="T8" fmla="*/ 12599985 w 8"/>
                <a:gd name="T9" fmla="*/ 22682990 h 9"/>
                <a:gd name="T10" fmla="*/ 2520950 w 8"/>
                <a:gd name="T11" fmla="*/ 22682990 h 9"/>
                <a:gd name="T12" fmla="*/ 0 w 8"/>
                <a:gd name="T13" fmla="*/ 17642504 h 9"/>
                <a:gd name="T14" fmla="*/ 0 w 8"/>
                <a:gd name="T15" fmla="*/ 5040488 h 9"/>
                <a:gd name="T16" fmla="*/ 2520950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79" name="Freeform 1839"/>
            <p:cNvSpPr>
              <a:spLocks/>
            </p:cNvSpPr>
            <p:nvPr/>
          </p:nvSpPr>
          <p:spPr bwMode="auto">
            <a:xfrm>
              <a:off x="5649913"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2602014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0" name="Freeform 1840"/>
            <p:cNvSpPr>
              <a:spLocks/>
            </p:cNvSpPr>
            <p:nvPr/>
          </p:nvSpPr>
          <p:spPr bwMode="auto">
            <a:xfrm>
              <a:off x="6646863" y="1873251"/>
              <a:ext cx="17463" cy="14288"/>
            </a:xfrm>
            <a:custGeom>
              <a:avLst/>
              <a:gdLst>
                <a:gd name="T0" fmla="*/ 10080913 w 11"/>
                <a:gd name="T1" fmla="*/ 0 h 9"/>
                <a:gd name="T2" fmla="*/ 22682848 w 11"/>
                <a:gd name="T3" fmla="*/ 0 h 9"/>
                <a:gd name="T4" fmla="*/ 27723309 w 11"/>
                <a:gd name="T5" fmla="*/ 5040488 h 9"/>
                <a:gd name="T6" fmla="*/ 27723309 w 11"/>
                <a:gd name="T7" fmla="*/ 17642504 h 9"/>
                <a:gd name="T8" fmla="*/ 22682848 w 11"/>
                <a:gd name="T9" fmla="*/ 22682990 h 9"/>
                <a:gd name="T10" fmla="*/ 10080913 w 11"/>
                <a:gd name="T11" fmla="*/ 22682990 h 9"/>
                <a:gd name="T12" fmla="*/ 0 w 11"/>
                <a:gd name="T13" fmla="*/ 12602014 h 9"/>
                <a:gd name="T14" fmla="*/ 0 w 11"/>
                <a:gd name="T15" fmla="*/ 10080977 h 9"/>
                <a:gd name="T16" fmla="*/ 10080913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81" name="Freeform 1841"/>
            <p:cNvSpPr>
              <a:spLocks/>
            </p:cNvSpPr>
            <p:nvPr/>
          </p:nvSpPr>
          <p:spPr bwMode="auto">
            <a:xfrm>
              <a:off x="6678613" y="1873251"/>
              <a:ext cx="12700" cy="14288"/>
            </a:xfrm>
            <a:custGeom>
              <a:avLst/>
              <a:gdLst>
                <a:gd name="T0" fmla="*/ 2520950 w 8"/>
                <a:gd name="T1" fmla="*/ 0 h 9"/>
                <a:gd name="T2" fmla="*/ 17640298 w 8"/>
                <a:gd name="T3" fmla="*/ 0 h 9"/>
                <a:gd name="T4" fmla="*/ 20161247 w 8"/>
                <a:gd name="T5" fmla="*/ 5040488 h 9"/>
                <a:gd name="T6" fmla="*/ 20161247 w 8"/>
                <a:gd name="T7" fmla="*/ 17642504 h 9"/>
                <a:gd name="T8" fmla="*/ 17640298 w 8"/>
                <a:gd name="T9" fmla="*/ 22682990 h 9"/>
                <a:gd name="T10" fmla="*/ 7559674 w 8"/>
                <a:gd name="T11" fmla="*/ 22682990 h 9"/>
                <a:gd name="T12" fmla="*/ 0 w 8"/>
                <a:gd name="T13" fmla="*/ 12602014 h 9"/>
                <a:gd name="T14" fmla="*/ 0 w 8"/>
                <a:gd name="T15" fmla="*/ 5040488 h 9"/>
                <a:gd name="T16" fmla="*/ 2520950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82" name="Freeform 1842"/>
            <p:cNvSpPr>
              <a:spLocks/>
            </p:cNvSpPr>
            <p:nvPr/>
          </p:nvSpPr>
          <p:spPr bwMode="auto">
            <a:xfrm>
              <a:off x="6742113"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756152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3" name="Freeform 1843"/>
            <p:cNvSpPr>
              <a:spLocks/>
            </p:cNvSpPr>
            <p:nvPr/>
          </p:nvSpPr>
          <p:spPr bwMode="auto">
            <a:xfrm>
              <a:off x="6777038"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1008097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4" name="Freeform 1844"/>
            <p:cNvSpPr>
              <a:spLocks/>
            </p:cNvSpPr>
            <p:nvPr/>
          </p:nvSpPr>
          <p:spPr bwMode="auto">
            <a:xfrm>
              <a:off x="7010400"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2602014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5" name="Freeform 1845"/>
            <p:cNvSpPr>
              <a:spLocks/>
            </p:cNvSpPr>
            <p:nvPr/>
          </p:nvSpPr>
          <p:spPr bwMode="auto">
            <a:xfrm>
              <a:off x="7046913"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756152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6" name="Freeform 1846"/>
            <p:cNvSpPr>
              <a:spLocks/>
            </p:cNvSpPr>
            <p:nvPr/>
          </p:nvSpPr>
          <p:spPr bwMode="auto">
            <a:xfrm>
              <a:off x="7062788"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5121466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7" name="Freeform 1847"/>
            <p:cNvSpPr>
              <a:spLocks/>
            </p:cNvSpPr>
            <p:nvPr/>
          </p:nvSpPr>
          <p:spPr bwMode="auto">
            <a:xfrm>
              <a:off x="7077075" y="1873251"/>
              <a:ext cx="15875" cy="14288"/>
            </a:xfrm>
            <a:custGeom>
              <a:avLst/>
              <a:gdLst>
                <a:gd name="T0" fmla="*/ 5040312 w 10"/>
                <a:gd name="T1" fmla="*/ 0 h 9"/>
                <a:gd name="T2" fmla="*/ 22682198 w 10"/>
                <a:gd name="T3" fmla="*/ 0 h 9"/>
                <a:gd name="T4" fmla="*/ 25201559 w 10"/>
                <a:gd name="T5" fmla="*/ 5040488 h 9"/>
                <a:gd name="T6" fmla="*/ 25201559 w 10"/>
                <a:gd name="T7" fmla="*/ 17642504 h 9"/>
                <a:gd name="T8" fmla="*/ 22682198 w 10"/>
                <a:gd name="T9" fmla="*/ 22682990 h 9"/>
                <a:gd name="T10" fmla="*/ 5040312 w 10"/>
                <a:gd name="T11" fmla="*/ 22682990 h 9"/>
                <a:gd name="T12" fmla="*/ 0 w 10"/>
                <a:gd name="T13" fmla="*/ 17642504 h 9"/>
                <a:gd name="T14" fmla="*/ 0 w 10"/>
                <a:gd name="T15" fmla="*/ 5040488 h 9"/>
                <a:gd name="T16" fmla="*/ 504031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8" name="Freeform 1848"/>
            <p:cNvSpPr>
              <a:spLocks/>
            </p:cNvSpPr>
            <p:nvPr/>
          </p:nvSpPr>
          <p:spPr bwMode="auto">
            <a:xfrm>
              <a:off x="7102475" y="1873251"/>
              <a:ext cx="15875" cy="14288"/>
            </a:xfrm>
            <a:custGeom>
              <a:avLst/>
              <a:gdLst>
                <a:gd name="T0" fmla="*/ 2520950 w 10"/>
                <a:gd name="T1" fmla="*/ 0 h 9"/>
                <a:gd name="T2" fmla="*/ 17640299 w 10"/>
                <a:gd name="T3" fmla="*/ 0 h 9"/>
                <a:gd name="T4" fmla="*/ 25201559 w 10"/>
                <a:gd name="T5" fmla="*/ 10080977 h 9"/>
                <a:gd name="T6" fmla="*/ 25201559 w 10"/>
                <a:gd name="T7" fmla="*/ 12602014 h 9"/>
                <a:gd name="T8" fmla="*/ 17640299 w 10"/>
                <a:gd name="T9" fmla="*/ 22682990 h 9"/>
                <a:gd name="T10" fmla="*/ 2520950 w 10"/>
                <a:gd name="T11" fmla="*/ 22682990 h 9"/>
                <a:gd name="T12" fmla="*/ 0 w 10"/>
                <a:gd name="T13" fmla="*/ 17642504 h 9"/>
                <a:gd name="T14" fmla="*/ 0 w 10"/>
                <a:gd name="T15" fmla="*/ 5040488 h 9"/>
                <a:gd name="T16" fmla="*/ 2520950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89" name="Freeform 1849"/>
            <p:cNvSpPr>
              <a:spLocks/>
            </p:cNvSpPr>
            <p:nvPr/>
          </p:nvSpPr>
          <p:spPr bwMode="auto">
            <a:xfrm>
              <a:off x="7151688"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2602014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0" name="Freeform 1850"/>
            <p:cNvSpPr>
              <a:spLocks/>
            </p:cNvSpPr>
            <p:nvPr/>
          </p:nvSpPr>
          <p:spPr bwMode="auto">
            <a:xfrm>
              <a:off x="7177088" y="1873251"/>
              <a:ext cx="15875" cy="14288"/>
            </a:xfrm>
            <a:custGeom>
              <a:avLst/>
              <a:gdLst>
                <a:gd name="T0" fmla="*/ 5040312 w 10"/>
                <a:gd name="T1" fmla="*/ 0 h 9"/>
                <a:gd name="T2" fmla="*/ 17640299 w 10"/>
                <a:gd name="T3" fmla="*/ 0 h 9"/>
                <a:gd name="T4" fmla="*/ 25201559 w 10"/>
                <a:gd name="T5" fmla="*/ 10080977 h 9"/>
                <a:gd name="T6" fmla="*/ 25201559 w 10"/>
                <a:gd name="T7" fmla="*/ 12602014 h 9"/>
                <a:gd name="T8" fmla="*/ 17640299 w 10"/>
                <a:gd name="T9" fmla="*/ 22682990 h 9"/>
                <a:gd name="T10" fmla="*/ 5040312 w 10"/>
                <a:gd name="T11" fmla="*/ 22682990 h 9"/>
                <a:gd name="T12" fmla="*/ 0 w 10"/>
                <a:gd name="T13" fmla="*/ 17642504 h 9"/>
                <a:gd name="T14" fmla="*/ 0 w 10"/>
                <a:gd name="T15" fmla="*/ 5040488 h 9"/>
                <a:gd name="T16" fmla="*/ 504031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grpSp>
      <p:pic>
        <p:nvPicPr>
          <p:cNvPr id="1041" name="Picture 4607" descr="pr.tif"/>
          <p:cNvPicPr>
            <a:picLocks noChangeAspect="1"/>
          </p:cNvPicPr>
          <p:nvPr/>
        </p:nvPicPr>
        <p:blipFill>
          <a:blip r:embed="rId11" cstate="print"/>
          <a:srcRect/>
          <a:stretch>
            <a:fillRect/>
          </a:stretch>
        </p:blipFill>
        <p:spPr bwMode="auto">
          <a:xfrm>
            <a:off x="1042988" y="2852738"/>
            <a:ext cx="1614487" cy="1208087"/>
          </a:xfrm>
          <a:prstGeom prst="rect">
            <a:avLst/>
          </a:prstGeom>
          <a:noFill/>
          <a:ln w="9525">
            <a:noFill/>
            <a:miter lim="800000"/>
            <a:headEnd/>
            <a:tailEnd/>
          </a:ln>
        </p:spPr>
      </p:pic>
      <p:graphicFrame>
        <p:nvGraphicFramePr>
          <p:cNvPr id="1029" name="Object 1934"/>
          <p:cNvGraphicFramePr>
            <a:graphicFrameLocks noChangeAspect="1"/>
          </p:cNvGraphicFramePr>
          <p:nvPr/>
        </p:nvGraphicFramePr>
        <p:xfrm>
          <a:off x="1979613" y="2924175"/>
          <a:ext cx="701675" cy="430213"/>
        </p:xfrm>
        <a:graphic>
          <a:graphicData uri="http://schemas.openxmlformats.org/presentationml/2006/ole">
            <mc:AlternateContent xmlns:mc="http://schemas.openxmlformats.org/markup-compatibility/2006">
              <mc:Choice xmlns:v="urn:schemas-microsoft-com:vml" Requires="v">
                <p:oleObj name="Equazione" r:id="rId12" imgW="330057" imgH="203112" progId="Equation.3">
                  <p:embed/>
                </p:oleObj>
              </mc:Choice>
              <mc:Fallback>
                <p:oleObj name="Equazione" r:id="rId12" imgW="330057" imgH="203112" progId="Equation.3">
                  <p:embed/>
                  <p:pic>
                    <p:nvPicPr>
                      <p:cNvPr id="1029" name="Object 19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79613" y="2924175"/>
                        <a:ext cx="701675"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042" name="Straight Connector 2048"/>
          <p:cNvCxnSpPr>
            <a:cxnSpLocks noChangeShapeType="1"/>
          </p:cNvCxnSpPr>
          <p:nvPr/>
        </p:nvCxnSpPr>
        <p:spPr bwMode="auto">
          <a:xfrm>
            <a:off x="7956550" y="4868863"/>
            <a:ext cx="900113" cy="0"/>
          </a:xfrm>
          <a:prstGeom prst="line">
            <a:avLst/>
          </a:prstGeom>
          <a:noFill/>
          <a:ln w="19050" algn="ctr">
            <a:solidFill>
              <a:schemeClr val="tx1"/>
            </a:solidFill>
            <a:round/>
            <a:headEnd/>
            <a:tailEnd/>
          </a:ln>
        </p:spPr>
      </p:cxnSp>
      <p:sp>
        <p:nvSpPr>
          <p:cNvPr id="1043" name="Text Box 77"/>
          <p:cNvSpPr txBox="1">
            <a:spLocks noChangeArrowheads="1"/>
          </p:cNvSpPr>
          <p:nvPr/>
        </p:nvSpPr>
        <p:spPr bwMode="auto">
          <a:xfrm>
            <a:off x="6986588" y="4652963"/>
            <a:ext cx="825500" cy="369887"/>
          </a:xfrm>
          <a:prstGeom prst="rect">
            <a:avLst/>
          </a:prstGeom>
          <a:noFill/>
          <a:ln w="9525">
            <a:noFill/>
            <a:miter lim="800000"/>
            <a:headEnd/>
            <a:tailEnd/>
          </a:ln>
        </p:spPr>
        <p:txBody>
          <a:bodyPr>
            <a:spAutoFit/>
          </a:bodyPr>
          <a:lstStyle/>
          <a:p>
            <a:pPr>
              <a:spcBef>
                <a:spcPct val="50000"/>
              </a:spcBef>
            </a:pPr>
            <a:r>
              <a:rPr lang="en-US"/>
              <a:t>s</a:t>
            </a:r>
            <a:r>
              <a:rPr lang="en-US" baseline="-25000"/>
              <a:t>B</a:t>
            </a:r>
            <a:endParaRPr lang="en-US"/>
          </a:p>
        </p:txBody>
      </p:sp>
      <p:sp>
        <p:nvSpPr>
          <p:cNvPr id="1044" name="Text Box 77"/>
          <p:cNvSpPr txBox="1">
            <a:spLocks noChangeArrowheads="1"/>
          </p:cNvSpPr>
          <p:nvPr/>
        </p:nvSpPr>
        <p:spPr bwMode="auto">
          <a:xfrm>
            <a:off x="8027988" y="4891088"/>
            <a:ext cx="1008062" cy="338137"/>
          </a:xfrm>
          <a:prstGeom prst="rect">
            <a:avLst/>
          </a:prstGeom>
          <a:noFill/>
          <a:ln w="9525">
            <a:noFill/>
            <a:miter lim="800000"/>
            <a:headEnd/>
            <a:tailEnd/>
          </a:ln>
        </p:spPr>
        <p:txBody>
          <a:bodyPr>
            <a:spAutoFit/>
          </a:bodyPr>
          <a:lstStyle/>
          <a:p>
            <a:pPr>
              <a:spcBef>
                <a:spcPct val="50000"/>
              </a:spcBef>
            </a:pPr>
            <a:r>
              <a:rPr lang="en-US" sz="1600"/>
              <a:t>1 sec</a:t>
            </a:r>
          </a:p>
        </p:txBody>
      </p:sp>
      <p:sp>
        <p:nvSpPr>
          <p:cNvPr id="2052" name="TextBox 2051"/>
          <p:cNvSpPr txBox="1"/>
          <p:nvPr/>
        </p:nvSpPr>
        <p:spPr>
          <a:xfrm>
            <a:off x="2699793" y="2204864"/>
            <a:ext cx="461665" cy="1728192"/>
          </a:xfrm>
          <a:prstGeom prst="rect">
            <a:avLst/>
          </a:prstGeom>
          <a:noFill/>
        </p:spPr>
        <p:txBody>
          <a:bodyPr vert="vert270">
            <a:spAutoFit/>
          </a:bodyPr>
          <a:lstStyle/>
          <a:p>
            <a:pPr fontAlgn="auto">
              <a:spcBef>
                <a:spcPts val="0"/>
              </a:spcBef>
              <a:spcAft>
                <a:spcPts val="0"/>
              </a:spcAft>
              <a:defRPr/>
            </a:pPr>
            <a:r>
              <a:rPr lang="en-US" dirty="0">
                <a:latin typeface="Arial Black" pitchFamily="34" charset="0"/>
              </a:rPr>
              <a:t>Trials</a:t>
            </a:r>
          </a:p>
        </p:txBody>
      </p:sp>
      <p:pic>
        <p:nvPicPr>
          <p:cNvPr id="2049" name="Picture 2"/>
          <p:cNvPicPr>
            <a:picLocks noChangeAspect="1" noChangeArrowheads="1"/>
          </p:cNvPicPr>
          <p:nvPr/>
        </p:nvPicPr>
        <p:blipFill>
          <a:blip r:embed="rId14">
            <a:extLst>
              <a:ext uri="{28A0092B-C50C-407E-A947-70E740481C1C}">
                <a14:useLocalDpi xmlns:a14="http://schemas.microsoft.com/office/drawing/2010/main" val="0"/>
              </a:ext>
            </a:extLst>
          </a:blip>
          <a:srcRect l="36358" t="2824" r="58331" b="90117"/>
          <a:stretch>
            <a:fillRect/>
          </a:stretch>
        </p:blipFill>
        <p:spPr bwMode="auto">
          <a:xfrm>
            <a:off x="4572000" y="5000636"/>
            <a:ext cx="1200144" cy="150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p:cNvPicPr>
            <a:picLocks noChangeAspect="1" noChangeArrowheads="1"/>
          </p:cNvPicPr>
          <p:nvPr/>
        </p:nvPicPr>
        <p:blipFill>
          <a:blip r:embed="rId14">
            <a:extLst>
              <a:ext uri="{28A0092B-C50C-407E-A947-70E740481C1C}">
                <a14:useLocalDpi xmlns:a14="http://schemas.microsoft.com/office/drawing/2010/main" val="0"/>
              </a:ext>
            </a:extLst>
          </a:blip>
          <a:srcRect l="10464" t="24002" r="80905" b="68939"/>
          <a:stretch>
            <a:fillRect/>
          </a:stretch>
        </p:blipFill>
        <p:spPr bwMode="auto">
          <a:xfrm>
            <a:off x="6050830" y="5000636"/>
            <a:ext cx="1950194" cy="150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8545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ctrTitle"/>
          </p:nvPr>
        </p:nvSpPr>
        <p:spPr>
          <a:xfrm>
            <a:off x="539750" y="80962"/>
            <a:ext cx="8299450" cy="1595438"/>
          </a:xfrm>
        </p:spPr>
        <p:txBody>
          <a:bodyPr/>
          <a:lstStyle/>
          <a:p>
            <a:r>
              <a:rPr lang="en-GB" sz="4000" b="1" dirty="0">
                <a:solidFill>
                  <a:srgbClr val="FF0000"/>
                </a:solidFill>
                <a:latin typeface="Arial" charset="0"/>
                <a:cs typeface="Arial" charset="0"/>
              </a:rPr>
              <a:t> Decoding</a:t>
            </a:r>
            <a:endParaRPr lang="en-US" sz="4000" b="1" dirty="0">
              <a:solidFill>
                <a:srgbClr val="FF0000"/>
              </a:solidFill>
              <a:latin typeface="Arial" charset="0"/>
              <a:cs typeface="Arial" charset="0"/>
            </a:endParaRPr>
          </a:p>
        </p:txBody>
      </p:sp>
      <p:pic>
        <p:nvPicPr>
          <p:cNvPr id="542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989" b="11966"/>
          <a:stretch/>
        </p:blipFill>
        <p:spPr bwMode="auto">
          <a:xfrm>
            <a:off x="152400" y="2286000"/>
            <a:ext cx="8839200" cy="3731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278249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ctrTitle"/>
          </p:nvPr>
        </p:nvSpPr>
        <p:spPr>
          <a:xfrm>
            <a:off x="539750" y="80962"/>
            <a:ext cx="8299450" cy="1595438"/>
          </a:xfrm>
        </p:spPr>
        <p:txBody>
          <a:bodyPr/>
          <a:lstStyle/>
          <a:p>
            <a:r>
              <a:rPr lang="en-GB" sz="4000" b="1" dirty="0">
                <a:solidFill>
                  <a:srgbClr val="FF0000"/>
                </a:solidFill>
                <a:latin typeface="Arial" charset="0"/>
                <a:cs typeface="Arial" charset="0"/>
              </a:rPr>
              <a:t> Decoding</a:t>
            </a:r>
            <a:endParaRPr lang="en-US" sz="4000" b="1" dirty="0">
              <a:solidFill>
                <a:srgbClr val="FF0000"/>
              </a:solidFill>
              <a:latin typeface="Arial" charset="0"/>
              <a:cs typeface="Arial" charset="0"/>
            </a:endParaRPr>
          </a:p>
        </p:txBody>
      </p:sp>
      <p:pic>
        <p:nvPicPr>
          <p:cNvPr id="542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989" b="11966"/>
          <a:stretch/>
        </p:blipFill>
        <p:spPr bwMode="auto">
          <a:xfrm>
            <a:off x="152400" y="2286000"/>
            <a:ext cx="8839200" cy="3731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Ovale 1">
            <a:extLst>
              <a:ext uri="{FF2B5EF4-FFF2-40B4-BE49-F238E27FC236}">
                <a16:creationId xmlns:a16="http://schemas.microsoft.com/office/drawing/2014/main" id="{3D7540CE-8417-4882-AF5F-F6FB8E01F83F}"/>
              </a:ext>
            </a:extLst>
          </p:cNvPr>
          <p:cNvSpPr/>
          <p:nvPr/>
        </p:nvSpPr>
        <p:spPr>
          <a:xfrm>
            <a:off x="611560" y="2060848"/>
            <a:ext cx="8299450" cy="3859724"/>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marL="457200" indent="-457200" algn="ctr">
              <a:buAutoNum type="arabicParenR"/>
            </a:pPr>
            <a:r>
              <a:rPr lang="it-IT" sz="2400" b="1" dirty="0" err="1"/>
              <a:t>This</a:t>
            </a:r>
            <a:r>
              <a:rPr lang="it-IT" sz="2400" b="1" dirty="0"/>
              <a:t> </a:t>
            </a:r>
            <a:r>
              <a:rPr lang="it-IT" sz="2400" b="1" dirty="0" err="1"/>
              <a:t>is</a:t>
            </a:r>
            <a:r>
              <a:rPr lang="it-IT" sz="2400" b="1" dirty="0"/>
              <a:t> </a:t>
            </a:r>
            <a:r>
              <a:rPr lang="it-IT" sz="2400" b="1" dirty="0" err="1"/>
              <a:t>not</a:t>
            </a:r>
            <a:r>
              <a:rPr lang="it-IT" sz="2400" b="1" dirty="0"/>
              <a:t> a </a:t>
            </a:r>
            <a:r>
              <a:rPr lang="it-IT" sz="2400" b="1" dirty="0" err="1"/>
              <a:t>course</a:t>
            </a:r>
            <a:r>
              <a:rPr lang="it-IT" sz="2400" b="1" dirty="0"/>
              <a:t> </a:t>
            </a:r>
            <a:r>
              <a:rPr lang="it-IT" sz="2400" b="1" dirty="0" err="1"/>
              <a:t>about</a:t>
            </a:r>
            <a:r>
              <a:rPr lang="it-IT" sz="2400" b="1" dirty="0"/>
              <a:t> </a:t>
            </a:r>
            <a:r>
              <a:rPr lang="it-IT" sz="2400" b="1" dirty="0" err="1"/>
              <a:t>decoding</a:t>
            </a:r>
            <a:endParaRPr lang="it-IT" sz="2400" b="1" dirty="0"/>
          </a:p>
          <a:p>
            <a:pPr marL="457200" indent="-457200" algn="ctr">
              <a:buAutoNum type="arabicParenR"/>
            </a:pPr>
            <a:r>
              <a:rPr lang="it-IT" sz="2400" b="1" dirty="0"/>
              <a:t>Do </a:t>
            </a:r>
            <a:r>
              <a:rPr lang="it-IT" sz="2400" b="1" dirty="0" err="1"/>
              <a:t>not</a:t>
            </a:r>
            <a:r>
              <a:rPr lang="it-IT" sz="2400" b="1" dirty="0"/>
              <a:t> </a:t>
            </a:r>
            <a:r>
              <a:rPr lang="it-IT" sz="2400" b="1" dirty="0" err="1"/>
              <a:t>confound</a:t>
            </a:r>
            <a:r>
              <a:rPr lang="it-IT" sz="2400" b="1" dirty="0"/>
              <a:t> </a:t>
            </a:r>
            <a:r>
              <a:rPr lang="it-IT" sz="2400" b="1" dirty="0" err="1"/>
              <a:t>decoding</a:t>
            </a:r>
            <a:r>
              <a:rPr lang="it-IT" sz="2400" b="1" dirty="0"/>
              <a:t> tools with the </a:t>
            </a:r>
            <a:r>
              <a:rPr lang="it-IT" sz="2400" b="1" dirty="0" err="1"/>
              <a:t>decoding</a:t>
            </a:r>
            <a:r>
              <a:rPr lang="it-IT" sz="2400" b="1" dirty="0"/>
              <a:t> </a:t>
            </a:r>
            <a:r>
              <a:rPr lang="it-IT" sz="2400" b="1" dirty="0" err="1"/>
              <a:t>approach</a:t>
            </a:r>
            <a:r>
              <a:rPr lang="it-IT" sz="2400" b="1" dirty="0"/>
              <a:t> to BMI</a:t>
            </a:r>
          </a:p>
          <a:p>
            <a:pPr algn="ctr"/>
            <a:endParaRPr lang="it-IT" sz="2400" b="1" dirty="0"/>
          </a:p>
          <a:p>
            <a:pPr algn="ctr"/>
            <a:r>
              <a:rPr lang="it-IT" sz="2400" b="1" dirty="0" err="1"/>
              <a:t>Decoding</a:t>
            </a:r>
            <a:r>
              <a:rPr lang="it-IT" sz="2400" b="1" dirty="0"/>
              <a:t> </a:t>
            </a:r>
            <a:r>
              <a:rPr lang="it-IT" sz="2400" dirty="0"/>
              <a:t>(from brain to machine)-&gt; to </a:t>
            </a:r>
            <a:r>
              <a:rPr lang="it-IT" sz="2400" dirty="0" err="1"/>
              <a:t>understand</a:t>
            </a:r>
            <a:r>
              <a:rPr lang="it-IT" sz="2400" dirty="0"/>
              <a:t> </a:t>
            </a:r>
            <a:r>
              <a:rPr lang="it-IT" sz="2400" dirty="0" err="1"/>
              <a:t>motor</a:t>
            </a:r>
            <a:r>
              <a:rPr lang="it-IT" sz="2400" dirty="0"/>
              <a:t> </a:t>
            </a:r>
            <a:r>
              <a:rPr lang="it-IT" sz="2400" dirty="0" err="1"/>
              <a:t>intentions</a:t>
            </a:r>
            <a:r>
              <a:rPr lang="it-IT" sz="2400" dirty="0"/>
              <a:t>, or a </a:t>
            </a:r>
            <a:r>
              <a:rPr lang="it-IT" sz="2400" dirty="0" err="1"/>
              <a:t>biomarker</a:t>
            </a:r>
            <a:r>
              <a:rPr lang="it-IT" sz="2400" dirty="0"/>
              <a:t> of a </a:t>
            </a:r>
            <a:r>
              <a:rPr lang="it-IT" sz="2400" dirty="0" err="1"/>
              <a:t>pathological</a:t>
            </a:r>
            <a:r>
              <a:rPr lang="it-IT" sz="2400" dirty="0"/>
              <a:t> </a:t>
            </a:r>
            <a:r>
              <a:rPr lang="it-IT" sz="2400" dirty="0" err="1"/>
              <a:t>symptom</a:t>
            </a:r>
            <a:r>
              <a:rPr lang="it-IT" sz="2400" dirty="0"/>
              <a:t>…..</a:t>
            </a:r>
          </a:p>
        </p:txBody>
      </p:sp>
    </p:spTree>
    <p:extLst>
      <p:ext uri="{BB962C8B-B14F-4D97-AF65-F5344CB8AC3E}">
        <p14:creationId xmlns:p14="http://schemas.microsoft.com/office/powerpoint/2010/main" val="65952224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CasellaDiTesto 4"/>
          <p:cNvSpPr txBox="1">
            <a:spLocks noChangeArrowheads="1"/>
          </p:cNvSpPr>
          <p:nvPr/>
        </p:nvSpPr>
        <p:spPr bwMode="auto">
          <a:xfrm>
            <a:off x="500063" y="152400"/>
            <a:ext cx="8001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dirty="0">
                <a:solidFill>
                  <a:srgbClr val="FF0000"/>
                </a:solidFill>
                <a:latin typeface="Arial" charset="0"/>
                <a:cs typeface="Arial" charset="0"/>
              </a:rPr>
              <a:t>Decoding algorithm from one-dimensional response using Bayes rule</a:t>
            </a:r>
            <a:endParaRPr lang="en-US" sz="3200" dirty="0">
              <a:latin typeface="Arial" charset="0"/>
              <a:cs typeface="Arial" charset="0"/>
            </a:endParaRPr>
          </a:p>
        </p:txBody>
      </p:sp>
      <p:graphicFrame>
        <p:nvGraphicFramePr>
          <p:cNvPr id="6146" name="Object 3"/>
          <p:cNvGraphicFramePr>
            <a:graphicFrameLocks noChangeAspect="1"/>
          </p:cNvGraphicFramePr>
          <p:nvPr/>
        </p:nvGraphicFramePr>
        <p:xfrm>
          <a:off x="1524000" y="4038600"/>
          <a:ext cx="5805487" cy="1040869"/>
        </p:xfrm>
        <a:graphic>
          <a:graphicData uri="http://schemas.openxmlformats.org/presentationml/2006/ole">
            <mc:AlternateContent xmlns:mc="http://schemas.openxmlformats.org/markup-compatibility/2006">
              <mc:Choice xmlns:v="urn:schemas-microsoft-com:vml" Requires="v">
                <p:oleObj name="Equation" r:id="rId2" imgW="1307532" imgH="317362" progId="">
                  <p:embed/>
                </p:oleObj>
              </mc:Choice>
              <mc:Fallback>
                <p:oleObj name="Equation" r:id="rId2" imgW="1307532" imgH="317362" progId="">
                  <p:embed/>
                  <p:pic>
                    <p:nvPicPr>
                      <p:cNvPr id="614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038600"/>
                        <a:ext cx="5805487" cy="1040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4"/>
          <p:cNvGraphicFramePr>
            <a:graphicFrameLocks noChangeAspect="1"/>
          </p:cNvGraphicFramePr>
          <p:nvPr/>
        </p:nvGraphicFramePr>
        <p:xfrm>
          <a:off x="990600" y="1219200"/>
          <a:ext cx="6034087" cy="1269393"/>
        </p:xfrm>
        <a:graphic>
          <a:graphicData uri="http://schemas.openxmlformats.org/presentationml/2006/ole">
            <mc:AlternateContent xmlns:mc="http://schemas.openxmlformats.org/markup-compatibility/2006">
              <mc:Choice xmlns:v="urn:schemas-microsoft-com:vml" Requires="v">
                <p:oleObj name="Equation" r:id="rId4" imgW="1473200" imgH="419100" progId="">
                  <p:embed/>
                </p:oleObj>
              </mc:Choice>
              <mc:Fallback>
                <p:oleObj name="Equation" r:id="rId4" imgW="1473200" imgH="419100" progId="">
                  <p:embed/>
                  <p:pic>
                    <p:nvPicPr>
                      <p:cNvPr id="614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219200"/>
                        <a:ext cx="6034087" cy="12693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CasellaDiTesto 4"/>
          <p:cNvSpPr txBox="1">
            <a:spLocks noChangeArrowheads="1"/>
          </p:cNvSpPr>
          <p:nvPr/>
        </p:nvSpPr>
        <p:spPr bwMode="auto">
          <a:xfrm>
            <a:off x="214313" y="2667000"/>
            <a:ext cx="8572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latin typeface="Arial" charset="0"/>
                <a:cs typeface="Arial" charset="0"/>
              </a:rPr>
              <a:t>To predict the stimulus s’ that generated a given response r, we can choose the stimulus that maximizes the posterior probability of have caused r</a:t>
            </a:r>
          </a:p>
        </p:txBody>
      </p:sp>
      <p:pic>
        <p:nvPicPr>
          <p:cNvPr id="17464"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5333543"/>
            <a:ext cx="219075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89581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CasellaDiTesto 4"/>
          <p:cNvSpPr txBox="1">
            <a:spLocks noChangeArrowheads="1"/>
          </p:cNvSpPr>
          <p:nvPr/>
        </p:nvSpPr>
        <p:spPr bwMode="auto">
          <a:xfrm>
            <a:off x="500063" y="152400"/>
            <a:ext cx="8001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dirty="0">
                <a:solidFill>
                  <a:srgbClr val="FF0000"/>
                </a:solidFill>
                <a:latin typeface="Arial" charset="0"/>
                <a:cs typeface="Arial" charset="0"/>
              </a:rPr>
              <a:t>Decoding algorithm from one-dimensional response using Bayes rule</a:t>
            </a:r>
            <a:endParaRPr lang="en-US" sz="3200" dirty="0">
              <a:latin typeface="Arial" charset="0"/>
              <a:cs typeface="Arial" charset="0"/>
            </a:endParaRPr>
          </a:p>
        </p:txBody>
      </p:sp>
      <p:graphicFrame>
        <p:nvGraphicFramePr>
          <p:cNvPr id="6146" name="Object 3"/>
          <p:cNvGraphicFramePr>
            <a:graphicFrameLocks noChangeAspect="1"/>
          </p:cNvGraphicFramePr>
          <p:nvPr/>
        </p:nvGraphicFramePr>
        <p:xfrm>
          <a:off x="1524000" y="4038600"/>
          <a:ext cx="5805487" cy="1040869"/>
        </p:xfrm>
        <a:graphic>
          <a:graphicData uri="http://schemas.openxmlformats.org/presentationml/2006/ole">
            <mc:AlternateContent xmlns:mc="http://schemas.openxmlformats.org/markup-compatibility/2006">
              <mc:Choice xmlns:v="urn:schemas-microsoft-com:vml" Requires="v">
                <p:oleObj name="Equation" r:id="rId2" imgW="1307532" imgH="317362" progId="">
                  <p:embed/>
                </p:oleObj>
              </mc:Choice>
              <mc:Fallback>
                <p:oleObj name="Equation" r:id="rId2" imgW="1307532" imgH="317362" progId="">
                  <p:embed/>
                  <p:pic>
                    <p:nvPicPr>
                      <p:cNvPr id="614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038600"/>
                        <a:ext cx="5805487" cy="1040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4"/>
          <p:cNvGraphicFramePr>
            <a:graphicFrameLocks noChangeAspect="1"/>
          </p:cNvGraphicFramePr>
          <p:nvPr/>
        </p:nvGraphicFramePr>
        <p:xfrm>
          <a:off x="990600" y="1219200"/>
          <a:ext cx="6034087" cy="1269393"/>
        </p:xfrm>
        <a:graphic>
          <a:graphicData uri="http://schemas.openxmlformats.org/presentationml/2006/ole">
            <mc:AlternateContent xmlns:mc="http://schemas.openxmlformats.org/markup-compatibility/2006">
              <mc:Choice xmlns:v="urn:schemas-microsoft-com:vml" Requires="v">
                <p:oleObj name="Equation" r:id="rId4" imgW="1473200" imgH="419100" progId="">
                  <p:embed/>
                </p:oleObj>
              </mc:Choice>
              <mc:Fallback>
                <p:oleObj name="Equation" r:id="rId4" imgW="1473200" imgH="419100" progId="">
                  <p:embed/>
                  <p:pic>
                    <p:nvPicPr>
                      <p:cNvPr id="614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219200"/>
                        <a:ext cx="6034087" cy="12693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CasellaDiTesto 4"/>
          <p:cNvSpPr txBox="1">
            <a:spLocks noChangeArrowheads="1"/>
          </p:cNvSpPr>
          <p:nvPr/>
        </p:nvSpPr>
        <p:spPr bwMode="auto">
          <a:xfrm>
            <a:off x="214313" y="2667000"/>
            <a:ext cx="8572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latin typeface="Arial" charset="0"/>
                <a:cs typeface="Arial" charset="0"/>
              </a:rPr>
              <a:t>To predict the stimulus s’ that generated a given response r, we can choose the stimulus that maximizes the posterior probability of have caused r</a:t>
            </a:r>
          </a:p>
        </p:txBody>
      </p:sp>
      <p:pic>
        <p:nvPicPr>
          <p:cNvPr id="17464"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5333543"/>
            <a:ext cx="219075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allout 1 6"/>
          <p:cNvSpPr/>
          <p:nvPr/>
        </p:nvSpPr>
        <p:spPr>
          <a:xfrm>
            <a:off x="785786" y="2143116"/>
            <a:ext cx="2428892" cy="428628"/>
          </a:xfrm>
          <a:prstGeom prst="borderCallout1">
            <a:avLst>
              <a:gd name="adj1" fmla="val 42958"/>
              <a:gd name="adj2" fmla="val 106049"/>
              <a:gd name="adj3" fmla="val -86458"/>
              <a:gd name="adj4" fmla="val 1407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t>Expectation</a:t>
            </a:r>
            <a:r>
              <a:rPr lang="it-IT" dirty="0"/>
              <a:t> /Design</a:t>
            </a:r>
          </a:p>
        </p:txBody>
      </p:sp>
      <p:sp>
        <p:nvSpPr>
          <p:cNvPr id="8" name="Callout 1 7"/>
          <p:cNvSpPr/>
          <p:nvPr/>
        </p:nvSpPr>
        <p:spPr>
          <a:xfrm>
            <a:off x="6286512" y="2143116"/>
            <a:ext cx="2428892" cy="428628"/>
          </a:xfrm>
          <a:prstGeom prst="borderCallout1">
            <a:avLst>
              <a:gd name="adj1" fmla="val 49767"/>
              <a:gd name="adj2" fmla="val 1519"/>
              <a:gd name="adj3" fmla="val 13399"/>
              <a:gd name="adj4" fmla="val -126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t>Statistics</a:t>
            </a:r>
            <a:r>
              <a:rPr lang="it-IT" dirty="0"/>
              <a:t> (easy)</a:t>
            </a:r>
          </a:p>
        </p:txBody>
      </p:sp>
      <p:sp>
        <p:nvSpPr>
          <p:cNvPr id="9" name="Callout 1 8"/>
          <p:cNvSpPr/>
          <p:nvPr/>
        </p:nvSpPr>
        <p:spPr>
          <a:xfrm>
            <a:off x="7215206" y="1285860"/>
            <a:ext cx="1643074" cy="642942"/>
          </a:xfrm>
          <a:prstGeom prst="borderCallout1">
            <a:avLst>
              <a:gd name="adj1" fmla="val 49767"/>
              <a:gd name="adj2" fmla="val 1519"/>
              <a:gd name="adj3" fmla="val 39120"/>
              <a:gd name="adj4" fmla="val -191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t>Statistics</a:t>
            </a:r>
            <a:r>
              <a:rPr lang="it-IT" dirty="0"/>
              <a:t> </a:t>
            </a:r>
          </a:p>
          <a:p>
            <a:pPr algn="ctr"/>
            <a:r>
              <a:rPr lang="it-IT" dirty="0"/>
              <a:t>(</a:t>
            </a:r>
            <a:r>
              <a:rPr lang="it-IT" dirty="0" err="1"/>
              <a:t>difficult</a:t>
            </a:r>
            <a:r>
              <a:rPr lang="it-IT" dirty="0"/>
              <a:t>)</a:t>
            </a:r>
          </a:p>
        </p:txBody>
      </p:sp>
    </p:spTree>
    <p:extLst>
      <p:ext uri="{BB962C8B-B14F-4D97-AF65-F5344CB8AC3E}">
        <p14:creationId xmlns:p14="http://schemas.microsoft.com/office/powerpoint/2010/main" val="10855515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CasellaDiTesto 4"/>
          <p:cNvSpPr txBox="1">
            <a:spLocks noChangeArrowheads="1"/>
          </p:cNvSpPr>
          <p:nvPr/>
        </p:nvSpPr>
        <p:spPr bwMode="auto">
          <a:xfrm>
            <a:off x="500063" y="152400"/>
            <a:ext cx="8001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dirty="0">
                <a:solidFill>
                  <a:srgbClr val="FF0000"/>
                </a:solidFill>
                <a:latin typeface="Arial" charset="0"/>
                <a:cs typeface="Arial" charset="0"/>
              </a:rPr>
              <a:t>Decoding algorithm from one-dimensional response using Bayes rule</a:t>
            </a:r>
            <a:endParaRPr lang="en-US" sz="3200" dirty="0">
              <a:latin typeface="Arial" charset="0"/>
              <a:cs typeface="Arial" charset="0"/>
            </a:endParaRPr>
          </a:p>
        </p:txBody>
      </p:sp>
      <p:graphicFrame>
        <p:nvGraphicFramePr>
          <p:cNvPr id="6146" name="Object 3"/>
          <p:cNvGraphicFramePr>
            <a:graphicFrameLocks noChangeAspect="1"/>
          </p:cNvGraphicFramePr>
          <p:nvPr/>
        </p:nvGraphicFramePr>
        <p:xfrm>
          <a:off x="1524000" y="4038600"/>
          <a:ext cx="5805487" cy="1040869"/>
        </p:xfrm>
        <a:graphic>
          <a:graphicData uri="http://schemas.openxmlformats.org/presentationml/2006/ole">
            <mc:AlternateContent xmlns:mc="http://schemas.openxmlformats.org/markup-compatibility/2006">
              <mc:Choice xmlns:v="urn:schemas-microsoft-com:vml" Requires="v">
                <p:oleObj name="Equation" r:id="rId2" imgW="1307532" imgH="317362" progId="">
                  <p:embed/>
                </p:oleObj>
              </mc:Choice>
              <mc:Fallback>
                <p:oleObj name="Equation" r:id="rId2" imgW="1307532" imgH="317362" progId="">
                  <p:embed/>
                  <p:pic>
                    <p:nvPicPr>
                      <p:cNvPr id="614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038600"/>
                        <a:ext cx="5805487" cy="1040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4"/>
          <p:cNvGraphicFramePr>
            <a:graphicFrameLocks noChangeAspect="1"/>
          </p:cNvGraphicFramePr>
          <p:nvPr/>
        </p:nvGraphicFramePr>
        <p:xfrm>
          <a:off x="990600" y="1219200"/>
          <a:ext cx="6034087" cy="1269393"/>
        </p:xfrm>
        <a:graphic>
          <a:graphicData uri="http://schemas.openxmlformats.org/presentationml/2006/ole">
            <mc:AlternateContent xmlns:mc="http://schemas.openxmlformats.org/markup-compatibility/2006">
              <mc:Choice xmlns:v="urn:schemas-microsoft-com:vml" Requires="v">
                <p:oleObj name="Equation" r:id="rId4" imgW="1473200" imgH="419100" progId="">
                  <p:embed/>
                </p:oleObj>
              </mc:Choice>
              <mc:Fallback>
                <p:oleObj name="Equation" r:id="rId4" imgW="1473200" imgH="419100" progId="">
                  <p:embed/>
                  <p:pic>
                    <p:nvPicPr>
                      <p:cNvPr id="614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219200"/>
                        <a:ext cx="6034087" cy="12693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CasellaDiTesto 4"/>
          <p:cNvSpPr txBox="1">
            <a:spLocks noChangeArrowheads="1"/>
          </p:cNvSpPr>
          <p:nvPr/>
        </p:nvSpPr>
        <p:spPr bwMode="auto">
          <a:xfrm>
            <a:off x="214313" y="2667000"/>
            <a:ext cx="8572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latin typeface="Arial" charset="0"/>
                <a:cs typeface="Arial" charset="0"/>
              </a:rPr>
              <a:t>To predict the stimulus s’ that generated a given response r, we can choose the stimulus that maximizes the posterior probability of have caused r</a:t>
            </a:r>
          </a:p>
        </p:txBody>
      </p:sp>
      <p:pic>
        <p:nvPicPr>
          <p:cNvPr id="17464"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5333543"/>
            <a:ext cx="219075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allout 1 6"/>
          <p:cNvSpPr/>
          <p:nvPr/>
        </p:nvSpPr>
        <p:spPr>
          <a:xfrm>
            <a:off x="785786" y="2143116"/>
            <a:ext cx="2428892" cy="428628"/>
          </a:xfrm>
          <a:prstGeom prst="borderCallout1">
            <a:avLst>
              <a:gd name="adj1" fmla="val 42958"/>
              <a:gd name="adj2" fmla="val 106049"/>
              <a:gd name="adj3" fmla="val -86458"/>
              <a:gd name="adj4" fmla="val 1407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t>Expectation</a:t>
            </a:r>
            <a:r>
              <a:rPr lang="it-IT" dirty="0"/>
              <a:t> /Design</a:t>
            </a:r>
          </a:p>
        </p:txBody>
      </p:sp>
      <p:sp>
        <p:nvSpPr>
          <p:cNvPr id="8" name="Callout 1 7"/>
          <p:cNvSpPr/>
          <p:nvPr/>
        </p:nvSpPr>
        <p:spPr>
          <a:xfrm>
            <a:off x="6286512" y="2143116"/>
            <a:ext cx="2428892" cy="428628"/>
          </a:xfrm>
          <a:prstGeom prst="borderCallout1">
            <a:avLst>
              <a:gd name="adj1" fmla="val 49767"/>
              <a:gd name="adj2" fmla="val 1519"/>
              <a:gd name="adj3" fmla="val 13399"/>
              <a:gd name="adj4" fmla="val -126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t>Statistics</a:t>
            </a:r>
            <a:r>
              <a:rPr lang="it-IT" dirty="0"/>
              <a:t> (easy)</a:t>
            </a:r>
          </a:p>
        </p:txBody>
      </p:sp>
      <p:sp>
        <p:nvSpPr>
          <p:cNvPr id="9" name="Callout 1 8"/>
          <p:cNvSpPr/>
          <p:nvPr/>
        </p:nvSpPr>
        <p:spPr>
          <a:xfrm>
            <a:off x="7215206" y="1285860"/>
            <a:ext cx="1643074" cy="642942"/>
          </a:xfrm>
          <a:prstGeom prst="borderCallout1">
            <a:avLst>
              <a:gd name="adj1" fmla="val 49767"/>
              <a:gd name="adj2" fmla="val 1519"/>
              <a:gd name="adj3" fmla="val 39120"/>
              <a:gd name="adj4" fmla="val -191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t>Statistics</a:t>
            </a:r>
            <a:r>
              <a:rPr lang="it-IT" dirty="0"/>
              <a:t> </a:t>
            </a:r>
          </a:p>
          <a:p>
            <a:pPr algn="ctr"/>
            <a:r>
              <a:rPr lang="it-IT" dirty="0"/>
              <a:t>(</a:t>
            </a:r>
            <a:r>
              <a:rPr lang="it-IT" dirty="0" err="1"/>
              <a:t>difficult</a:t>
            </a:r>
            <a:r>
              <a:rPr lang="it-IT" dirty="0"/>
              <a:t>)</a:t>
            </a:r>
          </a:p>
        </p:txBody>
      </p:sp>
      <p:sp>
        <p:nvSpPr>
          <p:cNvPr id="2" name="Ovale 1">
            <a:extLst>
              <a:ext uri="{FF2B5EF4-FFF2-40B4-BE49-F238E27FC236}">
                <a16:creationId xmlns:a16="http://schemas.microsoft.com/office/drawing/2014/main" id="{853D99DF-D868-4E22-B570-4D956B898D77}"/>
              </a:ext>
            </a:extLst>
          </p:cNvPr>
          <p:cNvSpPr/>
          <p:nvPr/>
        </p:nvSpPr>
        <p:spPr>
          <a:xfrm>
            <a:off x="1261047" y="1700808"/>
            <a:ext cx="6264696" cy="4219764"/>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t-IT" sz="2400" b="1" dirty="0" err="1"/>
              <a:t>Decoding</a:t>
            </a:r>
            <a:r>
              <a:rPr lang="it-IT" sz="2400" b="1" dirty="0"/>
              <a:t> </a:t>
            </a:r>
            <a:r>
              <a:rPr lang="it-IT" sz="2400" dirty="0" err="1"/>
              <a:t>is</a:t>
            </a:r>
            <a:r>
              <a:rPr lang="it-IT" sz="2400" dirty="0"/>
              <a:t> </a:t>
            </a:r>
            <a:r>
              <a:rPr lang="it-IT" sz="2400" dirty="0" err="1"/>
              <a:t>useful</a:t>
            </a:r>
            <a:r>
              <a:rPr lang="it-IT" sz="2400" dirty="0"/>
              <a:t> to take a </a:t>
            </a:r>
            <a:r>
              <a:rPr lang="it-IT" sz="2400" dirty="0" err="1"/>
              <a:t>decision</a:t>
            </a:r>
            <a:r>
              <a:rPr lang="it-IT" sz="2400" dirty="0"/>
              <a:t> (</a:t>
            </a:r>
            <a:r>
              <a:rPr lang="it-IT" sz="2400" dirty="0" err="1"/>
              <a:t>even</a:t>
            </a:r>
            <a:r>
              <a:rPr lang="it-IT" sz="2400" dirty="0"/>
              <a:t> in </a:t>
            </a:r>
            <a:r>
              <a:rPr lang="it-IT" sz="2400" dirty="0" err="1"/>
              <a:t>suboptimal</a:t>
            </a:r>
            <a:r>
              <a:rPr lang="it-IT" sz="2400" dirty="0"/>
              <a:t> </a:t>
            </a:r>
            <a:r>
              <a:rPr lang="it-IT" sz="2400" dirty="0" err="1"/>
              <a:t>conditions</a:t>
            </a:r>
            <a:r>
              <a:rPr lang="it-IT" sz="2400" dirty="0"/>
              <a:t>)</a:t>
            </a:r>
          </a:p>
          <a:p>
            <a:pPr algn="ctr"/>
            <a:endParaRPr lang="it-IT" sz="2400" dirty="0"/>
          </a:p>
          <a:p>
            <a:pPr algn="ctr"/>
            <a:r>
              <a:rPr lang="it-IT" sz="2400" b="1" dirty="0"/>
              <a:t>Information</a:t>
            </a:r>
            <a:r>
              <a:rPr lang="it-IT" sz="2400" dirty="0"/>
              <a:t> </a:t>
            </a:r>
            <a:r>
              <a:rPr lang="it-IT" sz="2400" dirty="0" err="1"/>
              <a:t>is</a:t>
            </a:r>
            <a:r>
              <a:rPr lang="it-IT" sz="2400" dirty="0"/>
              <a:t> </a:t>
            </a:r>
            <a:r>
              <a:rPr lang="it-IT" sz="2400" dirty="0" err="1"/>
              <a:t>useful</a:t>
            </a:r>
            <a:r>
              <a:rPr lang="it-IT" sz="2400" dirty="0"/>
              <a:t> to </a:t>
            </a:r>
            <a:r>
              <a:rPr lang="it-IT" sz="2400" dirty="0" err="1"/>
              <a:t>have</a:t>
            </a:r>
            <a:r>
              <a:rPr lang="it-IT" sz="2400" dirty="0"/>
              <a:t> a complete </a:t>
            </a:r>
            <a:r>
              <a:rPr lang="it-IT" sz="2400" dirty="0" err="1"/>
              <a:t>description</a:t>
            </a:r>
            <a:r>
              <a:rPr lang="it-IT" sz="2400" dirty="0"/>
              <a:t> of the </a:t>
            </a:r>
            <a:r>
              <a:rPr lang="it-IT" sz="2400" dirty="0" err="1"/>
              <a:t>relationship</a:t>
            </a:r>
            <a:r>
              <a:rPr lang="it-IT" sz="2400" dirty="0"/>
              <a:t> </a:t>
            </a:r>
            <a:r>
              <a:rPr lang="it-IT" sz="2400" dirty="0" err="1"/>
              <a:t>between</a:t>
            </a:r>
            <a:r>
              <a:rPr lang="it-IT" sz="2400" dirty="0"/>
              <a:t> </a:t>
            </a:r>
            <a:r>
              <a:rPr lang="it-IT" sz="2400" dirty="0" err="1"/>
              <a:t>your</a:t>
            </a:r>
            <a:r>
              <a:rPr lang="it-IT" sz="2400" dirty="0"/>
              <a:t> data sets</a:t>
            </a:r>
          </a:p>
        </p:txBody>
      </p:sp>
    </p:spTree>
    <p:extLst>
      <p:ext uri="{BB962C8B-B14F-4D97-AF65-F5344CB8AC3E}">
        <p14:creationId xmlns:p14="http://schemas.microsoft.com/office/powerpoint/2010/main" val="3000359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CasellaDiTesto 4"/>
          <p:cNvSpPr txBox="1">
            <a:spLocks noChangeArrowheads="1"/>
          </p:cNvSpPr>
          <p:nvPr/>
        </p:nvSpPr>
        <p:spPr bwMode="auto">
          <a:xfrm>
            <a:off x="500063" y="152400"/>
            <a:ext cx="8001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dirty="0">
                <a:solidFill>
                  <a:srgbClr val="FF0000"/>
                </a:solidFill>
                <a:latin typeface="Arial" charset="0"/>
                <a:cs typeface="Arial" charset="0"/>
              </a:rPr>
              <a:t>Decoding algorithm from one-dimensional response using Bayes rule</a:t>
            </a:r>
            <a:endParaRPr lang="en-US" sz="3200" dirty="0">
              <a:latin typeface="Arial" charset="0"/>
              <a:cs typeface="Arial" charset="0"/>
            </a:endParaRPr>
          </a:p>
        </p:txBody>
      </p:sp>
      <p:graphicFrame>
        <p:nvGraphicFramePr>
          <p:cNvPr id="6146" name="Object 3"/>
          <p:cNvGraphicFramePr>
            <a:graphicFrameLocks noChangeAspect="1"/>
          </p:cNvGraphicFramePr>
          <p:nvPr/>
        </p:nvGraphicFramePr>
        <p:xfrm>
          <a:off x="1524000" y="4038600"/>
          <a:ext cx="5805487" cy="1040869"/>
        </p:xfrm>
        <a:graphic>
          <a:graphicData uri="http://schemas.openxmlformats.org/presentationml/2006/ole">
            <mc:AlternateContent xmlns:mc="http://schemas.openxmlformats.org/markup-compatibility/2006">
              <mc:Choice xmlns:v="urn:schemas-microsoft-com:vml" Requires="v">
                <p:oleObj name="Equation" r:id="rId2" imgW="1307532" imgH="317362" progId="">
                  <p:embed/>
                </p:oleObj>
              </mc:Choice>
              <mc:Fallback>
                <p:oleObj name="Equation" r:id="rId2" imgW="1307532" imgH="317362" progId="">
                  <p:embed/>
                  <p:pic>
                    <p:nvPicPr>
                      <p:cNvPr id="614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038600"/>
                        <a:ext cx="5805487" cy="1040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4"/>
          <p:cNvGraphicFramePr>
            <a:graphicFrameLocks noChangeAspect="1"/>
          </p:cNvGraphicFramePr>
          <p:nvPr/>
        </p:nvGraphicFramePr>
        <p:xfrm>
          <a:off x="990600" y="1219200"/>
          <a:ext cx="6034087" cy="1269393"/>
        </p:xfrm>
        <a:graphic>
          <a:graphicData uri="http://schemas.openxmlformats.org/presentationml/2006/ole">
            <mc:AlternateContent xmlns:mc="http://schemas.openxmlformats.org/markup-compatibility/2006">
              <mc:Choice xmlns:v="urn:schemas-microsoft-com:vml" Requires="v">
                <p:oleObj name="Equation" r:id="rId4" imgW="1473200" imgH="419100" progId="">
                  <p:embed/>
                </p:oleObj>
              </mc:Choice>
              <mc:Fallback>
                <p:oleObj name="Equation" r:id="rId4" imgW="1473200" imgH="419100" progId="">
                  <p:embed/>
                  <p:pic>
                    <p:nvPicPr>
                      <p:cNvPr id="614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219200"/>
                        <a:ext cx="6034087" cy="12693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CasellaDiTesto 4"/>
          <p:cNvSpPr txBox="1">
            <a:spLocks noChangeArrowheads="1"/>
          </p:cNvSpPr>
          <p:nvPr/>
        </p:nvSpPr>
        <p:spPr bwMode="auto">
          <a:xfrm>
            <a:off x="214313" y="2667000"/>
            <a:ext cx="8572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latin typeface="Arial" charset="0"/>
                <a:cs typeface="Arial" charset="0"/>
              </a:rPr>
              <a:t>To predict the stimulus s’ that generated a given response r, we can choose the stimulus that maximizes the posterior probability of have caused r</a:t>
            </a:r>
          </a:p>
        </p:txBody>
      </p:sp>
      <p:pic>
        <p:nvPicPr>
          <p:cNvPr id="17464"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5333543"/>
            <a:ext cx="219075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allout 1 6"/>
          <p:cNvSpPr/>
          <p:nvPr/>
        </p:nvSpPr>
        <p:spPr>
          <a:xfrm>
            <a:off x="785786" y="2143116"/>
            <a:ext cx="2428892" cy="428628"/>
          </a:xfrm>
          <a:prstGeom prst="borderCallout1">
            <a:avLst>
              <a:gd name="adj1" fmla="val 42958"/>
              <a:gd name="adj2" fmla="val 106049"/>
              <a:gd name="adj3" fmla="val -86458"/>
              <a:gd name="adj4" fmla="val 1407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t>Expectation</a:t>
            </a:r>
            <a:r>
              <a:rPr lang="it-IT" dirty="0"/>
              <a:t> /Design</a:t>
            </a:r>
          </a:p>
        </p:txBody>
      </p:sp>
      <p:sp>
        <p:nvSpPr>
          <p:cNvPr id="8" name="Callout 1 7"/>
          <p:cNvSpPr/>
          <p:nvPr/>
        </p:nvSpPr>
        <p:spPr>
          <a:xfrm>
            <a:off x="6286512" y="2143116"/>
            <a:ext cx="2428892" cy="428628"/>
          </a:xfrm>
          <a:prstGeom prst="borderCallout1">
            <a:avLst>
              <a:gd name="adj1" fmla="val 49767"/>
              <a:gd name="adj2" fmla="val 1519"/>
              <a:gd name="adj3" fmla="val 13399"/>
              <a:gd name="adj4" fmla="val -126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t>Statistics</a:t>
            </a:r>
            <a:r>
              <a:rPr lang="it-IT" dirty="0"/>
              <a:t> (easy)</a:t>
            </a:r>
          </a:p>
        </p:txBody>
      </p:sp>
      <p:sp>
        <p:nvSpPr>
          <p:cNvPr id="9" name="Callout 1 8"/>
          <p:cNvSpPr/>
          <p:nvPr/>
        </p:nvSpPr>
        <p:spPr>
          <a:xfrm>
            <a:off x="7215206" y="1285860"/>
            <a:ext cx="1643074" cy="642942"/>
          </a:xfrm>
          <a:prstGeom prst="borderCallout1">
            <a:avLst>
              <a:gd name="adj1" fmla="val 49767"/>
              <a:gd name="adj2" fmla="val 1519"/>
              <a:gd name="adj3" fmla="val 39120"/>
              <a:gd name="adj4" fmla="val -191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t>Statistics</a:t>
            </a:r>
            <a:r>
              <a:rPr lang="it-IT" dirty="0"/>
              <a:t> </a:t>
            </a:r>
          </a:p>
          <a:p>
            <a:pPr algn="ctr"/>
            <a:r>
              <a:rPr lang="it-IT" dirty="0"/>
              <a:t>(</a:t>
            </a:r>
            <a:r>
              <a:rPr lang="it-IT" dirty="0" err="1"/>
              <a:t>difficult</a:t>
            </a:r>
            <a:r>
              <a:rPr lang="it-IT" dirty="0"/>
              <a:t>)</a:t>
            </a:r>
          </a:p>
        </p:txBody>
      </p:sp>
      <p:sp>
        <p:nvSpPr>
          <p:cNvPr id="2" name="Ovale 1">
            <a:extLst>
              <a:ext uri="{FF2B5EF4-FFF2-40B4-BE49-F238E27FC236}">
                <a16:creationId xmlns:a16="http://schemas.microsoft.com/office/drawing/2014/main" id="{853D99DF-D868-4E22-B570-4D956B898D77}"/>
              </a:ext>
            </a:extLst>
          </p:cNvPr>
          <p:cNvSpPr/>
          <p:nvPr/>
        </p:nvSpPr>
        <p:spPr>
          <a:xfrm>
            <a:off x="1268418" y="2211335"/>
            <a:ext cx="6264696" cy="243533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t-IT" sz="2400" b="1" dirty="0"/>
              <a:t>Information</a:t>
            </a:r>
            <a:r>
              <a:rPr lang="it-IT" sz="2400" dirty="0"/>
              <a:t> </a:t>
            </a:r>
            <a:r>
              <a:rPr lang="it-IT" sz="2400" dirty="0" err="1"/>
              <a:t>analysis</a:t>
            </a:r>
            <a:r>
              <a:rPr lang="it-IT" sz="2400" dirty="0"/>
              <a:t> first</a:t>
            </a:r>
          </a:p>
          <a:p>
            <a:pPr algn="ctr"/>
            <a:endParaRPr lang="it-IT" sz="2400" b="1" dirty="0"/>
          </a:p>
          <a:p>
            <a:pPr algn="ctr"/>
            <a:r>
              <a:rPr lang="it-IT" sz="2400" b="1" dirty="0" err="1"/>
              <a:t>Decoding</a:t>
            </a:r>
            <a:r>
              <a:rPr lang="it-IT" sz="2400" b="1" dirty="0"/>
              <a:t> </a:t>
            </a:r>
            <a:r>
              <a:rPr lang="it-IT" sz="2400" dirty="0"/>
              <a:t>to </a:t>
            </a:r>
            <a:r>
              <a:rPr lang="it-IT" sz="2400" dirty="0" err="1"/>
              <a:t>finalize</a:t>
            </a:r>
            <a:endParaRPr lang="it-IT" sz="2400" dirty="0"/>
          </a:p>
        </p:txBody>
      </p:sp>
    </p:spTree>
    <p:extLst>
      <p:ext uri="{BB962C8B-B14F-4D97-AF65-F5344CB8AC3E}">
        <p14:creationId xmlns:p14="http://schemas.microsoft.com/office/powerpoint/2010/main" val="39296843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l="9229" t="5208" b="1047"/>
          <a:stretch>
            <a:fillRect/>
          </a:stretch>
        </p:blipFill>
        <p:spPr bwMode="auto">
          <a:xfrm>
            <a:off x="142875" y="0"/>
            <a:ext cx="4214813"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15"/>
          <p:cNvSpPr txBox="1">
            <a:spLocks noChangeArrowheads="1"/>
          </p:cNvSpPr>
          <p:nvPr/>
        </p:nvSpPr>
        <p:spPr bwMode="auto">
          <a:xfrm>
            <a:off x="6080125" y="6164263"/>
            <a:ext cx="1809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600"/>
              <a:t>Stimulus predicted</a:t>
            </a:r>
            <a:endParaRPr lang="en-US" sz="1600"/>
          </a:p>
        </p:txBody>
      </p:sp>
      <p:sp>
        <p:nvSpPr>
          <p:cNvPr id="5125" name="Text Box 16"/>
          <p:cNvSpPr txBox="1">
            <a:spLocks noChangeArrowheads="1"/>
          </p:cNvSpPr>
          <p:nvPr/>
        </p:nvSpPr>
        <p:spPr bwMode="auto">
          <a:xfrm rot="-5400000">
            <a:off x="4125119" y="4431507"/>
            <a:ext cx="19446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600" dirty="0"/>
              <a:t>Stimulus  presented</a:t>
            </a:r>
            <a:endParaRPr lang="en-US" sz="1600" dirty="0"/>
          </a:p>
        </p:txBody>
      </p:sp>
      <p:sp>
        <p:nvSpPr>
          <p:cNvPr id="5126" name="Line 34"/>
          <p:cNvSpPr>
            <a:spLocks noChangeShapeType="1"/>
          </p:cNvSpPr>
          <p:nvPr/>
        </p:nvSpPr>
        <p:spPr bwMode="auto">
          <a:xfrm>
            <a:off x="4572000" y="1143000"/>
            <a:ext cx="0" cy="48958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it-IT"/>
          </a:p>
        </p:txBody>
      </p:sp>
      <p:pic>
        <p:nvPicPr>
          <p:cNvPr id="5127" name="Picture 3"/>
          <p:cNvPicPr>
            <a:picLocks noChangeAspect="1" noChangeArrowheads="1"/>
          </p:cNvPicPr>
          <p:nvPr/>
        </p:nvPicPr>
        <p:blipFill>
          <a:blip r:embed="rId3">
            <a:extLst>
              <a:ext uri="{28A0092B-C50C-407E-A947-70E740481C1C}">
                <a14:useLocalDpi xmlns:a14="http://schemas.microsoft.com/office/drawing/2010/main" val="0"/>
              </a:ext>
            </a:extLst>
          </a:blip>
          <a:srcRect l="7027" b="10715"/>
          <a:stretch>
            <a:fillRect/>
          </a:stretch>
        </p:blipFill>
        <p:spPr bwMode="auto">
          <a:xfrm>
            <a:off x="5429250" y="2706688"/>
            <a:ext cx="371475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22" name="Object 2"/>
          <p:cNvGraphicFramePr>
            <a:graphicFrameLocks noChangeAspect="1"/>
          </p:cNvGraphicFramePr>
          <p:nvPr/>
        </p:nvGraphicFramePr>
        <p:xfrm>
          <a:off x="4605338" y="928688"/>
          <a:ext cx="4467225" cy="1651000"/>
        </p:xfrm>
        <a:graphic>
          <a:graphicData uri="http://schemas.openxmlformats.org/presentationml/2006/ole">
            <mc:AlternateContent xmlns:mc="http://schemas.openxmlformats.org/markup-compatibility/2006">
              <mc:Choice xmlns:v="urn:schemas-microsoft-com:vml" Requires="v">
                <p:oleObj name="Equation" r:id="rId4" imgW="761669" imgH="380835" progId="">
                  <p:embed/>
                </p:oleObj>
              </mc:Choice>
              <mc:Fallback>
                <p:oleObj name="Equation" r:id="rId4" imgW="761669" imgH="380835" progId="">
                  <p:embed/>
                  <p:pic>
                    <p:nvPicPr>
                      <p:cNvPr id="512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5338" y="928688"/>
                        <a:ext cx="4467225" cy="165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8" name="AutoShape 32"/>
          <p:cNvSpPr>
            <a:spLocks noChangeArrowheads="1"/>
          </p:cNvSpPr>
          <p:nvPr/>
        </p:nvSpPr>
        <p:spPr bwMode="auto">
          <a:xfrm rot="173191">
            <a:off x="3932238" y="5668963"/>
            <a:ext cx="1331912" cy="198437"/>
          </a:xfrm>
          <a:prstGeom prst="rightArrow">
            <a:avLst>
              <a:gd name="adj1" fmla="val 50000"/>
              <a:gd name="adj2" fmla="val 167800"/>
            </a:avLst>
          </a:prstGeom>
          <a:solidFill>
            <a:schemeClr val="tx1"/>
          </a:solidFill>
          <a:ln w="9525">
            <a:solidFill>
              <a:schemeClr val="bg2"/>
            </a:solidFill>
            <a:miter lim="800000"/>
            <a:headEnd/>
            <a:tailEnd/>
          </a:ln>
        </p:spPr>
        <p:txBody>
          <a:bodyPr wrap="none" anchor="ctr"/>
          <a:lstStyle/>
          <a:p>
            <a:endParaRPr lang="it-IT"/>
          </a:p>
        </p:txBody>
      </p:sp>
      <p:sp>
        <p:nvSpPr>
          <p:cNvPr id="5130" name="CasellaDiTesto 10"/>
          <p:cNvSpPr txBox="1">
            <a:spLocks noChangeArrowheads="1"/>
          </p:cNvSpPr>
          <p:nvPr/>
        </p:nvSpPr>
        <p:spPr bwMode="auto">
          <a:xfrm>
            <a:off x="5265738" y="0"/>
            <a:ext cx="387826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3200" dirty="0">
                <a:solidFill>
                  <a:srgbClr val="FF0000"/>
                </a:solidFill>
                <a:latin typeface="Arial" charset="0"/>
                <a:cs typeface="Arial" charset="0"/>
              </a:rPr>
              <a:t>Decoding </a:t>
            </a:r>
          </a:p>
          <a:p>
            <a:r>
              <a:rPr lang="en-US" sz="3200" dirty="0">
                <a:solidFill>
                  <a:srgbClr val="FF0000"/>
                </a:solidFill>
                <a:latin typeface="Arial" charset="0"/>
                <a:cs typeface="Arial" charset="0"/>
              </a:rPr>
              <a:t>(two-dimensional)</a:t>
            </a:r>
          </a:p>
        </p:txBody>
      </p:sp>
      <p:sp>
        <p:nvSpPr>
          <p:cNvPr id="2" name="CasellaDiTesto 1">
            <a:extLst>
              <a:ext uri="{FF2B5EF4-FFF2-40B4-BE49-F238E27FC236}">
                <a16:creationId xmlns:a16="http://schemas.microsoft.com/office/drawing/2014/main" id="{315F6ECF-2835-4020-8B16-1B68F0638776}"/>
              </a:ext>
            </a:extLst>
          </p:cNvPr>
          <p:cNvSpPr txBox="1"/>
          <p:nvPr/>
        </p:nvSpPr>
        <p:spPr>
          <a:xfrm>
            <a:off x="251520" y="6381328"/>
            <a:ext cx="4106168" cy="369332"/>
          </a:xfrm>
          <a:prstGeom prst="rect">
            <a:avLst/>
          </a:prstGeom>
          <a:noFill/>
        </p:spPr>
        <p:txBody>
          <a:bodyPr wrap="square" rtlCol="0">
            <a:spAutoFit/>
          </a:bodyPr>
          <a:lstStyle/>
          <a:p>
            <a:r>
              <a:rPr lang="it-IT" dirty="0"/>
              <a:t>Always Quiroga and Panzeri 2009 NRN</a:t>
            </a:r>
          </a:p>
        </p:txBody>
      </p:sp>
      <p:sp>
        <p:nvSpPr>
          <p:cNvPr id="3" name="Rettangolo con angoli arrotondati 2">
            <a:extLst>
              <a:ext uri="{FF2B5EF4-FFF2-40B4-BE49-F238E27FC236}">
                <a16:creationId xmlns:a16="http://schemas.microsoft.com/office/drawing/2014/main" id="{A5740899-CED5-4FE4-998F-DB84F33EE2FE}"/>
              </a:ext>
            </a:extLst>
          </p:cNvPr>
          <p:cNvSpPr/>
          <p:nvPr/>
        </p:nvSpPr>
        <p:spPr>
          <a:xfrm>
            <a:off x="4138786" y="6087198"/>
            <a:ext cx="720080" cy="72008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it-IT" sz="2800" dirty="0"/>
              <a:t>SR</a:t>
            </a:r>
          </a:p>
        </p:txBody>
      </p:sp>
    </p:spTree>
    <p:extLst>
      <p:ext uri="{BB962C8B-B14F-4D97-AF65-F5344CB8AC3E}">
        <p14:creationId xmlns:p14="http://schemas.microsoft.com/office/powerpoint/2010/main" val="817531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1364809"/>
            <a:ext cx="3366000" cy="2520000"/>
          </a:xfrm>
          <a:prstGeom prst="rect">
            <a:avLst/>
          </a:prstGeom>
        </p:spPr>
      </p:pic>
      <p:sp>
        <p:nvSpPr>
          <p:cNvPr id="6148" name="CasellaDiTesto 4"/>
          <p:cNvSpPr txBox="1">
            <a:spLocks noChangeArrowheads="1"/>
          </p:cNvSpPr>
          <p:nvPr/>
        </p:nvSpPr>
        <p:spPr bwMode="auto">
          <a:xfrm>
            <a:off x="500063" y="285750"/>
            <a:ext cx="8001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3200" dirty="0">
                <a:solidFill>
                  <a:srgbClr val="FF0000"/>
                </a:solidFill>
                <a:latin typeface="Arial" charset="0"/>
                <a:cs typeface="Arial" charset="0"/>
              </a:rPr>
              <a:t>Training and test in decoding</a:t>
            </a:r>
            <a:endParaRPr lang="en-US" sz="3200" dirty="0">
              <a:latin typeface="Arial" charset="0"/>
              <a:cs typeface="Arial" charset="0"/>
            </a:endParaRPr>
          </a:p>
        </p:txBody>
      </p:sp>
      <p:sp>
        <p:nvSpPr>
          <p:cNvPr id="2" name="CasellaDiTesto 1"/>
          <p:cNvSpPr txBox="1"/>
          <p:nvPr/>
        </p:nvSpPr>
        <p:spPr>
          <a:xfrm>
            <a:off x="7086600" y="152400"/>
            <a:ext cx="1828800" cy="646331"/>
          </a:xfrm>
          <a:prstGeom prst="rect">
            <a:avLst/>
          </a:prstGeom>
          <a:noFill/>
        </p:spPr>
        <p:txBody>
          <a:bodyPr wrap="square" rtlCol="0">
            <a:spAutoFit/>
          </a:bodyPr>
          <a:lstStyle/>
          <a:p>
            <a:r>
              <a:rPr lang="it-IT" u="sng" dirty="0" err="1"/>
              <a:t>Nothing</a:t>
            </a:r>
            <a:r>
              <a:rPr lang="it-IT" u="sng" dirty="0"/>
              <a:t> to do with </a:t>
            </a:r>
            <a:r>
              <a:rPr lang="it-IT" u="sng" dirty="0" err="1"/>
              <a:t>learning</a:t>
            </a:r>
            <a:r>
              <a:rPr lang="it-IT" u="sng" dirty="0"/>
              <a:t>!!</a:t>
            </a:r>
          </a:p>
        </p:txBody>
      </p:sp>
      <p:pic>
        <p:nvPicPr>
          <p:cNvPr id="4" name="Immagine 3"/>
          <p:cNvPicPr>
            <a:picLocks noChangeAspect="1"/>
          </p:cNvPicPr>
          <p:nvPr/>
        </p:nvPicPr>
        <p:blipFill rotWithShape="1">
          <a:blip r:embed="rId3">
            <a:extLst>
              <a:ext uri="{28A0092B-C50C-407E-A947-70E740481C1C}">
                <a14:useLocalDpi xmlns:a14="http://schemas.microsoft.com/office/drawing/2010/main" val="0"/>
              </a:ext>
            </a:extLst>
          </a:blip>
          <a:srcRect l="7614"/>
          <a:stretch/>
        </p:blipFill>
        <p:spPr>
          <a:xfrm>
            <a:off x="6034309" y="1371600"/>
            <a:ext cx="3109691" cy="2520000"/>
          </a:xfrm>
          <a:prstGeom prst="rect">
            <a:avLst/>
          </a:prstGeom>
        </p:spPr>
      </p:pic>
      <p:pic>
        <p:nvPicPr>
          <p:cNvPr id="5" name="Immagine 4"/>
          <p:cNvPicPr>
            <a:picLocks noChangeAspect="1"/>
          </p:cNvPicPr>
          <p:nvPr/>
        </p:nvPicPr>
        <p:blipFill rotWithShape="1">
          <a:blip r:embed="rId4">
            <a:extLst>
              <a:ext uri="{28A0092B-C50C-407E-A947-70E740481C1C}">
                <a14:useLocalDpi xmlns:a14="http://schemas.microsoft.com/office/drawing/2010/main" val="0"/>
              </a:ext>
            </a:extLst>
          </a:blip>
          <a:srcRect l="6380" r="5949"/>
          <a:stretch/>
        </p:blipFill>
        <p:spPr>
          <a:xfrm>
            <a:off x="96980" y="4021173"/>
            <a:ext cx="2951020" cy="2520000"/>
          </a:xfrm>
          <a:prstGeom prst="rect">
            <a:avLst/>
          </a:prstGeom>
        </p:spPr>
      </p:pic>
      <p:pic>
        <p:nvPicPr>
          <p:cNvPr id="6" name="Immagine 5"/>
          <p:cNvPicPr>
            <a:picLocks noChangeAspect="1"/>
          </p:cNvPicPr>
          <p:nvPr/>
        </p:nvPicPr>
        <p:blipFill rotWithShape="1">
          <a:blip r:embed="rId5">
            <a:extLst>
              <a:ext uri="{28A0092B-C50C-407E-A947-70E740481C1C}">
                <a14:useLocalDpi xmlns:a14="http://schemas.microsoft.com/office/drawing/2010/main" val="0"/>
              </a:ext>
            </a:extLst>
          </a:blip>
          <a:srcRect l="6791"/>
          <a:stretch/>
        </p:blipFill>
        <p:spPr>
          <a:xfrm>
            <a:off x="3034799" y="4038750"/>
            <a:ext cx="3137401" cy="2520000"/>
          </a:xfrm>
          <a:prstGeom prst="rect">
            <a:avLst/>
          </a:prstGeom>
        </p:spPr>
      </p:pic>
      <p:pic>
        <p:nvPicPr>
          <p:cNvPr id="7" name="Immagine 6"/>
          <p:cNvPicPr>
            <a:picLocks noChangeAspect="1"/>
          </p:cNvPicPr>
          <p:nvPr/>
        </p:nvPicPr>
        <p:blipFill rotWithShape="1">
          <a:blip r:embed="rId6">
            <a:extLst>
              <a:ext uri="{28A0092B-C50C-407E-A947-70E740481C1C}">
                <a14:useLocalDpi xmlns:a14="http://schemas.microsoft.com/office/drawing/2010/main" val="0"/>
              </a:ext>
            </a:extLst>
          </a:blip>
          <a:srcRect l="6978" r="7184"/>
          <a:stretch/>
        </p:blipFill>
        <p:spPr>
          <a:xfrm>
            <a:off x="76200" y="1364809"/>
            <a:ext cx="2889327" cy="2520000"/>
          </a:xfrm>
          <a:prstGeom prst="rect">
            <a:avLst/>
          </a:prstGeom>
        </p:spPr>
      </p:pic>
      <p:sp>
        <p:nvSpPr>
          <p:cNvPr id="8" name="CasellaDiTesto 7"/>
          <p:cNvSpPr txBox="1"/>
          <p:nvPr/>
        </p:nvSpPr>
        <p:spPr>
          <a:xfrm>
            <a:off x="6172200" y="4191000"/>
            <a:ext cx="2743200" cy="2308324"/>
          </a:xfrm>
          <a:prstGeom prst="rect">
            <a:avLst/>
          </a:prstGeom>
          <a:noFill/>
        </p:spPr>
        <p:txBody>
          <a:bodyPr wrap="square" rtlCol="0">
            <a:spAutoFit/>
          </a:bodyPr>
          <a:lstStyle/>
          <a:p>
            <a:r>
              <a:rPr lang="it-IT" sz="2400" dirty="0" err="1"/>
              <a:t>Leave</a:t>
            </a:r>
            <a:r>
              <a:rPr lang="it-IT" sz="2400" dirty="0"/>
              <a:t> </a:t>
            </a:r>
            <a:r>
              <a:rPr lang="it-IT" sz="2400" dirty="0" err="1"/>
              <a:t>one</a:t>
            </a:r>
            <a:r>
              <a:rPr lang="it-IT" sz="2400" dirty="0"/>
              <a:t>-out </a:t>
            </a:r>
            <a:r>
              <a:rPr lang="it-IT" sz="2400" dirty="0" err="1"/>
              <a:t>validation</a:t>
            </a:r>
            <a:r>
              <a:rPr lang="it-IT" sz="2400" dirty="0"/>
              <a:t>:</a:t>
            </a:r>
          </a:p>
          <a:p>
            <a:r>
              <a:rPr lang="it-IT" sz="2400" dirty="0" err="1"/>
              <a:t>Consider</a:t>
            </a:r>
            <a:r>
              <a:rPr lang="it-IT" sz="2400" dirty="0"/>
              <a:t> once </a:t>
            </a:r>
            <a:r>
              <a:rPr lang="it-IT" sz="2400" dirty="0" err="1"/>
              <a:t>every</a:t>
            </a:r>
            <a:r>
              <a:rPr lang="it-IT" sz="2400" dirty="0"/>
              <a:t> single trial </a:t>
            </a:r>
            <a:r>
              <a:rPr lang="it-IT" sz="2400" dirty="0" err="1"/>
              <a:t>as</a:t>
            </a:r>
            <a:r>
              <a:rPr lang="it-IT" sz="2400" dirty="0"/>
              <a:t> test and </a:t>
            </a:r>
            <a:r>
              <a:rPr lang="it-IT" sz="2400" dirty="0" err="1"/>
              <a:t>all</a:t>
            </a:r>
            <a:r>
              <a:rPr lang="it-IT" sz="2400" dirty="0"/>
              <a:t> the </a:t>
            </a:r>
            <a:r>
              <a:rPr lang="it-IT" sz="2400" dirty="0" err="1"/>
              <a:t>others</a:t>
            </a:r>
            <a:r>
              <a:rPr lang="it-IT" sz="2400" dirty="0"/>
              <a:t> </a:t>
            </a:r>
            <a:r>
              <a:rPr lang="it-IT" sz="2400" dirty="0" err="1"/>
              <a:t>as</a:t>
            </a:r>
            <a:r>
              <a:rPr lang="it-IT" sz="2400" dirty="0"/>
              <a:t> training </a:t>
            </a:r>
          </a:p>
        </p:txBody>
      </p:sp>
    </p:spTree>
    <p:extLst>
      <p:ext uri="{BB962C8B-B14F-4D97-AF65-F5344CB8AC3E}">
        <p14:creationId xmlns:p14="http://schemas.microsoft.com/office/powerpoint/2010/main" val="176440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asellaDiTesto 4"/>
          <p:cNvSpPr txBox="1">
            <a:spLocks noChangeArrowheads="1"/>
          </p:cNvSpPr>
          <p:nvPr/>
        </p:nvSpPr>
        <p:spPr bwMode="auto">
          <a:xfrm>
            <a:off x="357187" y="152400"/>
            <a:ext cx="85724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dirty="0">
                <a:solidFill>
                  <a:srgbClr val="FF0000"/>
                </a:solidFill>
                <a:latin typeface="Arial" charset="0"/>
                <a:cs typeface="Arial" charset="0"/>
              </a:rPr>
              <a:t>Decoding using clustering algorithms</a:t>
            </a:r>
            <a:endParaRPr lang="en-US" sz="3200" dirty="0">
              <a:latin typeface="Arial" charset="0"/>
              <a:cs typeface="Arial" charset="0"/>
            </a:endParaRPr>
          </a:p>
        </p:txBody>
      </p:sp>
      <p:sp>
        <p:nvSpPr>
          <p:cNvPr id="41987" name="CasellaDiTesto 4"/>
          <p:cNvSpPr txBox="1">
            <a:spLocks noChangeArrowheads="1"/>
          </p:cNvSpPr>
          <p:nvPr/>
        </p:nvSpPr>
        <p:spPr bwMode="auto">
          <a:xfrm>
            <a:off x="357187" y="1066800"/>
            <a:ext cx="84058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latin typeface="Arial" charset="0"/>
                <a:cs typeface="Arial" charset="0"/>
              </a:rPr>
              <a:t>Look to the classification of the k nearest neighbors </a:t>
            </a:r>
          </a:p>
        </p:txBody>
      </p:sp>
      <p:pic>
        <p:nvPicPr>
          <p:cNvPr id="3" name="Immagin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3334"/>
            <a:ext cx="9144000" cy="4194066"/>
          </a:xfrm>
          <a:prstGeom prst="rect">
            <a:avLst/>
          </a:prstGeom>
        </p:spPr>
      </p:pic>
      <p:sp>
        <p:nvSpPr>
          <p:cNvPr id="4" name="CasellaDiTesto 3"/>
          <p:cNvSpPr txBox="1"/>
          <p:nvPr/>
        </p:nvSpPr>
        <p:spPr>
          <a:xfrm>
            <a:off x="1219200" y="5754193"/>
            <a:ext cx="3581400" cy="369332"/>
          </a:xfrm>
          <a:prstGeom prst="rect">
            <a:avLst/>
          </a:prstGeom>
          <a:noFill/>
        </p:spPr>
        <p:txBody>
          <a:bodyPr wrap="square" rtlCol="0">
            <a:spAutoFit/>
          </a:bodyPr>
          <a:lstStyle/>
          <a:p>
            <a:r>
              <a:rPr lang="it-IT" dirty="0" err="1"/>
              <a:t>Sometimes</a:t>
            </a:r>
            <a:r>
              <a:rPr lang="it-IT" dirty="0"/>
              <a:t> </a:t>
            </a:r>
            <a:r>
              <a:rPr lang="it-IT" dirty="0" err="1"/>
              <a:t>it</a:t>
            </a:r>
            <a:r>
              <a:rPr lang="it-IT" dirty="0"/>
              <a:t> </a:t>
            </a:r>
            <a:r>
              <a:rPr lang="it-IT" dirty="0" err="1"/>
              <a:t>works</a:t>
            </a:r>
            <a:endParaRPr lang="it-IT" dirty="0"/>
          </a:p>
        </p:txBody>
      </p:sp>
      <p:sp>
        <p:nvSpPr>
          <p:cNvPr id="9" name="CasellaDiTesto 8"/>
          <p:cNvSpPr txBox="1"/>
          <p:nvPr/>
        </p:nvSpPr>
        <p:spPr>
          <a:xfrm>
            <a:off x="5638800" y="5772604"/>
            <a:ext cx="2819400" cy="369332"/>
          </a:xfrm>
          <a:prstGeom prst="rect">
            <a:avLst/>
          </a:prstGeom>
          <a:noFill/>
        </p:spPr>
        <p:txBody>
          <a:bodyPr wrap="square" rtlCol="0">
            <a:spAutoFit/>
          </a:bodyPr>
          <a:lstStyle/>
          <a:p>
            <a:r>
              <a:rPr lang="it-IT" dirty="0" err="1"/>
              <a:t>Sometimes</a:t>
            </a:r>
            <a:r>
              <a:rPr lang="it-IT" dirty="0"/>
              <a:t> </a:t>
            </a:r>
            <a:r>
              <a:rPr lang="it-IT" dirty="0" err="1"/>
              <a:t>it</a:t>
            </a:r>
            <a:r>
              <a:rPr lang="it-IT" dirty="0"/>
              <a:t> </a:t>
            </a:r>
            <a:r>
              <a:rPr lang="it-IT" dirty="0" err="1"/>
              <a:t>doesn’t</a:t>
            </a:r>
            <a:endParaRPr lang="it-IT" dirty="0"/>
          </a:p>
        </p:txBody>
      </p:sp>
    </p:spTree>
    <p:extLst>
      <p:ext uri="{BB962C8B-B14F-4D97-AF65-F5344CB8AC3E}">
        <p14:creationId xmlns:p14="http://schemas.microsoft.com/office/powerpoint/2010/main" val="1937049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asellaDiTesto 4"/>
          <p:cNvSpPr txBox="1">
            <a:spLocks noChangeArrowheads="1"/>
          </p:cNvSpPr>
          <p:nvPr/>
        </p:nvSpPr>
        <p:spPr bwMode="auto">
          <a:xfrm>
            <a:off x="4786313" y="428625"/>
            <a:ext cx="421481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3200" dirty="0">
                <a:solidFill>
                  <a:srgbClr val="FF0000"/>
                </a:solidFill>
                <a:latin typeface="Arial" charset="0"/>
                <a:cs typeface="Arial" charset="0"/>
              </a:rPr>
              <a:t>Decoding  using clustering algorithms</a:t>
            </a:r>
            <a:endParaRPr lang="en-US" sz="3200" dirty="0">
              <a:latin typeface="Arial" charset="0"/>
              <a:cs typeface="Arial" charset="0"/>
            </a:endParaRPr>
          </a:p>
        </p:txBody>
      </p:sp>
      <p:sp>
        <p:nvSpPr>
          <p:cNvPr id="41987" name="CasellaDiTesto 4"/>
          <p:cNvSpPr txBox="1">
            <a:spLocks noChangeArrowheads="1"/>
          </p:cNvSpPr>
          <p:nvPr/>
        </p:nvSpPr>
        <p:spPr bwMode="auto">
          <a:xfrm>
            <a:off x="4572000" y="2895600"/>
            <a:ext cx="435768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latin typeface="Arial" charset="0"/>
                <a:cs typeface="Arial" charset="0"/>
              </a:rPr>
              <a:t>Divide the response space into regions. When the response falls in a given region, assign it to a stimulus. Optimal boundaries are difficult to find (you can use Support Vector Machines).</a:t>
            </a:r>
          </a:p>
        </p:txBody>
      </p:sp>
      <p:pic>
        <p:nvPicPr>
          <p:cNvPr id="41988" name="Picture 3"/>
          <p:cNvPicPr>
            <a:picLocks noChangeAspect="1" noChangeArrowheads="1"/>
          </p:cNvPicPr>
          <p:nvPr/>
        </p:nvPicPr>
        <p:blipFill>
          <a:blip r:embed="rId2">
            <a:extLst>
              <a:ext uri="{28A0092B-C50C-407E-A947-70E740481C1C}">
                <a14:useLocalDpi xmlns:a14="http://schemas.microsoft.com/office/drawing/2010/main" val="0"/>
              </a:ext>
            </a:extLst>
          </a:blip>
          <a:srcRect l="9229" t="5208" b="1047"/>
          <a:stretch>
            <a:fillRect/>
          </a:stretch>
        </p:blipFill>
        <p:spPr bwMode="auto">
          <a:xfrm>
            <a:off x="142875" y="357188"/>
            <a:ext cx="4214813"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Connettore 1 5"/>
          <p:cNvCxnSpPr>
            <a:cxnSpLocks noChangeShapeType="1"/>
          </p:cNvCxnSpPr>
          <p:nvPr/>
        </p:nvCxnSpPr>
        <p:spPr bwMode="auto">
          <a:xfrm flipV="1">
            <a:off x="571500" y="4714875"/>
            <a:ext cx="3000375" cy="1071563"/>
          </a:xfrm>
          <a:prstGeom prst="line">
            <a:avLst/>
          </a:prstGeom>
          <a:noFill/>
          <a:ln w="34925" algn="ctr">
            <a:solidFill>
              <a:srgbClr val="7EC759"/>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236728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CasellaDiTesto 4"/>
          <p:cNvSpPr txBox="1">
            <a:spLocks noChangeArrowheads="1"/>
          </p:cNvSpPr>
          <p:nvPr/>
        </p:nvSpPr>
        <p:spPr bwMode="auto">
          <a:xfrm>
            <a:off x="500063" y="285750"/>
            <a:ext cx="8001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dirty="0">
                <a:solidFill>
                  <a:srgbClr val="FF0000"/>
                </a:solidFill>
                <a:latin typeface="Arial" charset="0"/>
                <a:cs typeface="Arial" charset="0"/>
              </a:rPr>
              <a:t>Information in the confusion matrix</a:t>
            </a:r>
            <a:endParaRPr lang="en-US" sz="3200" dirty="0">
              <a:latin typeface="Arial" charset="0"/>
              <a:cs typeface="Arial" charset="0"/>
            </a:endParaRPr>
          </a:p>
        </p:txBody>
      </p:sp>
      <p:graphicFrame>
        <p:nvGraphicFramePr>
          <p:cNvPr id="7170" name="Object 3"/>
          <p:cNvGraphicFramePr>
            <a:graphicFrameLocks noChangeAspect="1"/>
          </p:cNvGraphicFramePr>
          <p:nvPr/>
        </p:nvGraphicFramePr>
        <p:xfrm>
          <a:off x="598488" y="1071563"/>
          <a:ext cx="8016875" cy="1204912"/>
        </p:xfrm>
        <a:graphic>
          <a:graphicData uri="http://schemas.openxmlformats.org/presentationml/2006/ole">
            <mc:AlternateContent xmlns:mc="http://schemas.openxmlformats.org/markup-compatibility/2006">
              <mc:Choice xmlns:v="urn:schemas-microsoft-com:vml" Requires="v">
                <p:oleObj name="Equation" r:id="rId3" imgW="2311400" imgH="469900" progId="">
                  <p:embed/>
                </p:oleObj>
              </mc:Choice>
              <mc:Fallback>
                <p:oleObj name="Equation" r:id="rId3" imgW="2311400" imgH="469900" progId="">
                  <p:embed/>
                  <p:pic>
                    <p:nvPicPr>
                      <p:cNvPr id="717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488" y="1071563"/>
                        <a:ext cx="8016875" cy="1204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4"/>
          <p:cNvGraphicFramePr>
            <a:graphicFrameLocks noChangeAspect="1"/>
          </p:cNvGraphicFramePr>
          <p:nvPr/>
        </p:nvGraphicFramePr>
        <p:xfrm>
          <a:off x="4429125" y="5429250"/>
          <a:ext cx="3921125" cy="584200"/>
        </p:xfrm>
        <a:graphic>
          <a:graphicData uri="http://schemas.openxmlformats.org/presentationml/2006/ole">
            <mc:AlternateContent xmlns:mc="http://schemas.openxmlformats.org/markup-compatibility/2006">
              <mc:Choice xmlns:v="urn:schemas-microsoft-com:vml" Requires="v">
                <p:oleObj name="Equation" r:id="rId5" imgW="1130300" imgH="228600" progId="">
                  <p:embed/>
                </p:oleObj>
              </mc:Choice>
              <mc:Fallback>
                <p:oleObj name="Equation" r:id="rId5" imgW="1130300" imgH="228600" progId="">
                  <p:embed/>
                  <p:pic>
                    <p:nvPicPr>
                      <p:cNvPr id="717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9125" y="5429250"/>
                        <a:ext cx="392112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3" name="CasellaDiTesto 4"/>
          <p:cNvSpPr txBox="1">
            <a:spLocks noChangeArrowheads="1"/>
          </p:cNvSpPr>
          <p:nvPr/>
        </p:nvSpPr>
        <p:spPr bwMode="auto">
          <a:xfrm>
            <a:off x="3071813" y="4857750"/>
            <a:ext cx="557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solidFill>
                  <a:srgbClr val="FF0000"/>
                </a:solidFill>
                <a:latin typeface="Arial" charset="0"/>
                <a:cs typeface="Arial" charset="0"/>
              </a:rPr>
              <a:t>Because of data processing inequality:</a:t>
            </a:r>
          </a:p>
        </p:txBody>
      </p:sp>
      <p:sp>
        <p:nvSpPr>
          <p:cNvPr id="7174" name="Text Box 15"/>
          <p:cNvSpPr txBox="1">
            <a:spLocks noChangeArrowheads="1"/>
          </p:cNvSpPr>
          <p:nvPr/>
        </p:nvSpPr>
        <p:spPr bwMode="auto">
          <a:xfrm>
            <a:off x="1000125" y="4786313"/>
            <a:ext cx="1857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2000" dirty="0">
                <a:latin typeface="Arial" charset="0"/>
                <a:cs typeface="Arial" charset="0"/>
              </a:rPr>
              <a:t>Stimulus predicted </a:t>
            </a:r>
            <a:r>
              <a:rPr lang="en-GB" sz="2000" b="1" dirty="0" err="1">
                <a:latin typeface="Arial" charset="0"/>
                <a:cs typeface="Arial" charset="0"/>
              </a:rPr>
              <a:t>s</a:t>
            </a:r>
            <a:r>
              <a:rPr lang="en-GB" sz="2000" b="1" baseline="30000" dirty="0" err="1">
                <a:latin typeface="Arial" charset="0"/>
                <a:cs typeface="Arial" charset="0"/>
              </a:rPr>
              <a:t>p</a:t>
            </a:r>
            <a:endParaRPr lang="en-US" sz="2000" b="1" baseline="30000" dirty="0">
              <a:latin typeface="Arial" charset="0"/>
              <a:cs typeface="Arial" charset="0"/>
            </a:endParaRPr>
          </a:p>
        </p:txBody>
      </p:sp>
      <p:sp>
        <p:nvSpPr>
          <p:cNvPr id="7175" name="Text Box 16"/>
          <p:cNvSpPr txBox="1">
            <a:spLocks noChangeArrowheads="1"/>
          </p:cNvSpPr>
          <p:nvPr/>
        </p:nvSpPr>
        <p:spPr bwMode="auto">
          <a:xfrm rot="-5400000">
            <a:off x="-371475" y="3228975"/>
            <a:ext cx="17367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2000" dirty="0">
                <a:latin typeface="Arial" charset="0"/>
                <a:cs typeface="Arial" charset="0"/>
              </a:rPr>
              <a:t>Stimulus  presented </a:t>
            </a:r>
            <a:r>
              <a:rPr lang="en-GB" sz="2000" b="1" dirty="0">
                <a:latin typeface="Arial" charset="0"/>
                <a:cs typeface="Arial" charset="0"/>
              </a:rPr>
              <a:t>s</a:t>
            </a:r>
            <a:endParaRPr lang="en-US" sz="2000" b="1" dirty="0">
              <a:latin typeface="Arial" charset="0"/>
              <a:cs typeface="Arial" charset="0"/>
            </a:endParaRPr>
          </a:p>
        </p:txBody>
      </p:sp>
      <p:pic>
        <p:nvPicPr>
          <p:cNvPr id="7176" name="Picture 3"/>
          <p:cNvPicPr>
            <a:picLocks noChangeAspect="1" noChangeArrowheads="1"/>
          </p:cNvPicPr>
          <p:nvPr/>
        </p:nvPicPr>
        <p:blipFill>
          <a:blip r:embed="rId7">
            <a:extLst>
              <a:ext uri="{28A0092B-C50C-407E-A947-70E740481C1C}">
                <a14:useLocalDpi xmlns:a14="http://schemas.microsoft.com/office/drawing/2010/main" val="0"/>
              </a:ext>
            </a:extLst>
          </a:blip>
          <a:srcRect l="7027" t="16362" r="17879" b="10715"/>
          <a:stretch>
            <a:fillRect/>
          </a:stretch>
        </p:blipFill>
        <p:spPr bwMode="auto">
          <a:xfrm>
            <a:off x="857250" y="2786063"/>
            <a:ext cx="2000250" cy="190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177" name="Connettore 2 11"/>
          <p:cNvCxnSpPr>
            <a:cxnSpLocks noChangeShapeType="1"/>
          </p:cNvCxnSpPr>
          <p:nvPr/>
        </p:nvCxnSpPr>
        <p:spPr bwMode="auto">
          <a:xfrm rot="5400000" flipH="1" flipV="1">
            <a:off x="2678906" y="2464594"/>
            <a:ext cx="1500188" cy="8572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178" name="CasellaDiTesto 4"/>
          <p:cNvSpPr txBox="1">
            <a:spLocks noChangeArrowheads="1"/>
          </p:cNvSpPr>
          <p:nvPr/>
        </p:nvSpPr>
        <p:spPr bwMode="auto">
          <a:xfrm>
            <a:off x="3857625" y="2714625"/>
            <a:ext cx="5072063"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atin typeface="Arial" charset="0"/>
                <a:cs typeface="Arial" charset="0"/>
              </a:rPr>
              <a:t>I(S;S</a:t>
            </a:r>
            <a:r>
              <a:rPr lang="en-US" baseline="30000">
                <a:latin typeface="Arial" charset="0"/>
                <a:cs typeface="Arial" charset="0"/>
              </a:rPr>
              <a:t>p</a:t>
            </a:r>
            <a:r>
              <a:rPr lang="en-US">
                <a:latin typeface="Arial" charset="0"/>
                <a:cs typeface="Arial" charset="0"/>
              </a:rPr>
              <a:t>) quantifies the information than can be gained by a receiver that knows the true P(s|r) but only uses the information about which is the most likely stimulus</a:t>
            </a:r>
          </a:p>
        </p:txBody>
      </p:sp>
    </p:spTree>
    <p:extLst>
      <p:ext uri="{BB962C8B-B14F-4D97-AF65-F5344CB8AC3E}">
        <p14:creationId xmlns:p14="http://schemas.microsoft.com/office/powerpoint/2010/main" val="20928423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CasellaDiTesto 4"/>
          <p:cNvSpPr txBox="1">
            <a:spLocks noChangeArrowheads="1"/>
          </p:cNvSpPr>
          <p:nvPr/>
        </p:nvSpPr>
        <p:spPr bwMode="auto">
          <a:xfrm>
            <a:off x="500063" y="285750"/>
            <a:ext cx="8001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dirty="0">
                <a:solidFill>
                  <a:srgbClr val="FF0000"/>
                </a:solidFill>
                <a:latin typeface="Arial" charset="0"/>
                <a:cs typeface="Arial" charset="0"/>
              </a:rPr>
              <a:t>Information in the confusion matrix</a:t>
            </a:r>
            <a:endParaRPr lang="en-US" sz="3200" dirty="0">
              <a:latin typeface="Arial" charset="0"/>
              <a:cs typeface="Arial" charset="0"/>
            </a:endParaRPr>
          </a:p>
        </p:txBody>
      </p:sp>
      <p:graphicFrame>
        <p:nvGraphicFramePr>
          <p:cNvPr id="7170" name="Object 3"/>
          <p:cNvGraphicFramePr>
            <a:graphicFrameLocks noChangeAspect="1"/>
          </p:cNvGraphicFramePr>
          <p:nvPr/>
        </p:nvGraphicFramePr>
        <p:xfrm>
          <a:off x="598488" y="1071563"/>
          <a:ext cx="8016875" cy="1204912"/>
        </p:xfrm>
        <a:graphic>
          <a:graphicData uri="http://schemas.openxmlformats.org/presentationml/2006/ole">
            <mc:AlternateContent xmlns:mc="http://schemas.openxmlformats.org/markup-compatibility/2006">
              <mc:Choice xmlns:v="urn:schemas-microsoft-com:vml" Requires="v">
                <p:oleObj name="Equation" r:id="rId3" imgW="2311400" imgH="469900" progId="">
                  <p:embed/>
                </p:oleObj>
              </mc:Choice>
              <mc:Fallback>
                <p:oleObj name="Equation" r:id="rId3" imgW="2311400" imgH="469900" progId="">
                  <p:embed/>
                  <p:pic>
                    <p:nvPicPr>
                      <p:cNvPr id="717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488" y="1071563"/>
                        <a:ext cx="8016875" cy="1204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4"/>
          <p:cNvGraphicFramePr>
            <a:graphicFrameLocks noChangeAspect="1"/>
          </p:cNvGraphicFramePr>
          <p:nvPr/>
        </p:nvGraphicFramePr>
        <p:xfrm>
          <a:off x="4429125" y="5429250"/>
          <a:ext cx="3921125" cy="584200"/>
        </p:xfrm>
        <a:graphic>
          <a:graphicData uri="http://schemas.openxmlformats.org/presentationml/2006/ole">
            <mc:AlternateContent xmlns:mc="http://schemas.openxmlformats.org/markup-compatibility/2006">
              <mc:Choice xmlns:v="urn:schemas-microsoft-com:vml" Requires="v">
                <p:oleObj name="Equation" r:id="rId5" imgW="1130300" imgH="228600" progId="">
                  <p:embed/>
                </p:oleObj>
              </mc:Choice>
              <mc:Fallback>
                <p:oleObj name="Equation" r:id="rId5" imgW="1130300" imgH="228600" progId="">
                  <p:embed/>
                  <p:pic>
                    <p:nvPicPr>
                      <p:cNvPr id="717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9125" y="5429250"/>
                        <a:ext cx="392112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3" name="CasellaDiTesto 4"/>
          <p:cNvSpPr txBox="1">
            <a:spLocks noChangeArrowheads="1"/>
          </p:cNvSpPr>
          <p:nvPr/>
        </p:nvSpPr>
        <p:spPr bwMode="auto">
          <a:xfrm>
            <a:off x="3071813" y="4857750"/>
            <a:ext cx="557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solidFill>
                  <a:srgbClr val="FF0000"/>
                </a:solidFill>
                <a:latin typeface="Arial" charset="0"/>
                <a:cs typeface="Arial" charset="0"/>
              </a:rPr>
              <a:t>Because of data processing inequality:</a:t>
            </a:r>
          </a:p>
        </p:txBody>
      </p:sp>
      <p:sp>
        <p:nvSpPr>
          <p:cNvPr id="7174" name="Text Box 15"/>
          <p:cNvSpPr txBox="1">
            <a:spLocks noChangeArrowheads="1"/>
          </p:cNvSpPr>
          <p:nvPr/>
        </p:nvSpPr>
        <p:spPr bwMode="auto">
          <a:xfrm>
            <a:off x="1000125" y="4786313"/>
            <a:ext cx="1857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2000" dirty="0">
                <a:latin typeface="Arial" charset="0"/>
                <a:cs typeface="Arial" charset="0"/>
              </a:rPr>
              <a:t>Stimulus predicted </a:t>
            </a:r>
            <a:r>
              <a:rPr lang="en-GB" sz="2000" b="1" dirty="0" err="1">
                <a:latin typeface="Arial" charset="0"/>
                <a:cs typeface="Arial" charset="0"/>
              </a:rPr>
              <a:t>s</a:t>
            </a:r>
            <a:r>
              <a:rPr lang="en-GB" sz="2000" b="1" baseline="30000" dirty="0" err="1">
                <a:latin typeface="Arial" charset="0"/>
                <a:cs typeface="Arial" charset="0"/>
              </a:rPr>
              <a:t>p</a:t>
            </a:r>
            <a:endParaRPr lang="en-US" sz="2000" b="1" baseline="30000" dirty="0">
              <a:latin typeface="Arial" charset="0"/>
              <a:cs typeface="Arial" charset="0"/>
            </a:endParaRPr>
          </a:p>
        </p:txBody>
      </p:sp>
      <p:sp>
        <p:nvSpPr>
          <p:cNvPr id="7175" name="Text Box 16"/>
          <p:cNvSpPr txBox="1">
            <a:spLocks noChangeArrowheads="1"/>
          </p:cNvSpPr>
          <p:nvPr/>
        </p:nvSpPr>
        <p:spPr bwMode="auto">
          <a:xfrm rot="-5400000">
            <a:off x="-371475" y="3228975"/>
            <a:ext cx="17367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2000" dirty="0">
                <a:latin typeface="Arial" charset="0"/>
                <a:cs typeface="Arial" charset="0"/>
              </a:rPr>
              <a:t>Stimulus  presented </a:t>
            </a:r>
            <a:r>
              <a:rPr lang="en-GB" sz="2000" b="1" dirty="0">
                <a:latin typeface="Arial" charset="0"/>
                <a:cs typeface="Arial" charset="0"/>
              </a:rPr>
              <a:t>s</a:t>
            </a:r>
            <a:endParaRPr lang="en-US" sz="2000" b="1" dirty="0">
              <a:latin typeface="Arial" charset="0"/>
              <a:cs typeface="Arial" charset="0"/>
            </a:endParaRPr>
          </a:p>
        </p:txBody>
      </p:sp>
      <p:pic>
        <p:nvPicPr>
          <p:cNvPr id="7176" name="Picture 3"/>
          <p:cNvPicPr>
            <a:picLocks noChangeAspect="1" noChangeArrowheads="1"/>
          </p:cNvPicPr>
          <p:nvPr/>
        </p:nvPicPr>
        <p:blipFill>
          <a:blip r:embed="rId7">
            <a:extLst>
              <a:ext uri="{28A0092B-C50C-407E-A947-70E740481C1C}">
                <a14:useLocalDpi xmlns:a14="http://schemas.microsoft.com/office/drawing/2010/main" val="0"/>
              </a:ext>
            </a:extLst>
          </a:blip>
          <a:srcRect l="7027" t="16362" r="17879" b="10715"/>
          <a:stretch>
            <a:fillRect/>
          </a:stretch>
        </p:blipFill>
        <p:spPr bwMode="auto">
          <a:xfrm>
            <a:off x="857250" y="2786063"/>
            <a:ext cx="2000250" cy="190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177" name="Connettore 2 11"/>
          <p:cNvCxnSpPr>
            <a:cxnSpLocks noChangeShapeType="1"/>
          </p:cNvCxnSpPr>
          <p:nvPr/>
        </p:nvCxnSpPr>
        <p:spPr bwMode="auto">
          <a:xfrm rot="5400000" flipH="1" flipV="1">
            <a:off x="2678906" y="2464594"/>
            <a:ext cx="1500188" cy="8572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178" name="CasellaDiTesto 4"/>
          <p:cNvSpPr txBox="1">
            <a:spLocks noChangeArrowheads="1"/>
          </p:cNvSpPr>
          <p:nvPr/>
        </p:nvSpPr>
        <p:spPr bwMode="auto">
          <a:xfrm>
            <a:off x="3857625" y="2714625"/>
            <a:ext cx="5072063"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atin typeface="Arial" charset="0"/>
                <a:cs typeface="Arial" charset="0"/>
              </a:rPr>
              <a:t>I(S;S</a:t>
            </a:r>
            <a:r>
              <a:rPr lang="en-US" baseline="30000">
                <a:latin typeface="Arial" charset="0"/>
                <a:cs typeface="Arial" charset="0"/>
              </a:rPr>
              <a:t>p</a:t>
            </a:r>
            <a:r>
              <a:rPr lang="en-US">
                <a:latin typeface="Arial" charset="0"/>
                <a:cs typeface="Arial" charset="0"/>
              </a:rPr>
              <a:t>) quantifies the information than can be gained by a receiver that knows the true P(s|r) but only uses the information about which is the most likely stimulus</a:t>
            </a:r>
          </a:p>
        </p:txBody>
      </p:sp>
      <p:sp>
        <p:nvSpPr>
          <p:cNvPr id="2" name="Ovale 1">
            <a:extLst>
              <a:ext uri="{FF2B5EF4-FFF2-40B4-BE49-F238E27FC236}">
                <a16:creationId xmlns:a16="http://schemas.microsoft.com/office/drawing/2014/main" id="{BF1B9C8D-DB5D-41C1-8C09-3242544907AA}"/>
              </a:ext>
            </a:extLst>
          </p:cNvPr>
          <p:cNvSpPr/>
          <p:nvPr/>
        </p:nvSpPr>
        <p:spPr>
          <a:xfrm>
            <a:off x="1268418" y="2211334"/>
            <a:ext cx="6264696" cy="3881961"/>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t-IT" sz="2400" dirty="0"/>
              <a:t>The idea of the </a:t>
            </a:r>
            <a:r>
              <a:rPr lang="it-IT" sz="2400" b="1" dirty="0" err="1"/>
              <a:t>Confusion</a:t>
            </a:r>
            <a:r>
              <a:rPr lang="it-IT" sz="2400" b="1" dirty="0"/>
              <a:t> </a:t>
            </a:r>
            <a:r>
              <a:rPr lang="it-IT" sz="2400" b="1" dirty="0" err="1"/>
              <a:t>matrix</a:t>
            </a:r>
            <a:endParaRPr lang="it-IT" sz="2400" b="1" dirty="0"/>
          </a:p>
          <a:p>
            <a:pPr algn="ctr"/>
            <a:r>
              <a:rPr lang="it-IT" sz="2400" dirty="0" err="1"/>
              <a:t>is</a:t>
            </a:r>
            <a:r>
              <a:rPr lang="it-IT" sz="2400" dirty="0"/>
              <a:t> to </a:t>
            </a:r>
            <a:r>
              <a:rPr lang="it-IT" sz="2400" dirty="0" err="1"/>
              <a:t>understand</a:t>
            </a:r>
            <a:r>
              <a:rPr lang="it-IT" sz="2400" dirty="0"/>
              <a:t> </a:t>
            </a:r>
            <a:r>
              <a:rPr lang="it-IT" sz="2400" dirty="0" err="1"/>
              <a:t>what’s</a:t>
            </a:r>
            <a:r>
              <a:rPr lang="it-IT" sz="2400" dirty="0"/>
              <a:t> </a:t>
            </a:r>
            <a:r>
              <a:rPr lang="it-IT" sz="2400" dirty="0" err="1"/>
              <a:t>going</a:t>
            </a:r>
            <a:r>
              <a:rPr lang="it-IT" sz="2400" dirty="0"/>
              <a:t> on </a:t>
            </a:r>
            <a:r>
              <a:rPr lang="it-IT" sz="2400" dirty="0" err="1"/>
              <a:t>beyond</a:t>
            </a:r>
            <a:r>
              <a:rPr lang="it-IT" sz="2400" dirty="0"/>
              <a:t> the </a:t>
            </a:r>
            <a:r>
              <a:rPr lang="it-IT" sz="2400" dirty="0" err="1"/>
              <a:t>diagonal</a:t>
            </a:r>
            <a:r>
              <a:rPr lang="it-IT" sz="2400" dirty="0"/>
              <a:t>.</a:t>
            </a:r>
          </a:p>
          <a:p>
            <a:pPr algn="ctr"/>
            <a:r>
              <a:rPr lang="it-IT" sz="2400" dirty="0" err="1"/>
              <a:t>This</a:t>
            </a:r>
            <a:r>
              <a:rPr lang="it-IT" sz="2400" dirty="0"/>
              <a:t> </a:t>
            </a:r>
            <a:r>
              <a:rPr lang="it-IT" sz="2400" dirty="0" err="1"/>
              <a:t>contributes</a:t>
            </a:r>
            <a:r>
              <a:rPr lang="it-IT" sz="2400" dirty="0"/>
              <a:t> to </a:t>
            </a:r>
            <a:r>
              <a:rPr lang="it-IT" sz="2400" dirty="0" err="1"/>
              <a:t>your</a:t>
            </a:r>
            <a:r>
              <a:rPr lang="it-IT" sz="2400" dirty="0"/>
              <a:t> </a:t>
            </a:r>
            <a:r>
              <a:rPr lang="it-IT" sz="2400" dirty="0" err="1"/>
              <a:t>understanding</a:t>
            </a:r>
            <a:r>
              <a:rPr lang="it-IT" sz="2400" dirty="0"/>
              <a:t> of the dynamics and can tell </a:t>
            </a:r>
            <a:r>
              <a:rPr lang="it-IT" sz="2400" dirty="0" err="1"/>
              <a:t>you</a:t>
            </a:r>
            <a:r>
              <a:rPr lang="it-IT" sz="2400" dirty="0"/>
              <a:t> </a:t>
            </a:r>
            <a:r>
              <a:rPr lang="it-IT" sz="2400" dirty="0" err="1"/>
              <a:t>how</a:t>
            </a:r>
            <a:r>
              <a:rPr lang="it-IT" sz="2400" dirty="0"/>
              <a:t> to </a:t>
            </a:r>
            <a:r>
              <a:rPr lang="it-IT" sz="2400" dirty="0" err="1"/>
              <a:t>improve</a:t>
            </a:r>
            <a:r>
              <a:rPr lang="it-IT" sz="2400" dirty="0"/>
              <a:t> </a:t>
            </a:r>
            <a:r>
              <a:rPr lang="it-IT" sz="2400" dirty="0" err="1"/>
              <a:t>your</a:t>
            </a:r>
            <a:r>
              <a:rPr lang="it-IT" sz="2400" dirty="0"/>
              <a:t> </a:t>
            </a:r>
            <a:r>
              <a:rPr lang="it-IT" sz="2400" dirty="0" err="1"/>
              <a:t>decoding</a:t>
            </a:r>
            <a:r>
              <a:rPr lang="it-IT" sz="2400" dirty="0"/>
              <a:t>.</a:t>
            </a:r>
          </a:p>
        </p:txBody>
      </p:sp>
    </p:spTree>
    <p:extLst>
      <p:ext uri="{BB962C8B-B14F-4D97-AF65-F5344CB8AC3E}">
        <p14:creationId xmlns:p14="http://schemas.microsoft.com/office/powerpoint/2010/main" val="36143700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CasellaDiTesto 4"/>
          <p:cNvSpPr txBox="1">
            <a:spLocks noChangeArrowheads="1"/>
          </p:cNvSpPr>
          <p:nvPr/>
        </p:nvSpPr>
        <p:spPr bwMode="auto">
          <a:xfrm>
            <a:off x="500063" y="285750"/>
            <a:ext cx="8001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dirty="0">
                <a:solidFill>
                  <a:srgbClr val="FF0000"/>
                </a:solidFill>
                <a:latin typeface="Arial" charset="0"/>
                <a:cs typeface="Arial" charset="0"/>
              </a:rPr>
              <a:t>Information in the confusion matrix</a:t>
            </a:r>
            <a:endParaRPr lang="en-US" sz="3200" dirty="0">
              <a:latin typeface="Arial" charset="0"/>
              <a:cs typeface="Arial" charset="0"/>
            </a:endParaRPr>
          </a:p>
        </p:txBody>
      </p:sp>
      <p:graphicFrame>
        <p:nvGraphicFramePr>
          <p:cNvPr id="7170" name="Object 3"/>
          <p:cNvGraphicFramePr>
            <a:graphicFrameLocks noChangeAspect="1"/>
          </p:cNvGraphicFramePr>
          <p:nvPr/>
        </p:nvGraphicFramePr>
        <p:xfrm>
          <a:off x="598488" y="1071563"/>
          <a:ext cx="8016875" cy="1204912"/>
        </p:xfrm>
        <a:graphic>
          <a:graphicData uri="http://schemas.openxmlformats.org/presentationml/2006/ole">
            <mc:AlternateContent xmlns:mc="http://schemas.openxmlformats.org/markup-compatibility/2006">
              <mc:Choice xmlns:v="urn:schemas-microsoft-com:vml" Requires="v">
                <p:oleObj name="Equation" r:id="rId3" imgW="2311400" imgH="469900" progId="">
                  <p:embed/>
                </p:oleObj>
              </mc:Choice>
              <mc:Fallback>
                <p:oleObj name="Equation" r:id="rId3" imgW="2311400" imgH="469900" progId="">
                  <p:embed/>
                  <p:pic>
                    <p:nvPicPr>
                      <p:cNvPr id="717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488" y="1071563"/>
                        <a:ext cx="8016875" cy="1204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4"/>
          <p:cNvGraphicFramePr>
            <a:graphicFrameLocks noChangeAspect="1"/>
          </p:cNvGraphicFramePr>
          <p:nvPr/>
        </p:nvGraphicFramePr>
        <p:xfrm>
          <a:off x="4429125" y="5429250"/>
          <a:ext cx="3921125" cy="584200"/>
        </p:xfrm>
        <a:graphic>
          <a:graphicData uri="http://schemas.openxmlformats.org/presentationml/2006/ole">
            <mc:AlternateContent xmlns:mc="http://schemas.openxmlformats.org/markup-compatibility/2006">
              <mc:Choice xmlns:v="urn:schemas-microsoft-com:vml" Requires="v">
                <p:oleObj name="Equation" r:id="rId5" imgW="1130300" imgH="228600" progId="">
                  <p:embed/>
                </p:oleObj>
              </mc:Choice>
              <mc:Fallback>
                <p:oleObj name="Equation" r:id="rId5" imgW="1130300" imgH="228600" progId="">
                  <p:embed/>
                  <p:pic>
                    <p:nvPicPr>
                      <p:cNvPr id="717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9125" y="5429250"/>
                        <a:ext cx="392112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3" name="CasellaDiTesto 4"/>
          <p:cNvSpPr txBox="1">
            <a:spLocks noChangeArrowheads="1"/>
          </p:cNvSpPr>
          <p:nvPr/>
        </p:nvSpPr>
        <p:spPr bwMode="auto">
          <a:xfrm>
            <a:off x="3071813" y="4857750"/>
            <a:ext cx="557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solidFill>
                  <a:srgbClr val="FF0000"/>
                </a:solidFill>
                <a:latin typeface="Arial" charset="0"/>
                <a:cs typeface="Arial" charset="0"/>
              </a:rPr>
              <a:t>Because of data processing inequality:</a:t>
            </a:r>
          </a:p>
        </p:txBody>
      </p:sp>
      <p:sp>
        <p:nvSpPr>
          <p:cNvPr id="7174" name="Text Box 15"/>
          <p:cNvSpPr txBox="1">
            <a:spLocks noChangeArrowheads="1"/>
          </p:cNvSpPr>
          <p:nvPr/>
        </p:nvSpPr>
        <p:spPr bwMode="auto">
          <a:xfrm>
            <a:off x="1000125" y="4786313"/>
            <a:ext cx="1857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2000" dirty="0">
                <a:latin typeface="Arial" charset="0"/>
                <a:cs typeface="Arial" charset="0"/>
              </a:rPr>
              <a:t>Stimulus predicted </a:t>
            </a:r>
            <a:r>
              <a:rPr lang="en-GB" sz="2000" b="1" dirty="0" err="1">
                <a:latin typeface="Arial" charset="0"/>
                <a:cs typeface="Arial" charset="0"/>
              </a:rPr>
              <a:t>s</a:t>
            </a:r>
            <a:r>
              <a:rPr lang="en-GB" sz="2000" b="1" baseline="30000" dirty="0" err="1">
                <a:latin typeface="Arial" charset="0"/>
                <a:cs typeface="Arial" charset="0"/>
              </a:rPr>
              <a:t>p</a:t>
            </a:r>
            <a:endParaRPr lang="en-US" sz="2000" b="1" baseline="30000" dirty="0">
              <a:latin typeface="Arial" charset="0"/>
              <a:cs typeface="Arial" charset="0"/>
            </a:endParaRPr>
          </a:p>
        </p:txBody>
      </p:sp>
      <p:sp>
        <p:nvSpPr>
          <p:cNvPr id="7175" name="Text Box 16"/>
          <p:cNvSpPr txBox="1">
            <a:spLocks noChangeArrowheads="1"/>
          </p:cNvSpPr>
          <p:nvPr/>
        </p:nvSpPr>
        <p:spPr bwMode="auto">
          <a:xfrm rot="-5400000">
            <a:off x="-371475" y="3228975"/>
            <a:ext cx="17367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2000" dirty="0">
                <a:latin typeface="Arial" charset="0"/>
                <a:cs typeface="Arial" charset="0"/>
              </a:rPr>
              <a:t>Stimulus  presented </a:t>
            </a:r>
            <a:r>
              <a:rPr lang="en-GB" sz="2000" b="1" dirty="0">
                <a:latin typeface="Arial" charset="0"/>
                <a:cs typeface="Arial" charset="0"/>
              </a:rPr>
              <a:t>s</a:t>
            </a:r>
            <a:endParaRPr lang="en-US" sz="2000" b="1" dirty="0">
              <a:latin typeface="Arial" charset="0"/>
              <a:cs typeface="Arial" charset="0"/>
            </a:endParaRPr>
          </a:p>
        </p:txBody>
      </p:sp>
      <p:pic>
        <p:nvPicPr>
          <p:cNvPr id="7176" name="Picture 3"/>
          <p:cNvPicPr>
            <a:picLocks noChangeAspect="1" noChangeArrowheads="1"/>
          </p:cNvPicPr>
          <p:nvPr/>
        </p:nvPicPr>
        <p:blipFill>
          <a:blip r:embed="rId7">
            <a:extLst>
              <a:ext uri="{28A0092B-C50C-407E-A947-70E740481C1C}">
                <a14:useLocalDpi xmlns:a14="http://schemas.microsoft.com/office/drawing/2010/main" val="0"/>
              </a:ext>
            </a:extLst>
          </a:blip>
          <a:srcRect l="7027" t="16362" r="17879" b="10715"/>
          <a:stretch>
            <a:fillRect/>
          </a:stretch>
        </p:blipFill>
        <p:spPr bwMode="auto">
          <a:xfrm>
            <a:off x="857250" y="2786063"/>
            <a:ext cx="2000250" cy="190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177" name="Connettore 2 11"/>
          <p:cNvCxnSpPr>
            <a:cxnSpLocks noChangeShapeType="1"/>
          </p:cNvCxnSpPr>
          <p:nvPr/>
        </p:nvCxnSpPr>
        <p:spPr bwMode="auto">
          <a:xfrm rot="5400000" flipH="1" flipV="1">
            <a:off x="2678906" y="2464594"/>
            <a:ext cx="1500188" cy="8572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178" name="CasellaDiTesto 4"/>
          <p:cNvSpPr txBox="1">
            <a:spLocks noChangeArrowheads="1"/>
          </p:cNvSpPr>
          <p:nvPr/>
        </p:nvSpPr>
        <p:spPr bwMode="auto">
          <a:xfrm>
            <a:off x="3857625" y="2714625"/>
            <a:ext cx="5072063"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atin typeface="Arial" charset="0"/>
                <a:cs typeface="Arial" charset="0"/>
              </a:rPr>
              <a:t>I(S;S</a:t>
            </a:r>
            <a:r>
              <a:rPr lang="en-US" baseline="30000">
                <a:latin typeface="Arial" charset="0"/>
                <a:cs typeface="Arial" charset="0"/>
              </a:rPr>
              <a:t>p</a:t>
            </a:r>
            <a:r>
              <a:rPr lang="en-US">
                <a:latin typeface="Arial" charset="0"/>
                <a:cs typeface="Arial" charset="0"/>
              </a:rPr>
              <a:t>) quantifies the information than can be gained by a receiver that knows the true P(s|r) but only uses the information about which is the most likely stimulus</a:t>
            </a:r>
          </a:p>
        </p:txBody>
      </p:sp>
      <p:sp>
        <p:nvSpPr>
          <p:cNvPr id="2" name="Ovale 1">
            <a:extLst>
              <a:ext uri="{FF2B5EF4-FFF2-40B4-BE49-F238E27FC236}">
                <a16:creationId xmlns:a16="http://schemas.microsoft.com/office/drawing/2014/main" id="{BF1B9C8D-DB5D-41C1-8C09-3242544907AA}"/>
              </a:ext>
            </a:extLst>
          </p:cNvPr>
          <p:cNvSpPr/>
          <p:nvPr/>
        </p:nvSpPr>
        <p:spPr>
          <a:xfrm>
            <a:off x="793749" y="2211334"/>
            <a:ext cx="7350125" cy="4360916"/>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t-IT" sz="2400" b="1" dirty="0" err="1"/>
              <a:t>Confusion</a:t>
            </a:r>
            <a:r>
              <a:rPr lang="it-IT" sz="2400" b="1" dirty="0"/>
              <a:t> </a:t>
            </a:r>
            <a:r>
              <a:rPr lang="it-IT" sz="2400" b="1" dirty="0" err="1"/>
              <a:t>matrix</a:t>
            </a:r>
            <a:r>
              <a:rPr lang="it-IT" sz="2400" b="1" dirty="0"/>
              <a:t> information</a:t>
            </a:r>
          </a:p>
          <a:p>
            <a:pPr algn="ctr"/>
            <a:r>
              <a:rPr lang="it-IT" sz="2400" dirty="0" err="1"/>
              <a:t>Quantifies</a:t>
            </a:r>
            <a:r>
              <a:rPr lang="it-IT" sz="2400" dirty="0"/>
              <a:t> the </a:t>
            </a:r>
            <a:r>
              <a:rPr lang="it-IT" sz="2400" dirty="0" err="1"/>
              <a:t>relevance</a:t>
            </a:r>
            <a:r>
              <a:rPr lang="it-IT" sz="2400" dirty="0"/>
              <a:t> of the clusters </a:t>
            </a:r>
            <a:r>
              <a:rPr lang="it-IT" sz="2400" dirty="0" err="1"/>
              <a:t>beyond</a:t>
            </a:r>
            <a:r>
              <a:rPr lang="it-IT" sz="2400" dirty="0"/>
              <a:t> the </a:t>
            </a:r>
            <a:r>
              <a:rPr lang="it-IT" sz="2400" dirty="0" err="1"/>
              <a:t>diagonal</a:t>
            </a:r>
            <a:r>
              <a:rPr lang="it-IT" sz="2400" dirty="0"/>
              <a:t>.</a:t>
            </a:r>
          </a:p>
          <a:p>
            <a:pPr algn="ctr"/>
            <a:r>
              <a:rPr lang="it-IT" sz="2400" dirty="0"/>
              <a:t>Note </a:t>
            </a:r>
            <a:r>
              <a:rPr lang="it-IT" sz="2400" dirty="0" err="1"/>
              <a:t>that</a:t>
            </a:r>
            <a:r>
              <a:rPr lang="it-IT" sz="2400" dirty="0"/>
              <a:t> information </a:t>
            </a:r>
            <a:r>
              <a:rPr lang="it-IT" sz="2400" dirty="0" err="1"/>
              <a:t>defines</a:t>
            </a:r>
            <a:r>
              <a:rPr lang="it-IT" sz="2400" dirty="0"/>
              <a:t> the </a:t>
            </a:r>
            <a:r>
              <a:rPr lang="it-IT" sz="2400" dirty="0" err="1"/>
              <a:t>optimal</a:t>
            </a:r>
            <a:r>
              <a:rPr lang="it-IT" sz="2400" dirty="0"/>
              <a:t> performance of </a:t>
            </a:r>
            <a:r>
              <a:rPr lang="it-IT" sz="2400" dirty="0" err="1"/>
              <a:t>decoding</a:t>
            </a:r>
            <a:r>
              <a:rPr lang="it-IT" sz="2400" dirty="0"/>
              <a:t> of a dataset. </a:t>
            </a:r>
            <a:r>
              <a:rPr lang="it-IT" sz="2400" u="sng" dirty="0" err="1"/>
              <a:t>If</a:t>
            </a:r>
            <a:r>
              <a:rPr lang="it-IT" sz="2400" u="sng" dirty="0"/>
              <a:t> </a:t>
            </a:r>
            <a:r>
              <a:rPr lang="it-IT" sz="2400" u="sng" dirty="0" err="1"/>
              <a:t>you</a:t>
            </a:r>
            <a:r>
              <a:rPr lang="it-IT" sz="2400" u="sng" dirty="0"/>
              <a:t> </a:t>
            </a:r>
            <a:r>
              <a:rPr lang="it-IT" sz="2400" u="sng" dirty="0" err="1"/>
              <a:t>want</a:t>
            </a:r>
            <a:r>
              <a:rPr lang="it-IT" sz="2400" u="sng" dirty="0"/>
              <a:t> to </a:t>
            </a:r>
            <a:r>
              <a:rPr lang="it-IT" sz="2400" u="sng" dirty="0" err="1"/>
              <a:t>improve</a:t>
            </a:r>
            <a:r>
              <a:rPr lang="it-IT" sz="2400" u="sng" dirty="0"/>
              <a:t> </a:t>
            </a:r>
            <a:r>
              <a:rPr lang="it-IT" sz="2400" u="sng" dirty="0" err="1"/>
              <a:t>your</a:t>
            </a:r>
            <a:r>
              <a:rPr lang="it-IT" sz="2400" u="sng" dirty="0"/>
              <a:t> </a:t>
            </a:r>
            <a:r>
              <a:rPr lang="it-IT" sz="2400" u="sng" dirty="0" err="1"/>
              <a:t>decoding</a:t>
            </a:r>
            <a:r>
              <a:rPr lang="it-IT" sz="2400" u="sng" dirty="0"/>
              <a:t> </a:t>
            </a:r>
            <a:r>
              <a:rPr lang="it-IT" sz="2400" u="sng" dirty="0" err="1"/>
              <a:t>you</a:t>
            </a:r>
            <a:r>
              <a:rPr lang="it-IT" sz="2400" u="sng" dirty="0"/>
              <a:t> can </a:t>
            </a:r>
            <a:r>
              <a:rPr lang="it-IT" sz="2400" u="sng" dirty="0" err="1"/>
              <a:t>chose</a:t>
            </a:r>
            <a:r>
              <a:rPr lang="it-IT" sz="2400" u="sng" dirty="0"/>
              <a:t> to </a:t>
            </a:r>
            <a:r>
              <a:rPr lang="it-IT" sz="2400" u="sng" dirty="0" err="1"/>
              <a:t>improve</a:t>
            </a:r>
            <a:r>
              <a:rPr lang="it-IT" sz="2400" u="sng" dirty="0"/>
              <a:t> </a:t>
            </a:r>
            <a:r>
              <a:rPr lang="it-IT" sz="2400" u="sng" dirty="0" err="1"/>
              <a:t>you</a:t>
            </a:r>
            <a:r>
              <a:rPr lang="it-IT" sz="2400" u="sng" dirty="0"/>
              <a:t> </a:t>
            </a:r>
            <a:r>
              <a:rPr lang="it-IT" sz="2400" u="sng" dirty="0" err="1"/>
              <a:t>algorithm</a:t>
            </a:r>
            <a:r>
              <a:rPr lang="it-IT" sz="2400" u="sng" dirty="0"/>
              <a:t> or </a:t>
            </a:r>
            <a:r>
              <a:rPr lang="it-IT" sz="2400" u="sng" dirty="0" err="1"/>
              <a:t>your</a:t>
            </a:r>
            <a:r>
              <a:rPr lang="it-IT" sz="2400" u="sng" dirty="0"/>
              <a:t> dataset.</a:t>
            </a:r>
          </a:p>
        </p:txBody>
      </p:sp>
    </p:spTree>
    <p:extLst>
      <p:ext uri="{BB962C8B-B14F-4D97-AF65-F5344CB8AC3E}">
        <p14:creationId xmlns:p14="http://schemas.microsoft.com/office/powerpoint/2010/main" val="28566730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ctrTitle"/>
          </p:nvPr>
        </p:nvSpPr>
        <p:spPr>
          <a:xfrm>
            <a:off x="539750" y="80962"/>
            <a:ext cx="8299450" cy="1595438"/>
          </a:xfrm>
        </p:spPr>
        <p:txBody>
          <a:bodyPr/>
          <a:lstStyle/>
          <a:p>
            <a:r>
              <a:rPr lang="en-GB" sz="4000" b="1" dirty="0">
                <a:solidFill>
                  <a:srgbClr val="FF0000"/>
                </a:solidFill>
                <a:latin typeface="Arial" charset="0"/>
                <a:cs typeface="Arial" charset="0"/>
              </a:rPr>
              <a:t> Information vs decoding</a:t>
            </a:r>
            <a:endParaRPr lang="en-US" sz="4000" b="1" dirty="0">
              <a:solidFill>
                <a:srgbClr val="FF0000"/>
              </a:solidFill>
              <a:latin typeface="Arial" charset="0"/>
              <a:cs typeface="Arial" charset="0"/>
            </a:endParaRPr>
          </a:p>
        </p:txBody>
      </p:sp>
      <p:pic>
        <p:nvPicPr>
          <p:cNvPr id="18434" name="Picture 2" descr="http://www.blastr.com/sites/blastr/files/Batman-Vs-Superman-1-TPTIVIRZ0S-1024x768_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442281"/>
            <a:ext cx="6840760" cy="5132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78998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5663" y="1182688"/>
            <a:ext cx="7081837" cy="259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32771" name="CasellaDiTesto 2"/>
          <p:cNvSpPr txBox="1">
            <a:spLocks noChangeArrowheads="1"/>
          </p:cNvSpPr>
          <p:nvPr/>
        </p:nvSpPr>
        <p:spPr bwMode="auto">
          <a:xfrm>
            <a:off x="654050" y="163513"/>
            <a:ext cx="7585075" cy="1049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291" tIns="32146" rIns="64291" bIns="32146">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3200" dirty="0">
                <a:solidFill>
                  <a:srgbClr val="FF0000"/>
                </a:solidFill>
                <a:latin typeface="Arial" panose="020B0604020202020204" pitchFamily="34" charset="0"/>
                <a:cs typeface="Arial" panose="020B0604020202020204" pitchFamily="34" charset="0"/>
              </a:rPr>
              <a:t>Single trial analysis toolboxes</a:t>
            </a:r>
          </a:p>
          <a:p>
            <a:r>
              <a:rPr lang="en-US" sz="3200" dirty="0">
                <a:solidFill>
                  <a:srgbClr val="FF0000"/>
                </a:solidFill>
                <a:latin typeface="Arial" panose="020B0604020202020204" pitchFamily="34" charset="0"/>
                <a:cs typeface="Arial" panose="020B0604020202020204" pitchFamily="34" charset="0"/>
              </a:rPr>
              <a:t>(Information Theory and/or Decoding)</a:t>
            </a:r>
          </a:p>
        </p:txBody>
      </p:sp>
      <p:sp>
        <p:nvSpPr>
          <p:cNvPr id="32772" name="TextBox 3"/>
          <p:cNvSpPr txBox="1">
            <a:spLocks noChangeArrowheads="1"/>
          </p:cNvSpPr>
          <p:nvPr/>
        </p:nvSpPr>
        <p:spPr bwMode="auto">
          <a:xfrm>
            <a:off x="4622800" y="6570663"/>
            <a:ext cx="43878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6" rIns="91430" bIns="45716">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it-IT" sz="1300">
                <a:latin typeface="Calibri" pitchFamily="34" charset="0"/>
              </a:rPr>
              <a:t>Quian Quiroga &amp; Panzeri (2009) Nature Reviews Neuroscience</a:t>
            </a:r>
          </a:p>
        </p:txBody>
      </p:sp>
      <p:grpSp>
        <p:nvGrpSpPr>
          <p:cNvPr id="2" name="Group 7"/>
          <p:cNvGrpSpPr>
            <a:grpSpLocks/>
          </p:cNvGrpSpPr>
          <p:nvPr/>
        </p:nvGrpSpPr>
        <p:grpSpPr bwMode="auto">
          <a:xfrm>
            <a:off x="252413" y="4232275"/>
            <a:ext cx="8653462" cy="2328863"/>
            <a:chOff x="358775" y="6019800"/>
            <a:chExt cx="12306300" cy="3310974"/>
          </a:xfrm>
        </p:grpSpPr>
        <p:pic>
          <p:nvPicPr>
            <p:cNvPr id="3277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931275" y="6019800"/>
              <a:ext cx="373380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32776" name="CasellaDiTesto 2"/>
            <p:cNvSpPr txBox="1">
              <a:spLocks noChangeArrowheads="1"/>
            </p:cNvSpPr>
            <p:nvPr/>
          </p:nvSpPr>
          <p:spPr bwMode="auto">
            <a:xfrm>
              <a:off x="358775" y="7448550"/>
              <a:ext cx="8215313" cy="1882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Font typeface="Wingdings" pitchFamily="2" charset="2"/>
                <a:buChar char="ü"/>
              </a:pPr>
              <a:r>
                <a:rPr lang="en-US" sz="2000"/>
                <a:t>Information: quantifies the total knowledge (in units of bits) about external correlates that can be gained from neural activity</a:t>
              </a:r>
            </a:p>
            <a:p>
              <a:r>
                <a:rPr lang="en-US" sz="2000"/>
                <a:t>(1 bit =  doubling the knowledge)</a:t>
              </a:r>
            </a:p>
          </p:txBody>
        </p:sp>
      </p:grpSp>
      <p:sp>
        <p:nvSpPr>
          <p:cNvPr id="17415" name="CasellaDiTesto 2"/>
          <p:cNvSpPr txBox="1">
            <a:spLocks noChangeArrowheads="1"/>
          </p:cNvSpPr>
          <p:nvPr/>
        </p:nvSpPr>
        <p:spPr bwMode="auto">
          <a:xfrm>
            <a:off x="252413" y="4333875"/>
            <a:ext cx="577691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291" tIns="32146" rIns="64291" bIns="32146">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Font typeface="Wingdings" pitchFamily="2" charset="2"/>
              <a:buChar char="ü"/>
            </a:pPr>
            <a:r>
              <a:rPr lang="en-US" sz="2000"/>
              <a:t>Decoding: predicting the most likely external correlate from neural activity</a:t>
            </a:r>
          </a:p>
        </p:txBody>
      </p:sp>
    </p:spTree>
    <p:extLst>
      <p:ext uri="{BB962C8B-B14F-4D97-AF65-F5344CB8AC3E}">
        <p14:creationId xmlns:p14="http://schemas.microsoft.com/office/powerpoint/2010/main" val="2079129890"/>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50825" y="0"/>
            <a:ext cx="8569325" cy="1143000"/>
          </a:xfrm>
        </p:spPr>
        <p:txBody>
          <a:bodyPr>
            <a:normAutofit/>
          </a:bodyPr>
          <a:lstStyle/>
          <a:p>
            <a:pPr eaLnBrk="1" hangingPunct="1"/>
            <a:r>
              <a:rPr lang="en-GB" sz="3200" dirty="0">
                <a:solidFill>
                  <a:srgbClr val="FF0000"/>
                </a:solidFill>
                <a:latin typeface="Arial" charset="0"/>
              </a:rPr>
              <a:t>Advantages of information theory</a:t>
            </a:r>
            <a:endParaRPr lang="en-US" sz="3200" dirty="0">
              <a:solidFill>
                <a:srgbClr val="FF0000"/>
              </a:solidFill>
              <a:latin typeface="Arial" charset="0"/>
            </a:endParaRPr>
          </a:p>
        </p:txBody>
      </p:sp>
      <p:sp>
        <p:nvSpPr>
          <p:cNvPr id="45059" name="Rectangle 3"/>
          <p:cNvSpPr>
            <a:spLocks noGrp="1" noChangeArrowheads="1"/>
          </p:cNvSpPr>
          <p:nvPr>
            <p:ph type="body" idx="1"/>
          </p:nvPr>
        </p:nvSpPr>
        <p:spPr>
          <a:xfrm>
            <a:off x="500063" y="1071563"/>
            <a:ext cx="8215312" cy="5380037"/>
          </a:xfrm>
        </p:spPr>
        <p:txBody>
          <a:bodyPr/>
          <a:lstStyle/>
          <a:p>
            <a:pPr eaLnBrk="1" hangingPunct="1">
              <a:lnSpc>
                <a:spcPct val="90000"/>
              </a:lnSpc>
            </a:pPr>
            <a:r>
              <a:rPr lang="en-GB" sz="2400" dirty="0">
                <a:latin typeface="Arial" charset="0"/>
              </a:rPr>
              <a:t>It quantifies single-trial stimulus discriminability on a meaningful scale (bits) </a:t>
            </a:r>
          </a:p>
          <a:p>
            <a:pPr eaLnBrk="1" hangingPunct="1">
              <a:lnSpc>
                <a:spcPct val="90000"/>
              </a:lnSpc>
            </a:pPr>
            <a:r>
              <a:rPr lang="en-GB" sz="2400" dirty="0">
                <a:latin typeface="Arial" charset="0"/>
              </a:rPr>
              <a:t>It is a principled measure of the correlation on a single trial basis between neuronal responses and stimuli</a:t>
            </a:r>
          </a:p>
          <a:p>
            <a:pPr eaLnBrk="1" hangingPunct="1">
              <a:lnSpc>
                <a:spcPct val="90000"/>
              </a:lnSpc>
            </a:pPr>
            <a:r>
              <a:rPr lang="en-GB" sz="2400" dirty="0">
                <a:latin typeface="Arial" charset="0"/>
              </a:rPr>
              <a:t>It works even in non-linear  situations</a:t>
            </a:r>
          </a:p>
          <a:p>
            <a:pPr eaLnBrk="1" hangingPunct="1">
              <a:lnSpc>
                <a:spcPct val="90000"/>
              </a:lnSpc>
            </a:pPr>
            <a:r>
              <a:rPr lang="en-GB" sz="2400" dirty="0">
                <a:latin typeface="Arial" charset="0"/>
              </a:rPr>
              <a:t>It makes no assumption about the relation between stimulus and response – we do not need to specify which features of the stimulus activate the response and how they activate it</a:t>
            </a:r>
          </a:p>
          <a:p>
            <a:pPr eaLnBrk="1" hangingPunct="1">
              <a:lnSpc>
                <a:spcPct val="90000"/>
              </a:lnSpc>
            </a:pPr>
            <a:r>
              <a:rPr lang="en-GB" sz="2400" dirty="0">
                <a:latin typeface="Arial" charset="0"/>
              </a:rPr>
              <a:t>Since it takes into account all ways in which a neuron can reduce ignorance, it bounds the performance of any decoder. Thus it can be used to explore features are best for stimulus decoding, without the limitations coming from committing to a specific decoding algorithm </a:t>
            </a:r>
          </a:p>
          <a:p>
            <a:pPr eaLnBrk="1" hangingPunct="1">
              <a:lnSpc>
                <a:spcPct val="90000"/>
              </a:lnSpc>
            </a:pPr>
            <a:endParaRPr lang="en-US" sz="2800" dirty="0">
              <a:latin typeface="Arial" charset="0"/>
            </a:endParaRPr>
          </a:p>
        </p:txBody>
      </p:sp>
    </p:spTree>
    <p:extLst>
      <p:ext uri="{BB962C8B-B14F-4D97-AF65-F5344CB8AC3E}">
        <p14:creationId xmlns:p14="http://schemas.microsoft.com/office/powerpoint/2010/main" val="698321823"/>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85750" y="285750"/>
            <a:ext cx="8569325" cy="1143000"/>
          </a:xfrm>
        </p:spPr>
        <p:txBody>
          <a:bodyPr>
            <a:normAutofit/>
          </a:bodyPr>
          <a:lstStyle/>
          <a:p>
            <a:pPr eaLnBrk="1" hangingPunct="1"/>
            <a:r>
              <a:rPr lang="en-GB" sz="3200" dirty="0">
                <a:solidFill>
                  <a:srgbClr val="FF0000"/>
                </a:solidFill>
                <a:latin typeface="Arial" charset="0"/>
              </a:rPr>
              <a:t>Advantages of decoding techniques</a:t>
            </a:r>
            <a:endParaRPr lang="en-US" sz="3200" dirty="0">
              <a:solidFill>
                <a:srgbClr val="FF0000"/>
              </a:solidFill>
              <a:latin typeface="Arial" charset="0"/>
            </a:endParaRPr>
          </a:p>
        </p:txBody>
      </p:sp>
      <p:sp>
        <p:nvSpPr>
          <p:cNvPr id="46083" name="Rectangle 3"/>
          <p:cNvSpPr>
            <a:spLocks noGrp="1" noChangeArrowheads="1"/>
          </p:cNvSpPr>
          <p:nvPr>
            <p:ph type="body" idx="1"/>
          </p:nvPr>
        </p:nvSpPr>
        <p:spPr>
          <a:xfrm>
            <a:off x="428625" y="2143125"/>
            <a:ext cx="8215313" cy="4000500"/>
          </a:xfrm>
        </p:spPr>
        <p:txBody>
          <a:bodyPr/>
          <a:lstStyle/>
          <a:p>
            <a:pPr eaLnBrk="1" hangingPunct="1">
              <a:lnSpc>
                <a:spcPct val="90000"/>
              </a:lnSpc>
            </a:pPr>
            <a:r>
              <a:rPr lang="en-GB" sz="2400" dirty="0">
                <a:latin typeface="Arial" charset="0"/>
              </a:rPr>
              <a:t>Decoding algorithms are much easier to implement and compute</a:t>
            </a:r>
          </a:p>
          <a:p>
            <a:pPr eaLnBrk="1" hangingPunct="1">
              <a:lnSpc>
                <a:spcPct val="90000"/>
              </a:lnSpc>
            </a:pPr>
            <a:endParaRPr lang="en-GB" sz="2400" dirty="0">
              <a:latin typeface="Arial" charset="0"/>
            </a:endParaRPr>
          </a:p>
          <a:p>
            <a:pPr eaLnBrk="1" hangingPunct="1">
              <a:lnSpc>
                <a:spcPct val="90000"/>
              </a:lnSpc>
            </a:pPr>
            <a:r>
              <a:rPr lang="en-GB" sz="2400" dirty="0">
                <a:latin typeface="Arial" charset="0"/>
              </a:rPr>
              <a:t>Calculations are robust even with limited amounts of data</a:t>
            </a:r>
          </a:p>
          <a:p>
            <a:pPr eaLnBrk="1" hangingPunct="1">
              <a:lnSpc>
                <a:spcPct val="90000"/>
              </a:lnSpc>
            </a:pPr>
            <a:endParaRPr lang="en-GB" sz="2400" dirty="0">
              <a:latin typeface="Arial" charset="0"/>
            </a:endParaRPr>
          </a:p>
          <a:p>
            <a:pPr eaLnBrk="1" hangingPunct="1">
              <a:lnSpc>
                <a:spcPct val="90000"/>
              </a:lnSpc>
            </a:pPr>
            <a:r>
              <a:rPr lang="en-GB" sz="2400" dirty="0">
                <a:latin typeface="Arial" charset="0"/>
              </a:rPr>
              <a:t>Allow to test specific hypotheses on how downstream systems may interpret the messages</a:t>
            </a:r>
          </a:p>
          <a:p>
            <a:pPr eaLnBrk="1" hangingPunct="1">
              <a:lnSpc>
                <a:spcPct val="90000"/>
              </a:lnSpc>
            </a:pPr>
            <a:endParaRPr lang="en-GB" sz="2400" dirty="0">
              <a:latin typeface="Arial" charset="0"/>
            </a:endParaRPr>
          </a:p>
          <a:p>
            <a:pPr eaLnBrk="1" hangingPunct="1">
              <a:lnSpc>
                <a:spcPct val="90000"/>
              </a:lnSpc>
            </a:pPr>
            <a:r>
              <a:rPr lang="en-GB" sz="2400" dirty="0">
                <a:latin typeface="Arial" charset="0"/>
              </a:rPr>
              <a:t> More direct implementation to engineering</a:t>
            </a:r>
          </a:p>
          <a:p>
            <a:pPr marL="0" indent="0" eaLnBrk="1" hangingPunct="1">
              <a:lnSpc>
                <a:spcPct val="90000"/>
              </a:lnSpc>
              <a:buNone/>
            </a:pPr>
            <a:endParaRPr lang="en-GB" sz="2400" dirty="0">
              <a:latin typeface="Arial" charset="0"/>
            </a:endParaRPr>
          </a:p>
          <a:p>
            <a:pPr eaLnBrk="1" hangingPunct="1">
              <a:lnSpc>
                <a:spcPct val="90000"/>
              </a:lnSpc>
            </a:pPr>
            <a:endParaRPr lang="en-US" sz="2800" dirty="0">
              <a:latin typeface="Arial" charset="0"/>
            </a:endParaRPr>
          </a:p>
        </p:txBody>
      </p:sp>
    </p:spTree>
    <p:extLst>
      <p:ext uri="{BB962C8B-B14F-4D97-AF65-F5344CB8AC3E}">
        <p14:creationId xmlns:p14="http://schemas.microsoft.com/office/powerpoint/2010/main" val="909617946"/>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2">
            <a:extLst>
              <a:ext uri="{28A0092B-C50C-407E-A947-70E740481C1C}">
                <a14:useLocalDpi xmlns:a14="http://schemas.microsoft.com/office/drawing/2010/main" val="0"/>
              </a:ext>
            </a:extLst>
          </a:blip>
          <a:srcRect l="10464" r="8604" b="56232"/>
          <a:stretch>
            <a:fillRect/>
          </a:stretch>
        </p:blipFill>
        <p:spPr bwMode="auto">
          <a:xfrm>
            <a:off x="214312" y="785823"/>
            <a:ext cx="8708113" cy="4429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CasellaDiTesto 2"/>
          <p:cNvSpPr txBox="1">
            <a:spLocks noChangeArrowheads="1"/>
          </p:cNvSpPr>
          <p:nvPr/>
        </p:nvSpPr>
        <p:spPr bwMode="auto">
          <a:xfrm>
            <a:off x="214313" y="6215063"/>
            <a:ext cx="3249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a:latin typeface="Arial" charset="0"/>
                <a:cs typeface="Arial" charset="0"/>
              </a:rPr>
              <a:t>RQ Quiroga et al Nature 2005</a:t>
            </a:r>
          </a:p>
        </p:txBody>
      </p:sp>
      <p:sp>
        <p:nvSpPr>
          <p:cNvPr id="54276" name="CasellaDiTesto 3"/>
          <p:cNvSpPr txBox="1">
            <a:spLocks noChangeArrowheads="1"/>
          </p:cNvSpPr>
          <p:nvPr/>
        </p:nvSpPr>
        <p:spPr bwMode="auto">
          <a:xfrm>
            <a:off x="0" y="5286375"/>
            <a:ext cx="9039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t>Spike counts encode Jennifer Aniston’s identity in human temporal lobe</a:t>
            </a:r>
          </a:p>
        </p:txBody>
      </p:sp>
      <p:sp>
        <p:nvSpPr>
          <p:cNvPr id="5" name="Rectangle 2"/>
          <p:cNvSpPr txBox="1">
            <a:spLocks noChangeArrowheads="1"/>
          </p:cNvSpPr>
          <p:nvPr/>
        </p:nvSpPr>
        <p:spPr>
          <a:xfrm>
            <a:off x="395288" y="177800"/>
            <a:ext cx="8569200" cy="29845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solidFill>
                  <a:srgbClr val="FF0000"/>
                </a:solidFill>
                <a:latin typeface="Arial" charset="0"/>
                <a:ea typeface="+mj-ea"/>
                <a:cs typeface="Arial" charset="0"/>
              </a:rPr>
              <a:t>Nineties glam neuroscience</a:t>
            </a:r>
            <a:endParaRPr kumimoji="0" lang="en-US" sz="3200" b="0" i="0" u="none" strike="noStrike" kern="1200" cap="none" spc="0" normalizeH="0" baseline="0" noProof="0" dirty="0">
              <a:ln>
                <a:noFill/>
              </a:ln>
              <a:solidFill>
                <a:srgbClr val="FF0000"/>
              </a:solidFill>
              <a:effectLst/>
              <a:uLnTx/>
              <a:uFillTx/>
              <a:latin typeface="Arial" charset="0"/>
              <a:ea typeface="+mj-ea"/>
              <a:cs typeface="Arial" charset="0"/>
            </a:endParaRPr>
          </a:p>
        </p:txBody>
      </p:sp>
    </p:spTree>
    <p:extLst>
      <p:ext uri="{BB962C8B-B14F-4D97-AF65-F5344CB8AC3E}">
        <p14:creationId xmlns:p14="http://schemas.microsoft.com/office/powerpoint/2010/main" val="16996162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4610" descr="prsa.tif"/>
          <p:cNvPicPr>
            <a:picLocks noChangeAspect="1"/>
          </p:cNvPicPr>
          <p:nvPr/>
        </p:nvPicPr>
        <p:blipFill>
          <a:blip r:embed="rId3" cstate="print"/>
          <a:srcRect/>
          <a:stretch>
            <a:fillRect/>
          </a:stretch>
        </p:blipFill>
        <p:spPr bwMode="auto">
          <a:xfrm>
            <a:off x="4427538" y="476250"/>
            <a:ext cx="1584325" cy="1300163"/>
          </a:xfrm>
          <a:prstGeom prst="rect">
            <a:avLst/>
          </a:prstGeom>
          <a:noFill/>
          <a:ln w="9525">
            <a:noFill/>
            <a:miter lim="800000"/>
            <a:headEnd/>
            <a:tailEnd/>
          </a:ln>
        </p:spPr>
      </p:pic>
      <p:pic>
        <p:nvPicPr>
          <p:cNvPr id="1031" name="Picture 4609" descr="prsb.tif"/>
          <p:cNvPicPr>
            <a:picLocks noChangeAspect="1"/>
          </p:cNvPicPr>
          <p:nvPr/>
        </p:nvPicPr>
        <p:blipFill>
          <a:blip r:embed="rId4" cstate="print"/>
          <a:srcRect/>
          <a:stretch>
            <a:fillRect/>
          </a:stretch>
        </p:blipFill>
        <p:spPr bwMode="auto">
          <a:xfrm>
            <a:off x="6156325" y="476250"/>
            <a:ext cx="1658938" cy="1296988"/>
          </a:xfrm>
          <a:prstGeom prst="rect">
            <a:avLst/>
          </a:prstGeom>
          <a:noFill/>
          <a:ln w="9525">
            <a:noFill/>
            <a:miter lim="800000"/>
            <a:headEnd/>
            <a:tailEnd/>
          </a:ln>
        </p:spPr>
      </p:pic>
      <p:sp>
        <p:nvSpPr>
          <p:cNvPr id="2057" name="Rectangle 102"/>
          <p:cNvSpPr>
            <a:spLocks noChangeArrowheads="1"/>
          </p:cNvSpPr>
          <p:nvPr/>
        </p:nvSpPr>
        <p:spPr bwMode="auto">
          <a:xfrm>
            <a:off x="3203575" y="1916113"/>
            <a:ext cx="5635625" cy="2808287"/>
          </a:xfrm>
          <a:prstGeom prst="rect">
            <a:avLst/>
          </a:prstGeom>
          <a:solidFill>
            <a:schemeClr val="bg1">
              <a:lumMod val="75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sp>
        <p:nvSpPr>
          <p:cNvPr id="2058" name="Rectangle 103"/>
          <p:cNvSpPr>
            <a:spLocks noChangeArrowheads="1"/>
          </p:cNvSpPr>
          <p:nvPr/>
        </p:nvSpPr>
        <p:spPr bwMode="auto">
          <a:xfrm>
            <a:off x="5184775" y="1916113"/>
            <a:ext cx="179388" cy="2808287"/>
          </a:xfrm>
          <a:prstGeom prst="rect">
            <a:avLst/>
          </a:prstGeom>
          <a:solidFill>
            <a:schemeClr val="accent6">
              <a:lumMod val="40000"/>
              <a:lumOff val="60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sp>
        <p:nvSpPr>
          <p:cNvPr id="2059" name="Rectangle 104"/>
          <p:cNvSpPr>
            <a:spLocks noChangeArrowheads="1"/>
          </p:cNvSpPr>
          <p:nvPr/>
        </p:nvSpPr>
        <p:spPr bwMode="auto">
          <a:xfrm>
            <a:off x="7056438" y="1916113"/>
            <a:ext cx="179387" cy="2808287"/>
          </a:xfrm>
          <a:prstGeom prst="rect">
            <a:avLst/>
          </a:prstGeom>
          <a:solidFill>
            <a:schemeClr val="accent6">
              <a:lumMod val="40000"/>
              <a:lumOff val="60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sp>
        <p:nvSpPr>
          <p:cNvPr id="1035" name="Rectangle 2"/>
          <p:cNvSpPr>
            <a:spLocks noGrp="1" noChangeArrowheads="1"/>
          </p:cNvSpPr>
          <p:nvPr>
            <p:ph type="title"/>
          </p:nvPr>
        </p:nvSpPr>
        <p:spPr>
          <a:xfrm>
            <a:off x="395288" y="177800"/>
            <a:ext cx="8569200" cy="298450"/>
          </a:xfrm>
        </p:spPr>
        <p:txBody>
          <a:bodyPr>
            <a:noAutofit/>
          </a:bodyPr>
          <a:lstStyle/>
          <a:p>
            <a:pPr eaLnBrk="1" hangingPunct="1"/>
            <a:r>
              <a:rPr lang="en-US" sz="3200" dirty="0">
                <a:solidFill>
                  <a:srgbClr val="FF0000"/>
                </a:solidFill>
                <a:latin typeface="Arial" charset="0"/>
                <a:cs typeface="Arial" charset="0"/>
              </a:rPr>
              <a:t>Information analysis with dynamic stimuli</a:t>
            </a:r>
          </a:p>
        </p:txBody>
      </p:sp>
      <p:sp>
        <p:nvSpPr>
          <p:cNvPr id="2055" name="Rectangle 106"/>
          <p:cNvSpPr>
            <a:spLocks noChangeArrowheads="1"/>
          </p:cNvSpPr>
          <p:nvPr/>
        </p:nvSpPr>
        <p:spPr bwMode="auto">
          <a:xfrm>
            <a:off x="3170238" y="765175"/>
            <a:ext cx="969962" cy="465138"/>
          </a:xfrm>
          <a:prstGeom prst="rect">
            <a:avLst/>
          </a:prstGeom>
          <a:solidFill>
            <a:schemeClr val="accent6">
              <a:lumMod val="40000"/>
              <a:lumOff val="60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sp>
        <p:nvSpPr>
          <p:cNvPr id="2056" name="Rectangle 105"/>
          <p:cNvSpPr>
            <a:spLocks noChangeArrowheads="1"/>
          </p:cNvSpPr>
          <p:nvPr/>
        </p:nvSpPr>
        <p:spPr bwMode="auto">
          <a:xfrm>
            <a:off x="3170238" y="1230313"/>
            <a:ext cx="969962" cy="466725"/>
          </a:xfrm>
          <a:prstGeom prst="rect">
            <a:avLst/>
          </a:prstGeom>
          <a:solidFill>
            <a:schemeClr val="bg1">
              <a:lumMod val="65000"/>
            </a:schemeClr>
          </a:solidFill>
          <a:ln w="9525">
            <a:solidFill>
              <a:srgbClr val="F8F8F8"/>
            </a:solidFill>
            <a:miter lim="800000"/>
            <a:headEnd/>
            <a:tailEnd/>
          </a:ln>
        </p:spPr>
        <p:txBody>
          <a:bodyPr wrap="none" anchor="ctr"/>
          <a:lstStyle/>
          <a:p>
            <a:pPr fontAlgn="auto">
              <a:spcBef>
                <a:spcPts val="0"/>
              </a:spcBef>
              <a:spcAft>
                <a:spcPts val="0"/>
              </a:spcAft>
              <a:defRPr/>
            </a:pPr>
            <a:endParaRPr lang="en-US">
              <a:latin typeface="+mn-lt"/>
            </a:endParaRPr>
          </a:p>
        </p:txBody>
      </p:sp>
      <p:graphicFrame>
        <p:nvGraphicFramePr>
          <p:cNvPr id="1026" name="Object 81"/>
          <p:cNvGraphicFramePr>
            <a:graphicFrameLocks noChangeAspect="1"/>
          </p:cNvGraphicFramePr>
          <p:nvPr/>
        </p:nvGraphicFramePr>
        <p:xfrm>
          <a:off x="179388" y="857250"/>
          <a:ext cx="3841750" cy="842963"/>
        </p:xfrm>
        <a:graphic>
          <a:graphicData uri="http://schemas.openxmlformats.org/presentationml/2006/ole">
            <mc:AlternateContent xmlns:mc="http://schemas.openxmlformats.org/markup-compatibility/2006">
              <mc:Choice xmlns:v="urn:schemas-microsoft-com:vml" Requires="v">
                <p:oleObj name="Equazione" r:id="rId5" imgW="2273300" imgH="431800" progId="Equation.3">
                  <p:embed/>
                </p:oleObj>
              </mc:Choice>
              <mc:Fallback>
                <p:oleObj name="Equazione" r:id="rId5" imgW="2273300" imgH="431800" progId="Equation.3">
                  <p:embed/>
                  <p:pic>
                    <p:nvPicPr>
                      <p:cNvPr id="1026" name="Object 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857250"/>
                        <a:ext cx="3841750" cy="842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9" name="Text Box 76"/>
          <p:cNvSpPr txBox="1">
            <a:spLocks noChangeArrowheads="1"/>
          </p:cNvSpPr>
          <p:nvPr/>
        </p:nvSpPr>
        <p:spPr bwMode="auto">
          <a:xfrm>
            <a:off x="5003800" y="4652963"/>
            <a:ext cx="561975" cy="369887"/>
          </a:xfrm>
          <a:prstGeom prst="rect">
            <a:avLst/>
          </a:prstGeom>
          <a:noFill/>
          <a:ln w="9525">
            <a:noFill/>
            <a:miter lim="800000"/>
            <a:headEnd/>
            <a:tailEnd/>
          </a:ln>
        </p:spPr>
        <p:txBody>
          <a:bodyPr>
            <a:spAutoFit/>
          </a:bodyPr>
          <a:lstStyle/>
          <a:p>
            <a:pPr>
              <a:spcBef>
                <a:spcPct val="50000"/>
              </a:spcBef>
            </a:pPr>
            <a:r>
              <a:rPr lang="en-US"/>
              <a:t>s</a:t>
            </a:r>
            <a:r>
              <a:rPr lang="en-US" baseline="-25000"/>
              <a:t>A</a:t>
            </a:r>
            <a:endParaRPr lang="en-US"/>
          </a:p>
        </p:txBody>
      </p:sp>
      <p:graphicFrame>
        <p:nvGraphicFramePr>
          <p:cNvPr id="1027" name="Object 82"/>
          <p:cNvGraphicFramePr>
            <a:graphicFrameLocks noChangeAspect="1"/>
          </p:cNvGraphicFramePr>
          <p:nvPr/>
        </p:nvGraphicFramePr>
        <p:xfrm>
          <a:off x="5003800" y="692150"/>
          <a:ext cx="1096963" cy="433388"/>
        </p:xfrm>
        <a:graphic>
          <a:graphicData uri="http://schemas.openxmlformats.org/presentationml/2006/ole">
            <mc:AlternateContent xmlns:mc="http://schemas.openxmlformats.org/markup-compatibility/2006">
              <mc:Choice xmlns:v="urn:schemas-microsoft-com:vml" Requires="v">
                <p:oleObj name="Equazione" r:id="rId7" imgW="545626" imgH="215713" progId="Equation.3">
                  <p:embed/>
                </p:oleObj>
              </mc:Choice>
              <mc:Fallback>
                <p:oleObj name="Equazione" r:id="rId7" imgW="545626" imgH="215713" progId="Equation.3">
                  <p:embed/>
                  <p:pic>
                    <p:nvPicPr>
                      <p:cNvPr id="1027" name="Object 8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3800" y="692150"/>
                        <a:ext cx="1096963"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83"/>
          <p:cNvGraphicFramePr>
            <a:graphicFrameLocks noChangeAspect="1"/>
          </p:cNvGraphicFramePr>
          <p:nvPr/>
        </p:nvGraphicFramePr>
        <p:xfrm>
          <a:off x="6948488" y="692150"/>
          <a:ext cx="1089025" cy="431800"/>
        </p:xfrm>
        <a:graphic>
          <a:graphicData uri="http://schemas.openxmlformats.org/presentationml/2006/ole">
            <mc:AlternateContent xmlns:mc="http://schemas.openxmlformats.org/markup-compatibility/2006">
              <mc:Choice xmlns:v="urn:schemas-microsoft-com:vml" Requires="v">
                <p:oleObj name="Equazione" r:id="rId9" imgW="545626" imgH="215713" progId="Equation.3">
                  <p:embed/>
                </p:oleObj>
              </mc:Choice>
              <mc:Fallback>
                <p:oleObj name="Equazione" r:id="rId9" imgW="545626" imgH="215713" progId="Equation.3">
                  <p:embed/>
                  <p:pic>
                    <p:nvPicPr>
                      <p:cNvPr id="1028" name="Object 8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8488" y="692150"/>
                        <a:ext cx="1089025"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942"/>
          <p:cNvGrpSpPr>
            <a:grpSpLocks/>
          </p:cNvGrpSpPr>
          <p:nvPr/>
        </p:nvGrpSpPr>
        <p:grpSpPr bwMode="auto">
          <a:xfrm>
            <a:off x="3276600" y="1989138"/>
            <a:ext cx="5472113" cy="2735262"/>
            <a:chOff x="1543050" y="1873251"/>
            <a:chExt cx="6723063" cy="2795588"/>
          </a:xfrm>
        </p:grpSpPr>
        <p:grpSp>
          <p:nvGrpSpPr>
            <p:cNvPr id="3" name="Group 406"/>
            <p:cNvGrpSpPr>
              <a:grpSpLocks/>
            </p:cNvGrpSpPr>
            <p:nvPr/>
          </p:nvGrpSpPr>
          <p:grpSpPr bwMode="auto">
            <a:xfrm>
              <a:off x="1909841" y="4213368"/>
              <a:ext cx="6356610" cy="455628"/>
              <a:chOff x="1203" y="2654"/>
              <a:chExt cx="4004" cy="287"/>
            </a:xfrm>
          </p:grpSpPr>
          <p:sp>
            <p:nvSpPr>
              <p:cNvPr id="7611" name="Freeform 206"/>
              <p:cNvSpPr>
                <a:spLocks/>
              </p:cNvSpPr>
              <p:nvPr/>
            </p:nvSpPr>
            <p:spPr bwMode="auto">
              <a:xfrm>
                <a:off x="3241" y="2932"/>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12" name="Freeform 207"/>
              <p:cNvSpPr>
                <a:spLocks/>
              </p:cNvSpPr>
              <p:nvPr/>
            </p:nvSpPr>
            <p:spPr bwMode="auto">
              <a:xfrm>
                <a:off x="3248" y="2932"/>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13" name="Freeform 208"/>
              <p:cNvSpPr>
                <a:spLocks/>
              </p:cNvSpPr>
              <p:nvPr/>
            </p:nvSpPr>
            <p:spPr bwMode="auto">
              <a:xfrm>
                <a:off x="3311" y="2932"/>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14" name="Freeform 209"/>
              <p:cNvSpPr>
                <a:spLocks/>
              </p:cNvSpPr>
              <p:nvPr/>
            </p:nvSpPr>
            <p:spPr bwMode="auto">
              <a:xfrm>
                <a:off x="3329" y="2932"/>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15" name="Freeform 210"/>
              <p:cNvSpPr>
                <a:spLocks/>
              </p:cNvSpPr>
              <p:nvPr/>
            </p:nvSpPr>
            <p:spPr bwMode="auto">
              <a:xfrm>
                <a:off x="3336" y="2932"/>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16" name="Freeform 211"/>
              <p:cNvSpPr>
                <a:spLocks/>
              </p:cNvSpPr>
              <p:nvPr/>
            </p:nvSpPr>
            <p:spPr bwMode="auto">
              <a:xfrm>
                <a:off x="3362" y="2932"/>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17" name="Freeform 212"/>
              <p:cNvSpPr>
                <a:spLocks/>
              </p:cNvSpPr>
              <p:nvPr/>
            </p:nvSpPr>
            <p:spPr bwMode="auto">
              <a:xfrm>
                <a:off x="3526" y="2932"/>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18" name="Freeform 213"/>
              <p:cNvSpPr>
                <a:spLocks/>
              </p:cNvSpPr>
              <p:nvPr/>
            </p:nvSpPr>
            <p:spPr bwMode="auto">
              <a:xfrm>
                <a:off x="3859" y="2932"/>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19" name="Freeform 214"/>
              <p:cNvSpPr>
                <a:spLocks/>
              </p:cNvSpPr>
              <p:nvPr/>
            </p:nvSpPr>
            <p:spPr bwMode="auto">
              <a:xfrm>
                <a:off x="4207" y="2932"/>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20" name="Freeform 215"/>
              <p:cNvSpPr>
                <a:spLocks/>
              </p:cNvSpPr>
              <p:nvPr/>
            </p:nvSpPr>
            <p:spPr bwMode="auto">
              <a:xfrm>
                <a:off x="4290" y="2932"/>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1" name="Freeform 216"/>
              <p:cNvSpPr>
                <a:spLocks/>
              </p:cNvSpPr>
              <p:nvPr/>
            </p:nvSpPr>
            <p:spPr bwMode="auto">
              <a:xfrm>
                <a:off x="5177" y="2932"/>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22" name="Freeform 217"/>
              <p:cNvSpPr>
                <a:spLocks/>
              </p:cNvSpPr>
              <p:nvPr/>
            </p:nvSpPr>
            <p:spPr bwMode="auto">
              <a:xfrm>
                <a:off x="1564"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23" name="Freeform 218"/>
              <p:cNvSpPr>
                <a:spLocks/>
              </p:cNvSpPr>
              <p:nvPr/>
            </p:nvSpPr>
            <p:spPr bwMode="auto">
              <a:xfrm>
                <a:off x="1567" y="2892"/>
                <a:ext cx="11" cy="10"/>
              </a:xfrm>
              <a:custGeom>
                <a:avLst/>
                <a:gdLst>
                  <a:gd name="T0" fmla="*/ 4 w 11"/>
                  <a:gd name="T1" fmla="*/ 0 h 10"/>
                  <a:gd name="T2" fmla="*/ 7 w 11"/>
                  <a:gd name="T3" fmla="*/ 0 h 10"/>
                  <a:gd name="T4" fmla="*/ 11 w 11"/>
                  <a:gd name="T5" fmla="*/ 3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4" name="Freeform 219"/>
              <p:cNvSpPr>
                <a:spLocks/>
              </p:cNvSpPr>
              <p:nvPr/>
            </p:nvSpPr>
            <p:spPr bwMode="auto">
              <a:xfrm>
                <a:off x="1581"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5" name="Freeform 220"/>
              <p:cNvSpPr>
                <a:spLocks/>
              </p:cNvSpPr>
              <p:nvPr/>
            </p:nvSpPr>
            <p:spPr bwMode="auto">
              <a:xfrm>
                <a:off x="1597"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6" name="Freeform 221"/>
              <p:cNvSpPr>
                <a:spLocks/>
              </p:cNvSpPr>
              <p:nvPr/>
            </p:nvSpPr>
            <p:spPr bwMode="auto">
              <a:xfrm>
                <a:off x="1604"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7" name="Freeform 222"/>
              <p:cNvSpPr>
                <a:spLocks/>
              </p:cNvSpPr>
              <p:nvPr/>
            </p:nvSpPr>
            <p:spPr bwMode="auto">
              <a:xfrm>
                <a:off x="1630"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28" name="Freeform 223"/>
              <p:cNvSpPr>
                <a:spLocks/>
              </p:cNvSpPr>
              <p:nvPr/>
            </p:nvSpPr>
            <p:spPr bwMode="auto">
              <a:xfrm>
                <a:off x="1636" y="2892"/>
                <a:ext cx="8" cy="10"/>
              </a:xfrm>
              <a:custGeom>
                <a:avLst/>
                <a:gdLst>
                  <a:gd name="T0" fmla="*/ 3 w 8"/>
                  <a:gd name="T1" fmla="*/ 0 h 10"/>
                  <a:gd name="T2" fmla="*/ 5 w 8"/>
                  <a:gd name="T3" fmla="*/ 0 h 10"/>
                  <a:gd name="T4" fmla="*/ 8 w 8"/>
                  <a:gd name="T5" fmla="*/ 3 h 10"/>
                  <a:gd name="T6" fmla="*/ 8 w 8"/>
                  <a:gd name="T7" fmla="*/ 9 h 10"/>
                  <a:gd name="T8" fmla="*/ 7 w 8"/>
                  <a:gd name="T9" fmla="*/ 10 h 10"/>
                  <a:gd name="T10" fmla="*/ 1 w 8"/>
                  <a:gd name="T11" fmla="*/ 10 h 10"/>
                  <a:gd name="T12" fmla="*/ 0 w 8"/>
                  <a:gd name="T13" fmla="*/ 9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9"/>
                    </a:lnTo>
                    <a:lnTo>
                      <a:pt x="7"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29" name="Freeform 224"/>
              <p:cNvSpPr>
                <a:spLocks/>
              </p:cNvSpPr>
              <p:nvPr/>
            </p:nvSpPr>
            <p:spPr bwMode="auto">
              <a:xfrm>
                <a:off x="1656" y="2892"/>
                <a:ext cx="11" cy="10"/>
              </a:xfrm>
              <a:custGeom>
                <a:avLst/>
                <a:gdLst>
                  <a:gd name="T0" fmla="*/ 4 w 11"/>
                  <a:gd name="T1" fmla="*/ 0 h 10"/>
                  <a:gd name="T2" fmla="*/ 7 w 11"/>
                  <a:gd name="T3" fmla="*/ 0 h 10"/>
                  <a:gd name="T4" fmla="*/ 11 w 11"/>
                  <a:gd name="T5" fmla="*/ 3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0" name="Freeform 225"/>
              <p:cNvSpPr>
                <a:spLocks/>
              </p:cNvSpPr>
              <p:nvPr/>
            </p:nvSpPr>
            <p:spPr bwMode="auto">
              <a:xfrm>
                <a:off x="1686"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1" name="Freeform 226"/>
              <p:cNvSpPr>
                <a:spLocks/>
              </p:cNvSpPr>
              <p:nvPr/>
            </p:nvSpPr>
            <p:spPr bwMode="auto">
              <a:xfrm>
                <a:off x="1819"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32" name="Freeform 227"/>
              <p:cNvSpPr>
                <a:spLocks/>
              </p:cNvSpPr>
              <p:nvPr/>
            </p:nvSpPr>
            <p:spPr bwMode="auto">
              <a:xfrm>
                <a:off x="2510"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3" name="Freeform 228"/>
              <p:cNvSpPr>
                <a:spLocks/>
              </p:cNvSpPr>
              <p:nvPr/>
            </p:nvSpPr>
            <p:spPr bwMode="auto">
              <a:xfrm>
                <a:off x="2520"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4" name="Freeform 229"/>
              <p:cNvSpPr>
                <a:spLocks/>
              </p:cNvSpPr>
              <p:nvPr/>
            </p:nvSpPr>
            <p:spPr bwMode="auto">
              <a:xfrm>
                <a:off x="2536"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5" name="Freeform 230"/>
              <p:cNvSpPr>
                <a:spLocks/>
              </p:cNvSpPr>
              <p:nvPr/>
            </p:nvSpPr>
            <p:spPr bwMode="auto">
              <a:xfrm>
                <a:off x="2538" y="2892"/>
                <a:ext cx="10" cy="10"/>
              </a:xfrm>
              <a:custGeom>
                <a:avLst/>
                <a:gdLst>
                  <a:gd name="T0" fmla="*/ 3 w 10"/>
                  <a:gd name="T1" fmla="*/ 0 h 10"/>
                  <a:gd name="T2" fmla="*/ 7 w 10"/>
                  <a:gd name="T3" fmla="*/ 0 h 10"/>
                  <a:gd name="T4" fmla="*/ 10 w 10"/>
                  <a:gd name="T5" fmla="*/ 3 h 10"/>
                  <a:gd name="T6" fmla="*/ 10 w 10"/>
                  <a:gd name="T7" fmla="*/ 9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9"/>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36" name="Freeform 231"/>
              <p:cNvSpPr>
                <a:spLocks/>
              </p:cNvSpPr>
              <p:nvPr/>
            </p:nvSpPr>
            <p:spPr bwMode="auto">
              <a:xfrm>
                <a:off x="3222"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37" name="Freeform 232"/>
              <p:cNvSpPr>
                <a:spLocks/>
              </p:cNvSpPr>
              <p:nvPr/>
            </p:nvSpPr>
            <p:spPr bwMode="auto">
              <a:xfrm>
                <a:off x="3226" y="2892"/>
                <a:ext cx="10" cy="10"/>
              </a:xfrm>
              <a:custGeom>
                <a:avLst/>
                <a:gdLst>
                  <a:gd name="T0" fmla="*/ 3 w 10"/>
                  <a:gd name="T1" fmla="*/ 0 h 10"/>
                  <a:gd name="T2" fmla="*/ 7 w 10"/>
                  <a:gd name="T3" fmla="*/ 0 h 10"/>
                  <a:gd name="T4" fmla="*/ 10 w 10"/>
                  <a:gd name="T5" fmla="*/ 3 h 10"/>
                  <a:gd name="T6" fmla="*/ 10 w 10"/>
                  <a:gd name="T7" fmla="*/ 9 h 10"/>
                  <a:gd name="T8" fmla="*/ 8 w 10"/>
                  <a:gd name="T9" fmla="*/ 10 h 10"/>
                  <a:gd name="T10" fmla="*/ 1 w 10"/>
                  <a:gd name="T11" fmla="*/ 10 h 10"/>
                  <a:gd name="T12" fmla="*/ 0 w 10"/>
                  <a:gd name="T13" fmla="*/ 9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9"/>
                    </a:lnTo>
                    <a:lnTo>
                      <a:pt x="8"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38" name="Freeform 233"/>
              <p:cNvSpPr>
                <a:spLocks/>
              </p:cNvSpPr>
              <p:nvPr/>
            </p:nvSpPr>
            <p:spPr bwMode="auto">
              <a:xfrm>
                <a:off x="3301" y="2892"/>
                <a:ext cx="8" cy="10"/>
              </a:xfrm>
              <a:custGeom>
                <a:avLst/>
                <a:gdLst>
                  <a:gd name="T0" fmla="*/ 3 w 8"/>
                  <a:gd name="T1" fmla="*/ 0 h 10"/>
                  <a:gd name="T2" fmla="*/ 5 w 8"/>
                  <a:gd name="T3" fmla="*/ 0 h 10"/>
                  <a:gd name="T4" fmla="*/ 8 w 8"/>
                  <a:gd name="T5" fmla="*/ 3 h 10"/>
                  <a:gd name="T6" fmla="*/ 8 w 8"/>
                  <a:gd name="T7" fmla="*/ 9 h 10"/>
                  <a:gd name="T8" fmla="*/ 7 w 8"/>
                  <a:gd name="T9" fmla="*/ 10 h 10"/>
                  <a:gd name="T10" fmla="*/ 1 w 8"/>
                  <a:gd name="T11" fmla="*/ 10 h 10"/>
                  <a:gd name="T12" fmla="*/ 0 w 8"/>
                  <a:gd name="T13" fmla="*/ 9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9"/>
                    </a:lnTo>
                    <a:lnTo>
                      <a:pt x="7"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39" name="Freeform 234"/>
              <p:cNvSpPr>
                <a:spLocks/>
              </p:cNvSpPr>
              <p:nvPr/>
            </p:nvSpPr>
            <p:spPr bwMode="auto">
              <a:xfrm>
                <a:off x="3313" y="2892"/>
                <a:ext cx="10" cy="10"/>
              </a:xfrm>
              <a:custGeom>
                <a:avLst/>
                <a:gdLst>
                  <a:gd name="T0" fmla="*/ 3 w 10"/>
                  <a:gd name="T1" fmla="*/ 0 h 10"/>
                  <a:gd name="T2" fmla="*/ 7 w 10"/>
                  <a:gd name="T3" fmla="*/ 0 h 10"/>
                  <a:gd name="T4" fmla="*/ 10 w 10"/>
                  <a:gd name="T5" fmla="*/ 3 h 10"/>
                  <a:gd name="T6" fmla="*/ 10 w 10"/>
                  <a:gd name="T7" fmla="*/ 9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9"/>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40" name="Freeform 235"/>
              <p:cNvSpPr>
                <a:spLocks/>
              </p:cNvSpPr>
              <p:nvPr/>
            </p:nvSpPr>
            <p:spPr bwMode="auto">
              <a:xfrm>
                <a:off x="3337"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1" name="Freeform 236"/>
              <p:cNvSpPr>
                <a:spLocks/>
              </p:cNvSpPr>
              <p:nvPr/>
            </p:nvSpPr>
            <p:spPr bwMode="auto">
              <a:xfrm>
                <a:off x="3526"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42" name="Freeform 237"/>
              <p:cNvSpPr>
                <a:spLocks/>
              </p:cNvSpPr>
              <p:nvPr/>
            </p:nvSpPr>
            <p:spPr bwMode="auto">
              <a:xfrm>
                <a:off x="3531" y="2892"/>
                <a:ext cx="11" cy="10"/>
              </a:xfrm>
              <a:custGeom>
                <a:avLst/>
                <a:gdLst>
                  <a:gd name="T0" fmla="*/ 4 w 11"/>
                  <a:gd name="T1" fmla="*/ 0 h 10"/>
                  <a:gd name="T2" fmla="*/ 7 w 11"/>
                  <a:gd name="T3" fmla="*/ 0 h 10"/>
                  <a:gd name="T4" fmla="*/ 11 w 11"/>
                  <a:gd name="T5" fmla="*/ 3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3" name="Freeform 238"/>
              <p:cNvSpPr>
                <a:spLocks/>
              </p:cNvSpPr>
              <p:nvPr/>
            </p:nvSpPr>
            <p:spPr bwMode="auto">
              <a:xfrm>
                <a:off x="3981"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4" name="Freeform 239"/>
              <p:cNvSpPr>
                <a:spLocks/>
              </p:cNvSpPr>
              <p:nvPr/>
            </p:nvSpPr>
            <p:spPr bwMode="auto">
              <a:xfrm>
                <a:off x="3988"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5" name="Freeform 240"/>
              <p:cNvSpPr>
                <a:spLocks/>
              </p:cNvSpPr>
              <p:nvPr/>
            </p:nvSpPr>
            <p:spPr bwMode="auto">
              <a:xfrm>
                <a:off x="4184"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46" name="Freeform 241"/>
              <p:cNvSpPr>
                <a:spLocks/>
              </p:cNvSpPr>
              <p:nvPr/>
            </p:nvSpPr>
            <p:spPr bwMode="auto">
              <a:xfrm>
                <a:off x="4201"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7" name="Freeform 242"/>
              <p:cNvSpPr>
                <a:spLocks/>
              </p:cNvSpPr>
              <p:nvPr/>
            </p:nvSpPr>
            <p:spPr bwMode="auto">
              <a:xfrm>
                <a:off x="4208"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8" name="Freeform 243"/>
              <p:cNvSpPr>
                <a:spLocks/>
              </p:cNvSpPr>
              <p:nvPr/>
            </p:nvSpPr>
            <p:spPr bwMode="auto">
              <a:xfrm>
                <a:off x="4210"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49" name="Freeform 244"/>
              <p:cNvSpPr>
                <a:spLocks/>
              </p:cNvSpPr>
              <p:nvPr/>
            </p:nvSpPr>
            <p:spPr bwMode="auto">
              <a:xfrm>
                <a:off x="4310" y="2892"/>
                <a:ext cx="8" cy="10"/>
              </a:xfrm>
              <a:custGeom>
                <a:avLst/>
                <a:gdLst>
                  <a:gd name="T0" fmla="*/ 3 w 8"/>
                  <a:gd name="T1" fmla="*/ 0 h 10"/>
                  <a:gd name="T2" fmla="*/ 5 w 8"/>
                  <a:gd name="T3" fmla="*/ 0 h 10"/>
                  <a:gd name="T4" fmla="*/ 8 w 8"/>
                  <a:gd name="T5" fmla="*/ 3 h 10"/>
                  <a:gd name="T6" fmla="*/ 8 w 8"/>
                  <a:gd name="T7" fmla="*/ 9 h 10"/>
                  <a:gd name="T8" fmla="*/ 7 w 8"/>
                  <a:gd name="T9" fmla="*/ 10 h 10"/>
                  <a:gd name="T10" fmla="*/ 1 w 8"/>
                  <a:gd name="T11" fmla="*/ 10 h 10"/>
                  <a:gd name="T12" fmla="*/ 0 w 8"/>
                  <a:gd name="T13" fmla="*/ 9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9"/>
                    </a:lnTo>
                    <a:lnTo>
                      <a:pt x="7"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0" name="Freeform 245"/>
              <p:cNvSpPr>
                <a:spLocks/>
              </p:cNvSpPr>
              <p:nvPr/>
            </p:nvSpPr>
            <p:spPr bwMode="auto">
              <a:xfrm>
                <a:off x="1573" y="2854"/>
                <a:ext cx="8" cy="8"/>
              </a:xfrm>
              <a:custGeom>
                <a:avLst/>
                <a:gdLst>
                  <a:gd name="T0" fmla="*/ 1 w 8"/>
                  <a:gd name="T1" fmla="*/ 0 h 8"/>
                  <a:gd name="T2" fmla="*/ 5 w 8"/>
                  <a:gd name="T3" fmla="*/ 0 h 8"/>
                  <a:gd name="T4" fmla="*/ 8 w 8"/>
                  <a:gd name="T5" fmla="*/ 3 h 8"/>
                  <a:gd name="T6" fmla="*/ 8 w 8"/>
                  <a:gd name="T7" fmla="*/ 6 h 8"/>
                  <a:gd name="T8" fmla="*/ 7 w 8"/>
                  <a:gd name="T9" fmla="*/ 8 h 8"/>
                  <a:gd name="T10" fmla="*/ 1 w 8"/>
                  <a:gd name="T11" fmla="*/ 8 h 8"/>
                  <a:gd name="T12" fmla="*/ 0 w 8"/>
                  <a:gd name="T13" fmla="*/ 6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6"/>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51" name="Freeform 246"/>
              <p:cNvSpPr>
                <a:spLocks/>
              </p:cNvSpPr>
              <p:nvPr/>
            </p:nvSpPr>
            <p:spPr bwMode="auto">
              <a:xfrm>
                <a:off x="1576" y="2854"/>
                <a:ext cx="11" cy="8"/>
              </a:xfrm>
              <a:custGeom>
                <a:avLst/>
                <a:gdLst>
                  <a:gd name="T0" fmla="*/ 4 w 11"/>
                  <a:gd name="T1" fmla="*/ 0 h 8"/>
                  <a:gd name="T2" fmla="*/ 9 w 11"/>
                  <a:gd name="T3" fmla="*/ 0 h 8"/>
                  <a:gd name="T4" fmla="*/ 11 w 11"/>
                  <a:gd name="T5" fmla="*/ 1 h 8"/>
                  <a:gd name="T6" fmla="*/ 11 w 11"/>
                  <a:gd name="T7" fmla="*/ 6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52" name="Freeform 247"/>
              <p:cNvSpPr>
                <a:spLocks/>
              </p:cNvSpPr>
              <p:nvPr/>
            </p:nvSpPr>
            <p:spPr bwMode="auto">
              <a:xfrm>
                <a:off x="1587"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3" name="Freeform 248"/>
              <p:cNvSpPr>
                <a:spLocks/>
              </p:cNvSpPr>
              <p:nvPr/>
            </p:nvSpPr>
            <p:spPr bwMode="auto">
              <a:xfrm>
                <a:off x="2021" y="2854"/>
                <a:ext cx="9" cy="8"/>
              </a:xfrm>
              <a:custGeom>
                <a:avLst/>
                <a:gdLst>
                  <a:gd name="T0" fmla="*/ 2 w 9"/>
                  <a:gd name="T1" fmla="*/ 0 h 8"/>
                  <a:gd name="T2" fmla="*/ 6 w 9"/>
                  <a:gd name="T3" fmla="*/ 0 h 8"/>
                  <a:gd name="T4" fmla="*/ 9 w 9"/>
                  <a:gd name="T5" fmla="*/ 3 h 8"/>
                  <a:gd name="T6" fmla="*/ 9 w 9"/>
                  <a:gd name="T7" fmla="*/ 6 h 8"/>
                  <a:gd name="T8" fmla="*/ 7 w 9"/>
                  <a:gd name="T9" fmla="*/ 8 h 8"/>
                  <a:gd name="T10" fmla="*/ 2 w 9"/>
                  <a:gd name="T11" fmla="*/ 8 h 8"/>
                  <a:gd name="T12" fmla="*/ 0 w 9"/>
                  <a:gd name="T13" fmla="*/ 6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6"/>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54" name="Freeform 249"/>
              <p:cNvSpPr>
                <a:spLocks/>
              </p:cNvSpPr>
              <p:nvPr/>
            </p:nvSpPr>
            <p:spPr bwMode="auto">
              <a:xfrm>
                <a:off x="2093"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5" name="Freeform 250"/>
              <p:cNvSpPr>
                <a:spLocks/>
              </p:cNvSpPr>
              <p:nvPr/>
            </p:nvSpPr>
            <p:spPr bwMode="auto">
              <a:xfrm>
                <a:off x="2142" y="2854"/>
                <a:ext cx="8" cy="8"/>
              </a:xfrm>
              <a:custGeom>
                <a:avLst/>
                <a:gdLst>
                  <a:gd name="T0" fmla="*/ 1 w 8"/>
                  <a:gd name="T1" fmla="*/ 0 h 8"/>
                  <a:gd name="T2" fmla="*/ 5 w 8"/>
                  <a:gd name="T3" fmla="*/ 0 h 8"/>
                  <a:gd name="T4" fmla="*/ 8 w 8"/>
                  <a:gd name="T5" fmla="*/ 3 h 8"/>
                  <a:gd name="T6" fmla="*/ 8 w 8"/>
                  <a:gd name="T7" fmla="*/ 6 h 8"/>
                  <a:gd name="T8" fmla="*/ 7 w 8"/>
                  <a:gd name="T9" fmla="*/ 8 h 8"/>
                  <a:gd name="T10" fmla="*/ 1 w 8"/>
                  <a:gd name="T11" fmla="*/ 8 h 8"/>
                  <a:gd name="T12" fmla="*/ 0 w 8"/>
                  <a:gd name="T13" fmla="*/ 6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6"/>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56" name="Freeform 251"/>
              <p:cNvSpPr>
                <a:spLocks/>
              </p:cNvSpPr>
              <p:nvPr/>
            </p:nvSpPr>
            <p:spPr bwMode="auto">
              <a:xfrm>
                <a:off x="2147"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7" name="Freeform 252"/>
              <p:cNvSpPr>
                <a:spLocks/>
              </p:cNvSpPr>
              <p:nvPr/>
            </p:nvSpPr>
            <p:spPr bwMode="auto">
              <a:xfrm>
                <a:off x="2149"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58" name="Freeform 253"/>
              <p:cNvSpPr>
                <a:spLocks/>
              </p:cNvSpPr>
              <p:nvPr/>
            </p:nvSpPr>
            <p:spPr bwMode="auto">
              <a:xfrm>
                <a:off x="2463"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59" name="Freeform 254"/>
              <p:cNvSpPr>
                <a:spLocks/>
              </p:cNvSpPr>
              <p:nvPr/>
            </p:nvSpPr>
            <p:spPr bwMode="auto">
              <a:xfrm>
                <a:off x="2496" y="2854"/>
                <a:ext cx="11" cy="8"/>
              </a:xfrm>
              <a:custGeom>
                <a:avLst/>
                <a:gdLst>
                  <a:gd name="T0" fmla="*/ 4 w 11"/>
                  <a:gd name="T1" fmla="*/ 0 h 8"/>
                  <a:gd name="T2" fmla="*/ 9 w 11"/>
                  <a:gd name="T3" fmla="*/ 0 h 8"/>
                  <a:gd name="T4" fmla="*/ 11 w 11"/>
                  <a:gd name="T5" fmla="*/ 1 h 8"/>
                  <a:gd name="T6" fmla="*/ 11 w 11"/>
                  <a:gd name="T7" fmla="*/ 6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60" name="Freeform 255"/>
              <p:cNvSpPr>
                <a:spLocks/>
              </p:cNvSpPr>
              <p:nvPr/>
            </p:nvSpPr>
            <p:spPr bwMode="auto">
              <a:xfrm>
                <a:off x="2503" y="2854"/>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6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61" name="Freeform 256"/>
              <p:cNvSpPr>
                <a:spLocks/>
              </p:cNvSpPr>
              <p:nvPr/>
            </p:nvSpPr>
            <p:spPr bwMode="auto">
              <a:xfrm>
                <a:off x="2512"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62" name="Freeform 257"/>
              <p:cNvSpPr>
                <a:spLocks/>
              </p:cNvSpPr>
              <p:nvPr/>
            </p:nvSpPr>
            <p:spPr bwMode="auto">
              <a:xfrm>
                <a:off x="2533"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63" name="Freeform 258"/>
              <p:cNvSpPr>
                <a:spLocks/>
              </p:cNvSpPr>
              <p:nvPr/>
            </p:nvSpPr>
            <p:spPr bwMode="auto">
              <a:xfrm>
                <a:off x="2554" y="2854"/>
                <a:ext cx="10" cy="8"/>
              </a:xfrm>
              <a:custGeom>
                <a:avLst/>
                <a:gdLst>
                  <a:gd name="T0" fmla="*/ 3 w 10"/>
                  <a:gd name="T1" fmla="*/ 0 h 8"/>
                  <a:gd name="T2" fmla="*/ 8 w 10"/>
                  <a:gd name="T3" fmla="*/ 0 h 8"/>
                  <a:gd name="T4" fmla="*/ 10 w 10"/>
                  <a:gd name="T5" fmla="*/ 1 h 8"/>
                  <a:gd name="T6" fmla="*/ 10 w 10"/>
                  <a:gd name="T7" fmla="*/ 6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6"/>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64" name="Freeform 259"/>
              <p:cNvSpPr>
                <a:spLocks/>
              </p:cNvSpPr>
              <p:nvPr/>
            </p:nvSpPr>
            <p:spPr bwMode="auto">
              <a:xfrm>
                <a:off x="2564"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65" name="Freeform 260"/>
              <p:cNvSpPr>
                <a:spLocks/>
              </p:cNvSpPr>
              <p:nvPr/>
            </p:nvSpPr>
            <p:spPr bwMode="auto">
              <a:xfrm>
                <a:off x="3137" y="2854"/>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66" name="Freeform 261"/>
              <p:cNvSpPr>
                <a:spLocks/>
              </p:cNvSpPr>
              <p:nvPr/>
            </p:nvSpPr>
            <p:spPr bwMode="auto">
              <a:xfrm>
                <a:off x="3138" y="2854"/>
                <a:ext cx="11" cy="8"/>
              </a:xfrm>
              <a:custGeom>
                <a:avLst/>
                <a:gdLst>
                  <a:gd name="T0" fmla="*/ 4 w 11"/>
                  <a:gd name="T1" fmla="*/ 0 h 8"/>
                  <a:gd name="T2" fmla="*/ 9 w 11"/>
                  <a:gd name="T3" fmla="*/ 0 h 8"/>
                  <a:gd name="T4" fmla="*/ 11 w 11"/>
                  <a:gd name="T5" fmla="*/ 1 h 8"/>
                  <a:gd name="T6" fmla="*/ 11 w 11"/>
                  <a:gd name="T7" fmla="*/ 6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67" name="Freeform 262"/>
              <p:cNvSpPr>
                <a:spLocks/>
              </p:cNvSpPr>
              <p:nvPr/>
            </p:nvSpPr>
            <p:spPr bwMode="auto">
              <a:xfrm>
                <a:off x="3158"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68" name="Freeform 263"/>
              <p:cNvSpPr>
                <a:spLocks/>
              </p:cNvSpPr>
              <p:nvPr/>
            </p:nvSpPr>
            <p:spPr bwMode="auto">
              <a:xfrm>
                <a:off x="3161" y="2854"/>
                <a:ext cx="11" cy="8"/>
              </a:xfrm>
              <a:custGeom>
                <a:avLst/>
                <a:gdLst>
                  <a:gd name="T0" fmla="*/ 2 w 11"/>
                  <a:gd name="T1" fmla="*/ 0 h 8"/>
                  <a:gd name="T2" fmla="*/ 9 w 11"/>
                  <a:gd name="T3" fmla="*/ 0 h 8"/>
                  <a:gd name="T4" fmla="*/ 11 w 11"/>
                  <a:gd name="T5" fmla="*/ 1 h 8"/>
                  <a:gd name="T6" fmla="*/ 11 w 11"/>
                  <a:gd name="T7" fmla="*/ 6 h 8"/>
                  <a:gd name="T8" fmla="*/ 9 w 11"/>
                  <a:gd name="T9" fmla="*/ 8 h 8"/>
                  <a:gd name="T10" fmla="*/ 2 w 11"/>
                  <a:gd name="T11" fmla="*/ 8 h 8"/>
                  <a:gd name="T12" fmla="*/ 0 w 11"/>
                  <a:gd name="T13" fmla="*/ 6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9" y="0"/>
                    </a:lnTo>
                    <a:lnTo>
                      <a:pt x="11" y="1"/>
                    </a:lnTo>
                    <a:lnTo>
                      <a:pt x="11" y="6"/>
                    </a:lnTo>
                    <a:lnTo>
                      <a:pt x="9"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69" name="Freeform 264"/>
              <p:cNvSpPr>
                <a:spLocks/>
              </p:cNvSpPr>
              <p:nvPr/>
            </p:nvSpPr>
            <p:spPr bwMode="auto">
              <a:xfrm>
                <a:off x="3170" y="2854"/>
                <a:ext cx="10" cy="8"/>
              </a:xfrm>
              <a:custGeom>
                <a:avLst/>
                <a:gdLst>
                  <a:gd name="T0" fmla="*/ 3 w 10"/>
                  <a:gd name="T1" fmla="*/ 0 h 8"/>
                  <a:gd name="T2" fmla="*/ 9 w 10"/>
                  <a:gd name="T3" fmla="*/ 0 h 8"/>
                  <a:gd name="T4" fmla="*/ 10 w 10"/>
                  <a:gd name="T5" fmla="*/ 1 h 8"/>
                  <a:gd name="T6" fmla="*/ 10 w 10"/>
                  <a:gd name="T7" fmla="*/ 6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6"/>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70" name="Freeform 265"/>
              <p:cNvSpPr>
                <a:spLocks/>
              </p:cNvSpPr>
              <p:nvPr/>
            </p:nvSpPr>
            <p:spPr bwMode="auto">
              <a:xfrm>
                <a:off x="3173"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71" name="Freeform 266"/>
              <p:cNvSpPr>
                <a:spLocks/>
              </p:cNvSpPr>
              <p:nvPr/>
            </p:nvSpPr>
            <p:spPr bwMode="auto">
              <a:xfrm>
                <a:off x="3193" y="2854"/>
                <a:ext cx="10" cy="8"/>
              </a:xfrm>
              <a:custGeom>
                <a:avLst/>
                <a:gdLst>
                  <a:gd name="T0" fmla="*/ 1 w 10"/>
                  <a:gd name="T1" fmla="*/ 0 h 8"/>
                  <a:gd name="T2" fmla="*/ 6 w 10"/>
                  <a:gd name="T3" fmla="*/ 0 h 8"/>
                  <a:gd name="T4" fmla="*/ 10 w 10"/>
                  <a:gd name="T5" fmla="*/ 3 h 8"/>
                  <a:gd name="T6" fmla="*/ 10 w 10"/>
                  <a:gd name="T7" fmla="*/ 5 h 8"/>
                  <a:gd name="T8" fmla="*/ 6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6" y="0"/>
                    </a:lnTo>
                    <a:lnTo>
                      <a:pt x="10" y="3"/>
                    </a:lnTo>
                    <a:lnTo>
                      <a:pt x="10" y="5"/>
                    </a:lnTo>
                    <a:lnTo>
                      <a:pt x="6"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72" name="Freeform 267"/>
              <p:cNvSpPr>
                <a:spLocks/>
              </p:cNvSpPr>
              <p:nvPr/>
            </p:nvSpPr>
            <p:spPr bwMode="auto">
              <a:xfrm>
                <a:off x="3222"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73" name="Freeform 268"/>
              <p:cNvSpPr>
                <a:spLocks/>
              </p:cNvSpPr>
              <p:nvPr/>
            </p:nvSpPr>
            <p:spPr bwMode="auto">
              <a:xfrm>
                <a:off x="3224"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74" name="Freeform 269"/>
              <p:cNvSpPr>
                <a:spLocks/>
              </p:cNvSpPr>
              <p:nvPr/>
            </p:nvSpPr>
            <p:spPr bwMode="auto">
              <a:xfrm>
                <a:off x="3226" y="2854"/>
                <a:ext cx="10" cy="8"/>
              </a:xfrm>
              <a:custGeom>
                <a:avLst/>
                <a:gdLst>
                  <a:gd name="T0" fmla="*/ 1 w 10"/>
                  <a:gd name="T1" fmla="*/ 0 h 8"/>
                  <a:gd name="T2" fmla="*/ 8 w 10"/>
                  <a:gd name="T3" fmla="*/ 0 h 8"/>
                  <a:gd name="T4" fmla="*/ 10 w 10"/>
                  <a:gd name="T5" fmla="*/ 1 h 8"/>
                  <a:gd name="T6" fmla="*/ 10 w 10"/>
                  <a:gd name="T7" fmla="*/ 6 h 8"/>
                  <a:gd name="T8" fmla="*/ 8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8" y="0"/>
                    </a:lnTo>
                    <a:lnTo>
                      <a:pt x="10" y="1"/>
                    </a:lnTo>
                    <a:lnTo>
                      <a:pt x="10" y="6"/>
                    </a:lnTo>
                    <a:lnTo>
                      <a:pt x="8"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75" name="Freeform 270"/>
              <p:cNvSpPr>
                <a:spLocks/>
              </p:cNvSpPr>
              <p:nvPr/>
            </p:nvSpPr>
            <p:spPr bwMode="auto">
              <a:xfrm>
                <a:off x="3236"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76" name="Freeform 271"/>
              <p:cNvSpPr>
                <a:spLocks/>
              </p:cNvSpPr>
              <p:nvPr/>
            </p:nvSpPr>
            <p:spPr bwMode="auto">
              <a:xfrm>
                <a:off x="3240" y="2854"/>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77" name="Freeform 272"/>
              <p:cNvSpPr>
                <a:spLocks/>
              </p:cNvSpPr>
              <p:nvPr/>
            </p:nvSpPr>
            <p:spPr bwMode="auto">
              <a:xfrm>
                <a:off x="3278"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78" name="Freeform 273"/>
              <p:cNvSpPr>
                <a:spLocks/>
              </p:cNvSpPr>
              <p:nvPr/>
            </p:nvSpPr>
            <p:spPr bwMode="auto">
              <a:xfrm>
                <a:off x="3313" y="2854"/>
                <a:ext cx="10" cy="8"/>
              </a:xfrm>
              <a:custGeom>
                <a:avLst/>
                <a:gdLst>
                  <a:gd name="T0" fmla="*/ 3 w 10"/>
                  <a:gd name="T1" fmla="*/ 0 h 8"/>
                  <a:gd name="T2" fmla="*/ 9 w 10"/>
                  <a:gd name="T3" fmla="*/ 0 h 8"/>
                  <a:gd name="T4" fmla="*/ 10 w 10"/>
                  <a:gd name="T5" fmla="*/ 1 h 8"/>
                  <a:gd name="T6" fmla="*/ 10 w 10"/>
                  <a:gd name="T7" fmla="*/ 6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6"/>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79" name="Freeform 274"/>
              <p:cNvSpPr>
                <a:spLocks/>
              </p:cNvSpPr>
              <p:nvPr/>
            </p:nvSpPr>
            <p:spPr bwMode="auto">
              <a:xfrm>
                <a:off x="3318" y="2854"/>
                <a:ext cx="9" cy="8"/>
              </a:xfrm>
              <a:custGeom>
                <a:avLst/>
                <a:gdLst>
                  <a:gd name="T0" fmla="*/ 2 w 9"/>
                  <a:gd name="T1" fmla="*/ 0 h 8"/>
                  <a:gd name="T2" fmla="*/ 5 w 9"/>
                  <a:gd name="T3" fmla="*/ 0 h 8"/>
                  <a:gd name="T4" fmla="*/ 9 w 9"/>
                  <a:gd name="T5" fmla="*/ 3 h 8"/>
                  <a:gd name="T6" fmla="*/ 9 w 9"/>
                  <a:gd name="T7" fmla="*/ 6 h 8"/>
                  <a:gd name="T8" fmla="*/ 7 w 9"/>
                  <a:gd name="T9" fmla="*/ 8 h 8"/>
                  <a:gd name="T10" fmla="*/ 2 w 9"/>
                  <a:gd name="T11" fmla="*/ 8 h 8"/>
                  <a:gd name="T12" fmla="*/ 0 w 9"/>
                  <a:gd name="T13" fmla="*/ 6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6"/>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80" name="Freeform 275"/>
              <p:cNvSpPr>
                <a:spLocks/>
              </p:cNvSpPr>
              <p:nvPr/>
            </p:nvSpPr>
            <p:spPr bwMode="auto">
              <a:xfrm>
                <a:off x="4425"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81" name="Freeform 276"/>
              <p:cNvSpPr>
                <a:spLocks/>
              </p:cNvSpPr>
              <p:nvPr/>
            </p:nvSpPr>
            <p:spPr bwMode="auto">
              <a:xfrm>
                <a:off x="4451" y="2854"/>
                <a:ext cx="10" cy="8"/>
              </a:xfrm>
              <a:custGeom>
                <a:avLst/>
                <a:gdLst>
                  <a:gd name="T0" fmla="*/ 4 w 10"/>
                  <a:gd name="T1" fmla="*/ 0 h 8"/>
                  <a:gd name="T2" fmla="*/ 9 w 10"/>
                  <a:gd name="T3" fmla="*/ 0 h 8"/>
                  <a:gd name="T4" fmla="*/ 10 w 10"/>
                  <a:gd name="T5" fmla="*/ 1 h 8"/>
                  <a:gd name="T6" fmla="*/ 10 w 10"/>
                  <a:gd name="T7" fmla="*/ 6 h 8"/>
                  <a:gd name="T8" fmla="*/ 9 w 10"/>
                  <a:gd name="T9" fmla="*/ 8 h 8"/>
                  <a:gd name="T10" fmla="*/ 4 w 10"/>
                  <a:gd name="T11" fmla="*/ 8 h 8"/>
                  <a:gd name="T12" fmla="*/ 0 w 10"/>
                  <a:gd name="T13" fmla="*/ 5 h 8"/>
                  <a:gd name="T14" fmla="*/ 0 w 10"/>
                  <a:gd name="T15" fmla="*/ 3 h 8"/>
                  <a:gd name="T16" fmla="*/ 4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0"/>
                    </a:moveTo>
                    <a:lnTo>
                      <a:pt x="9" y="0"/>
                    </a:lnTo>
                    <a:lnTo>
                      <a:pt x="10" y="1"/>
                    </a:lnTo>
                    <a:lnTo>
                      <a:pt x="10"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82" name="Freeform 277"/>
              <p:cNvSpPr>
                <a:spLocks/>
              </p:cNvSpPr>
              <p:nvPr/>
            </p:nvSpPr>
            <p:spPr bwMode="auto">
              <a:xfrm>
                <a:off x="4510"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83" name="Freeform 278"/>
              <p:cNvSpPr>
                <a:spLocks/>
              </p:cNvSpPr>
              <p:nvPr/>
            </p:nvSpPr>
            <p:spPr bwMode="auto">
              <a:xfrm>
                <a:off x="4542"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84" name="Freeform 279"/>
              <p:cNvSpPr>
                <a:spLocks/>
              </p:cNvSpPr>
              <p:nvPr/>
            </p:nvSpPr>
            <p:spPr bwMode="auto">
              <a:xfrm>
                <a:off x="4582"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85" name="Freeform 280"/>
              <p:cNvSpPr>
                <a:spLocks/>
              </p:cNvSpPr>
              <p:nvPr/>
            </p:nvSpPr>
            <p:spPr bwMode="auto">
              <a:xfrm>
                <a:off x="1203"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86" name="Freeform 281"/>
              <p:cNvSpPr>
                <a:spLocks/>
              </p:cNvSpPr>
              <p:nvPr/>
            </p:nvSpPr>
            <p:spPr bwMode="auto">
              <a:xfrm>
                <a:off x="1232"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87" name="Freeform 282"/>
              <p:cNvSpPr>
                <a:spLocks/>
              </p:cNvSpPr>
              <p:nvPr/>
            </p:nvSpPr>
            <p:spPr bwMode="auto">
              <a:xfrm>
                <a:off x="1255" y="2813"/>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88" name="Freeform 283"/>
              <p:cNvSpPr>
                <a:spLocks/>
              </p:cNvSpPr>
              <p:nvPr/>
            </p:nvSpPr>
            <p:spPr bwMode="auto">
              <a:xfrm>
                <a:off x="1258" y="2813"/>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89" name="Freeform 284"/>
              <p:cNvSpPr>
                <a:spLocks/>
              </p:cNvSpPr>
              <p:nvPr/>
            </p:nvSpPr>
            <p:spPr bwMode="auto">
              <a:xfrm>
                <a:off x="1534" y="2813"/>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0" name="Freeform 285"/>
              <p:cNvSpPr>
                <a:spLocks/>
              </p:cNvSpPr>
              <p:nvPr/>
            </p:nvSpPr>
            <p:spPr bwMode="auto">
              <a:xfrm>
                <a:off x="1625"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91" name="Freeform 286"/>
              <p:cNvSpPr>
                <a:spLocks/>
              </p:cNvSpPr>
              <p:nvPr/>
            </p:nvSpPr>
            <p:spPr bwMode="auto">
              <a:xfrm>
                <a:off x="2526"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92" name="Freeform 287"/>
              <p:cNvSpPr>
                <a:spLocks/>
              </p:cNvSpPr>
              <p:nvPr/>
            </p:nvSpPr>
            <p:spPr bwMode="auto">
              <a:xfrm>
                <a:off x="2527" y="2813"/>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3" name="Freeform 288"/>
              <p:cNvSpPr>
                <a:spLocks/>
              </p:cNvSpPr>
              <p:nvPr/>
            </p:nvSpPr>
            <p:spPr bwMode="auto">
              <a:xfrm>
                <a:off x="2533"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94" name="Freeform 289"/>
              <p:cNvSpPr>
                <a:spLocks/>
              </p:cNvSpPr>
              <p:nvPr/>
            </p:nvSpPr>
            <p:spPr bwMode="auto">
              <a:xfrm>
                <a:off x="2541" y="2813"/>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5" name="Freeform 290"/>
              <p:cNvSpPr>
                <a:spLocks/>
              </p:cNvSpPr>
              <p:nvPr/>
            </p:nvSpPr>
            <p:spPr bwMode="auto">
              <a:xfrm>
                <a:off x="2543" y="2813"/>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6" name="Freeform 291"/>
              <p:cNvSpPr>
                <a:spLocks/>
              </p:cNvSpPr>
              <p:nvPr/>
            </p:nvSpPr>
            <p:spPr bwMode="auto">
              <a:xfrm>
                <a:off x="2559" y="2813"/>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97" name="Freeform 292"/>
              <p:cNvSpPr>
                <a:spLocks/>
              </p:cNvSpPr>
              <p:nvPr/>
            </p:nvSpPr>
            <p:spPr bwMode="auto">
              <a:xfrm>
                <a:off x="2582"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98" name="Freeform 293"/>
              <p:cNvSpPr>
                <a:spLocks/>
              </p:cNvSpPr>
              <p:nvPr/>
            </p:nvSpPr>
            <p:spPr bwMode="auto">
              <a:xfrm>
                <a:off x="2603" y="281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99" name="Freeform 294"/>
              <p:cNvSpPr>
                <a:spLocks/>
              </p:cNvSpPr>
              <p:nvPr/>
            </p:nvSpPr>
            <p:spPr bwMode="auto">
              <a:xfrm>
                <a:off x="2613" y="2813"/>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00" name="Freeform 295"/>
              <p:cNvSpPr>
                <a:spLocks/>
              </p:cNvSpPr>
              <p:nvPr/>
            </p:nvSpPr>
            <p:spPr bwMode="auto">
              <a:xfrm>
                <a:off x="3215" y="2813"/>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01" name="Freeform 296"/>
              <p:cNvSpPr>
                <a:spLocks/>
              </p:cNvSpPr>
              <p:nvPr/>
            </p:nvSpPr>
            <p:spPr bwMode="auto">
              <a:xfrm>
                <a:off x="3220" y="2813"/>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02" name="Freeform 297"/>
              <p:cNvSpPr>
                <a:spLocks/>
              </p:cNvSpPr>
              <p:nvPr/>
            </p:nvSpPr>
            <p:spPr bwMode="auto">
              <a:xfrm>
                <a:off x="3238" y="2813"/>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03" name="Freeform 298"/>
              <p:cNvSpPr>
                <a:spLocks/>
              </p:cNvSpPr>
              <p:nvPr/>
            </p:nvSpPr>
            <p:spPr bwMode="auto">
              <a:xfrm>
                <a:off x="3250"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04" name="Freeform 299"/>
              <p:cNvSpPr>
                <a:spLocks/>
              </p:cNvSpPr>
              <p:nvPr/>
            </p:nvSpPr>
            <p:spPr bwMode="auto">
              <a:xfrm>
                <a:off x="3280" y="2813"/>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05" name="Freeform 300"/>
              <p:cNvSpPr>
                <a:spLocks/>
              </p:cNvSpPr>
              <p:nvPr/>
            </p:nvSpPr>
            <p:spPr bwMode="auto">
              <a:xfrm>
                <a:off x="3287" y="2813"/>
                <a:ext cx="8" cy="9"/>
              </a:xfrm>
              <a:custGeom>
                <a:avLst/>
                <a:gdLst>
                  <a:gd name="T0" fmla="*/ 2 w 8"/>
                  <a:gd name="T1" fmla="*/ 0 h 9"/>
                  <a:gd name="T2" fmla="*/ 5 w 8"/>
                  <a:gd name="T3" fmla="*/ 0 h 9"/>
                  <a:gd name="T4" fmla="*/ 8 w 8"/>
                  <a:gd name="T5" fmla="*/ 4 h 9"/>
                  <a:gd name="T6" fmla="*/ 8 w 8"/>
                  <a:gd name="T7" fmla="*/ 7 h 9"/>
                  <a:gd name="T8" fmla="*/ 7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5" y="0"/>
                    </a:lnTo>
                    <a:lnTo>
                      <a:pt x="8" y="4"/>
                    </a:lnTo>
                    <a:lnTo>
                      <a:pt x="8"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06" name="Freeform 301"/>
              <p:cNvSpPr>
                <a:spLocks/>
              </p:cNvSpPr>
              <p:nvPr/>
            </p:nvSpPr>
            <p:spPr bwMode="auto">
              <a:xfrm>
                <a:off x="3289" y="2813"/>
                <a:ext cx="10" cy="9"/>
              </a:xfrm>
              <a:custGeom>
                <a:avLst/>
                <a:gdLst>
                  <a:gd name="T0" fmla="*/ 1 w 10"/>
                  <a:gd name="T1" fmla="*/ 0 h 9"/>
                  <a:gd name="T2" fmla="*/ 6 w 10"/>
                  <a:gd name="T3" fmla="*/ 0 h 9"/>
                  <a:gd name="T4" fmla="*/ 10 w 10"/>
                  <a:gd name="T5" fmla="*/ 4 h 9"/>
                  <a:gd name="T6" fmla="*/ 10 w 10"/>
                  <a:gd name="T7" fmla="*/ 6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4"/>
                    </a:lnTo>
                    <a:lnTo>
                      <a:pt x="10" y="6"/>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07" name="Freeform 302"/>
              <p:cNvSpPr>
                <a:spLocks/>
              </p:cNvSpPr>
              <p:nvPr/>
            </p:nvSpPr>
            <p:spPr bwMode="auto">
              <a:xfrm>
                <a:off x="3554" y="2813"/>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08" name="Freeform 303"/>
              <p:cNvSpPr>
                <a:spLocks/>
              </p:cNvSpPr>
              <p:nvPr/>
            </p:nvSpPr>
            <p:spPr bwMode="auto">
              <a:xfrm>
                <a:off x="3578"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09" name="Freeform 304"/>
              <p:cNvSpPr>
                <a:spLocks/>
              </p:cNvSpPr>
              <p:nvPr/>
            </p:nvSpPr>
            <p:spPr bwMode="auto">
              <a:xfrm>
                <a:off x="3622" y="2813"/>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10" name="Freeform 305"/>
              <p:cNvSpPr>
                <a:spLocks/>
              </p:cNvSpPr>
              <p:nvPr/>
            </p:nvSpPr>
            <p:spPr bwMode="auto">
              <a:xfrm>
                <a:off x="4261"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11" name="Freeform 306"/>
              <p:cNvSpPr>
                <a:spLocks/>
              </p:cNvSpPr>
              <p:nvPr/>
            </p:nvSpPr>
            <p:spPr bwMode="auto">
              <a:xfrm>
                <a:off x="4283"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12" name="Freeform 307"/>
              <p:cNvSpPr>
                <a:spLocks/>
              </p:cNvSpPr>
              <p:nvPr/>
            </p:nvSpPr>
            <p:spPr bwMode="auto">
              <a:xfrm>
                <a:off x="4339"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13" name="Freeform 308"/>
              <p:cNvSpPr>
                <a:spLocks/>
              </p:cNvSpPr>
              <p:nvPr/>
            </p:nvSpPr>
            <p:spPr bwMode="auto">
              <a:xfrm>
                <a:off x="4449" y="2813"/>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14" name="Freeform 309"/>
              <p:cNvSpPr>
                <a:spLocks/>
              </p:cNvSpPr>
              <p:nvPr/>
            </p:nvSpPr>
            <p:spPr bwMode="auto">
              <a:xfrm>
                <a:off x="4488" y="2813"/>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15" name="Freeform 310"/>
              <p:cNvSpPr>
                <a:spLocks/>
              </p:cNvSpPr>
              <p:nvPr/>
            </p:nvSpPr>
            <p:spPr bwMode="auto">
              <a:xfrm>
                <a:off x="1405" y="277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16" name="Freeform 311"/>
              <p:cNvSpPr>
                <a:spLocks/>
              </p:cNvSpPr>
              <p:nvPr/>
            </p:nvSpPr>
            <p:spPr bwMode="auto">
              <a:xfrm>
                <a:off x="1588"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17" name="Freeform 312"/>
              <p:cNvSpPr>
                <a:spLocks/>
              </p:cNvSpPr>
              <p:nvPr/>
            </p:nvSpPr>
            <p:spPr bwMode="auto">
              <a:xfrm>
                <a:off x="1590"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18" name="Freeform 313"/>
              <p:cNvSpPr>
                <a:spLocks/>
              </p:cNvSpPr>
              <p:nvPr/>
            </p:nvSpPr>
            <p:spPr bwMode="auto">
              <a:xfrm>
                <a:off x="1676" y="2773"/>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19" name="Freeform 314"/>
              <p:cNvSpPr>
                <a:spLocks/>
              </p:cNvSpPr>
              <p:nvPr/>
            </p:nvSpPr>
            <p:spPr bwMode="auto">
              <a:xfrm>
                <a:off x="1718" y="277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20" name="Freeform 315"/>
              <p:cNvSpPr>
                <a:spLocks/>
              </p:cNvSpPr>
              <p:nvPr/>
            </p:nvSpPr>
            <p:spPr bwMode="auto">
              <a:xfrm>
                <a:off x="1965" y="277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1" name="Freeform 316"/>
              <p:cNvSpPr>
                <a:spLocks/>
              </p:cNvSpPr>
              <p:nvPr/>
            </p:nvSpPr>
            <p:spPr bwMode="auto">
              <a:xfrm>
                <a:off x="2023" y="2773"/>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2" name="Freeform 317"/>
              <p:cNvSpPr>
                <a:spLocks/>
              </p:cNvSpPr>
              <p:nvPr/>
            </p:nvSpPr>
            <p:spPr bwMode="auto">
              <a:xfrm>
                <a:off x="2419"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3" name="Freeform 318"/>
              <p:cNvSpPr>
                <a:spLocks/>
              </p:cNvSpPr>
              <p:nvPr/>
            </p:nvSpPr>
            <p:spPr bwMode="auto">
              <a:xfrm>
                <a:off x="2437" y="277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24" name="Freeform 319"/>
              <p:cNvSpPr>
                <a:spLocks/>
              </p:cNvSpPr>
              <p:nvPr/>
            </p:nvSpPr>
            <p:spPr bwMode="auto">
              <a:xfrm>
                <a:off x="2440"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25" name="Freeform 320"/>
              <p:cNvSpPr>
                <a:spLocks/>
              </p:cNvSpPr>
              <p:nvPr/>
            </p:nvSpPr>
            <p:spPr bwMode="auto">
              <a:xfrm>
                <a:off x="2461"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6" name="Freeform 321"/>
              <p:cNvSpPr>
                <a:spLocks/>
              </p:cNvSpPr>
              <p:nvPr/>
            </p:nvSpPr>
            <p:spPr bwMode="auto">
              <a:xfrm>
                <a:off x="2541" y="277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7" name="Freeform 322"/>
              <p:cNvSpPr>
                <a:spLocks/>
              </p:cNvSpPr>
              <p:nvPr/>
            </p:nvSpPr>
            <p:spPr bwMode="auto">
              <a:xfrm>
                <a:off x="3009"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28" name="Freeform 323"/>
              <p:cNvSpPr>
                <a:spLocks/>
              </p:cNvSpPr>
              <p:nvPr/>
            </p:nvSpPr>
            <p:spPr bwMode="auto">
              <a:xfrm>
                <a:off x="3154"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29" name="Freeform 324"/>
              <p:cNvSpPr>
                <a:spLocks/>
              </p:cNvSpPr>
              <p:nvPr/>
            </p:nvSpPr>
            <p:spPr bwMode="auto">
              <a:xfrm>
                <a:off x="3165" y="2773"/>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30" name="Freeform 325"/>
              <p:cNvSpPr>
                <a:spLocks/>
              </p:cNvSpPr>
              <p:nvPr/>
            </p:nvSpPr>
            <p:spPr bwMode="auto">
              <a:xfrm>
                <a:off x="3175"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1" name="Freeform 326"/>
              <p:cNvSpPr>
                <a:spLocks/>
              </p:cNvSpPr>
              <p:nvPr/>
            </p:nvSpPr>
            <p:spPr bwMode="auto">
              <a:xfrm>
                <a:off x="3180"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2" name="Freeform 327"/>
              <p:cNvSpPr>
                <a:spLocks/>
              </p:cNvSpPr>
              <p:nvPr/>
            </p:nvSpPr>
            <p:spPr bwMode="auto">
              <a:xfrm>
                <a:off x="3233" y="2773"/>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33" name="Freeform 328"/>
              <p:cNvSpPr>
                <a:spLocks/>
              </p:cNvSpPr>
              <p:nvPr/>
            </p:nvSpPr>
            <p:spPr bwMode="auto">
              <a:xfrm>
                <a:off x="3236"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4" name="Freeform 329"/>
              <p:cNvSpPr>
                <a:spLocks/>
              </p:cNvSpPr>
              <p:nvPr/>
            </p:nvSpPr>
            <p:spPr bwMode="auto">
              <a:xfrm>
                <a:off x="3241"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35" name="Freeform 330"/>
              <p:cNvSpPr>
                <a:spLocks/>
              </p:cNvSpPr>
              <p:nvPr/>
            </p:nvSpPr>
            <p:spPr bwMode="auto">
              <a:xfrm>
                <a:off x="3269"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6" name="Freeform 331"/>
              <p:cNvSpPr>
                <a:spLocks/>
              </p:cNvSpPr>
              <p:nvPr/>
            </p:nvSpPr>
            <p:spPr bwMode="auto">
              <a:xfrm>
                <a:off x="3278"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7" name="Freeform 332"/>
              <p:cNvSpPr>
                <a:spLocks/>
              </p:cNvSpPr>
              <p:nvPr/>
            </p:nvSpPr>
            <p:spPr bwMode="auto">
              <a:xfrm>
                <a:off x="3287" y="2773"/>
                <a:ext cx="8" cy="9"/>
              </a:xfrm>
              <a:custGeom>
                <a:avLst/>
                <a:gdLst>
                  <a:gd name="T0" fmla="*/ 2 w 8"/>
                  <a:gd name="T1" fmla="*/ 0 h 9"/>
                  <a:gd name="T2" fmla="*/ 7 w 8"/>
                  <a:gd name="T3" fmla="*/ 0 h 9"/>
                  <a:gd name="T4" fmla="*/ 8 w 8"/>
                  <a:gd name="T5" fmla="*/ 2 h 9"/>
                  <a:gd name="T6" fmla="*/ 8 w 8"/>
                  <a:gd name="T7" fmla="*/ 5 h 9"/>
                  <a:gd name="T8" fmla="*/ 5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7" y="0"/>
                    </a:lnTo>
                    <a:lnTo>
                      <a:pt x="8" y="2"/>
                    </a:lnTo>
                    <a:lnTo>
                      <a:pt x="8"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38" name="Freeform 333"/>
              <p:cNvSpPr>
                <a:spLocks/>
              </p:cNvSpPr>
              <p:nvPr/>
            </p:nvSpPr>
            <p:spPr bwMode="auto">
              <a:xfrm>
                <a:off x="3290"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39" name="Freeform 334"/>
              <p:cNvSpPr>
                <a:spLocks/>
              </p:cNvSpPr>
              <p:nvPr/>
            </p:nvSpPr>
            <p:spPr bwMode="auto">
              <a:xfrm>
                <a:off x="3501"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0" name="Freeform 335"/>
              <p:cNvSpPr>
                <a:spLocks/>
              </p:cNvSpPr>
              <p:nvPr/>
            </p:nvSpPr>
            <p:spPr bwMode="auto">
              <a:xfrm>
                <a:off x="3954" y="277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41" name="Freeform 336"/>
              <p:cNvSpPr>
                <a:spLocks/>
              </p:cNvSpPr>
              <p:nvPr/>
            </p:nvSpPr>
            <p:spPr bwMode="auto">
              <a:xfrm>
                <a:off x="3961" y="277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42" name="Freeform 337"/>
              <p:cNvSpPr>
                <a:spLocks/>
              </p:cNvSpPr>
              <p:nvPr/>
            </p:nvSpPr>
            <p:spPr bwMode="auto">
              <a:xfrm>
                <a:off x="4105"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3" name="Freeform 338"/>
              <p:cNvSpPr>
                <a:spLocks/>
              </p:cNvSpPr>
              <p:nvPr/>
            </p:nvSpPr>
            <p:spPr bwMode="auto">
              <a:xfrm>
                <a:off x="4168" y="277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4" name="Freeform 339"/>
              <p:cNvSpPr>
                <a:spLocks/>
              </p:cNvSpPr>
              <p:nvPr/>
            </p:nvSpPr>
            <p:spPr bwMode="auto">
              <a:xfrm>
                <a:off x="4194"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45" name="Freeform 340"/>
              <p:cNvSpPr>
                <a:spLocks/>
              </p:cNvSpPr>
              <p:nvPr/>
            </p:nvSpPr>
            <p:spPr bwMode="auto">
              <a:xfrm>
                <a:off x="4201"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6" name="Freeform 341"/>
              <p:cNvSpPr>
                <a:spLocks/>
              </p:cNvSpPr>
              <p:nvPr/>
            </p:nvSpPr>
            <p:spPr bwMode="auto">
              <a:xfrm>
                <a:off x="4226" y="2773"/>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47" name="Freeform 342"/>
              <p:cNvSpPr>
                <a:spLocks/>
              </p:cNvSpPr>
              <p:nvPr/>
            </p:nvSpPr>
            <p:spPr bwMode="auto">
              <a:xfrm>
                <a:off x="4240" y="277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48" name="Freeform 343"/>
              <p:cNvSpPr>
                <a:spLocks/>
              </p:cNvSpPr>
              <p:nvPr/>
            </p:nvSpPr>
            <p:spPr bwMode="auto">
              <a:xfrm>
                <a:off x="1279" y="273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49" name="Freeform 344"/>
              <p:cNvSpPr>
                <a:spLocks/>
              </p:cNvSpPr>
              <p:nvPr/>
            </p:nvSpPr>
            <p:spPr bwMode="auto">
              <a:xfrm>
                <a:off x="1283" y="273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0" name="Freeform 345"/>
              <p:cNvSpPr>
                <a:spLocks/>
              </p:cNvSpPr>
              <p:nvPr/>
            </p:nvSpPr>
            <p:spPr bwMode="auto">
              <a:xfrm>
                <a:off x="1285"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51" name="Freeform 346"/>
              <p:cNvSpPr>
                <a:spLocks/>
              </p:cNvSpPr>
              <p:nvPr/>
            </p:nvSpPr>
            <p:spPr bwMode="auto">
              <a:xfrm>
                <a:off x="1323" y="273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2" name="Freeform 347"/>
              <p:cNvSpPr>
                <a:spLocks/>
              </p:cNvSpPr>
              <p:nvPr/>
            </p:nvSpPr>
            <p:spPr bwMode="auto">
              <a:xfrm>
                <a:off x="1606" y="273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3" name="Freeform 348"/>
              <p:cNvSpPr>
                <a:spLocks/>
              </p:cNvSpPr>
              <p:nvPr/>
            </p:nvSpPr>
            <p:spPr bwMode="auto">
              <a:xfrm>
                <a:off x="1637" y="273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4" name="Freeform 349"/>
              <p:cNvSpPr>
                <a:spLocks/>
              </p:cNvSpPr>
              <p:nvPr/>
            </p:nvSpPr>
            <p:spPr bwMode="auto">
              <a:xfrm>
                <a:off x="1641" y="273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55" name="Freeform 350"/>
              <p:cNvSpPr>
                <a:spLocks/>
              </p:cNvSpPr>
              <p:nvPr/>
            </p:nvSpPr>
            <p:spPr bwMode="auto">
              <a:xfrm>
                <a:off x="1669"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56" name="Freeform 351"/>
              <p:cNvSpPr>
                <a:spLocks/>
              </p:cNvSpPr>
              <p:nvPr/>
            </p:nvSpPr>
            <p:spPr bwMode="auto">
              <a:xfrm>
                <a:off x="2271" y="273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7" name="Freeform 352"/>
              <p:cNvSpPr>
                <a:spLocks/>
              </p:cNvSpPr>
              <p:nvPr/>
            </p:nvSpPr>
            <p:spPr bwMode="auto">
              <a:xfrm>
                <a:off x="2381" y="273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8" name="Freeform 353"/>
              <p:cNvSpPr>
                <a:spLocks/>
              </p:cNvSpPr>
              <p:nvPr/>
            </p:nvSpPr>
            <p:spPr bwMode="auto">
              <a:xfrm>
                <a:off x="2520"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59" name="Freeform 354"/>
              <p:cNvSpPr>
                <a:spLocks/>
              </p:cNvSpPr>
              <p:nvPr/>
            </p:nvSpPr>
            <p:spPr bwMode="auto">
              <a:xfrm>
                <a:off x="2526" y="2733"/>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60" name="Freeform 355"/>
              <p:cNvSpPr>
                <a:spLocks/>
              </p:cNvSpPr>
              <p:nvPr/>
            </p:nvSpPr>
            <p:spPr bwMode="auto">
              <a:xfrm>
                <a:off x="2527"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61" name="Freeform 356"/>
              <p:cNvSpPr>
                <a:spLocks/>
              </p:cNvSpPr>
              <p:nvPr/>
            </p:nvSpPr>
            <p:spPr bwMode="auto">
              <a:xfrm>
                <a:off x="2538" y="2733"/>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62" name="Freeform 357"/>
              <p:cNvSpPr>
                <a:spLocks/>
              </p:cNvSpPr>
              <p:nvPr/>
            </p:nvSpPr>
            <p:spPr bwMode="auto">
              <a:xfrm>
                <a:off x="2615"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63" name="Freeform 358"/>
              <p:cNvSpPr>
                <a:spLocks/>
              </p:cNvSpPr>
              <p:nvPr/>
            </p:nvSpPr>
            <p:spPr bwMode="auto">
              <a:xfrm>
                <a:off x="3193" y="2733"/>
                <a:ext cx="10" cy="9"/>
              </a:xfrm>
              <a:custGeom>
                <a:avLst/>
                <a:gdLst>
                  <a:gd name="T0" fmla="*/ 1 w 10"/>
                  <a:gd name="T1" fmla="*/ 0 h 9"/>
                  <a:gd name="T2" fmla="*/ 6 w 10"/>
                  <a:gd name="T3" fmla="*/ 0 h 9"/>
                  <a:gd name="T4" fmla="*/ 10 w 10"/>
                  <a:gd name="T5" fmla="*/ 3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3"/>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64" name="Freeform 359"/>
              <p:cNvSpPr>
                <a:spLocks/>
              </p:cNvSpPr>
              <p:nvPr/>
            </p:nvSpPr>
            <p:spPr bwMode="auto">
              <a:xfrm>
                <a:off x="3198"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65" name="Freeform 360"/>
              <p:cNvSpPr>
                <a:spLocks/>
              </p:cNvSpPr>
              <p:nvPr/>
            </p:nvSpPr>
            <p:spPr bwMode="auto">
              <a:xfrm>
                <a:off x="3222" y="273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66" name="Freeform 361"/>
              <p:cNvSpPr>
                <a:spLocks/>
              </p:cNvSpPr>
              <p:nvPr/>
            </p:nvSpPr>
            <p:spPr bwMode="auto">
              <a:xfrm>
                <a:off x="3224" y="2733"/>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67" name="Freeform 362"/>
              <p:cNvSpPr>
                <a:spLocks/>
              </p:cNvSpPr>
              <p:nvPr/>
            </p:nvSpPr>
            <p:spPr bwMode="auto">
              <a:xfrm>
                <a:off x="3255" y="273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68" name="Freeform 363"/>
              <p:cNvSpPr>
                <a:spLocks/>
              </p:cNvSpPr>
              <p:nvPr/>
            </p:nvSpPr>
            <p:spPr bwMode="auto">
              <a:xfrm>
                <a:off x="3257" y="273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69" name="Freeform 364"/>
              <p:cNvSpPr>
                <a:spLocks/>
              </p:cNvSpPr>
              <p:nvPr/>
            </p:nvSpPr>
            <p:spPr bwMode="auto">
              <a:xfrm>
                <a:off x="3315" y="273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70" name="Freeform 365"/>
              <p:cNvSpPr>
                <a:spLocks/>
              </p:cNvSpPr>
              <p:nvPr/>
            </p:nvSpPr>
            <p:spPr bwMode="auto">
              <a:xfrm>
                <a:off x="3577" y="2733"/>
                <a:ext cx="10" cy="9"/>
              </a:xfrm>
              <a:custGeom>
                <a:avLst/>
                <a:gdLst>
                  <a:gd name="T0" fmla="*/ 1 w 10"/>
                  <a:gd name="T1" fmla="*/ 0 h 9"/>
                  <a:gd name="T2" fmla="*/ 6 w 10"/>
                  <a:gd name="T3" fmla="*/ 0 h 9"/>
                  <a:gd name="T4" fmla="*/ 10 w 10"/>
                  <a:gd name="T5" fmla="*/ 3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3"/>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71" name="Freeform 366"/>
              <p:cNvSpPr>
                <a:spLocks/>
              </p:cNvSpPr>
              <p:nvPr/>
            </p:nvSpPr>
            <p:spPr bwMode="auto">
              <a:xfrm>
                <a:off x="4208"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2" name="Freeform 367"/>
              <p:cNvSpPr>
                <a:spLocks/>
              </p:cNvSpPr>
              <p:nvPr/>
            </p:nvSpPr>
            <p:spPr bwMode="auto">
              <a:xfrm>
                <a:off x="4297"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3" name="Freeform 368"/>
              <p:cNvSpPr>
                <a:spLocks/>
              </p:cNvSpPr>
              <p:nvPr/>
            </p:nvSpPr>
            <p:spPr bwMode="auto">
              <a:xfrm>
                <a:off x="1576"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74" name="Freeform 369"/>
              <p:cNvSpPr>
                <a:spLocks/>
              </p:cNvSpPr>
              <p:nvPr/>
            </p:nvSpPr>
            <p:spPr bwMode="auto">
              <a:xfrm>
                <a:off x="1580"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75" name="Freeform 370"/>
              <p:cNvSpPr>
                <a:spLocks/>
              </p:cNvSpPr>
              <p:nvPr/>
            </p:nvSpPr>
            <p:spPr bwMode="auto">
              <a:xfrm>
                <a:off x="1588"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6" name="Freeform 371"/>
              <p:cNvSpPr>
                <a:spLocks/>
              </p:cNvSpPr>
              <p:nvPr/>
            </p:nvSpPr>
            <p:spPr bwMode="auto">
              <a:xfrm>
                <a:off x="1590"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7" name="Freeform 372"/>
              <p:cNvSpPr>
                <a:spLocks/>
              </p:cNvSpPr>
              <p:nvPr/>
            </p:nvSpPr>
            <p:spPr bwMode="auto">
              <a:xfrm>
                <a:off x="1599" y="2693"/>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78" name="Freeform 373"/>
              <p:cNvSpPr>
                <a:spLocks/>
              </p:cNvSpPr>
              <p:nvPr/>
            </p:nvSpPr>
            <p:spPr bwMode="auto">
              <a:xfrm>
                <a:off x="1648" y="2693"/>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79" name="Freeform 374"/>
              <p:cNvSpPr>
                <a:spLocks/>
              </p:cNvSpPr>
              <p:nvPr/>
            </p:nvSpPr>
            <p:spPr bwMode="auto">
              <a:xfrm>
                <a:off x="2505" y="2693"/>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80" name="Freeform 375"/>
              <p:cNvSpPr>
                <a:spLocks/>
              </p:cNvSpPr>
              <p:nvPr/>
            </p:nvSpPr>
            <p:spPr bwMode="auto">
              <a:xfrm>
                <a:off x="2508"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81" name="Freeform 376"/>
              <p:cNvSpPr>
                <a:spLocks/>
              </p:cNvSpPr>
              <p:nvPr/>
            </p:nvSpPr>
            <p:spPr bwMode="auto">
              <a:xfrm>
                <a:off x="2526"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82" name="Freeform 377"/>
              <p:cNvSpPr>
                <a:spLocks/>
              </p:cNvSpPr>
              <p:nvPr/>
            </p:nvSpPr>
            <p:spPr bwMode="auto">
              <a:xfrm>
                <a:off x="2533"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83" name="Freeform 378"/>
              <p:cNvSpPr>
                <a:spLocks/>
              </p:cNvSpPr>
              <p:nvPr/>
            </p:nvSpPr>
            <p:spPr bwMode="auto">
              <a:xfrm>
                <a:off x="3166"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84" name="Freeform 379"/>
              <p:cNvSpPr>
                <a:spLocks/>
              </p:cNvSpPr>
              <p:nvPr/>
            </p:nvSpPr>
            <p:spPr bwMode="auto">
              <a:xfrm>
                <a:off x="3170" y="2693"/>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85" name="Freeform 380"/>
              <p:cNvSpPr>
                <a:spLocks/>
              </p:cNvSpPr>
              <p:nvPr/>
            </p:nvSpPr>
            <p:spPr bwMode="auto">
              <a:xfrm>
                <a:off x="3173"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86" name="Freeform 381"/>
              <p:cNvSpPr>
                <a:spLocks/>
              </p:cNvSpPr>
              <p:nvPr/>
            </p:nvSpPr>
            <p:spPr bwMode="auto">
              <a:xfrm>
                <a:off x="3191" y="2693"/>
                <a:ext cx="8" cy="10"/>
              </a:xfrm>
              <a:custGeom>
                <a:avLst/>
                <a:gdLst>
                  <a:gd name="T0" fmla="*/ 2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2"/>
                    </a:lnTo>
                    <a:lnTo>
                      <a:pt x="8"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87" name="Freeform 382"/>
              <p:cNvSpPr>
                <a:spLocks/>
              </p:cNvSpPr>
              <p:nvPr/>
            </p:nvSpPr>
            <p:spPr bwMode="auto">
              <a:xfrm>
                <a:off x="3194"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88" name="Freeform 383"/>
              <p:cNvSpPr>
                <a:spLocks/>
              </p:cNvSpPr>
              <p:nvPr/>
            </p:nvSpPr>
            <p:spPr bwMode="auto">
              <a:xfrm>
                <a:off x="3203" y="2693"/>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89" name="Freeform 384"/>
              <p:cNvSpPr>
                <a:spLocks/>
              </p:cNvSpPr>
              <p:nvPr/>
            </p:nvSpPr>
            <p:spPr bwMode="auto">
              <a:xfrm>
                <a:off x="3206"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0" name="Freeform 385"/>
              <p:cNvSpPr>
                <a:spLocks/>
              </p:cNvSpPr>
              <p:nvPr/>
            </p:nvSpPr>
            <p:spPr bwMode="auto">
              <a:xfrm>
                <a:off x="3208"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1" name="Freeform 386"/>
              <p:cNvSpPr>
                <a:spLocks/>
              </p:cNvSpPr>
              <p:nvPr/>
            </p:nvSpPr>
            <p:spPr bwMode="auto">
              <a:xfrm>
                <a:off x="3217" y="2693"/>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2" name="Freeform 387"/>
              <p:cNvSpPr>
                <a:spLocks/>
              </p:cNvSpPr>
              <p:nvPr/>
            </p:nvSpPr>
            <p:spPr bwMode="auto">
              <a:xfrm>
                <a:off x="3231"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3" name="Freeform 388"/>
              <p:cNvSpPr>
                <a:spLocks/>
              </p:cNvSpPr>
              <p:nvPr/>
            </p:nvSpPr>
            <p:spPr bwMode="auto">
              <a:xfrm>
                <a:off x="3278"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4" name="Freeform 389"/>
              <p:cNvSpPr>
                <a:spLocks/>
              </p:cNvSpPr>
              <p:nvPr/>
            </p:nvSpPr>
            <p:spPr bwMode="auto">
              <a:xfrm>
                <a:off x="3297"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95" name="Freeform 390"/>
              <p:cNvSpPr>
                <a:spLocks/>
              </p:cNvSpPr>
              <p:nvPr/>
            </p:nvSpPr>
            <p:spPr bwMode="auto">
              <a:xfrm>
                <a:off x="3301"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96" name="Freeform 391"/>
              <p:cNvSpPr>
                <a:spLocks/>
              </p:cNvSpPr>
              <p:nvPr/>
            </p:nvSpPr>
            <p:spPr bwMode="auto">
              <a:xfrm>
                <a:off x="3318"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7" name="Freeform 392"/>
              <p:cNvSpPr>
                <a:spLocks/>
              </p:cNvSpPr>
              <p:nvPr/>
            </p:nvSpPr>
            <p:spPr bwMode="auto">
              <a:xfrm>
                <a:off x="3320" y="2693"/>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98" name="Freeform 393"/>
              <p:cNvSpPr>
                <a:spLocks/>
              </p:cNvSpPr>
              <p:nvPr/>
            </p:nvSpPr>
            <p:spPr bwMode="auto">
              <a:xfrm>
                <a:off x="3535"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799" name="Freeform 394"/>
              <p:cNvSpPr>
                <a:spLocks/>
              </p:cNvSpPr>
              <p:nvPr/>
            </p:nvSpPr>
            <p:spPr bwMode="auto">
              <a:xfrm>
                <a:off x="3543"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800" name="Freeform 395"/>
              <p:cNvSpPr>
                <a:spLocks/>
              </p:cNvSpPr>
              <p:nvPr/>
            </p:nvSpPr>
            <p:spPr bwMode="auto">
              <a:xfrm>
                <a:off x="3545"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801" name="Freeform 396"/>
              <p:cNvSpPr>
                <a:spLocks/>
              </p:cNvSpPr>
              <p:nvPr/>
            </p:nvSpPr>
            <p:spPr bwMode="auto">
              <a:xfrm>
                <a:off x="3582"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802" name="Freeform 397"/>
              <p:cNvSpPr>
                <a:spLocks/>
              </p:cNvSpPr>
              <p:nvPr/>
            </p:nvSpPr>
            <p:spPr bwMode="auto">
              <a:xfrm>
                <a:off x="4290"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03" name="Freeform 398"/>
              <p:cNvSpPr>
                <a:spLocks/>
              </p:cNvSpPr>
              <p:nvPr/>
            </p:nvSpPr>
            <p:spPr bwMode="auto">
              <a:xfrm>
                <a:off x="4345"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804" name="Freeform 399"/>
              <p:cNvSpPr>
                <a:spLocks/>
              </p:cNvSpPr>
              <p:nvPr/>
            </p:nvSpPr>
            <p:spPr bwMode="auto">
              <a:xfrm>
                <a:off x="4392"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805" name="Freeform 400"/>
              <p:cNvSpPr>
                <a:spLocks/>
              </p:cNvSpPr>
              <p:nvPr/>
            </p:nvSpPr>
            <p:spPr bwMode="auto">
              <a:xfrm>
                <a:off x="4488"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806" name="Freeform 401"/>
              <p:cNvSpPr>
                <a:spLocks/>
              </p:cNvSpPr>
              <p:nvPr/>
            </p:nvSpPr>
            <p:spPr bwMode="auto">
              <a:xfrm>
                <a:off x="4512"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807" name="Freeform 402"/>
              <p:cNvSpPr>
                <a:spLocks/>
              </p:cNvSpPr>
              <p:nvPr/>
            </p:nvSpPr>
            <p:spPr bwMode="auto">
              <a:xfrm>
                <a:off x="4585"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808" name="Freeform 403"/>
              <p:cNvSpPr>
                <a:spLocks/>
              </p:cNvSpPr>
              <p:nvPr/>
            </p:nvSpPr>
            <p:spPr bwMode="auto">
              <a:xfrm>
                <a:off x="5196"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09" name="Freeform 404"/>
              <p:cNvSpPr>
                <a:spLocks/>
              </p:cNvSpPr>
              <p:nvPr/>
            </p:nvSpPr>
            <p:spPr bwMode="auto">
              <a:xfrm>
                <a:off x="1248" y="2654"/>
                <a:ext cx="10" cy="9"/>
              </a:xfrm>
              <a:custGeom>
                <a:avLst/>
                <a:gdLst>
                  <a:gd name="T0" fmla="*/ 4 w 10"/>
                  <a:gd name="T1" fmla="*/ 0 h 9"/>
                  <a:gd name="T2" fmla="*/ 9 w 10"/>
                  <a:gd name="T3" fmla="*/ 0 h 9"/>
                  <a:gd name="T4" fmla="*/ 10 w 10"/>
                  <a:gd name="T5" fmla="*/ 2 h 9"/>
                  <a:gd name="T6" fmla="*/ 10 w 10"/>
                  <a:gd name="T7" fmla="*/ 7 h 9"/>
                  <a:gd name="T8" fmla="*/ 9 w 10"/>
                  <a:gd name="T9" fmla="*/ 9 h 9"/>
                  <a:gd name="T10" fmla="*/ 4 w 10"/>
                  <a:gd name="T11" fmla="*/ 9 h 9"/>
                  <a:gd name="T12" fmla="*/ 0 w 10"/>
                  <a:gd name="T13" fmla="*/ 6 h 9"/>
                  <a:gd name="T14" fmla="*/ 0 w 10"/>
                  <a:gd name="T15" fmla="*/ 4 h 9"/>
                  <a:gd name="T16" fmla="*/ 4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4" y="0"/>
                    </a:moveTo>
                    <a:lnTo>
                      <a:pt x="9" y="0"/>
                    </a:lnTo>
                    <a:lnTo>
                      <a:pt x="10" y="2"/>
                    </a:lnTo>
                    <a:lnTo>
                      <a:pt x="10"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10" name="Freeform 405"/>
              <p:cNvSpPr>
                <a:spLocks/>
              </p:cNvSpPr>
              <p:nvPr/>
            </p:nvSpPr>
            <p:spPr bwMode="auto">
              <a:xfrm>
                <a:off x="1252" y="2654"/>
                <a:ext cx="8" cy="9"/>
              </a:xfrm>
              <a:custGeom>
                <a:avLst/>
                <a:gdLst>
                  <a:gd name="T0" fmla="*/ 3 w 8"/>
                  <a:gd name="T1" fmla="*/ 0 h 9"/>
                  <a:gd name="T2" fmla="*/ 6 w 8"/>
                  <a:gd name="T3" fmla="*/ 0 h 9"/>
                  <a:gd name="T4" fmla="*/ 8 w 8"/>
                  <a:gd name="T5" fmla="*/ 2 h 9"/>
                  <a:gd name="T6" fmla="*/ 8 w 8"/>
                  <a:gd name="T7" fmla="*/ 7 h 9"/>
                  <a:gd name="T8" fmla="*/ 6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6" y="0"/>
                    </a:lnTo>
                    <a:lnTo>
                      <a:pt x="8" y="2"/>
                    </a:lnTo>
                    <a:lnTo>
                      <a:pt x="8" y="7"/>
                    </a:lnTo>
                    <a:lnTo>
                      <a:pt x="6"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4" name="Group 607"/>
            <p:cNvGrpSpPr>
              <a:grpSpLocks/>
            </p:cNvGrpSpPr>
            <p:nvPr/>
          </p:nvGrpSpPr>
          <p:grpSpPr bwMode="auto">
            <a:xfrm>
              <a:off x="1682806" y="3895846"/>
              <a:ext cx="6104155" cy="331798"/>
              <a:chOff x="1060" y="2454"/>
              <a:chExt cx="3845" cy="209"/>
            </a:xfrm>
          </p:grpSpPr>
          <p:sp>
            <p:nvSpPr>
              <p:cNvPr id="7411" name="Freeform 407"/>
              <p:cNvSpPr>
                <a:spLocks/>
              </p:cNvSpPr>
              <p:nvPr/>
            </p:nvSpPr>
            <p:spPr bwMode="auto">
              <a:xfrm>
                <a:off x="1267"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12" name="Freeform 408"/>
              <p:cNvSpPr>
                <a:spLocks/>
              </p:cNvSpPr>
              <p:nvPr/>
            </p:nvSpPr>
            <p:spPr bwMode="auto">
              <a:xfrm>
                <a:off x="1583" y="2654"/>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13" name="Freeform 409"/>
              <p:cNvSpPr>
                <a:spLocks/>
              </p:cNvSpPr>
              <p:nvPr/>
            </p:nvSpPr>
            <p:spPr bwMode="auto">
              <a:xfrm>
                <a:off x="1615"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14" name="Freeform 410"/>
              <p:cNvSpPr>
                <a:spLocks/>
              </p:cNvSpPr>
              <p:nvPr/>
            </p:nvSpPr>
            <p:spPr bwMode="auto">
              <a:xfrm>
                <a:off x="1648"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15" name="Freeform 411"/>
              <p:cNvSpPr>
                <a:spLocks/>
              </p:cNvSpPr>
              <p:nvPr/>
            </p:nvSpPr>
            <p:spPr bwMode="auto">
              <a:xfrm>
                <a:off x="1704"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16" name="Freeform 412"/>
              <p:cNvSpPr>
                <a:spLocks/>
              </p:cNvSpPr>
              <p:nvPr/>
            </p:nvSpPr>
            <p:spPr bwMode="auto">
              <a:xfrm>
                <a:off x="1821" y="265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17" name="Freeform 413"/>
              <p:cNvSpPr>
                <a:spLocks/>
              </p:cNvSpPr>
              <p:nvPr/>
            </p:nvSpPr>
            <p:spPr bwMode="auto">
              <a:xfrm>
                <a:off x="2541" y="265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18" name="Freeform 414"/>
              <p:cNvSpPr>
                <a:spLocks/>
              </p:cNvSpPr>
              <p:nvPr/>
            </p:nvSpPr>
            <p:spPr bwMode="auto">
              <a:xfrm>
                <a:off x="2543"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19" name="Freeform 415"/>
              <p:cNvSpPr>
                <a:spLocks/>
              </p:cNvSpPr>
              <p:nvPr/>
            </p:nvSpPr>
            <p:spPr bwMode="auto">
              <a:xfrm>
                <a:off x="2548"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20" name="Freeform 416"/>
              <p:cNvSpPr>
                <a:spLocks/>
              </p:cNvSpPr>
              <p:nvPr/>
            </p:nvSpPr>
            <p:spPr bwMode="auto">
              <a:xfrm>
                <a:off x="2552" y="265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21" name="Freeform 417"/>
              <p:cNvSpPr>
                <a:spLocks/>
              </p:cNvSpPr>
              <p:nvPr/>
            </p:nvSpPr>
            <p:spPr bwMode="auto">
              <a:xfrm>
                <a:off x="2566"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22" name="Freeform 418"/>
              <p:cNvSpPr>
                <a:spLocks/>
              </p:cNvSpPr>
              <p:nvPr/>
            </p:nvSpPr>
            <p:spPr bwMode="auto">
              <a:xfrm>
                <a:off x="2568"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23" name="Freeform 419"/>
              <p:cNvSpPr>
                <a:spLocks/>
              </p:cNvSpPr>
              <p:nvPr/>
            </p:nvSpPr>
            <p:spPr bwMode="auto">
              <a:xfrm>
                <a:off x="2573" y="265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24" name="Freeform 420"/>
              <p:cNvSpPr>
                <a:spLocks/>
              </p:cNvSpPr>
              <p:nvPr/>
            </p:nvSpPr>
            <p:spPr bwMode="auto">
              <a:xfrm>
                <a:off x="2575"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25" name="Freeform 421"/>
              <p:cNvSpPr>
                <a:spLocks/>
              </p:cNvSpPr>
              <p:nvPr/>
            </p:nvSpPr>
            <p:spPr bwMode="auto">
              <a:xfrm>
                <a:off x="2603" y="265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26" name="Freeform 422"/>
              <p:cNvSpPr>
                <a:spLocks/>
              </p:cNvSpPr>
              <p:nvPr/>
            </p:nvSpPr>
            <p:spPr bwMode="auto">
              <a:xfrm>
                <a:off x="3018" y="265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27" name="Freeform 423"/>
              <p:cNvSpPr>
                <a:spLocks/>
              </p:cNvSpPr>
              <p:nvPr/>
            </p:nvSpPr>
            <p:spPr bwMode="auto">
              <a:xfrm>
                <a:off x="3215"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28" name="Freeform 424"/>
              <p:cNvSpPr>
                <a:spLocks/>
              </p:cNvSpPr>
              <p:nvPr/>
            </p:nvSpPr>
            <p:spPr bwMode="auto">
              <a:xfrm>
                <a:off x="3222"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29" name="Freeform 425"/>
              <p:cNvSpPr>
                <a:spLocks/>
              </p:cNvSpPr>
              <p:nvPr/>
            </p:nvSpPr>
            <p:spPr bwMode="auto">
              <a:xfrm>
                <a:off x="3285"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30" name="Freeform 426"/>
              <p:cNvSpPr>
                <a:spLocks/>
              </p:cNvSpPr>
              <p:nvPr/>
            </p:nvSpPr>
            <p:spPr bwMode="auto">
              <a:xfrm>
                <a:off x="3295" y="265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31" name="Freeform 427"/>
              <p:cNvSpPr>
                <a:spLocks/>
              </p:cNvSpPr>
              <p:nvPr/>
            </p:nvSpPr>
            <p:spPr bwMode="auto">
              <a:xfrm>
                <a:off x="3355" y="265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32" name="Freeform 428"/>
              <p:cNvSpPr>
                <a:spLocks/>
              </p:cNvSpPr>
              <p:nvPr/>
            </p:nvSpPr>
            <p:spPr bwMode="auto">
              <a:xfrm>
                <a:off x="3388" y="265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33" name="Freeform 429"/>
              <p:cNvSpPr>
                <a:spLocks/>
              </p:cNvSpPr>
              <p:nvPr/>
            </p:nvSpPr>
            <p:spPr bwMode="auto">
              <a:xfrm>
                <a:off x="3535" y="265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34" name="Freeform 430"/>
              <p:cNvSpPr>
                <a:spLocks/>
              </p:cNvSpPr>
              <p:nvPr/>
            </p:nvSpPr>
            <p:spPr bwMode="auto">
              <a:xfrm>
                <a:off x="4200" y="265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35" name="Freeform 431"/>
              <p:cNvSpPr>
                <a:spLocks/>
              </p:cNvSpPr>
              <p:nvPr/>
            </p:nvSpPr>
            <p:spPr bwMode="auto">
              <a:xfrm>
                <a:off x="4238"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36" name="Freeform 432"/>
              <p:cNvSpPr>
                <a:spLocks/>
              </p:cNvSpPr>
              <p:nvPr/>
            </p:nvSpPr>
            <p:spPr bwMode="auto">
              <a:xfrm>
                <a:off x="4242"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37" name="Freeform 433"/>
              <p:cNvSpPr>
                <a:spLocks/>
              </p:cNvSpPr>
              <p:nvPr/>
            </p:nvSpPr>
            <p:spPr bwMode="auto">
              <a:xfrm>
                <a:off x="4261" y="265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38" name="Freeform 434"/>
              <p:cNvSpPr>
                <a:spLocks/>
              </p:cNvSpPr>
              <p:nvPr/>
            </p:nvSpPr>
            <p:spPr bwMode="auto">
              <a:xfrm>
                <a:off x="4264" y="2654"/>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39" name="Freeform 435"/>
              <p:cNvSpPr>
                <a:spLocks/>
              </p:cNvSpPr>
              <p:nvPr/>
            </p:nvSpPr>
            <p:spPr bwMode="auto">
              <a:xfrm>
                <a:off x="4266" y="2654"/>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0" name="Freeform 436"/>
              <p:cNvSpPr>
                <a:spLocks/>
              </p:cNvSpPr>
              <p:nvPr/>
            </p:nvSpPr>
            <p:spPr bwMode="auto">
              <a:xfrm>
                <a:off x="4287"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1" name="Freeform 437"/>
              <p:cNvSpPr>
                <a:spLocks/>
              </p:cNvSpPr>
              <p:nvPr/>
            </p:nvSpPr>
            <p:spPr bwMode="auto">
              <a:xfrm>
                <a:off x="4458" y="265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2" name="Freeform 438"/>
              <p:cNvSpPr>
                <a:spLocks/>
              </p:cNvSpPr>
              <p:nvPr/>
            </p:nvSpPr>
            <p:spPr bwMode="auto">
              <a:xfrm>
                <a:off x="1615" y="2614"/>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43" name="Freeform 439"/>
              <p:cNvSpPr>
                <a:spLocks/>
              </p:cNvSpPr>
              <p:nvPr/>
            </p:nvSpPr>
            <p:spPr bwMode="auto">
              <a:xfrm>
                <a:off x="1662" y="261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44" name="Freeform 440"/>
              <p:cNvSpPr>
                <a:spLocks/>
              </p:cNvSpPr>
              <p:nvPr/>
            </p:nvSpPr>
            <p:spPr bwMode="auto">
              <a:xfrm>
                <a:off x="1855"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5" name="Freeform 441"/>
              <p:cNvSpPr>
                <a:spLocks/>
              </p:cNvSpPr>
              <p:nvPr/>
            </p:nvSpPr>
            <p:spPr bwMode="auto">
              <a:xfrm>
                <a:off x="2520"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6" name="Freeform 442"/>
              <p:cNvSpPr>
                <a:spLocks/>
              </p:cNvSpPr>
              <p:nvPr/>
            </p:nvSpPr>
            <p:spPr bwMode="auto">
              <a:xfrm>
                <a:off x="2533" y="261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47" name="Freeform 443"/>
              <p:cNvSpPr>
                <a:spLocks/>
              </p:cNvSpPr>
              <p:nvPr/>
            </p:nvSpPr>
            <p:spPr bwMode="auto">
              <a:xfrm>
                <a:off x="2536"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48" name="Freeform 444"/>
              <p:cNvSpPr>
                <a:spLocks/>
              </p:cNvSpPr>
              <p:nvPr/>
            </p:nvSpPr>
            <p:spPr bwMode="auto">
              <a:xfrm>
                <a:off x="2620" y="261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49" name="Freeform 445"/>
              <p:cNvSpPr>
                <a:spLocks/>
              </p:cNvSpPr>
              <p:nvPr/>
            </p:nvSpPr>
            <p:spPr bwMode="auto">
              <a:xfrm>
                <a:off x="3290" y="261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50" name="Freeform 446"/>
              <p:cNvSpPr>
                <a:spLocks/>
              </p:cNvSpPr>
              <p:nvPr/>
            </p:nvSpPr>
            <p:spPr bwMode="auto">
              <a:xfrm>
                <a:off x="3714" y="261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51" name="Freeform 447"/>
              <p:cNvSpPr>
                <a:spLocks/>
              </p:cNvSpPr>
              <p:nvPr/>
            </p:nvSpPr>
            <p:spPr bwMode="auto">
              <a:xfrm>
                <a:off x="3734" y="261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2" name="Freeform 448"/>
              <p:cNvSpPr>
                <a:spLocks/>
              </p:cNvSpPr>
              <p:nvPr/>
            </p:nvSpPr>
            <p:spPr bwMode="auto">
              <a:xfrm>
                <a:off x="3947" y="261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3" name="Freeform 449"/>
              <p:cNvSpPr>
                <a:spLocks/>
              </p:cNvSpPr>
              <p:nvPr/>
            </p:nvSpPr>
            <p:spPr bwMode="auto">
              <a:xfrm>
                <a:off x="4210"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54" name="Freeform 450"/>
              <p:cNvSpPr>
                <a:spLocks/>
              </p:cNvSpPr>
              <p:nvPr/>
            </p:nvSpPr>
            <p:spPr bwMode="auto">
              <a:xfrm>
                <a:off x="4215" y="261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55" name="Freeform 451"/>
              <p:cNvSpPr>
                <a:spLocks/>
              </p:cNvSpPr>
              <p:nvPr/>
            </p:nvSpPr>
            <p:spPr bwMode="auto">
              <a:xfrm>
                <a:off x="4219" y="261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6" name="Freeform 452"/>
              <p:cNvSpPr>
                <a:spLocks/>
              </p:cNvSpPr>
              <p:nvPr/>
            </p:nvSpPr>
            <p:spPr bwMode="auto">
              <a:xfrm>
                <a:off x="4247" y="261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7" name="Freeform 453"/>
              <p:cNvSpPr>
                <a:spLocks/>
              </p:cNvSpPr>
              <p:nvPr/>
            </p:nvSpPr>
            <p:spPr bwMode="auto">
              <a:xfrm>
                <a:off x="4254" y="261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2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8" name="Freeform 454"/>
              <p:cNvSpPr>
                <a:spLocks/>
              </p:cNvSpPr>
              <p:nvPr/>
            </p:nvSpPr>
            <p:spPr bwMode="auto">
              <a:xfrm>
                <a:off x="4358"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59" name="Freeform 455"/>
              <p:cNvSpPr>
                <a:spLocks/>
              </p:cNvSpPr>
              <p:nvPr/>
            </p:nvSpPr>
            <p:spPr bwMode="auto">
              <a:xfrm>
                <a:off x="4425" y="2614"/>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0" name="Freeform 456"/>
              <p:cNvSpPr>
                <a:spLocks/>
              </p:cNvSpPr>
              <p:nvPr/>
            </p:nvSpPr>
            <p:spPr bwMode="auto">
              <a:xfrm>
                <a:off x="4455" y="2614"/>
                <a:ext cx="8" cy="9"/>
              </a:xfrm>
              <a:custGeom>
                <a:avLst/>
                <a:gdLst>
                  <a:gd name="T0" fmla="*/ 3 w 8"/>
                  <a:gd name="T1" fmla="*/ 0 h 9"/>
                  <a:gd name="T2" fmla="*/ 6 w 8"/>
                  <a:gd name="T3" fmla="*/ 0 h 9"/>
                  <a:gd name="T4" fmla="*/ 8 w 8"/>
                  <a:gd name="T5" fmla="*/ 2 h 9"/>
                  <a:gd name="T6" fmla="*/ 8 w 8"/>
                  <a:gd name="T7" fmla="*/ 7 h 9"/>
                  <a:gd name="T8" fmla="*/ 6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6" y="0"/>
                    </a:lnTo>
                    <a:lnTo>
                      <a:pt x="8" y="2"/>
                    </a:lnTo>
                    <a:lnTo>
                      <a:pt x="8" y="7"/>
                    </a:lnTo>
                    <a:lnTo>
                      <a:pt x="6"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61" name="Freeform 457"/>
              <p:cNvSpPr>
                <a:spLocks/>
              </p:cNvSpPr>
              <p:nvPr/>
            </p:nvSpPr>
            <p:spPr bwMode="auto">
              <a:xfrm>
                <a:off x="4460" y="261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62" name="Freeform 458"/>
              <p:cNvSpPr>
                <a:spLocks/>
              </p:cNvSpPr>
              <p:nvPr/>
            </p:nvSpPr>
            <p:spPr bwMode="auto">
              <a:xfrm>
                <a:off x="4463" y="261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3" name="Freeform 459"/>
              <p:cNvSpPr>
                <a:spLocks/>
              </p:cNvSpPr>
              <p:nvPr/>
            </p:nvSpPr>
            <p:spPr bwMode="auto">
              <a:xfrm>
                <a:off x="4465" y="2614"/>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4" name="Freeform 460"/>
              <p:cNvSpPr>
                <a:spLocks/>
              </p:cNvSpPr>
              <p:nvPr/>
            </p:nvSpPr>
            <p:spPr bwMode="auto">
              <a:xfrm>
                <a:off x="4470"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65" name="Freeform 461"/>
              <p:cNvSpPr>
                <a:spLocks/>
              </p:cNvSpPr>
              <p:nvPr/>
            </p:nvSpPr>
            <p:spPr bwMode="auto">
              <a:xfrm>
                <a:off x="4510"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66" name="Freeform 462"/>
              <p:cNvSpPr>
                <a:spLocks/>
              </p:cNvSpPr>
              <p:nvPr/>
            </p:nvSpPr>
            <p:spPr bwMode="auto">
              <a:xfrm>
                <a:off x="4512" y="261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7" name="Freeform 463"/>
              <p:cNvSpPr>
                <a:spLocks/>
              </p:cNvSpPr>
              <p:nvPr/>
            </p:nvSpPr>
            <p:spPr bwMode="auto">
              <a:xfrm>
                <a:off x="4599" y="261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8" name="Freeform 464"/>
              <p:cNvSpPr>
                <a:spLocks/>
              </p:cNvSpPr>
              <p:nvPr/>
            </p:nvSpPr>
            <p:spPr bwMode="auto">
              <a:xfrm>
                <a:off x="4854"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69" name="Freeform 465"/>
              <p:cNvSpPr>
                <a:spLocks/>
              </p:cNvSpPr>
              <p:nvPr/>
            </p:nvSpPr>
            <p:spPr bwMode="auto">
              <a:xfrm>
                <a:off x="4858" y="2614"/>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0" name="Freeform 466"/>
              <p:cNvSpPr>
                <a:spLocks/>
              </p:cNvSpPr>
              <p:nvPr/>
            </p:nvSpPr>
            <p:spPr bwMode="auto">
              <a:xfrm>
                <a:off x="4865" y="261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1" name="Freeform 467"/>
              <p:cNvSpPr>
                <a:spLocks/>
              </p:cNvSpPr>
              <p:nvPr/>
            </p:nvSpPr>
            <p:spPr bwMode="auto">
              <a:xfrm>
                <a:off x="4872" y="261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2" name="Freeform 468"/>
              <p:cNvSpPr>
                <a:spLocks/>
              </p:cNvSpPr>
              <p:nvPr/>
            </p:nvSpPr>
            <p:spPr bwMode="auto">
              <a:xfrm>
                <a:off x="4896" y="261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73" name="Freeform 469"/>
              <p:cNvSpPr>
                <a:spLocks/>
              </p:cNvSpPr>
              <p:nvPr/>
            </p:nvSpPr>
            <p:spPr bwMode="auto">
              <a:xfrm>
                <a:off x="1567" y="257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74" name="Freeform 470"/>
              <p:cNvSpPr>
                <a:spLocks/>
              </p:cNvSpPr>
              <p:nvPr/>
            </p:nvSpPr>
            <p:spPr bwMode="auto">
              <a:xfrm>
                <a:off x="1587"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5" name="Freeform 471"/>
              <p:cNvSpPr>
                <a:spLocks/>
              </p:cNvSpPr>
              <p:nvPr/>
            </p:nvSpPr>
            <p:spPr bwMode="auto">
              <a:xfrm>
                <a:off x="1648" y="2574"/>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6" name="Freeform 472"/>
              <p:cNvSpPr>
                <a:spLocks/>
              </p:cNvSpPr>
              <p:nvPr/>
            </p:nvSpPr>
            <p:spPr bwMode="auto">
              <a:xfrm>
                <a:off x="1765"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7" name="Freeform 473"/>
              <p:cNvSpPr>
                <a:spLocks/>
              </p:cNvSpPr>
              <p:nvPr/>
            </p:nvSpPr>
            <p:spPr bwMode="auto">
              <a:xfrm>
                <a:off x="1772"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8" name="Freeform 474"/>
              <p:cNvSpPr>
                <a:spLocks/>
              </p:cNvSpPr>
              <p:nvPr/>
            </p:nvSpPr>
            <p:spPr bwMode="auto">
              <a:xfrm>
                <a:off x="2479" y="257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79" name="Freeform 475"/>
              <p:cNvSpPr>
                <a:spLocks/>
              </p:cNvSpPr>
              <p:nvPr/>
            </p:nvSpPr>
            <p:spPr bwMode="auto">
              <a:xfrm>
                <a:off x="2512" y="2574"/>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80" name="Freeform 476"/>
              <p:cNvSpPr>
                <a:spLocks/>
              </p:cNvSpPr>
              <p:nvPr/>
            </p:nvSpPr>
            <p:spPr bwMode="auto">
              <a:xfrm>
                <a:off x="2520" y="257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81" name="Freeform 477"/>
              <p:cNvSpPr>
                <a:spLocks/>
              </p:cNvSpPr>
              <p:nvPr/>
            </p:nvSpPr>
            <p:spPr bwMode="auto">
              <a:xfrm>
                <a:off x="2533"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82" name="Freeform 478"/>
              <p:cNvSpPr>
                <a:spLocks/>
              </p:cNvSpPr>
              <p:nvPr/>
            </p:nvSpPr>
            <p:spPr bwMode="auto">
              <a:xfrm>
                <a:off x="2545" y="257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83" name="Freeform 479"/>
              <p:cNvSpPr>
                <a:spLocks/>
              </p:cNvSpPr>
              <p:nvPr/>
            </p:nvSpPr>
            <p:spPr bwMode="auto">
              <a:xfrm>
                <a:off x="3522" y="257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84" name="Freeform 480"/>
              <p:cNvSpPr>
                <a:spLocks/>
              </p:cNvSpPr>
              <p:nvPr/>
            </p:nvSpPr>
            <p:spPr bwMode="auto">
              <a:xfrm>
                <a:off x="3542"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85" name="Freeform 481"/>
              <p:cNvSpPr>
                <a:spLocks/>
              </p:cNvSpPr>
              <p:nvPr/>
            </p:nvSpPr>
            <p:spPr bwMode="auto">
              <a:xfrm>
                <a:off x="4186" y="2574"/>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86" name="Freeform 482"/>
              <p:cNvSpPr>
                <a:spLocks/>
              </p:cNvSpPr>
              <p:nvPr/>
            </p:nvSpPr>
            <p:spPr bwMode="auto">
              <a:xfrm>
                <a:off x="4198" y="257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87" name="Freeform 483"/>
              <p:cNvSpPr>
                <a:spLocks/>
              </p:cNvSpPr>
              <p:nvPr/>
            </p:nvSpPr>
            <p:spPr bwMode="auto">
              <a:xfrm>
                <a:off x="4200" y="257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88" name="Freeform 484"/>
              <p:cNvSpPr>
                <a:spLocks/>
              </p:cNvSpPr>
              <p:nvPr/>
            </p:nvSpPr>
            <p:spPr bwMode="auto">
              <a:xfrm>
                <a:off x="4201" y="257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89" name="Freeform 485"/>
              <p:cNvSpPr>
                <a:spLocks/>
              </p:cNvSpPr>
              <p:nvPr/>
            </p:nvSpPr>
            <p:spPr bwMode="auto">
              <a:xfrm>
                <a:off x="4207"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90" name="Freeform 486"/>
              <p:cNvSpPr>
                <a:spLocks/>
              </p:cNvSpPr>
              <p:nvPr/>
            </p:nvSpPr>
            <p:spPr bwMode="auto">
              <a:xfrm>
                <a:off x="4231" y="257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1" name="Freeform 487"/>
              <p:cNvSpPr>
                <a:spLocks/>
              </p:cNvSpPr>
              <p:nvPr/>
            </p:nvSpPr>
            <p:spPr bwMode="auto">
              <a:xfrm>
                <a:off x="4264" y="257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2" name="Freeform 488"/>
              <p:cNvSpPr>
                <a:spLocks/>
              </p:cNvSpPr>
              <p:nvPr/>
            </p:nvSpPr>
            <p:spPr bwMode="auto">
              <a:xfrm>
                <a:off x="4271" y="257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3" name="Freeform 489"/>
              <p:cNvSpPr>
                <a:spLocks/>
              </p:cNvSpPr>
              <p:nvPr/>
            </p:nvSpPr>
            <p:spPr bwMode="auto">
              <a:xfrm>
                <a:off x="4275" y="257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94" name="Freeform 490"/>
              <p:cNvSpPr>
                <a:spLocks/>
              </p:cNvSpPr>
              <p:nvPr/>
            </p:nvSpPr>
            <p:spPr bwMode="auto">
              <a:xfrm>
                <a:off x="4325" y="257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5" name="Freeform 491"/>
              <p:cNvSpPr>
                <a:spLocks/>
              </p:cNvSpPr>
              <p:nvPr/>
            </p:nvSpPr>
            <p:spPr bwMode="auto">
              <a:xfrm>
                <a:off x="4479" y="257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6" name="Freeform 492"/>
              <p:cNvSpPr>
                <a:spLocks/>
              </p:cNvSpPr>
              <p:nvPr/>
            </p:nvSpPr>
            <p:spPr bwMode="auto">
              <a:xfrm>
                <a:off x="4491" y="257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97" name="Freeform 493"/>
              <p:cNvSpPr>
                <a:spLocks/>
              </p:cNvSpPr>
              <p:nvPr/>
            </p:nvSpPr>
            <p:spPr bwMode="auto">
              <a:xfrm>
                <a:off x="4495"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98" name="Freeform 494"/>
              <p:cNvSpPr>
                <a:spLocks/>
              </p:cNvSpPr>
              <p:nvPr/>
            </p:nvSpPr>
            <p:spPr bwMode="auto">
              <a:xfrm>
                <a:off x="1248" y="2534"/>
                <a:ext cx="10" cy="9"/>
              </a:xfrm>
              <a:custGeom>
                <a:avLst/>
                <a:gdLst>
                  <a:gd name="T0" fmla="*/ 4 w 10"/>
                  <a:gd name="T1" fmla="*/ 0 h 9"/>
                  <a:gd name="T2" fmla="*/ 9 w 10"/>
                  <a:gd name="T3" fmla="*/ 0 h 9"/>
                  <a:gd name="T4" fmla="*/ 10 w 10"/>
                  <a:gd name="T5" fmla="*/ 2 h 9"/>
                  <a:gd name="T6" fmla="*/ 10 w 10"/>
                  <a:gd name="T7" fmla="*/ 7 h 9"/>
                  <a:gd name="T8" fmla="*/ 9 w 10"/>
                  <a:gd name="T9" fmla="*/ 9 h 9"/>
                  <a:gd name="T10" fmla="*/ 4 w 10"/>
                  <a:gd name="T11" fmla="*/ 9 h 9"/>
                  <a:gd name="T12" fmla="*/ 0 w 10"/>
                  <a:gd name="T13" fmla="*/ 5 h 9"/>
                  <a:gd name="T14" fmla="*/ 0 w 10"/>
                  <a:gd name="T15" fmla="*/ 3 h 9"/>
                  <a:gd name="T16" fmla="*/ 4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4" y="0"/>
                    </a:moveTo>
                    <a:lnTo>
                      <a:pt x="9" y="0"/>
                    </a:lnTo>
                    <a:lnTo>
                      <a:pt x="10" y="2"/>
                    </a:lnTo>
                    <a:lnTo>
                      <a:pt x="10"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99" name="Freeform 495"/>
              <p:cNvSpPr>
                <a:spLocks/>
              </p:cNvSpPr>
              <p:nvPr/>
            </p:nvSpPr>
            <p:spPr bwMode="auto">
              <a:xfrm>
                <a:off x="1564"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0" name="Freeform 496"/>
              <p:cNvSpPr>
                <a:spLocks/>
              </p:cNvSpPr>
              <p:nvPr/>
            </p:nvSpPr>
            <p:spPr bwMode="auto">
              <a:xfrm>
                <a:off x="1573" y="253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01" name="Freeform 497"/>
              <p:cNvSpPr>
                <a:spLocks/>
              </p:cNvSpPr>
              <p:nvPr/>
            </p:nvSpPr>
            <p:spPr bwMode="auto">
              <a:xfrm>
                <a:off x="1580"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02" name="Freeform 498"/>
              <p:cNvSpPr>
                <a:spLocks/>
              </p:cNvSpPr>
              <p:nvPr/>
            </p:nvSpPr>
            <p:spPr bwMode="auto">
              <a:xfrm>
                <a:off x="1592" y="253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3" name="Freeform 499"/>
              <p:cNvSpPr>
                <a:spLocks/>
              </p:cNvSpPr>
              <p:nvPr/>
            </p:nvSpPr>
            <p:spPr bwMode="auto">
              <a:xfrm>
                <a:off x="1613"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4" name="Freeform 500"/>
              <p:cNvSpPr>
                <a:spLocks/>
              </p:cNvSpPr>
              <p:nvPr/>
            </p:nvSpPr>
            <p:spPr bwMode="auto">
              <a:xfrm>
                <a:off x="1632"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05" name="Freeform 501"/>
              <p:cNvSpPr>
                <a:spLocks/>
              </p:cNvSpPr>
              <p:nvPr/>
            </p:nvSpPr>
            <p:spPr bwMode="auto">
              <a:xfrm>
                <a:off x="1667"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6" name="Freeform 502"/>
              <p:cNvSpPr>
                <a:spLocks/>
              </p:cNvSpPr>
              <p:nvPr/>
            </p:nvSpPr>
            <p:spPr bwMode="auto">
              <a:xfrm>
                <a:off x="2503"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7" name="Freeform 503"/>
              <p:cNvSpPr>
                <a:spLocks/>
              </p:cNvSpPr>
              <p:nvPr/>
            </p:nvSpPr>
            <p:spPr bwMode="auto">
              <a:xfrm>
                <a:off x="2508"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8" name="Freeform 504"/>
              <p:cNvSpPr>
                <a:spLocks/>
              </p:cNvSpPr>
              <p:nvPr/>
            </p:nvSpPr>
            <p:spPr bwMode="auto">
              <a:xfrm>
                <a:off x="2512" y="2534"/>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09" name="Freeform 505"/>
              <p:cNvSpPr>
                <a:spLocks/>
              </p:cNvSpPr>
              <p:nvPr/>
            </p:nvSpPr>
            <p:spPr bwMode="auto">
              <a:xfrm>
                <a:off x="2515"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0" name="Freeform 506"/>
              <p:cNvSpPr>
                <a:spLocks/>
              </p:cNvSpPr>
              <p:nvPr/>
            </p:nvSpPr>
            <p:spPr bwMode="auto">
              <a:xfrm>
                <a:off x="2520"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1" name="Freeform 507"/>
              <p:cNvSpPr>
                <a:spLocks/>
              </p:cNvSpPr>
              <p:nvPr/>
            </p:nvSpPr>
            <p:spPr bwMode="auto">
              <a:xfrm>
                <a:off x="2524"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2" name="Freeform 508"/>
              <p:cNvSpPr>
                <a:spLocks/>
              </p:cNvSpPr>
              <p:nvPr/>
            </p:nvSpPr>
            <p:spPr bwMode="auto">
              <a:xfrm>
                <a:off x="2527"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3" name="Freeform 509"/>
              <p:cNvSpPr>
                <a:spLocks/>
              </p:cNvSpPr>
              <p:nvPr/>
            </p:nvSpPr>
            <p:spPr bwMode="auto">
              <a:xfrm>
                <a:off x="2552" y="253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4" name="Freeform 510"/>
              <p:cNvSpPr>
                <a:spLocks/>
              </p:cNvSpPr>
              <p:nvPr/>
            </p:nvSpPr>
            <p:spPr bwMode="auto">
              <a:xfrm>
                <a:off x="3013"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15" name="Freeform 511"/>
              <p:cNvSpPr>
                <a:spLocks/>
              </p:cNvSpPr>
              <p:nvPr/>
            </p:nvSpPr>
            <p:spPr bwMode="auto">
              <a:xfrm>
                <a:off x="3021"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6" name="Freeform 512"/>
              <p:cNvSpPr>
                <a:spLocks/>
              </p:cNvSpPr>
              <p:nvPr/>
            </p:nvSpPr>
            <p:spPr bwMode="auto">
              <a:xfrm>
                <a:off x="3039"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7" name="Freeform 513"/>
              <p:cNvSpPr>
                <a:spLocks/>
              </p:cNvSpPr>
              <p:nvPr/>
            </p:nvSpPr>
            <p:spPr bwMode="auto">
              <a:xfrm>
                <a:off x="3165"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18" name="Freeform 514"/>
              <p:cNvSpPr>
                <a:spLocks/>
              </p:cNvSpPr>
              <p:nvPr/>
            </p:nvSpPr>
            <p:spPr bwMode="auto">
              <a:xfrm>
                <a:off x="3193" y="2534"/>
                <a:ext cx="10" cy="9"/>
              </a:xfrm>
              <a:custGeom>
                <a:avLst/>
                <a:gdLst>
                  <a:gd name="T0" fmla="*/ 1 w 10"/>
                  <a:gd name="T1" fmla="*/ 0 h 9"/>
                  <a:gd name="T2" fmla="*/ 6 w 10"/>
                  <a:gd name="T3" fmla="*/ 0 h 9"/>
                  <a:gd name="T4" fmla="*/ 10 w 10"/>
                  <a:gd name="T5" fmla="*/ 3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3"/>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19" name="Freeform 515"/>
              <p:cNvSpPr>
                <a:spLocks/>
              </p:cNvSpPr>
              <p:nvPr/>
            </p:nvSpPr>
            <p:spPr bwMode="auto">
              <a:xfrm>
                <a:off x="3241"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20" name="Freeform 516"/>
              <p:cNvSpPr>
                <a:spLocks/>
              </p:cNvSpPr>
              <p:nvPr/>
            </p:nvSpPr>
            <p:spPr bwMode="auto">
              <a:xfrm>
                <a:off x="3259" y="253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21" name="Freeform 517"/>
              <p:cNvSpPr>
                <a:spLocks/>
              </p:cNvSpPr>
              <p:nvPr/>
            </p:nvSpPr>
            <p:spPr bwMode="auto">
              <a:xfrm>
                <a:off x="3269"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22" name="Freeform 518"/>
              <p:cNvSpPr>
                <a:spLocks/>
              </p:cNvSpPr>
              <p:nvPr/>
            </p:nvSpPr>
            <p:spPr bwMode="auto">
              <a:xfrm>
                <a:off x="3278"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23" name="Freeform 519"/>
              <p:cNvSpPr>
                <a:spLocks/>
              </p:cNvSpPr>
              <p:nvPr/>
            </p:nvSpPr>
            <p:spPr bwMode="auto">
              <a:xfrm>
                <a:off x="3290"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24" name="Freeform 520"/>
              <p:cNvSpPr>
                <a:spLocks/>
              </p:cNvSpPr>
              <p:nvPr/>
            </p:nvSpPr>
            <p:spPr bwMode="auto">
              <a:xfrm>
                <a:off x="3297"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25" name="Freeform 521"/>
              <p:cNvSpPr>
                <a:spLocks/>
              </p:cNvSpPr>
              <p:nvPr/>
            </p:nvSpPr>
            <p:spPr bwMode="auto">
              <a:xfrm>
                <a:off x="3301"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26" name="Freeform 522"/>
              <p:cNvSpPr>
                <a:spLocks/>
              </p:cNvSpPr>
              <p:nvPr/>
            </p:nvSpPr>
            <p:spPr bwMode="auto">
              <a:xfrm>
                <a:off x="3302" y="2534"/>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27" name="Freeform 523"/>
              <p:cNvSpPr>
                <a:spLocks/>
              </p:cNvSpPr>
              <p:nvPr/>
            </p:nvSpPr>
            <p:spPr bwMode="auto">
              <a:xfrm>
                <a:off x="3318"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28" name="Freeform 524"/>
              <p:cNvSpPr>
                <a:spLocks/>
              </p:cNvSpPr>
              <p:nvPr/>
            </p:nvSpPr>
            <p:spPr bwMode="auto">
              <a:xfrm>
                <a:off x="3522"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29" name="Freeform 525"/>
              <p:cNvSpPr>
                <a:spLocks/>
              </p:cNvSpPr>
              <p:nvPr/>
            </p:nvSpPr>
            <p:spPr bwMode="auto">
              <a:xfrm>
                <a:off x="3528" y="253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30" name="Freeform 526"/>
              <p:cNvSpPr>
                <a:spLocks/>
              </p:cNvSpPr>
              <p:nvPr/>
            </p:nvSpPr>
            <p:spPr bwMode="auto">
              <a:xfrm>
                <a:off x="3985" y="2534"/>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1" name="Freeform 527"/>
              <p:cNvSpPr>
                <a:spLocks/>
              </p:cNvSpPr>
              <p:nvPr/>
            </p:nvSpPr>
            <p:spPr bwMode="auto">
              <a:xfrm>
                <a:off x="4121"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2" name="Freeform 528"/>
              <p:cNvSpPr>
                <a:spLocks/>
              </p:cNvSpPr>
              <p:nvPr/>
            </p:nvSpPr>
            <p:spPr bwMode="auto">
              <a:xfrm>
                <a:off x="4132" y="253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33" name="Freeform 529"/>
              <p:cNvSpPr>
                <a:spLocks/>
              </p:cNvSpPr>
              <p:nvPr/>
            </p:nvSpPr>
            <p:spPr bwMode="auto">
              <a:xfrm>
                <a:off x="4172" y="253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34" name="Freeform 530"/>
              <p:cNvSpPr>
                <a:spLocks/>
              </p:cNvSpPr>
              <p:nvPr/>
            </p:nvSpPr>
            <p:spPr bwMode="auto">
              <a:xfrm>
                <a:off x="4191"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5" name="Freeform 531"/>
              <p:cNvSpPr>
                <a:spLocks/>
              </p:cNvSpPr>
              <p:nvPr/>
            </p:nvSpPr>
            <p:spPr bwMode="auto">
              <a:xfrm>
                <a:off x="4233"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6" name="Freeform 532"/>
              <p:cNvSpPr>
                <a:spLocks/>
              </p:cNvSpPr>
              <p:nvPr/>
            </p:nvSpPr>
            <p:spPr bwMode="auto">
              <a:xfrm>
                <a:off x="4262"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7" name="Freeform 533"/>
              <p:cNvSpPr>
                <a:spLocks/>
              </p:cNvSpPr>
              <p:nvPr/>
            </p:nvSpPr>
            <p:spPr bwMode="auto">
              <a:xfrm>
                <a:off x="4282" y="253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38" name="Freeform 534"/>
              <p:cNvSpPr>
                <a:spLocks/>
              </p:cNvSpPr>
              <p:nvPr/>
            </p:nvSpPr>
            <p:spPr bwMode="auto">
              <a:xfrm>
                <a:off x="4390"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39" name="Freeform 535"/>
              <p:cNvSpPr>
                <a:spLocks/>
              </p:cNvSpPr>
              <p:nvPr/>
            </p:nvSpPr>
            <p:spPr bwMode="auto">
              <a:xfrm>
                <a:off x="4455" y="2534"/>
                <a:ext cx="8" cy="9"/>
              </a:xfrm>
              <a:custGeom>
                <a:avLst/>
                <a:gdLst>
                  <a:gd name="T0" fmla="*/ 1 w 8"/>
                  <a:gd name="T1" fmla="*/ 0 h 9"/>
                  <a:gd name="T2" fmla="*/ 6 w 8"/>
                  <a:gd name="T3" fmla="*/ 0 h 9"/>
                  <a:gd name="T4" fmla="*/ 8 w 8"/>
                  <a:gd name="T5" fmla="*/ 2 h 9"/>
                  <a:gd name="T6" fmla="*/ 8 w 8"/>
                  <a:gd name="T7" fmla="*/ 7 h 9"/>
                  <a:gd name="T8" fmla="*/ 6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7"/>
                    </a:lnTo>
                    <a:lnTo>
                      <a:pt x="6"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40" name="Freeform 536"/>
              <p:cNvSpPr>
                <a:spLocks/>
              </p:cNvSpPr>
              <p:nvPr/>
            </p:nvSpPr>
            <p:spPr bwMode="auto">
              <a:xfrm>
                <a:off x="1060" y="2494"/>
                <a:ext cx="8" cy="10"/>
              </a:xfrm>
              <a:custGeom>
                <a:avLst/>
                <a:gdLst>
                  <a:gd name="T0" fmla="*/ 1 w 8"/>
                  <a:gd name="T1" fmla="*/ 0 h 10"/>
                  <a:gd name="T2" fmla="*/ 6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6"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41" name="Freeform 537"/>
              <p:cNvSpPr>
                <a:spLocks/>
              </p:cNvSpPr>
              <p:nvPr/>
            </p:nvSpPr>
            <p:spPr bwMode="auto">
              <a:xfrm>
                <a:off x="1084"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2" name="Freeform 538"/>
              <p:cNvSpPr>
                <a:spLocks/>
              </p:cNvSpPr>
              <p:nvPr/>
            </p:nvSpPr>
            <p:spPr bwMode="auto">
              <a:xfrm>
                <a:off x="1140"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3" name="Freeform 539"/>
              <p:cNvSpPr>
                <a:spLocks/>
              </p:cNvSpPr>
              <p:nvPr/>
            </p:nvSpPr>
            <p:spPr bwMode="auto">
              <a:xfrm>
                <a:off x="1215"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4" name="Freeform 540"/>
              <p:cNvSpPr>
                <a:spLocks/>
              </p:cNvSpPr>
              <p:nvPr/>
            </p:nvSpPr>
            <p:spPr bwMode="auto">
              <a:xfrm>
                <a:off x="1238"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45" name="Freeform 541"/>
              <p:cNvSpPr>
                <a:spLocks/>
              </p:cNvSpPr>
              <p:nvPr/>
            </p:nvSpPr>
            <p:spPr bwMode="auto">
              <a:xfrm>
                <a:off x="1615"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46" name="Freeform 542"/>
              <p:cNvSpPr>
                <a:spLocks/>
              </p:cNvSpPr>
              <p:nvPr/>
            </p:nvSpPr>
            <p:spPr bwMode="auto">
              <a:xfrm>
                <a:off x="1646"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7" name="Freeform 543"/>
              <p:cNvSpPr>
                <a:spLocks/>
              </p:cNvSpPr>
              <p:nvPr/>
            </p:nvSpPr>
            <p:spPr bwMode="auto">
              <a:xfrm>
                <a:off x="1656"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48" name="Freeform 544"/>
              <p:cNvSpPr>
                <a:spLocks/>
              </p:cNvSpPr>
              <p:nvPr/>
            </p:nvSpPr>
            <p:spPr bwMode="auto">
              <a:xfrm>
                <a:off x="1663"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9" name="Freeform 545"/>
              <p:cNvSpPr>
                <a:spLocks/>
              </p:cNvSpPr>
              <p:nvPr/>
            </p:nvSpPr>
            <p:spPr bwMode="auto">
              <a:xfrm>
                <a:off x="1686"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50" name="Freeform 546"/>
              <p:cNvSpPr>
                <a:spLocks/>
              </p:cNvSpPr>
              <p:nvPr/>
            </p:nvSpPr>
            <p:spPr bwMode="auto">
              <a:xfrm>
                <a:off x="1695"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51" name="Freeform 547"/>
              <p:cNvSpPr>
                <a:spLocks/>
              </p:cNvSpPr>
              <p:nvPr/>
            </p:nvSpPr>
            <p:spPr bwMode="auto">
              <a:xfrm>
                <a:off x="1960"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52" name="Freeform 548"/>
              <p:cNvSpPr>
                <a:spLocks/>
              </p:cNvSpPr>
              <p:nvPr/>
            </p:nvSpPr>
            <p:spPr bwMode="auto">
              <a:xfrm>
                <a:off x="2369" y="2494"/>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53" name="Freeform 549"/>
              <p:cNvSpPr>
                <a:spLocks/>
              </p:cNvSpPr>
              <p:nvPr/>
            </p:nvSpPr>
            <p:spPr bwMode="auto">
              <a:xfrm>
                <a:off x="2393"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54" name="Freeform 550"/>
              <p:cNvSpPr>
                <a:spLocks/>
              </p:cNvSpPr>
              <p:nvPr/>
            </p:nvSpPr>
            <p:spPr bwMode="auto">
              <a:xfrm>
                <a:off x="2472"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55" name="Freeform 551"/>
              <p:cNvSpPr>
                <a:spLocks/>
              </p:cNvSpPr>
              <p:nvPr/>
            </p:nvSpPr>
            <p:spPr bwMode="auto">
              <a:xfrm>
                <a:off x="2489"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56" name="Freeform 552"/>
              <p:cNvSpPr>
                <a:spLocks/>
              </p:cNvSpPr>
              <p:nvPr/>
            </p:nvSpPr>
            <p:spPr bwMode="auto">
              <a:xfrm>
                <a:off x="2498"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57" name="Freeform 553"/>
              <p:cNvSpPr>
                <a:spLocks/>
              </p:cNvSpPr>
              <p:nvPr/>
            </p:nvSpPr>
            <p:spPr bwMode="auto">
              <a:xfrm>
                <a:off x="2508" y="2494"/>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58" name="Freeform 554"/>
              <p:cNvSpPr>
                <a:spLocks/>
              </p:cNvSpPr>
              <p:nvPr/>
            </p:nvSpPr>
            <p:spPr bwMode="auto">
              <a:xfrm>
                <a:off x="2512"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59" name="Freeform 555"/>
              <p:cNvSpPr>
                <a:spLocks/>
              </p:cNvSpPr>
              <p:nvPr/>
            </p:nvSpPr>
            <p:spPr bwMode="auto">
              <a:xfrm>
                <a:off x="2526"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60" name="Freeform 556"/>
              <p:cNvSpPr>
                <a:spLocks/>
              </p:cNvSpPr>
              <p:nvPr/>
            </p:nvSpPr>
            <p:spPr bwMode="auto">
              <a:xfrm>
                <a:off x="2533"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61" name="Freeform 557"/>
              <p:cNvSpPr>
                <a:spLocks/>
              </p:cNvSpPr>
              <p:nvPr/>
            </p:nvSpPr>
            <p:spPr bwMode="auto">
              <a:xfrm>
                <a:off x="2541" y="2494"/>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2" name="Freeform 558"/>
              <p:cNvSpPr>
                <a:spLocks/>
              </p:cNvSpPr>
              <p:nvPr/>
            </p:nvSpPr>
            <p:spPr bwMode="auto">
              <a:xfrm>
                <a:off x="2543"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3" name="Freeform 559"/>
              <p:cNvSpPr>
                <a:spLocks/>
              </p:cNvSpPr>
              <p:nvPr/>
            </p:nvSpPr>
            <p:spPr bwMode="auto">
              <a:xfrm>
                <a:off x="2554" y="2494"/>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64" name="Freeform 560"/>
              <p:cNvSpPr>
                <a:spLocks/>
              </p:cNvSpPr>
              <p:nvPr/>
            </p:nvSpPr>
            <p:spPr bwMode="auto">
              <a:xfrm>
                <a:off x="2583"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5" name="Freeform 561"/>
              <p:cNvSpPr>
                <a:spLocks/>
              </p:cNvSpPr>
              <p:nvPr/>
            </p:nvSpPr>
            <p:spPr bwMode="auto">
              <a:xfrm>
                <a:off x="2592"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6" name="Freeform 562"/>
              <p:cNvSpPr>
                <a:spLocks/>
              </p:cNvSpPr>
              <p:nvPr/>
            </p:nvSpPr>
            <p:spPr bwMode="auto">
              <a:xfrm>
                <a:off x="3257"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67" name="Freeform 563"/>
              <p:cNvSpPr>
                <a:spLocks/>
              </p:cNvSpPr>
              <p:nvPr/>
            </p:nvSpPr>
            <p:spPr bwMode="auto">
              <a:xfrm>
                <a:off x="3266"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68" name="Freeform 564"/>
              <p:cNvSpPr>
                <a:spLocks/>
              </p:cNvSpPr>
              <p:nvPr/>
            </p:nvSpPr>
            <p:spPr bwMode="auto">
              <a:xfrm>
                <a:off x="3278"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9" name="Freeform 565"/>
              <p:cNvSpPr>
                <a:spLocks/>
              </p:cNvSpPr>
              <p:nvPr/>
            </p:nvSpPr>
            <p:spPr bwMode="auto">
              <a:xfrm>
                <a:off x="3289" y="2494"/>
                <a:ext cx="10" cy="10"/>
              </a:xfrm>
              <a:custGeom>
                <a:avLst/>
                <a:gdLst>
                  <a:gd name="T0" fmla="*/ 1 w 10"/>
                  <a:gd name="T1" fmla="*/ 0 h 10"/>
                  <a:gd name="T2" fmla="*/ 6 w 10"/>
                  <a:gd name="T3" fmla="*/ 0 h 10"/>
                  <a:gd name="T4" fmla="*/ 10 w 10"/>
                  <a:gd name="T5" fmla="*/ 3 h 10"/>
                  <a:gd name="T6" fmla="*/ 10 w 10"/>
                  <a:gd name="T7" fmla="*/ 7 h 10"/>
                  <a:gd name="T8" fmla="*/ 6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6" y="0"/>
                    </a:lnTo>
                    <a:lnTo>
                      <a:pt x="10" y="3"/>
                    </a:lnTo>
                    <a:lnTo>
                      <a:pt x="10" y="7"/>
                    </a:lnTo>
                    <a:lnTo>
                      <a:pt x="6"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70" name="Freeform 566"/>
              <p:cNvSpPr>
                <a:spLocks/>
              </p:cNvSpPr>
              <p:nvPr/>
            </p:nvSpPr>
            <p:spPr bwMode="auto">
              <a:xfrm>
                <a:off x="3304"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1" name="Freeform 567"/>
              <p:cNvSpPr>
                <a:spLocks/>
              </p:cNvSpPr>
              <p:nvPr/>
            </p:nvSpPr>
            <p:spPr bwMode="auto">
              <a:xfrm>
                <a:off x="3309" y="2494"/>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2" name="Freeform 568"/>
              <p:cNvSpPr>
                <a:spLocks/>
              </p:cNvSpPr>
              <p:nvPr/>
            </p:nvSpPr>
            <p:spPr bwMode="auto">
              <a:xfrm>
                <a:off x="3313"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73" name="Freeform 569"/>
              <p:cNvSpPr>
                <a:spLocks/>
              </p:cNvSpPr>
              <p:nvPr/>
            </p:nvSpPr>
            <p:spPr bwMode="auto">
              <a:xfrm>
                <a:off x="3325"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4" name="Freeform 570"/>
              <p:cNvSpPr>
                <a:spLocks/>
              </p:cNvSpPr>
              <p:nvPr/>
            </p:nvSpPr>
            <p:spPr bwMode="auto">
              <a:xfrm>
                <a:off x="3332"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5" name="Freeform 571"/>
              <p:cNvSpPr>
                <a:spLocks/>
              </p:cNvSpPr>
              <p:nvPr/>
            </p:nvSpPr>
            <p:spPr bwMode="auto">
              <a:xfrm>
                <a:off x="3374"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6" name="Freeform 572"/>
              <p:cNvSpPr>
                <a:spLocks/>
              </p:cNvSpPr>
              <p:nvPr/>
            </p:nvSpPr>
            <p:spPr bwMode="auto">
              <a:xfrm>
                <a:off x="3385" y="2494"/>
                <a:ext cx="10" cy="10"/>
              </a:xfrm>
              <a:custGeom>
                <a:avLst/>
                <a:gdLst>
                  <a:gd name="T0" fmla="*/ 1 w 10"/>
                  <a:gd name="T1" fmla="*/ 0 h 10"/>
                  <a:gd name="T2" fmla="*/ 6 w 10"/>
                  <a:gd name="T3" fmla="*/ 0 h 10"/>
                  <a:gd name="T4" fmla="*/ 10 w 10"/>
                  <a:gd name="T5" fmla="*/ 3 h 10"/>
                  <a:gd name="T6" fmla="*/ 10 w 10"/>
                  <a:gd name="T7" fmla="*/ 7 h 10"/>
                  <a:gd name="T8" fmla="*/ 6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6" y="0"/>
                    </a:lnTo>
                    <a:lnTo>
                      <a:pt x="10" y="3"/>
                    </a:lnTo>
                    <a:lnTo>
                      <a:pt x="10" y="7"/>
                    </a:lnTo>
                    <a:lnTo>
                      <a:pt x="6"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77" name="Freeform 573"/>
              <p:cNvSpPr>
                <a:spLocks/>
              </p:cNvSpPr>
              <p:nvPr/>
            </p:nvSpPr>
            <p:spPr bwMode="auto">
              <a:xfrm>
                <a:off x="3407"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8" name="Freeform 574"/>
              <p:cNvSpPr>
                <a:spLocks/>
              </p:cNvSpPr>
              <p:nvPr/>
            </p:nvSpPr>
            <p:spPr bwMode="auto">
              <a:xfrm>
                <a:off x="3416"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79" name="Freeform 575"/>
              <p:cNvSpPr>
                <a:spLocks/>
              </p:cNvSpPr>
              <p:nvPr/>
            </p:nvSpPr>
            <p:spPr bwMode="auto">
              <a:xfrm>
                <a:off x="3425"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80" name="Freeform 576"/>
              <p:cNvSpPr>
                <a:spLocks/>
              </p:cNvSpPr>
              <p:nvPr/>
            </p:nvSpPr>
            <p:spPr bwMode="auto">
              <a:xfrm>
                <a:off x="3479" y="2494"/>
                <a:ext cx="8" cy="10"/>
              </a:xfrm>
              <a:custGeom>
                <a:avLst/>
                <a:gdLst>
                  <a:gd name="T0" fmla="*/ 2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1"/>
                    </a:lnTo>
                    <a:lnTo>
                      <a:pt x="8"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1" name="Freeform 577"/>
              <p:cNvSpPr>
                <a:spLocks/>
              </p:cNvSpPr>
              <p:nvPr/>
            </p:nvSpPr>
            <p:spPr bwMode="auto">
              <a:xfrm>
                <a:off x="3517"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2" name="Freeform 578"/>
              <p:cNvSpPr>
                <a:spLocks/>
              </p:cNvSpPr>
              <p:nvPr/>
            </p:nvSpPr>
            <p:spPr bwMode="auto">
              <a:xfrm>
                <a:off x="3528"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83" name="Freeform 579"/>
              <p:cNvSpPr>
                <a:spLocks/>
              </p:cNvSpPr>
              <p:nvPr/>
            </p:nvSpPr>
            <p:spPr bwMode="auto">
              <a:xfrm>
                <a:off x="3531"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84" name="Freeform 580"/>
              <p:cNvSpPr>
                <a:spLocks/>
              </p:cNvSpPr>
              <p:nvPr/>
            </p:nvSpPr>
            <p:spPr bwMode="auto">
              <a:xfrm>
                <a:off x="3536"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5" name="Freeform 581"/>
              <p:cNvSpPr>
                <a:spLocks/>
              </p:cNvSpPr>
              <p:nvPr/>
            </p:nvSpPr>
            <p:spPr bwMode="auto">
              <a:xfrm>
                <a:off x="3545"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6" name="Freeform 582"/>
              <p:cNvSpPr>
                <a:spLocks/>
              </p:cNvSpPr>
              <p:nvPr/>
            </p:nvSpPr>
            <p:spPr bwMode="auto">
              <a:xfrm>
                <a:off x="3568"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87" name="Freeform 583"/>
              <p:cNvSpPr>
                <a:spLocks/>
              </p:cNvSpPr>
              <p:nvPr/>
            </p:nvSpPr>
            <p:spPr bwMode="auto">
              <a:xfrm>
                <a:off x="4187"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88" name="Freeform 584"/>
              <p:cNvSpPr>
                <a:spLocks/>
              </p:cNvSpPr>
              <p:nvPr/>
            </p:nvSpPr>
            <p:spPr bwMode="auto">
              <a:xfrm>
                <a:off x="4207"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89" name="Freeform 585"/>
              <p:cNvSpPr>
                <a:spLocks/>
              </p:cNvSpPr>
              <p:nvPr/>
            </p:nvSpPr>
            <p:spPr bwMode="auto">
              <a:xfrm>
                <a:off x="4210"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90" name="Freeform 586"/>
              <p:cNvSpPr>
                <a:spLocks/>
              </p:cNvSpPr>
              <p:nvPr/>
            </p:nvSpPr>
            <p:spPr bwMode="auto">
              <a:xfrm>
                <a:off x="4214"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91" name="Freeform 587"/>
              <p:cNvSpPr>
                <a:spLocks/>
              </p:cNvSpPr>
              <p:nvPr/>
            </p:nvSpPr>
            <p:spPr bwMode="auto">
              <a:xfrm>
                <a:off x="4219"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92" name="Freeform 588"/>
              <p:cNvSpPr>
                <a:spLocks/>
              </p:cNvSpPr>
              <p:nvPr/>
            </p:nvSpPr>
            <p:spPr bwMode="auto">
              <a:xfrm>
                <a:off x="4425"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93" name="Freeform 589"/>
              <p:cNvSpPr>
                <a:spLocks/>
              </p:cNvSpPr>
              <p:nvPr/>
            </p:nvSpPr>
            <p:spPr bwMode="auto">
              <a:xfrm>
                <a:off x="4432"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94" name="Freeform 590"/>
              <p:cNvSpPr>
                <a:spLocks/>
              </p:cNvSpPr>
              <p:nvPr/>
            </p:nvSpPr>
            <p:spPr bwMode="auto">
              <a:xfrm>
                <a:off x="4434"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95" name="Freeform 591"/>
              <p:cNvSpPr>
                <a:spLocks/>
              </p:cNvSpPr>
              <p:nvPr/>
            </p:nvSpPr>
            <p:spPr bwMode="auto">
              <a:xfrm>
                <a:off x="4608"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96" name="Freeform 592"/>
              <p:cNvSpPr>
                <a:spLocks/>
              </p:cNvSpPr>
              <p:nvPr/>
            </p:nvSpPr>
            <p:spPr bwMode="auto">
              <a:xfrm>
                <a:off x="1341"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97" name="Freeform 593"/>
              <p:cNvSpPr>
                <a:spLocks/>
              </p:cNvSpPr>
              <p:nvPr/>
            </p:nvSpPr>
            <p:spPr bwMode="auto">
              <a:xfrm>
                <a:off x="1869"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598" name="Freeform 594"/>
              <p:cNvSpPr>
                <a:spLocks/>
              </p:cNvSpPr>
              <p:nvPr/>
            </p:nvSpPr>
            <p:spPr bwMode="auto">
              <a:xfrm>
                <a:off x="1941"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99" name="Freeform 595"/>
              <p:cNvSpPr>
                <a:spLocks/>
              </p:cNvSpPr>
              <p:nvPr/>
            </p:nvSpPr>
            <p:spPr bwMode="auto">
              <a:xfrm>
                <a:off x="1953"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0" name="Freeform 596"/>
              <p:cNvSpPr>
                <a:spLocks/>
              </p:cNvSpPr>
              <p:nvPr/>
            </p:nvSpPr>
            <p:spPr bwMode="auto">
              <a:xfrm>
                <a:off x="2349"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1" name="Freeform 597"/>
              <p:cNvSpPr>
                <a:spLocks/>
              </p:cNvSpPr>
              <p:nvPr/>
            </p:nvSpPr>
            <p:spPr bwMode="auto">
              <a:xfrm>
                <a:off x="2353"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2" name="Freeform 598"/>
              <p:cNvSpPr>
                <a:spLocks/>
              </p:cNvSpPr>
              <p:nvPr/>
            </p:nvSpPr>
            <p:spPr bwMode="auto">
              <a:xfrm>
                <a:off x="2358"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3" name="Freeform 599"/>
              <p:cNvSpPr>
                <a:spLocks/>
              </p:cNvSpPr>
              <p:nvPr/>
            </p:nvSpPr>
            <p:spPr bwMode="auto">
              <a:xfrm>
                <a:off x="2374"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4" name="Freeform 600"/>
              <p:cNvSpPr>
                <a:spLocks/>
              </p:cNvSpPr>
              <p:nvPr/>
            </p:nvSpPr>
            <p:spPr bwMode="auto">
              <a:xfrm>
                <a:off x="2397"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5" name="Freeform 601"/>
              <p:cNvSpPr>
                <a:spLocks/>
              </p:cNvSpPr>
              <p:nvPr/>
            </p:nvSpPr>
            <p:spPr bwMode="auto">
              <a:xfrm>
                <a:off x="2543"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6" name="Freeform 602"/>
              <p:cNvSpPr>
                <a:spLocks/>
              </p:cNvSpPr>
              <p:nvPr/>
            </p:nvSpPr>
            <p:spPr bwMode="auto">
              <a:xfrm>
                <a:off x="2545"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7" name="Freeform 603"/>
              <p:cNvSpPr>
                <a:spLocks/>
              </p:cNvSpPr>
              <p:nvPr/>
            </p:nvSpPr>
            <p:spPr bwMode="auto">
              <a:xfrm>
                <a:off x="2550"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08" name="Freeform 604"/>
              <p:cNvSpPr>
                <a:spLocks/>
              </p:cNvSpPr>
              <p:nvPr/>
            </p:nvSpPr>
            <p:spPr bwMode="auto">
              <a:xfrm>
                <a:off x="2554" y="2454"/>
                <a:ext cx="10" cy="10"/>
              </a:xfrm>
              <a:custGeom>
                <a:avLst/>
                <a:gdLst>
                  <a:gd name="T0" fmla="*/ 3 w 10"/>
                  <a:gd name="T1" fmla="*/ 0 h 10"/>
                  <a:gd name="T2" fmla="*/ 7 w 10"/>
                  <a:gd name="T3" fmla="*/ 0 h 10"/>
                  <a:gd name="T4" fmla="*/ 10 w 10"/>
                  <a:gd name="T5" fmla="*/ 3 h 10"/>
                  <a:gd name="T6" fmla="*/ 10 w 10"/>
                  <a:gd name="T7" fmla="*/ 8 h 10"/>
                  <a:gd name="T8" fmla="*/ 8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8"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09" name="Freeform 605"/>
              <p:cNvSpPr>
                <a:spLocks/>
              </p:cNvSpPr>
              <p:nvPr/>
            </p:nvSpPr>
            <p:spPr bwMode="auto">
              <a:xfrm>
                <a:off x="2569"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10" name="Freeform 606"/>
              <p:cNvSpPr>
                <a:spLocks/>
              </p:cNvSpPr>
              <p:nvPr/>
            </p:nvSpPr>
            <p:spPr bwMode="auto">
              <a:xfrm>
                <a:off x="2575" y="2454"/>
                <a:ext cx="10" cy="10"/>
              </a:xfrm>
              <a:custGeom>
                <a:avLst/>
                <a:gdLst>
                  <a:gd name="T0" fmla="*/ 3 w 10"/>
                  <a:gd name="T1" fmla="*/ 0 h 10"/>
                  <a:gd name="T2" fmla="*/ 7 w 10"/>
                  <a:gd name="T3" fmla="*/ 0 h 10"/>
                  <a:gd name="T4" fmla="*/ 10 w 10"/>
                  <a:gd name="T5" fmla="*/ 3 h 10"/>
                  <a:gd name="T6" fmla="*/ 10 w 10"/>
                  <a:gd name="T7" fmla="*/ 6 h 10"/>
                  <a:gd name="T8" fmla="*/ 7 w 10"/>
                  <a:gd name="T9" fmla="*/ 10 h 10"/>
                  <a:gd name="T10" fmla="*/ 1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6"/>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5" name="Group 808"/>
            <p:cNvGrpSpPr>
              <a:grpSpLocks/>
            </p:cNvGrpSpPr>
            <p:nvPr/>
          </p:nvGrpSpPr>
          <p:grpSpPr bwMode="auto">
            <a:xfrm>
              <a:off x="1947928" y="3517910"/>
              <a:ext cx="6315288" cy="393701"/>
              <a:chOff x="1227" y="2216"/>
              <a:chExt cx="3978" cy="248"/>
            </a:xfrm>
          </p:grpSpPr>
          <p:sp>
            <p:nvSpPr>
              <p:cNvPr id="7211" name="Freeform 608"/>
              <p:cNvSpPr>
                <a:spLocks/>
              </p:cNvSpPr>
              <p:nvPr/>
            </p:nvSpPr>
            <p:spPr bwMode="auto">
              <a:xfrm>
                <a:off x="2597"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2" name="Freeform 609"/>
              <p:cNvSpPr>
                <a:spLocks/>
              </p:cNvSpPr>
              <p:nvPr/>
            </p:nvSpPr>
            <p:spPr bwMode="auto">
              <a:xfrm>
                <a:off x="2925"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3" name="Freeform 610"/>
              <p:cNvSpPr>
                <a:spLocks/>
              </p:cNvSpPr>
              <p:nvPr/>
            </p:nvSpPr>
            <p:spPr bwMode="auto">
              <a:xfrm>
                <a:off x="2974"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4" name="Freeform 611"/>
              <p:cNvSpPr>
                <a:spLocks/>
              </p:cNvSpPr>
              <p:nvPr/>
            </p:nvSpPr>
            <p:spPr bwMode="auto">
              <a:xfrm>
                <a:off x="3313"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15" name="Freeform 612"/>
              <p:cNvSpPr>
                <a:spLocks/>
              </p:cNvSpPr>
              <p:nvPr/>
            </p:nvSpPr>
            <p:spPr bwMode="auto">
              <a:xfrm>
                <a:off x="3522"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6" name="Freeform 613"/>
              <p:cNvSpPr>
                <a:spLocks/>
              </p:cNvSpPr>
              <p:nvPr/>
            </p:nvSpPr>
            <p:spPr bwMode="auto">
              <a:xfrm>
                <a:off x="3526"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17" name="Freeform 614"/>
              <p:cNvSpPr>
                <a:spLocks/>
              </p:cNvSpPr>
              <p:nvPr/>
            </p:nvSpPr>
            <p:spPr bwMode="auto">
              <a:xfrm>
                <a:off x="3529"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8" name="Freeform 615"/>
              <p:cNvSpPr>
                <a:spLocks/>
              </p:cNvSpPr>
              <p:nvPr/>
            </p:nvSpPr>
            <p:spPr bwMode="auto">
              <a:xfrm>
                <a:off x="3531"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9" name="Freeform 616"/>
              <p:cNvSpPr>
                <a:spLocks/>
              </p:cNvSpPr>
              <p:nvPr/>
            </p:nvSpPr>
            <p:spPr bwMode="auto">
              <a:xfrm>
                <a:off x="3535"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0" name="Freeform 617"/>
              <p:cNvSpPr>
                <a:spLocks/>
              </p:cNvSpPr>
              <p:nvPr/>
            </p:nvSpPr>
            <p:spPr bwMode="auto">
              <a:xfrm>
                <a:off x="3536" y="2454"/>
                <a:ext cx="11" cy="10"/>
              </a:xfrm>
              <a:custGeom>
                <a:avLst/>
                <a:gdLst>
                  <a:gd name="T0" fmla="*/ 4 w 11"/>
                  <a:gd name="T1" fmla="*/ 0 h 10"/>
                  <a:gd name="T2" fmla="*/ 7 w 11"/>
                  <a:gd name="T3" fmla="*/ 0 h 10"/>
                  <a:gd name="T4" fmla="*/ 11 w 11"/>
                  <a:gd name="T5" fmla="*/ 3 h 10"/>
                  <a:gd name="T6" fmla="*/ 11 w 11"/>
                  <a:gd name="T7" fmla="*/ 6 h 10"/>
                  <a:gd name="T8" fmla="*/ 7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6"/>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21" name="Freeform 618"/>
              <p:cNvSpPr>
                <a:spLocks/>
              </p:cNvSpPr>
              <p:nvPr/>
            </p:nvSpPr>
            <p:spPr bwMode="auto">
              <a:xfrm>
                <a:off x="3866"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22" name="Freeform 619"/>
              <p:cNvSpPr>
                <a:spLocks/>
              </p:cNvSpPr>
              <p:nvPr/>
            </p:nvSpPr>
            <p:spPr bwMode="auto">
              <a:xfrm>
                <a:off x="3870"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2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3" name="Freeform 620"/>
              <p:cNvSpPr>
                <a:spLocks/>
              </p:cNvSpPr>
              <p:nvPr/>
            </p:nvSpPr>
            <p:spPr bwMode="auto">
              <a:xfrm>
                <a:off x="4194"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24" name="Freeform 621"/>
              <p:cNvSpPr>
                <a:spLocks/>
              </p:cNvSpPr>
              <p:nvPr/>
            </p:nvSpPr>
            <p:spPr bwMode="auto">
              <a:xfrm>
                <a:off x="4205"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5" name="Freeform 622"/>
              <p:cNvSpPr>
                <a:spLocks/>
              </p:cNvSpPr>
              <p:nvPr/>
            </p:nvSpPr>
            <p:spPr bwMode="auto">
              <a:xfrm>
                <a:off x="4226"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6" name="Freeform 623"/>
              <p:cNvSpPr>
                <a:spLocks/>
              </p:cNvSpPr>
              <p:nvPr/>
            </p:nvSpPr>
            <p:spPr bwMode="auto">
              <a:xfrm>
                <a:off x="4385"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7" name="Freeform 624"/>
              <p:cNvSpPr>
                <a:spLocks/>
              </p:cNvSpPr>
              <p:nvPr/>
            </p:nvSpPr>
            <p:spPr bwMode="auto">
              <a:xfrm>
                <a:off x="4421"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28" name="Freeform 625"/>
              <p:cNvSpPr>
                <a:spLocks/>
              </p:cNvSpPr>
              <p:nvPr/>
            </p:nvSpPr>
            <p:spPr bwMode="auto">
              <a:xfrm>
                <a:off x="4448"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29" name="Freeform 626"/>
              <p:cNvSpPr>
                <a:spLocks/>
              </p:cNvSpPr>
              <p:nvPr/>
            </p:nvSpPr>
            <p:spPr bwMode="auto">
              <a:xfrm>
                <a:off x="4449"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30" name="Freeform 627"/>
              <p:cNvSpPr>
                <a:spLocks/>
              </p:cNvSpPr>
              <p:nvPr/>
            </p:nvSpPr>
            <p:spPr bwMode="auto">
              <a:xfrm>
                <a:off x="4455" y="2454"/>
                <a:ext cx="8" cy="10"/>
              </a:xfrm>
              <a:custGeom>
                <a:avLst/>
                <a:gdLst>
                  <a:gd name="T0" fmla="*/ 3 w 8"/>
                  <a:gd name="T1" fmla="*/ 0 h 10"/>
                  <a:gd name="T2" fmla="*/ 5 w 8"/>
                  <a:gd name="T3" fmla="*/ 0 h 10"/>
                  <a:gd name="T4" fmla="*/ 8 w 8"/>
                  <a:gd name="T5" fmla="*/ 3 h 10"/>
                  <a:gd name="T6" fmla="*/ 8 w 8"/>
                  <a:gd name="T7" fmla="*/ 8 h 10"/>
                  <a:gd name="T8" fmla="*/ 6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6"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31" name="Freeform 628"/>
              <p:cNvSpPr>
                <a:spLocks/>
              </p:cNvSpPr>
              <p:nvPr/>
            </p:nvSpPr>
            <p:spPr bwMode="auto">
              <a:xfrm>
                <a:off x="4465" y="2454"/>
                <a:ext cx="10" cy="10"/>
              </a:xfrm>
              <a:custGeom>
                <a:avLst/>
                <a:gdLst>
                  <a:gd name="T0" fmla="*/ 3 w 10"/>
                  <a:gd name="T1" fmla="*/ 0 h 10"/>
                  <a:gd name="T2" fmla="*/ 7 w 10"/>
                  <a:gd name="T3" fmla="*/ 0 h 10"/>
                  <a:gd name="T4" fmla="*/ 10 w 10"/>
                  <a:gd name="T5" fmla="*/ 3 h 10"/>
                  <a:gd name="T6" fmla="*/ 10 w 10"/>
                  <a:gd name="T7" fmla="*/ 6 h 10"/>
                  <a:gd name="T8" fmla="*/ 7 w 10"/>
                  <a:gd name="T9" fmla="*/ 10 h 10"/>
                  <a:gd name="T10" fmla="*/ 2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6"/>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32" name="Freeform 629"/>
              <p:cNvSpPr>
                <a:spLocks/>
              </p:cNvSpPr>
              <p:nvPr/>
            </p:nvSpPr>
            <p:spPr bwMode="auto">
              <a:xfrm>
                <a:off x="4477"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33" name="Freeform 630"/>
              <p:cNvSpPr>
                <a:spLocks/>
              </p:cNvSpPr>
              <p:nvPr/>
            </p:nvSpPr>
            <p:spPr bwMode="auto">
              <a:xfrm>
                <a:off x="1567"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34" name="Freeform 631"/>
              <p:cNvSpPr>
                <a:spLocks/>
              </p:cNvSpPr>
              <p:nvPr/>
            </p:nvSpPr>
            <p:spPr bwMode="auto">
              <a:xfrm>
                <a:off x="1573" y="2415"/>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35" name="Freeform 632"/>
              <p:cNvSpPr>
                <a:spLocks/>
              </p:cNvSpPr>
              <p:nvPr/>
            </p:nvSpPr>
            <p:spPr bwMode="auto">
              <a:xfrm>
                <a:off x="1581" y="2415"/>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36" name="Freeform 633"/>
              <p:cNvSpPr>
                <a:spLocks/>
              </p:cNvSpPr>
              <p:nvPr/>
            </p:nvSpPr>
            <p:spPr bwMode="auto">
              <a:xfrm>
                <a:off x="1583"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37" name="Freeform 634"/>
              <p:cNvSpPr>
                <a:spLocks/>
              </p:cNvSpPr>
              <p:nvPr/>
            </p:nvSpPr>
            <p:spPr bwMode="auto">
              <a:xfrm>
                <a:off x="1630" y="2415"/>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38" name="Freeform 635"/>
              <p:cNvSpPr>
                <a:spLocks/>
              </p:cNvSpPr>
              <p:nvPr/>
            </p:nvSpPr>
            <p:spPr bwMode="auto">
              <a:xfrm>
                <a:off x="1644"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39" name="Freeform 636"/>
              <p:cNvSpPr>
                <a:spLocks/>
              </p:cNvSpPr>
              <p:nvPr/>
            </p:nvSpPr>
            <p:spPr bwMode="auto">
              <a:xfrm>
                <a:off x="1646" y="2415"/>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0" name="Freeform 637"/>
              <p:cNvSpPr>
                <a:spLocks/>
              </p:cNvSpPr>
              <p:nvPr/>
            </p:nvSpPr>
            <p:spPr bwMode="auto">
              <a:xfrm>
                <a:off x="1670"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1" name="Freeform 638"/>
              <p:cNvSpPr>
                <a:spLocks/>
              </p:cNvSpPr>
              <p:nvPr/>
            </p:nvSpPr>
            <p:spPr bwMode="auto">
              <a:xfrm>
                <a:off x="1679" y="2415"/>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2" name="Freeform 639"/>
              <p:cNvSpPr>
                <a:spLocks/>
              </p:cNvSpPr>
              <p:nvPr/>
            </p:nvSpPr>
            <p:spPr bwMode="auto">
              <a:xfrm>
                <a:off x="1709" y="2415"/>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43" name="Freeform 640"/>
              <p:cNvSpPr>
                <a:spLocks/>
              </p:cNvSpPr>
              <p:nvPr/>
            </p:nvSpPr>
            <p:spPr bwMode="auto">
              <a:xfrm>
                <a:off x="2501" y="2415"/>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4" name="Freeform 641"/>
              <p:cNvSpPr>
                <a:spLocks/>
              </p:cNvSpPr>
              <p:nvPr/>
            </p:nvSpPr>
            <p:spPr bwMode="auto">
              <a:xfrm>
                <a:off x="2510"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5" name="Freeform 642"/>
              <p:cNvSpPr>
                <a:spLocks/>
              </p:cNvSpPr>
              <p:nvPr/>
            </p:nvSpPr>
            <p:spPr bwMode="auto">
              <a:xfrm>
                <a:off x="2515"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46" name="Freeform 643"/>
              <p:cNvSpPr>
                <a:spLocks/>
              </p:cNvSpPr>
              <p:nvPr/>
            </p:nvSpPr>
            <p:spPr bwMode="auto">
              <a:xfrm>
                <a:off x="2517" y="2415"/>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47" name="Freeform 644"/>
              <p:cNvSpPr>
                <a:spLocks/>
              </p:cNvSpPr>
              <p:nvPr/>
            </p:nvSpPr>
            <p:spPr bwMode="auto">
              <a:xfrm>
                <a:off x="2527"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8" name="Freeform 645"/>
              <p:cNvSpPr>
                <a:spLocks/>
              </p:cNvSpPr>
              <p:nvPr/>
            </p:nvSpPr>
            <p:spPr bwMode="auto">
              <a:xfrm>
                <a:off x="2529"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49" name="Freeform 646"/>
              <p:cNvSpPr>
                <a:spLocks/>
              </p:cNvSpPr>
              <p:nvPr/>
            </p:nvSpPr>
            <p:spPr bwMode="auto">
              <a:xfrm>
                <a:off x="2536"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0" name="Freeform 647"/>
              <p:cNvSpPr>
                <a:spLocks/>
              </p:cNvSpPr>
              <p:nvPr/>
            </p:nvSpPr>
            <p:spPr bwMode="auto">
              <a:xfrm>
                <a:off x="2538" y="241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51" name="Freeform 648"/>
              <p:cNvSpPr>
                <a:spLocks/>
              </p:cNvSpPr>
              <p:nvPr/>
            </p:nvSpPr>
            <p:spPr bwMode="auto">
              <a:xfrm>
                <a:off x="2576"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2" name="Freeform 649"/>
              <p:cNvSpPr>
                <a:spLocks/>
              </p:cNvSpPr>
              <p:nvPr/>
            </p:nvSpPr>
            <p:spPr bwMode="auto">
              <a:xfrm>
                <a:off x="3007"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3" name="Freeform 650"/>
              <p:cNvSpPr>
                <a:spLocks/>
              </p:cNvSpPr>
              <p:nvPr/>
            </p:nvSpPr>
            <p:spPr bwMode="auto">
              <a:xfrm>
                <a:off x="3013" y="2415"/>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54" name="Freeform 651"/>
              <p:cNvSpPr>
                <a:spLocks/>
              </p:cNvSpPr>
              <p:nvPr/>
            </p:nvSpPr>
            <p:spPr bwMode="auto">
              <a:xfrm>
                <a:off x="3037"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5" name="Freeform 652"/>
              <p:cNvSpPr>
                <a:spLocks/>
              </p:cNvSpPr>
              <p:nvPr/>
            </p:nvSpPr>
            <p:spPr bwMode="auto">
              <a:xfrm>
                <a:off x="3550"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56" name="Freeform 653"/>
              <p:cNvSpPr>
                <a:spLocks/>
              </p:cNvSpPr>
              <p:nvPr/>
            </p:nvSpPr>
            <p:spPr bwMode="auto">
              <a:xfrm>
                <a:off x="4161"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57" name="Freeform 654"/>
              <p:cNvSpPr>
                <a:spLocks/>
              </p:cNvSpPr>
              <p:nvPr/>
            </p:nvSpPr>
            <p:spPr bwMode="auto">
              <a:xfrm>
                <a:off x="4187"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58" name="Freeform 655"/>
              <p:cNvSpPr>
                <a:spLocks/>
              </p:cNvSpPr>
              <p:nvPr/>
            </p:nvSpPr>
            <p:spPr bwMode="auto">
              <a:xfrm>
                <a:off x="4200" y="2415"/>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59" name="Freeform 656"/>
              <p:cNvSpPr>
                <a:spLocks/>
              </p:cNvSpPr>
              <p:nvPr/>
            </p:nvSpPr>
            <p:spPr bwMode="auto">
              <a:xfrm>
                <a:off x="4231"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60" name="Freeform 657"/>
              <p:cNvSpPr>
                <a:spLocks/>
              </p:cNvSpPr>
              <p:nvPr/>
            </p:nvSpPr>
            <p:spPr bwMode="auto">
              <a:xfrm>
                <a:off x="4238"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61" name="Freeform 658"/>
              <p:cNvSpPr>
                <a:spLocks/>
              </p:cNvSpPr>
              <p:nvPr/>
            </p:nvSpPr>
            <p:spPr bwMode="auto">
              <a:xfrm>
                <a:off x="4322" y="2415"/>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62" name="Freeform 659"/>
              <p:cNvSpPr>
                <a:spLocks/>
              </p:cNvSpPr>
              <p:nvPr/>
            </p:nvSpPr>
            <p:spPr bwMode="auto">
              <a:xfrm>
                <a:off x="4327"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63" name="Freeform 660"/>
              <p:cNvSpPr>
                <a:spLocks/>
              </p:cNvSpPr>
              <p:nvPr/>
            </p:nvSpPr>
            <p:spPr bwMode="auto">
              <a:xfrm>
                <a:off x="4338" y="2415"/>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64" name="Freeform 661"/>
              <p:cNvSpPr>
                <a:spLocks/>
              </p:cNvSpPr>
              <p:nvPr/>
            </p:nvSpPr>
            <p:spPr bwMode="auto">
              <a:xfrm>
                <a:off x="4355" y="241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65" name="Freeform 662"/>
              <p:cNvSpPr>
                <a:spLocks/>
              </p:cNvSpPr>
              <p:nvPr/>
            </p:nvSpPr>
            <p:spPr bwMode="auto">
              <a:xfrm>
                <a:off x="4379"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66" name="Freeform 663"/>
              <p:cNvSpPr>
                <a:spLocks/>
              </p:cNvSpPr>
              <p:nvPr/>
            </p:nvSpPr>
            <p:spPr bwMode="auto">
              <a:xfrm>
                <a:off x="4411" y="241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67" name="Freeform 664"/>
              <p:cNvSpPr>
                <a:spLocks/>
              </p:cNvSpPr>
              <p:nvPr/>
            </p:nvSpPr>
            <p:spPr bwMode="auto">
              <a:xfrm>
                <a:off x="4430"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68" name="Freeform 665"/>
              <p:cNvSpPr>
                <a:spLocks/>
              </p:cNvSpPr>
              <p:nvPr/>
            </p:nvSpPr>
            <p:spPr bwMode="auto">
              <a:xfrm>
                <a:off x="4441" y="2415"/>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69" name="Freeform 666"/>
              <p:cNvSpPr>
                <a:spLocks/>
              </p:cNvSpPr>
              <p:nvPr/>
            </p:nvSpPr>
            <p:spPr bwMode="auto">
              <a:xfrm>
                <a:off x="4472"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0" name="Freeform 667"/>
              <p:cNvSpPr>
                <a:spLocks/>
              </p:cNvSpPr>
              <p:nvPr/>
            </p:nvSpPr>
            <p:spPr bwMode="auto">
              <a:xfrm>
                <a:off x="1606" y="2375"/>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1" name="Freeform 668"/>
              <p:cNvSpPr>
                <a:spLocks/>
              </p:cNvSpPr>
              <p:nvPr/>
            </p:nvSpPr>
            <p:spPr bwMode="auto">
              <a:xfrm>
                <a:off x="1637" y="2375"/>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2" name="Freeform 669"/>
              <p:cNvSpPr>
                <a:spLocks/>
              </p:cNvSpPr>
              <p:nvPr/>
            </p:nvSpPr>
            <p:spPr bwMode="auto">
              <a:xfrm>
                <a:off x="1644"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3" name="Freeform 670"/>
              <p:cNvSpPr>
                <a:spLocks/>
              </p:cNvSpPr>
              <p:nvPr/>
            </p:nvSpPr>
            <p:spPr bwMode="auto">
              <a:xfrm>
                <a:off x="1702" y="2375"/>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4" name="Freeform 671"/>
              <p:cNvSpPr>
                <a:spLocks/>
              </p:cNvSpPr>
              <p:nvPr/>
            </p:nvSpPr>
            <p:spPr bwMode="auto">
              <a:xfrm>
                <a:off x="1709"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5" name="Freeform 672"/>
              <p:cNvSpPr>
                <a:spLocks/>
              </p:cNvSpPr>
              <p:nvPr/>
            </p:nvSpPr>
            <p:spPr bwMode="auto">
              <a:xfrm>
                <a:off x="1716"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6" name="Freeform 673"/>
              <p:cNvSpPr>
                <a:spLocks/>
              </p:cNvSpPr>
              <p:nvPr/>
            </p:nvSpPr>
            <p:spPr bwMode="auto">
              <a:xfrm>
                <a:off x="1726" y="2375"/>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7" name="Freeform 674"/>
              <p:cNvSpPr>
                <a:spLocks/>
              </p:cNvSpPr>
              <p:nvPr/>
            </p:nvSpPr>
            <p:spPr bwMode="auto">
              <a:xfrm>
                <a:off x="1747"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8" name="Freeform 675"/>
              <p:cNvSpPr>
                <a:spLocks/>
              </p:cNvSpPr>
              <p:nvPr/>
            </p:nvSpPr>
            <p:spPr bwMode="auto">
              <a:xfrm>
                <a:off x="1751" y="2375"/>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79" name="Freeform 676"/>
              <p:cNvSpPr>
                <a:spLocks/>
              </p:cNvSpPr>
              <p:nvPr/>
            </p:nvSpPr>
            <p:spPr bwMode="auto">
              <a:xfrm>
                <a:off x="1752"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80" name="Freeform 677"/>
              <p:cNvSpPr>
                <a:spLocks/>
              </p:cNvSpPr>
              <p:nvPr/>
            </p:nvSpPr>
            <p:spPr bwMode="auto">
              <a:xfrm>
                <a:off x="2498" y="237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81" name="Freeform 678"/>
              <p:cNvSpPr>
                <a:spLocks/>
              </p:cNvSpPr>
              <p:nvPr/>
            </p:nvSpPr>
            <p:spPr bwMode="auto">
              <a:xfrm>
                <a:off x="2503" y="2375"/>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2" name="Freeform 679"/>
              <p:cNvSpPr>
                <a:spLocks/>
              </p:cNvSpPr>
              <p:nvPr/>
            </p:nvSpPr>
            <p:spPr bwMode="auto">
              <a:xfrm>
                <a:off x="2508"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3" name="Freeform 680"/>
              <p:cNvSpPr>
                <a:spLocks/>
              </p:cNvSpPr>
              <p:nvPr/>
            </p:nvSpPr>
            <p:spPr bwMode="auto">
              <a:xfrm>
                <a:off x="2519" y="2375"/>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84" name="Freeform 681"/>
              <p:cNvSpPr>
                <a:spLocks/>
              </p:cNvSpPr>
              <p:nvPr/>
            </p:nvSpPr>
            <p:spPr bwMode="auto">
              <a:xfrm>
                <a:off x="2520" y="2375"/>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5" name="Freeform 682"/>
              <p:cNvSpPr>
                <a:spLocks/>
              </p:cNvSpPr>
              <p:nvPr/>
            </p:nvSpPr>
            <p:spPr bwMode="auto">
              <a:xfrm>
                <a:off x="2527" y="2375"/>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6" name="Freeform 683"/>
              <p:cNvSpPr>
                <a:spLocks/>
              </p:cNvSpPr>
              <p:nvPr/>
            </p:nvSpPr>
            <p:spPr bwMode="auto">
              <a:xfrm>
                <a:off x="2529"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87" name="Freeform 684"/>
              <p:cNvSpPr>
                <a:spLocks/>
              </p:cNvSpPr>
              <p:nvPr/>
            </p:nvSpPr>
            <p:spPr bwMode="auto">
              <a:xfrm>
                <a:off x="2534" y="2375"/>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8" name="Freeform 685"/>
              <p:cNvSpPr>
                <a:spLocks/>
              </p:cNvSpPr>
              <p:nvPr/>
            </p:nvSpPr>
            <p:spPr bwMode="auto">
              <a:xfrm>
                <a:off x="2538" y="237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89" name="Freeform 686"/>
              <p:cNvSpPr>
                <a:spLocks/>
              </p:cNvSpPr>
              <p:nvPr/>
            </p:nvSpPr>
            <p:spPr bwMode="auto">
              <a:xfrm>
                <a:off x="4331" y="2375"/>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90" name="Freeform 687"/>
              <p:cNvSpPr>
                <a:spLocks/>
              </p:cNvSpPr>
              <p:nvPr/>
            </p:nvSpPr>
            <p:spPr bwMode="auto">
              <a:xfrm>
                <a:off x="4336" y="2375"/>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91" name="Freeform 688"/>
              <p:cNvSpPr>
                <a:spLocks/>
              </p:cNvSpPr>
              <p:nvPr/>
            </p:nvSpPr>
            <p:spPr bwMode="auto">
              <a:xfrm>
                <a:off x="4339"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2" name="Freeform 689"/>
              <p:cNvSpPr>
                <a:spLocks/>
              </p:cNvSpPr>
              <p:nvPr/>
            </p:nvSpPr>
            <p:spPr bwMode="auto">
              <a:xfrm>
                <a:off x="4346"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3" name="Freeform 690"/>
              <p:cNvSpPr>
                <a:spLocks/>
              </p:cNvSpPr>
              <p:nvPr/>
            </p:nvSpPr>
            <p:spPr bwMode="auto">
              <a:xfrm>
                <a:off x="4348" y="2375"/>
                <a:ext cx="10" cy="9"/>
              </a:xfrm>
              <a:custGeom>
                <a:avLst/>
                <a:gdLst>
                  <a:gd name="T0" fmla="*/ 4 w 10"/>
                  <a:gd name="T1" fmla="*/ 0 h 9"/>
                  <a:gd name="T2" fmla="*/ 9 w 10"/>
                  <a:gd name="T3" fmla="*/ 0 h 9"/>
                  <a:gd name="T4" fmla="*/ 10 w 10"/>
                  <a:gd name="T5" fmla="*/ 2 h 9"/>
                  <a:gd name="T6" fmla="*/ 10 w 10"/>
                  <a:gd name="T7" fmla="*/ 7 h 9"/>
                  <a:gd name="T8" fmla="*/ 9 w 10"/>
                  <a:gd name="T9" fmla="*/ 9 h 9"/>
                  <a:gd name="T10" fmla="*/ 4 w 10"/>
                  <a:gd name="T11" fmla="*/ 9 h 9"/>
                  <a:gd name="T12" fmla="*/ 0 w 10"/>
                  <a:gd name="T13" fmla="*/ 5 h 9"/>
                  <a:gd name="T14" fmla="*/ 0 w 10"/>
                  <a:gd name="T15" fmla="*/ 3 h 9"/>
                  <a:gd name="T16" fmla="*/ 4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4" y="0"/>
                    </a:moveTo>
                    <a:lnTo>
                      <a:pt x="9" y="0"/>
                    </a:lnTo>
                    <a:lnTo>
                      <a:pt x="10" y="2"/>
                    </a:lnTo>
                    <a:lnTo>
                      <a:pt x="10"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4" name="Freeform 691"/>
              <p:cNvSpPr>
                <a:spLocks/>
              </p:cNvSpPr>
              <p:nvPr/>
            </p:nvSpPr>
            <p:spPr bwMode="auto">
              <a:xfrm>
                <a:off x="4352" y="2375"/>
                <a:ext cx="8" cy="9"/>
              </a:xfrm>
              <a:custGeom>
                <a:avLst/>
                <a:gdLst>
                  <a:gd name="T0" fmla="*/ 1 w 8"/>
                  <a:gd name="T1" fmla="*/ 0 h 9"/>
                  <a:gd name="T2" fmla="*/ 6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95" name="Freeform 692"/>
              <p:cNvSpPr>
                <a:spLocks/>
              </p:cNvSpPr>
              <p:nvPr/>
            </p:nvSpPr>
            <p:spPr bwMode="auto">
              <a:xfrm>
                <a:off x="4386"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6" name="Freeform 693"/>
              <p:cNvSpPr>
                <a:spLocks/>
              </p:cNvSpPr>
              <p:nvPr/>
            </p:nvSpPr>
            <p:spPr bwMode="auto">
              <a:xfrm>
                <a:off x="4395"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97" name="Freeform 694"/>
              <p:cNvSpPr>
                <a:spLocks/>
              </p:cNvSpPr>
              <p:nvPr/>
            </p:nvSpPr>
            <p:spPr bwMode="auto">
              <a:xfrm>
                <a:off x="5182"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98" name="Freeform 695"/>
              <p:cNvSpPr>
                <a:spLocks/>
              </p:cNvSpPr>
              <p:nvPr/>
            </p:nvSpPr>
            <p:spPr bwMode="auto">
              <a:xfrm>
                <a:off x="1574"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99" name="Freeform 696"/>
              <p:cNvSpPr>
                <a:spLocks/>
              </p:cNvSpPr>
              <p:nvPr/>
            </p:nvSpPr>
            <p:spPr bwMode="auto">
              <a:xfrm>
                <a:off x="159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0" name="Freeform 697"/>
              <p:cNvSpPr>
                <a:spLocks/>
              </p:cNvSpPr>
              <p:nvPr/>
            </p:nvSpPr>
            <p:spPr bwMode="auto">
              <a:xfrm>
                <a:off x="1599"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1" name="Freeform 698"/>
              <p:cNvSpPr>
                <a:spLocks/>
              </p:cNvSpPr>
              <p:nvPr/>
            </p:nvSpPr>
            <p:spPr bwMode="auto">
              <a:xfrm>
                <a:off x="1622"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02" name="Freeform 699"/>
              <p:cNvSpPr>
                <a:spLocks/>
              </p:cNvSpPr>
              <p:nvPr/>
            </p:nvSpPr>
            <p:spPr bwMode="auto">
              <a:xfrm>
                <a:off x="1641" y="233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03" name="Freeform 700"/>
              <p:cNvSpPr>
                <a:spLocks/>
              </p:cNvSpPr>
              <p:nvPr/>
            </p:nvSpPr>
            <p:spPr bwMode="auto">
              <a:xfrm>
                <a:off x="1646"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4" name="Freeform 701"/>
              <p:cNvSpPr>
                <a:spLocks/>
              </p:cNvSpPr>
              <p:nvPr/>
            </p:nvSpPr>
            <p:spPr bwMode="auto">
              <a:xfrm>
                <a:off x="1815"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5" name="Freeform 702"/>
              <p:cNvSpPr>
                <a:spLocks/>
              </p:cNvSpPr>
              <p:nvPr/>
            </p:nvSpPr>
            <p:spPr bwMode="auto">
              <a:xfrm>
                <a:off x="247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6" name="Freeform 703"/>
              <p:cNvSpPr>
                <a:spLocks/>
              </p:cNvSpPr>
              <p:nvPr/>
            </p:nvSpPr>
            <p:spPr bwMode="auto">
              <a:xfrm>
                <a:off x="2487"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7" name="Freeform 704"/>
              <p:cNvSpPr>
                <a:spLocks/>
              </p:cNvSpPr>
              <p:nvPr/>
            </p:nvSpPr>
            <p:spPr bwMode="auto">
              <a:xfrm>
                <a:off x="2489"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08" name="Freeform 705"/>
              <p:cNvSpPr>
                <a:spLocks/>
              </p:cNvSpPr>
              <p:nvPr/>
            </p:nvSpPr>
            <p:spPr bwMode="auto">
              <a:xfrm>
                <a:off x="2512"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9" name="Freeform 706"/>
              <p:cNvSpPr>
                <a:spLocks/>
              </p:cNvSpPr>
              <p:nvPr/>
            </p:nvSpPr>
            <p:spPr bwMode="auto">
              <a:xfrm>
                <a:off x="251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0" name="Freeform 707"/>
              <p:cNvSpPr>
                <a:spLocks/>
              </p:cNvSpPr>
              <p:nvPr/>
            </p:nvSpPr>
            <p:spPr bwMode="auto">
              <a:xfrm>
                <a:off x="2520"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1" name="Freeform 708"/>
              <p:cNvSpPr>
                <a:spLocks/>
              </p:cNvSpPr>
              <p:nvPr/>
            </p:nvSpPr>
            <p:spPr bwMode="auto">
              <a:xfrm>
                <a:off x="2527"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2" name="Freeform 709"/>
              <p:cNvSpPr>
                <a:spLocks/>
              </p:cNvSpPr>
              <p:nvPr/>
            </p:nvSpPr>
            <p:spPr bwMode="auto">
              <a:xfrm>
                <a:off x="2529"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13" name="Freeform 710"/>
              <p:cNvSpPr>
                <a:spLocks/>
              </p:cNvSpPr>
              <p:nvPr/>
            </p:nvSpPr>
            <p:spPr bwMode="auto">
              <a:xfrm>
                <a:off x="2533"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14" name="Freeform 711"/>
              <p:cNvSpPr>
                <a:spLocks/>
              </p:cNvSpPr>
              <p:nvPr/>
            </p:nvSpPr>
            <p:spPr bwMode="auto">
              <a:xfrm>
                <a:off x="2534" y="233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5" name="Freeform 712"/>
              <p:cNvSpPr>
                <a:spLocks/>
              </p:cNvSpPr>
              <p:nvPr/>
            </p:nvSpPr>
            <p:spPr bwMode="auto">
              <a:xfrm>
                <a:off x="2538" y="233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16" name="Freeform 713"/>
              <p:cNvSpPr>
                <a:spLocks/>
              </p:cNvSpPr>
              <p:nvPr/>
            </p:nvSpPr>
            <p:spPr bwMode="auto">
              <a:xfrm>
                <a:off x="2552" y="2335"/>
                <a:ext cx="10" cy="10"/>
              </a:xfrm>
              <a:custGeom>
                <a:avLst/>
                <a:gdLst>
                  <a:gd name="T0" fmla="*/ 2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9" y="0"/>
                    </a:lnTo>
                    <a:lnTo>
                      <a:pt x="10" y="1"/>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7" name="Freeform 714"/>
              <p:cNvSpPr>
                <a:spLocks/>
              </p:cNvSpPr>
              <p:nvPr/>
            </p:nvSpPr>
            <p:spPr bwMode="auto">
              <a:xfrm>
                <a:off x="2561" y="233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18" name="Freeform 715"/>
              <p:cNvSpPr>
                <a:spLocks/>
              </p:cNvSpPr>
              <p:nvPr/>
            </p:nvSpPr>
            <p:spPr bwMode="auto">
              <a:xfrm>
                <a:off x="2793"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9" name="Freeform 716"/>
              <p:cNvSpPr>
                <a:spLocks/>
              </p:cNvSpPr>
              <p:nvPr/>
            </p:nvSpPr>
            <p:spPr bwMode="auto">
              <a:xfrm>
                <a:off x="3282" y="233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20" name="Freeform 717"/>
              <p:cNvSpPr>
                <a:spLocks/>
              </p:cNvSpPr>
              <p:nvPr/>
            </p:nvSpPr>
            <p:spPr bwMode="auto">
              <a:xfrm>
                <a:off x="3290"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21" name="Freeform 718"/>
              <p:cNvSpPr>
                <a:spLocks/>
              </p:cNvSpPr>
              <p:nvPr/>
            </p:nvSpPr>
            <p:spPr bwMode="auto">
              <a:xfrm>
                <a:off x="3320"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2" name="Freeform 719"/>
              <p:cNvSpPr>
                <a:spLocks/>
              </p:cNvSpPr>
              <p:nvPr/>
            </p:nvSpPr>
            <p:spPr bwMode="auto">
              <a:xfrm>
                <a:off x="3325"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3" name="Freeform 720"/>
              <p:cNvSpPr>
                <a:spLocks/>
              </p:cNvSpPr>
              <p:nvPr/>
            </p:nvSpPr>
            <p:spPr bwMode="auto">
              <a:xfrm>
                <a:off x="332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4" name="Freeform 721"/>
              <p:cNvSpPr>
                <a:spLocks/>
              </p:cNvSpPr>
              <p:nvPr/>
            </p:nvSpPr>
            <p:spPr bwMode="auto">
              <a:xfrm>
                <a:off x="3341"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5" name="Freeform 722"/>
              <p:cNvSpPr>
                <a:spLocks/>
              </p:cNvSpPr>
              <p:nvPr/>
            </p:nvSpPr>
            <p:spPr bwMode="auto">
              <a:xfrm>
                <a:off x="3528"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26" name="Freeform 723"/>
              <p:cNvSpPr>
                <a:spLocks/>
              </p:cNvSpPr>
              <p:nvPr/>
            </p:nvSpPr>
            <p:spPr bwMode="auto">
              <a:xfrm>
                <a:off x="3538"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27" name="Freeform 724"/>
              <p:cNvSpPr>
                <a:spLocks/>
              </p:cNvSpPr>
              <p:nvPr/>
            </p:nvSpPr>
            <p:spPr bwMode="auto">
              <a:xfrm>
                <a:off x="4191"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8" name="Freeform 725"/>
              <p:cNvSpPr>
                <a:spLocks/>
              </p:cNvSpPr>
              <p:nvPr/>
            </p:nvSpPr>
            <p:spPr bwMode="auto">
              <a:xfrm>
                <a:off x="4198"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29" name="Freeform 726"/>
              <p:cNvSpPr>
                <a:spLocks/>
              </p:cNvSpPr>
              <p:nvPr/>
            </p:nvSpPr>
            <p:spPr bwMode="auto">
              <a:xfrm>
                <a:off x="4200"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30" name="Freeform 727"/>
              <p:cNvSpPr>
                <a:spLocks/>
              </p:cNvSpPr>
              <p:nvPr/>
            </p:nvSpPr>
            <p:spPr bwMode="auto">
              <a:xfrm>
                <a:off x="4240"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1" name="Freeform 728"/>
              <p:cNvSpPr>
                <a:spLocks/>
              </p:cNvSpPr>
              <p:nvPr/>
            </p:nvSpPr>
            <p:spPr bwMode="auto">
              <a:xfrm>
                <a:off x="4416"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2" name="Freeform 729"/>
              <p:cNvSpPr>
                <a:spLocks/>
              </p:cNvSpPr>
              <p:nvPr/>
            </p:nvSpPr>
            <p:spPr bwMode="auto">
              <a:xfrm>
                <a:off x="4519"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3" name="Freeform 730"/>
              <p:cNvSpPr>
                <a:spLocks/>
              </p:cNvSpPr>
              <p:nvPr/>
            </p:nvSpPr>
            <p:spPr bwMode="auto">
              <a:xfrm>
                <a:off x="5195" y="233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34" name="Freeform 731"/>
              <p:cNvSpPr>
                <a:spLocks/>
              </p:cNvSpPr>
              <p:nvPr/>
            </p:nvSpPr>
            <p:spPr bwMode="auto">
              <a:xfrm>
                <a:off x="1227"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5" name="Freeform 732"/>
              <p:cNvSpPr>
                <a:spLocks/>
              </p:cNvSpPr>
              <p:nvPr/>
            </p:nvSpPr>
            <p:spPr bwMode="auto">
              <a:xfrm>
                <a:off x="1274"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6" name="Freeform 733"/>
              <p:cNvSpPr>
                <a:spLocks/>
              </p:cNvSpPr>
              <p:nvPr/>
            </p:nvSpPr>
            <p:spPr bwMode="auto">
              <a:xfrm>
                <a:off x="1559" y="229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37" name="Freeform 734"/>
              <p:cNvSpPr>
                <a:spLocks/>
              </p:cNvSpPr>
              <p:nvPr/>
            </p:nvSpPr>
            <p:spPr bwMode="auto">
              <a:xfrm>
                <a:off x="1576"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38" name="Freeform 735"/>
              <p:cNvSpPr>
                <a:spLocks/>
              </p:cNvSpPr>
              <p:nvPr/>
            </p:nvSpPr>
            <p:spPr bwMode="auto">
              <a:xfrm>
                <a:off x="1581" y="229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9" name="Freeform 736"/>
              <p:cNvSpPr>
                <a:spLocks/>
              </p:cNvSpPr>
              <p:nvPr/>
            </p:nvSpPr>
            <p:spPr bwMode="auto">
              <a:xfrm>
                <a:off x="1583"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40" name="Freeform 737"/>
              <p:cNvSpPr>
                <a:spLocks/>
              </p:cNvSpPr>
              <p:nvPr/>
            </p:nvSpPr>
            <p:spPr bwMode="auto">
              <a:xfrm>
                <a:off x="1641" y="229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1" name="Freeform 738"/>
              <p:cNvSpPr>
                <a:spLocks/>
              </p:cNvSpPr>
              <p:nvPr/>
            </p:nvSpPr>
            <p:spPr bwMode="auto">
              <a:xfrm>
                <a:off x="1667"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42" name="Freeform 739"/>
              <p:cNvSpPr>
                <a:spLocks/>
              </p:cNvSpPr>
              <p:nvPr/>
            </p:nvSpPr>
            <p:spPr bwMode="auto">
              <a:xfrm>
                <a:off x="2498"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3" name="Freeform 740"/>
              <p:cNvSpPr>
                <a:spLocks/>
              </p:cNvSpPr>
              <p:nvPr/>
            </p:nvSpPr>
            <p:spPr bwMode="auto">
              <a:xfrm>
                <a:off x="2512" y="229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44" name="Freeform 741"/>
              <p:cNvSpPr>
                <a:spLocks/>
              </p:cNvSpPr>
              <p:nvPr/>
            </p:nvSpPr>
            <p:spPr bwMode="auto">
              <a:xfrm>
                <a:off x="2526" y="229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45" name="Freeform 742"/>
              <p:cNvSpPr>
                <a:spLocks/>
              </p:cNvSpPr>
              <p:nvPr/>
            </p:nvSpPr>
            <p:spPr bwMode="auto">
              <a:xfrm>
                <a:off x="2538"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6" name="Freeform 743"/>
              <p:cNvSpPr>
                <a:spLocks/>
              </p:cNvSpPr>
              <p:nvPr/>
            </p:nvSpPr>
            <p:spPr bwMode="auto">
              <a:xfrm>
                <a:off x="2545"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7" name="Freeform 744"/>
              <p:cNvSpPr>
                <a:spLocks/>
              </p:cNvSpPr>
              <p:nvPr/>
            </p:nvSpPr>
            <p:spPr bwMode="auto">
              <a:xfrm>
                <a:off x="2554" y="229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48" name="Freeform 745"/>
              <p:cNvSpPr>
                <a:spLocks/>
              </p:cNvSpPr>
              <p:nvPr/>
            </p:nvSpPr>
            <p:spPr bwMode="auto">
              <a:xfrm>
                <a:off x="2564"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49" name="Freeform 746"/>
              <p:cNvSpPr>
                <a:spLocks/>
              </p:cNvSpPr>
              <p:nvPr/>
            </p:nvSpPr>
            <p:spPr bwMode="auto">
              <a:xfrm>
                <a:off x="2585"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50" name="Freeform 747"/>
              <p:cNvSpPr>
                <a:spLocks/>
              </p:cNvSpPr>
              <p:nvPr/>
            </p:nvSpPr>
            <p:spPr bwMode="auto">
              <a:xfrm>
                <a:off x="3173" y="229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1" name="Freeform 748"/>
              <p:cNvSpPr>
                <a:spLocks/>
              </p:cNvSpPr>
              <p:nvPr/>
            </p:nvSpPr>
            <p:spPr bwMode="auto">
              <a:xfrm>
                <a:off x="3287" y="2295"/>
                <a:ext cx="8" cy="10"/>
              </a:xfrm>
              <a:custGeom>
                <a:avLst/>
                <a:gdLst>
                  <a:gd name="T0" fmla="*/ 2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1"/>
                    </a:lnTo>
                    <a:lnTo>
                      <a:pt x="8"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2" name="Freeform 749"/>
              <p:cNvSpPr>
                <a:spLocks/>
              </p:cNvSpPr>
              <p:nvPr/>
            </p:nvSpPr>
            <p:spPr bwMode="auto">
              <a:xfrm>
                <a:off x="3295" y="229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3" name="Freeform 750"/>
              <p:cNvSpPr>
                <a:spLocks/>
              </p:cNvSpPr>
              <p:nvPr/>
            </p:nvSpPr>
            <p:spPr bwMode="auto">
              <a:xfrm>
                <a:off x="3320" y="229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4" name="Freeform 751"/>
              <p:cNvSpPr>
                <a:spLocks/>
              </p:cNvSpPr>
              <p:nvPr/>
            </p:nvSpPr>
            <p:spPr bwMode="auto">
              <a:xfrm>
                <a:off x="3522"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55" name="Freeform 752"/>
              <p:cNvSpPr>
                <a:spLocks/>
              </p:cNvSpPr>
              <p:nvPr/>
            </p:nvSpPr>
            <p:spPr bwMode="auto">
              <a:xfrm>
                <a:off x="3587"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56" name="Freeform 753"/>
              <p:cNvSpPr>
                <a:spLocks/>
              </p:cNvSpPr>
              <p:nvPr/>
            </p:nvSpPr>
            <p:spPr bwMode="auto">
              <a:xfrm>
                <a:off x="3657" y="229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7" name="Freeform 754"/>
              <p:cNvSpPr>
                <a:spLocks/>
              </p:cNvSpPr>
              <p:nvPr/>
            </p:nvSpPr>
            <p:spPr bwMode="auto">
              <a:xfrm>
                <a:off x="4139" y="229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58" name="Freeform 755"/>
              <p:cNvSpPr>
                <a:spLocks/>
              </p:cNvSpPr>
              <p:nvPr/>
            </p:nvSpPr>
            <p:spPr bwMode="auto">
              <a:xfrm>
                <a:off x="4187"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59" name="Freeform 756"/>
              <p:cNvSpPr>
                <a:spLocks/>
              </p:cNvSpPr>
              <p:nvPr/>
            </p:nvSpPr>
            <p:spPr bwMode="auto">
              <a:xfrm>
                <a:off x="4194"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60" name="Freeform 757"/>
              <p:cNvSpPr>
                <a:spLocks/>
              </p:cNvSpPr>
              <p:nvPr/>
            </p:nvSpPr>
            <p:spPr bwMode="auto">
              <a:xfrm>
                <a:off x="4208"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61" name="Freeform 758"/>
              <p:cNvSpPr>
                <a:spLocks/>
              </p:cNvSpPr>
              <p:nvPr/>
            </p:nvSpPr>
            <p:spPr bwMode="auto">
              <a:xfrm>
                <a:off x="4224"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62" name="Freeform 759"/>
              <p:cNvSpPr>
                <a:spLocks/>
              </p:cNvSpPr>
              <p:nvPr/>
            </p:nvSpPr>
            <p:spPr bwMode="auto">
              <a:xfrm>
                <a:off x="4242" y="229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63" name="Freeform 760"/>
              <p:cNvSpPr>
                <a:spLocks/>
              </p:cNvSpPr>
              <p:nvPr/>
            </p:nvSpPr>
            <p:spPr bwMode="auto">
              <a:xfrm>
                <a:off x="4243"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64" name="Freeform 761"/>
              <p:cNvSpPr>
                <a:spLocks/>
              </p:cNvSpPr>
              <p:nvPr/>
            </p:nvSpPr>
            <p:spPr bwMode="auto">
              <a:xfrm>
                <a:off x="4257"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65" name="Freeform 762"/>
              <p:cNvSpPr>
                <a:spLocks/>
              </p:cNvSpPr>
              <p:nvPr/>
            </p:nvSpPr>
            <p:spPr bwMode="auto">
              <a:xfrm>
                <a:off x="4290"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66" name="Freeform 763"/>
              <p:cNvSpPr>
                <a:spLocks/>
              </p:cNvSpPr>
              <p:nvPr/>
            </p:nvSpPr>
            <p:spPr bwMode="auto">
              <a:xfrm>
                <a:off x="4304"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67" name="Freeform 764"/>
              <p:cNvSpPr>
                <a:spLocks/>
              </p:cNvSpPr>
              <p:nvPr/>
            </p:nvSpPr>
            <p:spPr bwMode="auto">
              <a:xfrm>
                <a:off x="4411"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68" name="Freeform 765"/>
              <p:cNvSpPr>
                <a:spLocks/>
              </p:cNvSpPr>
              <p:nvPr/>
            </p:nvSpPr>
            <p:spPr bwMode="auto">
              <a:xfrm>
                <a:off x="1444" y="2254"/>
                <a:ext cx="8" cy="11"/>
              </a:xfrm>
              <a:custGeom>
                <a:avLst/>
                <a:gdLst>
                  <a:gd name="T0" fmla="*/ 3 w 8"/>
                  <a:gd name="T1" fmla="*/ 0 h 11"/>
                  <a:gd name="T2" fmla="*/ 5 w 8"/>
                  <a:gd name="T3" fmla="*/ 0 h 11"/>
                  <a:gd name="T4" fmla="*/ 8 w 8"/>
                  <a:gd name="T5" fmla="*/ 4 h 11"/>
                  <a:gd name="T6" fmla="*/ 8 w 8"/>
                  <a:gd name="T7" fmla="*/ 9 h 11"/>
                  <a:gd name="T8" fmla="*/ 6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6"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69" name="Freeform 766"/>
              <p:cNvSpPr>
                <a:spLocks/>
              </p:cNvSpPr>
              <p:nvPr/>
            </p:nvSpPr>
            <p:spPr bwMode="auto">
              <a:xfrm>
                <a:off x="1559"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0" name="Freeform 767"/>
              <p:cNvSpPr>
                <a:spLocks/>
              </p:cNvSpPr>
              <p:nvPr/>
            </p:nvSpPr>
            <p:spPr bwMode="auto">
              <a:xfrm>
                <a:off x="1613"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1" name="Freeform 768"/>
              <p:cNvSpPr>
                <a:spLocks/>
              </p:cNvSpPr>
              <p:nvPr/>
            </p:nvSpPr>
            <p:spPr bwMode="auto">
              <a:xfrm>
                <a:off x="1620"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2" name="Freeform 769"/>
              <p:cNvSpPr>
                <a:spLocks/>
              </p:cNvSpPr>
              <p:nvPr/>
            </p:nvSpPr>
            <p:spPr bwMode="auto">
              <a:xfrm>
                <a:off x="1653"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3" name="Freeform 770"/>
              <p:cNvSpPr>
                <a:spLocks/>
              </p:cNvSpPr>
              <p:nvPr/>
            </p:nvSpPr>
            <p:spPr bwMode="auto">
              <a:xfrm>
                <a:off x="1667"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4" name="Freeform 771"/>
              <p:cNvSpPr>
                <a:spLocks/>
              </p:cNvSpPr>
              <p:nvPr/>
            </p:nvSpPr>
            <p:spPr bwMode="auto">
              <a:xfrm>
                <a:off x="2397"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5" name="Freeform 772"/>
              <p:cNvSpPr>
                <a:spLocks/>
              </p:cNvSpPr>
              <p:nvPr/>
            </p:nvSpPr>
            <p:spPr bwMode="auto">
              <a:xfrm>
                <a:off x="2517"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6" name="Freeform 773"/>
              <p:cNvSpPr>
                <a:spLocks/>
              </p:cNvSpPr>
              <p:nvPr/>
            </p:nvSpPr>
            <p:spPr bwMode="auto">
              <a:xfrm>
                <a:off x="2534" y="2254"/>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77" name="Freeform 774"/>
              <p:cNvSpPr>
                <a:spLocks/>
              </p:cNvSpPr>
              <p:nvPr/>
            </p:nvSpPr>
            <p:spPr bwMode="auto">
              <a:xfrm>
                <a:off x="2548" y="2254"/>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78" name="Freeform 775"/>
              <p:cNvSpPr>
                <a:spLocks/>
              </p:cNvSpPr>
              <p:nvPr/>
            </p:nvSpPr>
            <p:spPr bwMode="auto">
              <a:xfrm>
                <a:off x="2554" y="2254"/>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79" name="Freeform 776"/>
              <p:cNvSpPr>
                <a:spLocks/>
              </p:cNvSpPr>
              <p:nvPr/>
            </p:nvSpPr>
            <p:spPr bwMode="auto">
              <a:xfrm>
                <a:off x="2569" y="2254"/>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80" name="Freeform 777"/>
              <p:cNvSpPr>
                <a:spLocks/>
              </p:cNvSpPr>
              <p:nvPr/>
            </p:nvSpPr>
            <p:spPr bwMode="auto">
              <a:xfrm>
                <a:off x="2582"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1" name="Freeform 778"/>
              <p:cNvSpPr>
                <a:spLocks/>
              </p:cNvSpPr>
              <p:nvPr/>
            </p:nvSpPr>
            <p:spPr bwMode="auto">
              <a:xfrm>
                <a:off x="3301"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2" name="Freeform 779"/>
              <p:cNvSpPr>
                <a:spLocks/>
              </p:cNvSpPr>
              <p:nvPr/>
            </p:nvSpPr>
            <p:spPr bwMode="auto">
              <a:xfrm>
                <a:off x="3320"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3" name="Freeform 780"/>
              <p:cNvSpPr>
                <a:spLocks/>
              </p:cNvSpPr>
              <p:nvPr/>
            </p:nvSpPr>
            <p:spPr bwMode="auto">
              <a:xfrm>
                <a:off x="3336"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4" name="Freeform 781"/>
              <p:cNvSpPr>
                <a:spLocks/>
              </p:cNvSpPr>
              <p:nvPr/>
            </p:nvSpPr>
            <p:spPr bwMode="auto">
              <a:xfrm>
                <a:off x="3337" y="2254"/>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85" name="Freeform 782"/>
              <p:cNvSpPr>
                <a:spLocks/>
              </p:cNvSpPr>
              <p:nvPr/>
            </p:nvSpPr>
            <p:spPr bwMode="auto">
              <a:xfrm>
                <a:off x="3536" y="2254"/>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86" name="Freeform 783"/>
              <p:cNvSpPr>
                <a:spLocks/>
              </p:cNvSpPr>
              <p:nvPr/>
            </p:nvSpPr>
            <p:spPr bwMode="auto">
              <a:xfrm>
                <a:off x="3549"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7" name="Freeform 784"/>
              <p:cNvSpPr>
                <a:spLocks/>
              </p:cNvSpPr>
              <p:nvPr/>
            </p:nvSpPr>
            <p:spPr bwMode="auto">
              <a:xfrm>
                <a:off x="3681" y="2254"/>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88" name="Freeform 785"/>
              <p:cNvSpPr>
                <a:spLocks/>
              </p:cNvSpPr>
              <p:nvPr/>
            </p:nvSpPr>
            <p:spPr bwMode="auto">
              <a:xfrm>
                <a:off x="3889"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89" name="Freeform 786"/>
              <p:cNvSpPr>
                <a:spLocks/>
              </p:cNvSpPr>
              <p:nvPr/>
            </p:nvSpPr>
            <p:spPr bwMode="auto">
              <a:xfrm>
                <a:off x="3919"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90" name="Freeform 787"/>
              <p:cNvSpPr>
                <a:spLocks/>
              </p:cNvSpPr>
              <p:nvPr/>
            </p:nvSpPr>
            <p:spPr bwMode="auto">
              <a:xfrm>
                <a:off x="3962" y="2254"/>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91" name="Freeform 788"/>
              <p:cNvSpPr>
                <a:spLocks/>
              </p:cNvSpPr>
              <p:nvPr/>
            </p:nvSpPr>
            <p:spPr bwMode="auto">
              <a:xfrm>
                <a:off x="3983" y="2254"/>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92" name="Freeform 789"/>
              <p:cNvSpPr>
                <a:spLocks/>
              </p:cNvSpPr>
              <p:nvPr/>
            </p:nvSpPr>
            <p:spPr bwMode="auto">
              <a:xfrm>
                <a:off x="4123" y="2254"/>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93" name="Freeform 790"/>
              <p:cNvSpPr>
                <a:spLocks/>
              </p:cNvSpPr>
              <p:nvPr/>
            </p:nvSpPr>
            <p:spPr bwMode="auto">
              <a:xfrm>
                <a:off x="4479"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94" name="Freeform 791"/>
              <p:cNvSpPr>
                <a:spLocks/>
              </p:cNvSpPr>
              <p:nvPr/>
            </p:nvSpPr>
            <p:spPr bwMode="auto">
              <a:xfrm>
                <a:off x="1583"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95" name="Freeform 792"/>
              <p:cNvSpPr>
                <a:spLocks/>
              </p:cNvSpPr>
              <p:nvPr/>
            </p:nvSpPr>
            <p:spPr bwMode="auto">
              <a:xfrm>
                <a:off x="1592" y="2216"/>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96" name="Freeform 793"/>
              <p:cNvSpPr>
                <a:spLocks/>
              </p:cNvSpPr>
              <p:nvPr/>
            </p:nvSpPr>
            <p:spPr bwMode="auto">
              <a:xfrm>
                <a:off x="1595" y="2216"/>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97" name="Freeform 794"/>
              <p:cNvSpPr>
                <a:spLocks/>
              </p:cNvSpPr>
              <p:nvPr/>
            </p:nvSpPr>
            <p:spPr bwMode="auto">
              <a:xfrm>
                <a:off x="1608" y="221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398" name="Freeform 795"/>
              <p:cNvSpPr>
                <a:spLocks/>
              </p:cNvSpPr>
              <p:nvPr/>
            </p:nvSpPr>
            <p:spPr bwMode="auto">
              <a:xfrm>
                <a:off x="1622" y="2216"/>
                <a:ext cx="8" cy="9"/>
              </a:xfrm>
              <a:custGeom>
                <a:avLst/>
                <a:gdLst>
                  <a:gd name="T0" fmla="*/ 1 w 8"/>
                  <a:gd name="T1" fmla="*/ 0 h 9"/>
                  <a:gd name="T2" fmla="*/ 5 w 8"/>
                  <a:gd name="T3" fmla="*/ 0 h 9"/>
                  <a:gd name="T4" fmla="*/ 8 w 8"/>
                  <a:gd name="T5" fmla="*/ 3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3"/>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399" name="Freeform 796"/>
              <p:cNvSpPr>
                <a:spLocks/>
              </p:cNvSpPr>
              <p:nvPr/>
            </p:nvSpPr>
            <p:spPr bwMode="auto">
              <a:xfrm>
                <a:off x="1749"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0" name="Freeform 797"/>
              <p:cNvSpPr>
                <a:spLocks/>
              </p:cNvSpPr>
              <p:nvPr/>
            </p:nvSpPr>
            <p:spPr bwMode="auto">
              <a:xfrm>
                <a:off x="1824"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01" name="Freeform 798"/>
              <p:cNvSpPr>
                <a:spLocks/>
              </p:cNvSpPr>
              <p:nvPr/>
            </p:nvSpPr>
            <p:spPr bwMode="auto">
              <a:xfrm>
                <a:off x="1840" y="221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02" name="Freeform 799"/>
              <p:cNvSpPr>
                <a:spLocks/>
              </p:cNvSpPr>
              <p:nvPr/>
            </p:nvSpPr>
            <p:spPr bwMode="auto">
              <a:xfrm>
                <a:off x="1875" y="2216"/>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3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03" name="Freeform 800"/>
              <p:cNvSpPr>
                <a:spLocks/>
              </p:cNvSpPr>
              <p:nvPr/>
            </p:nvSpPr>
            <p:spPr bwMode="auto">
              <a:xfrm>
                <a:off x="1965"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4" name="Freeform 801"/>
              <p:cNvSpPr>
                <a:spLocks/>
              </p:cNvSpPr>
              <p:nvPr/>
            </p:nvSpPr>
            <p:spPr bwMode="auto">
              <a:xfrm>
                <a:off x="2543"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5" name="Freeform 802"/>
              <p:cNvSpPr>
                <a:spLocks/>
              </p:cNvSpPr>
              <p:nvPr/>
            </p:nvSpPr>
            <p:spPr bwMode="auto">
              <a:xfrm>
                <a:off x="2552" y="2216"/>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6" name="Freeform 803"/>
              <p:cNvSpPr>
                <a:spLocks/>
              </p:cNvSpPr>
              <p:nvPr/>
            </p:nvSpPr>
            <p:spPr bwMode="auto">
              <a:xfrm>
                <a:off x="2568" y="221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07" name="Freeform 804"/>
              <p:cNvSpPr>
                <a:spLocks/>
              </p:cNvSpPr>
              <p:nvPr/>
            </p:nvSpPr>
            <p:spPr bwMode="auto">
              <a:xfrm>
                <a:off x="3030"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08" name="Freeform 805"/>
              <p:cNvSpPr>
                <a:spLocks/>
              </p:cNvSpPr>
              <p:nvPr/>
            </p:nvSpPr>
            <p:spPr bwMode="auto">
              <a:xfrm>
                <a:off x="3198" y="2216"/>
                <a:ext cx="8" cy="9"/>
              </a:xfrm>
              <a:custGeom>
                <a:avLst/>
                <a:gdLst>
                  <a:gd name="T0" fmla="*/ 1 w 8"/>
                  <a:gd name="T1" fmla="*/ 0 h 9"/>
                  <a:gd name="T2" fmla="*/ 5 w 8"/>
                  <a:gd name="T3" fmla="*/ 0 h 9"/>
                  <a:gd name="T4" fmla="*/ 8 w 8"/>
                  <a:gd name="T5" fmla="*/ 3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3"/>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09" name="Freeform 806"/>
              <p:cNvSpPr>
                <a:spLocks/>
              </p:cNvSpPr>
              <p:nvPr/>
            </p:nvSpPr>
            <p:spPr bwMode="auto">
              <a:xfrm>
                <a:off x="3201"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410" name="Freeform 807"/>
              <p:cNvSpPr>
                <a:spLocks/>
              </p:cNvSpPr>
              <p:nvPr/>
            </p:nvSpPr>
            <p:spPr bwMode="auto">
              <a:xfrm>
                <a:off x="3238" y="2216"/>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6" name="Group 1009"/>
            <p:cNvGrpSpPr>
              <a:grpSpLocks/>
            </p:cNvGrpSpPr>
            <p:nvPr/>
          </p:nvGrpSpPr>
          <p:grpSpPr bwMode="auto">
            <a:xfrm>
              <a:off x="1543151" y="3138592"/>
              <a:ext cx="6218638" cy="393713"/>
              <a:chOff x="972" y="1977"/>
              <a:chExt cx="3917" cy="248"/>
            </a:xfrm>
          </p:grpSpPr>
          <p:sp>
            <p:nvSpPr>
              <p:cNvPr id="1891" name="Freeform 809"/>
              <p:cNvSpPr>
                <a:spLocks/>
              </p:cNvSpPr>
              <p:nvPr/>
            </p:nvSpPr>
            <p:spPr bwMode="auto">
              <a:xfrm>
                <a:off x="3271"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92" name="Freeform 810"/>
              <p:cNvSpPr>
                <a:spLocks/>
              </p:cNvSpPr>
              <p:nvPr/>
            </p:nvSpPr>
            <p:spPr bwMode="auto">
              <a:xfrm>
                <a:off x="3273" y="221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93" name="Freeform 811"/>
              <p:cNvSpPr>
                <a:spLocks/>
              </p:cNvSpPr>
              <p:nvPr/>
            </p:nvSpPr>
            <p:spPr bwMode="auto">
              <a:xfrm>
                <a:off x="3278" y="2216"/>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94" name="Freeform 812"/>
              <p:cNvSpPr>
                <a:spLocks/>
              </p:cNvSpPr>
              <p:nvPr/>
            </p:nvSpPr>
            <p:spPr bwMode="auto">
              <a:xfrm>
                <a:off x="3287" y="2216"/>
                <a:ext cx="8" cy="9"/>
              </a:xfrm>
              <a:custGeom>
                <a:avLst/>
                <a:gdLst>
                  <a:gd name="T0" fmla="*/ 2 w 8"/>
                  <a:gd name="T1" fmla="*/ 0 h 9"/>
                  <a:gd name="T2" fmla="*/ 5 w 8"/>
                  <a:gd name="T3" fmla="*/ 0 h 9"/>
                  <a:gd name="T4" fmla="*/ 8 w 8"/>
                  <a:gd name="T5" fmla="*/ 3 h 9"/>
                  <a:gd name="T6" fmla="*/ 8 w 8"/>
                  <a:gd name="T7" fmla="*/ 7 h 9"/>
                  <a:gd name="T8" fmla="*/ 7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5" y="0"/>
                    </a:lnTo>
                    <a:lnTo>
                      <a:pt x="8" y="3"/>
                    </a:lnTo>
                    <a:lnTo>
                      <a:pt x="8"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95" name="Freeform 813"/>
              <p:cNvSpPr>
                <a:spLocks/>
              </p:cNvSpPr>
              <p:nvPr/>
            </p:nvSpPr>
            <p:spPr bwMode="auto">
              <a:xfrm>
                <a:off x="3290"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96" name="Freeform 814"/>
              <p:cNvSpPr>
                <a:spLocks/>
              </p:cNvSpPr>
              <p:nvPr/>
            </p:nvSpPr>
            <p:spPr bwMode="auto">
              <a:xfrm>
                <a:off x="3442"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97" name="Freeform 815"/>
              <p:cNvSpPr>
                <a:spLocks/>
              </p:cNvSpPr>
              <p:nvPr/>
            </p:nvSpPr>
            <p:spPr bwMode="auto">
              <a:xfrm>
                <a:off x="3517" y="2216"/>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98" name="Freeform 816"/>
              <p:cNvSpPr>
                <a:spLocks/>
              </p:cNvSpPr>
              <p:nvPr/>
            </p:nvSpPr>
            <p:spPr bwMode="auto">
              <a:xfrm>
                <a:off x="3587" y="221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99" name="Freeform 817"/>
              <p:cNvSpPr>
                <a:spLocks/>
              </p:cNvSpPr>
              <p:nvPr/>
            </p:nvSpPr>
            <p:spPr bwMode="auto">
              <a:xfrm>
                <a:off x="4215"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0" name="Freeform 818"/>
              <p:cNvSpPr>
                <a:spLocks/>
              </p:cNvSpPr>
              <p:nvPr/>
            </p:nvSpPr>
            <p:spPr bwMode="auto">
              <a:xfrm>
                <a:off x="4297"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1" name="Freeform 819"/>
              <p:cNvSpPr>
                <a:spLocks/>
              </p:cNvSpPr>
              <p:nvPr/>
            </p:nvSpPr>
            <p:spPr bwMode="auto">
              <a:xfrm>
                <a:off x="4304"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2" name="Freeform 820"/>
              <p:cNvSpPr>
                <a:spLocks/>
              </p:cNvSpPr>
              <p:nvPr/>
            </p:nvSpPr>
            <p:spPr bwMode="auto">
              <a:xfrm>
                <a:off x="4411" y="221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03" name="Freeform 821"/>
              <p:cNvSpPr>
                <a:spLocks/>
              </p:cNvSpPr>
              <p:nvPr/>
            </p:nvSpPr>
            <p:spPr bwMode="auto">
              <a:xfrm>
                <a:off x="4489"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4" name="Freeform 822"/>
              <p:cNvSpPr>
                <a:spLocks/>
              </p:cNvSpPr>
              <p:nvPr/>
            </p:nvSpPr>
            <p:spPr bwMode="auto">
              <a:xfrm>
                <a:off x="4496"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5" name="Freeform 823"/>
              <p:cNvSpPr>
                <a:spLocks/>
              </p:cNvSpPr>
              <p:nvPr/>
            </p:nvSpPr>
            <p:spPr bwMode="auto">
              <a:xfrm>
                <a:off x="4880"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06" name="Freeform 824"/>
              <p:cNvSpPr>
                <a:spLocks/>
              </p:cNvSpPr>
              <p:nvPr/>
            </p:nvSpPr>
            <p:spPr bwMode="auto">
              <a:xfrm>
                <a:off x="1559" y="217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07" name="Freeform 825"/>
              <p:cNvSpPr>
                <a:spLocks/>
              </p:cNvSpPr>
              <p:nvPr/>
            </p:nvSpPr>
            <p:spPr bwMode="auto">
              <a:xfrm>
                <a:off x="1566" y="2176"/>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08" name="Freeform 826"/>
              <p:cNvSpPr>
                <a:spLocks/>
              </p:cNvSpPr>
              <p:nvPr/>
            </p:nvSpPr>
            <p:spPr bwMode="auto">
              <a:xfrm>
                <a:off x="1573" y="2176"/>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09" name="Freeform 827"/>
              <p:cNvSpPr>
                <a:spLocks/>
              </p:cNvSpPr>
              <p:nvPr/>
            </p:nvSpPr>
            <p:spPr bwMode="auto">
              <a:xfrm>
                <a:off x="1616"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10" name="Freeform 828"/>
              <p:cNvSpPr>
                <a:spLocks/>
              </p:cNvSpPr>
              <p:nvPr/>
            </p:nvSpPr>
            <p:spPr bwMode="auto">
              <a:xfrm>
                <a:off x="1681"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1" name="Freeform 829"/>
              <p:cNvSpPr>
                <a:spLocks/>
              </p:cNvSpPr>
              <p:nvPr/>
            </p:nvSpPr>
            <p:spPr bwMode="auto">
              <a:xfrm>
                <a:off x="1985" y="217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2" name="Freeform 830"/>
              <p:cNvSpPr>
                <a:spLocks/>
              </p:cNvSpPr>
              <p:nvPr/>
            </p:nvSpPr>
            <p:spPr bwMode="auto">
              <a:xfrm>
                <a:off x="2390" y="2176"/>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13" name="Freeform 831"/>
              <p:cNvSpPr>
                <a:spLocks/>
              </p:cNvSpPr>
              <p:nvPr/>
            </p:nvSpPr>
            <p:spPr bwMode="auto">
              <a:xfrm>
                <a:off x="2421"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14" name="Freeform 832"/>
              <p:cNvSpPr>
                <a:spLocks/>
              </p:cNvSpPr>
              <p:nvPr/>
            </p:nvSpPr>
            <p:spPr bwMode="auto">
              <a:xfrm>
                <a:off x="2442"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5" name="Freeform 833"/>
              <p:cNvSpPr>
                <a:spLocks/>
              </p:cNvSpPr>
              <p:nvPr/>
            </p:nvSpPr>
            <p:spPr bwMode="auto">
              <a:xfrm>
                <a:off x="2449"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6" name="Freeform 834"/>
              <p:cNvSpPr>
                <a:spLocks/>
              </p:cNvSpPr>
              <p:nvPr/>
            </p:nvSpPr>
            <p:spPr bwMode="auto">
              <a:xfrm>
                <a:off x="2454" y="2176"/>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17" name="Freeform 835"/>
              <p:cNvSpPr>
                <a:spLocks/>
              </p:cNvSpPr>
              <p:nvPr/>
            </p:nvSpPr>
            <p:spPr bwMode="auto">
              <a:xfrm>
                <a:off x="2489"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18" name="Freeform 836"/>
              <p:cNvSpPr>
                <a:spLocks/>
              </p:cNvSpPr>
              <p:nvPr/>
            </p:nvSpPr>
            <p:spPr bwMode="auto">
              <a:xfrm>
                <a:off x="2505"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19" name="Freeform 837"/>
              <p:cNvSpPr>
                <a:spLocks/>
              </p:cNvSpPr>
              <p:nvPr/>
            </p:nvSpPr>
            <p:spPr bwMode="auto">
              <a:xfrm>
                <a:off x="2508"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0" name="Freeform 838"/>
              <p:cNvSpPr>
                <a:spLocks/>
              </p:cNvSpPr>
              <p:nvPr/>
            </p:nvSpPr>
            <p:spPr bwMode="auto">
              <a:xfrm>
                <a:off x="2512"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1" name="Freeform 839"/>
              <p:cNvSpPr>
                <a:spLocks/>
              </p:cNvSpPr>
              <p:nvPr/>
            </p:nvSpPr>
            <p:spPr bwMode="auto">
              <a:xfrm>
                <a:off x="2515"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2" name="Freeform 840"/>
              <p:cNvSpPr>
                <a:spLocks/>
              </p:cNvSpPr>
              <p:nvPr/>
            </p:nvSpPr>
            <p:spPr bwMode="auto">
              <a:xfrm>
                <a:off x="2569"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23" name="Freeform 841"/>
              <p:cNvSpPr>
                <a:spLocks/>
              </p:cNvSpPr>
              <p:nvPr/>
            </p:nvSpPr>
            <p:spPr bwMode="auto">
              <a:xfrm>
                <a:off x="2847"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4" name="Freeform 842"/>
              <p:cNvSpPr>
                <a:spLocks/>
              </p:cNvSpPr>
              <p:nvPr/>
            </p:nvSpPr>
            <p:spPr bwMode="auto">
              <a:xfrm>
                <a:off x="3203"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25" name="Freeform 843"/>
              <p:cNvSpPr>
                <a:spLocks/>
              </p:cNvSpPr>
              <p:nvPr/>
            </p:nvSpPr>
            <p:spPr bwMode="auto">
              <a:xfrm>
                <a:off x="3262" y="2176"/>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6" name="Freeform 844"/>
              <p:cNvSpPr>
                <a:spLocks/>
              </p:cNvSpPr>
              <p:nvPr/>
            </p:nvSpPr>
            <p:spPr bwMode="auto">
              <a:xfrm>
                <a:off x="3269"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7" name="Freeform 845"/>
              <p:cNvSpPr>
                <a:spLocks/>
              </p:cNvSpPr>
              <p:nvPr/>
            </p:nvSpPr>
            <p:spPr bwMode="auto">
              <a:xfrm>
                <a:off x="3273"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8" name="Freeform 846"/>
              <p:cNvSpPr>
                <a:spLocks/>
              </p:cNvSpPr>
              <p:nvPr/>
            </p:nvSpPr>
            <p:spPr bwMode="auto">
              <a:xfrm>
                <a:off x="3302" y="2176"/>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29" name="Freeform 847"/>
              <p:cNvSpPr>
                <a:spLocks/>
              </p:cNvSpPr>
              <p:nvPr/>
            </p:nvSpPr>
            <p:spPr bwMode="auto">
              <a:xfrm>
                <a:off x="3318" y="2176"/>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0" name="Freeform 848"/>
              <p:cNvSpPr>
                <a:spLocks/>
              </p:cNvSpPr>
              <p:nvPr/>
            </p:nvSpPr>
            <p:spPr bwMode="auto">
              <a:xfrm>
                <a:off x="4418"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1" name="Freeform 849"/>
              <p:cNvSpPr>
                <a:spLocks/>
              </p:cNvSpPr>
              <p:nvPr/>
            </p:nvSpPr>
            <p:spPr bwMode="auto">
              <a:xfrm>
                <a:off x="4421"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2" name="Freeform 850"/>
              <p:cNvSpPr>
                <a:spLocks/>
              </p:cNvSpPr>
              <p:nvPr/>
            </p:nvSpPr>
            <p:spPr bwMode="auto">
              <a:xfrm>
                <a:off x="4427" y="217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33" name="Freeform 851"/>
              <p:cNvSpPr>
                <a:spLocks/>
              </p:cNvSpPr>
              <p:nvPr/>
            </p:nvSpPr>
            <p:spPr bwMode="auto">
              <a:xfrm>
                <a:off x="4435"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34" name="Freeform 852"/>
              <p:cNvSpPr>
                <a:spLocks/>
              </p:cNvSpPr>
              <p:nvPr/>
            </p:nvSpPr>
            <p:spPr bwMode="auto">
              <a:xfrm>
                <a:off x="4439"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5" name="Freeform 853"/>
              <p:cNvSpPr>
                <a:spLocks/>
              </p:cNvSpPr>
              <p:nvPr/>
            </p:nvSpPr>
            <p:spPr bwMode="auto">
              <a:xfrm>
                <a:off x="4608" y="2176"/>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6" name="Freeform 854"/>
              <p:cNvSpPr>
                <a:spLocks/>
              </p:cNvSpPr>
              <p:nvPr/>
            </p:nvSpPr>
            <p:spPr bwMode="auto">
              <a:xfrm>
                <a:off x="4626" y="217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37" name="Freeform 855"/>
              <p:cNvSpPr>
                <a:spLocks/>
              </p:cNvSpPr>
              <p:nvPr/>
            </p:nvSpPr>
            <p:spPr bwMode="auto">
              <a:xfrm>
                <a:off x="1058" y="2136"/>
                <a:ext cx="8" cy="10"/>
              </a:xfrm>
              <a:custGeom>
                <a:avLst/>
                <a:gdLst>
                  <a:gd name="T0" fmla="*/ 2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1"/>
                    </a:lnTo>
                    <a:lnTo>
                      <a:pt x="8"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8" name="Freeform 856"/>
              <p:cNvSpPr>
                <a:spLocks/>
              </p:cNvSpPr>
              <p:nvPr/>
            </p:nvSpPr>
            <p:spPr bwMode="auto">
              <a:xfrm>
                <a:off x="1555"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9" name="Freeform 857"/>
              <p:cNvSpPr>
                <a:spLocks/>
              </p:cNvSpPr>
              <p:nvPr/>
            </p:nvSpPr>
            <p:spPr bwMode="auto">
              <a:xfrm>
                <a:off x="1560" y="2136"/>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40" name="Freeform 858"/>
              <p:cNvSpPr>
                <a:spLocks/>
              </p:cNvSpPr>
              <p:nvPr/>
            </p:nvSpPr>
            <p:spPr bwMode="auto">
              <a:xfrm>
                <a:off x="1567" y="2136"/>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41" name="Freeform 859"/>
              <p:cNvSpPr>
                <a:spLocks/>
              </p:cNvSpPr>
              <p:nvPr/>
            </p:nvSpPr>
            <p:spPr bwMode="auto">
              <a:xfrm>
                <a:off x="1629" y="2136"/>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42" name="Freeform 860"/>
              <p:cNvSpPr>
                <a:spLocks/>
              </p:cNvSpPr>
              <p:nvPr/>
            </p:nvSpPr>
            <p:spPr bwMode="auto">
              <a:xfrm>
                <a:off x="1646" y="2136"/>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43" name="Freeform 861"/>
              <p:cNvSpPr>
                <a:spLocks/>
              </p:cNvSpPr>
              <p:nvPr/>
            </p:nvSpPr>
            <p:spPr bwMode="auto">
              <a:xfrm>
                <a:off x="2276"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44" name="Freeform 862"/>
              <p:cNvSpPr>
                <a:spLocks/>
              </p:cNvSpPr>
              <p:nvPr/>
            </p:nvSpPr>
            <p:spPr bwMode="auto">
              <a:xfrm>
                <a:off x="2301" y="2136"/>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45" name="Freeform 863"/>
              <p:cNvSpPr>
                <a:spLocks/>
              </p:cNvSpPr>
              <p:nvPr/>
            </p:nvSpPr>
            <p:spPr bwMode="auto">
              <a:xfrm>
                <a:off x="2468"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46" name="Freeform 864"/>
              <p:cNvSpPr>
                <a:spLocks/>
              </p:cNvSpPr>
              <p:nvPr/>
            </p:nvSpPr>
            <p:spPr bwMode="auto">
              <a:xfrm>
                <a:off x="2470"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47" name="Freeform 865"/>
              <p:cNvSpPr>
                <a:spLocks/>
              </p:cNvSpPr>
              <p:nvPr/>
            </p:nvSpPr>
            <p:spPr bwMode="auto">
              <a:xfrm>
                <a:off x="2498"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48" name="Freeform 866"/>
              <p:cNvSpPr>
                <a:spLocks/>
              </p:cNvSpPr>
              <p:nvPr/>
            </p:nvSpPr>
            <p:spPr bwMode="auto">
              <a:xfrm>
                <a:off x="2575" y="2136"/>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49" name="Freeform 867"/>
              <p:cNvSpPr>
                <a:spLocks/>
              </p:cNvSpPr>
              <p:nvPr/>
            </p:nvSpPr>
            <p:spPr bwMode="auto">
              <a:xfrm>
                <a:off x="2594"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50" name="Freeform 868"/>
              <p:cNvSpPr>
                <a:spLocks/>
              </p:cNvSpPr>
              <p:nvPr/>
            </p:nvSpPr>
            <p:spPr bwMode="auto">
              <a:xfrm>
                <a:off x="3165" y="2136"/>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51" name="Freeform 869"/>
              <p:cNvSpPr>
                <a:spLocks/>
              </p:cNvSpPr>
              <p:nvPr/>
            </p:nvSpPr>
            <p:spPr bwMode="auto">
              <a:xfrm>
                <a:off x="3168"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2" name="Freeform 870"/>
              <p:cNvSpPr>
                <a:spLocks/>
              </p:cNvSpPr>
              <p:nvPr/>
            </p:nvSpPr>
            <p:spPr bwMode="auto">
              <a:xfrm>
                <a:off x="3184" y="2136"/>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3" name="Freeform 871"/>
              <p:cNvSpPr>
                <a:spLocks/>
              </p:cNvSpPr>
              <p:nvPr/>
            </p:nvSpPr>
            <p:spPr bwMode="auto">
              <a:xfrm>
                <a:off x="3193" y="2136"/>
                <a:ext cx="10" cy="10"/>
              </a:xfrm>
              <a:custGeom>
                <a:avLst/>
                <a:gdLst>
                  <a:gd name="T0" fmla="*/ 1 w 10"/>
                  <a:gd name="T1" fmla="*/ 0 h 10"/>
                  <a:gd name="T2" fmla="*/ 6 w 10"/>
                  <a:gd name="T3" fmla="*/ 0 h 10"/>
                  <a:gd name="T4" fmla="*/ 10 w 10"/>
                  <a:gd name="T5" fmla="*/ 3 h 10"/>
                  <a:gd name="T6" fmla="*/ 10 w 10"/>
                  <a:gd name="T7" fmla="*/ 7 h 10"/>
                  <a:gd name="T8" fmla="*/ 6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6" y="0"/>
                    </a:lnTo>
                    <a:lnTo>
                      <a:pt x="10" y="3"/>
                    </a:lnTo>
                    <a:lnTo>
                      <a:pt x="10" y="7"/>
                    </a:lnTo>
                    <a:lnTo>
                      <a:pt x="6"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54" name="Freeform 872"/>
              <p:cNvSpPr>
                <a:spLocks/>
              </p:cNvSpPr>
              <p:nvPr/>
            </p:nvSpPr>
            <p:spPr bwMode="auto">
              <a:xfrm>
                <a:off x="3194" y="2136"/>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55" name="Freeform 873"/>
              <p:cNvSpPr>
                <a:spLocks/>
              </p:cNvSpPr>
              <p:nvPr/>
            </p:nvSpPr>
            <p:spPr bwMode="auto">
              <a:xfrm>
                <a:off x="3199"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6" name="Freeform 874"/>
              <p:cNvSpPr>
                <a:spLocks/>
              </p:cNvSpPr>
              <p:nvPr/>
            </p:nvSpPr>
            <p:spPr bwMode="auto">
              <a:xfrm>
                <a:off x="3210"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57" name="Freeform 875"/>
              <p:cNvSpPr>
                <a:spLocks/>
              </p:cNvSpPr>
              <p:nvPr/>
            </p:nvSpPr>
            <p:spPr bwMode="auto">
              <a:xfrm>
                <a:off x="3215"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8" name="Freeform 876"/>
              <p:cNvSpPr>
                <a:spLocks/>
              </p:cNvSpPr>
              <p:nvPr/>
            </p:nvSpPr>
            <p:spPr bwMode="auto">
              <a:xfrm>
                <a:off x="3217" y="2136"/>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59" name="Freeform 877"/>
              <p:cNvSpPr>
                <a:spLocks/>
              </p:cNvSpPr>
              <p:nvPr/>
            </p:nvSpPr>
            <p:spPr bwMode="auto">
              <a:xfrm>
                <a:off x="3302"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0" name="Freeform 878"/>
              <p:cNvSpPr>
                <a:spLocks/>
              </p:cNvSpPr>
              <p:nvPr/>
            </p:nvSpPr>
            <p:spPr bwMode="auto">
              <a:xfrm>
                <a:off x="3311"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1" name="Freeform 879"/>
              <p:cNvSpPr>
                <a:spLocks/>
              </p:cNvSpPr>
              <p:nvPr/>
            </p:nvSpPr>
            <p:spPr bwMode="auto">
              <a:xfrm>
                <a:off x="4105"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2" name="Freeform 880"/>
              <p:cNvSpPr>
                <a:spLocks/>
              </p:cNvSpPr>
              <p:nvPr/>
            </p:nvSpPr>
            <p:spPr bwMode="auto">
              <a:xfrm>
                <a:off x="4201"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3" name="Freeform 881"/>
              <p:cNvSpPr>
                <a:spLocks/>
              </p:cNvSpPr>
              <p:nvPr/>
            </p:nvSpPr>
            <p:spPr bwMode="auto">
              <a:xfrm>
                <a:off x="4208"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4" name="Freeform 882"/>
              <p:cNvSpPr>
                <a:spLocks/>
              </p:cNvSpPr>
              <p:nvPr/>
            </p:nvSpPr>
            <p:spPr bwMode="auto">
              <a:xfrm>
                <a:off x="4210"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5" name="Freeform 883"/>
              <p:cNvSpPr>
                <a:spLocks/>
              </p:cNvSpPr>
              <p:nvPr/>
            </p:nvSpPr>
            <p:spPr bwMode="auto">
              <a:xfrm>
                <a:off x="4215"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6" name="Freeform 884"/>
              <p:cNvSpPr>
                <a:spLocks/>
              </p:cNvSpPr>
              <p:nvPr/>
            </p:nvSpPr>
            <p:spPr bwMode="auto">
              <a:xfrm>
                <a:off x="4226"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67" name="Freeform 885"/>
              <p:cNvSpPr>
                <a:spLocks/>
              </p:cNvSpPr>
              <p:nvPr/>
            </p:nvSpPr>
            <p:spPr bwMode="auto">
              <a:xfrm>
                <a:off x="4240"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8" name="Freeform 886"/>
              <p:cNvSpPr>
                <a:spLocks/>
              </p:cNvSpPr>
              <p:nvPr/>
            </p:nvSpPr>
            <p:spPr bwMode="auto">
              <a:xfrm>
                <a:off x="4257"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9" name="Freeform 887"/>
              <p:cNvSpPr>
                <a:spLocks/>
              </p:cNvSpPr>
              <p:nvPr/>
            </p:nvSpPr>
            <p:spPr bwMode="auto">
              <a:xfrm>
                <a:off x="4262"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0" name="Freeform 888"/>
              <p:cNvSpPr>
                <a:spLocks/>
              </p:cNvSpPr>
              <p:nvPr/>
            </p:nvSpPr>
            <p:spPr bwMode="auto">
              <a:xfrm>
                <a:off x="4280"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1" name="Freeform 889"/>
              <p:cNvSpPr>
                <a:spLocks/>
              </p:cNvSpPr>
              <p:nvPr/>
            </p:nvSpPr>
            <p:spPr bwMode="auto">
              <a:xfrm>
                <a:off x="4474" y="2136"/>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72" name="Freeform 890"/>
              <p:cNvSpPr>
                <a:spLocks/>
              </p:cNvSpPr>
              <p:nvPr/>
            </p:nvSpPr>
            <p:spPr bwMode="auto">
              <a:xfrm>
                <a:off x="4496"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3" name="Freeform 891"/>
              <p:cNvSpPr>
                <a:spLocks/>
              </p:cNvSpPr>
              <p:nvPr/>
            </p:nvSpPr>
            <p:spPr bwMode="auto">
              <a:xfrm>
                <a:off x="4528"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4" name="Freeform 892"/>
              <p:cNvSpPr>
                <a:spLocks/>
              </p:cNvSpPr>
              <p:nvPr/>
            </p:nvSpPr>
            <p:spPr bwMode="auto">
              <a:xfrm>
                <a:off x="972"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5" name="Freeform 893"/>
              <p:cNvSpPr>
                <a:spLocks/>
              </p:cNvSpPr>
              <p:nvPr/>
            </p:nvSpPr>
            <p:spPr bwMode="auto">
              <a:xfrm>
                <a:off x="976" y="2095"/>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76" name="Freeform 894"/>
              <p:cNvSpPr>
                <a:spLocks/>
              </p:cNvSpPr>
              <p:nvPr/>
            </p:nvSpPr>
            <p:spPr bwMode="auto">
              <a:xfrm>
                <a:off x="990" y="2095"/>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77" name="Freeform 895"/>
              <p:cNvSpPr>
                <a:spLocks/>
              </p:cNvSpPr>
              <p:nvPr/>
            </p:nvSpPr>
            <p:spPr bwMode="auto">
              <a:xfrm>
                <a:off x="1543" y="2095"/>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4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8" name="Freeform 896"/>
              <p:cNvSpPr>
                <a:spLocks/>
              </p:cNvSpPr>
              <p:nvPr/>
            </p:nvSpPr>
            <p:spPr bwMode="auto">
              <a:xfrm>
                <a:off x="1547" y="2095"/>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79" name="Freeform 897"/>
              <p:cNvSpPr>
                <a:spLocks/>
              </p:cNvSpPr>
              <p:nvPr/>
            </p:nvSpPr>
            <p:spPr bwMode="auto">
              <a:xfrm>
                <a:off x="1567"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80" name="Freeform 898"/>
              <p:cNvSpPr>
                <a:spLocks/>
              </p:cNvSpPr>
              <p:nvPr/>
            </p:nvSpPr>
            <p:spPr bwMode="auto">
              <a:xfrm>
                <a:off x="1580" y="2095"/>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81" name="Freeform 899"/>
              <p:cNvSpPr>
                <a:spLocks/>
              </p:cNvSpPr>
              <p:nvPr/>
            </p:nvSpPr>
            <p:spPr bwMode="auto">
              <a:xfrm>
                <a:off x="1606"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82" name="Freeform 900"/>
              <p:cNvSpPr>
                <a:spLocks/>
              </p:cNvSpPr>
              <p:nvPr/>
            </p:nvSpPr>
            <p:spPr bwMode="auto">
              <a:xfrm>
                <a:off x="1625"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83" name="Freeform 901"/>
              <p:cNvSpPr>
                <a:spLocks/>
              </p:cNvSpPr>
              <p:nvPr/>
            </p:nvSpPr>
            <p:spPr bwMode="auto">
              <a:xfrm>
                <a:off x="1763"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84" name="Freeform 902"/>
              <p:cNvSpPr>
                <a:spLocks/>
              </p:cNvSpPr>
              <p:nvPr/>
            </p:nvSpPr>
            <p:spPr bwMode="auto">
              <a:xfrm>
                <a:off x="2480"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85" name="Freeform 903"/>
              <p:cNvSpPr>
                <a:spLocks/>
              </p:cNvSpPr>
              <p:nvPr/>
            </p:nvSpPr>
            <p:spPr bwMode="auto">
              <a:xfrm>
                <a:off x="2486" y="2095"/>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86" name="Freeform 904"/>
              <p:cNvSpPr>
                <a:spLocks/>
              </p:cNvSpPr>
              <p:nvPr/>
            </p:nvSpPr>
            <p:spPr bwMode="auto">
              <a:xfrm>
                <a:off x="2527" y="2095"/>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87" name="Freeform 905"/>
              <p:cNvSpPr>
                <a:spLocks/>
              </p:cNvSpPr>
              <p:nvPr/>
            </p:nvSpPr>
            <p:spPr bwMode="auto">
              <a:xfrm>
                <a:off x="2529"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88" name="Freeform 906"/>
              <p:cNvSpPr>
                <a:spLocks/>
              </p:cNvSpPr>
              <p:nvPr/>
            </p:nvSpPr>
            <p:spPr bwMode="auto">
              <a:xfrm>
                <a:off x="2534" y="2095"/>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89" name="Freeform 907"/>
              <p:cNvSpPr>
                <a:spLocks/>
              </p:cNvSpPr>
              <p:nvPr/>
            </p:nvSpPr>
            <p:spPr bwMode="auto">
              <a:xfrm>
                <a:off x="3189"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0" name="Freeform 908"/>
              <p:cNvSpPr>
                <a:spLocks/>
              </p:cNvSpPr>
              <p:nvPr/>
            </p:nvSpPr>
            <p:spPr bwMode="auto">
              <a:xfrm>
                <a:off x="3217" y="2095"/>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1" name="Freeform 909"/>
              <p:cNvSpPr>
                <a:spLocks/>
              </p:cNvSpPr>
              <p:nvPr/>
            </p:nvSpPr>
            <p:spPr bwMode="auto">
              <a:xfrm>
                <a:off x="3290"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992" name="Freeform 910"/>
              <p:cNvSpPr>
                <a:spLocks/>
              </p:cNvSpPr>
              <p:nvPr/>
            </p:nvSpPr>
            <p:spPr bwMode="auto">
              <a:xfrm>
                <a:off x="3295" y="2095"/>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3" name="Freeform 911"/>
              <p:cNvSpPr>
                <a:spLocks/>
              </p:cNvSpPr>
              <p:nvPr/>
            </p:nvSpPr>
            <p:spPr bwMode="auto">
              <a:xfrm>
                <a:off x="3327"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4" name="Freeform 912"/>
              <p:cNvSpPr>
                <a:spLocks/>
              </p:cNvSpPr>
              <p:nvPr/>
            </p:nvSpPr>
            <p:spPr bwMode="auto">
              <a:xfrm>
                <a:off x="3336" y="2095"/>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95" name="Freeform 913"/>
              <p:cNvSpPr>
                <a:spLocks/>
              </p:cNvSpPr>
              <p:nvPr/>
            </p:nvSpPr>
            <p:spPr bwMode="auto">
              <a:xfrm>
                <a:off x="3526"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6" name="Freeform 914"/>
              <p:cNvSpPr>
                <a:spLocks/>
              </p:cNvSpPr>
              <p:nvPr/>
            </p:nvSpPr>
            <p:spPr bwMode="auto">
              <a:xfrm>
                <a:off x="4184"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7" name="Freeform 915"/>
              <p:cNvSpPr>
                <a:spLocks/>
              </p:cNvSpPr>
              <p:nvPr/>
            </p:nvSpPr>
            <p:spPr bwMode="auto">
              <a:xfrm>
                <a:off x="4191"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8" name="Freeform 916"/>
              <p:cNvSpPr>
                <a:spLocks/>
              </p:cNvSpPr>
              <p:nvPr/>
            </p:nvSpPr>
            <p:spPr bwMode="auto">
              <a:xfrm>
                <a:off x="4210" y="2095"/>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99" name="Freeform 917"/>
              <p:cNvSpPr>
                <a:spLocks/>
              </p:cNvSpPr>
              <p:nvPr/>
            </p:nvSpPr>
            <p:spPr bwMode="auto">
              <a:xfrm>
                <a:off x="4214" y="2095"/>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000" name="Freeform 918"/>
              <p:cNvSpPr>
                <a:spLocks/>
              </p:cNvSpPr>
              <p:nvPr/>
            </p:nvSpPr>
            <p:spPr bwMode="auto">
              <a:xfrm>
                <a:off x="4379"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1" name="Freeform 919"/>
              <p:cNvSpPr>
                <a:spLocks/>
              </p:cNvSpPr>
              <p:nvPr/>
            </p:nvSpPr>
            <p:spPr bwMode="auto">
              <a:xfrm>
                <a:off x="4395"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2" name="Freeform 920"/>
              <p:cNvSpPr>
                <a:spLocks/>
              </p:cNvSpPr>
              <p:nvPr/>
            </p:nvSpPr>
            <p:spPr bwMode="auto">
              <a:xfrm>
                <a:off x="1323"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3" name="Freeform 921"/>
              <p:cNvSpPr>
                <a:spLocks/>
              </p:cNvSpPr>
              <p:nvPr/>
            </p:nvSpPr>
            <p:spPr bwMode="auto">
              <a:xfrm>
                <a:off x="1611"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4" name="Freeform 922"/>
              <p:cNvSpPr>
                <a:spLocks/>
              </p:cNvSpPr>
              <p:nvPr/>
            </p:nvSpPr>
            <p:spPr bwMode="auto">
              <a:xfrm>
                <a:off x="1622"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05" name="Freeform 923"/>
              <p:cNvSpPr>
                <a:spLocks/>
              </p:cNvSpPr>
              <p:nvPr/>
            </p:nvSpPr>
            <p:spPr bwMode="auto">
              <a:xfrm>
                <a:off x="1625"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6" name="Freeform 924"/>
              <p:cNvSpPr>
                <a:spLocks/>
              </p:cNvSpPr>
              <p:nvPr/>
            </p:nvSpPr>
            <p:spPr bwMode="auto">
              <a:xfrm>
                <a:off x="2510"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7" name="Freeform 925"/>
              <p:cNvSpPr>
                <a:spLocks/>
              </p:cNvSpPr>
              <p:nvPr/>
            </p:nvSpPr>
            <p:spPr bwMode="auto">
              <a:xfrm>
                <a:off x="2524"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08" name="Freeform 926"/>
              <p:cNvSpPr>
                <a:spLocks/>
              </p:cNvSpPr>
              <p:nvPr/>
            </p:nvSpPr>
            <p:spPr bwMode="auto">
              <a:xfrm>
                <a:off x="2536" y="2055"/>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09" name="Freeform 927"/>
              <p:cNvSpPr>
                <a:spLocks/>
              </p:cNvSpPr>
              <p:nvPr/>
            </p:nvSpPr>
            <p:spPr bwMode="auto">
              <a:xfrm>
                <a:off x="2541"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0" name="Freeform 928"/>
              <p:cNvSpPr>
                <a:spLocks/>
              </p:cNvSpPr>
              <p:nvPr/>
            </p:nvSpPr>
            <p:spPr bwMode="auto">
              <a:xfrm>
                <a:off x="2892"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1" name="Freeform 929"/>
              <p:cNvSpPr>
                <a:spLocks/>
              </p:cNvSpPr>
              <p:nvPr/>
            </p:nvSpPr>
            <p:spPr bwMode="auto">
              <a:xfrm>
                <a:off x="3004"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12" name="Freeform 930"/>
              <p:cNvSpPr>
                <a:spLocks/>
              </p:cNvSpPr>
              <p:nvPr/>
            </p:nvSpPr>
            <p:spPr bwMode="auto">
              <a:xfrm>
                <a:off x="3014"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3" name="Freeform 931"/>
              <p:cNvSpPr>
                <a:spLocks/>
              </p:cNvSpPr>
              <p:nvPr/>
            </p:nvSpPr>
            <p:spPr bwMode="auto">
              <a:xfrm>
                <a:off x="3034"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14" name="Freeform 932"/>
              <p:cNvSpPr>
                <a:spLocks/>
              </p:cNvSpPr>
              <p:nvPr/>
            </p:nvSpPr>
            <p:spPr bwMode="auto">
              <a:xfrm>
                <a:off x="3055"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15" name="Freeform 933"/>
              <p:cNvSpPr>
                <a:spLocks/>
              </p:cNvSpPr>
              <p:nvPr/>
            </p:nvSpPr>
            <p:spPr bwMode="auto">
              <a:xfrm>
                <a:off x="3074" y="2055"/>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16" name="Freeform 934"/>
              <p:cNvSpPr>
                <a:spLocks/>
              </p:cNvSpPr>
              <p:nvPr/>
            </p:nvSpPr>
            <p:spPr bwMode="auto">
              <a:xfrm>
                <a:off x="3168" y="2055"/>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7" name="Freeform 935"/>
              <p:cNvSpPr>
                <a:spLocks/>
              </p:cNvSpPr>
              <p:nvPr/>
            </p:nvSpPr>
            <p:spPr bwMode="auto">
              <a:xfrm>
                <a:off x="3173"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8" name="Freeform 936"/>
              <p:cNvSpPr>
                <a:spLocks/>
              </p:cNvSpPr>
              <p:nvPr/>
            </p:nvSpPr>
            <p:spPr bwMode="auto">
              <a:xfrm>
                <a:off x="3189"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9" name="Freeform 937"/>
              <p:cNvSpPr>
                <a:spLocks/>
              </p:cNvSpPr>
              <p:nvPr/>
            </p:nvSpPr>
            <p:spPr bwMode="auto">
              <a:xfrm>
                <a:off x="3255"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0" name="Freeform 938"/>
              <p:cNvSpPr>
                <a:spLocks/>
              </p:cNvSpPr>
              <p:nvPr/>
            </p:nvSpPr>
            <p:spPr bwMode="auto">
              <a:xfrm>
                <a:off x="3257"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1" name="Freeform 939"/>
              <p:cNvSpPr>
                <a:spLocks/>
              </p:cNvSpPr>
              <p:nvPr/>
            </p:nvSpPr>
            <p:spPr bwMode="auto">
              <a:xfrm>
                <a:off x="3269"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2" name="Freeform 940"/>
              <p:cNvSpPr>
                <a:spLocks/>
              </p:cNvSpPr>
              <p:nvPr/>
            </p:nvSpPr>
            <p:spPr bwMode="auto">
              <a:xfrm>
                <a:off x="3273"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23" name="Freeform 941"/>
              <p:cNvSpPr>
                <a:spLocks/>
              </p:cNvSpPr>
              <p:nvPr/>
            </p:nvSpPr>
            <p:spPr bwMode="auto">
              <a:xfrm>
                <a:off x="3276"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4" name="Freeform 942"/>
              <p:cNvSpPr>
                <a:spLocks/>
              </p:cNvSpPr>
              <p:nvPr/>
            </p:nvSpPr>
            <p:spPr bwMode="auto">
              <a:xfrm>
                <a:off x="3285"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5" name="Freeform 943"/>
              <p:cNvSpPr>
                <a:spLocks/>
              </p:cNvSpPr>
              <p:nvPr/>
            </p:nvSpPr>
            <p:spPr bwMode="auto">
              <a:xfrm>
                <a:off x="3289" y="2055"/>
                <a:ext cx="10" cy="11"/>
              </a:xfrm>
              <a:custGeom>
                <a:avLst/>
                <a:gdLst>
                  <a:gd name="T0" fmla="*/ 3 w 10"/>
                  <a:gd name="T1" fmla="*/ 0 h 11"/>
                  <a:gd name="T2" fmla="*/ 6 w 10"/>
                  <a:gd name="T3" fmla="*/ 0 h 11"/>
                  <a:gd name="T4" fmla="*/ 10 w 10"/>
                  <a:gd name="T5" fmla="*/ 4 h 11"/>
                  <a:gd name="T6" fmla="*/ 10 w 10"/>
                  <a:gd name="T7" fmla="*/ 7 h 11"/>
                  <a:gd name="T8" fmla="*/ 6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6" y="0"/>
                    </a:lnTo>
                    <a:lnTo>
                      <a:pt x="10" y="4"/>
                    </a:lnTo>
                    <a:lnTo>
                      <a:pt x="10" y="7"/>
                    </a:lnTo>
                    <a:lnTo>
                      <a:pt x="6"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26" name="Freeform 944"/>
              <p:cNvSpPr>
                <a:spLocks/>
              </p:cNvSpPr>
              <p:nvPr/>
            </p:nvSpPr>
            <p:spPr bwMode="auto">
              <a:xfrm>
                <a:off x="3295"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7" name="Freeform 945"/>
              <p:cNvSpPr>
                <a:spLocks/>
              </p:cNvSpPr>
              <p:nvPr/>
            </p:nvSpPr>
            <p:spPr bwMode="auto">
              <a:xfrm>
                <a:off x="3297"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28" name="Freeform 946"/>
              <p:cNvSpPr>
                <a:spLocks/>
              </p:cNvSpPr>
              <p:nvPr/>
            </p:nvSpPr>
            <p:spPr bwMode="auto">
              <a:xfrm>
                <a:off x="3301"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29" name="Freeform 947"/>
              <p:cNvSpPr>
                <a:spLocks/>
              </p:cNvSpPr>
              <p:nvPr/>
            </p:nvSpPr>
            <p:spPr bwMode="auto">
              <a:xfrm>
                <a:off x="3309"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30" name="Freeform 948"/>
              <p:cNvSpPr>
                <a:spLocks/>
              </p:cNvSpPr>
              <p:nvPr/>
            </p:nvSpPr>
            <p:spPr bwMode="auto">
              <a:xfrm>
                <a:off x="3313" y="2055"/>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1" name="Freeform 949"/>
              <p:cNvSpPr>
                <a:spLocks/>
              </p:cNvSpPr>
              <p:nvPr/>
            </p:nvSpPr>
            <p:spPr bwMode="auto">
              <a:xfrm>
                <a:off x="3334"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2" name="Freeform 950"/>
              <p:cNvSpPr>
                <a:spLocks/>
              </p:cNvSpPr>
              <p:nvPr/>
            </p:nvSpPr>
            <p:spPr bwMode="auto">
              <a:xfrm>
                <a:off x="3536" y="2055"/>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33" name="Freeform 951"/>
              <p:cNvSpPr>
                <a:spLocks/>
              </p:cNvSpPr>
              <p:nvPr/>
            </p:nvSpPr>
            <p:spPr bwMode="auto">
              <a:xfrm>
                <a:off x="3550"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34" name="Freeform 952"/>
              <p:cNvSpPr>
                <a:spLocks/>
              </p:cNvSpPr>
              <p:nvPr/>
            </p:nvSpPr>
            <p:spPr bwMode="auto">
              <a:xfrm>
                <a:off x="3601"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5" name="Freeform 953"/>
              <p:cNvSpPr>
                <a:spLocks/>
              </p:cNvSpPr>
              <p:nvPr/>
            </p:nvSpPr>
            <p:spPr bwMode="auto">
              <a:xfrm>
                <a:off x="3617"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6" name="Freeform 954"/>
              <p:cNvSpPr>
                <a:spLocks/>
              </p:cNvSpPr>
              <p:nvPr/>
            </p:nvSpPr>
            <p:spPr bwMode="auto">
              <a:xfrm>
                <a:off x="3631"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7" name="Freeform 955"/>
              <p:cNvSpPr>
                <a:spLocks/>
              </p:cNvSpPr>
              <p:nvPr/>
            </p:nvSpPr>
            <p:spPr bwMode="auto">
              <a:xfrm>
                <a:off x="3950"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38" name="Freeform 956"/>
              <p:cNvSpPr>
                <a:spLocks/>
              </p:cNvSpPr>
              <p:nvPr/>
            </p:nvSpPr>
            <p:spPr bwMode="auto">
              <a:xfrm>
                <a:off x="3954"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39" name="Freeform 957"/>
              <p:cNvSpPr>
                <a:spLocks/>
              </p:cNvSpPr>
              <p:nvPr/>
            </p:nvSpPr>
            <p:spPr bwMode="auto">
              <a:xfrm>
                <a:off x="4179"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0" name="Freeform 958"/>
              <p:cNvSpPr>
                <a:spLocks/>
              </p:cNvSpPr>
              <p:nvPr/>
            </p:nvSpPr>
            <p:spPr bwMode="auto">
              <a:xfrm>
                <a:off x="4186"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1" name="Freeform 959"/>
              <p:cNvSpPr>
                <a:spLocks/>
              </p:cNvSpPr>
              <p:nvPr/>
            </p:nvSpPr>
            <p:spPr bwMode="auto">
              <a:xfrm>
                <a:off x="4191"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2" name="Freeform 960"/>
              <p:cNvSpPr>
                <a:spLocks/>
              </p:cNvSpPr>
              <p:nvPr/>
            </p:nvSpPr>
            <p:spPr bwMode="auto">
              <a:xfrm>
                <a:off x="4193"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3" name="Freeform 961"/>
              <p:cNvSpPr>
                <a:spLocks/>
              </p:cNvSpPr>
              <p:nvPr/>
            </p:nvSpPr>
            <p:spPr bwMode="auto">
              <a:xfrm>
                <a:off x="4226" y="2055"/>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4" name="Freeform 962"/>
              <p:cNvSpPr>
                <a:spLocks/>
              </p:cNvSpPr>
              <p:nvPr/>
            </p:nvSpPr>
            <p:spPr bwMode="auto">
              <a:xfrm>
                <a:off x="4348" y="2055"/>
                <a:ext cx="10" cy="11"/>
              </a:xfrm>
              <a:custGeom>
                <a:avLst/>
                <a:gdLst>
                  <a:gd name="T0" fmla="*/ 4 w 10"/>
                  <a:gd name="T1" fmla="*/ 0 h 11"/>
                  <a:gd name="T2" fmla="*/ 7 w 10"/>
                  <a:gd name="T3" fmla="*/ 0 h 11"/>
                  <a:gd name="T4" fmla="*/ 10 w 10"/>
                  <a:gd name="T5" fmla="*/ 4 h 11"/>
                  <a:gd name="T6" fmla="*/ 10 w 10"/>
                  <a:gd name="T7" fmla="*/ 9 h 11"/>
                  <a:gd name="T8" fmla="*/ 9 w 10"/>
                  <a:gd name="T9" fmla="*/ 11 h 11"/>
                  <a:gd name="T10" fmla="*/ 4 w 10"/>
                  <a:gd name="T11" fmla="*/ 11 h 11"/>
                  <a:gd name="T12" fmla="*/ 0 w 10"/>
                  <a:gd name="T13" fmla="*/ 7 h 11"/>
                  <a:gd name="T14" fmla="*/ 0 w 10"/>
                  <a:gd name="T15" fmla="*/ 4 h 11"/>
                  <a:gd name="T16" fmla="*/ 4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4" y="0"/>
                    </a:moveTo>
                    <a:lnTo>
                      <a:pt x="7" y="0"/>
                    </a:lnTo>
                    <a:lnTo>
                      <a:pt x="10" y="4"/>
                    </a:lnTo>
                    <a:lnTo>
                      <a:pt x="10"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45" name="Freeform 963"/>
              <p:cNvSpPr>
                <a:spLocks/>
              </p:cNvSpPr>
              <p:nvPr/>
            </p:nvSpPr>
            <p:spPr bwMode="auto">
              <a:xfrm>
                <a:off x="4425"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46" name="Freeform 964"/>
              <p:cNvSpPr>
                <a:spLocks/>
              </p:cNvSpPr>
              <p:nvPr/>
            </p:nvSpPr>
            <p:spPr bwMode="auto">
              <a:xfrm>
                <a:off x="4444"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47" name="Freeform 965"/>
              <p:cNvSpPr>
                <a:spLocks/>
              </p:cNvSpPr>
              <p:nvPr/>
            </p:nvSpPr>
            <p:spPr bwMode="auto">
              <a:xfrm>
                <a:off x="4448"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68" name="Freeform 966"/>
              <p:cNvSpPr>
                <a:spLocks/>
              </p:cNvSpPr>
              <p:nvPr/>
            </p:nvSpPr>
            <p:spPr bwMode="auto">
              <a:xfrm>
                <a:off x="1590" y="2017"/>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69" name="Freeform 967"/>
              <p:cNvSpPr>
                <a:spLocks/>
              </p:cNvSpPr>
              <p:nvPr/>
            </p:nvSpPr>
            <p:spPr bwMode="auto">
              <a:xfrm>
                <a:off x="2569" y="201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70" name="Freeform 968"/>
              <p:cNvSpPr>
                <a:spLocks/>
              </p:cNvSpPr>
              <p:nvPr/>
            </p:nvSpPr>
            <p:spPr bwMode="auto">
              <a:xfrm>
                <a:off x="2582" y="2017"/>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3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71" name="Freeform 969"/>
              <p:cNvSpPr>
                <a:spLocks/>
              </p:cNvSpPr>
              <p:nvPr/>
            </p:nvSpPr>
            <p:spPr bwMode="auto">
              <a:xfrm>
                <a:off x="3334" y="2017"/>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72" name="Freeform 970"/>
              <p:cNvSpPr>
                <a:spLocks/>
              </p:cNvSpPr>
              <p:nvPr/>
            </p:nvSpPr>
            <p:spPr bwMode="auto">
              <a:xfrm>
                <a:off x="3336" y="2017"/>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173" name="Freeform 971"/>
              <p:cNvSpPr>
                <a:spLocks/>
              </p:cNvSpPr>
              <p:nvPr/>
            </p:nvSpPr>
            <p:spPr bwMode="auto">
              <a:xfrm>
                <a:off x="3559"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74" name="Freeform 972"/>
              <p:cNvSpPr>
                <a:spLocks/>
              </p:cNvSpPr>
              <p:nvPr/>
            </p:nvSpPr>
            <p:spPr bwMode="auto">
              <a:xfrm>
                <a:off x="3660" y="2017"/>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75" name="Freeform 973"/>
              <p:cNvSpPr>
                <a:spLocks/>
              </p:cNvSpPr>
              <p:nvPr/>
            </p:nvSpPr>
            <p:spPr bwMode="auto">
              <a:xfrm>
                <a:off x="4186" y="2017"/>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176" name="Freeform 974"/>
              <p:cNvSpPr>
                <a:spLocks/>
              </p:cNvSpPr>
              <p:nvPr/>
            </p:nvSpPr>
            <p:spPr bwMode="auto">
              <a:xfrm>
                <a:off x="4269" y="2017"/>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77" name="Freeform 975"/>
              <p:cNvSpPr>
                <a:spLocks/>
              </p:cNvSpPr>
              <p:nvPr/>
            </p:nvSpPr>
            <p:spPr bwMode="auto">
              <a:xfrm>
                <a:off x="4275" y="201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78" name="Freeform 976"/>
              <p:cNvSpPr>
                <a:spLocks/>
              </p:cNvSpPr>
              <p:nvPr/>
            </p:nvSpPr>
            <p:spPr bwMode="auto">
              <a:xfrm>
                <a:off x="4280"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79" name="Freeform 977"/>
              <p:cNvSpPr>
                <a:spLocks/>
              </p:cNvSpPr>
              <p:nvPr/>
            </p:nvSpPr>
            <p:spPr bwMode="auto">
              <a:xfrm>
                <a:off x="4296" y="2017"/>
                <a:ext cx="8" cy="9"/>
              </a:xfrm>
              <a:custGeom>
                <a:avLst/>
                <a:gdLst>
                  <a:gd name="T0" fmla="*/ 1 w 8"/>
                  <a:gd name="T1" fmla="*/ 0 h 9"/>
                  <a:gd name="T2" fmla="*/ 5 w 8"/>
                  <a:gd name="T3" fmla="*/ 0 h 9"/>
                  <a:gd name="T4" fmla="*/ 8 w 8"/>
                  <a:gd name="T5" fmla="*/ 3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3"/>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180" name="Freeform 978"/>
              <p:cNvSpPr>
                <a:spLocks/>
              </p:cNvSpPr>
              <p:nvPr/>
            </p:nvSpPr>
            <p:spPr bwMode="auto">
              <a:xfrm>
                <a:off x="4411" y="2017"/>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81" name="Freeform 979"/>
              <p:cNvSpPr>
                <a:spLocks/>
              </p:cNvSpPr>
              <p:nvPr/>
            </p:nvSpPr>
            <p:spPr bwMode="auto">
              <a:xfrm>
                <a:off x="4425" y="2017"/>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82" name="Freeform 980"/>
              <p:cNvSpPr>
                <a:spLocks/>
              </p:cNvSpPr>
              <p:nvPr/>
            </p:nvSpPr>
            <p:spPr bwMode="auto">
              <a:xfrm>
                <a:off x="4432"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83" name="Freeform 981"/>
              <p:cNvSpPr>
                <a:spLocks/>
              </p:cNvSpPr>
              <p:nvPr/>
            </p:nvSpPr>
            <p:spPr bwMode="auto">
              <a:xfrm>
                <a:off x="4444" y="201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84" name="Freeform 982"/>
              <p:cNvSpPr>
                <a:spLocks/>
              </p:cNvSpPr>
              <p:nvPr/>
            </p:nvSpPr>
            <p:spPr bwMode="auto">
              <a:xfrm>
                <a:off x="4479" y="2017"/>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85" name="Freeform 983"/>
              <p:cNvSpPr>
                <a:spLocks/>
              </p:cNvSpPr>
              <p:nvPr/>
            </p:nvSpPr>
            <p:spPr bwMode="auto">
              <a:xfrm>
                <a:off x="4587" y="201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86" name="Freeform 984"/>
              <p:cNvSpPr>
                <a:spLocks/>
              </p:cNvSpPr>
              <p:nvPr/>
            </p:nvSpPr>
            <p:spPr bwMode="auto">
              <a:xfrm>
                <a:off x="4615"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87" name="Freeform 985"/>
              <p:cNvSpPr>
                <a:spLocks/>
              </p:cNvSpPr>
              <p:nvPr/>
            </p:nvSpPr>
            <p:spPr bwMode="auto">
              <a:xfrm>
                <a:off x="1051" y="1977"/>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88" name="Freeform 986"/>
              <p:cNvSpPr>
                <a:spLocks/>
              </p:cNvSpPr>
              <p:nvPr/>
            </p:nvSpPr>
            <p:spPr bwMode="auto">
              <a:xfrm>
                <a:off x="1302" y="1977"/>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89" name="Freeform 987"/>
              <p:cNvSpPr>
                <a:spLocks/>
              </p:cNvSpPr>
              <p:nvPr/>
            </p:nvSpPr>
            <p:spPr bwMode="auto">
              <a:xfrm>
                <a:off x="1587" y="1977"/>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90" name="Freeform 988"/>
              <p:cNvSpPr>
                <a:spLocks/>
              </p:cNvSpPr>
              <p:nvPr/>
            </p:nvSpPr>
            <p:spPr bwMode="auto">
              <a:xfrm>
                <a:off x="1616"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91" name="Freeform 989"/>
              <p:cNvSpPr>
                <a:spLocks/>
              </p:cNvSpPr>
              <p:nvPr/>
            </p:nvSpPr>
            <p:spPr bwMode="auto">
              <a:xfrm>
                <a:off x="1637" y="1977"/>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92" name="Freeform 990"/>
              <p:cNvSpPr>
                <a:spLocks/>
              </p:cNvSpPr>
              <p:nvPr/>
            </p:nvSpPr>
            <p:spPr bwMode="auto">
              <a:xfrm>
                <a:off x="2405"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93" name="Freeform 991"/>
              <p:cNvSpPr>
                <a:spLocks/>
              </p:cNvSpPr>
              <p:nvPr/>
            </p:nvSpPr>
            <p:spPr bwMode="auto">
              <a:xfrm>
                <a:off x="2489"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94" name="Freeform 992"/>
              <p:cNvSpPr>
                <a:spLocks/>
              </p:cNvSpPr>
              <p:nvPr/>
            </p:nvSpPr>
            <p:spPr bwMode="auto">
              <a:xfrm>
                <a:off x="2494" y="1977"/>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95" name="Freeform 993"/>
              <p:cNvSpPr>
                <a:spLocks/>
              </p:cNvSpPr>
              <p:nvPr/>
            </p:nvSpPr>
            <p:spPr bwMode="auto">
              <a:xfrm>
                <a:off x="2496"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96" name="Freeform 994"/>
              <p:cNvSpPr>
                <a:spLocks/>
              </p:cNvSpPr>
              <p:nvPr/>
            </p:nvSpPr>
            <p:spPr bwMode="auto">
              <a:xfrm>
                <a:off x="2501" y="1977"/>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97" name="Freeform 995"/>
              <p:cNvSpPr>
                <a:spLocks/>
              </p:cNvSpPr>
              <p:nvPr/>
            </p:nvSpPr>
            <p:spPr bwMode="auto">
              <a:xfrm>
                <a:off x="2505"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98" name="Freeform 996"/>
              <p:cNvSpPr>
                <a:spLocks/>
              </p:cNvSpPr>
              <p:nvPr/>
            </p:nvSpPr>
            <p:spPr bwMode="auto">
              <a:xfrm>
                <a:off x="2524" y="1977"/>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99" name="Freeform 997"/>
              <p:cNvSpPr>
                <a:spLocks/>
              </p:cNvSpPr>
              <p:nvPr/>
            </p:nvSpPr>
            <p:spPr bwMode="auto">
              <a:xfrm>
                <a:off x="2533" y="1977"/>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00" name="Freeform 998"/>
              <p:cNvSpPr>
                <a:spLocks/>
              </p:cNvSpPr>
              <p:nvPr/>
            </p:nvSpPr>
            <p:spPr bwMode="auto">
              <a:xfrm>
                <a:off x="2543" y="1977"/>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01" name="Freeform 999"/>
              <p:cNvSpPr>
                <a:spLocks/>
              </p:cNvSpPr>
              <p:nvPr/>
            </p:nvSpPr>
            <p:spPr bwMode="auto">
              <a:xfrm>
                <a:off x="2583" y="1977"/>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02" name="Freeform 1000"/>
              <p:cNvSpPr>
                <a:spLocks/>
              </p:cNvSpPr>
              <p:nvPr/>
            </p:nvSpPr>
            <p:spPr bwMode="auto">
              <a:xfrm>
                <a:off x="2594"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03" name="Freeform 1001"/>
              <p:cNvSpPr>
                <a:spLocks/>
              </p:cNvSpPr>
              <p:nvPr/>
            </p:nvSpPr>
            <p:spPr bwMode="auto">
              <a:xfrm>
                <a:off x="3170"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04" name="Freeform 1002"/>
              <p:cNvSpPr>
                <a:spLocks/>
              </p:cNvSpPr>
              <p:nvPr/>
            </p:nvSpPr>
            <p:spPr bwMode="auto">
              <a:xfrm>
                <a:off x="3177" y="1977"/>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05" name="Freeform 1003"/>
              <p:cNvSpPr>
                <a:spLocks/>
              </p:cNvSpPr>
              <p:nvPr/>
            </p:nvSpPr>
            <p:spPr bwMode="auto">
              <a:xfrm>
                <a:off x="3193" y="1977"/>
                <a:ext cx="10" cy="8"/>
              </a:xfrm>
              <a:custGeom>
                <a:avLst/>
                <a:gdLst>
                  <a:gd name="T0" fmla="*/ 1 w 10"/>
                  <a:gd name="T1" fmla="*/ 0 h 8"/>
                  <a:gd name="T2" fmla="*/ 6 w 10"/>
                  <a:gd name="T3" fmla="*/ 0 h 8"/>
                  <a:gd name="T4" fmla="*/ 10 w 10"/>
                  <a:gd name="T5" fmla="*/ 3 h 8"/>
                  <a:gd name="T6" fmla="*/ 10 w 10"/>
                  <a:gd name="T7" fmla="*/ 5 h 8"/>
                  <a:gd name="T8" fmla="*/ 6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6" y="0"/>
                    </a:lnTo>
                    <a:lnTo>
                      <a:pt x="10" y="3"/>
                    </a:lnTo>
                    <a:lnTo>
                      <a:pt x="10" y="5"/>
                    </a:lnTo>
                    <a:lnTo>
                      <a:pt x="6"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06" name="Freeform 1004"/>
              <p:cNvSpPr>
                <a:spLocks/>
              </p:cNvSpPr>
              <p:nvPr/>
            </p:nvSpPr>
            <p:spPr bwMode="auto">
              <a:xfrm>
                <a:off x="3220"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07" name="Freeform 1005"/>
              <p:cNvSpPr>
                <a:spLocks/>
              </p:cNvSpPr>
              <p:nvPr/>
            </p:nvSpPr>
            <p:spPr bwMode="auto">
              <a:xfrm>
                <a:off x="3257"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08" name="Freeform 1006"/>
              <p:cNvSpPr>
                <a:spLocks/>
              </p:cNvSpPr>
              <p:nvPr/>
            </p:nvSpPr>
            <p:spPr bwMode="auto">
              <a:xfrm>
                <a:off x="3271" y="1977"/>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09" name="Freeform 1007"/>
              <p:cNvSpPr>
                <a:spLocks/>
              </p:cNvSpPr>
              <p:nvPr/>
            </p:nvSpPr>
            <p:spPr bwMode="auto">
              <a:xfrm>
                <a:off x="3285"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0" name="Freeform 1008"/>
              <p:cNvSpPr>
                <a:spLocks/>
              </p:cNvSpPr>
              <p:nvPr/>
            </p:nvSpPr>
            <p:spPr bwMode="auto">
              <a:xfrm>
                <a:off x="3343" y="1977"/>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7" name="Group 1210"/>
            <p:cNvGrpSpPr>
              <a:grpSpLocks/>
            </p:cNvGrpSpPr>
            <p:nvPr/>
          </p:nvGrpSpPr>
          <p:grpSpPr bwMode="auto">
            <a:xfrm>
              <a:off x="1631999" y="2757495"/>
              <a:ext cx="6159676" cy="393701"/>
              <a:chOff x="1028" y="1737"/>
              <a:chExt cx="3880" cy="248"/>
            </a:xfrm>
          </p:grpSpPr>
          <p:sp>
            <p:nvSpPr>
              <p:cNvPr id="1691" name="Freeform 1010"/>
              <p:cNvSpPr>
                <a:spLocks/>
              </p:cNvSpPr>
              <p:nvPr/>
            </p:nvSpPr>
            <p:spPr bwMode="auto">
              <a:xfrm>
                <a:off x="3353"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92" name="Freeform 1011"/>
              <p:cNvSpPr>
                <a:spLocks/>
              </p:cNvSpPr>
              <p:nvPr/>
            </p:nvSpPr>
            <p:spPr bwMode="auto">
              <a:xfrm>
                <a:off x="4219"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93" name="Freeform 1012"/>
              <p:cNvSpPr>
                <a:spLocks/>
              </p:cNvSpPr>
              <p:nvPr/>
            </p:nvSpPr>
            <p:spPr bwMode="auto">
              <a:xfrm>
                <a:off x="4249" y="1977"/>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94" name="Freeform 1013"/>
              <p:cNvSpPr>
                <a:spLocks/>
              </p:cNvSpPr>
              <p:nvPr/>
            </p:nvSpPr>
            <p:spPr bwMode="auto">
              <a:xfrm>
                <a:off x="4250" y="1977"/>
                <a:ext cx="11" cy="8"/>
              </a:xfrm>
              <a:custGeom>
                <a:avLst/>
                <a:gdLst>
                  <a:gd name="T0" fmla="*/ 2 w 11"/>
                  <a:gd name="T1" fmla="*/ 0 h 8"/>
                  <a:gd name="T2" fmla="*/ 9 w 11"/>
                  <a:gd name="T3" fmla="*/ 0 h 8"/>
                  <a:gd name="T4" fmla="*/ 11 w 11"/>
                  <a:gd name="T5" fmla="*/ 1 h 8"/>
                  <a:gd name="T6" fmla="*/ 11 w 11"/>
                  <a:gd name="T7" fmla="*/ 7 h 8"/>
                  <a:gd name="T8" fmla="*/ 9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9" y="0"/>
                    </a:lnTo>
                    <a:lnTo>
                      <a:pt x="11" y="1"/>
                    </a:lnTo>
                    <a:lnTo>
                      <a:pt x="11" y="7"/>
                    </a:lnTo>
                    <a:lnTo>
                      <a:pt x="9"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5" name="Freeform 1014"/>
              <p:cNvSpPr>
                <a:spLocks/>
              </p:cNvSpPr>
              <p:nvPr/>
            </p:nvSpPr>
            <p:spPr bwMode="auto">
              <a:xfrm>
                <a:off x="4472" y="1977"/>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6" name="Freeform 1015"/>
              <p:cNvSpPr>
                <a:spLocks/>
              </p:cNvSpPr>
              <p:nvPr/>
            </p:nvSpPr>
            <p:spPr bwMode="auto">
              <a:xfrm>
                <a:off x="4894"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97" name="Freeform 1016"/>
              <p:cNvSpPr>
                <a:spLocks/>
              </p:cNvSpPr>
              <p:nvPr/>
            </p:nvSpPr>
            <p:spPr bwMode="auto">
              <a:xfrm>
                <a:off x="4898" y="1977"/>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8" name="Freeform 1017"/>
              <p:cNvSpPr>
                <a:spLocks/>
              </p:cNvSpPr>
              <p:nvPr/>
            </p:nvSpPr>
            <p:spPr bwMode="auto">
              <a:xfrm>
                <a:off x="1044"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9" name="Freeform 1018"/>
              <p:cNvSpPr>
                <a:spLocks/>
              </p:cNvSpPr>
              <p:nvPr/>
            </p:nvSpPr>
            <p:spPr bwMode="auto">
              <a:xfrm>
                <a:off x="1060" y="1936"/>
                <a:ext cx="8" cy="9"/>
              </a:xfrm>
              <a:custGeom>
                <a:avLst/>
                <a:gdLst>
                  <a:gd name="T0" fmla="*/ 1 w 8"/>
                  <a:gd name="T1" fmla="*/ 0 h 9"/>
                  <a:gd name="T2" fmla="*/ 6 w 8"/>
                  <a:gd name="T3" fmla="*/ 0 h 9"/>
                  <a:gd name="T4" fmla="*/ 8 w 8"/>
                  <a:gd name="T5" fmla="*/ 2 h 9"/>
                  <a:gd name="T6" fmla="*/ 8 w 8"/>
                  <a:gd name="T7" fmla="*/ 7 h 9"/>
                  <a:gd name="T8" fmla="*/ 6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7"/>
                    </a:lnTo>
                    <a:lnTo>
                      <a:pt x="6"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00" name="Freeform 1019"/>
              <p:cNvSpPr>
                <a:spLocks/>
              </p:cNvSpPr>
              <p:nvPr/>
            </p:nvSpPr>
            <p:spPr bwMode="auto">
              <a:xfrm>
                <a:off x="1063" y="1936"/>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1" name="Freeform 1020"/>
              <p:cNvSpPr>
                <a:spLocks/>
              </p:cNvSpPr>
              <p:nvPr/>
            </p:nvSpPr>
            <p:spPr bwMode="auto">
              <a:xfrm>
                <a:off x="1136"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02" name="Freeform 1021"/>
              <p:cNvSpPr>
                <a:spLocks/>
              </p:cNvSpPr>
              <p:nvPr/>
            </p:nvSpPr>
            <p:spPr bwMode="auto">
              <a:xfrm>
                <a:off x="1286" y="1936"/>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3" name="Freeform 1022"/>
              <p:cNvSpPr>
                <a:spLocks/>
              </p:cNvSpPr>
              <p:nvPr/>
            </p:nvSpPr>
            <p:spPr bwMode="auto">
              <a:xfrm>
                <a:off x="1316"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4" name="Freeform 1023"/>
              <p:cNvSpPr>
                <a:spLocks/>
              </p:cNvSpPr>
              <p:nvPr/>
            </p:nvSpPr>
            <p:spPr bwMode="auto">
              <a:xfrm>
                <a:off x="1348" y="1936"/>
                <a:ext cx="8" cy="9"/>
              </a:xfrm>
              <a:custGeom>
                <a:avLst/>
                <a:gdLst>
                  <a:gd name="T0" fmla="*/ 1 w 8"/>
                  <a:gd name="T1" fmla="*/ 0 h 9"/>
                  <a:gd name="T2" fmla="*/ 6 w 8"/>
                  <a:gd name="T3" fmla="*/ 0 h 9"/>
                  <a:gd name="T4" fmla="*/ 8 w 8"/>
                  <a:gd name="T5" fmla="*/ 2 h 9"/>
                  <a:gd name="T6" fmla="*/ 8 w 8"/>
                  <a:gd name="T7" fmla="*/ 7 h 9"/>
                  <a:gd name="T8" fmla="*/ 6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7"/>
                    </a:lnTo>
                    <a:lnTo>
                      <a:pt x="6"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05" name="Freeform 1024"/>
              <p:cNvSpPr>
                <a:spLocks/>
              </p:cNvSpPr>
              <p:nvPr/>
            </p:nvSpPr>
            <p:spPr bwMode="auto">
              <a:xfrm>
                <a:off x="1349" y="1936"/>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6" name="Freeform 1025"/>
              <p:cNvSpPr>
                <a:spLocks/>
              </p:cNvSpPr>
              <p:nvPr/>
            </p:nvSpPr>
            <p:spPr bwMode="auto">
              <a:xfrm>
                <a:off x="1574" y="1936"/>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7" name="Freeform 1026"/>
              <p:cNvSpPr>
                <a:spLocks/>
              </p:cNvSpPr>
              <p:nvPr/>
            </p:nvSpPr>
            <p:spPr bwMode="auto">
              <a:xfrm>
                <a:off x="1622"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08" name="Freeform 1027"/>
              <p:cNvSpPr>
                <a:spLocks/>
              </p:cNvSpPr>
              <p:nvPr/>
            </p:nvSpPr>
            <p:spPr bwMode="auto">
              <a:xfrm>
                <a:off x="1653"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09" name="Freeform 1028"/>
              <p:cNvSpPr>
                <a:spLocks/>
              </p:cNvSpPr>
              <p:nvPr/>
            </p:nvSpPr>
            <p:spPr bwMode="auto">
              <a:xfrm>
                <a:off x="1718"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0" name="Freeform 1029"/>
              <p:cNvSpPr>
                <a:spLocks/>
              </p:cNvSpPr>
              <p:nvPr/>
            </p:nvSpPr>
            <p:spPr bwMode="auto">
              <a:xfrm>
                <a:off x="2393"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11" name="Freeform 1030"/>
              <p:cNvSpPr>
                <a:spLocks/>
              </p:cNvSpPr>
              <p:nvPr/>
            </p:nvSpPr>
            <p:spPr bwMode="auto">
              <a:xfrm>
                <a:off x="2437"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2" name="Freeform 1031"/>
              <p:cNvSpPr>
                <a:spLocks/>
              </p:cNvSpPr>
              <p:nvPr/>
            </p:nvSpPr>
            <p:spPr bwMode="auto">
              <a:xfrm>
                <a:off x="2486"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3" name="Freeform 1032"/>
              <p:cNvSpPr>
                <a:spLocks/>
              </p:cNvSpPr>
              <p:nvPr/>
            </p:nvSpPr>
            <p:spPr bwMode="auto">
              <a:xfrm>
                <a:off x="2487" y="1936"/>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14" name="Freeform 1033"/>
              <p:cNvSpPr>
                <a:spLocks/>
              </p:cNvSpPr>
              <p:nvPr/>
            </p:nvSpPr>
            <p:spPr bwMode="auto">
              <a:xfrm>
                <a:off x="2519" y="1936"/>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5" name="Freeform 1034"/>
              <p:cNvSpPr>
                <a:spLocks/>
              </p:cNvSpPr>
              <p:nvPr/>
            </p:nvSpPr>
            <p:spPr bwMode="auto">
              <a:xfrm>
                <a:off x="3117"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16" name="Freeform 1035"/>
              <p:cNvSpPr>
                <a:spLocks/>
              </p:cNvSpPr>
              <p:nvPr/>
            </p:nvSpPr>
            <p:spPr bwMode="auto">
              <a:xfrm>
                <a:off x="3158" y="1936"/>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7" name="Freeform 1036"/>
              <p:cNvSpPr>
                <a:spLocks/>
              </p:cNvSpPr>
              <p:nvPr/>
            </p:nvSpPr>
            <p:spPr bwMode="auto">
              <a:xfrm>
                <a:off x="3165" y="1936"/>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18" name="Freeform 1037"/>
              <p:cNvSpPr>
                <a:spLocks/>
              </p:cNvSpPr>
              <p:nvPr/>
            </p:nvSpPr>
            <p:spPr bwMode="auto">
              <a:xfrm>
                <a:off x="3166" y="1936"/>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19" name="Freeform 1038"/>
              <p:cNvSpPr>
                <a:spLocks/>
              </p:cNvSpPr>
              <p:nvPr/>
            </p:nvSpPr>
            <p:spPr bwMode="auto">
              <a:xfrm>
                <a:off x="3198"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20" name="Freeform 1039"/>
              <p:cNvSpPr>
                <a:spLocks/>
              </p:cNvSpPr>
              <p:nvPr/>
            </p:nvSpPr>
            <p:spPr bwMode="auto">
              <a:xfrm>
                <a:off x="3206" y="1936"/>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21" name="Freeform 1040"/>
              <p:cNvSpPr>
                <a:spLocks/>
              </p:cNvSpPr>
              <p:nvPr/>
            </p:nvSpPr>
            <p:spPr bwMode="auto">
              <a:xfrm>
                <a:off x="3238"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22" name="Freeform 1041"/>
              <p:cNvSpPr>
                <a:spLocks/>
              </p:cNvSpPr>
              <p:nvPr/>
            </p:nvSpPr>
            <p:spPr bwMode="auto">
              <a:xfrm>
                <a:off x="3294" y="1936"/>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23" name="Freeform 1042"/>
              <p:cNvSpPr>
                <a:spLocks/>
              </p:cNvSpPr>
              <p:nvPr/>
            </p:nvSpPr>
            <p:spPr bwMode="auto">
              <a:xfrm>
                <a:off x="3522"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24" name="Freeform 1043"/>
              <p:cNvSpPr>
                <a:spLocks/>
              </p:cNvSpPr>
              <p:nvPr/>
            </p:nvSpPr>
            <p:spPr bwMode="auto">
              <a:xfrm>
                <a:off x="3528"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25" name="Freeform 1044"/>
              <p:cNvSpPr>
                <a:spLocks/>
              </p:cNvSpPr>
              <p:nvPr/>
            </p:nvSpPr>
            <p:spPr bwMode="auto">
              <a:xfrm>
                <a:off x="3529"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26" name="Freeform 1045"/>
              <p:cNvSpPr>
                <a:spLocks/>
              </p:cNvSpPr>
              <p:nvPr/>
            </p:nvSpPr>
            <p:spPr bwMode="auto">
              <a:xfrm>
                <a:off x="3599" y="1936"/>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27" name="Freeform 1046"/>
              <p:cNvSpPr>
                <a:spLocks/>
              </p:cNvSpPr>
              <p:nvPr/>
            </p:nvSpPr>
            <p:spPr bwMode="auto">
              <a:xfrm>
                <a:off x="3678" y="1936"/>
                <a:ext cx="8" cy="9"/>
              </a:xfrm>
              <a:custGeom>
                <a:avLst/>
                <a:gdLst>
                  <a:gd name="T0" fmla="*/ 2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7" y="0"/>
                    </a:lnTo>
                    <a:lnTo>
                      <a:pt x="8" y="2"/>
                    </a:lnTo>
                    <a:lnTo>
                      <a:pt x="8"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28" name="Freeform 1047"/>
              <p:cNvSpPr>
                <a:spLocks/>
              </p:cNvSpPr>
              <p:nvPr/>
            </p:nvSpPr>
            <p:spPr bwMode="auto">
              <a:xfrm>
                <a:off x="3681"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29" name="Freeform 1048"/>
              <p:cNvSpPr>
                <a:spLocks/>
              </p:cNvSpPr>
              <p:nvPr/>
            </p:nvSpPr>
            <p:spPr bwMode="auto">
              <a:xfrm>
                <a:off x="3690" y="193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30" name="Freeform 1049"/>
              <p:cNvSpPr>
                <a:spLocks/>
              </p:cNvSpPr>
              <p:nvPr/>
            </p:nvSpPr>
            <p:spPr bwMode="auto">
              <a:xfrm>
                <a:off x="3706" y="1936"/>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31" name="Freeform 1050"/>
              <p:cNvSpPr>
                <a:spLocks/>
              </p:cNvSpPr>
              <p:nvPr/>
            </p:nvSpPr>
            <p:spPr bwMode="auto">
              <a:xfrm>
                <a:off x="4414"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32" name="Freeform 1051"/>
              <p:cNvSpPr>
                <a:spLocks/>
              </p:cNvSpPr>
              <p:nvPr/>
            </p:nvSpPr>
            <p:spPr bwMode="auto">
              <a:xfrm>
                <a:off x="4421"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33" name="Freeform 1052"/>
              <p:cNvSpPr>
                <a:spLocks/>
              </p:cNvSpPr>
              <p:nvPr/>
            </p:nvSpPr>
            <p:spPr bwMode="auto">
              <a:xfrm>
                <a:off x="4442"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34" name="Freeform 1053"/>
              <p:cNvSpPr>
                <a:spLocks/>
              </p:cNvSpPr>
              <p:nvPr/>
            </p:nvSpPr>
            <p:spPr bwMode="auto">
              <a:xfrm>
                <a:off x="4474" y="1936"/>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35" name="Freeform 1054"/>
              <p:cNvSpPr>
                <a:spLocks/>
              </p:cNvSpPr>
              <p:nvPr/>
            </p:nvSpPr>
            <p:spPr bwMode="auto">
              <a:xfrm>
                <a:off x="4612" y="193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36" name="Freeform 1055"/>
              <p:cNvSpPr>
                <a:spLocks/>
              </p:cNvSpPr>
              <p:nvPr/>
            </p:nvSpPr>
            <p:spPr bwMode="auto">
              <a:xfrm>
                <a:off x="1613"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37" name="Freeform 1056"/>
              <p:cNvSpPr>
                <a:spLocks/>
              </p:cNvSpPr>
              <p:nvPr/>
            </p:nvSpPr>
            <p:spPr bwMode="auto">
              <a:xfrm>
                <a:off x="1622"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38" name="Freeform 1057"/>
              <p:cNvSpPr>
                <a:spLocks/>
              </p:cNvSpPr>
              <p:nvPr/>
            </p:nvSpPr>
            <p:spPr bwMode="auto">
              <a:xfrm>
                <a:off x="1653"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39" name="Freeform 1058"/>
              <p:cNvSpPr>
                <a:spLocks/>
              </p:cNvSpPr>
              <p:nvPr/>
            </p:nvSpPr>
            <p:spPr bwMode="auto">
              <a:xfrm>
                <a:off x="1667"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0" name="Freeform 1059"/>
              <p:cNvSpPr>
                <a:spLocks/>
              </p:cNvSpPr>
              <p:nvPr/>
            </p:nvSpPr>
            <p:spPr bwMode="auto">
              <a:xfrm>
                <a:off x="1693"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1" name="Freeform 1060"/>
              <p:cNvSpPr>
                <a:spLocks/>
              </p:cNvSpPr>
              <p:nvPr/>
            </p:nvSpPr>
            <p:spPr bwMode="auto">
              <a:xfrm>
                <a:off x="1719"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2" name="Freeform 1061"/>
              <p:cNvSpPr>
                <a:spLocks/>
              </p:cNvSpPr>
              <p:nvPr/>
            </p:nvSpPr>
            <p:spPr bwMode="auto">
              <a:xfrm>
                <a:off x="1747"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3" name="Freeform 1062"/>
              <p:cNvSpPr>
                <a:spLocks/>
              </p:cNvSpPr>
              <p:nvPr/>
            </p:nvSpPr>
            <p:spPr bwMode="auto">
              <a:xfrm>
                <a:off x="1780"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4" name="Freeform 1063"/>
              <p:cNvSpPr>
                <a:spLocks/>
              </p:cNvSpPr>
              <p:nvPr/>
            </p:nvSpPr>
            <p:spPr bwMode="auto">
              <a:xfrm>
                <a:off x="2386"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45" name="Freeform 1064"/>
              <p:cNvSpPr>
                <a:spLocks/>
              </p:cNvSpPr>
              <p:nvPr/>
            </p:nvSpPr>
            <p:spPr bwMode="auto">
              <a:xfrm>
                <a:off x="2400"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6" name="Freeform 1065"/>
              <p:cNvSpPr>
                <a:spLocks/>
              </p:cNvSpPr>
              <p:nvPr/>
            </p:nvSpPr>
            <p:spPr bwMode="auto">
              <a:xfrm>
                <a:off x="2407"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7" name="Freeform 1066"/>
              <p:cNvSpPr>
                <a:spLocks/>
              </p:cNvSpPr>
              <p:nvPr/>
            </p:nvSpPr>
            <p:spPr bwMode="auto">
              <a:xfrm>
                <a:off x="2416" y="1896"/>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8" name="Freeform 1067"/>
              <p:cNvSpPr>
                <a:spLocks/>
              </p:cNvSpPr>
              <p:nvPr/>
            </p:nvSpPr>
            <p:spPr bwMode="auto">
              <a:xfrm>
                <a:off x="2428"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49" name="Freeform 1068"/>
              <p:cNvSpPr>
                <a:spLocks/>
              </p:cNvSpPr>
              <p:nvPr/>
            </p:nvSpPr>
            <p:spPr bwMode="auto">
              <a:xfrm>
                <a:off x="2433"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50" name="Freeform 1069"/>
              <p:cNvSpPr>
                <a:spLocks/>
              </p:cNvSpPr>
              <p:nvPr/>
            </p:nvSpPr>
            <p:spPr bwMode="auto">
              <a:xfrm>
                <a:off x="2440"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51" name="Freeform 1070"/>
              <p:cNvSpPr>
                <a:spLocks/>
              </p:cNvSpPr>
              <p:nvPr/>
            </p:nvSpPr>
            <p:spPr bwMode="auto">
              <a:xfrm>
                <a:off x="2445"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52" name="Freeform 1071"/>
              <p:cNvSpPr>
                <a:spLocks/>
              </p:cNvSpPr>
              <p:nvPr/>
            </p:nvSpPr>
            <p:spPr bwMode="auto">
              <a:xfrm>
                <a:off x="2449"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53" name="Freeform 1072"/>
              <p:cNvSpPr>
                <a:spLocks/>
              </p:cNvSpPr>
              <p:nvPr/>
            </p:nvSpPr>
            <p:spPr bwMode="auto">
              <a:xfrm>
                <a:off x="2505"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54" name="Freeform 1073"/>
              <p:cNvSpPr>
                <a:spLocks/>
              </p:cNvSpPr>
              <p:nvPr/>
            </p:nvSpPr>
            <p:spPr bwMode="auto">
              <a:xfrm>
                <a:off x="2508"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55" name="Freeform 1074"/>
              <p:cNvSpPr>
                <a:spLocks/>
              </p:cNvSpPr>
              <p:nvPr/>
            </p:nvSpPr>
            <p:spPr bwMode="auto">
              <a:xfrm>
                <a:off x="2520"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56" name="Freeform 1075"/>
              <p:cNvSpPr>
                <a:spLocks/>
              </p:cNvSpPr>
              <p:nvPr/>
            </p:nvSpPr>
            <p:spPr bwMode="auto">
              <a:xfrm>
                <a:off x="2526"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57" name="Freeform 1076"/>
              <p:cNvSpPr>
                <a:spLocks/>
              </p:cNvSpPr>
              <p:nvPr/>
            </p:nvSpPr>
            <p:spPr bwMode="auto">
              <a:xfrm>
                <a:off x="2545"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58" name="Freeform 1077"/>
              <p:cNvSpPr>
                <a:spLocks/>
              </p:cNvSpPr>
              <p:nvPr/>
            </p:nvSpPr>
            <p:spPr bwMode="auto">
              <a:xfrm>
                <a:off x="2548"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59" name="Freeform 1078"/>
              <p:cNvSpPr>
                <a:spLocks/>
              </p:cNvSpPr>
              <p:nvPr/>
            </p:nvSpPr>
            <p:spPr bwMode="auto">
              <a:xfrm>
                <a:off x="2561" y="1896"/>
                <a:ext cx="10" cy="11"/>
              </a:xfrm>
              <a:custGeom>
                <a:avLst/>
                <a:gdLst>
                  <a:gd name="T0" fmla="*/ 3 w 10"/>
                  <a:gd name="T1" fmla="*/ 0 h 11"/>
                  <a:gd name="T2" fmla="*/ 8 w 10"/>
                  <a:gd name="T3" fmla="*/ 0 h 11"/>
                  <a:gd name="T4" fmla="*/ 10 w 10"/>
                  <a:gd name="T5" fmla="*/ 2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60" name="Freeform 1079"/>
              <p:cNvSpPr>
                <a:spLocks/>
              </p:cNvSpPr>
              <p:nvPr/>
            </p:nvSpPr>
            <p:spPr bwMode="auto">
              <a:xfrm>
                <a:off x="2575" y="1896"/>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61" name="Freeform 1080"/>
              <p:cNvSpPr>
                <a:spLocks/>
              </p:cNvSpPr>
              <p:nvPr/>
            </p:nvSpPr>
            <p:spPr bwMode="auto">
              <a:xfrm>
                <a:off x="2576"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62" name="Freeform 1081"/>
              <p:cNvSpPr>
                <a:spLocks/>
              </p:cNvSpPr>
              <p:nvPr/>
            </p:nvSpPr>
            <p:spPr bwMode="auto">
              <a:xfrm>
                <a:off x="2589"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63" name="Freeform 1082"/>
              <p:cNvSpPr>
                <a:spLocks/>
              </p:cNvSpPr>
              <p:nvPr/>
            </p:nvSpPr>
            <p:spPr bwMode="auto">
              <a:xfrm>
                <a:off x="3271"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64" name="Freeform 1083"/>
              <p:cNvSpPr>
                <a:spLocks/>
              </p:cNvSpPr>
              <p:nvPr/>
            </p:nvSpPr>
            <p:spPr bwMode="auto">
              <a:xfrm>
                <a:off x="3282" y="1896"/>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65" name="Freeform 1084"/>
              <p:cNvSpPr>
                <a:spLocks/>
              </p:cNvSpPr>
              <p:nvPr/>
            </p:nvSpPr>
            <p:spPr bwMode="auto">
              <a:xfrm>
                <a:off x="3306"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66" name="Freeform 1085"/>
              <p:cNvSpPr>
                <a:spLocks/>
              </p:cNvSpPr>
              <p:nvPr/>
            </p:nvSpPr>
            <p:spPr bwMode="auto">
              <a:xfrm>
                <a:off x="3309"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67" name="Freeform 1086"/>
              <p:cNvSpPr>
                <a:spLocks/>
              </p:cNvSpPr>
              <p:nvPr/>
            </p:nvSpPr>
            <p:spPr bwMode="auto">
              <a:xfrm>
                <a:off x="3313"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68" name="Freeform 1087"/>
              <p:cNvSpPr>
                <a:spLocks/>
              </p:cNvSpPr>
              <p:nvPr/>
            </p:nvSpPr>
            <p:spPr bwMode="auto">
              <a:xfrm>
                <a:off x="3325"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69" name="Freeform 1088"/>
              <p:cNvSpPr>
                <a:spLocks/>
              </p:cNvSpPr>
              <p:nvPr/>
            </p:nvSpPr>
            <p:spPr bwMode="auto">
              <a:xfrm>
                <a:off x="3329" y="1896"/>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70" name="Freeform 1089"/>
              <p:cNvSpPr>
                <a:spLocks/>
              </p:cNvSpPr>
              <p:nvPr/>
            </p:nvSpPr>
            <p:spPr bwMode="auto">
              <a:xfrm>
                <a:off x="3350"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71" name="Freeform 1090"/>
              <p:cNvSpPr>
                <a:spLocks/>
              </p:cNvSpPr>
              <p:nvPr/>
            </p:nvSpPr>
            <p:spPr bwMode="auto">
              <a:xfrm>
                <a:off x="3545"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72" name="Freeform 1091"/>
              <p:cNvSpPr>
                <a:spLocks/>
              </p:cNvSpPr>
              <p:nvPr/>
            </p:nvSpPr>
            <p:spPr bwMode="auto">
              <a:xfrm>
                <a:off x="3549"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73" name="Freeform 1092"/>
              <p:cNvSpPr>
                <a:spLocks/>
              </p:cNvSpPr>
              <p:nvPr/>
            </p:nvSpPr>
            <p:spPr bwMode="auto">
              <a:xfrm>
                <a:off x="4207"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74" name="Freeform 1093"/>
              <p:cNvSpPr>
                <a:spLocks/>
              </p:cNvSpPr>
              <p:nvPr/>
            </p:nvSpPr>
            <p:spPr bwMode="auto">
              <a:xfrm>
                <a:off x="4264"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75" name="Freeform 1094"/>
              <p:cNvSpPr>
                <a:spLocks/>
              </p:cNvSpPr>
              <p:nvPr/>
            </p:nvSpPr>
            <p:spPr bwMode="auto">
              <a:xfrm>
                <a:off x="4362" y="1896"/>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76" name="Freeform 1095"/>
              <p:cNvSpPr>
                <a:spLocks/>
              </p:cNvSpPr>
              <p:nvPr/>
            </p:nvSpPr>
            <p:spPr bwMode="auto">
              <a:xfrm>
                <a:off x="4500"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77" name="Freeform 1096"/>
              <p:cNvSpPr>
                <a:spLocks/>
              </p:cNvSpPr>
              <p:nvPr/>
            </p:nvSpPr>
            <p:spPr bwMode="auto">
              <a:xfrm>
                <a:off x="4610" y="1896"/>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78" name="Freeform 1097"/>
              <p:cNvSpPr>
                <a:spLocks/>
              </p:cNvSpPr>
              <p:nvPr/>
            </p:nvSpPr>
            <p:spPr bwMode="auto">
              <a:xfrm>
                <a:off x="4627"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79" name="Freeform 1098"/>
              <p:cNvSpPr>
                <a:spLocks/>
              </p:cNvSpPr>
              <p:nvPr/>
            </p:nvSpPr>
            <p:spPr bwMode="auto">
              <a:xfrm>
                <a:off x="4631"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80" name="Freeform 1099"/>
              <p:cNvSpPr>
                <a:spLocks/>
              </p:cNvSpPr>
              <p:nvPr/>
            </p:nvSpPr>
            <p:spPr bwMode="auto">
              <a:xfrm>
                <a:off x="1335"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1" name="Freeform 1100"/>
              <p:cNvSpPr>
                <a:spLocks/>
              </p:cNvSpPr>
              <p:nvPr/>
            </p:nvSpPr>
            <p:spPr bwMode="auto">
              <a:xfrm>
                <a:off x="1342"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2" name="Freeform 1101"/>
              <p:cNvSpPr>
                <a:spLocks/>
              </p:cNvSpPr>
              <p:nvPr/>
            </p:nvSpPr>
            <p:spPr bwMode="auto">
              <a:xfrm>
                <a:off x="1349"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3" name="Freeform 1102"/>
              <p:cNvSpPr>
                <a:spLocks/>
              </p:cNvSpPr>
              <p:nvPr/>
            </p:nvSpPr>
            <p:spPr bwMode="auto">
              <a:xfrm>
                <a:off x="1608"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84" name="Freeform 1103"/>
              <p:cNvSpPr>
                <a:spLocks/>
              </p:cNvSpPr>
              <p:nvPr/>
            </p:nvSpPr>
            <p:spPr bwMode="auto">
              <a:xfrm>
                <a:off x="2409" y="1856"/>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85" name="Freeform 1104"/>
              <p:cNvSpPr>
                <a:spLocks/>
              </p:cNvSpPr>
              <p:nvPr/>
            </p:nvSpPr>
            <p:spPr bwMode="auto">
              <a:xfrm>
                <a:off x="2412" y="1856"/>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6" name="Freeform 1105"/>
              <p:cNvSpPr>
                <a:spLocks/>
              </p:cNvSpPr>
              <p:nvPr/>
            </p:nvSpPr>
            <p:spPr bwMode="auto">
              <a:xfrm>
                <a:off x="2472" y="1856"/>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87" name="Freeform 1106"/>
              <p:cNvSpPr>
                <a:spLocks/>
              </p:cNvSpPr>
              <p:nvPr/>
            </p:nvSpPr>
            <p:spPr bwMode="auto">
              <a:xfrm>
                <a:off x="2550"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8" name="Freeform 1107"/>
              <p:cNvSpPr>
                <a:spLocks/>
              </p:cNvSpPr>
              <p:nvPr/>
            </p:nvSpPr>
            <p:spPr bwMode="auto">
              <a:xfrm>
                <a:off x="2561"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89" name="Freeform 1108"/>
              <p:cNvSpPr>
                <a:spLocks/>
              </p:cNvSpPr>
              <p:nvPr/>
            </p:nvSpPr>
            <p:spPr bwMode="auto">
              <a:xfrm>
                <a:off x="2566"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0" name="Freeform 1109"/>
              <p:cNvSpPr>
                <a:spLocks/>
              </p:cNvSpPr>
              <p:nvPr/>
            </p:nvSpPr>
            <p:spPr bwMode="auto">
              <a:xfrm>
                <a:off x="2573"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1" name="Freeform 1110"/>
              <p:cNvSpPr>
                <a:spLocks/>
              </p:cNvSpPr>
              <p:nvPr/>
            </p:nvSpPr>
            <p:spPr bwMode="auto">
              <a:xfrm>
                <a:off x="2601" y="1856"/>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2" name="Freeform 1111"/>
              <p:cNvSpPr>
                <a:spLocks/>
              </p:cNvSpPr>
              <p:nvPr/>
            </p:nvSpPr>
            <p:spPr bwMode="auto">
              <a:xfrm>
                <a:off x="2616"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93" name="Freeform 1112"/>
              <p:cNvSpPr>
                <a:spLocks/>
              </p:cNvSpPr>
              <p:nvPr/>
            </p:nvSpPr>
            <p:spPr bwMode="auto">
              <a:xfrm>
                <a:off x="3215"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94" name="Freeform 1113"/>
              <p:cNvSpPr>
                <a:spLocks/>
              </p:cNvSpPr>
              <p:nvPr/>
            </p:nvSpPr>
            <p:spPr bwMode="auto">
              <a:xfrm>
                <a:off x="3226"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5" name="Freeform 1114"/>
              <p:cNvSpPr>
                <a:spLocks/>
              </p:cNvSpPr>
              <p:nvPr/>
            </p:nvSpPr>
            <p:spPr bwMode="auto">
              <a:xfrm>
                <a:off x="3238"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6" name="Freeform 1115"/>
              <p:cNvSpPr>
                <a:spLocks/>
              </p:cNvSpPr>
              <p:nvPr/>
            </p:nvSpPr>
            <p:spPr bwMode="auto">
              <a:xfrm>
                <a:off x="3294" y="1856"/>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7" name="Freeform 1116"/>
              <p:cNvSpPr>
                <a:spLocks/>
              </p:cNvSpPr>
              <p:nvPr/>
            </p:nvSpPr>
            <p:spPr bwMode="auto">
              <a:xfrm>
                <a:off x="3297"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98" name="Freeform 1117"/>
              <p:cNvSpPr>
                <a:spLocks/>
              </p:cNvSpPr>
              <p:nvPr/>
            </p:nvSpPr>
            <p:spPr bwMode="auto">
              <a:xfrm>
                <a:off x="3315"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99" name="Freeform 1118"/>
              <p:cNvSpPr>
                <a:spLocks/>
              </p:cNvSpPr>
              <p:nvPr/>
            </p:nvSpPr>
            <p:spPr bwMode="auto">
              <a:xfrm>
                <a:off x="3318"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0" name="Freeform 1119"/>
              <p:cNvSpPr>
                <a:spLocks/>
              </p:cNvSpPr>
              <p:nvPr/>
            </p:nvSpPr>
            <p:spPr bwMode="auto">
              <a:xfrm>
                <a:off x="3344"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1" name="Freeform 1120"/>
              <p:cNvSpPr>
                <a:spLocks/>
              </p:cNvSpPr>
              <p:nvPr/>
            </p:nvSpPr>
            <p:spPr bwMode="auto">
              <a:xfrm>
                <a:off x="3388"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02" name="Freeform 1121"/>
              <p:cNvSpPr>
                <a:spLocks/>
              </p:cNvSpPr>
              <p:nvPr/>
            </p:nvSpPr>
            <p:spPr bwMode="auto">
              <a:xfrm>
                <a:off x="3529"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3" name="Freeform 1122"/>
              <p:cNvSpPr>
                <a:spLocks/>
              </p:cNvSpPr>
              <p:nvPr/>
            </p:nvSpPr>
            <p:spPr bwMode="auto">
              <a:xfrm>
                <a:off x="3536"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4" name="Freeform 1123"/>
              <p:cNvSpPr>
                <a:spLocks/>
              </p:cNvSpPr>
              <p:nvPr/>
            </p:nvSpPr>
            <p:spPr bwMode="auto">
              <a:xfrm>
                <a:off x="3543" y="1856"/>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5" name="Freeform 1124"/>
              <p:cNvSpPr>
                <a:spLocks/>
              </p:cNvSpPr>
              <p:nvPr/>
            </p:nvSpPr>
            <p:spPr bwMode="auto">
              <a:xfrm>
                <a:off x="4329" y="1856"/>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06" name="Freeform 1125"/>
              <p:cNvSpPr>
                <a:spLocks/>
              </p:cNvSpPr>
              <p:nvPr/>
            </p:nvSpPr>
            <p:spPr bwMode="auto">
              <a:xfrm>
                <a:off x="4435"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7" name="Freeform 1126"/>
              <p:cNvSpPr>
                <a:spLocks/>
              </p:cNvSpPr>
              <p:nvPr/>
            </p:nvSpPr>
            <p:spPr bwMode="auto">
              <a:xfrm>
                <a:off x="4449" y="1856"/>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8" name="Freeform 1127"/>
              <p:cNvSpPr>
                <a:spLocks/>
              </p:cNvSpPr>
              <p:nvPr/>
            </p:nvSpPr>
            <p:spPr bwMode="auto">
              <a:xfrm>
                <a:off x="4566"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09" name="Freeform 1128"/>
              <p:cNvSpPr>
                <a:spLocks/>
              </p:cNvSpPr>
              <p:nvPr/>
            </p:nvSpPr>
            <p:spPr bwMode="auto">
              <a:xfrm>
                <a:off x="4624"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0" name="Freeform 1129"/>
              <p:cNvSpPr>
                <a:spLocks/>
              </p:cNvSpPr>
              <p:nvPr/>
            </p:nvSpPr>
            <p:spPr bwMode="auto">
              <a:xfrm>
                <a:off x="4823"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1" name="Freeform 1130"/>
              <p:cNvSpPr>
                <a:spLocks/>
              </p:cNvSpPr>
              <p:nvPr/>
            </p:nvSpPr>
            <p:spPr bwMode="auto">
              <a:xfrm>
                <a:off x="4825" y="1856"/>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2" name="Freeform 1131"/>
              <p:cNvSpPr>
                <a:spLocks/>
              </p:cNvSpPr>
              <p:nvPr/>
            </p:nvSpPr>
            <p:spPr bwMode="auto">
              <a:xfrm>
                <a:off x="4884" y="1856"/>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3" name="Freeform 1132"/>
              <p:cNvSpPr>
                <a:spLocks/>
              </p:cNvSpPr>
              <p:nvPr/>
            </p:nvSpPr>
            <p:spPr bwMode="auto">
              <a:xfrm>
                <a:off x="4889"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14" name="Freeform 1133"/>
              <p:cNvSpPr>
                <a:spLocks/>
              </p:cNvSpPr>
              <p:nvPr/>
            </p:nvSpPr>
            <p:spPr bwMode="auto">
              <a:xfrm>
                <a:off x="1028"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15" name="Freeform 1134"/>
              <p:cNvSpPr>
                <a:spLocks/>
              </p:cNvSpPr>
              <p:nvPr/>
            </p:nvSpPr>
            <p:spPr bwMode="auto">
              <a:xfrm>
                <a:off x="1304"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6" name="Freeform 1135"/>
              <p:cNvSpPr>
                <a:spLocks/>
              </p:cNvSpPr>
              <p:nvPr/>
            </p:nvSpPr>
            <p:spPr bwMode="auto">
              <a:xfrm>
                <a:off x="1318" y="1818"/>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17" name="Freeform 1136"/>
              <p:cNvSpPr>
                <a:spLocks/>
              </p:cNvSpPr>
              <p:nvPr/>
            </p:nvSpPr>
            <p:spPr bwMode="auto">
              <a:xfrm>
                <a:off x="1323"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18" name="Freeform 1137"/>
              <p:cNvSpPr>
                <a:spLocks/>
              </p:cNvSpPr>
              <p:nvPr/>
            </p:nvSpPr>
            <p:spPr bwMode="auto">
              <a:xfrm>
                <a:off x="1332" y="1818"/>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9" name="Freeform 1138"/>
              <p:cNvSpPr>
                <a:spLocks/>
              </p:cNvSpPr>
              <p:nvPr/>
            </p:nvSpPr>
            <p:spPr bwMode="auto">
              <a:xfrm>
                <a:off x="1353" y="1818"/>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20" name="Freeform 1139"/>
              <p:cNvSpPr>
                <a:spLocks/>
              </p:cNvSpPr>
              <p:nvPr/>
            </p:nvSpPr>
            <p:spPr bwMode="auto">
              <a:xfrm>
                <a:off x="1358"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21" name="Freeform 1140"/>
              <p:cNvSpPr>
                <a:spLocks/>
              </p:cNvSpPr>
              <p:nvPr/>
            </p:nvSpPr>
            <p:spPr bwMode="auto">
              <a:xfrm>
                <a:off x="1375"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22" name="Freeform 1141"/>
              <p:cNvSpPr>
                <a:spLocks/>
              </p:cNvSpPr>
              <p:nvPr/>
            </p:nvSpPr>
            <p:spPr bwMode="auto">
              <a:xfrm>
                <a:off x="1548"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23" name="Freeform 1142"/>
              <p:cNvSpPr>
                <a:spLocks/>
              </p:cNvSpPr>
              <p:nvPr/>
            </p:nvSpPr>
            <p:spPr bwMode="auto">
              <a:xfrm>
                <a:off x="1552" y="1818"/>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24" name="Freeform 1143"/>
              <p:cNvSpPr>
                <a:spLocks/>
              </p:cNvSpPr>
              <p:nvPr/>
            </p:nvSpPr>
            <p:spPr bwMode="auto">
              <a:xfrm>
                <a:off x="1557"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25" name="Freeform 1144"/>
              <p:cNvSpPr>
                <a:spLocks/>
              </p:cNvSpPr>
              <p:nvPr/>
            </p:nvSpPr>
            <p:spPr bwMode="auto">
              <a:xfrm>
                <a:off x="1560" y="181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26" name="Freeform 1145"/>
              <p:cNvSpPr>
                <a:spLocks/>
              </p:cNvSpPr>
              <p:nvPr/>
            </p:nvSpPr>
            <p:spPr bwMode="auto">
              <a:xfrm>
                <a:off x="1564"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27" name="Freeform 1146"/>
              <p:cNvSpPr>
                <a:spLocks/>
              </p:cNvSpPr>
              <p:nvPr/>
            </p:nvSpPr>
            <p:spPr bwMode="auto">
              <a:xfrm>
                <a:off x="1576" y="181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28" name="Freeform 1147"/>
              <p:cNvSpPr>
                <a:spLocks/>
              </p:cNvSpPr>
              <p:nvPr/>
            </p:nvSpPr>
            <p:spPr bwMode="auto">
              <a:xfrm>
                <a:off x="1588"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29" name="Freeform 1148"/>
              <p:cNvSpPr>
                <a:spLocks/>
              </p:cNvSpPr>
              <p:nvPr/>
            </p:nvSpPr>
            <p:spPr bwMode="auto">
              <a:xfrm>
                <a:off x="1613"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30" name="Freeform 1149"/>
              <p:cNvSpPr>
                <a:spLocks/>
              </p:cNvSpPr>
              <p:nvPr/>
            </p:nvSpPr>
            <p:spPr bwMode="auto">
              <a:xfrm>
                <a:off x="1711" y="1818"/>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31" name="Freeform 1150"/>
              <p:cNvSpPr>
                <a:spLocks/>
              </p:cNvSpPr>
              <p:nvPr/>
            </p:nvSpPr>
            <p:spPr bwMode="auto">
              <a:xfrm>
                <a:off x="1775"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32" name="Freeform 1151"/>
              <p:cNvSpPr>
                <a:spLocks/>
              </p:cNvSpPr>
              <p:nvPr/>
            </p:nvSpPr>
            <p:spPr bwMode="auto">
              <a:xfrm>
                <a:off x="2363"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33" name="Freeform 1152"/>
              <p:cNvSpPr>
                <a:spLocks/>
              </p:cNvSpPr>
              <p:nvPr/>
            </p:nvSpPr>
            <p:spPr bwMode="auto">
              <a:xfrm>
                <a:off x="2533"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34" name="Freeform 1153"/>
              <p:cNvSpPr>
                <a:spLocks/>
              </p:cNvSpPr>
              <p:nvPr/>
            </p:nvSpPr>
            <p:spPr bwMode="auto">
              <a:xfrm>
                <a:off x="2538"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35" name="Freeform 1154"/>
              <p:cNvSpPr>
                <a:spLocks/>
              </p:cNvSpPr>
              <p:nvPr/>
            </p:nvSpPr>
            <p:spPr bwMode="auto">
              <a:xfrm>
                <a:off x="2541" y="181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36" name="Freeform 1155"/>
              <p:cNvSpPr>
                <a:spLocks/>
              </p:cNvSpPr>
              <p:nvPr/>
            </p:nvSpPr>
            <p:spPr bwMode="auto">
              <a:xfrm>
                <a:off x="2545"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37" name="Freeform 1156"/>
              <p:cNvSpPr>
                <a:spLocks/>
              </p:cNvSpPr>
              <p:nvPr/>
            </p:nvSpPr>
            <p:spPr bwMode="auto">
              <a:xfrm>
                <a:off x="2615"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38" name="Freeform 1157"/>
              <p:cNvSpPr>
                <a:spLocks/>
              </p:cNvSpPr>
              <p:nvPr/>
            </p:nvSpPr>
            <p:spPr bwMode="auto">
              <a:xfrm>
                <a:off x="2623"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39" name="Freeform 1158"/>
              <p:cNvSpPr>
                <a:spLocks/>
              </p:cNvSpPr>
              <p:nvPr/>
            </p:nvSpPr>
            <p:spPr bwMode="auto">
              <a:xfrm>
                <a:off x="2629"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0" name="Freeform 1159"/>
              <p:cNvSpPr>
                <a:spLocks/>
              </p:cNvSpPr>
              <p:nvPr/>
            </p:nvSpPr>
            <p:spPr bwMode="auto">
              <a:xfrm>
                <a:off x="2636"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1" name="Freeform 1160"/>
              <p:cNvSpPr>
                <a:spLocks/>
              </p:cNvSpPr>
              <p:nvPr/>
            </p:nvSpPr>
            <p:spPr bwMode="auto">
              <a:xfrm>
                <a:off x="2887"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42" name="Freeform 1161"/>
              <p:cNvSpPr>
                <a:spLocks/>
              </p:cNvSpPr>
              <p:nvPr/>
            </p:nvSpPr>
            <p:spPr bwMode="auto">
              <a:xfrm>
                <a:off x="2978"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3" name="Freeform 1162"/>
              <p:cNvSpPr>
                <a:spLocks/>
              </p:cNvSpPr>
              <p:nvPr/>
            </p:nvSpPr>
            <p:spPr bwMode="auto">
              <a:xfrm>
                <a:off x="2992" y="1818"/>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44" name="Freeform 1163"/>
              <p:cNvSpPr>
                <a:spLocks/>
              </p:cNvSpPr>
              <p:nvPr/>
            </p:nvSpPr>
            <p:spPr bwMode="auto">
              <a:xfrm>
                <a:off x="2997"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45" name="Freeform 1164"/>
              <p:cNvSpPr>
                <a:spLocks/>
              </p:cNvSpPr>
              <p:nvPr/>
            </p:nvSpPr>
            <p:spPr bwMode="auto">
              <a:xfrm>
                <a:off x="3013"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6" name="Freeform 1165"/>
              <p:cNvSpPr>
                <a:spLocks/>
              </p:cNvSpPr>
              <p:nvPr/>
            </p:nvSpPr>
            <p:spPr bwMode="auto">
              <a:xfrm>
                <a:off x="3018"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47" name="Freeform 1166"/>
              <p:cNvSpPr>
                <a:spLocks/>
              </p:cNvSpPr>
              <p:nvPr/>
            </p:nvSpPr>
            <p:spPr bwMode="auto">
              <a:xfrm>
                <a:off x="3182"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48" name="Freeform 1167"/>
              <p:cNvSpPr>
                <a:spLocks/>
              </p:cNvSpPr>
              <p:nvPr/>
            </p:nvSpPr>
            <p:spPr bwMode="auto">
              <a:xfrm>
                <a:off x="3193" y="1818"/>
                <a:ext cx="10" cy="8"/>
              </a:xfrm>
              <a:custGeom>
                <a:avLst/>
                <a:gdLst>
                  <a:gd name="T0" fmla="*/ 1 w 10"/>
                  <a:gd name="T1" fmla="*/ 0 h 8"/>
                  <a:gd name="T2" fmla="*/ 6 w 10"/>
                  <a:gd name="T3" fmla="*/ 0 h 8"/>
                  <a:gd name="T4" fmla="*/ 10 w 10"/>
                  <a:gd name="T5" fmla="*/ 3 h 8"/>
                  <a:gd name="T6" fmla="*/ 10 w 10"/>
                  <a:gd name="T7" fmla="*/ 5 h 8"/>
                  <a:gd name="T8" fmla="*/ 6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6" y="0"/>
                    </a:lnTo>
                    <a:lnTo>
                      <a:pt x="10" y="3"/>
                    </a:lnTo>
                    <a:lnTo>
                      <a:pt x="10" y="5"/>
                    </a:lnTo>
                    <a:lnTo>
                      <a:pt x="6"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49" name="Freeform 1168"/>
              <p:cNvSpPr>
                <a:spLocks/>
              </p:cNvSpPr>
              <p:nvPr/>
            </p:nvSpPr>
            <p:spPr bwMode="auto">
              <a:xfrm>
                <a:off x="3222"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50" name="Freeform 1169"/>
              <p:cNvSpPr>
                <a:spLocks/>
              </p:cNvSpPr>
              <p:nvPr/>
            </p:nvSpPr>
            <p:spPr bwMode="auto">
              <a:xfrm>
                <a:off x="3229"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51" name="Freeform 1170"/>
              <p:cNvSpPr>
                <a:spLocks/>
              </p:cNvSpPr>
              <p:nvPr/>
            </p:nvSpPr>
            <p:spPr bwMode="auto">
              <a:xfrm>
                <a:off x="3238" y="1818"/>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52" name="Freeform 1171"/>
              <p:cNvSpPr>
                <a:spLocks/>
              </p:cNvSpPr>
              <p:nvPr/>
            </p:nvSpPr>
            <p:spPr bwMode="auto">
              <a:xfrm>
                <a:off x="3278"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53" name="Freeform 1172"/>
              <p:cNvSpPr>
                <a:spLocks/>
              </p:cNvSpPr>
              <p:nvPr/>
            </p:nvSpPr>
            <p:spPr bwMode="auto">
              <a:xfrm>
                <a:off x="3282" y="1818"/>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54" name="Freeform 1173"/>
              <p:cNvSpPr>
                <a:spLocks/>
              </p:cNvSpPr>
              <p:nvPr/>
            </p:nvSpPr>
            <p:spPr bwMode="auto">
              <a:xfrm>
                <a:off x="3552"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55" name="Freeform 1174"/>
              <p:cNvSpPr>
                <a:spLocks/>
              </p:cNvSpPr>
              <p:nvPr/>
            </p:nvSpPr>
            <p:spPr bwMode="auto">
              <a:xfrm>
                <a:off x="3582"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56" name="Freeform 1175"/>
              <p:cNvSpPr>
                <a:spLocks/>
              </p:cNvSpPr>
              <p:nvPr/>
            </p:nvSpPr>
            <p:spPr bwMode="auto">
              <a:xfrm>
                <a:off x="4207"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57" name="Freeform 1176"/>
              <p:cNvSpPr>
                <a:spLocks/>
              </p:cNvSpPr>
              <p:nvPr/>
            </p:nvSpPr>
            <p:spPr bwMode="auto">
              <a:xfrm>
                <a:off x="4208"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58" name="Freeform 1177"/>
              <p:cNvSpPr>
                <a:spLocks/>
              </p:cNvSpPr>
              <p:nvPr/>
            </p:nvSpPr>
            <p:spPr bwMode="auto">
              <a:xfrm>
                <a:off x="4224"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59" name="Freeform 1178"/>
              <p:cNvSpPr>
                <a:spLocks/>
              </p:cNvSpPr>
              <p:nvPr/>
            </p:nvSpPr>
            <p:spPr bwMode="auto">
              <a:xfrm>
                <a:off x="4297"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60" name="Freeform 1179"/>
              <p:cNvSpPr>
                <a:spLocks/>
              </p:cNvSpPr>
              <p:nvPr/>
            </p:nvSpPr>
            <p:spPr bwMode="auto">
              <a:xfrm>
                <a:off x="4379" y="181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61" name="Freeform 1180"/>
              <p:cNvSpPr>
                <a:spLocks/>
              </p:cNvSpPr>
              <p:nvPr/>
            </p:nvSpPr>
            <p:spPr bwMode="auto">
              <a:xfrm>
                <a:off x="4441"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62" name="Freeform 1181"/>
              <p:cNvSpPr>
                <a:spLocks/>
              </p:cNvSpPr>
              <p:nvPr/>
            </p:nvSpPr>
            <p:spPr bwMode="auto">
              <a:xfrm>
                <a:off x="4448"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63" name="Freeform 1182"/>
              <p:cNvSpPr>
                <a:spLocks/>
              </p:cNvSpPr>
              <p:nvPr/>
            </p:nvSpPr>
            <p:spPr bwMode="auto">
              <a:xfrm>
                <a:off x="4451" y="1818"/>
                <a:ext cx="10" cy="8"/>
              </a:xfrm>
              <a:custGeom>
                <a:avLst/>
                <a:gdLst>
                  <a:gd name="T0" fmla="*/ 4 w 10"/>
                  <a:gd name="T1" fmla="*/ 0 h 8"/>
                  <a:gd name="T2" fmla="*/ 9 w 10"/>
                  <a:gd name="T3" fmla="*/ 0 h 8"/>
                  <a:gd name="T4" fmla="*/ 10 w 10"/>
                  <a:gd name="T5" fmla="*/ 1 h 8"/>
                  <a:gd name="T6" fmla="*/ 10 w 10"/>
                  <a:gd name="T7" fmla="*/ 7 h 8"/>
                  <a:gd name="T8" fmla="*/ 9 w 10"/>
                  <a:gd name="T9" fmla="*/ 8 h 8"/>
                  <a:gd name="T10" fmla="*/ 4 w 10"/>
                  <a:gd name="T11" fmla="*/ 8 h 8"/>
                  <a:gd name="T12" fmla="*/ 0 w 10"/>
                  <a:gd name="T13" fmla="*/ 5 h 8"/>
                  <a:gd name="T14" fmla="*/ 0 w 10"/>
                  <a:gd name="T15" fmla="*/ 3 h 8"/>
                  <a:gd name="T16" fmla="*/ 4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0"/>
                    </a:moveTo>
                    <a:lnTo>
                      <a:pt x="9" y="0"/>
                    </a:lnTo>
                    <a:lnTo>
                      <a:pt x="10" y="1"/>
                    </a:lnTo>
                    <a:lnTo>
                      <a:pt x="10"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64" name="Freeform 1183"/>
              <p:cNvSpPr>
                <a:spLocks/>
              </p:cNvSpPr>
              <p:nvPr/>
            </p:nvSpPr>
            <p:spPr bwMode="auto">
              <a:xfrm>
                <a:off x="4512"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65" name="Freeform 1184"/>
              <p:cNvSpPr>
                <a:spLocks/>
              </p:cNvSpPr>
              <p:nvPr/>
            </p:nvSpPr>
            <p:spPr bwMode="auto">
              <a:xfrm>
                <a:off x="1569" y="177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66" name="Freeform 1185"/>
              <p:cNvSpPr>
                <a:spLocks/>
              </p:cNvSpPr>
              <p:nvPr/>
            </p:nvSpPr>
            <p:spPr bwMode="auto">
              <a:xfrm>
                <a:off x="1573" y="177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67" name="Freeform 1186"/>
              <p:cNvSpPr>
                <a:spLocks/>
              </p:cNvSpPr>
              <p:nvPr/>
            </p:nvSpPr>
            <p:spPr bwMode="auto">
              <a:xfrm>
                <a:off x="1574" y="177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68" name="Freeform 1187"/>
              <p:cNvSpPr>
                <a:spLocks/>
              </p:cNvSpPr>
              <p:nvPr/>
            </p:nvSpPr>
            <p:spPr bwMode="auto">
              <a:xfrm>
                <a:off x="1580"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69" name="Freeform 1188"/>
              <p:cNvSpPr>
                <a:spLocks/>
              </p:cNvSpPr>
              <p:nvPr/>
            </p:nvSpPr>
            <p:spPr bwMode="auto">
              <a:xfrm>
                <a:off x="2419" y="177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70" name="Freeform 1189"/>
              <p:cNvSpPr>
                <a:spLocks/>
              </p:cNvSpPr>
              <p:nvPr/>
            </p:nvSpPr>
            <p:spPr bwMode="auto">
              <a:xfrm>
                <a:off x="2520" y="177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71" name="Freeform 1190"/>
              <p:cNvSpPr>
                <a:spLocks/>
              </p:cNvSpPr>
              <p:nvPr/>
            </p:nvSpPr>
            <p:spPr bwMode="auto">
              <a:xfrm>
                <a:off x="2526"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72" name="Freeform 1191"/>
              <p:cNvSpPr>
                <a:spLocks/>
              </p:cNvSpPr>
              <p:nvPr/>
            </p:nvSpPr>
            <p:spPr bwMode="auto">
              <a:xfrm>
                <a:off x="2534" y="177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73" name="Freeform 1192"/>
              <p:cNvSpPr>
                <a:spLocks/>
              </p:cNvSpPr>
              <p:nvPr/>
            </p:nvSpPr>
            <p:spPr bwMode="auto">
              <a:xfrm>
                <a:off x="2545"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74" name="Freeform 1193"/>
              <p:cNvSpPr>
                <a:spLocks/>
              </p:cNvSpPr>
              <p:nvPr/>
            </p:nvSpPr>
            <p:spPr bwMode="auto">
              <a:xfrm>
                <a:off x="2575" y="1778"/>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75" name="Freeform 1194"/>
              <p:cNvSpPr>
                <a:spLocks/>
              </p:cNvSpPr>
              <p:nvPr/>
            </p:nvSpPr>
            <p:spPr bwMode="auto">
              <a:xfrm>
                <a:off x="2582"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76" name="Freeform 1195"/>
              <p:cNvSpPr>
                <a:spLocks/>
              </p:cNvSpPr>
              <p:nvPr/>
            </p:nvSpPr>
            <p:spPr bwMode="auto">
              <a:xfrm>
                <a:off x="2589"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77" name="Freeform 1196"/>
              <p:cNvSpPr>
                <a:spLocks/>
              </p:cNvSpPr>
              <p:nvPr/>
            </p:nvSpPr>
            <p:spPr bwMode="auto">
              <a:xfrm>
                <a:off x="2597" y="177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78" name="Freeform 1197"/>
              <p:cNvSpPr>
                <a:spLocks/>
              </p:cNvSpPr>
              <p:nvPr/>
            </p:nvSpPr>
            <p:spPr bwMode="auto">
              <a:xfrm>
                <a:off x="3262" y="177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79" name="Freeform 1198"/>
              <p:cNvSpPr>
                <a:spLocks/>
              </p:cNvSpPr>
              <p:nvPr/>
            </p:nvSpPr>
            <p:spPr bwMode="auto">
              <a:xfrm>
                <a:off x="3287" y="1778"/>
                <a:ext cx="8" cy="8"/>
              </a:xfrm>
              <a:custGeom>
                <a:avLst/>
                <a:gdLst>
                  <a:gd name="T0" fmla="*/ 2 w 8"/>
                  <a:gd name="T1" fmla="*/ 0 h 8"/>
                  <a:gd name="T2" fmla="*/ 5 w 8"/>
                  <a:gd name="T3" fmla="*/ 0 h 8"/>
                  <a:gd name="T4" fmla="*/ 8 w 8"/>
                  <a:gd name="T5" fmla="*/ 3 h 8"/>
                  <a:gd name="T6" fmla="*/ 8 w 8"/>
                  <a:gd name="T7" fmla="*/ 7 h 8"/>
                  <a:gd name="T8" fmla="*/ 7 w 8"/>
                  <a:gd name="T9" fmla="*/ 8 h 8"/>
                  <a:gd name="T10" fmla="*/ 2 w 8"/>
                  <a:gd name="T11" fmla="*/ 8 h 8"/>
                  <a:gd name="T12" fmla="*/ 0 w 8"/>
                  <a:gd name="T13" fmla="*/ 7 h 8"/>
                  <a:gd name="T14" fmla="*/ 0 w 8"/>
                  <a:gd name="T15" fmla="*/ 1 h 8"/>
                  <a:gd name="T16" fmla="*/ 2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2" y="0"/>
                    </a:moveTo>
                    <a:lnTo>
                      <a:pt x="5" y="0"/>
                    </a:lnTo>
                    <a:lnTo>
                      <a:pt x="8" y="3"/>
                    </a:lnTo>
                    <a:lnTo>
                      <a:pt x="8"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80" name="Freeform 1199"/>
              <p:cNvSpPr>
                <a:spLocks/>
              </p:cNvSpPr>
              <p:nvPr/>
            </p:nvSpPr>
            <p:spPr bwMode="auto">
              <a:xfrm>
                <a:off x="3290" y="177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81" name="Freeform 1200"/>
              <p:cNvSpPr>
                <a:spLocks/>
              </p:cNvSpPr>
              <p:nvPr/>
            </p:nvSpPr>
            <p:spPr bwMode="auto">
              <a:xfrm>
                <a:off x="3294"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2" name="Freeform 1201"/>
              <p:cNvSpPr>
                <a:spLocks/>
              </p:cNvSpPr>
              <p:nvPr/>
            </p:nvSpPr>
            <p:spPr bwMode="auto">
              <a:xfrm>
                <a:off x="3304" y="177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83" name="Freeform 1202"/>
              <p:cNvSpPr>
                <a:spLocks/>
              </p:cNvSpPr>
              <p:nvPr/>
            </p:nvSpPr>
            <p:spPr bwMode="auto">
              <a:xfrm>
                <a:off x="3306"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4" name="Freeform 1203"/>
              <p:cNvSpPr>
                <a:spLocks/>
              </p:cNvSpPr>
              <p:nvPr/>
            </p:nvSpPr>
            <p:spPr bwMode="auto">
              <a:xfrm>
                <a:off x="3535" y="177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85" name="Freeform 1204"/>
              <p:cNvSpPr>
                <a:spLocks/>
              </p:cNvSpPr>
              <p:nvPr/>
            </p:nvSpPr>
            <p:spPr bwMode="auto">
              <a:xfrm>
                <a:off x="3563" y="1778"/>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6" name="Freeform 1205"/>
              <p:cNvSpPr>
                <a:spLocks/>
              </p:cNvSpPr>
              <p:nvPr/>
            </p:nvSpPr>
            <p:spPr bwMode="auto">
              <a:xfrm>
                <a:off x="4205" y="1778"/>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7" name="Freeform 1206"/>
              <p:cNvSpPr>
                <a:spLocks/>
              </p:cNvSpPr>
              <p:nvPr/>
            </p:nvSpPr>
            <p:spPr bwMode="auto">
              <a:xfrm>
                <a:off x="4219"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88" name="Freeform 1207"/>
              <p:cNvSpPr>
                <a:spLocks/>
              </p:cNvSpPr>
              <p:nvPr/>
            </p:nvSpPr>
            <p:spPr bwMode="auto">
              <a:xfrm>
                <a:off x="4278" y="177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89" name="Freeform 1208"/>
              <p:cNvSpPr>
                <a:spLocks/>
              </p:cNvSpPr>
              <p:nvPr/>
            </p:nvSpPr>
            <p:spPr bwMode="auto">
              <a:xfrm>
                <a:off x="4411"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90" name="Freeform 1209"/>
              <p:cNvSpPr>
                <a:spLocks/>
              </p:cNvSpPr>
              <p:nvPr/>
            </p:nvSpPr>
            <p:spPr bwMode="auto">
              <a:xfrm>
                <a:off x="1583"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8" name="Group 1411"/>
            <p:cNvGrpSpPr>
              <a:grpSpLocks/>
            </p:cNvGrpSpPr>
            <p:nvPr/>
          </p:nvGrpSpPr>
          <p:grpSpPr bwMode="auto">
            <a:xfrm>
              <a:off x="1695455" y="2505159"/>
              <a:ext cx="6065857" cy="266709"/>
              <a:chOff x="1068" y="1578"/>
              <a:chExt cx="3821" cy="168"/>
            </a:xfrm>
          </p:grpSpPr>
          <p:sp>
            <p:nvSpPr>
              <p:cNvPr id="1491" name="Freeform 1211"/>
              <p:cNvSpPr>
                <a:spLocks/>
              </p:cNvSpPr>
              <p:nvPr/>
            </p:nvSpPr>
            <p:spPr bwMode="auto">
              <a:xfrm>
                <a:off x="1587" y="1737"/>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92" name="Freeform 1212"/>
              <p:cNvSpPr>
                <a:spLocks/>
              </p:cNvSpPr>
              <p:nvPr/>
            </p:nvSpPr>
            <p:spPr bwMode="auto">
              <a:xfrm>
                <a:off x="1728" y="173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3" name="Freeform 1213"/>
              <p:cNvSpPr>
                <a:spLocks/>
              </p:cNvSpPr>
              <p:nvPr/>
            </p:nvSpPr>
            <p:spPr bwMode="auto">
              <a:xfrm>
                <a:off x="2393" y="173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4" name="Freeform 1214"/>
              <p:cNvSpPr>
                <a:spLocks/>
              </p:cNvSpPr>
              <p:nvPr/>
            </p:nvSpPr>
            <p:spPr bwMode="auto">
              <a:xfrm>
                <a:off x="2508"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95" name="Freeform 1215"/>
              <p:cNvSpPr>
                <a:spLocks/>
              </p:cNvSpPr>
              <p:nvPr/>
            </p:nvSpPr>
            <p:spPr bwMode="auto">
              <a:xfrm>
                <a:off x="2510"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96" name="Freeform 1216"/>
              <p:cNvSpPr>
                <a:spLocks/>
              </p:cNvSpPr>
              <p:nvPr/>
            </p:nvSpPr>
            <p:spPr bwMode="auto">
              <a:xfrm>
                <a:off x="2515"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97" name="Freeform 1217"/>
              <p:cNvSpPr>
                <a:spLocks/>
              </p:cNvSpPr>
              <p:nvPr/>
            </p:nvSpPr>
            <p:spPr bwMode="auto">
              <a:xfrm>
                <a:off x="2519" y="1737"/>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98" name="Freeform 1218"/>
              <p:cNvSpPr>
                <a:spLocks/>
              </p:cNvSpPr>
              <p:nvPr/>
            </p:nvSpPr>
            <p:spPr bwMode="auto">
              <a:xfrm>
                <a:off x="2533" y="1737"/>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99" name="Freeform 1219"/>
              <p:cNvSpPr>
                <a:spLocks/>
              </p:cNvSpPr>
              <p:nvPr/>
            </p:nvSpPr>
            <p:spPr bwMode="auto">
              <a:xfrm>
                <a:off x="2534"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0" name="Freeform 1220"/>
              <p:cNvSpPr>
                <a:spLocks/>
              </p:cNvSpPr>
              <p:nvPr/>
            </p:nvSpPr>
            <p:spPr bwMode="auto">
              <a:xfrm>
                <a:off x="2550"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1" name="Freeform 1221"/>
              <p:cNvSpPr>
                <a:spLocks/>
              </p:cNvSpPr>
              <p:nvPr/>
            </p:nvSpPr>
            <p:spPr bwMode="auto">
              <a:xfrm>
                <a:off x="2554" y="173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02" name="Freeform 1222"/>
              <p:cNvSpPr>
                <a:spLocks/>
              </p:cNvSpPr>
              <p:nvPr/>
            </p:nvSpPr>
            <p:spPr bwMode="auto">
              <a:xfrm>
                <a:off x="2557"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3" name="Freeform 1223"/>
              <p:cNvSpPr>
                <a:spLocks/>
              </p:cNvSpPr>
              <p:nvPr/>
            </p:nvSpPr>
            <p:spPr bwMode="auto">
              <a:xfrm>
                <a:off x="2561" y="173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04" name="Freeform 1224"/>
              <p:cNvSpPr>
                <a:spLocks/>
              </p:cNvSpPr>
              <p:nvPr/>
            </p:nvSpPr>
            <p:spPr bwMode="auto">
              <a:xfrm>
                <a:off x="2568" y="1737"/>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05" name="Freeform 1225"/>
              <p:cNvSpPr>
                <a:spLocks/>
              </p:cNvSpPr>
              <p:nvPr/>
            </p:nvSpPr>
            <p:spPr bwMode="auto">
              <a:xfrm>
                <a:off x="2569" y="173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06" name="Freeform 1226"/>
              <p:cNvSpPr>
                <a:spLocks/>
              </p:cNvSpPr>
              <p:nvPr/>
            </p:nvSpPr>
            <p:spPr bwMode="auto">
              <a:xfrm>
                <a:off x="2606"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7" name="Freeform 1227"/>
              <p:cNvSpPr>
                <a:spLocks/>
              </p:cNvSpPr>
              <p:nvPr/>
            </p:nvSpPr>
            <p:spPr bwMode="auto">
              <a:xfrm>
                <a:off x="3030"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8" name="Freeform 1228"/>
              <p:cNvSpPr>
                <a:spLocks/>
              </p:cNvSpPr>
              <p:nvPr/>
            </p:nvSpPr>
            <p:spPr bwMode="auto">
              <a:xfrm>
                <a:off x="3262"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9" name="Freeform 1229"/>
              <p:cNvSpPr>
                <a:spLocks/>
              </p:cNvSpPr>
              <p:nvPr/>
            </p:nvSpPr>
            <p:spPr bwMode="auto">
              <a:xfrm>
                <a:off x="3264"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0" name="Freeform 1230"/>
              <p:cNvSpPr>
                <a:spLocks/>
              </p:cNvSpPr>
              <p:nvPr/>
            </p:nvSpPr>
            <p:spPr bwMode="auto">
              <a:xfrm>
                <a:off x="3266" y="1737"/>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11" name="Freeform 1231"/>
              <p:cNvSpPr>
                <a:spLocks/>
              </p:cNvSpPr>
              <p:nvPr/>
            </p:nvSpPr>
            <p:spPr bwMode="auto">
              <a:xfrm>
                <a:off x="3278"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2" name="Freeform 1232"/>
              <p:cNvSpPr>
                <a:spLocks/>
              </p:cNvSpPr>
              <p:nvPr/>
            </p:nvSpPr>
            <p:spPr bwMode="auto">
              <a:xfrm>
                <a:off x="3282" y="1737"/>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13" name="Freeform 1233"/>
              <p:cNvSpPr>
                <a:spLocks/>
              </p:cNvSpPr>
              <p:nvPr/>
            </p:nvSpPr>
            <p:spPr bwMode="auto">
              <a:xfrm>
                <a:off x="3309"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4" name="Freeform 1234"/>
              <p:cNvSpPr>
                <a:spLocks/>
              </p:cNvSpPr>
              <p:nvPr/>
            </p:nvSpPr>
            <p:spPr bwMode="auto">
              <a:xfrm>
                <a:off x="3313" y="1737"/>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15" name="Freeform 1235"/>
              <p:cNvSpPr>
                <a:spLocks/>
              </p:cNvSpPr>
              <p:nvPr/>
            </p:nvSpPr>
            <p:spPr bwMode="auto">
              <a:xfrm>
                <a:off x="3498" y="1737"/>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6" name="Freeform 1236"/>
              <p:cNvSpPr>
                <a:spLocks/>
              </p:cNvSpPr>
              <p:nvPr/>
            </p:nvSpPr>
            <p:spPr bwMode="auto">
              <a:xfrm>
                <a:off x="3512" y="1737"/>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7" name="Freeform 1237"/>
              <p:cNvSpPr>
                <a:spLocks/>
              </p:cNvSpPr>
              <p:nvPr/>
            </p:nvSpPr>
            <p:spPr bwMode="auto">
              <a:xfrm>
                <a:off x="4172" y="173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18" name="Freeform 1238"/>
              <p:cNvSpPr>
                <a:spLocks/>
              </p:cNvSpPr>
              <p:nvPr/>
            </p:nvSpPr>
            <p:spPr bwMode="auto">
              <a:xfrm>
                <a:off x="4182"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9" name="Freeform 1239"/>
              <p:cNvSpPr>
                <a:spLocks/>
              </p:cNvSpPr>
              <p:nvPr/>
            </p:nvSpPr>
            <p:spPr bwMode="auto">
              <a:xfrm>
                <a:off x="4184"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0" name="Freeform 1240"/>
              <p:cNvSpPr>
                <a:spLocks/>
              </p:cNvSpPr>
              <p:nvPr/>
            </p:nvSpPr>
            <p:spPr bwMode="auto">
              <a:xfrm>
                <a:off x="4208"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1" name="Freeform 1241"/>
              <p:cNvSpPr>
                <a:spLocks/>
              </p:cNvSpPr>
              <p:nvPr/>
            </p:nvSpPr>
            <p:spPr bwMode="auto">
              <a:xfrm>
                <a:off x="4210"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2" name="Freeform 1242"/>
              <p:cNvSpPr>
                <a:spLocks/>
              </p:cNvSpPr>
              <p:nvPr/>
            </p:nvSpPr>
            <p:spPr bwMode="auto">
              <a:xfrm>
                <a:off x="4269"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3" name="Freeform 1243"/>
              <p:cNvSpPr>
                <a:spLocks/>
              </p:cNvSpPr>
              <p:nvPr/>
            </p:nvSpPr>
            <p:spPr bwMode="auto">
              <a:xfrm>
                <a:off x="4880"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4" name="Freeform 1244"/>
              <p:cNvSpPr>
                <a:spLocks/>
              </p:cNvSpPr>
              <p:nvPr/>
            </p:nvSpPr>
            <p:spPr bwMode="auto">
              <a:xfrm>
                <a:off x="1203"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25" name="Freeform 1245"/>
              <p:cNvSpPr>
                <a:spLocks/>
              </p:cNvSpPr>
              <p:nvPr/>
            </p:nvSpPr>
            <p:spPr bwMode="auto">
              <a:xfrm>
                <a:off x="1204"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6" name="Freeform 1246"/>
              <p:cNvSpPr>
                <a:spLocks/>
              </p:cNvSpPr>
              <p:nvPr/>
            </p:nvSpPr>
            <p:spPr bwMode="auto">
              <a:xfrm>
                <a:off x="1206"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7" name="Freeform 1247"/>
              <p:cNvSpPr>
                <a:spLocks/>
              </p:cNvSpPr>
              <p:nvPr/>
            </p:nvSpPr>
            <p:spPr bwMode="auto">
              <a:xfrm>
                <a:off x="1213"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8" name="Freeform 1248"/>
              <p:cNvSpPr>
                <a:spLocks/>
              </p:cNvSpPr>
              <p:nvPr/>
            </p:nvSpPr>
            <p:spPr bwMode="auto">
              <a:xfrm>
                <a:off x="1220"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9" name="Freeform 1249"/>
              <p:cNvSpPr>
                <a:spLocks/>
              </p:cNvSpPr>
              <p:nvPr/>
            </p:nvSpPr>
            <p:spPr bwMode="auto">
              <a:xfrm>
                <a:off x="1227"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0" name="Freeform 1250"/>
              <p:cNvSpPr>
                <a:spLocks/>
              </p:cNvSpPr>
              <p:nvPr/>
            </p:nvSpPr>
            <p:spPr bwMode="auto">
              <a:xfrm>
                <a:off x="1232"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1" name="Freeform 1251"/>
              <p:cNvSpPr>
                <a:spLocks/>
              </p:cNvSpPr>
              <p:nvPr/>
            </p:nvSpPr>
            <p:spPr bwMode="auto">
              <a:xfrm>
                <a:off x="1241"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2" name="Freeform 1252"/>
              <p:cNvSpPr>
                <a:spLocks/>
              </p:cNvSpPr>
              <p:nvPr/>
            </p:nvSpPr>
            <p:spPr bwMode="auto">
              <a:xfrm>
                <a:off x="1245"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33" name="Freeform 1253"/>
              <p:cNvSpPr>
                <a:spLocks/>
              </p:cNvSpPr>
              <p:nvPr/>
            </p:nvSpPr>
            <p:spPr bwMode="auto">
              <a:xfrm>
                <a:off x="1248" y="1697"/>
                <a:ext cx="10" cy="11"/>
              </a:xfrm>
              <a:custGeom>
                <a:avLst/>
                <a:gdLst>
                  <a:gd name="T0" fmla="*/ 4 w 10"/>
                  <a:gd name="T1" fmla="*/ 0 h 11"/>
                  <a:gd name="T2" fmla="*/ 9 w 10"/>
                  <a:gd name="T3" fmla="*/ 0 h 11"/>
                  <a:gd name="T4" fmla="*/ 10 w 10"/>
                  <a:gd name="T5" fmla="*/ 2 h 11"/>
                  <a:gd name="T6" fmla="*/ 10 w 10"/>
                  <a:gd name="T7" fmla="*/ 7 h 11"/>
                  <a:gd name="T8" fmla="*/ 7 w 10"/>
                  <a:gd name="T9" fmla="*/ 11 h 11"/>
                  <a:gd name="T10" fmla="*/ 4 w 10"/>
                  <a:gd name="T11" fmla="*/ 11 h 11"/>
                  <a:gd name="T12" fmla="*/ 0 w 10"/>
                  <a:gd name="T13" fmla="*/ 7 h 11"/>
                  <a:gd name="T14" fmla="*/ 0 w 10"/>
                  <a:gd name="T15" fmla="*/ 4 h 11"/>
                  <a:gd name="T16" fmla="*/ 4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4" y="0"/>
                    </a:moveTo>
                    <a:lnTo>
                      <a:pt x="9" y="0"/>
                    </a:lnTo>
                    <a:lnTo>
                      <a:pt x="10" y="2"/>
                    </a:lnTo>
                    <a:lnTo>
                      <a:pt x="10"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4" name="Freeform 1254"/>
              <p:cNvSpPr>
                <a:spLocks/>
              </p:cNvSpPr>
              <p:nvPr/>
            </p:nvSpPr>
            <p:spPr bwMode="auto">
              <a:xfrm>
                <a:off x="1252" y="1697"/>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35" name="Freeform 1255"/>
              <p:cNvSpPr>
                <a:spLocks/>
              </p:cNvSpPr>
              <p:nvPr/>
            </p:nvSpPr>
            <p:spPr bwMode="auto">
              <a:xfrm>
                <a:off x="1258"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6" name="Freeform 1256"/>
              <p:cNvSpPr>
                <a:spLocks/>
              </p:cNvSpPr>
              <p:nvPr/>
            </p:nvSpPr>
            <p:spPr bwMode="auto">
              <a:xfrm>
                <a:off x="1262"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7" name="Freeform 1257"/>
              <p:cNvSpPr>
                <a:spLocks/>
              </p:cNvSpPr>
              <p:nvPr/>
            </p:nvSpPr>
            <p:spPr bwMode="auto">
              <a:xfrm>
                <a:off x="1276"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8" name="Freeform 1258"/>
              <p:cNvSpPr>
                <a:spLocks/>
              </p:cNvSpPr>
              <p:nvPr/>
            </p:nvSpPr>
            <p:spPr bwMode="auto">
              <a:xfrm>
                <a:off x="1288"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9" name="Freeform 1259"/>
              <p:cNvSpPr>
                <a:spLocks/>
              </p:cNvSpPr>
              <p:nvPr/>
            </p:nvSpPr>
            <p:spPr bwMode="auto">
              <a:xfrm>
                <a:off x="1307"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0" name="Freeform 1260"/>
              <p:cNvSpPr>
                <a:spLocks/>
              </p:cNvSpPr>
              <p:nvPr/>
            </p:nvSpPr>
            <p:spPr bwMode="auto">
              <a:xfrm>
                <a:off x="1309"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1" name="Freeform 1261"/>
              <p:cNvSpPr>
                <a:spLocks/>
              </p:cNvSpPr>
              <p:nvPr/>
            </p:nvSpPr>
            <p:spPr bwMode="auto">
              <a:xfrm>
                <a:off x="1608"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42" name="Freeform 1262"/>
              <p:cNvSpPr>
                <a:spLocks/>
              </p:cNvSpPr>
              <p:nvPr/>
            </p:nvSpPr>
            <p:spPr bwMode="auto">
              <a:xfrm>
                <a:off x="1613"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3" name="Freeform 1263"/>
              <p:cNvSpPr>
                <a:spLocks/>
              </p:cNvSpPr>
              <p:nvPr/>
            </p:nvSpPr>
            <p:spPr bwMode="auto">
              <a:xfrm>
                <a:off x="1702"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4" name="Freeform 1264"/>
              <p:cNvSpPr>
                <a:spLocks/>
              </p:cNvSpPr>
              <p:nvPr/>
            </p:nvSpPr>
            <p:spPr bwMode="auto">
              <a:xfrm>
                <a:off x="1772"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45" name="Freeform 1265"/>
              <p:cNvSpPr>
                <a:spLocks/>
              </p:cNvSpPr>
              <p:nvPr/>
            </p:nvSpPr>
            <p:spPr bwMode="auto">
              <a:xfrm>
                <a:off x="2515"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6" name="Freeform 1266"/>
              <p:cNvSpPr>
                <a:spLocks/>
              </p:cNvSpPr>
              <p:nvPr/>
            </p:nvSpPr>
            <p:spPr bwMode="auto">
              <a:xfrm>
                <a:off x="2517"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7" name="Freeform 1267"/>
              <p:cNvSpPr>
                <a:spLocks/>
              </p:cNvSpPr>
              <p:nvPr/>
            </p:nvSpPr>
            <p:spPr bwMode="auto">
              <a:xfrm>
                <a:off x="2536"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8" name="Freeform 1268"/>
              <p:cNvSpPr>
                <a:spLocks/>
              </p:cNvSpPr>
              <p:nvPr/>
            </p:nvSpPr>
            <p:spPr bwMode="auto">
              <a:xfrm>
                <a:off x="2543"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9" name="Freeform 1269"/>
              <p:cNvSpPr>
                <a:spLocks/>
              </p:cNvSpPr>
              <p:nvPr/>
            </p:nvSpPr>
            <p:spPr bwMode="auto">
              <a:xfrm>
                <a:off x="2545"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50" name="Freeform 1270"/>
              <p:cNvSpPr>
                <a:spLocks/>
              </p:cNvSpPr>
              <p:nvPr/>
            </p:nvSpPr>
            <p:spPr bwMode="auto">
              <a:xfrm>
                <a:off x="2548"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1" name="Freeform 1271"/>
              <p:cNvSpPr>
                <a:spLocks/>
              </p:cNvSpPr>
              <p:nvPr/>
            </p:nvSpPr>
            <p:spPr bwMode="auto">
              <a:xfrm>
                <a:off x="2550"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2" name="Freeform 1272"/>
              <p:cNvSpPr>
                <a:spLocks/>
              </p:cNvSpPr>
              <p:nvPr/>
            </p:nvSpPr>
            <p:spPr bwMode="auto">
              <a:xfrm>
                <a:off x="2564"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3" name="Freeform 1273"/>
              <p:cNvSpPr>
                <a:spLocks/>
              </p:cNvSpPr>
              <p:nvPr/>
            </p:nvSpPr>
            <p:spPr bwMode="auto">
              <a:xfrm>
                <a:off x="2585"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4" name="Freeform 1274"/>
              <p:cNvSpPr>
                <a:spLocks/>
              </p:cNvSpPr>
              <p:nvPr/>
            </p:nvSpPr>
            <p:spPr bwMode="auto">
              <a:xfrm>
                <a:off x="2606"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5" name="Freeform 1275"/>
              <p:cNvSpPr>
                <a:spLocks/>
              </p:cNvSpPr>
              <p:nvPr/>
            </p:nvSpPr>
            <p:spPr bwMode="auto">
              <a:xfrm>
                <a:off x="3014"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6" name="Freeform 1276"/>
              <p:cNvSpPr>
                <a:spLocks/>
              </p:cNvSpPr>
              <p:nvPr/>
            </p:nvSpPr>
            <p:spPr bwMode="auto">
              <a:xfrm>
                <a:off x="3302"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7" name="Freeform 1277"/>
              <p:cNvSpPr>
                <a:spLocks/>
              </p:cNvSpPr>
              <p:nvPr/>
            </p:nvSpPr>
            <p:spPr bwMode="auto">
              <a:xfrm>
                <a:off x="3955"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8" name="Freeform 1278"/>
              <p:cNvSpPr>
                <a:spLocks/>
              </p:cNvSpPr>
              <p:nvPr/>
            </p:nvSpPr>
            <p:spPr bwMode="auto">
              <a:xfrm>
                <a:off x="3962"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9" name="Freeform 1279"/>
              <p:cNvSpPr>
                <a:spLocks/>
              </p:cNvSpPr>
              <p:nvPr/>
            </p:nvSpPr>
            <p:spPr bwMode="auto">
              <a:xfrm>
                <a:off x="3968" y="1697"/>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60" name="Freeform 1280"/>
              <p:cNvSpPr>
                <a:spLocks/>
              </p:cNvSpPr>
              <p:nvPr/>
            </p:nvSpPr>
            <p:spPr bwMode="auto">
              <a:xfrm>
                <a:off x="3985"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1" name="Freeform 1281"/>
              <p:cNvSpPr>
                <a:spLocks/>
              </p:cNvSpPr>
              <p:nvPr/>
            </p:nvSpPr>
            <p:spPr bwMode="auto">
              <a:xfrm>
                <a:off x="4002"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62" name="Freeform 1282"/>
              <p:cNvSpPr>
                <a:spLocks/>
              </p:cNvSpPr>
              <p:nvPr/>
            </p:nvSpPr>
            <p:spPr bwMode="auto">
              <a:xfrm>
                <a:off x="4016"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3" name="Freeform 1283"/>
              <p:cNvSpPr>
                <a:spLocks/>
              </p:cNvSpPr>
              <p:nvPr/>
            </p:nvSpPr>
            <p:spPr bwMode="auto">
              <a:xfrm>
                <a:off x="4187"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64" name="Freeform 1284"/>
              <p:cNvSpPr>
                <a:spLocks/>
              </p:cNvSpPr>
              <p:nvPr/>
            </p:nvSpPr>
            <p:spPr bwMode="auto">
              <a:xfrm>
                <a:off x="4194"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65" name="Freeform 1285"/>
              <p:cNvSpPr>
                <a:spLocks/>
              </p:cNvSpPr>
              <p:nvPr/>
            </p:nvSpPr>
            <p:spPr bwMode="auto">
              <a:xfrm>
                <a:off x="4210"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6" name="Freeform 1286"/>
              <p:cNvSpPr>
                <a:spLocks/>
              </p:cNvSpPr>
              <p:nvPr/>
            </p:nvSpPr>
            <p:spPr bwMode="auto">
              <a:xfrm>
                <a:off x="4217"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7" name="Freeform 1287"/>
              <p:cNvSpPr>
                <a:spLocks/>
              </p:cNvSpPr>
              <p:nvPr/>
            </p:nvSpPr>
            <p:spPr bwMode="auto">
              <a:xfrm>
                <a:off x="4222"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8" name="Freeform 1288"/>
              <p:cNvSpPr>
                <a:spLocks/>
              </p:cNvSpPr>
              <p:nvPr/>
            </p:nvSpPr>
            <p:spPr bwMode="auto">
              <a:xfrm>
                <a:off x="4228"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69" name="Freeform 1289"/>
              <p:cNvSpPr>
                <a:spLocks/>
              </p:cNvSpPr>
              <p:nvPr/>
            </p:nvSpPr>
            <p:spPr bwMode="auto">
              <a:xfrm>
                <a:off x="4235"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70" name="Freeform 1290"/>
              <p:cNvSpPr>
                <a:spLocks/>
              </p:cNvSpPr>
              <p:nvPr/>
            </p:nvSpPr>
            <p:spPr bwMode="auto">
              <a:xfrm>
                <a:off x="4238"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1" name="Freeform 1291"/>
              <p:cNvSpPr>
                <a:spLocks/>
              </p:cNvSpPr>
              <p:nvPr/>
            </p:nvSpPr>
            <p:spPr bwMode="auto">
              <a:xfrm>
                <a:off x="4247"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2" name="Freeform 1292"/>
              <p:cNvSpPr>
                <a:spLocks/>
              </p:cNvSpPr>
              <p:nvPr/>
            </p:nvSpPr>
            <p:spPr bwMode="auto">
              <a:xfrm>
                <a:off x="4256" y="1697"/>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73" name="Freeform 1293"/>
              <p:cNvSpPr>
                <a:spLocks/>
              </p:cNvSpPr>
              <p:nvPr/>
            </p:nvSpPr>
            <p:spPr bwMode="auto">
              <a:xfrm>
                <a:off x="4264"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4" name="Freeform 1294"/>
              <p:cNvSpPr>
                <a:spLocks/>
              </p:cNvSpPr>
              <p:nvPr/>
            </p:nvSpPr>
            <p:spPr bwMode="auto">
              <a:xfrm>
                <a:off x="4355"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75" name="Freeform 1295"/>
              <p:cNvSpPr>
                <a:spLocks/>
              </p:cNvSpPr>
              <p:nvPr/>
            </p:nvSpPr>
            <p:spPr bwMode="auto">
              <a:xfrm>
                <a:off x="4395"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76" name="Freeform 1296"/>
              <p:cNvSpPr>
                <a:spLocks/>
              </p:cNvSpPr>
              <p:nvPr/>
            </p:nvSpPr>
            <p:spPr bwMode="auto">
              <a:xfrm>
                <a:off x="4407"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7" name="Freeform 1297"/>
              <p:cNvSpPr>
                <a:spLocks/>
              </p:cNvSpPr>
              <p:nvPr/>
            </p:nvSpPr>
            <p:spPr bwMode="auto">
              <a:xfrm>
                <a:off x="4409"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8" name="Freeform 1298"/>
              <p:cNvSpPr>
                <a:spLocks/>
              </p:cNvSpPr>
              <p:nvPr/>
            </p:nvSpPr>
            <p:spPr bwMode="auto">
              <a:xfrm>
                <a:off x="4411"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79" name="Freeform 1299"/>
              <p:cNvSpPr>
                <a:spLocks/>
              </p:cNvSpPr>
              <p:nvPr/>
            </p:nvSpPr>
            <p:spPr bwMode="auto">
              <a:xfrm>
                <a:off x="4414"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0" name="Freeform 1300"/>
              <p:cNvSpPr>
                <a:spLocks/>
              </p:cNvSpPr>
              <p:nvPr/>
            </p:nvSpPr>
            <p:spPr bwMode="auto">
              <a:xfrm>
                <a:off x="4418"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1" name="Freeform 1301"/>
              <p:cNvSpPr>
                <a:spLocks/>
              </p:cNvSpPr>
              <p:nvPr/>
            </p:nvSpPr>
            <p:spPr bwMode="auto">
              <a:xfrm>
                <a:off x="4547" y="1697"/>
                <a:ext cx="10" cy="11"/>
              </a:xfrm>
              <a:custGeom>
                <a:avLst/>
                <a:gdLst>
                  <a:gd name="T0" fmla="*/ 4 w 10"/>
                  <a:gd name="T1" fmla="*/ 0 h 11"/>
                  <a:gd name="T2" fmla="*/ 9 w 10"/>
                  <a:gd name="T3" fmla="*/ 0 h 11"/>
                  <a:gd name="T4" fmla="*/ 10 w 10"/>
                  <a:gd name="T5" fmla="*/ 2 h 11"/>
                  <a:gd name="T6" fmla="*/ 10 w 10"/>
                  <a:gd name="T7" fmla="*/ 7 h 11"/>
                  <a:gd name="T8" fmla="*/ 7 w 10"/>
                  <a:gd name="T9" fmla="*/ 11 h 11"/>
                  <a:gd name="T10" fmla="*/ 4 w 10"/>
                  <a:gd name="T11" fmla="*/ 11 h 11"/>
                  <a:gd name="T12" fmla="*/ 0 w 10"/>
                  <a:gd name="T13" fmla="*/ 7 h 11"/>
                  <a:gd name="T14" fmla="*/ 0 w 10"/>
                  <a:gd name="T15" fmla="*/ 4 h 11"/>
                  <a:gd name="T16" fmla="*/ 4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4" y="0"/>
                    </a:moveTo>
                    <a:lnTo>
                      <a:pt x="9" y="0"/>
                    </a:lnTo>
                    <a:lnTo>
                      <a:pt x="10" y="2"/>
                    </a:lnTo>
                    <a:lnTo>
                      <a:pt x="10"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82" name="Freeform 1302"/>
              <p:cNvSpPr>
                <a:spLocks/>
              </p:cNvSpPr>
              <p:nvPr/>
            </p:nvSpPr>
            <p:spPr bwMode="auto">
              <a:xfrm>
                <a:off x="4554"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83" name="Freeform 1303"/>
              <p:cNvSpPr>
                <a:spLocks/>
              </p:cNvSpPr>
              <p:nvPr/>
            </p:nvSpPr>
            <p:spPr bwMode="auto">
              <a:xfrm>
                <a:off x="4591"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84" name="Freeform 1304"/>
              <p:cNvSpPr>
                <a:spLocks/>
              </p:cNvSpPr>
              <p:nvPr/>
            </p:nvSpPr>
            <p:spPr bwMode="auto">
              <a:xfrm>
                <a:off x="4840"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5" name="Freeform 1305"/>
              <p:cNvSpPr>
                <a:spLocks/>
              </p:cNvSpPr>
              <p:nvPr/>
            </p:nvSpPr>
            <p:spPr bwMode="auto">
              <a:xfrm>
                <a:off x="4844"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86" name="Freeform 1306"/>
              <p:cNvSpPr>
                <a:spLocks/>
              </p:cNvSpPr>
              <p:nvPr/>
            </p:nvSpPr>
            <p:spPr bwMode="auto">
              <a:xfrm>
                <a:off x="4854"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7" name="Freeform 1307"/>
              <p:cNvSpPr>
                <a:spLocks/>
              </p:cNvSpPr>
              <p:nvPr/>
            </p:nvSpPr>
            <p:spPr bwMode="auto">
              <a:xfrm>
                <a:off x="4880"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8" name="Freeform 1308"/>
              <p:cNvSpPr>
                <a:spLocks/>
              </p:cNvSpPr>
              <p:nvPr/>
            </p:nvSpPr>
            <p:spPr bwMode="auto">
              <a:xfrm>
                <a:off x="1241"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89" name="Freeform 1309"/>
              <p:cNvSpPr>
                <a:spLocks/>
              </p:cNvSpPr>
              <p:nvPr/>
            </p:nvSpPr>
            <p:spPr bwMode="auto">
              <a:xfrm>
                <a:off x="1267"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0" name="Freeform 1310"/>
              <p:cNvSpPr>
                <a:spLocks/>
              </p:cNvSpPr>
              <p:nvPr/>
            </p:nvSpPr>
            <p:spPr bwMode="auto">
              <a:xfrm>
                <a:off x="1543" y="1657"/>
                <a:ext cx="10" cy="10"/>
              </a:xfrm>
              <a:custGeom>
                <a:avLst/>
                <a:gdLst>
                  <a:gd name="T0" fmla="*/ 4 w 10"/>
                  <a:gd name="T1" fmla="*/ 0 h 10"/>
                  <a:gd name="T2" fmla="*/ 7 w 10"/>
                  <a:gd name="T3" fmla="*/ 0 h 10"/>
                  <a:gd name="T4" fmla="*/ 10 w 10"/>
                  <a:gd name="T5" fmla="*/ 4 h 10"/>
                  <a:gd name="T6" fmla="*/ 10 w 10"/>
                  <a:gd name="T7" fmla="*/ 7 h 10"/>
                  <a:gd name="T8" fmla="*/ 7 w 10"/>
                  <a:gd name="T9" fmla="*/ 10 h 10"/>
                  <a:gd name="T10" fmla="*/ 2 w 10"/>
                  <a:gd name="T11" fmla="*/ 10 h 10"/>
                  <a:gd name="T12" fmla="*/ 0 w 10"/>
                  <a:gd name="T13" fmla="*/ 9 h 10"/>
                  <a:gd name="T14" fmla="*/ 0 w 10"/>
                  <a:gd name="T15" fmla="*/ 4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7" y="0"/>
                    </a:lnTo>
                    <a:lnTo>
                      <a:pt x="10" y="4"/>
                    </a:lnTo>
                    <a:lnTo>
                      <a:pt x="10"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1" name="Freeform 1311"/>
              <p:cNvSpPr>
                <a:spLocks/>
              </p:cNvSpPr>
              <p:nvPr/>
            </p:nvSpPr>
            <p:spPr bwMode="auto">
              <a:xfrm>
                <a:off x="1547" y="1657"/>
                <a:ext cx="8" cy="10"/>
              </a:xfrm>
              <a:custGeom>
                <a:avLst/>
                <a:gdLst>
                  <a:gd name="T0" fmla="*/ 3 w 8"/>
                  <a:gd name="T1" fmla="*/ 0 h 10"/>
                  <a:gd name="T2" fmla="*/ 5 w 8"/>
                  <a:gd name="T3" fmla="*/ 0 h 10"/>
                  <a:gd name="T4" fmla="*/ 8 w 8"/>
                  <a:gd name="T5" fmla="*/ 4 h 10"/>
                  <a:gd name="T6" fmla="*/ 8 w 8"/>
                  <a:gd name="T7" fmla="*/ 9 h 10"/>
                  <a:gd name="T8" fmla="*/ 6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6"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2" name="Freeform 1312"/>
              <p:cNvSpPr>
                <a:spLocks/>
              </p:cNvSpPr>
              <p:nvPr/>
            </p:nvSpPr>
            <p:spPr bwMode="auto">
              <a:xfrm>
                <a:off x="1552"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3" name="Freeform 1313"/>
              <p:cNvSpPr>
                <a:spLocks/>
              </p:cNvSpPr>
              <p:nvPr/>
            </p:nvSpPr>
            <p:spPr bwMode="auto">
              <a:xfrm>
                <a:off x="1566"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4" name="Freeform 1314"/>
              <p:cNvSpPr>
                <a:spLocks/>
              </p:cNvSpPr>
              <p:nvPr/>
            </p:nvSpPr>
            <p:spPr bwMode="auto">
              <a:xfrm>
                <a:off x="1707"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5" name="Freeform 1315"/>
              <p:cNvSpPr>
                <a:spLocks/>
              </p:cNvSpPr>
              <p:nvPr/>
            </p:nvSpPr>
            <p:spPr bwMode="auto">
              <a:xfrm>
                <a:off x="1709" y="1657"/>
                <a:ext cx="9" cy="10"/>
              </a:xfrm>
              <a:custGeom>
                <a:avLst/>
                <a:gdLst>
                  <a:gd name="T0" fmla="*/ 3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4"/>
                    </a:lnTo>
                    <a:lnTo>
                      <a:pt x="9"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6" name="Freeform 1316"/>
              <p:cNvSpPr>
                <a:spLocks/>
              </p:cNvSpPr>
              <p:nvPr/>
            </p:nvSpPr>
            <p:spPr bwMode="auto">
              <a:xfrm>
                <a:off x="1728"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7" name="Freeform 1317"/>
              <p:cNvSpPr>
                <a:spLocks/>
              </p:cNvSpPr>
              <p:nvPr/>
            </p:nvSpPr>
            <p:spPr bwMode="auto">
              <a:xfrm>
                <a:off x="1957"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8" name="Freeform 1318"/>
              <p:cNvSpPr>
                <a:spLocks/>
              </p:cNvSpPr>
              <p:nvPr/>
            </p:nvSpPr>
            <p:spPr bwMode="auto">
              <a:xfrm>
                <a:off x="1969"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9" name="Freeform 1319"/>
              <p:cNvSpPr>
                <a:spLocks/>
              </p:cNvSpPr>
              <p:nvPr/>
            </p:nvSpPr>
            <p:spPr bwMode="auto">
              <a:xfrm>
                <a:off x="2070"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0" name="Freeform 1320"/>
              <p:cNvSpPr>
                <a:spLocks/>
              </p:cNvSpPr>
              <p:nvPr/>
            </p:nvSpPr>
            <p:spPr bwMode="auto">
              <a:xfrm>
                <a:off x="2365"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1" name="Freeform 1321"/>
              <p:cNvSpPr>
                <a:spLocks/>
              </p:cNvSpPr>
              <p:nvPr/>
            </p:nvSpPr>
            <p:spPr bwMode="auto">
              <a:xfrm>
                <a:off x="2369"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02" name="Freeform 1322"/>
              <p:cNvSpPr>
                <a:spLocks/>
              </p:cNvSpPr>
              <p:nvPr/>
            </p:nvSpPr>
            <p:spPr bwMode="auto">
              <a:xfrm>
                <a:off x="2376" y="1657"/>
                <a:ext cx="10" cy="10"/>
              </a:xfrm>
              <a:custGeom>
                <a:avLst/>
                <a:gdLst>
                  <a:gd name="T0" fmla="*/ 3 w 10"/>
                  <a:gd name="T1" fmla="*/ 0 h 10"/>
                  <a:gd name="T2" fmla="*/ 7 w 10"/>
                  <a:gd name="T3" fmla="*/ 0 h 10"/>
                  <a:gd name="T4" fmla="*/ 10 w 10"/>
                  <a:gd name="T5" fmla="*/ 4 h 10"/>
                  <a:gd name="T6" fmla="*/ 10 w 10"/>
                  <a:gd name="T7" fmla="*/ 7 h 10"/>
                  <a:gd name="T8" fmla="*/ 7 w 10"/>
                  <a:gd name="T9" fmla="*/ 10 h 10"/>
                  <a:gd name="T10" fmla="*/ 1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7"/>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03" name="Freeform 1323"/>
              <p:cNvSpPr>
                <a:spLocks/>
              </p:cNvSpPr>
              <p:nvPr/>
            </p:nvSpPr>
            <p:spPr bwMode="auto">
              <a:xfrm>
                <a:off x="2510"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4" name="Freeform 1324"/>
              <p:cNvSpPr>
                <a:spLocks/>
              </p:cNvSpPr>
              <p:nvPr/>
            </p:nvSpPr>
            <p:spPr bwMode="auto">
              <a:xfrm>
                <a:off x="2536"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5" name="Freeform 1325"/>
              <p:cNvSpPr>
                <a:spLocks/>
              </p:cNvSpPr>
              <p:nvPr/>
            </p:nvSpPr>
            <p:spPr bwMode="auto">
              <a:xfrm>
                <a:off x="2554"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06" name="Freeform 1326"/>
              <p:cNvSpPr>
                <a:spLocks/>
              </p:cNvSpPr>
              <p:nvPr/>
            </p:nvSpPr>
            <p:spPr bwMode="auto">
              <a:xfrm>
                <a:off x="2569"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7" name="Freeform 1327"/>
              <p:cNvSpPr>
                <a:spLocks/>
              </p:cNvSpPr>
              <p:nvPr/>
            </p:nvSpPr>
            <p:spPr bwMode="auto">
              <a:xfrm>
                <a:off x="2802" y="1657"/>
                <a:ext cx="10" cy="10"/>
              </a:xfrm>
              <a:custGeom>
                <a:avLst/>
                <a:gdLst>
                  <a:gd name="T0" fmla="*/ 3 w 10"/>
                  <a:gd name="T1" fmla="*/ 0 h 10"/>
                  <a:gd name="T2" fmla="*/ 6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6"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08" name="Freeform 1328"/>
              <p:cNvSpPr>
                <a:spLocks/>
              </p:cNvSpPr>
              <p:nvPr/>
            </p:nvSpPr>
            <p:spPr bwMode="auto">
              <a:xfrm>
                <a:off x="3201"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9" name="Freeform 1329"/>
              <p:cNvSpPr>
                <a:spLocks/>
              </p:cNvSpPr>
              <p:nvPr/>
            </p:nvSpPr>
            <p:spPr bwMode="auto">
              <a:xfrm>
                <a:off x="3245" y="1657"/>
                <a:ext cx="9" cy="10"/>
              </a:xfrm>
              <a:custGeom>
                <a:avLst/>
                <a:gdLst>
                  <a:gd name="T0" fmla="*/ 3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4"/>
                    </a:lnTo>
                    <a:lnTo>
                      <a:pt x="9"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0" name="Freeform 1330"/>
              <p:cNvSpPr>
                <a:spLocks/>
              </p:cNvSpPr>
              <p:nvPr/>
            </p:nvSpPr>
            <p:spPr bwMode="auto">
              <a:xfrm>
                <a:off x="3280" y="1657"/>
                <a:ext cx="10" cy="10"/>
              </a:xfrm>
              <a:custGeom>
                <a:avLst/>
                <a:gdLst>
                  <a:gd name="T0" fmla="*/ 3 w 10"/>
                  <a:gd name="T1" fmla="*/ 0 h 10"/>
                  <a:gd name="T2" fmla="*/ 7 w 10"/>
                  <a:gd name="T3" fmla="*/ 0 h 10"/>
                  <a:gd name="T4" fmla="*/ 10 w 10"/>
                  <a:gd name="T5" fmla="*/ 4 h 10"/>
                  <a:gd name="T6" fmla="*/ 10 w 10"/>
                  <a:gd name="T7" fmla="*/ 7 h 10"/>
                  <a:gd name="T8" fmla="*/ 7 w 10"/>
                  <a:gd name="T9" fmla="*/ 10 h 10"/>
                  <a:gd name="T10" fmla="*/ 2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7"/>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1" name="Freeform 1331"/>
              <p:cNvSpPr>
                <a:spLocks/>
              </p:cNvSpPr>
              <p:nvPr/>
            </p:nvSpPr>
            <p:spPr bwMode="auto">
              <a:xfrm>
                <a:off x="3285"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2" name="Freeform 1332"/>
              <p:cNvSpPr>
                <a:spLocks/>
              </p:cNvSpPr>
              <p:nvPr/>
            </p:nvSpPr>
            <p:spPr bwMode="auto">
              <a:xfrm>
                <a:off x="3287"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2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3" name="Freeform 1333"/>
              <p:cNvSpPr>
                <a:spLocks/>
              </p:cNvSpPr>
              <p:nvPr/>
            </p:nvSpPr>
            <p:spPr bwMode="auto">
              <a:xfrm>
                <a:off x="3311"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4" name="Freeform 1334"/>
              <p:cNvSpPr>
                <a:spLocks/>
              </p:cNvSpPr>
              <p:nvPr/>
            </p:nvSpPr>
            <p:spPr bwMode="auto">
              <a:xfrm>
                <a:off x="3315"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5" name="Freeform 1335"/>
              <p:cNvSpPr>
                <a:spLocks/>
              </p:cNvSpPr>
              <p:nvPr/>
            </p:nvSpPr>
            <p:spPr bwMode="auto">
              <a:xfrm>
                <a:off x="3501" y="1657"/>
                <a:ext cx="9" cy="10"/>
              </a:xfrm>
              <a:custGeom>
                <a:avLst/>
                <a:gdLst>
                  <a:gd name="T0" fmla="*/ 4 w 9"/>
                  <a:gd name="T1" fmla="*/ 0 h 10"/>
                  <a:gd name="T2" fmla="*/ 6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6" name="Freeform 1336"/>
              <p:cNvSpPr>
                <a:spLocks/>
              </p:cNvSpPr>
              <p:nvPr/>
            </p:nvSpPr>
            <p:spPr bwMode="auto">
              <a:xfrm>
                <a:off x="3505" y="1657"/>
                <a:ext cx="10" cy="10"/>
              </a:xfrm>
              <a:custGeom>
                <a:avLst/>
                <a:gdLst>
                  <a:gd name="T0" fmla="*/ 3 w 10"/>
                  <a:gd name="T1" fmla="*/ 0 h 10"/>
                  <a:gd name="T2" fmla="*/ 7 w 10"/>
                  <a:gd name="T3" fmla="*/ 0 h 10"/>
                  <a:gd name="T4" fmla="*/ 10 w 10"/>
                  <a:gd name="T5" fmla="*/ 4 h 10"/>
                  <a:gd name="T6" fmla="*/ 10 w 10"/>
                  <a:gd name="T7" fmla="*/ 7 h 10"/>
                  <a:gd name="T8" fmla="*/ 7 w 10"/>
                  <a:gd name="T9" fmla="*/ 10 h 10"/>
                  <a:gd name="T10" fmla="*/ 2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7"/>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7" name="Freeform 1337"/>
              <p:cNvSpPr>
                <a:spLocks/>
              </p:cNvSpPr>
              <p:nvPr/>
            </p:nvSpPr>
            <p:spPr bwMode="auto">
              <a:xfrm>
                <a:off x="3519" y="1657"/>
                <a:ext cx="9" cy="10"/>
              </a:xfrm>
              <a:custGeom>
                <a:avLst/>
                <a:gdLst>
                  <a:gd name="T0" fmla="*/ 3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4"/>
                    </a:lnTo>
                    <a:lnTo>
                      <a:pt x="9"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8" name="Freeform 1338"/>
              <p:cNvSpPr>
                <a:spLocks/>
              </p:cNvSpPr>
              <p:nvPr/>
            </p:nvSpPr>
            <p:spPr bwMode="auto">
              <a:xfrm>
                <a:off x="3559"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9" name="Freeform 1339"/>
              <p:cNvSpPr>
                <a:spLocks/>
              </p:cNvSpPr>
              <p:nvPr/>
            </p:nvSpPr>
            <p:spPr bwMode="auto">
              <a:xfrm>
                <a:off x="4121"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20" name="Freeform 1340"/>
              <p:cNvSpPr>
                <a:spLocks/>
              </p:cNvSpPr>
              <p:nvPr/>
            </p:nvSpPr>
            <p:spPr bwMode="auto">
              <a:xfrm>
                <a:off x="4123"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1" name="Freeform 1341"/>
              <p:cNvSpPr>
                <a:spLocks/>
              </p:cNvSpPr>
              <p:nvPr/>
            </p:nvSpPr>
            <p:spPr bwMode="auto">
              <a:xfrm>
                <a:off x="4200"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2" name="Freeform 1342"/>
              <p:cNvSpPr>
                <a:spLocks/>
              </p:cNvSpPr>
              <p:nvPr/>
            </p:nvSpPr>
            <p:spPr bwMode="auto">
              <a:xfrm>
                <a:off x="4219"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3" name="Freeform 1343"/>
              <p:cNvSpPr>
                <a:spLocks/>
              </p:cNvSpPr>
              <p:nvPr/>
            </p:nvSpPr>
            <p:spPr bwMode="auto">
              <a:xfrm>
                <a:off x="4304"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24" name="Freeform 1344"/>
              <p:cNvSpPr>
                <a:spLocks/>
              </p:cNvSpPr>
              <p:nvPr/>
            </p:nvSpPr>
            <p:spPr bwMode="auto">
              <a:xfrm>
                <a:off x="4313"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25" name="Freeform 1345"/>
              <p:cNvSpPr>
                <a:spLocks/>
              </p:cNvSpPr>
              <p:nvPr/>
            </p:nvSpPr>
            <p:spPr bwMode="auto">
              <a:xfrm>
                <a:off x="4441"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6" name="Freeform 1346"/>
              <p:cNvSpPr>
                <a:spLocks/>
              </p:cNvSpPr>
              <p:nvPr/>
            </p:nvSpPr>
            <p:spPr bwMode="auto">
              <a:xfrm>
                <a:off x="4448"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7" name="Freeform 1347"/>
              <p:cNvSpPr>
                <a:spLocks/>
              </p:cNvSpPr>
              <p:nvPr/>
            </p:nvSpPr>
            <p:spPr bwMode="auto">
              <a:xfrm>
                <a:off x="4451" y="1657"/>
                <a:ext cx="10" cy="10"/>
              </a:xfrm>
              <a:custGeom>
                <a:avLst/>
                <a:gdLst>
                  <a:gd name="T0" fmla="*/ 4 w 10"/>
                  <a:gd name="T1" fmla="*/ 0 h 10"/>
                  <a:gd name="T2" fmla="*/ 7 w 10"/>
                  <a:gd name="T3" fmla="*/ 0 h 10"/>
                  <a:gd name="T4" fmla="*/ 10 w 10"/>
                  <a:gd name="T5" fmla="*/ 4 h 10"/>
                  <a:gd name="T6" fmla="*/ 10 w 10"/>
                  <a:gd name="T7" fmla="*/ 9 h 10"/>
                  <a:gd name="T8" fmla="*/ 9 w 10"/>
                  <a:gd name="T9" fmla="*/ 10 h 10"/>
                  <a:gd name="T10" fmla="*/ 4 w 10"/>
                  <a:gd name="T11" fmla="*/ 10 h 10"/>
                  <a:gd name="T12" fmla="*/ 0 w 10"/>
                  <a:gd name="T13" fmla="*/ 7 h 10"/>
                  <a:gd name="T14" fmla="*/ 0 w 10"/>
                  <a:gd name="T15" fmla="*/ 4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7" y="0"/>
                    </a:lnTo>
                    <a:lnTo>
                      <a:pt x="10" y="4"/>
                    </a:lnTo>
                    <a:lnTo>
                      <a:pt x="10"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28" name="Freeform 1348"/>
              <p:cNvSpPr>
                <a:spLocks/>
              </p:cNvSpPr>
              <p:nvPr/>
            </p:nvSpPr>
            <p:spPr bwMode="auto">
              <a:xfrm>
                <a:off x="4458"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2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9" name="Freeform 1349"/>
              <p:cNvSpPr>
                <a:spLocks/>
              </p:cNvSpPr>
              <p:nvPr/>
            </p:nvSpPr>
            <p:spPr bwMode="auto">
              <a:xfrm>
                <a:off x="4460"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0" name="Freeform 1350"/>
              <p:cNvSpPr>
                <a:spLocks/>
              </p:cNvSpPr>
              <p:nvPr/>
            </p:nvSpPr>
            <p:spPr bwMode="auto">
              <a:xfrm>
                <a:off x="4463"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31" name="Freeform 1351"/>
              <p:cNvSpPr>
                <a:spLocks/>
              </p:cNvSpPr>
              <p:nvPr/>
            </p:nvSpPr>
            <p:spPr bwMode="auto">
              <a:xfrm>
                <a:off x="4495"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2" name="Freeform 1352"/>
              <p:cNvSpPr>
                <a:spLocks/>
              </p:cNvSpPr>
              <p:nvPr/>
            </p:nvSpPr>
            <p:spPr bwMode="auto">
              <a:xfrm>
                <a:off x="4498"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33" name="Freeform 1353"/>
              <p:cNvSpPr>
                <a:spLocks/>
              </p:cNvSpPr>
              <p:nvPr/>
            </p:nvSpPr>
            <p:spPr bwMode="auto">
              <a:xfrm>
                <a:off x="4500"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4" name="Freeform 1354"/>
              <p:cNvSpPr>
                <a:spLocks/>
              </p:cNvSpPr>
              <p:nvPr/>
            </p:nvSpPr>
            <p:spPr bwMode="auto">
              <a:xfrm>
                <a:off x="4551" y="1657"/>
                <a:ext cx="8" cy="10"/>
              </a:xfrm>
              <a:custGeom>
                <a:avLst/>
                <a:gdLst>
                  <a:gd name="T0" fmla="*/ 3 w 8"/>
                  <a:gd name="T1" fmla="*/ 0 h 10"/>
                  <a:gd name="T2" fmla="*/ 5 w 8"/>
                  <a:gd name="T3" fmla="*/ 0 h 10"/>
                  <a:gd name="T4" fmla="*/ 8 w 8"/>
                  <a:gd name="T5" fmla="*/ 4 h 10"/>
                  <a:gd name="T6" fmla="*/ 8 w 8"/>
                  <a:gd name="T7" fmla="*/ 9 h 10"/>
                  <a:gd name="T8" fmla="*/ 6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6"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5" name="Freeform 1355"/>
              <p:cNvSpPr>
                <a:spLocks/>
              </p:cNvSpPr>
              <p:nvPr/>
            </p:nvSpPr>
            <p:spPr bwMode="auto">
              <a:xfrm>
                <a:off x="4554"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6" name="Freeform 1356"/>
              <p:cNvSpPr>
                <a:spLocks/>
              </p:cNvSpPr>
              <p:nvPr/>
            </p:nvSpPr>
            <p:spPr bwMode="auto">
              <a:xfrm>
                <a:off x="4559"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37" name="Freeform 1357"/>
              <p:cNvSpPr>
                <a:spLocks/>
              </p:cNvSpPr>
              <p:nvPr/>
            </p:nvSpPr>
            <p:spPr bwMode="auto">
              <a:xfrm>
                <a:off x="1262" y="1619"/>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38" name="Freeform 1358"/>
              <p:cNvSpPr>
                <a:spLocks/>
              </p:cNvSpPr>
              <p:nvPr/>
            </p:nvSpPr>
            <p:spPr bwMode="auto">
              <a:xfrm>
                <a:off x="1285" y="1619"/>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39" name="Freeform 1359"/>
              <p:cNvSpPr>
                <a:spLocks/>
              </p:cNvSpPr>
              <p:nvPr/>
            </p:nvSpPr>
            <p:spPr bwMode="auto">
              <a:xfrm>
                <a:off x="1335"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0" name="Freeform 1360"/>
              <p:cNvSpPr>
                <a:spLocks/>
              </p:cNvSpPr>
              <p:nvPr/>
            </p:nvSpPr>
            <p:spPr bwMode="auto">
              <a:xfrm>
                <a:off x="1339"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41" name="Freeform 1361"/>
              <p:cNvSpPr>
                <a:spLocks/>
              </p:cNvSpPr>
              <p:nvPr/>
            </p:nvSpPr>
            <p:spPr bwMode="auto">
              <a:xfrm>
                <a:off x="1344" y="1619"/>
                <a:ext cx="10" cy="8"/>
              </a:xfrm>
              <a:custGeom>
                <a:avLst/>
                <a:gdLst>
                  <a:gd name="T0" fmla="*/ 4 w 10"/>
                  <a:gd name="T1" fmla="*/ 0 h 8"/>
                  <a:gd name="T2" fmla="*/ 9 w 10"/>
                  <a:gd name="T3" fmla="*/ 0 h 8"/>
                  <a:gd name="T4" fmla="*/ 10 w 10"/>
                  <a:gd name="T5" fmla="*/ 1 h 8"/>
                  <a:gd name="T6" fmla="*/ 10 w 10"/>
                  <a:gd name="T7" fmla="*/ 7 h 8"/>
                  <a:gd name="T8" fmla="*/ 9 w 10"/>
                  <a:gd name="T9" fmla="*/ 8 h 8"/>
                  <a:gd name="T10" fmla="*/ 4 w 10"/>
                  <a:gd name="T11" fmla="*/ 8 h 8"/>
                  <a:gd name="T12" fmla="*/ 0 w 10"/>
                  <a:gd name="T13" fmla="*/ 5 h 8"/>
                  <a:gd name="T14" fmla="*/ 0 w 10"/>
                  <a:gd name="T15" fmla="*/ 3 h 8"/>
                  <a:gd name="T16" fmla="*/ 4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0"/>
                    </a:moveTo>
                    <a:lnTo>
                      <a:pt x="9" y="0"/>
                    </a:lnTo>
                    <a:lnTo>
                      <a:pt x="10" y="1"/>
                    </a:lnTo>
                    <a:lnTo>
                      <a:pt x="10"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42" name="Freeform 1362"/>
              <p:cNvSpPr>
                <a:spLocks/>
              </p:cNvSpPr>
              <p:nvPr/>
            </p:nvSpPr>
            <p:spPr bwMode="auto">
              <a:xfrm>
                <a:off x="1375"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3" name="Freeform 1363"/>
              <p:cNvSpPr>
                <a:spLocks/>
              </p:cNvSpPr>
              <p:nvPr/>
            </p:nvSpPr>
            <p:spPr bwMode="auto">
              <a:xfrm>
                <a:off x="1389" y="1619"/>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4" name="Freeform 1364"/>
              <p:cNvSpPr>
                <a:spLocks/>
              </p:cNvSpPr>
              <p:nvPr/>
            </p:nvSpPr>
            <p:spPr bwMode="auto">
              <a:xfrm>
                <a:off x="1616"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45" name="Freeform 1365"/>
              <p:cNvSpPr>
                <a:spLocks/>
              </p:cNvSpPr>
              <p:nvPr/>
            </p:nvSpPr>
            <p:spPr bwMode="auto">
              <a:xfrm>
                <a:off x="1625"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46" name="Freeform 1366"/>
              <p:cNvSpPr>
                <a:spLocks/>
              </p:cNvSpPr>
              <p:nvPr/>
            </p:nvSpPr>
            <p:spPr bwMode="auto">
              <a:xfrm>
                <a:off x="1653"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47" name="Freeform 1367"/>
              <p:cNvSpPr>
                <a:spLocks/>
              </p:cNvSpPr>
              <p:nvPr/>
            </p:nvSpPr>
            <p:spPr bwMode="auto">
              <a:xfrm>
                <a:off x="1656"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48" name="Freeform 1368"/>
              <p:cNvSpPr>
                <a:spLocks/>
              </p:cNvSpPr>
              <p:nvPr/>
            </p:nvSpPr>
            <p:spPr bwMode="auto">
              <a:xfrm>
                <a:off x="1740"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9" name="Freeform 1369"/>
              <p:cNvSpPr>
                <a:spLocks/>
              </p:cNvSpPr>
              <p:nvPr/>
            </p:nvSpPr>
            <p:spPr bwMode="auto">
              <a:xfrm>
                <a:off x="2564"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50" name="Freeform 1370"/>
              <p:cNvSpPr>
                <a:spLocks/>
              </p:cNvSpPr>
              <p:nvPr/>
            </p:nvSpPr>
            <p:spPr bwMode="auto">
              <a:xfrm>
                <a:off x="2842"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51" name="Freeform 1371"/>
              <p:cNvSpPr>
                <a:spLocks/>
              </p:cNvSpPr>
              <p:nvPr/>
            </p:nvSpPr>
            <p:spPr bwMode="auto">
              <a:xfrm>
                <a:off x="3337"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2" name="Freeform 1372"/>
              <p:cNvSpPr>
                <a:spLocks/>
              </p:cNvSpPr>
              <p:nvPr/>
            </p:nvSpPr>
            <p:spPr bwMode="auto">
              <a:xfrm>
                <a:off x="3344"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3" name="Freeform 1373"/>
              <p:cNvSpPr>
                <a:spLocks/>
              </p:cNvSpPr>
              <p:nvPr/>
            </p:nvSpPr>
            <p:spPr bwMode="auto">
              <a:xfrm>
                <a:off x="3351" y="1619"/>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4" name="Freeform 1374"/>
              <p:cNvSpPr>
                <a:spLocks/>
              </p:cNvSpPr>
              <p:nvPr/>
            </p:nvSpPr>
            <p:spPr bwMode="auto">
              <a:xfrm>
                <a:off x="3371"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55" name="Freeform 1375"/>
              <p:cNvSpPr>
                <a:spLocks/>
              </p:cNvSpPr>
              <p:nvPr/>
            </p:nvSpPr>
            <p:spPr bwMode="auto">
              <a:xfrm>
                <a:off x="3381"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56" name="Freeform 1376"/>
              <p:cNvSpPr>
                <a:spLocks/>
              </p:cNvSpPr>
              <p:nvPr/>
            </p:nvSpPr>
            <p:spPr bwMode="auto">
              <a:xfrm>
                <a:off x="3383" y="1619"/>
                <a:ext cx="8" cy="8"/>
              </a:xfrm>
              <a:custGeom>
                <a:avLst/>
                <a:gdLst>
                  <a:gd name="T0" fmla="*/ 2 w 8"/>
                  <a:gd name="T1" fmla="*/ 0 h 8"/>
                  <a:gd name="T2" fmla="*/ 5 w 8"/>
                  <a:gd name="T3" fmla="*/ 0 h 8"/>
                  <a:gd name="T4" fmla="*/ 8 w 8"/>
                  <a:gd name="T5" fmla="*/ 3 h 8"/>
                  <a:gd name="T6" fmla="*/ 8 w 8"/>
                  <a:gd name="T7" fmla="*/ 7 h 8"/>
                  <a:gd name="T8" fmla="*/ 7 w 8"/>
                  <a:gd name="T9" fmla="*/ 8 h 8"/>
                  <a:gd name="T10" fmla="*/ 2 w 8"/>
                  <a:gd name="T11" fmla="*/ 8 h 8"/>
                  <a:gd name="T12" fmla="*/ 0 w 8"/>
                  <a:gd name="T13" fmla="*/ 7 h 8"/>
                  <a:gd name="T14" fmla="*/ 0 w 8"/>
                  <a:gd name="T15" fmla="*/ 1 h 8"/>
                  <a:gd name="T16" fmla="*/ 2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2" y="0"/>
                    </a:moveTo>
                    <a:lnTo>
                      <a:pt x="5" y="0"/>
                    </a:lnTo>
                    <a:lnTo>
                      <a:pt x="8" y="3"/>
                    </a:lnTo>
                    <a:lnTo>
                      <a:pt x="8"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7" name="Freeform 1377"/>
              <p:cNvSpPr>
                <a:spLocks/>
              </p:cNvSpPr>
              <p:nvPr/>
            </p:nvSpPr>
            <p:spPr bwMode="auto">
              <a:xfrm>
                <a:off x="3388"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58" name="Freeform 1378"/>
              <p:cNvSpPr>
                <a:spLocks/>
              </p:cNvSpPr>
              <p:nvPr/>
            </p:nvSpPr>
            <p:spPr bwMode="auto">
              <a:xfrm>
                <a:off x="3398" y="1619"/>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9" name="Freeform 1379"/>
              <p:cNvSpPr>
                <a:spLocks/>
              </p:cNvSpPr>
              <p:nvPr/>
            </p:nvSpPr>
            <p:spPr bwMode="auto">
              <a:xfrm>
                <a:off x="3529"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60" name="Freeform 1380"/>
              <p:cNvSpPr>
                <a:spLocks/>
              </p:cNvSpPr>
              <p:nvPr/>
            </p:nvSpPr>
            <p:spPr bwMode="auto">
              <a:xfrm>
                <a:off x="3536"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1" name="Freeform 1381"/>
              <p:cNvSpPr>
                <a:spLocks/>
              </p:cNvSpPr>
              <p:nvPr/>
            </p:nvSpPr>
            <p:spPr bwMode="auto">
              <a:xfrm>
                <a:off x="3570"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62" name="Freeform 1382"/>
              <p:cNvSpPr>
                <a:spLocks/>
              </p:cNvSpPr>
              <p:nvPr/>
            </p:nvSpPr>
            <p:spPr bwMode="auto">
              <a:xfrm>
                <a:off x="3575" y="1619"/>
                <a:ext cx="8" cy="8"/>
              </a:xfrm>
              <a:custGeom>
                <a:avLst/>
                <a:gdLst>
                  <a:gd name="T0" fmla="*/ 2 w 8"/>
                  <a:gd name="T1" fmla="*/ 0 h 8"/>
                  <a:gd name="T2" fmla="*/ 5 w 8"/>
                  <a:gd name="T3" fmla="*/ 0 h 8"/>
                  <a:gd name="T4" fmla="*/ 8 w 8"/>
                  <a:gd name="T5" fmla="*/ 3 h 8"/>
                  <a:gd name="T6" fmla="*/ 8 w 8"/>
                  <a:gd name="T7" fmla="*/ 7 h 8"/>
                  <a:gd name="T8" fmla="*/ 7 w 8"/>
                  <a:gd name="T9" fmla="*/ 8 h 8"/>
                  <a:gd name="T10" fmla="*/ 2 w 8"/>
                  <a:gd name="T11" fmla="*/ 8 h 8"/>
                  <a:gd name="T12" fmla="*/ 0 w 8"/>
                  <a:gd name="T13" fmla="*/ 7 h 8"/>
                  <a:gd name="T14" fmla="*/ 0 w 8"/>
                  <a:gd name="T15" fmla="*/ 1 h 8"/>
                  <a:gd name="T16" fmla="*/ 2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2" y="0"/>
                    </a:moveTo>
                    <a:lnTo>
                      <a:pt x="5" y="0"/>
                    </a:lnTo>
                    <a:lnTo>
                      <a:pt x="8" y="3"/>
                    </a:lnTo>
                    <a:lnTo>
                      <a:pt x="8"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3" name="Freeform 1383"/>
              <p:cNvSpPr>
                <a:spLocks/>
              </p:cNvSpPr>
              <p:nvPr/>
            </p:nvSpPr>
            <p:spPr bwMode="auto">
              <a:xfrm>
                <a:off x="3610" y="1619"/>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64" name="Freeform 1384"/>
              <p:cNvSpPr>
                <a:spLocks/>
              </p:cNvSpPr>
              <p:nvPr/>
            </p:nvSpPr>
            <p:spPr bwMode="auto">
              <a:xfrm>
                <a:off x="3622"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65" name="Freeform 1385"/>
              <p:cNvSpPr>
                <a:spLocks/>
              </p:cNvSpPr>
              <p:nvPr/>
            </p:nvSpPr>
            <p:spPr bwMode="auto">
              <a:xfrm>
                <a:off x="3915"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66" name="Freeform 1386"/>
              <p:cNvSpPr>
                <a:spLocks/>
              </p:cNvSpPr>
              <p:nvPr/>
            </p:nvSpPr>
            <p:spPr bwMode="auto">
              <a:xfrm>
                <a:off x="3920"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7" name="Freeform 1387"/>
              <p:cNvSpPr>
                <a:spLocks/>
              </p:cNvSpPr>
              <p:nvPr/>
            </p:nvSpPr>
            <p:spPr bwMode="auto">
              <a:xfrm>
                <a:off x="4076"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68" name="Freeform 1388"/>
              <p:cNvSpPr>
                <a:spLocks/>
              </p:cNvSpPr>
              <p:nvPr/>
            </p:nvSpPr>
            <p:spPr bwMode="auto">
              <a:xfrm>
                <a:off x="4135"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9" name="Freeform 1389"/>
              <p:cNvSpPr>
                <a:spLocks/>
              </p:cNvSpPr>
              <p:nvPr/>
            </p:nvSpPr>
            <p:spPr bwMode="auto">
              <a:xfrm>
                <a:off x="4139"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70" name="Freeform 1390"/>
              <p:cNvSpPr>
                <a:spLocks/>
              </p:cNvSpPr>
              <p:nvPr/>
            </p:nvSpPr>
            <p:spPr bwMode="auto">
              <a:xfrm>
                <a:off x="4168"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1" name="Freeform 1391"/>
              <p:cNvSpPr>
                <a:spLocks/>
              </p:cNvSpPr>
              <p:nvPr/>
            </p:nvSpPr>
            <p:spPr bwMode="auto">
              <a:xfrm>
                <a:off x="4313"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2" name="Freeform 1392"/>
              <p:cNvSpPr>
                <a:spLocks/>
              </p:cNvSpPr>
              <p:nvPr/>
            </p:nvSpPr>
            <p:spPr bwMode="auto">
              <a:xfrm>
                <a:off x="4336"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3" name="Freeform 1393"/>
              <p:cNvSpPr>
                <a:spLocks/>
              </p:cNvSpPr>
              <p:nvPr/>
            </p:nvSpPr>
            <p:spPr bwMode="auto">
              <a:xfrm>
                <a:off x="4402"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74" name="Freeform 1394"/>
              <p:cNvSpPr>
                <a:spLocks/>
              </p:cNvSpPr>
              <p:nvPr/>
            </p:nvSpPr>
            <p:spPr bwMode="auto">
              <a:xfrm>
                <a:off x="4425" y="1619"/>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5" name="Freeform 1395"/>
              <p:cNvSpPr>
                <a:spLocks/>
              </p:cNvSpPr>
              <p:nvPr/>
            </p:nvSpPr>
            <p:spPr bwMode="auto">
              <a:xfrm>
                <a:off x="4434" y="1619"/>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76" name="Freeform 1396"/>
              <p:cNvSpPr>
                <a:spLocks/>
              </p:cNvSpPr>
              <p:nvPr/>
            </p:nvSpPr>
            <p:spPr bwMode="auto">
              <a:xfrm>
                <a:off x="4456"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7" name="Freeform 1397"/>
              <p:cNvSpPr>
                <a:spLocks/>
              </p:cNvSpPr>
              <p:nvPr/>
            </p:nvSpPr>
            <p:spPr bwMode="auto">
              <a:xfrm>
                <a:off x="4470"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78" name="Freeform 1398"/>
              <p:cNvSpPr>
                <a:spLocks/>
              </p:cNvSpPr>
              <p:nvPr/>
            </p:nvSpPr>
            <p:spPr bwMode="auto">
              <a:xfrm>
                <a:off x="4489"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9" name="Freeform 1399"/>
              <p:cNvSpPr>
                <a:spLocks/>
              </p:cNvSpPr>
              <p:nvPr/>
            </p:nvSpPr>
            <p:spPr bwMode="auto">
              <a:xfrm>
                <a:off x="4500" y="1619"/>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0" name="Freeform 1400"/>
              <p:cNvSpPr>
                <a:spLocks/>
              </p:cNvSpPr>
              <p:nvPr/>
            </p:nvSpPr>
            <p:spPr bwMode="auto">
              <a:xfrm>
                <a:off x="4505"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81" name="Freeform 1401"/>
              <p:cNvSpPr>
                <a:spLocks/>
              </p:cNvSpPr>
              <p:nvPr/>
            </p:nvSpPr>
            <p:spPr bwMode="auto">
              <a:xfrm>
                <a:off x="4507" y="1619"/>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2" name="Freeform 1402"/>
              <p:cNvSpPr>
                <a:spLocks/>
              </p:cNvSpPr>
              <p:nvPr/>
            </p:nvSpPr>
            <p:spPr bwMode="auto">
              <a:xfrm>
                <a:off x="4519"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83" name="Freeform 1403"/>
              <p:cNvSpPr>
                <a:spLocks/>
              </p:cNvSpPr>
              <p:nvPr/>
            </p:nvSpPr>
            <p:spPr bwMode="auto">
              <a:xfrm>
                <a:off x="4521" y="1619"/>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84" name="Freeform 1404"/>
              <p:cNvSpPr>
                <a:spLocks/>
              </p:cNvSpPr>
              <p:nvPr/>
            </p:nvSpPr>
            <p:spPr bwMode="auto">
              <a:xfrm>
                <a:off x="4542"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5" name="Freeform 1405"/>
              <p:cNvSpPr>
                <a:spLocks/>
              </p:cNvSpPr>
              <p:nvPr/>
            </p:nvSpPr>
            <p:spPr bwMode="auto">
              <a:xfrm>
                <a:off x="4545"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86" name="Freeform 1406"/>
              <p:cNvSpPr>
                <a:spLocks/>
              </p:cNvSpPr>
              <p:nvPr/>
            </p:nvSpPr>
            <p:spPr bwMode="auto">
              <a:xfrm>
                <a:off x="4563"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7" name="Freeform 1407"/>
              <p:cNvSpPr>
                <a:spLocks/>
              </p:cNvSpPr>
              <p:nvPr/>
            </p:nvSpPr>
            <p:spPr bwMode="auto">
              <a:xfrm>
                <a:off x="4575"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88" name="Freeform 1408"/>
              <p:cNvSpPr>
                <a:spLocks/>
              </p:cNvSpPr>
              <p:nvPr/>
            </p:nvSpPr>
            <p:spPr bwMode="auto">
              <a:xfrm>
                <a:off x="1068"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89" name="Freeform 1409"/>
              <p:cNvSpPr>
                <a:spLocks/>
              </p:cNvSpPr>
              <p:nvPr/>
            </p:nvSpPr>
            <p:spPr bwMode="auto">
              <a:xfrm>
                <a:off x="1389"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90" name="Freeform 1410"/>
              <p:cNvSpPr>
                <a:spLocks/>
              </p:cNvSpPr>
              <p:nvPr/>
            </p:nvSpPr>
            <p:spPr bwMode="auto">
              <a:xfrm>
                <a:off x="1588"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9" name="Group 1612"/>
            <p:cNvGrpSpPr>
              <a:grpSpLocks/>
            </p:cNvGrpSpPr>
            <p:nvPr/>
          </p:nvGrpSpPr>
          <p:grpSpPr bwMode="auto">
            <a:xfrm>
              <a:off x="1698625" y="2314644"/>
              <a:ext cx="5656289" cy="204794"/>
              <a:chOff x="1070" y="1458"/>
              <a:chExt cx="3563" cy="129"/>
            </a:xfrm>
          </p:grpSpPr>
          <p:sp>
            <p:nvSpPr>
              <p:cNvPr id="1291" name="Freeform 1412"/>
              <p:cNvSpPr>
                <a:spLocks/>
              </p:cNvSpPr>
              <p:nvPr/>
            </p:nvSpPr>
            <p:spPr bwMode="auto">
              <a:xfrm>
                <a:off x="1592" y="1578"/>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2" name="Freeform 1413"/>
              <p:cNvSpPr>
                <a:spLocks/>
              </p:cNvSpPr>
              <p:nvPr/>
            </p:nvSpPr>
            <p:spPr bwMode="auto">
              <a:xfrm>
                <a:off x="1597"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3" name="Freeform 1414"/>
              <p:cNvSpPr>
                <a:spLocks/>
              </p:cNvSpPr>
              <p:nvPr/>
            </p:nvSpPr>
            <p:spPr bwMode="auto">
              <a:xfrm>
                <a:off x="1749"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4" name="Freeform 1415"/>
              <p:cNvSpPr>
                <a:spLocks/>
              </p:cNvSpPr>
              <p:nvPr/>
            </p:nvSpPr>
            <p:spPr bwMode="auto">
              <a:xfrm>
                <a:off x="2398"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5" name="Freeform 1416"/>
              <p:cNvSpPr>
                <a:spLocks/>
              </p:cNvSpPr>
              <p:nvPr/>
            </p:nvSpPr>
            <p:spPr bwMode="auto">
              <a:xfrm>
                <a:off x="2503"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6" name="Freeform 1417"/>
              <p:cNvSpPr>
                <a:spLocks/>
              </p:cNvSpPr>
              <p:nvPr/>
            </p:nvSpPr>
            <p:spPr bwMode="auto">
              <a:xfrm>
                <a:off x="2508"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97" name="Freeform 1418"/>
              <p:cNvSpPr>
                <a:spLocks/>
              </p:cNvSpPr>
              <p:nvPr/>
            </p:nvSpPr>
            <p:spPr bwMode="auto">
              <a:xfrm>
                <a:off x="2519"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98" name="Freeform 1419"/>
              <p:cNvSpPr>
                <a:spLocks/>
              </p:cNvSpPr>
              <p:nvPr/>
            </p:nvSpPr>
            <p:spPr bwMode="auto">
              <a:xfrm>
                <a:off x="2526"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99" name="Freeform 1420"/>
              <p:cNvSpPr>
                <a:spLocks/>
              </p:cNvSpPr>
              <p:nvPr/>
            </p:nvSpPr>
            <p:spPr bwMode="auto">
              <a:xfrm>
                <a:off x="2527"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0" name="Freeform 1421"/>
              <p:cNvSpPr>
                <a:spLocks/>
              </p:cNvSpPr>
              <p:nvPr/>
            </p:nvSpPr>
            <p:spPr bwMode="auto">
              <a:xfrm>
                <a:off x="2533"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1" name="Freeform 1422"/>
              <p:cNvSpPr>
                <a:spLocks/>
              </p:cNvSpPr>
              <p:nvPr/>
            </p:nvSpPr>
            <p:spPr bwMode="auto">
              <a:xfrm>
                <a:off x="2541"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2" name="Freeform 1423"/>
              <p:cNvSpPr>
                <a:spLocks/>
              </p:cNvSpPr>
              <p:nvPr/>
            </p:nvSpPr>
            <p:spPr bwMode="auto">
              <a:xfrm>
                <a:off x="2552" y="1578"/>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3" name="Freeform 1424"/>
              <p:cNvSpPr>
                <a:spLocks/>
              </p:cNvSpPr>
              <p:nvPr/>
            </p:nvSpPr>
            <p:spPr bwMode="auto">
              <a:xfrm>
                <a:off x="2554"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4" name="Freeform 1425"/>
              <p:cNvSpPr>
                <a:spLocks/>
              </p:cNvSpPr>
              <p:nvPr/>
            </p:nvSpPr>
            <p:spPr bwMode="auto">
              <a:xfrm>
                <a:off x="2566"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5" name="Freeform 1426"/>
              <p:cNvSpPr>
                <a:spLocks/>
              </p:cNvSpPr>
              <p:nvPr/>
            </p:nvSpPr>
            <p:spPr bwMode="auto">
              <a:xfrm>
                <a:off x="2573" y="1578"/>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6" name="Freeform 1427"/>
              <p:cNvSpPr>
                <a:spLocks/>
              </p:cNvSpPr>
              <p:nvPr/>
            </p:nvSpPr>
            <p:spPr bwMode="auto">
              <a:xfrm>
                <a:off x="2746"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7" name="Freeform 1428"/>
              <p:cNvSpPr>
                <a:spLocks/>
              </p:cNvSpPr>
              <p:nvPr/>
            </p:nvSpPr>
            <p:spPr bwMode="auto">
              <a:xfrm>
                <a:off x="3302"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8" name="Freeform 1429"/>
              <p:cNvSpPr>
                <a:spLocks/>
              </p:cNvSpPr>
              <p:nvPr/>
            </p:nvSpPr>
            <p:spPr bwMode="auto">
              <a:xfrm>
                <a:off x="3311"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9" name="Freeform 1430"/>
              <p:cNvSpPr>
                <a:spLocks/>
              </p:cNvSpPr>
              <p:nvPr/>
            </p:nvSpPr>
            <p:spPr bwMode="auto">
              <a:xfrm>
                <a:off x="3313" y="157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10" name="Freeform 1431"/>
              <p:cNvSpPr>
                <a:spLocks/>
              </p:cNvSpPr>
              <p:nvPr/>
            </p:nvSpPr>
            <p:spPr bwMode="auto">
              <a:xfrm>
                <a:off x="3318"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1" name="Freeform 1432"/>
              <p:cNvSpPr>
                <a:spLocks/>
              </p:cNvSpPr>
              <p:nvPr/>
            </p:nvSpPr>
            <p:spPr bwMode="auto">
              <a:xfrm>
                <a:off x="3329"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12" name="Freeform 1433"/>
              <p:cNvSpPr>
                <a:spLocks/>
              </p:cNvSpPr>
              <p:nvPr/>
            </p:nvSpPr>
            <p:spPr bwMode="auto">
              <a:xfrm>
                <a:off x="3337"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3" name="Freeform 1434"/>
              <p:cNvSpPr>
                <a:spLocks/>
              </p:cNvSpPr>
              <p:nvPr/>
            </p:nvSpPr>
            <p:spPr bwMode="auto">
              <a:xfrm>
                <a:off x="3353" y="157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14" name="Freeform 1435"/>
              <p:cNvSpPr>
                <a:spLocks/>
              </p:cNvSpPr>
              <p:nvPr/>
            </p:nvSpPr>
            <p:spPr bwMode="auto">
              <a:xfrm>
                <a:off x="3355" y="157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15" name="Freeform 1436"/>
              <p:cNvSpPr>
                <a:spLocks/>
              </p:cNvSpPr>
              <p:nvPr/>
            </p:nvSpPr>
            <p:spPr bwMode="auto">
              <a:xfrm>
                <a:off x="3371"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16" name="Freeform 1437"/>
              <p:cNvSpPr>
                <a:spLocks/>
              </p:cNvSpPr>
              <p:nvPr/>
            </p:nvSpPr>
            <p:spPr bwMode="auto">
              <a:xfrm>
                <a:off x="3381"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17" name="Freeform 1438"/>
              <p:cNvSpPr>
                <a:spLocks/>
              </p:cNvSpPr>
              <p:nvPr/>
            </p:nvSpPr>
            <p:spPr bwMode="auto">
              <a:xfrm>
                <a:off x="3475" y="157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18" name="Freeform 1439"/>
              <p:cNvSpPr>
                <a:spLocks/>
              </p:cNvSpPr>
              <p:nvPr/>
            </p:nvSpPr>
            <p:spPr bwMode="auto">
              <a:xfrm>
                <a:off x="3489"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9" name="Freeform 1440"/>
              <p:cNvSpPr>
                <a:spLocks/>
              </p:cNvSpPr>
              <p:nvPr/>
            </p:nvSpPr>
            <p:spPr bwMode="auto">
              <a:xfrm>
                <a:off x="3521"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20" name="Freeform 1441"/>
              <p:cNvSpPr>
                <a:spLocks/>
              </p:cNvSpPr>
              <p:nvPr/>
            </p:nvSpPr>
            <p:spPr bwMode="auto">
              <a:xfrm>
                <a:off x="3526"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1" name="Freeform 1442"/>
              <p:cNvSpPr>
                <a:spLocks/>
              </p:cNvSpPr>
              <p:nvPr/>
            </p:nvSpPr>
            <p:spPr bwMode="auto">
              <a:xfrm>
                <a:off x="4123" y="157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2" name="Freeform 1443"/>
              <p:cNvSpPr>
                <a:spLocks/>
              </p:cNvSpPr>
              <p:nvPr/>
            </p:nvSpPr>
            <p:spPr bwMode="auto">
              <a:xfrm>
                <a:off x="4132"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3" name="Freeform 1444"/>
              <p:cNvSpPr>
                <a:spLocks/>
              </p:cNvSpPr>
              <p:nvPr/>
            </p:nvSpPr>
            <p:spPr bwMode="auto">
              <a:xfrm>
                <a:off x="4177"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4" name="Freeform 1445"/>
              <p:cNvSpPr>
                <a:spLocks/>
              </p:cNvSpPr>
              <p:nvPr/>
            </p:nvSpPr>
            <p:spPr bwMode="auto">
              <a:xfrm>
                <a:off x="4182"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25" name="Freeform 1446"/>
              <p:cNvSpPr>
                <a:spLocks/>
              </p:cNvSpPr>
              <p:nvPr/>
            </p:nvSpPr>
            <p:spPr bwMode="auto">
              <a:xfrm>
                <a:off x="4207"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6" name="Freeform 1447"/>
              <p:cNvSpPr>
                <a:spLocks/>
              </p:cNvSpPr>
              <p:nvPr/>
            </p:nvSpPr>
            <p:spPr bwMode="auto">
              <a:xfrm>
                <a:off x="4215"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7" name="Freeform 1448"/>
              <p:cNvSpPr>
                <a:spLocks/>
              </p:cNvSpPr>
              <p:nvPr/>
            </p:nvSpPr>
            <p:spPr bwMode="auto">
              <a:xfrm>
                <a:off x="4224"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8" name="Freeform 1449"/>
              <p:cNvSpPr>
                <a:spLocks/>
              </p:cNvSpPr>
              <p:nvPr/>
            </p:nvSpPr>
            <p:spPr bwMode="auto">
              <a:xfrm>
                <a:off x="4269"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29" name="Freeform 1450"/>
              <p:cNvSpPr>
                <a:spLocks/>
              </p:cNvSpPr>
              <p:nvPr/>
            </p:nvSpPr>
            <p:spPr bwMode="auto">
              <a:xfrm>
                <a:off x="4280"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0" name="Freeform 1451"/>
              <p:cNvSpPr>
                <a:spLocks/>
              </p:cNvSpPr>
              <p:nvPr/>
            </p:nvSpPr>
            <p:spPr bwMode="auto">
              <a:xfrm>
                <a:off x="4315" y="1578"/>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1" name="Freeform 1452"/>
              <p:cNvSpPr>
                <a:spLocks/>
              </p:cNvSpPr>
              <p:nvPr/>
            </p:nvSpPr>
            <p:spPr bwMode="auto">
              <a:xfrm>
                <a:off x="4358"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32" name="Freeform 1453"/>
              <p:cNvSpPr>
                <a:spLocks/>
              </p:cNvSpPr>
              <p:nvPr/>
            </p:nvSpPr>
            <p:spPr bwMode="auto">
              <a:xfrm>
                <a:off x="4362" y="1578"/>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3" name="Freeform 1454"/>
              <p:cNvSpPr>
                <a:spLocks/>
              </p:cNvSpPr>
              <p:nvPr/>
            </p:nvSpPr>
            <p:spPr bwMode="auto">
              <a:xfrm>
                <a:off x="4385" y="1578"/>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34" name="Freeform 1455"/>
              <p:cNvSpPr>
                <a:spLocks/>
              </p:cNvSpPr>
              <p:nvPr/>
            </p:nvSpPr>
            <p:spPr bwMode="auto">
              <a:xfrm>
                <a:off x="4390" y="1578"/>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35" name="Freeform 1456"/>
              <p:cNvSpPr>
                <a:spLocks/>
              </p:cNvSpPr>
              <p:nvPr/>
            </p:nvSpPr>
            <p:spPr bwMode="auto">
              <a:xfrm>
                <a:off x="4392" y="1578"/>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36" name="Freeform 1457"/>
              <p:cNvSpPr>
                <a:spLocks/>
              </p:cNvSpPr>
              <p:nvPr/>
            </p:nvSpPr>
            <p:spPr bwMode="auto">
              <a:xfrm>
                <a:off x="4393"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7" name="Freeform 1458"/>
              <p:cNvSpPr>
                <a:spLocks/>
              </p:cNvSpPr>
              <p:nvPr/>
            </p:nvSpPr>
            <p:spPr bwMode="auto">
              <a:xfrm>
                <a:off x="4395" y="157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38" name="Freeform 1459"/>
              <p:cNvSpPr>
                <a:spLocks/>
              </p:cNvSpPr>
              <p:nvPr/>
            </p:nvSpPr>
            <p:spPr bwMode="auto">
              <a:xfrm>
                <a:off x="4416"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9" name="Freeform 1460"/>
              <p:cNvSpPr>
                <a:spLocks/>
              </p:cNvSpPr>
              <p:nvPr/>
            </p:nvSpPr>
            <p:spPr bwMode="auto">
              <a:xfrm>
                <a:off x="4418" y="1578"/>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40" name="Freeform 1461"/>
              <p:cNvSpPr>
                <a:spLocks/>
              </p:cNvSpPr>
              <p:nvPr/>
            </p:nvSpPr>
            <p:spPr bwMode="auto">
              <a:xfrm>
                <a:off x="4463"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41" name="Freeform 1462"/>
              <p:cNvSpPr>
                <a:spLocks/>
              </p:cNvSpPr>
              <p:nvPr/>
            </p:nvSpPr>
            <p:spPr bwMode="auto">
              <a:xfrm>
                <a:off x="4481"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2" name="Freeform 1463"/>
              <p:cNvSpPr>
                <a:spLocks/>
              </p:cNvSpPr>
              <p:nvPr/>
            </p:nvSpPr>
            <p:spPr bwMode="auto">
              <a:xfrm>
                <a:off x="4495"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43" name="Freeform 1464"/>
              <p:cNvSpPr>
                <a:spLocks/>
              </p:cNvSpPr>
              <p:nvPr/>
            </p:nvSpPr>
            <p:spPr bwMode="auto">
              <a:xfrm>
                <a:off x="4510"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44" name="Freeform 1465"/>
              <p:cNvSpPr>
                <a:spLocks/>
              </p:cNvSpPr>
              <p:nvPr/>
            </p:nvSpPr>
            <p:spPr bwMode="auto">
              <a:xfrm>
                <a:off x="1070"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45" name="Freeform 1466"/>
              <p:cNvSpPr>
                <a:spLocks/>
              </p:cNvSpPr>
              <p:nvPr/>
            </p:nvSpPr>
            <p:spPr bwMode="auto">
              <a:xfrm>
                <a:off x="1559"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6" name="Freeform 1467"/>
              <p:cNvSpPr>
                <a:spLocks/>
              </p:cNvSpPr>
              <p:nvPr/>
            </p:nvSpPr>
            <p:spPr bwMode="auto">
              <a:xfrm>
                <a:off x="1573" y="1538"/>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7" name="Freeform 1468"/>
              <p:cNvSpPr>
                <a:spLocks/>
              </p:cNvSpPr>
              <p:nvPr/>
            </p:nvSpPr>
            <p:spPr bwMode="auto">
              <a:xfrm>
                <a:off x="1576"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48" name="Freeform 1469"/>
              <p:cNvSpPr>
                <a:spLocks/>
              </p:cNvSpPr>
              <p:nvPr/>
            </p:nvSpPr>
            <p:spPr bwMode="auto">
              <a:xfrm>
                <a:off x="1606"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49" name="Freeform 1470"/>
              <p:cNvSpPr>
                <a:spLocks/>
              </p:cNvSpPr>
              <p:nvPr/>
            </p:nvSpPr>
            <p:spPr bwMode="auto">
              <a:xfrm>
                <a:off x="1625"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50" name="Freeform 1471"/>
              <p:cNvSpPr>
                <a:spLocks/>
              </p:cNvSpPr>
              <p:nvPr/>
            </p:nvSpPr>
            <p:spPr bwMode="auto">
              <a:xfrm>
                <a:off x="1670"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1" name="Freeform 1472"/>
              <p:cNvSpPr>
                <a:spLocks/>
              </p:cNvSpPr>
              <p:nvPr/>
            </p:nvSpPr>
            <p:spPr bwMode="auto">
              <a:xfrm>
                <a:off x="1726"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2" name="Freeform 1473"/>
              <p:cNvSpPr>
                <a:spLocks/>
              </p:cNvSpPr>
              <p:nvPr/>
            </p:nvSpPr>
            <p:spPr bwMode="auto">
              <a:xfrm>
                <a:off x="1936"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3" name="Freeform 1474"/>
              <p:cNvSpPr>
                <a:spLocks/>
              </p:cNvSpPr>
              <p:nvPr/>
            </p:nvSpPr>
            <p:spPr bwMode="auto">
              <a:xfrm>
                <a:off x="2390" y="1538"/>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4" name="Freeform 1475"/>
              <p:cNvSpPr>
                <a:spLocks/>
              </p:cNvSpPr>
              <p:nvPr/>
            </p:nvSpPr>
            <p:spPr bwMode="auto">
              <a:xfrm>
                <a:off x="2397" y="1538"/>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5" name="Freeform 1476"/>
              <p:cNvSpPr>
                <a:spLocks/>
              </p:cNvSpPr>
              <p:nvPr/>
            </p:nvSpPr>
            <p:spPr bwMode="auto">
              <a:xfrm>
                <a:off x="2400"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6" name="Freeform 1477"/>
              <p:cNvSpPr>
                <a:spLocks/>
              </p:cNvSpPr>
              <p:nvPr/>
            </p:nvSpPr>
            <p:spPr bwMode="auto">
              <a:xfrm>
                <a:off x="2407"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7" name="Freeform 1478"/>
              <p:cNvSpPr>
                <a:spLocks/>
              </p:cNvSpPr>
              <p:nvPr/>
            </p:nvSpPr>
            <p:spPr bwMode="auto">
              <a:xfrm>
                <a:off x="2419"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8" name="Freeform 1479"/>
              <p:cNvSpPr>
                <a:spLocks/>
              </p:cNvSpPr>
              <p:nvPr/>
            </p:nvSpPr>
            <p:spPr bwMode="auto">
              <a:xfrm>
                <a:off x="2472"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9" name="Freeform 1480"/>
              <p:cNvSpPr>
                <a:spLocks/>
              </p:cNvSpPr>
              <p:nvPr/>
            </p:nvSpPr>
            <p:spPr bwMode="auto">
              <a:xfrm>
                <a:off x="2501"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0" name="Freeform 1481"/>
              <p:cNvSpPr>
                <a:spLocks/>
              </p:cNvSpPr>
              <p:nvPr/>
            </p:nvSpPr>
            <p:spPr bwMode="auto">
              <a:xfrm>
                <a:off x="2517"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1" name="Freeform 1482"/>
              <p:cNvSpPr>
                <a:spLocks/>
              </p:cNvSpPr>
              <p:nvPr/>
            </p:nvSpPr>
            <p:spPr bwMode="auto">
              <a:xfrm>
                <a:off x="2534"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2" name="Freeform 1483"/>
              <p:cNvSpPr>
                <a:spLocks/>
              </p:cNvSpPr>
              <p:nvPr/>
            </p:nvSpPr>
            <p:spPr bwMode="auto">
              <a:xfrm>
                <a:off x="2538" y="153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63" name="Freeform 1484"/>
              <p:cNvSpPr>
                <a:spLocks/>
              </p:cNvSpPr>
              <p:nvPr/>
            </p:nvSpPr>
            <p:spPr bwMode="auto">
              <a:xfrm>
                <a:off x="2554" y="153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64" name="Freeform 1485"/>
              <p:cNvSpPr>
                <a:spLocks/>
              </p:cNvSpPr>
              <p:nvPr/>
            </p:nvSpPr>
            <p:spPr bwMode="auto">
              <a:xfrm>
                <a:off x="2582" y="1538"/>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65" name="Freeform 1486"/>
              <p:cNvSpPr>
                <a:spLocks/>
              </p:cNvSpPr>
              <p:nvPr/>
            </p:nvSpPr>
            <p:spPr bwMode="auto">
              <a:xfrm>
                <a:off x="2594" y="153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66" name="Freeform 1487"/>
              <p:cNvSpPr>
                <a:spLocks/>
              </p:cNvSpPr>
              <p:nvPr/>
            </p:nvSpPr>
            <p:spPr bwMode="auto">
              <a:xfrm>
                <a:off x="2606"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7" name="Freeform 1488"/>
              <p:cNvSpPr>
                <a:spLocks/>
              </p:cNvSpPr>
              <p:nvPr/>
            </p:nvSpPr>
            <p:spPr bwMode="auto">
              <a:xfrm>
                <a:off x="2733"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8" name="Freeform 1489"/>
              <p:cNvSpPr>
                <a:spLocks/>
              </p:cNvSpPr>
              <p:nvPr/>
            </p:nvSpPr>
            <p:spPr bwMode="auto">
              <a:xfrm>
                <a:off x="2765"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9" name="Freeform 1490"/>
              <p:cNvSpPr>
                <a:spLocks/>
              </p:cNvSpPr>
              <p:nvPr/>
            </p:nvSpPr>
            <p:spPr bwMode="auto">
              <a:xfrm>
                <a:off x="3257"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70" name="Freeform 1491"/>
              <p:cNvSpPr>
                <a:spLocks/>
              </p:cNvSpPr>
              <p:nvPr/>
            </p:nvSpPr>
            <p:spPr bwMode="auto">
              <a:xfrm>
                <a:off x="3297"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71" name="Freeform 1492"/>
              <p:cNvSpPr>
                <a:spLocks/>
              </p:cNvSpPr>
              <p:nvPr/>
            </p:nvSpPr>
            <p:spPr bwMode="auto">
              <a:xfrm>
                <a:off x="3318"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2" name="Freeform 1493"/>
              <p:cNvSpPr>
                <a:spLocks/>
              </p:cNvSpPr>
              <p:nvPr/>
            </p:nvSpPr>
            <p:spPr bwMode="auto">
              <a:xfrm>
                <a:off x="3322" y="153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73" name="Freeform 1494"/>
              <p:cNvSpPr>
                <a:spLocks/>
              </p:cNvSpPr>
              <p:nvPr/>
            </p:nvSpPr>
            <p:spPr bwMode="auto">
              <a:xfrm>
                <a:off x="3501"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4" name="Freeform 1495"/>
              <p:cNvSpPr>
                <a:spLocks/>
              </p:cNvSpPr>
              <p:nvPr/>
            </p:nvSpPr>
            <p:spPr bwMode="auto">
              <a:xfrm>
                <a:off x="3512"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5" name="Freeform 1496"/>
              <p:cNvSpPr>
                <a:spLocks/>
              </p:cNvSpPr>
              <p:nvPr/>
            </p:nvSpPr>
            <p:spPr bwMode="auto">
              <a:xfrm>
                <a:off x="3519"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6" name="Freeform 1497"/>
              <p:cNvSpPr>
                <a:spLocks/>
              </p:cNvSpPr>
              <p:nvPr/>
            </p:nvSpPr>
            <p:spPr bwMode="auto">
              <a:xfrm>
                <a:off x="3554"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7" name="Freeform 1498"/>
              <p:cNvSpPr>
                <a:spLocks/>
              </p:cNvSpPr>
              <p:nvPr/>
            </p:nvSpPr>
            <p:spPr bwMode="auto">
              <a:xfrm>
                <a:off x="3927"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8" name="Freeform 1499"/>
              <p:cNvSpPr>
                <a:spLocks/>
              </p:cNvSpPr>
              <p:nvPr/>
            </p:nvSpPr>
            <p:spPr bwMode="auto">
              <a:xfrm>
                <a:off x="3974"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9" name="Freeform 1500"/>
              <p:cNvSpPr>
                <a:spLocks/>
              </p:cNvSpPr>
              <p:nvPr/>
            </p:nvSpPr>
            <p:spPr bwMode="auto">
              <a:xfrm>
                <a:off x="3985"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0" name="Freeform 1501"/>
              <p:cNvSpPr>
                <a:spLocks/>
              </p:cNvSpPr>
              <p:nvPr/>
            </p:nvSpPr>
            <p:spPr bwMode="auto">
              <a:xfrm>
                <a:off x="3992"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1" name="Freeform 1502"/>
              <p:cNvSpPr>
                <a:spLocks/>
              </p:cNvSpPr>
              <p:nvPr/>
            </p:nvSpPr>
            <p:spPr bwMode="auto">
              <a:xfrm>
                <a:off x="4009"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2" name="Freeform 1503"/>
              <p:cNvSpPr>
                <a:spLocks/>
              </p:cNvSpPr>
              <p:nvPr/>
            </p:nvSpPr>
            <p:spPr bwMode="auto">
              <a:xfrm>
                <a:off x="4016"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3" name="Freeform 1504"/>
              <p:cNvSpPr>
                <a:spLocks/>
              </p:cNvSpPr>
              <p:nvPr/>
            </p:nvSpPr>
            <p:spPr bwMode="auto">
              <a:xfrm>
                <a:off x="4018"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84" name="Freeform 1505"/>
              <p:cNvSpPr>
                <a:spLocks/>
              </p:cNvSpPr>
              <p:nvPr/>
            </p:nvSpPr>
            <p:spPr bwMode="auto">
              <a:xfrm>
                <a:off x="4023"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5" name="Freeform 1506"/>
              <p:cNvSpPr>
                <a:spLocks/>
              </p:cNvSpPr>
              <p:nvPr/>
            </p:nvSpPr>
            <p:spPr bwMode="auto">
              <a:xfrm>
                <a:off x="4025"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6" name="Freeform 1507"/>
              <p:cNvSpPr>
                <a:spLocks/>
              </p:cNvSpPr>
              <p:nvPr/>
            </p:nvSpPr>
            <p:spPr bwMode="auto">
              <a:xfrm>
                <a:off x="4032"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7" name="Freeform 1508"/>
              <p:cNvSpPr>
                <a:spLocks/>
              </p:cNvSpPr>
              <p:nvPr/>
            </p:nvSpPr>
            <p:spPr bwMode="auto">
              <a:xfrm>
                <a:off x="4053"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8" name="Freeform 1509"/>
              <p:cNvSpPr>
                <a:spLocks/>
              </p:cNvSpPr>
              <p:nvPr/>
            </p:nvSpPr>
            <p:spPr bwMode="auto">
              <a:xfrm>
                <a:off x="4112"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9" name="Freeform 1510"/>
              <p:cNvSpPr>
                <a:spLocks/>
              </p:cNvSpPr>
              <p:nvPr/>
            </p:nvSpPr>
            <p:spPr bwMode="auto">
              <a:xfrm>
                <a:off x="4118" y="1538"/>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90" name="Freeform 1511"/>
              <p:cNvSpPr>
                <a:spLocks/>
              </p:cNvSpPr>
              <p:nvPr/>
            </p:nvSpPr>
            <p:spPr bwMode="auto">
              <a:xfrm>
                <a:off x="4184"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1" name="Freeform 1512"/>
              <p:cNvSpPr>
                <a:spLocks/>
              </p:cNvSpPr>
              <p:nvPr/>
            </p:nvSpPr>
            <p:spPr bwMode="auto">
              <a:xfrm>
                <a:off x="4210"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2" name="Freeform 1513"/>
              <p:cNvSpPr>
                <a:spLocks/>
              </p:cNvSpPr>
              <p:nvPr/>
            </p:nvSpPr>
            <p:spPr bwMode="auto">
              <a:xfrm>
                <a:off x="4235" y="153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93" name="Freeform 1514"/>
              <p:cNvSpPr>
                <a:spLocks/>
              </p:cNvSpPr>
              <p:nvPr/>
            </p:nvSpPr>
            <p:spPr bwMode="auto">
              <a:xfrm>
                <a:off x="4249"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94" name="Freeform 1515"/>
              <p:cNvSpPr>
                <a:spLocks/>
              </p:cNvSpPr>
              <p:nvPr/>
            </p:nvSpPr>
            <p:spPr bwMode="auto">
              <a:xfrm>
                <a:off x="4294"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5" name="Freeform 1516"/>
              <p:cNvSpPr>
                <a:spLocks/>
              </p:cNvSpPr>
              <p:nvPr/>
            </p:nvSpPr>
            <p:spPr bwMode="auto">
              <a:xfrm>
                <a:off x="4435"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96" name="Freeform 1517"/>
              <p:cNvSpPr>
                <a:spLocks/>
              </p:cNvSpPr>
              <p:nvPr/>
            </p:nvSpPr>
            <p:spPr bwMode="auto">
              <a:xfrm>
                <a:off x="4465"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7" name="Freeform 1518"/>
              <p:cNvSpPr>
                <a:spLocks/>
              </p:cNvSpPr>
              <p:nvPr/>
            </p:nvSpPr>
            <p:spPr bwMode="auto">
              <a:xfrm>
                <a:off x="4568"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8" name="Freeform 1519"/>
              <p:cNvSpPr>
                <a:spLocks/>
              </p:cNvSpPr>
              <p:nvPr/>
            </p:nvSpPr>
            <p:spPr bwMode="auto">
              <a:xfrm>
                <a:off x="4571"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99" name="Freeform 1520"/>
              <p:cNvSpPr>
                <a:spLocks/>
              </p:cNvSpPr>
              <p:nvPr/>
            </p:nvSpPr>
            <p:spPr bwMode="auto">
              <a:xfrm>
                <a:off x="1416"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00" name="Freeform 1521"/>
              <p:cNvSpPr>
                <a:spLocks/>
              </p:cNvSpPr>
              <p:nvPr/>
            </p:nvSpPr>
            <p:spPr bwMode="auto">
              <a:xfrm>
                <a:off x="1559" y="1498"/>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01" name="Freeform 1522"/>
              <p:cNvSpPr>
                <a:spLocks/>
              </p:cNvSpPr>
              <p:nvPr/>
            </p:nvSpPr>
            <p:spPr bwMode="auto">
              <a:xfrm>
                <a:off x="1695" y="1498"/>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2" name="Freeform 1523"/>
              <p:cNvSpPr>
                <a:spLocks/>
              </p:cNvSpPr>
              <p:nvPr/>
            </p:nvSpPr>
            <p:spPr bwMode="auto">
              <a:xfrm>
                <a:off x="1878"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3" name="Freeform 1524"/>
              <p:cNvSpPr>
                <a:spLocks/>
              </p:cNvSpPr>
              <p:nvPr/>
            </p:nvSpPr>
            <p:spPr bwMode="auto">
              <a:xfrm>
                <a:off x="1903" y="1498"/>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04" name="Freeform 1525"/>
              <p:cNvSpPr>
                <a:spLocks/>
              </p:cNvSpPr>
              <p:nvPr/>
            </p:nvSpPr>
            <p:spPr bwMode="auto">
              <a:xfrm>
                <a:off x="1904" y="1498"/>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05" name="Freeform 1526"/>
              <p:cNvSpPr>
                <a:spLocks/>
              </p:cNvSpPr>
              <p:nvPr/>
            </p:nvSpPr>
            <p:spPr bwMode="auto">
              <a:xfrm>
                <a:off x="1924"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06" name="Freeform 1527"/>
              <p:cNvSpPr>
                <a:spLocks/>
              </p:cNvSpPr>
              <p:nvPr/>
            </p:nvSpPr>
            <p:spPr bwMode="auto">
              <a:xfrm>
                <a:off x="1929"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07" name="Freeform 1528"/>
              <p:cNvSpPr>
                <a:spLocks/>
              </p:cNvSpPr>
              <p:nvPr/>
            </p:nvSpPr>
            <p:spPr bwMode="auto">
              <a:xfrm>
                <a:off x="1967"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8" name="Freeform 1529"/>
              <p:cNvSpPr>
                <a:spLocks/>
              </p:cNvSpPr>
              <p:nvPr/>
            </p:nvSpPr>
            <p:spPr bwMode="auto">
              <a:xfrm>
                <a:off x="1974"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9" name="Freeform 1530"/>
              <p:cNvSpPr>
                <a:spLocks/>
              </p:cNvSpPr>
              <p:nvPr/>
            </p:nvSpPr>
            <p:spPr bwMode="auto">
              <a:xfrm>
                <a:off x="2505" y="1498"/>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10" name="Freeform 1531"/>
              <p:cNvSpPr>
                <a:spLocks/>
              </p:cNvSpPr>
              <p:nvPr/>
            </p:nvSpPr>
            <p:spPr bwMode="auto">
              <a:xfrm>
                <a:off x="2550"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1" name="Freeform 1532"/>
              <p:cNvSpPr>
                <a:spLocks/>
              </p:cNvSpPr>
              <p:nvPr/>
            </p:nvSpPr>
            <p:spPr bwMode="auto">
              <a:xfrm>
                <a:off x="2552" y="1498"/>
                <a:ext cx="10" cy="11"/>
              </a:xfrm>
              <a:custGeom>
                <a:avLst/>
                <a:gdLst>
                  <a:gd name="T0" fmla="*/ 2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9" y="0"/>
                    </a:lnTo>
                    <a:lnTo>
                      <a:pt x="10" y="2"/>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2" name="Freeform 1533"/>
              <p:cNvSpPr>
                <a:spLocks/>
              </p:cNvSpPr>
              <p:nvPr/>
            </p:nvSpPr>
            <p:spPr bwMode="auto">
              <a:xfrm>
                <a:off x="3025" y="1498"/>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13" name="Freeform 1534"/>
              <p:cNvSpPr>
                <a:spLocks/>
              </p:cNvSpPr>
              <p:nvPr/>
            </p:nvSpPr>
            <p:spPr bwMode="auto">
              <a:xfrm>
                <a:off x="3280" y="1498"/>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4" name="Freeform 1535"/>
              <p:cNvSpPr>
                <a:spLocks/>
              </p:cNvSpPr>
              <p:nvPr/>
            </p:nvSpPr>
            <p:spPr bwMode="auto">
              <a:xfrm>
                <a:off x="3287" y="1498"/>
                <a:ext cx="8" cy="11"/>
              </a:xfrm>
              <a:custGeom>
                <a:avLst/>
                <a:gdLst>
                  <a:gd name="T0" fmla="*/ 2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2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2" y="0"/>
                    </a:moveTo>
                    <a:lnTo>
                      <a:pt x="7" y="0"/>
                    </a:lnTo>
                    <a:lnTo>
                      <a:pt x="8" y="2"/>
                    </a:lnTo>
                    <a:lnTo>
                      <a:pt x="8"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5" name="Freeform 1536"/>
              <p:cNvSpPr>
                <a:spLocks/>
              </p:cNvSpPr>
              <p:nvPr/>
            </p:nvSpPr>
            <p:spPr bwMode="auto">
              <a:xfrm>
                <a:off x="3297" y="1498"/>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16" name="Freeform 1537"/>
              <p:cNvSpPr>
                <a:spLocks/>
              </p:cNvSpPr>
              <p:nvPr/>
            </p:nvSpPr>
            <p:spPr bwMode="auto">
              <a:xfrm>
                <a:off x="3302"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7" name="Freeform 1538"/>
              <p:cNvSpPr>
                <a:spLocks/>
              </p:cNvSpPr>
              <p:nvPr/>
            </p:nvSpPr>
            <p:spPr bwMode="auto">
              <a:xfrm>
                <a:off x="3304"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8" name="Freeform 1539"/>
              <p:cNvSpPr>
                <a:spLocks/>
              </p:cNvSpPr>
              <p:nvPr/>
            </p:nvSpPr>
            <p:spPr bwMode="auto">
              <a:xfrm>
                <a:off x="3322"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19" name="Freeform 1540"/>
              <p:cNvSpPr>
                <a:spLocks/>
              </p:cNvSpPr>
              <p:nvPr/>
            </p:nvSpPr>
            <p:spPr bwMode="auto">
              <a:xfrm>
                <a:off x="3337"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0" name="Freeform 1541"/>
              <p:cNvSpPr>
                <a:spLocks/>
              </p:cNvSpPr>
              <p:nvPr/>
            </p:nvSpPr>
            <p:spPr bwMode="auto">
              <a:xfrm>
                <a:off x="3344"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1" name="Freeform 1542"/>
              <p:cNvSpPr>
                <a:spLocks/>
              </p:cNvSpPr>
              <p:nvPr/>
            </p:nvSpPr>
            <p:spPr bwMode="auto">
              <a:xfrm>
                <a:off x="3458" y="1498"/>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22" name="Freeform 1543"/>
              <p:cNvSpPr>
                <a:spLocks/>
              </p:cNvSpPr>
              <p:nvPr/>
            </p:nvSpPr>
            <p:spPr bwMode="auto">
              <a:xfrm>
                <a:off x="3501"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3" name="Freeform 1544"/>
              <p:cNvSpPr>
                <a:spLocks/>
              </p:cNvSpPr>
              <p:nvPr/>
            </p:nvSpPr>
            <p:spPr bwMode="auto">
              <a:xfrm>
                <a:off x="3577" y="1498"/>
                <a:ext cx="10" cy="11"/>
              </a:xfrm>
              <a:custGeom>
                <a:avLst/>
                <a:gdLst>
                  <a:gd name="T0" fmla="*/ 1 w 10"/>
                  <a:gd name="T1" fmla="*/ 0 h 11"/>
                  <a:gd name="T2" fmla="*/ 6 w 10"/>
                  <a:gd name="T3" fmla="*/ 0 h 11"/>
                  <a:gd name="T4" fmla="*/ 10 w 10"/>
                  <a:gd name="T5" fmla="*/ 4 h 11"/>
                  <a:gd name="T6" fmla="*/ 10 w 10"/>
                  <a:gd name="T7" fmla="*/ 7 h 11"/>
                  <a:gd name="T8" fmla="*/ 6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6" y="0"/>
                    </a:lnTo>
                    <a:lnTo>
                      <a:pt x="10" y="4"/>
                    </a:lnTo>
                    <a:lnTo>
                      <a:pt x="10" y="7"/>
                    </a:lnTo>
                    <a:lnTo>
                      <a:pt x="6"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24" name="Freeform 1545"/>
              <p:cNvSpPr>
                <a:spLocks/>
              </p:cNvSpPr>
              <p:nvPr/>
            </p:nvSpPr>
            <p:spPr bwMode="auto">
              <a:xfrm>
                <a:off x="4247"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5" name="Freeform 1546"/>
              <p:cNvSpPr>
                <a:spLocks/>
              </p:cNvSpPr>
              <p:nvPr/>
            </p:nvSpPr>
            <p:spPr bwMode="auto">
              <a:xfrm>
                <a:off x="4250" y="1498"/>
                <a:ext cx="11" cy="11"/>
              </a:xfrm>
              <a:custGeom>
                <a:avLst/>
                <a:gdLst>
                  <a:gd name="T0" fmla="*/ 2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9" y="0"/>
                    </a:lnTo>
                    <a:lnTo>
                      <a:pt x="11" y="2"/>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6" name="Freeform 1547"/>
              <p:cNvSpPr>
                <a:spLocks/>
              </p:cNvSpPr>
              <p:nvPr/>
            </p:nvSpPr>
            <p:spPr bwMode="auto">
              <a:xfrm>
                <a:off x="4273" y="1498"/>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7" name="Freeform 1548"/>
              <p:cNvSpPr>
                <a:spLocks/>
              </p:cNvSpPr>
              <p:nvPr/>
            </p:nvSpPr>
            <p:spPr bwMode="auto">
              <a:xfrm>
                <a:off x="4296"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28" name="Freeform 1549"/>
              <p:cNvSpPr>
                <a:spLocks/>
              </p:cNvSpPr>
              <p:nvPr/>
            </p:nvSpPr>
            <p:spPr bwMode="auto">
              <a:xfrm>
                <a:off x="4310"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29" name="Freeform 1550"/>
              <p:cNvSpPr>
                <a:spLocks/>
              </p:cNvSpPr>
              <p:nvPr/>
            </p:nvSpPr>
            <p:spPr bwMode="auto">
              <a:xfrm>
                <a:off x="4320"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0" name="Freeform 1551"/>
              <p:cNvSpPr>
                <a:spLocks/>
              </p:cNvSpPr>
              <p:nvPr/>
            </p:nvSpPr>
            <p:spPr bwMode="auto">
              <a:xfrm>
                <a:off x="4393"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1" name="Freeform 1552"/>
              <p:cNvSpPr>
                <a:spLocks/>
              </p:cNvSpPr>
              <p:nvPr/>
            </p:nvSpPr>
            <p:spPr bwMode="auto">
              <a:xfrm>
                <a:off x="4402" y="1498"/>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32" name="Freeform 1553"/>
              <p:cNvSpPr>
                <a:spLocks/>
              </p:cNvSpPr>
              <p:nvPr/>
            </p:nvSpPr>
            <p:spPr bwMode="auto">
              <a:xfrm>
                <a:off x="4407"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3" name="Freeform 1554"/>
              <p:cNvSpPr>
                <a:spLocks/>
              </p:cNvSpPr>
              <p:nvPr/>
            </p:nvSpPr>
            <p:spPr bwMode="auto">
              <a:xfrm>
                <a:off x="4439"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4" name="Freeform 1555"/>
              <p:cNvSpPr>
                <a:spLocks/>
              </p:cNvSpPr>
              <p:nvPr/>
            </p:nvSpPr>
            <p:spPr bwMode="auto">
              <a:xfrm>
                <a:off x="4448"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35" name="Freeform 1556"/>
              <p:cNvSpPr>
                <a:spLocks/>
              </p:cNvSpPr>
              <p:nvPr/>
            </p:nvSpPr>
            <p:spPr bwMode="auto">
              <a:xfrm>
                <a:off x="4456"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6" name="Freeform 1557"/>
              <p:cNvSpPr>
                <a:spLocks/>
              </p:cNvSpPr>
              <p:nvPr/>
            </p:nvSpPr>
            <p:spPr bwMode="auto">
              <a:xfrm>
                <a:off x="4467"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37" name="Freeform 1558"/>
              <p:cNvSpPr>
                <a:spLocks/>
              </p:cNvSpPr>
              <p:nvPr/>
            </p:nvSpPr>
            <p:spPr bwMode="auto">
              <a:xfrm>
                <a:off x="4472"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8" name="Freeform 1559"/>
              <p:cNvSpPr>
                <a:spLocks/>
              </p:cNvSpPr>
              <p:nvPr/>
            </p:nvSpPr>
            <p:spPr bwMode="auto">
              <a:xfrm>
                <a:off x="4479"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9" name="Freeform 1560"/>
              <p:cNvSpPr>
                <a:spLocks/>
              </p:cNvSpPr>
              <p:nvPr/>
            </p:nvSpPr>
            <p:spPr bwMode="auto">
              <a:xfrm>
                <a:off x="4496"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0" name="Freeform 1561"/>
              <p:cNvSpPr>
                <a:spLocks/>
              </p:cNvSpPr>
              <p:nvPr/>
            </p:nvSpPr>
            <p:spPr bwMode="auto">
              <a:xfrm>
                <a:off x="4510"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1" name="Freeform 1562"/>
              <p:cNvSpPr>
                <a:spLocks/>
              </p:cNvSpPr>
              <p:nvPr/>
            </p:nvSpPr>
            <p:spPr bwMode="auto">
              <a:xfrm>
                <a:off x="4624"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2" name="Freeform 1563"/>
              <p:cNvSpPr>
                <a:spLocks/>
              </p:cNvSpPr>
              <p:nvPr/>
            </p:nvSpPr>
            <p:spPr bwMode="auto">
              <a:xfrm>
                <a:off x="1409"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43" name="Freeform 1564"/>
              <p:cNvSpPr>
                <a:spLocks/>
              </p:cNvSpPr>
              <p:nvPr/>
            </p:nvSpPr>
            <p:spPr bwMode="auto">
              <a:xfrm>
                <a:off x="1440" y="1458"/>
                <a:ext cx="10" cy="10"/>
              </a:xfrm>
              <a:custGeom>
                <a:avLst/>
                <a:gdLst>
                  <a:gd name="T0" fmla="*/ 4 w 10"/>
                  <a:gd name="T1" fmla="*/ 0 h 10"/>
                  <a:gd name="T2" fmla="*/ 9 w 10"/>
                  <a:gd name="T3" fmla="*/ 0 h 10"/>
                  <a:gd name="T4" fmla="*/ 10 w 10"/>
                  <a:gd name="T5" fmla="*/ 2 h 10"/>
                  <a:gd name="T6" fmla="*/ 10 w 10"/>
                  <a:gd name="T7" fmla="*/ 7 h 10"/>
                  <a:gd name="T8" fmla="*/ 7 w 10"/>
                  <a:gd name="T9" fmla="*/ 10 h 10"/>
                  <a:gd name="T10" fmla="*/ 4 w 10"/>
                  <a:gd name="T11" fmla="*/ 10 h 10"/>
                  <a:gd name="T12" fmla="*/ 0 w 10"/>
                  <a:gd name="T13" fmla="*/ 7 h 10"/>
                  <a:gd name="T14" fmla="*/ 0 w 10"/>
                  <a:gd name="T15" fmla="*/ 3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9" y="0"/>
                    </a:lnTo>
                    <a:lnTo>
                      <a:pt x="10" y="2"/>
                    </a:lnTo>
                    <a:lnTo>
                      <a:pt x="10"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44" name="Freeform 1565"/>
              <p:cNvSpPr>
                <a:spLocks/>
              </p:cNvSpPr>
              <p:nvPr/>
            </p:nvSpPr>
            <p:spPr bwMode="auto">
              <a:xfrm>
                <a:off x="1503"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5" name="Freeform 1566"/>
              <p:cNvSpPr>
                <a:spLocks/>
              </p:cNvSpPr>
              <p:nvPr/>
            </p:nvSpPr>
            <p:spPr bwMode="auto">
              <a:xfrm>
                <a:off x="1541"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6" name="Freeform 1567"/>
              <p:cNvSpPr>
                <a:spLocks/>
              </p:cNvSpPr>
              <p:nvPr/>
            </p:nvSpPr>
            <p:spPr bwMode="auto">
              <a:xfrm>
                <a:off x="1547" y="1458"/>
                <a:ext cx="8" cy="10"/>
              </a:xfrm>
              <a:custGeom>
                <a:avLst/>
                <a:gdLst>
                  <a:gd name="T0" fmla="*/ 1 w 8"/>
                  <a:gd name="T1" fmla="*/ 0 h 10"/>
                  <a:gd name="T2" fmla="*/ 6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6"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47" name="Freeform 1568"/>
              <p:cNvSpPr>
                <a:spLocks/>
              </p:cNvSpPr>
              <p:nvPr/>
            </p:nvSpPr>
            <p:spPr bwMode="auto">
              <a:xfrm>
                <a:off x="1550"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8" name="Freeform 1569"/>
              <p:cNvSpPr>
                <a:spLocks/>
              </p:cNvSpPr>
              <p:nvPr/>
            </p:nvSpPr>
            <p:spPr bwMode="auto">
              <a:xfrm>
                <a:off x="1602"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9" name="Freeform 1570"/>
              <p:cNvSpPr>
                <a:spLocks/>
              </p:cNvSpPr>
              <p:nvPr/>
            </p:nvSpPr>
            <p:spPr bwMode="auto">
              <a:xfrm>
                <a:off x="1625" y="1458"/>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50" name="Freeform 1571"/>
              <p:cNvSpPr>
                <a:spLocks/>
              </p:cNvSpPr>
              <p:nvPr/>
            </p:nvSpPr>
            <p:spPr bwMode="auto">
              <a:xfrm>
                <a:off x="1670"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1" name="Freeform 1572"/>
              <p:cNvSpPr>
                <a:spLocks/>
              </p:cNvSpPr>
              <p:nvPr/>
            </p:nvSpPr>
            <p:spPr bwMode="auto">
              <a:xfrm>
                <a:off x="2527"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2" name="Freeform 1573"/>
              <p:cNvSpPr>
                <a:spLocks/>
              </p:cNvSpPr>
              <p:nvPr/>
            </p:nvSpPr>
            <p:spPr bwMode="auto">
              <a:xfrm>
                <a:off x="2529" y="1458"/>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53" name="Freeform 1574"/>
              <p:cNvSpPr>
                <a:spLocks/>
              </p:cNvSpPr>
              <p:nvPr/>
            </p:nvSpPr>
            <p:spPr bwMode="auto">
              <a:xfrm>
                <a:off x="2533" y="1458"/>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54" name="Freeform 1575"/>
              <p:cNvSpPr>
                <a:spLocks/>
              </p:cNvSpPr>
              <p:nvPr/>
            </p:nvSpPr>
            <p:spPr bwMode="auto">
              <a:xfrm>
                <a:off x="2536"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5" name="Freeform 1576"/>
              <p:cNvSpPr>
                <a:spLocks/>
              </p:cNvSpPr>
              <p:nvPr/>
            </p:nvSpPr>
            <p:spPr bwMode="auto">
              <a:xfrm>
                <a:off x="2557"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6" name="Freeform 1577"/>
              <p:cNvSpPr>
                <a:spLocks/>
              </p:cNvSpPr>
              <p:nvPr/>
            </p:nvSpPr>
            <p:spPr bwMode="auto">
              <a:xfrm>
                <a:off x="2564"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7" name="Freeform 1578"/>
              <p:cNvSpPr>
                <a:spLocks/>
              </p:cNvSpPr>
              <p:nvPr/>
            </p:nvSpPr>
            <p:spPr bwMode="auto">
              <a:xfrm>
                <a:off x="2576"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8" name="Freeform 1579"/>
              <p:cNvSpPr>
                <a:spLocks/>
              </p:cNvSpPr>
              <p:nvPr/>
            </p:nvSpPr>
            <p:spPr bwMode="auto">
              <a:xfrm>
                <a:off x="2583"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9" name="Freeform 1580"/>
              <p:cNvSpPr>
                <a:spLocks/>
              </p:cNvSpPr>
              <p:nvPr/>
            </p:nvSpPr>
            <p:spPr bwMode="auto">
              <a:xfrm>
                <a:off x="2728"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0" name="Freeform 1581"/>
              <p:cNvSpPr>
                <a:spLocks/>
              </p:cNvSpPr>
              <p:nvPr/>
            </p:nvSpPr>
            <p:spPr bwMode="auto">
              <a:xfrm>
                <a:off x="3276"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1" name="Freeform 1582"/>
              <p:cNvSpPr>
                <a:spLocks/>
              </p:cNvSpPr>
              <p:nvPr/>
            </p:nvSpPr>
            <p:spPr bwMode="auto">
              <a:xfrm>
                <a:off x="3295"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2" name="Freeform 1583"/>
              <p:cNvSpPr>
                <a:spLocks/>
              </p:cNvSpPr>
              <p:nvPr/>
            </p:nvSpPr>
            <p:spPr bwMode="auto">
              <a:xfrm>
                <a:off x="3297" y="1458"/>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63" name="Freeform 1584"/>
              <p:cNvSpPr>
                <a:spLocks/>
              </p:cNvSpPr>
              <p:nvPr/>
            </p:nvSpPr>
            <p:spPr bwMode="auto">
              <a:xfrm>
                <a:off x="3311"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4" name="Freeform 1585"/>
              <p:cNvSpPr>
                <a:spLocks/>
              </p:cNvSpPr>
              <p:nvPr/>
            </p:nvSpPr>
            <p:spPr bwMode="auto">
              <a:xfrm>
                <a:off x="3318"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5" name="Freeform 1586"/>
              <p:cNvSpPr>
                <a:spLocks/>
              </p:cNvSpPr>
              <p:nvPr/>
            </p:nvSpPr>
            <p:spPr bwMode="auto">
              <a:xfrm>
                <a:off x="3322"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66" name="Freeform 1587"/>
              <p:cNvSpPr>
                <a:spLocks/>
              </p:cNvSpPr>
              <p:nvPr/>
            </p:nvSpPr>
            <p:spPr bwMode="auto">
              <a:xfrm>
                <a:off x="3329" y="1458"/>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67" name="Freeform 1588"/>
              <p:cNvSpPr>
                <a:spLocks/>
              </p:cNvSpPr>
              <p:nvPr/>
            </p:nvSpPr>
            <p:spPr bwMode="auto">
              <a:xfrm>
                <a:off x="3332"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8" name="Freeform 1589"/>
              <p:cNvSpPr>
                <a:spLocks/>
              </p:cNvSpPr>
              <p:nvPr/>
            </p:nvSpPr>
            <p:spPr bwMode="auto">
              <a:xfrm>
                <a:off x="3505"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9" name="Freeform 1590"/>
              <p:cNvSpPr>
                <a:spLocks/>
              </p:cNvSpPr>
              <p:nvPr/>
            </p:nvSpPr>
            <p:spPr bwMode="auto">
              <a:xfrm>
                <a:off x="3508"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0" name="Freeform 1591"/>
              <p:cNvSpPr>
                <a:spLocks/>
              </p:cNvSpPr>
              <p:nvPr/>
            </p:nvSpPr>
            <p:spPr bwMode="auto">
              <a:xfrm>
                <a:off x="3519"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1" name="Freeform 1592"/>
              <p:cNvSpPr>
                <a:spLocks/>
              </p:cNvSpPr>
              <p:nvPr/>
            </p:nvSpPr>
            <p:spPr bwMode="auto">
              <a:xfrm>
                <a:off x="3521" y="1458"/>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72" name="Freeform 1593"/>
              <p:cNvSpPr>
                <a:spLocks/>
              </p:cNvSpPr>
              <p:nvPr/>
            </p:nvSpPr>
            <p:spPr bwMode="auto">
              <a:xfrm>
                <a:off x="3575" y="1458"/>
                <a:ext cx="8" cy="10"/>
              </a:xfrm>
              <a:custGeom>
                <a:avLst/>
                <a:gdLst>
                  <a:gd name="T0" fmla="*/ 2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2"/>
                    </a:lnTo>
                    <a:lnTo>
                      <a:pt x="8"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3" name="Freeform 1594"/>
              <p:cNvSpPr>
                <a:spLocks/>
              </p:cNvSpPr>
              <p:nvPr/>
            </p:nvSpPr>
            <p:spPr bwMode="auto">
              <a:xfrm>
                <a:off x="3632"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4" name="Freeform 1595"/>
              <p:cNvSpPr>
                <a:spLocks/>
              </p:cNvSpPr>
              <p:nvPr/>
            </p:nvSpPr>
            <p:spPr bwMode="auto">
              <a:xfrm>
                <a:off x="3947"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75" name="Freeform 1596"/>
              <p:cNvSpPr>
                <a:spLocks/>
              </p:cNvSpPr>
              <p:nvPr/>
            </p:nvSpPr>
            <p:spPr bwMode="auto">
              <a:xfrm>
                <a:off x="4034"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6" name="Freeform 1597"/>
              <p:cNvSpPr>
                <a:spLocks/>
              </p:cNvSpPr>
              <p:nvPr/>
            </p:nvSpPr>
            <p:spPr bwMode="auto">
              <a:xfrm>
                <a:off x="4039"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7" name="Freeform 1598"/>
              <p:cNvSpPr>
                <a:spLocks/>
              </p:cNvSpPr>
              <p:nvPr/>
            </p:nvSpPr>
            <p:spPr bwMode="auto">
              <a:xfrm>
                <a:off x="4118" y="1458"/>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78" name="Freeform 1599"/>
              <p:cNvSpPr>
                <a:spLocks/>
              </p:cNvSpPr>
              <p:nvPr/>
            </p:nvSpPr>
            <p:spPr bwMode="auto">
              <a:xfrm>
                <a:off x="4128"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9" name="Freeform 1600"/>
              <p:cNvSpPr>
                <a:spLocks/>
              </p:cNvSpPr>
              <p:nvPr/>
            </p:nvSpPr>
            <p:spPr bwMode="auto">
              <a:xfrm>
                <a:off x="4132"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0" name="Freeform 1601"/>
              <p:cNvSpPr>
                <a:spLocks/>
              </p:cNvSpPr>
              <p:nvPr/>
            </p:nvSpPr>
            <p:spPr bwMode="auto">
              <a:xfrm>
                <a:off x="4219" y="1458"/>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1" name="Freeform 1602"/>
              <p:cNvSpPr>
                <a:spLocks/>
              </p:cNvSpPr>
              <p:nvPr/>
            </p:nvSpPr>
            <p:spPr bwMode="auto">
              <a:xfrm>
                <a:off x="4226" y="1458"/>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2" name="Freeform 1603"/>
              <p:cNvSpPr>
                <a:spLocks/>
              </p:cNvSpPr>
              <p:nvPr/>
            </p:nvSpPr>
            <p:spPr bwMode="auto">
              <a:xfrm>
                <a:off x="4273"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3" name="Freeform 1604"/>
              <p:cNvSpPr>
                <a:spLocks/>
              </p:cNvSpPr>
              <p:nvPr/>
            </p:nvSpPr>
            <p:spPr bwMode="auto">
              <a:xfrm>
                <a:off x="4278"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4" name="Freeform 1605"/>
              <p:cNvSpPr>
                <a:spLocks/>
              </p:cNvSpPr>
              <p:nvPr/>
            </p:nvSpPr>
            <p:spPr bwMode="auto">
              <a:xfrm>
                <a:off x="4282"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5" name="Freeform 1606"/>
              <p:cNvSpPr>
                <a:spLocks/>
              </p:cNvSpPr>
              <p:nvPr/>
            </p:nvSpPr>
            <p:spPr bwMode="auto">
              <a:xfrm>
                <a:off x="4306"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6" name="Freeform 1607"/>
              <p:cNvSpPr>
                <a:spLocks/>
              </p:cNvSpPr>
              <p:nvPr/>
            </p:nvSpPr>
            <p:spPr bwMode="auto">
              <a:xfrm>
                <a:off x="4313"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7" name="Freeform 1608"/>
              <p:cNvSpPr>
                <a:spLocks/>
              </p:cNvSpPr>
              <p:nvPr/>
            </p:nvSpPr>
            <p:spPr bwMode="auto">
              <a:xfrm>
                <a:off x="4322"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8" name="Freeform 1609"/>
              <p:cNvSpPr>
                <a:spLocks/>
              </p:cNvSpPr>
              <p:nvPr/>
            </p:nvSpPr>
            <p:spPr bwMode="auto">
              <a:xfrm>
                <a:off x="4338" y="1458"/>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89" name="Freeform 1610"/>
              <p:cNvSpPr>
                <a:spLocks/>
              </p:cNvSpPr>
              <p:nvPr/>
            </p:nvSpPr>
            <p:spPr bwMode="auto">
              <a:xfrm>
                <a:off x="4343"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90" name="Freeform 1611"/>
              <p:cNvSpPr>
                <a:spLocks/>
              </p:cNvSpPr>
              <p:nvPr/>
            </p:nvSpPr>
            <p:spPr bwMode="auto">
              <a:xfrm>
                <a:off x="4348" y="1458"/>
                <a:ext cx="10" cy="10"/>
              </a:xfrm>
              <a:custGeom>
                <a:avLst/>
                <a:gdLst>
                  <a:gd name="T0" fmla="*/ 4 w 10"/>
                  <a:gd name="T1" fmla="*/ 0 h 10"/>
                  <a:gd name="T2" fmla="*/ 9 w 10"/>
                  <a:gd name="T3" fmla="*/ 0 h 10"/>
                  <a:gd name="T4" fmla="*/ 10 w 10"/>
                  <a:gd name="T5" fmla="*/ 2 h 10"/>
                  <a:gd name="T6" fmla="*/ 10 w 10"/>
                  <a:gd name="T7" fmla="*/ 7 h 10"/>
                  <a:gd name="T8" fmla="*/ 7 w 10"/>
                  <a:gd name="T9" fmla="*/ 10 h 10"/>
                  <a:gd name="T10" fmla="*/ 4 w 10"/>
                  <a:gd name="T11" fmla="*/ 10 h 10"/>
                  <a:gd name="T12" fmla="*/ 0 w 10"/>
                  <a:gd name="T13" fmla="*/ 7 h 10"/>
                  <a:gd name="T14" fmla="*/ 0 w 10"/>
                  <a:gd name="T15" fmla="*/ 3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9" y="0"/>
                    </a:lnTo>
                    <a:lnTo>
                      <a:pt x="10" y="2"/>
                    </a:lnTo>
                    <a:lnTo>
                      <a:pt x="10"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10" name="Group 1813"/>
            <p:cNvGrpSpPr>
              <a:grpSpLocks/>
            </p:cNvGrpSpPr>
            <p:nvPr/>
          </p:nvGrpSpPr>
          <p:grpSpPr bwMode="auto">
            <a:xfrm>
              <a:off x="2227353" y="1935161"/>
              <a:ext cx="5094494" cy="395288"/>
              <a:chOff x="1403" y="1219"/>
              <a:chExt cx="3209" cy="249"/>
            </a:xfrm>
          </p:grpSpPr>
          <p:sp>
            <p:nvSpPr>
              <p:cNvPr id="1091" name="Freeform 1613"/>
              <p:cNvSpPr>
                <a:spLocks/>
              </p:cNvSpPr>
              <p:nvPr/>
            </p:nvSpPr>
            <p:spPr bwMode="auto">
              <a:xfrm>
                <a:off x="4449"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2" name="Freeform 1614"/>
              <p:cNvSpPr>
                <a:spLocks/>
              </p:cNvSpPr>
              <p:nvPr/>
            </p:nvSpPr>
            <p:spPr bwMode="auto">
              <a:xfrm>
                <a:off x="4467"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3" name="Freeform 1615"/>
              <p:cNvSpPr>
                <a:spLocks/>
              </p:cNvSpPr>
              <p:nvPr/>
            </p:nvSpPr>
            <p:spPr bwMode="auto">
              <a:xfrm>
                <a:off x="4479"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4" name="Freeform 1616"/>
              <p:cNvSpPr>
                <a:spLocks/>
              </p:cNvSpPr>
              <p:nvPr/>
            </p:nvSpPr>
            <p:spPr bwMode="auto">
              <a:xfrm>
                <a:off x="4601"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5" name="Freeform 1617"/>
              <p:cNvSpPr>
                <a:spLocks/>
              </p:cNvSpPr>
              <p:nvPr/>
            </p:nvSpPr>
            <p:spPr bwMode="auto">
              <a:xfrm>
                <a:off x="1403"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96" name="Freeform 1618"/>
              <p:cNvSpPr>
                <a:spLocks/>
              </p:cNvSpPr>
              <p:nvPr/>
            </p:nvSpPr>
            <p:spPr bwMode="auto">
              <a:xfrm>
                <a:off x="1604"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97" name="Freeform 1619"/>
              <p:cNvSpPr>
                <a:spLocks/>
              </p:cNvSpPr>
              <p:nvPr/>
            </p:nvSpPr>
            <p:spPr bwMode="auto">
              <a:xfrm>
                <a:off x="1646" y="141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8" name="Freeform 1620"/>
              <p:cNvSpPr>
                <a:spLocks/>
              </p:cNvSpPr>
              <p:nvPr/>
            </p:nvSpPr>
            <p:spPr bwMode="auto">
              <a:xfrm>
                <a:off x="2168" y="141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9" name="Freeform 1621"/>
              <p:cNvSpPr>
                <a:spLocks/>
              </p:cNvSpPr>
              <p:nvPr/>
            </p:nvSpPr>
            <p:spPr bwMode="auto">
              <a:xfrm>
                <a:off x="2463" y="141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0" name="Freeform 1622"/>
              <p:cNvSpPr>
                <a:spLocks/>
              </p:cNvSpPr>
              <p:nvPr/>
            </p:nvSpPr>
            <p:spPr bwMode="auto">
              <a:xfrm>
                <a:off x="2498" y="141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01" name="Freeform 1623"/>
              <p:cNvSpPr>
                <a:spLocks/>
              </p:cNvSpPr>
              <p:nvPr/>
            </p:nvSpPr>
            <p:spPr bwMode="auto">
              <a:xfrm>
                <a:off x="2508"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02" name="Freeform 1624"/>
              <p:cNvSpPr>
                <a:spLocks/>
              </p:cNvSpPr>
              <p:nvPr/>
            </p:nvSpPr>
            <p:spPr bwMode="auto">
              <a:xfrm>
                <a:off x="2543" y="1419"/>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3" name="Freeform 1625"/>
              <p:cNvSpPr>
                <a:spLocks/>
              </p:cNvSpPr>
              <p:nvPr/>
            </p:nvSpPr>
            <p:spPr bwMode="auto">
              <a:xfrm>
                <a:off x="2592" y="1419"/>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4" name="Freeform 1626"/>
              <p:cNvSpPr>
                <a:spLocks/>
              </p:cNvSpPr>
              <p:nvPr/>
            </p:nvSpPr>
            <p:spPr bwMode="auto">
              <a:xfrm>
                <a:off x="3315" y="141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05" name="Freeform 1627"/>
              <p:cNvSpPr>
                <a:spLocks/>
              </p:cNvSpPr>
              <p:nvPr/>
            </p:nvSpPr>
            <p:spPr bwMode="auto">
              <a:xfrm>
                <a:off x="3322" y="141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06" name="Freeform 1628"/>
              <p:cNvSpPr>
                <a:spLocks/>
              </p:cNvSpPr>
              <p:nvPr/>
            </p:nvSpPr>
            <p:spPr bwMode="auto">
              <a:xfrm>
                <a:off x="3329" y="141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07" name="Freeform 1629"/>
              <p:cNvSpPr>
                <a:spLocks/>
              </p:cNvSpPr>
              <p:nvPr/>
            </p:nvSpPr>
            <p:spPr bwMode="auto">
              <a:xfrm>
                <a:off x="3337" y="1419"/>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8" name="Freeform 1630"/>
              <p:cNvSpPr>
                <a:spLocks/>
              </p:cNvSpPr>
              <p:nvPr/>
            </p:nvSpPr>
            <p:spPr bwMode="auto">
              <a:xfrm>
                <a:off x="3343" y="1419"/>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09" name="Freeform 1631"/>
              <p:cNvSpPr>
                <a:spLocks/>
              </p:cNvSpPr>
              <p:nvPr/>
            </p:nvSpPr>
            <p:spPr bwMode="auto">
              <a:xfrm>
                <a:off x="3517"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10" name="Freeform 1632"/>
              <p:cNvSpPr>
                <a:spLocks/>
              </p:cNvSpPr>
              <p:nvPr/>
            </p:nvSpPr>
            <p:spPr bwMode="auto">
              <a:xfrm>
                <a:off x="3604"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11" name="Freeform 1633"/>
              <p:cNvSpPr>
                <a:spLocks/>
              </p:cNvSpPr>
              <p:nvPr/>
            </p:nvSpPr>
            <p:spPr bwMode="auto">
              <a:xfrm>
                <a:off x="3606"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12" name="Freeform 1634"/>
              <p:cNvSpPr>
                <a:spLocks/>
              </p:cNvSpPr>
              <p:nvPr/>
            </p:nvSpPr>
            <p:spPr bwMode="auto">
              <a:xfrm>
                <a:off x="3615" y="1419"/>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13" name="Freeform 1635"/>
              <p:cNvSpPr>
                <a:spLocks/>
              </p:cNvSpPr>
              <p:nvPr/>
            </p:nvSpPr>
            <p:spPr bwMode="auto">
              <a:xfrm>
                <a:off x="3631" y="1419"/>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14" name="Freeform 1636"/>
              <p:cNvSpPr>
                <a:spLocks/>
              </p:cNvSpPr>
              <p:nvPr/>
            </p:nvSpPr>
            <p:spPr bwMode="auto">
              <a:xfrm>
                <a:off x="3699" y="141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15" name="Freeform 1637"/>
              <p:cNvSpPr>
                <a:spLocks/>
              </p:cNvSpPr>
              <p:nvPr/>
            </p:nvSpPr>
            <p:spPr bwMode="auto">
              <a:xfrm>
                <a:off x="3706" y="1419"/>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16" name="Freeform 1638"/>
              <p:cNvSpPr>
                <a:spLocks/>
              </p:cNvSpPr>
              <p:nvPr/>
            </p:nvSpPr>
            <p:spPr bwMode="auto">
              <a:xfrm>
                <a:off x="4111" y="1419"/>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17" name="Freeform 1639"/>
              <p:cNvSpPr>
                <a:spLocks/>
              </p:cNvSpPr>
              <p:nvPr/>
            </p:nvSpPr>
            <p:spPr bwMode="auto">
              <a:xfrm>
                <a:off x="4146" y="141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18" name="Freeform 1640"/>
              <p:cNvSpPr>
                <a:spLocks/>
              </p:cNvSpPr>
              <p:nvPr/>
            </p:nvSpPr>
            <p:spPr bwMode="auto">
              <a:xfrm>
                <a:off x="4205" y="1419"/>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19" name="Freeform 1641"/>
              <p:cNvSpPr>
                <a:spLocks/>
              </p:cNvSpPr>
              <p:nvPr/>
            </p:nvSpPr>
            <p:spPr bwMode="auto">
              <a:xfrm>
                <a:off x="4257" y="1419"/>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0" name="Freeform 1642"/>
              <p:cNvSpPr>
                <a:spLocks/>
              </p:cNvSpPr>
              <p:nvPr/>
            </p:nvSpPr>
            <p:spPr bwMode="auto">
              <a:xfrm>
                <a:off x="4266" y="141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1" name="Freeform 1643"/>
              <p:cNvSpPr>
                <a:spLocks/>
              </p:cNvSpPr>
              <p:nvPr/>
            </p:nvSpPr>
            <p:spPr bwMode="auto">
              <a:xfrm>
                <a:off x="4290" y="141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2" name="Freeform 1644"/>
              <p:cNvSpPr>
                <a:spLocks/>
              </p:cNvSpPr>
              <p:nvPr/>
            </p:nvSpPr>
            <p:spPr bwMode="auto">
              <a:xfrm>
                <a:off x="4311"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3" name="Freeform 1645"/>
              <p:cNvSpPr>
                <a:spLocks/>
              </p:cNvSpPr>
              <p:nvPr/>
            </p:nvSpPr>
            <p:spPr bwMode="auto">
              <a:xfrm>
                <a:off x="4315" y="1419"/>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4" name="Freeform 1646"/>
              <p:cNvSpPr>
                <a:spLocks/>
              </p:cNvSpPr>
              <p:nvPr/>
            </p:nvSpPr>
            <p:spPr bwMode="auto">
              <a:xfrm>
                <a:off x="4390" y="1419"/>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25" name="Freeform 1647"/>
              <p:cNvSpPr>
                <a:spLocks/>
              </p:cNvSpPr>
              <p:nvPr/>
            </p:nvSpPr>
            <p:spPr bwMode="auto">
              <a:xfrm>
                <a:off x="1560"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6" name="Freeform 1648"/>
              <p:cNvSpPr>
                <a:spLocks/>
              </p:cNvSpPr>
              <p:nvPr/>
            </p:nvSpPr>
            <p:spPr bwMode="auto">
              <a:xfrm>
                <a:off x="1567"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7" name="Freeform 1649"/>
              <p:cNvSpPr>
                <a:spLocks/>
              </p:cNvSpPr>
              <p:nvPr/>
            </p:nvSpPr>
            <p:spPr bwMode="auto">
              <a:xfrm>
                <a:off x="1580"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28" name="Freeform 1650"/>
              <p:cNvSpPr>
                <a:spLocks/>
              </p:cNvSpPr>
              <p:nvPr/>
            </p:nvSpPr>
            <p:spPr bwMode="auto">
              <a:xfrm>
                <a:off x="1581"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9" name="Freeform 1651"/>
              <p:cNvSpPr>
                <a:spLocks/>
              </p:cNvSpPr>
              <p:nvPr/>
            </p:nvSpPr>
            <p:spPr bwMode="auto">
              <a:xfrm>
                <a:off x="1702" y="137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0" name="Freeform 1652"/>
              <p:cNvSpPr>
                <a:spLocks/>
              </p:cNvSpPr>
              <p:nvPr/>
            </p:nvSpPr>
            <p:spPr bwMode="auto">
              <a:xfrm>
                <a:off x="1821"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31" name="Freeform 1653"/>
              <p:cNvSpPr>
                <a:spLocks/>
              </p:cNvSpPr>
              <p:nvPr/>
            </p:nvSpPr>
            <p:spPr bwMode="auto">
              <a:xfrm>
                <a:off x="1833" y="137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32" name="Freeform 1654"/>
              <p:cNvSpPr>
                <a:spLocks/>
              </p:cNvSpPr>
              <p:nvPr/>
            </p:nvSpPr>
            <p:spPr bwMode="auto">
              <a:xfrm>
                <a:off x="1892" y="1379"/>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3" name="Freeform 1655"/>
              <p:cNvSpPr>
                <a:spLocks/>
              </p:cNvSpPr>
              <p:nvPr/>
            </p:nvSpPr>
            <p:spPr bwMode="auto">
              <a:xfrm>
                <a:off x="1908" y="137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4" name="Freeform 1656"/>
              <p:cNvSpPr>
                <a:spLocks/>
              </p:cNvSpPr>
              <p:nvPr/>
            </p:nvSpPr>
            <p:spPr bwMode="auto">
              <a:xfrm>
                <a:off x="1934" y="1379"/>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5" name="Freeform 1657"/>
              <p:cNvSpPr>
                <a:spLocks/>
              </p:cNvSpPr>
              <p:nvPr/>
            </p:nvSpPr>
            <p:spPr bwMode="auto">
              <a:xfrm>
                <a:off x="1958"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6" name="Freeform 1658"/>
              <p:cNvSpPr>
                <a:spLocks/>
              </p:cNvSpPr>
              <p:nvPr/>
            </p:nvSpPr>
            <p:spPr bwMode="auto">
              <a:xfrm>
                <a:off x="1999" y="1379"/>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37" name="Freeform 1659"/>
              <p:cNvSpPr>
                <a:spLocks/>
              </p:cNvSpPr>
              <p:nvPr/>
            </p:nvSpPr>
            <p:spPr bwMode="auto">
              <a:xfrm>
                <a:off x="2007" y="1379"/>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8" name="Freeform 1660"/>
              <p:cNvSpPr>
                <a:spLocks/>
              </p:cNvSpPr>
              <p:nvPr/>
            </p:nvSpPr>
            <p:spPr bwMode="auto">
              <a:xfrm>
                <a:off x="2040"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39" name="Freeform 1661"/>
              <p:cNvSpPr>
                <a:spLocks/>
              </p:cNvSpPr>
              <p:nvPr/>
            </p:nvSpPr>
            <p:spPr bwMode="auto">
              <a:xfrm>
                <a:off x="2168"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40" name="Freeform 1662"/>
              <p:cNvSpPr>
                <a:spLocks/>
              </p:cNvSpPr>
              <p:nvPr/>
            </p:nvSpPr>
            <p:spPr bwMode="auto">
              <a:xfrm>
                <a:off x="2519" y="137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1" name="Freeform 1663"/>
              <p:cNvSpPr>
                <a:spLocks/>
              </p:cNvSpPr>
              <p:nvPr/>
            </p:nvSpPr>
            <p:spPr bwMode="auto">
              <a:xfrm>
                <a:off x="2568" y="137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2" name="Freeform 1664"/>
              <p:cNvSpPr>
                <a:spLocks/>
              </p:cNvSpPr>
              <p:nvPr/>
            </p:nvSpPr>
            <p:spPr bwMode="auto">
              <a:xfrm>
                <a:off x="2594"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43" name="Freeform 1665"/>
              <p:cNvSpPr>
                <a:spLocks/>
              </p:cNvSpPr>
              <p:nvPr/>
            </p:nvSpPr>
            <p:spPr bwMode="auto">
              <a:xfrm>
                <a:off x="3282" y="137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4" name="Freeform 1666"/>
              <p:cNvSpPr>
                <a:spLocks/>
              </p:cNvSpPr>
              <p:nvPr/>
            </p:nvSpPr>
            <p:spPr bwMode="auto">
              <a:xfrm>
                <a:off x="3287" y="1379"/>
                <a:ext cx="8" cy="9"/>
              </a:xfrm>
              <a:custGeom>
                <a:avLst/>
                <a:gdLst>
                  <a:gd name="T0" fmla="*/ 2 w 8"/>
                  <a:gd name="T1" fmla="*/ 0 h 9"/>
                  <a:gd name="T2" fmla="*/ 7 w 8"/>
                  <a:gd name="T3" fmla="*/ 0 h 9"/>
                  <a:gd name="T4" fmla="*/ 8 w 8"/>
                  <a:gd name="T5" fmla="*/ 2 h 9"/>
                  <a:gd name="T6" fmla="*/ 8 w 8"/>
                  <a:gd name="T7" fmla="*/ 6 h 9"/>
                  <a:gd name="T8" fmla="*/ 5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7" y="0"/>
                    </a:lnTo>
                    <a:lnTo>
                      <a:pt x="8" y="2"/>
                    </a:lnTo>
                    <a:lnTo>
                      <a:pt x="8"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5" name="Freeform 1667"/>
              <p:cNvSpPr>
                <a:spLocks/>
              </p:cNvSpPr>
              <p:nvPr/>
            </p:nvSpPr>
            <p:spPr bwMode="auto">
              <a:xfrm>
                <a:off x="3294"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6" name="Freeform 1668"/>
              <p:cNvSpPr>
                <a:spLocks/>
              </p:cNvSpPr>
              <p:nvPr/>
            </p:nvSpPr>
            <p:spPr bwMode="auto">
              <a:xfrm>
                <a:off x="3297"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47" name="Freeform 1669"/>
              <p:cNvSpPr>
                <a:spLocks/>
              </p:cNvSpPr>
              <p:nvPr/>
            </p:nvSpPr>
            <p:spPr bwMode="auto">
              <a:xfrm>
                <a:off x="3301"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8" name="Freeform 1670"/>
              <p:cNvSpPr>
                <a:spLocks/>
              </p:cNvSpPr>
              <p:nvPr/>
            </p:nvSpPr>
            <p:spPr bwMode="auto">
              <a:xfrm>
                <a:off x="3302"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9" name="Freeform 1671"/>
              <p:cNvSpPr>
                <a:spLocks/>
              </p:cNvSpPr>
              <p:nvPr/>
            </p:nvSpPr>
            <p:spPr bwMode="auto">
              <a:xfrm>
                <a:off x="3322" y="137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50" name="Freeform 1672"/>
              <p:cNvSpPr>
                <a:spLocks/>
              </p:cNvSpPr>
              <p:nvPr/>
            </p:nvSpPr>
            <p:spPr bwMode="auto">
              <a:xfrm>
                <a:off x="3334" y="137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1" name="Freeform 1673"/>
              <p:cNvSpPr>
                <a:spLocks/>
              </p:cNvSpPr>
              <p:nvPr/>
            </p:nvSpPr>
            <p:spPr bwMode="auto">
              <a:xfrm>
                <a:off x="3510" y="137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2" name="Freeform 1674"/>
              <p:cNvSpPr>
                <a:spLocks/>
              </p:cNvSpPr>
              <p:nvPr/>
            </p:nvSpPr>
            <p:spPr bwMode="auto">
              <a:xfrm>
                <a:off x="3519" y="1379"/>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3" name="Freeform 1675"/>
              <p:cNvSpPr>
                <a:spLocks/>
              </p:cNvSpPr>
              <p:nvPr/>
            </p:nvSpPr>
            <p:spPr bwMode="auto">
              <a:xfrm>
                <a:off x="3522"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54" name="Freeform 1676"/>
              <p:cNvSpPr>
                <a:spLocks/>
              </p:cNvSpPr>
              <p:nvPr/>
            </p:nvSpPr>
            <p:spPr bwMode="auto">
              <a:xfrm>
                <a:off x="3554" y="137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5" name="Freeform 1677"/>
              <p:cNvSpPr>
                <a:spLocks/>
              </p:cNvSpPr>
              <p:nvPr/>
            </p:nvSpPr>
            <p:spPr bwMode="auto">
              <a:xfrm>
                <a:off x="4112"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6" name="Freeform 1678"/>
              <p:cNvSpPr>
                <a:spLocks/>
              </p:cNvSpPr>
              <p:nvPr/>
            </p:nvSpPr>
            <p:spPr bwMode="auto">
              <a:xfrm>
                <a:off x="4118"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57" name="Freeform 1679"/>
              <p:cNvSpPr>
                <a:spLocks/>
              </p:cNvSpPr>
              <p:nvPr/>
            </p:nvSpPr>
            <p:spPr bwMode="auto">
              <a:xfrm>
                <a:off x="4170"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58" name="Freeform 1680"/>
              <p:cNvSpPr>
                <a:spLocks/>
              </p:cNvSpPr>
              <p:nvPr/>
            </p:nvSpPr>
            <p:spPr bwMode="auto">
              <a:xfrm>
                <a:off x="4179" y="137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59" name="Freeform 1681"/>
              <p:cNvSpPr>
                <a:spLocks/>
              </p:cNvSpPr>
              <p:nvPr/>
            </p:nvSpPr>
            <p:spPr bwMode="auto">
              <a:xfrm>
                <a:off x="4215"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0" name="Freeform 1682"/>
              <p:cNvSpPr>
                <a:spLocks/>
              </p:cNvSpPr>
              <p:nvPr/>
            </p:nvSpPr>
            <p:spPr bwMode="auto">
              <a:xfrm>
                <a:off x="4226"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61" name="Freeform 1683"/>
              <p:cNvSpPr>
                <a:spLocks/>
              </p:cNvSpPr>
              <p:nvPr/>
            </p:nvSpPr>
            <p:spPr bwMode="auto">
              <a:xfrm>
                <a:off x="4261"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62" name="Freeform 1684"/>
              <p:cNvSpPr>
                <a:spLocks/>
              </p:cNvSpPr>
              <p:nvPr/>
            </p:nvSpPr>
            <p:spPr bwMode="auto">
              <a:xfrm>
                <a:off x="4266" y="137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3" name="Freeform 1685"/>
              <p:cNvSpPr>
                <a:spLocks/>
              </p:cNvSpPr>
              <p:nvPr/>
            </p:nvSpPr>
            <p:spPr bwMode="auto">
              <a:xfrm>
                <a:off x="1541"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4" name="Freeform 1686"/>
              <p:cNvSpPr>
                <a:spLocks/>
              </p:cNvSpPr>
              <p:nvPr/>
            </p:nvSpPr>
            <p:spPr bwMode="auto">
              <a:xfrm>
                <a:off x="1543"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5" name="Freeform 1687"/>
              <p:cNvSpPr>
                <a:spLocks/>
              </p:cNvSpPr>
              <p:nvPr/>
            </p:nvSpPr>
            <p:spPr bwMode="auto">
              <a:xfrm>
                <a:off x="1564"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6" name="Freeform 1688"/>
              <p:cNvSpPr>
                <a:spLocks/>
              </p:cNvSpPr>
              <p:nvPr/>
            </p:nvSpPr>
            <p:spPr bwMode="auto">
              <a:xfrm>
                <a:off x="1951" y="1339"/>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7" name="Freeform 1689"/>
              <p:cNvSpPr>
                <a:spLocks/>
              </p:cNvSpPr>
              <p:nvPr/>
            </p:nvSpPr>
            <p:spPr bwMode="auto">
              <a:xfrm>
                <a:off x="1960"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68" name="Freeform 1690"/>
              <p:cNvSpPr>
                <a:spLocks/>
              </p:cNvSpPr>
              <p:nvPr/>
            </p:nvSpPr>
            <p:spPr bwMode="auto">
              <a:xfrm>
                <a:off x="1969"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69" name="Freeform 1691"/>
              <p:cNvSpPr>
                <a:spLocks/>
              </p:cNvSpPr>
              <p:nvPr/>
            </p:nvSpPr>
            <p:spPr bwMode="auto">
              <a:xfrm>
                <a:off x="1974"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0" name="Freeform 1692"/>
              <p:cNvSpPr>
                <a:spLocks/>
              </p:cNvSpPr>
              <p:nvPr/>
            </p:nvSpPr>
            <p:spPr bwMode="auto">
              <a:xfrm>
                <a:off x="1976"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1" name="Freeform 1693"/>
              <p:cNvSpPr>
                <a:spLocks/>
              </p:cNvSpPr>
              <p:nvPr/>
            </p:nvSpPr>
            <p:spPr bwMode="auto">
              <a:xfrm>
                <a:off x="1985" y="133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72" name="Freeform 1694"/>
              <p:cNvSpPr>
                <a:spLocks/>
              </p:cNvSpPr>
              <p:nvPr/>
            </p:nvSpPr>
            <p:spPr bwMode="auto">
              <a:xfrm>
                <a:off x="2007" y="1339"/>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3" name="Freeform 1695"/>
              <p:cNvSpPr>
                <a:spLocks/>
              </p:cNvSpPr>
              <p:nvPr/>
            </p:nvSpPr>
            <p:spPr bwMode="auto">
              <a:xfrm>
                <a:off x="2477"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4" name="Freeform 1696"/>
              <p:cNvSpPr>
                <a:spLocks/>
              </p:cNvSpPr>
              <p:nvPr/>
            </p:nvSpPr>
            <p:spPr bwMode="auto">
              <a:xfrm>
                <a:off x="2493" y="1339"/>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75" name="Freeform 1697"/>
              <p:cNvSpPr>
                <a:spLocks/>
              </p:cNvSpPr>
              <p:nvPr/>
            </p:nvSpPr>
            <p:spPr bwMode="auto">
              <a:xfrm>
                <a:off x="2498"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76" name="Freeform 1698"/>
              <p:cNvSpPr>
                <a:spLocks/>
              </p:cNvSpPr>
              <p:nvPr/>
            </p:nvSpPr>
            <p:spPr bwMode="auto">
              <a:xfrm>
                <a:off x="2501"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7" name="Freeform 1699"/>
              <p:cNvSpPr>
                <a:spLocks/>
              </p:cNvSpPr>
              <p:nvPr/>
            </p:nvSpPr>
            <p:spPr bwMode="auto">
              <a:xfrm>
                <a:off x="2512"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8" name="Freeform 1700"/>
              <p:cNvSpPr>
                <a:spLocks/>
              </p:cNvSpPr>
              <p:nvPr/>
            </p:nvSpPr>
            <p:spPr bwMode="auto">
              <a:xfrm>
                <a:off x="2533"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79" name="Freeform 1701"/>
              <p:cNvSpPr>
                <a:spLocks/>
              </p:cNvSpPr>
              <p:nvPr/>
            </p:nvSpPr>
            <p:spPr bwMode="auto">
              <a:xfrm>
                <a:off x="2576"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0" name="Freeform 1702"/>
              <p:cNvSpPr>
                <a:spLocks/>
              </p:cNvSpPr>
              <p:nvPr/>
            </p:nvSpPr>
            <p:spPr bwMode="auto">
              <a:xfrm>
                <a:off x="2585"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81" name="Freeform 1703"/>
              <p:cNvSpPr>
                <a:spLocks/>
              </p:cNvSpPr>
              <p:nvPr/>
            </p:nvSpPr>
            <p:spPr bwMode="auto">
              <a:xfrm>
                <a:off x="2589"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82" name="Freeform 1704"/>
              <p:cNvSpPr>
                <a:spLocks/>
              </p:cNvSpPr>
              <p:nvPr/>
            </p:nvSpPr>
            <p:spPr bwMode="auto">
              <a:xfrm>
                <a:off x="2594"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83" name="Freeform 1705"/>
              <p:cNvSpPr>
                <a:spLocks/>
              </p:cNvSpPr>
              <p:nvPr/>
            </p:nvSpPr>
            <p:spPr bwMode="auto">
              <a:xfrm>
                <a:off x="2606"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4" name="Freeform 1706"/>
              <p:cNvSpPr>
                <a:spLocks/>
              </p:cNvSpPr>
              <p:nvPr/>
            </p:nvSpPr>
            <p:spPr bwMode="auto">
              <a:xfrm>
                <a:off x="2608"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5" name="Freeform 1707"/>
              <p:cNvSpPr>
                <a:spLocks/>
              </p:cNvSpPr>
              <p:nvPr/>
            </p:nvSpPr>
            <p:spPr bwMode="auto">
              <a:xfrm>
                <a:off x="2625"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86" name="Freeform 1708"/>
              <p:cNvSpPr>
                <a:spLocks/>
              </p:cNvSpPr>
              <p:nvPr/>
            </p:nvSpPr>
            <p:spPr bwMode="auto">
              <a:xfrm>
                <a:off x="2641"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87" name="Freeform 1709"/>
              <p:cNvSpPr>
                <a:spLocks/>
              </p:cNvSpPr>
              <p:nvPr/>
            </p:nvSpPr>
            <p:spPr bwMode="auto">
              <a:xfrm>
                <a:off x="2653"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8" name="Freeform 1710"/>
              <p:cNvSpPr>
                <a:spLocks/>
              </p:cNvSpPr>
              <p:nvPr/>
            </p:nvSpPr>
            <p:spPr bwMode="auto">
              <a:xfrm>
                <a:off x="3290"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89" name="Freeform 1711"/>
              <p:cNvSpPr>
                <a:spLocks/>
              </p:cNvSpPr>
              <p:nvPr/>
            </p:nvSpPr>
            <p:spPr bwMode="auto">
              <a:xfrm>
                <a:off x="3294"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90" name="Freeform 1712"/>
              <p:cNvSpPr>
                <a:spLocks/>
              </p:cNvSpPr>
              <p:nvPr/>
            </p:nvSpPr>
            <p:spPr bwMode="auto">
              <a:xfrm>
                <a:off x="3297"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91" name="Freeform 1713"/>
              <p:cNvSpPr>
                <a:spLocks/>
              </p:cNvSpPr>
              <p:nvPr/>
            </p:nvSpPr>
            <p:spPr bwMode="auto">
              <a:xfrm>
                <a:off x="3302"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2" name="Freeform 1714"/>
              <p:cNvSpPr>
                <a:spLocks/>
              </p:cNvSpPr>
              <p:nvPr/>
            </p:nvSpPr>
            <p:spPr bwMode="auto">
              <a:xfrm>
                <a:off x="3304"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3" name="Freeform 1715"/>
              <p:cNvSpPr>
                <a:spLocks/>
              </p:cNvSpPr>
              <p:nvPr/>
            </p:nvSpPr>
            <p:spPr bwMode="auto">
              <a:xfrm>
                <a:off x="3313"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94" name="Freeform 1716"/>
              <p:cNvSpPr>
                <a:spLocks/>
              </p:cNvSpPr>
              <p:nvPr/>
            </p:nvSpPr>
            <p:spPr bwMode="auto">
              <a:xfrm>
                <a:off x="3341"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5" name="Freeform 1717"/>
              <p:cNvSpPr>
                <a:spLocks/>
              </p:cNvSpPr>
              <p:nvPr/>
            </p:nvSpPr>
            <p:spPr bwMode="auto">
              <a:xfrm>
                <a:off x="3360"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6" name="Freeform 1718"/>
              <p:cNvSpPr>
                <a:spLocks/>
              </p:cNvSpPr>
              <p:nvPr/>
            </p:nvSpPr>
            <p:spPr bwMode="auto">
              <a:xfrm>
                <a:off x="3367"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7" name="Freeform 1719"/>
              <p:cNvSpPr>
                <a:spLocks/>
              </p:cNvSpPr>
              <p:nvPr/>
            </p:nvSpPr>
            <p:spPr bwMode="auto">
              <a:xfrm>
                <a:off x="3538"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98" name="Freeform 1720"/>
              <p:cNvSpPr>
                <a:spLocks/>
              </p:cNvSpPr>
              <p:nvPr/>
            </p:nvSpPr>
            <p:spPr bwMode="auto">
              <a:xfrm>
                <a:off x="3542"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99" name="Freeform 1721"/>
              <p:cNvSpPr>
                <a:spLocks/>
              </p:cNvSpPr>
              <p:nvPr/>
            </p:nvSpPr>
            <p:spPr bwMode="auto">
              <a:xfrm>
                <a:off x="3554"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0" name="Freeform 1722"/>
              <p:cNvSpPr>
                <a:spLocks/>
              </p:cNvSpPr>
              <p:nvPr/>
            </p:nvSpPr>
            <p:spPr bwMode="auto">
              <a:xfrm>
                <a:off x="3577" y="1339"/>
                <a:ext cx="10" cy="9"/>
              </a:xfrm>
              <a:custGeom>
                <a:avLst/>
                <a:gdLst>
                  <a:gd name="T0" fmla="*/ 1 w 10"/>
                  <a:gd name="T1" fmla="*/ 0 h 9"/>
                  <a:gd name="T2" fmla="*/ 6 w 10"/>
                  <a:gd name="T3" fmla="*/ 0 h 9"/>
                  <a:gd name="T4" fmla="*/ 10 w 10"/>
                  <a:gd name="T5" fmla="*/ 4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4"/>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01" name="Freeform 1723"/>
              <p:cNvSpPr>
                <a:spLocks/>
              </p:cNvSpPr>
              <p:nvPr/>
            </p:nvSpPr>
            <p:spPr bwMode="auto">
              <a:xfrm>
                <a:off x="3594"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02" name="Freeform 1724"/>
              <p:cNvSpPr>
                <a:spLocks/>
              </p:cNvSpPr>
              <p:nvPr/>
            </p:nvSpPr>
            <p:spPr bwMode="auto">
              <a:xfrm>
                <a:off x="3610" y="1339"/>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03" name="Freeform 1725"/>
              <p:cNvSpPr>
                <a:spLocks/>
              </p:cNvSpPr>
              <p:nvPr/>
            </p:nvSpPr>
            <p:spPr bwMode="auto">
              <a:xfrm>
                <a:off x="3613"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4" name="Freeform 1726"/>
              <p:cNvSpPr>
                <a:spLocks/>
              </p:cNvSpPr>
              <p:nvPr/>
            </p:nvSpPr>
            <p:spPr bwMode="auto">
              <a:xfrm>
                <a:off x="4130"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05" name="Freeform 1727"/>
              <p:cNvSpPr>
                <a:spLocks/>
              </p:cNvSpPr>
              <p:nvPr/>
            </p:nvSpPr>
            <p:spPr bwMode="auto">
              <a:xfrm>
                <a:off x="4215"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6" name="Freeform 1728"/>
              <p:cNvSpPr>
                <a:spLocks/>
              </p:cNvSpPr>
              <p:nvPr/>
            </p:nvSpPr>
            <p:spPr bwMode="auto">
              <a:xfrm>
                <a:off x="4228" y="133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07" name="Freeform 1729"/>
              <p:cNvSpPr>
                <a:spLocks/>
              </p:cNvSpPr>
              <p:nvPr/>
            </p:nvSpPr>
            <p:spPr bwMode="auto">
              <a:xfrm>
                <a:off x="4289" y="1339"/>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08" name="Freeform 1730"/>
              <p:cNvSpPr>
                <a:spLocks/>
              </p:cNvSpPr>
              <p:nvPr/>
            </p:nvSpPr>
            <p:spPr bwMode="auto">
              <a:xfrm>
                <a:off x="4327"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9" name="Freeform 1731"/>
              <p:cNvSpPr>
                <a:spLocks/>
              </p:cNvSpPr>
              <p:nvPr/>
            </p:nvSpPr>
            <p:spPr bwMode="auto">
              <a:xfrm>
                <a:off x="4383"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0" name="Freeform 1732"/>
              <p:cNvSpPr>
                <a:spLocks/>
              </p:cNvSpPr>
              <p:nvPr/>
            </p:nvSpPr>
            <p:spPr bwMode="auto">
              <a:xfrm>
                <a:off x="4409"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1" name="Freeform 1733"/>
              <p:cNvSpPr>
                <a:spLocks/>
              </p:cNvSpPr>
              <p:nvPr/>
            </p:nvSpPr>
            <p:spPr bwMode="auto">
              <a:xfrm>
                <a:off x="4427" y="1339"/>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12" name="Freeform 1734"/>
              <p:cNvSpPr>
                <a:spLocks/>
              </p:cNvSpPr>
              <p:nvPr/>
            </p:nvSpPr>
            <p:spPr bwMode="auto">
              <a:xfrm>
                <a:off x="4432"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3" name="Freeform 1735"/>
              <p:cNvSpPr>
                <a:spLocks/>
              </p:cNvSpPr>
              <p:nvPr/>
            </p:nvSpPr>
            <p:spPr bwMode="auto">
              <a:xfrm>
                <a:off x="4435"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14" name="Freeform 1736"/>
              <p:cNvSpPr>
                <a:spLocks/>
              </p:cNvSpPr>
              <p:nvPr/>
            </p:nvSpPr>
            <p:spPr bwMode="auto">
              <a:xfrm>
                <a:off x="4500"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15" name="Freeform 1737"/>
              <p:cNvSpPr>
                <a:spLocks/>
              </p:cNvSpPr>
              <p:nvPr/>
            </p:nvSpPr>
            <p:spPr bwMode="auto">
              <a:xfrm>
                <a:off x="4521"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6" name="Freeform 1738"/>
              <p:cNvSpPr>
                <a:spLocks/>
              </p:cNvSpPr>
              <p:nvPr/>
            </p:nvSpPr>
            <p:spPr bwMode="auto">
              <a:xfrm>
                <a:off x="1993"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17" name="Freeform 1739"/>
              <p:cNvSpPr>
                <a:spLocks/>
              </p:cNvSpPr>
              <p:nvPr/>
            </p:nvSpPr>
            <p:spPr bwMode="auto">
              <a:xfrm>
                <a:off x="2028"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8" name="Freeform 1740"/>
              <p:cNvSpPr>
                <a:spLocks/>
              </p:cNvSpPr>
              <p:nvPr/>
            </p:nvSpPr>
            <p:spPr bwMode="auto">
              <a:xfrm>
                <a:off x="2039" y="129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19" name="Freeform 1741"/>
              <p:cNvSpPr>
                <a:spLocks/>
              </p:cNvSpPr>
              <p:nvPr/>
            </p:nvSpPr>
            <p:spPr bwMode="auto">
              <a:xfrm>
                <a:off x="2077"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0" name="Freeform 1742"/>
              <p:cNvSpPr>
                <a:spLocks/>
              </p:cNvSpPr>
              <p:nvPr/>
            </p:nvSpPr>
            <p:spPr bwMode="auto">
              <a:xfrm>
                <a:off x="2135" y="129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21" name="Freeform 1743"/>
              <p:cNvSpPr>
                <a:spLocks/>
              </p:cNvSpPr>
              <p:nvPr/>
            </p:nvSpPr>
            <p:spPr bwMode="auto">
              <a:xfrm>
                <a:off x="2156" y="1299"/>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22" name="Freeform 1744"/>
              <p:cNvSpPr>
                <a:spLocks/>
              </p:cNvSpPr>
              <p:nvPr/>
            </p:nvSpPr>
            <p:spPr bwMode="auto">
              <a:xfrm>
                <a:off x="2201"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23" name="Freeform 1745"/>
              <p:cNvSpPr>
                <a:spLocks/>
              </p:cNvSpPr>
              <p:nvPr/>
            </p:nvSpPr>
            <p:spPr bwMode="auto">
              <a:xfrm>
                <a:off x="2222"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4" name="Freeform 1746"/>
              <p:cNvSpPr>
                <a:spLocks/>
              </p:cNvSpPr>
              <p:nvPr/>
            </p:nvSpPr>
            <p:spPr bwMode="auto">
              <a:xfrm>
                <a:off x="2238" y="1299"/>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25" name="Freeform 1747"/>
              <p:cNvSpPr>
                <a:spLocks/>
              </p:cNvSpPr>
              <p:nvPr/>
            </p:nvSpPr>
            <p:spPr bwMode="auto">
              <a:xfrm>
                <a:off x="2239"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6" name="Freeform 1748"/>
              <p:cNvSpPr>
                <a:spLocks/>
              </p:cNvSpPr>
              <p:nvPr/>
            </p:nvSpPr>
            <p:spPr bwMode="auto">
              <a:xfrm>
                <a:off x="2253" y="1299"/>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7" name="Freeform 1749"/>
              <p:cNvSpPr>
                <a:spLocks/>
              </p:cNvSpPr>
              <p:nvPr/>
            </p:nvSpPr>
            <p:spPr bwMode="auto">
              <a:xfrm>
                <a:off x="3304"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8" name="Freeform 1750"/>
              <p:cNvSpPr>
                <a:spLocks/>
              </p:cNvSpPr>
              <p:nvPr/>
            </p:nvSpPr>
            <p:spPr bwMode="auto">
              <a:xfrm>
                <a:off x="3306" y="1299"/>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29" name="Freeform 1751"/>
              <p:cNvSpPr>
                <a:spLocks/>
              </p:cNvSpPr>
              <p:nvPr/>
            </p:nvSpPr>
            <p:spPr bwMode="auto">
              <a:xfrm>
                <a:off x="3315" y="1299"/>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30" name="Freeform 1752"/>
              <p:cNvSpPr>
                <a:spLocks/>
              </p:cNvSpPr>
              <p:nvPr/>
            </p:nvSpPr>
            <p:spPr bwMode="auto">
              <a:xfrm>
                <a:off x="3318"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1" name="Freeform 1753"/>
              <p:cNvSpPr>
                <a:spLocks/>
              </p:cNvSpPr>
              <p:nvPr/>
            </p:nvSpPr>
            <p:spPr bwMode="auto">
              <a:xfrm>
                <a:off x="3320" y="129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2" name="Freeform 1754"/>
              <p:cNvSpPr>
                <a:spLocks/>
              </p:cNvSpPr>
              <p:nvPr/>
            </p:nvSpPr>
            <p:spPr bwMode="auto">
              <a:xfrm>
                <a:off x="3336" y="129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33" name="Freeform 1755"/>
              <p:cNvSpPr>
                <a:spLocks/>
              </p:cNvSpPr>
              <p:nvPr/>
            </p:nvSpPr>
            <p:spPr bwMode="auto">
              <a:xfrm>
                <a:off x="3360"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4" name="Freeform 1756"/>
              <p:cNvSpPr>
                <a:spLocks/>
              </p:cNvSpPr>
              <p:nvPr/>
            </p:nvSpPr>
            <p:spPr bwMode="auto">
              <a:xfrm>
                <a:off x="3381"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5" name="Freeform 1757"/>
              <p:cNvSpPr>
                <a:spLocks/>
              </p:cNvSpPr>
              <p:nvPr/>
            </p:nvSpPr>
            <p:spPr bwMode="auto">
              <a:xfrm>
                <a:off x="3529"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36" name="Freeform 1758"/>
              <p:cNvSpPr>
                <a:spLocks/>
              </p:cNvSpPr>
              <p:nvPr/>
            </p:nvSpPr>
            <p:spPr bwMode="auto">
              <a:xfrm>
                <a:off x="3557" y="1299"/>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7" name="Freeform 1759"/>
              <p:cNvSpPr>
                <a:spLocks/>
              </p:cNvSpPr>
              <p:nvPr/>
            </p:nvSpPr>
            <p:spPr bwMode="auto">
              <a:xfrm>
                <a:off x="3568"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8" name="Freeform 1760"/>
              <p:cNvSpPr>
                <a:spLocks/>
              </p:cNvSpPr>
              <p:nvPr/>
            </p:nvSpPr>
            <p:spPr bwMode="auto">
              <a:xfrm>
                <a:off x="3575" y="1299"/>
                <a:ext cx="8" cy="10"/>
              </a:xfrm>
              <a:custGeom>
                <a:avLst/>
                <a:gdLst>
                  <a:gd name="T0" fmla="*/ 2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2"/>
                    </a:lnTo>
                    <a:lnTo>
                      <a:pt x="8"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9" name="Freeform 1761"/>
              <p:cNvSpPr>
                <a:spLocks/>
              </p:cNvSpPr>
              <p:nvPr/>
            </p:nvSpPr>
            <p:spPr bwMode="auto">
              <a:xfrm>
                <a:off x="3592"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0" name="Freeform 1762"/>
              <p:cNvSpPr>
                <a:spLocks/>
              </p:cNvSpPr>
              <p:nvPr/>
            </p:nvSpPr>
            <p:spPr bwMode="auto">
              <a:xfrm>
                <a:off x="3601" y="129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1" name="Freeform 1763"/>
              <p:cNvSpPr>
                <a:spLocks/>
              </p:cNvSpPr>
              <p:nvPr/>
            </p:nvSpPr>
            <p:spPr bwMode="auto">
              <a:xfrm>
                <a:off x="3613"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2" name="Freeform 1764"/>
              <p:cNvSpPr>
                <a:spLocks/>
              </p:cNvSpPr>
              <p:nvPr/>
            </p:nvSpPr>
            <p:spPr bwMode="auto">
              <a:xfrm>
                <a:off x="4228" y="1299"/>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3" name="Freeform 1765"/>
              <p:cNvSpPr>
                <a:spLocks/>
              </p:cNvSpPr>
              <p:nvPr/>
            </p:nvSpPr>
            <p:spPr bwMode="auto">
              <a:xfrm>
                <a:off x="4355" y="1299"/>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4" name="Freeform 1766"/>
              <p:cNvSpPr>
                <a:spLocks/>
              </p:cNvSpPr>
              <p:nvPr/>
            </p:nvSpPr>
            <p:spPr bwMode="auto">
              <a:xfrm>
                <a:off x="4360"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5" name="Freeform 1767"/>
              <p:cNvSpPr>
                <a:spLocks/>
              </p:cNvSpPr>
              <p:nvPr/>
            </p:nvSpPr>
            <p:spPr bwMode="auto">
              <a:xfrm>
                <a:off x="4418" y="129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6" name="Freeform 1768"/>
              <p:cNvSpPr>
                <a:spLocks/>
              </p:cNvSpPr>
              <p:nvPr/>
            </p:nvSpPr>
            <p:spPr bwMode="auto">
              <a:xfrm>
                <a:off x="4479"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7" name="Freeform 1769"/>
              <p:cNvSpPr>
                <a:spLocks/>
              </p:cNvSpPr>
              <p:nvPr/>
            </p:nvSpPr>
            <p:spPr bwMode="auto">
              <a:xfrm>
                <a:off x="4482"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48" name="Freeform 1770"/>
              <p:cNvSpPr>
                <a:spLocks/>
              </p:cNvSpPr>
              <p:nvPr/>
            </p:nvSpPr>
            <p:spPr bwMode="auto">
              <a:xfrm>
                <a:off x="4498"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49" name="Freeform 1771"/>
              <p:cNvSpPr>
                <a:spLocks/>
              </p:cNvSpPr>
              <p:nvPr/>
            </p:nvSpPr>
            <p:spPr bwMode="auto">
              <a:xfrm>
                <a:off x="4507" y="1299"/>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0" name="Freeform 1772"/>
              <p:cNvSpPr>
                <a:spLocks/>
              </p:cNvSpPr>
              <p:nvPr/>
            </p:nvSpPr>
            <p:spPr bwMode="auto">
              <a:xfrm>
                <a:off x="4535"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1" name="Freeform 1773"/>
              <p:cNvSpPr>
                <a:spLocks/>
              </p:cNvSpPr>
              <p:nvPr/>
            </p:nvSpPr>
            <p:spPr bwMode="auto">
              <a:xfrm>
                <a:off x="2264" y="125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9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2" name="Freeform 1774"/>
              <p:cNvSpPr>
                <a:spLocks/>
              </p:cNvSpPr>
              <p:nvPr/>
            </p:nvSpPr>
            <p:spPr bwMode="auto">
              <a:xfrm>
                <a:off x="2271"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3" name="Freeform 1775"/>
              <p:cNvSpPr>
                <a:spLocks/>
              </p:cNvSpPr>
              <p:nvPr/>
            </p:nvSpPr>
            <p:spPr bwMode="auto">
              <a:xfrm>
                <a:off x="2431" y="125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4" name="Freeform 1776"/>
              <p:cNvSpPr>
                <a:spLocks/>
              </p:cNvSpPr>
              <p:nvPr/>
            </p:nvSpPr>
            <p:spPr bwMode="auto">
              <a:xfrm>
                <a:off x="2470"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5" name="Freeform 1777"/>
              <p:cNvSpPr>
                <a:spLocks/>
              </p:cNvSpPr>
              <p:nvPr/>
            </p:nvSpPr>
            <p:spPr bwMode="auto">
              <a:xfrm>
                <a:off x="2650" y="1259"/>
                <a:ext cx="10" cy="10"/>
              </a:xfrm>
              <a:custGeom>
                <a:avLst/>
                <a:gdLst>
                  <a:gd name="T0" fmla="*/ 3 w 10"/>
                  <a:gd name="T1" fmla="*/ 0 h 10"/>
                  <a:gd name="T2" fmla="*/ 8 w 10"/>
                  <a:gd name="T3" fmla="*/ 0 h 10"/>
                  <a:gd name="T4" fmla="*/ 10 w 10"/>
                  <a:gd name="T5" fmla="*/ 2 h 10"/>
                  <a:gd name="T6" fmla="*/ 10 w 10"/>
                  <a:gd name="T7" fmla="*/ 9 h 10"/>
                  <a:gd name="T8" fmla="*/ 8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9"/>
                    </a:lnTo>
                    <a:lnTo>
                      <a:pt x="8"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6" name="Freeform 1778"/>
              <p:cNvSpPr>
                <a:spLocks/>
              </p:cNvSpPr>
              <p:nvPr/>
            </p:nvSpPr>
            <p:spPr bwMode="auto">
              <a:xfrm>
                <a:off x="3536" y="125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7" name="Freeform 1779"/>
              <p:cNvSpPr>
                <a:spLocks/>
              </p:cNvSpPr>
              <p:nvPr/>
            </p:nvSpPr>
            <p:spPr bwMode="auto">
              <a:xfrm>
                <a:off x="3538" y="1259"/>
                <a:ext cx="11" cy="10"/>
              </a:xfrm>
              <a:custGeom>
                <a:avLst/>
                <a:gdLst>
                  <a:gd name="T0" fmla="*/ 4 w 11"/>
                  <a:gd name="T1" fmla="*/ 0 h 10"/>
                  <a:gd name="T2" fmla="*/ 9 w 11"/>
                  <a:gd name="T3" fmla="*/ 0 h 10"/>
                  <a:gd name="T4" fmla="*/ 11 w 11"/>
                  <a:gd name="T5" fmla="*/ 2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58" name="Freeform 1780"/>
              <p:cNvSpPr>
                <a:spLocks/>
              </p:cNvSpPr>
              <p:nvPr/>
            </p:nvSpPr>
            <p:spPr bwMode="auto">
              <a:xfrm>
                <a:off x="3542" y="1259"/>
                <a:ext cx="8" cy="10"/>
              </a:xfrm>
              <a:custGeom>
                <a:avLst/>
                <a:gdLst>
                  <a:gd name="T0" fmla="*/ 1 w 8"/>
                  <a:gd name="T1" fmla="*/ 0 h 10"/>
                  <a:gd name="T2" fmla="*/ 7 w 8"/>
                  <a:gd name="T3" fmla="*/ 0 h 10"/>
                  <a:gd name="T4" fmla="*/ 8 w 8"/>
                  <a:gd name="T5" fmla="*/ 2 h 10"/>
                  <a:gd name="T6" fmla="*/ 8 w 8"/>
                  <a:gd name="T7" fmla="*/ 9 h 10"/>
                  <a:gd name="T8" fmla="*/ 7 w 8"/>
                  <a:gd name="T9" fmla="*/ 10 h 10"/>
                  <a:gd name="T10" fmla="*/ 1 w 8"/>
                  <a:gd name="T11" fmla="*/ 10 h 10"/>
                  <a:gd name="T12" fmla="*/ 0 w 8"/>
                  <a:gd name="T13" fmla="*/ 9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9"/>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59" name="Freeform 1781"/>
              <p:cNvSpPr>
                <a:spLocks/>
              </p:cNvSpPr>
              <p:nvPr/>
            </p:nvSpPr>
            <p:spPr bwMode="auto">
              <a:xfrm>
                <a:off x="3583"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0" name="Freeform 1782"/>
              <p:cNvSpPr>
                <a:spLocks/>
              </p:cNvSpPr>
              <p:nvPr/>
            </p:nvSpPr>
            <p:spPr bwMode="auto">
              <a:xfrm>
                <a:off x="3606"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1" name="Freeform 1783"/>
              <p:cNvSpPr>
                <a:spLocks/>
              </p:cNvSpPr>
              <p:nvPr/>
            </p:nvSpPr>
            <p:spPr bwMode="auto">
              <a:xfrm>
                <a:off x="4137" y="125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9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2" name="Freeform 1784"/>
              <p:cNvSpPr>
                <a:spLocks/>
              </p:cNvSpPr>
              <p:nvPr/>
            </p:nvSpPr>
            <p:spPr bwMode="auto">
              <a:xfrm>
                <a:off x="4224"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3" name="Freeform 1785"/>
              <p:cNvSpPr>
                <a:spLocks/>
              </p:cNvSpPr>
              <p:nvPr/>
            </p:nvSpPr>
            <p:spPr bwMode="auto">
              <a:xfrm>
                <a:off x="4250" y="1259"/>
                <a:ext cx="11" cy="10"/>
              </a:xfrm>
              <a:custGeom>
                <a:avLst/>
                <a:gdLst>
                  <a:gd name="T0" fmla="*/ 2 w 11"/>
                  <a:gd name="T1" fmla="*/ 0 h 10"/>
                  <a:gd name="T2" fmla="*/ 9 w 11"/>
                  <a:gd name="T3" fmla="*/ 0 h 10"/>
                  <a:gd name="T4" fmla="*/ 11 w 11"/>
                  <a:gd name="T5" fmla="*/ 2 h 10"/>
                  <a:gd name="T6" fmla="*/ 11 w 11"/>
                  <a:gd name="T7" fmla="*/ 9 h 10"/>
                  <a:gd name="T8" fmla="*/ 9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9" y="0"/>
                    </a:lnTo>
                    <a:lnTo>
                      <a:pt x="11" y="2"/>
                    </a:lnTo>
                    <a:lnTo>
                      <a:pt x="11" y="9"/>
                    </a:lnTo>
                    <a:lnTo>
                      <a:pt x="9"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4" name="Freeform 1786"/>
              <p:cNvSpPr>
                <a:spLocks/>
              </p:cNvSpPr>
              <p:nvPr/>
            </p:nvSpPr>
            <p:spPr bwMode="auto">
              <a:xfrm>
                <a:off x="4289" y="1259"/>
                <a:ext cx="8" cy="10"/>
              </a:xfrm>
              <a:custGeom>
                <a:avLst/>
                <a:gdLst>
                  <a:gd name="T0" fmla="*/ 1 w 8"/>
                  <a:gd name="T1" fmla="*/ 0 h 10"/>
                  <a:gd name="T2" fmla="*/ 7 w 8"/>
                  <a:gd name="T3" fmla="*/ 0 h 10"/>
                  <a:gd name="T4" fmla="*/ 8 w 8"/>
                  <a:gd name="T5" fmla="*/ 2 h 10"/>
                  <a:gd name="T6" fmla="*/ 8 w 8"/>
                  <a:gd name="T7" fmla="*/ 9 h 10"/>
                  <a:gd name="T8" fmla="*/ 7 w 8"/>
                  <a:gd name="T9" fmla="*/ 10 h 10"/>
                  <a:gd name="T10" fmla="*/ 1 w 8"/>
                  <a:gd name="T11" fmla="*/ 10 h 10"/>
                  <a:gd name="T12" fmla="*/ 0 w 8"/>
                  <a:gd name="T13" fmla="*/ 9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9"/>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65" name="Freeform 1787"/>
              <p:cNvSpPr>
                <a:spLocks/>
              </p:cNvSpPr>
              <p:nvPr/>
            </p:nvSpPr>
            <p:spPr bwMode="auto">
              <a:xfrm>
                <a:off x="4296" y="1259"/>
                <a:ext cx="8" cy="10"/>
              </a:xfrm>
              <a:custGeom>
                <a:avLst/>
                <a:gdLst>
                  <a:gd name="T0" fmla="*/ 1 w 8"/>
                  <a:gd name="T1" fmla="*/ 0 h 10"/>
                  <a:gd name="T2" fmla="*/ 7 w 8"/>
                  <a:gd name="T3" fmla="*/ 0 h 10"/>
                  <a:gd name="T4" fmla="*/ 8 w 8"/>
                  <a:gd name="T5" fmla="*/ 2 h 10"/>
                  <a:gd name="T6" fmla="*/ 8 w 8"/>
                  <a:gd name="T7" fmla="*/ 9 h 10"/>
                  <a:gd name="T8" fmla="*/ 7 w 8"/>
                  <a:gd name="T9" fmla="*/ 10 h 10"/>
                  <a:gd name="T10" fmla="*/ 1 w 8"/>
                  <a:gd name="T11" fmla="*/ 10 h 10"/>
                  <a:gd name="T12" fmla="*/ 0 w 8"/>
                  <a:gd name="T13" fmla="*/ 9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9"/>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66" name="Freeform 1788"/>
              <p:cNvSpPr>
                <a:spLocks/>
              </p:cNvSpPr>
              <p:nvPr/>
            </p:nvSpPr>
            <p:spPr bwMode="auto">
              <a:xfrm>
                <a:off x="4334"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7" name="Freeform 1789"/>
              <p:cNvSpPr>
                <a:spLocks/>
              </p:cNvSpPr>
              <p:nvPr/>
            </p:nvSpPr>
            <p:spPr bwMode="auto">
              <a:xfrm>
                <a:off x="4336"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8" name="Freeform 1790"/>
              <p:cNvSpPr>
                <a:spLocks/>
              </p:cNvSpPr>
              <p:nvPr/>
            </p:nvSpPr>
            <p:spPr bwMode="auto">
              <a:xfrm>
                <a:off x="4353" y="125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9" name="Freeform 1791"/>
              <p:cNvSpPr>
                <a:spLocks/>
              </p:cNvSpPr>
              <p:nvPr/>
            </p:nvSpPr>
            <p:spPr bwMode="auto">
              <a:xfrm>
                <a:off x="4365"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70" name="Freeform 1792"/>
              <p:cNvSpPr>
                <a:spLocks/>
              </p:cNvSpPr>
              <p:nvPr/>
            </p:nvSpPr>
            <p:spPr bwMode="auto">
              <a:xfrm>
                <a:off x="4386" y="1259"/>
                <a:ext cx="11" cy="10"/>
              </a:xfrm>
              <a:custGeom>
                <a:avLst/>
                <a:gdLst>
                  <a:gd name="T0" fmla="*/ 4 w 11"/>
                  <a:gd name="T1" fmla="*/ 0 h 10"/>
                  <a:gd name="T2" fmla="*/ 9 w 11"/>
                  <a:gd name="T3" fmla="*/ 0 h 10"/>
                  <a:gd name="T4" fmla="*/ 11 w 11"/>
                  <a:gd name="T5" fmla="*/ 2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1" name="Freeform 1793"/>
              <p:cNvSpPr>
                <a:spLocks/>
              </p:cNvSpPr>
              <p:nvPr/>
            </p:nvSpPr>
            <p:spPr bwMode="auto">
              <a:xfrm>
                <a:off x="4427" y="125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1 w 10"/>
                  <a:gd name="T11" fmla="*/ 10 h 10"/>
                  <a:gd name="T12" fmla="*/ 0 w 10"/>
                  <a:gd name="T13" fmla="*/ 9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72" name="Freeform 1794"/>
              <p:cNvSpPr>
                <a:spLocks/>
              </p:cNvSpPr>
              <p:nvPr/>
            </p:nvSpPr>
            <p:spPr bwMode="auto">
              <a:xfrm>
                <a:off x="4491" y="1259"/>
                <a:ext cx="11" cy="10"/>
              </a:xfrm>
              <a:custGeom>
                <a:avLst/>
                <a:gdLst>
                  <a:gd name="T0" fmla="*/ 4 w 11"/>
                  <a:gd name="T1" fmla="*/ 0 h 10"/>
                  <a:gd name="T2" fmla="*/ 9 w 11"/>
                  <a:gd name="T3" fmla="*/ 0 h 10"/>
                  <a:gd name="T4" fmla="*/ 11 w 11"/>
                  <a:gd name="T5" fmla="*/ 2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3" name="Freeform 1795"/>
              <p:cNvSpPr>
                <a:spLocks/>
              </p:cNvSpPr>
              <p:nvPr/>
            </p:nvSpPr>
            <p:spPr bwMode="auto">
              <a:xfrm>
                <a:off x="4521" y="125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9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74" name="Freeform 1796"/>
              <p:cNvSpPr>
                <a:spLocks/>
              </p:cNvSpPr>
              <p:nvPr/>
            </p:nvSpPr>
            <p:spPr bwMode="auto">
              <a:xfrm>
                <a:off x="1679" y="1219"/>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5" name="Freeform 1797"/>
              <p:cNvSpPr>
                <a:spLocks/>
              </p:cNvSpPr>
              <p:nvPr/>
            </p:nvSpPr>
            <p:spPr bwMode="auto">
              <a:xfrm>
                <a:off x="1684" y="1219"/>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6" name="Freeform 1798"/>
              <p:cNvSpPr>
                <a:spLocks/>
              </p:cNvSpPr>
              <p:nvPr/>
            </p:nvSpPr>
            <p:spPr bwMode="auto">
              <a:xfrm>
                <a:off x="1688" y="1219"/>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77" name="Freeform 1799"/>
              <p:cNvSpPr>
                <a:spLocks/>
              </p:cNvSpPr>
              <p:nvPr/>
            </p:nvSpPr>
            <p:spPr bwMode="auto">
              <a:xfrm>
                <a:off x="1756" y="1219"/>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78" name="Freeform 1800"/>
              <p:cNvSpPr>
                <a:spLocks/>
              </p:cNvSpPr>
              <p:nvPr/>
            </p:nvSpPr>
            <p:spPr bwMode="auto">
              <a:xfrm>
                <a:off x="1979" y="1219"/>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9" name="Freeform 1801"/>
              <p:cNvSpPr>
                <a:spLocks/>
              </p:cNvSpPr>
              <p:nvPr/>
            </p:nvSpPr>
            <p:spPr bwMode="auto">
              <a:xfrm>
                <a:off x="1983" y="1219"/>
                <a:ext cx="10" cy="10"/>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0" name="Freeform 1802"/>
              <p:cNvSpPr>
                <a:spLocks/>
              </p:cNvSpPr>
              <p:nvPr/>
            </p:nvSpPr>
            <p:spPr bwMode="auto">
              <a:xfrm>
                <a:off x="2493" y="1219"/>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1" name="Freeform 1803"/>
              <p:cNvSpPr>
                <a:spLocks/>
              </p:cNvSpPr>
              <p:nvPr/>
            </p:nvSpPr>
            <p:spPr bwMode="auto">
              <a:xfrm>
                <a:off x="3313" y="1219"/>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2" name="Freeform 1804"/>
              <p:cNvSpPr>
                <a:spLocks/>
              </p:cNvSpPr>
              <p:nvPr/>
            </p:nvSpPr>
            <p:spPr bwMode="auto">
              <a:xfrm>
                <a:off x="3315" y="1219"/>
                <a:ext cx="10" cy="10"/>
              </a:xfrm>
              <a:custGeom>
                <a:avLst/>
                <a:gdLst>
                  <a:gd name="T0" fmla="*/ 3 w 10"/>
                  <a:gd name="T1" fmla="*/ 0 h 10"/>
                  <a:gd name="T2" fmla="*/ 7 w 10"/>
                  <a:gd name="T3" fmla="*/ 0 h 10"/>
                  <a:gd name="T4" fmla="*/ 10 w 10"/>
                  <a:gd name="T5" fmla="*/ 3 h 10"/>
                  <a:gd name="T6" fmla="*/ 10 w 10"/>
                  <a:gd name="T7" fmla="*/ 8 h 10"/>
                  <a:gd name="T8" fmla="*/ 8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8"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3" name="Freeform 1805"/>
              <p:cNvSpPr>
                <a:spLocks/>
              </p:cNvSpPr>
              <p:nvPr/>
            </p:nvSpPr>
            <p:spPr bwMode="auto">
              <a:xfrm>
                <a:off x="3318" y="1219"/>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4" name="Freeform 1806"/>
              <p:cNvSpPr>
                <a:spLocks/>
              </p:cNvSpPr>
              <p:nvPr/>
            </p:nvSpPr>
            <p:spPr bwMode="auto">
              <a:xfrm>
                <a:off x="3334" y="1219"/>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5" name="Freeform 1807"/>
              <p:cNvSpPr>
                <a:spLocks/>
              </p:cNvSpPr>
              <p:nvPr/>
            </p:nvSpPr>
            <p:spPr bwMode="auto">
              <a:xfrm>
                <a:off x="3336" y="1219"/>
                <a:ext cx="10" cy="10"/>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1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6" name="Freeform 1808"/>
              <p:cNvSpPr>
                <a:spLocks/>
              </p:cNvSpPr>
              <p:nvPr/>
            </p:nvSpPr>
            <p:spPr bwMode="auto">
              <a:xfrm>
                <a:off x="3503" y="1219"/>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7" name="Freeform 1809"/>
              <p:cNvSpPr>
                <a:spLocks/>
              </p:cNvSpPr>
              <p:nvPr/>
            </p:nvSpPr>
            <p:spPr bwMode="auto">
              <a:xfrm>
                <a:off x="3531" y="1219"/>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8" name="Freeform 1810"/>
              <p:cNvSpPr>
                <a:spLocks/>
              </p:cNvSpPr>
              <p:nvPr/>
            </p:nvSpPr>
            <p:spPr bwMode="auto">
              <a:xfrm>
                <a:off x="3543" y="1219"/>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9" name="Freeform 1811"/>
              <p:cNvSpPr>
                <a:spLocks/>
              </p:cNvSpPr>
              <p:nvPr/>
            </p:nvSpPr>
            <p:spPr bwMode="auto">
              <a:xfrm>
                <a:off x="3545" y="1219"/>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90" name="Freeform 1812"/>
              <p:cNvSpPr>
                <a:spLocks/>
              </p:cNvSpPr>
              <p:nvPr/>
            </p:nvSpPr>
            <p:spPr bwMode="auto">
              <a:xfrm>
                <a:off x="3552" y="1219"/>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grpSp>
        <p:sp>
          <p:nvSpPr>
            <p:cNvPr id="1054" name="Freeform 1814"/>
            <p:cNvSpPr>
              <a:spLocks/>
            </p:cNvSpPr>
            <p:nvPr/>
          </p:nvSpPr>
          <p:spPr bwMode="auto">
            <a:xfrm>
              <a:off x="5646738" y="1935163"/>
              <a:ext cx="14288" cy="15875"/>
            </a:xfrm>
            <a:custGeom>
              <a:avLst/>
              <a:gdLst>
                <a:gd name="T0" fmla="*/ 10080977 w 9"/>
                <a:gd name="T1" fmla="*/ 0 h 10"/>
                <a:gd name="T2" fmla="*/ 15121466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55" name="Freeform 1815"/>
            <p:cNvSpPr>
              <a:spLocks/>
            </p:cNvSpPr>
            <p:nvPr/>
          </p:nvSpPr>
          <p:spPr bwMode="auto">
            <a:xfrm>
              <a:off x="5713413" y="1935163"/>
              <a:ext cx="14288" cy="15875"/>
            </a:xfrm>
            <a:custGeom>
              <a:avLst/>
              <a:gdLst>
                <a:gd name="T0" fmla="*/ 10080977 w 9"/>
                <a:gd name="T1" fmla="*/ 0 h 10"/>
                <a:gd name="T2" fmla="*/ 12602014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56" name="Freeform 1816"/>
            <p:cNvSpPr>
              <a:spLocks/>
            </p:cNvSpPr>
            <p:nvPr/>
          </p:nvSpPr>
          <p:spPr bwMode="auto">
            <a:xfrm>
              <a:off x="5716588" y="1935163"/>
              <a:ext cx="15875" cy="15875"/>
            </a:xfrm>
            <a:custGeom>
              <a:avLst/>
              <a:gdLst>
                <a:gd name="T0" fmla="*/ 7559675 w 10"/>
                <a:gd name="T1" fmla="*/ 0 h 10"/>
                <a:gd name="T2" fmla="*/ 17640299 w 10"/>
                <a:gd name="T3" fmla="*/ 0 h 10"/>
                <a:gd name="T4" fmla="*/ 25201559 w 10"/>
                <a:gd name="T5" fmla="*/ 7559675 h 10"/>
                <a:gd name="T6" fmla="*/ 25201559 w 10"/>
                <a:gd name="T7" fmla="*/ 17640299 h 10"/>
                <a:gd name="T8" fmla="*/ 17640299 w 10"/>
                <a:gd name="T9" fmla="*/ 25201559 h 10"/>
                <a:gd name="T10" fmla="*/ 5040312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57" name="Freeform 1817"/>
            <p:cNvSpPr>
              <a:spLocks/>
            </p:cNvSpPr>
            <p:nvPr/>
          </p:nvSpPr>
          <p:spPr bwMode="auto">
            <a:xfrm>
              <a:off x="5730875" y="1935163"/>
              <a:ext cx="15875" cy="15875"/>
            </a:xfrm>
            <a:custGeom>
              <a:avLst/>
              <a:gdLst>
                <a:gd name="T0" fmla="*/ 7559675 w 10"/>
                <a:gd name="T1" fmla="*/ 0 h 10"/>
                <a:gd name="T2" fmla="*/ 17640299 w 10"/>
                <a:gd name="T3" fmla="*/ 0 h 10"/>
                <a:gd name="T4" fmla="*/ 25201559 w 10"/>
                <a:gd name="T5" fmla="*/ 7559675 h 10"/>
                <a:gd name="T6" fmla="*/ 25201559 w 10"/>
                <a:gd name="T7" fmla="*/ 17640299 h 10"/>
                <a:gd name="T8" fmla="*/ 17640299 w 10"/>
                <a:gd name="T9" fmla="*/ 25201559 h 10"/>
                <a:gd name="T10" fmla="*/ 2520950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58" name="Freeform 1818"/>
            <p:cNvSpPr>
              <a:spLocks/>
            </p:cNvSpPr>
            <p:nvPr/>
          </p:nvSpPr>
          <p:spPr bwMode="auto">
            <a:xfrm>
              <a:off x="5735638" y="1935163"/>
              <a:ext cx="14288" cy="15875"/>
            </a:xfrm>
            <a:custGeom>
              <a:avLst/>
              <a:gdLst>
                <a:gd name="T0" fmla="*/ 10080977 w 9"/>
                <a:gd name="T1" fmla="*/ 0 h 10"/>
                <a:gd name="T2" fmla="*/ 12602014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59" name="Freeform 1819"/>
            <p:cNvSpPr>
              <a:spLocks/>
            </p:cNvSpPr>
            <p:nvPr/>
          </p:nvSpPr>
          <p:spPr bwMode="auto">
            <a:xfrm>
              <a:off x="6592888" y="1935163"/>
              <a:ext cx="15875" cy="15875"/>
            </a:xfrm>
            <a:custGeom>
              <a:avLst/>
              <a:gdLst>
                <a:gd name="T0" fmla="*/ 7559675 w 10"/>
                <a:gd name="T1" fmla="*/ 0 h 10"/>
                <a:gd name="T2" fmla="*/ 17640299 w 10"/>
                <a:gd name="T3" fmla="*/ 0 h 10"/>
                <a:gd name="T4" fmla="*/ 25201559 w 10"/>
                <a:gd name="T5" fmla="*/ 7559675 h 10"/>
                <a:gd name="T6" fmla="*/ 25201559 w 10"/>
                <a:gd name="T7" fmla="*/ 17640299 h 10"/>
                <a:gd name="T8" fmla="*/ 17640299 w 10"/>
                <a:gd name="T9" fmla="*/ 25201559 h 10"/>
                <a:gd name="T10" fmla="*/ 2520950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0" name="Freeform 1820"/>
            <p:cNvSpPr>
              <a:spLocks/>
            </p:cNvSpPr>
            <p:nvPr/>
          </p:nvSpPr>
          <p:spPr bwMode="auto">
            <a:xfrm>
              <a:off x="6716713" y="1935163"/>
              <a:ext cx="14288" cy="15875"/>
            </a:xfrm>
            <a:custGeom>
              <a:avLst/>
              <a:gdLst>
                <a:gd name="T0" fmla="*/ 10080977 w 9"/>
                <a:gd name="T1" fmla="*/ 0 h 10"/>
                <a:gd name="T2" fmla="*/ 12602014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61" name="Freeform 1821"/>
            <p:cNvSpPr>
              <a:spLocks/>
            </p:cNvSpPr>
            <p:nvPr/>
          </p:nvSpPr>
          <p:spPr bwMode="auto">
            <a:xfrm>
              <a:off x="6850063" y="1935163"/>
              <a:ext cx="15875" cy="15875"/>
            </a:xfrm>
            <a:custGeom>
              <a:avLst/>
              <a:gdLst>
                <a:gd name="T0" fmla="*/ 7559675 w 10"/>
                <a:gd name="T1" fmla="*/ 0 h 10"/>
                <a:gd name="T2" fmla="*/ 17640299 w 10"/>
                <a:gd name="T3" fmla="*/ 0 h 10"/>
                <a:gd name="T4" fmla="*/ 25201559 w 10"/>
                <a:gd name="T5" fmla="*/ 7559675 h 10"/>
                <a:gd name="T6" fmla="*/ 25201559 w 10"/>
                <a:gd name="T7" fmla="*/ 20161249 h 10"/>
                <a:gd name="T8" fmla="*/ 22682198 w 10"/>
                <a:gd name="T9" fmla="*/ 25201559 h 10"/>
                <a:gd name="T10" fmla="*/ 5040312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2" name="Freeform 1822"/>
            <p:cNvSpPr>
              <a:spLocks/>
            </p:cNvSpPr>
            <p:nvPr/>
          </p:nvSpPr>
          <p:spPr bwMode="auto">
            <a:xfrm>
              <a:off x="6961188" y="1935163"/>
              <a:ext cx="12700" cy="15875"/>
            </a:xfrm>
            <a:custGeom>
              <a:avLst/>
              <a:gdLst>
                <a:gd name="T0" fmla="*/ 7559674 w 8"/>
                <a:gd name="T1" fmla="*/ 0 h 10"/>
                <a:gd name="T2" fmla="*/ 12599985 w 8"/>
                <a:gd name="T3" fmla="*/ 0 h 10"/>
                <a:gd name="T4" fmla="*/ 20161247 w 8"/>
                <a:gd name="T5" fmla="*/ 7559675 h 10"/>
                <a:gd name="T6" fmla="*/ 20161247 w 8"/>
                <a:gd name="T7" fmla="*/ 20161249 h 10"/>
                <a:gd name="T8" fmla="*/ 17640298 w 8"/>
                <a:gd name="T9" fmla="*/ 25201559 h 10"/>
                <a:gd name="T10" fmla="*/ 2520950 w 8"/>
                <a:gd name="T11" fmla="*/ 25201559 h 10"/>
                <a:gd name="T12" fmla="*/ 0 w 8"/>
                <a:gd name="T13" fmla="*/ 20161249 h 10"/>
                <a:gd name="T14" fmla="*/ 0 w 8"/>
                <a:gd name="T15" fmla="*/ 7559675 h 10"/>
                <a:gd name="T16" fmla="*/ 7559674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3" name="Freeform 1823"/>
            <p:cNvSpPr>
              <a:spLocks/>
            </p:cNvSpPr>
            <p:nvPr/>
          </p:nvSpPr>
          <p:spPr bwMode="auto">
            <a:xfrm>
              <a:off x="7085013" y="1935163"/>
              <a:ext cx="14288" cy="15875"/>
            </a:xfrm>
            <a:custGeom>
              <a:avLst/>
              <a:gdLst>
                <a:gd name="T0" fmla="*/ 10080977 w 9"/>
                <a:gd name="T1" fmla="*/ 0 h 10"/>
                <a:gd name="T2" fmla="*/ 12602014 w 9"/>
                <a:gd name="T3" fmla="*/ 0 h 10"/>
                <a:gd name="T4" fmla="*/ 22682990 w 9"/>
                <a:gd name="T5" fmla="*/ 7559675 h 10"/>
                <a:gd name="T6" fmla="*/ 22682990 w 9"/>
                <a:gd name="T7" fmla="*/ 20161249 h 10"/>
                <a:gd name="T8" fmla="*/ 17642504 w 9"/>
                <a:gd name="T9" fmla="*/ 25201559 h 10"/>
                <a:gd name="T10" fmla="*/ 5040488 w 9"/>
                <a:gd name="T11" fmla="*/ 25201559 h 10"/>
                <a:gd name="T12" fmla="*/ 0 w 9"/>
                <a:gd name="T13" fmla="*/ 20161249 h 10"/>
                <a:gd name="T14" fmla="*/ 0 w 9"/>
                <a:gd name="T15" fmla="*/ 7559675 h 10"/>
                <a:gd name="T16" fmla="*/ 10080977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64" name="Freeform 1824"/>
            <p:cNvSpPr>
              <a:spLocks/>
            </p:cNvSpPr>
            <p:nvPr/>
          </p:nvSpPr>
          <p:spPr bwMode="auto">
            <a:xfrm>
              <a:off x="7165975" y="1935163"/>
              <a:ext cx="15875" cy="15875"/>
            </a:xfrm>
            <a:custGeom>
              <a:avLst/>
              <a:gdLst>
                <a:gd name="T0" fmla="*/ 7559675 w 10"/>
                <a:gd name="T1" fmla="*/ 0 h 10"/>
                <a:gd name="T2" fmla="*/ 17640299 w 10"/>
                <a:gd name="T3" fmla="*/ 0 h 10"/>
                <a:gd name="T4" fmla="*/ 25201559 w 10"/>
                <a:gd name="T5" fmla="*/ 7559675 h 10"/>
                <a:gd name="T6" fmla="*/ 25201559 w 10"/>
                <a:gd name="T7" fmla="*/ 17640299 h 10"/>
                <a:gd name="T8" fmla="*/ 17640299 w 10"/>
                <a:gd name="T9" fmla="*/ 25201559 h 10"/>
                <a:gd name="T10" fmla="*/ 5040312 w 10"/>
                <a:gd name="T11" fmla="*/ 25201559 h 10"/>
                <a:gd name="T12" fmla="*/ 0 w 10"/>
                <a:gd name="T13" fmla="*/ 20161249 h 10"/>
                <a:gd name="T14" fmla="*/ 0 w 10"/>
                <a:gd name="T15" fmla="*/ 7559675 h 10"/>
                <a:gd name="T16" fmla="*/ 7559675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5" name="Freeform 1825"/>
            <p:cNvSpPr>
              <a:spLocks/>
            </p:cNvSpPr>
            <p:nvPr/>
          </p:nvSpPr>
          <p:spPr bwMode="auto">
            <a:xfrm>
              <a:off x="2411413" y="1873251"/>
              <a:ext cx="15875" cy="14288"/>
            </a:xfrm>
            <a:custGeom>
              <a:avLst/>
              <a:gdLst>
                <a:gd name="T0" fmla="*/ 2520950 w 10"/>
                <a:gd name="T1" fmla="*/ 0 h 9"/>
                <a:gd name="T2" fmla="*/ 17640299 w 10"/>
                <a:gd name="T3" fmla="*/ 0 h 9"/>
                <a:gd name="T4" fmla="*/ 25201559 w 10"/>
                <a:gd name="T5" fmla="*/ 10080977 h 9"/>
                <a:gd name="T6" fmla="*/ 25201559 w 10"/>
                <a:gd name="T7" fmla="*/ 12602014 h 9"/>
                <a:gd name="T8" fmla="*/ 17640299 w 10"/>
                <a:gd name="T9" fmla="*/ 22682990 h 9"/>
                <a:gd name="T10" fmla="*/ 2520950 w 10"/>
                <a:gd name="T11" fmla="*/ 22682990 h 9"/>
                <a:gd name="T12" fmla="*/ 0 w 10"/>
                <a:gd name="T13" fmla="*/ 17642504 h 9"/>
                <a:gd name="T14" fmla="*/ 0 w 10"/>
                <a:gd name="T15" fmla="*/ 5040488 h 9"/>
                <a:gd name="T16" fmla="*/ 2520950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66" name="Freeform 1826"/>
            <p:cNvSpPr>
              <a:spLocks/>
            </p:cNvSpPr>
            <p:nvPr/>
          </p:nvSpPr>
          <p:spPr bwMode="auto">
            <a:xfrm>
              <a:off x="2419350"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756152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67" name="Freeform 1827"/>
            <p:cNvSpPr>
              <a:spLocks/>
            </p:cNvSpPr>
            <p:nvPr/>
          </p:nvSpPr>
          <p:spPr bwMode="auto">
            <a:xfrm>
              <a:off x="2424113" y="1873251"/>
              <a:ext cx="17463" cy="14288"/>
            </a:xfrm>
            <a:custGeom>
              <a:avLst/>
              <a:gdLst>
                <a:gd name="T0" fmla="*/ 5040457 w 11"/>
                <a:gd name="T1" fmla="*/ 0 h 9"/>
                <a:gd name="T2" fmla="*/ 22682848 w 11"/>
                <a:gd name="T3" fmla="*/ 0 h 9"/>
                <a:gd name="T4" fmla="*/ 27723309 w 11"/>
                <a:gd name="T5" fmla="*/ 5040488 h 9"/>
                <a:gd name="T6" fmla="*/ 27723309 w 11"/>
                <a:gd name="T7" fmla="*/ 17642504 h 9"/>
                <a:gd name="T8" fmla="*/ 22682848 w 11"/>
                <a:gd name="T9" fmla="*/ 22682990 h 9"/>
                <a:gd name="T10" fmla="*/ 5040457 w 11"/>
                <a:gd name="T11" fmla="*/ 22682990 h 9"/>
                <a:gd name="T12" fmla="*/ 0 w 11"/>
                <a:gd name="T13" fmla="*/ 17642504 h 9"/>
                <a:gd name="T14" fmla="*/ 0 w 11"/>
                <a:gd name="T15" fmla="*/ 5040488 h 9"/>
                <a:gd name="T16" fmla="*/ 5040457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68" name="Freeform 1828"/>
            <p:cNvSpPr>
              <a:spLocks/>
            </p:cNvSpPr>
            <p:nvPr/>
          </p:nvSpPr>
          <p:spPr bwMode="auto">
            <a:xfrm>
              <a:off x="2435225" y="1873251"/>
              <a:ext cx="17463" cy="14288"/>
            </a:xfrm>
            <a:custGeom>
              <a:avLst/>
              <a:gdLst>
                <a:gd name="T0" fmla="*/ 5040457 w 11"/>
                <a:gd name="T1" fmla="*/ 0 h 9"/>
                <a:gd name="T2" fmla="*/ 17642393 w 11"/>
                <a:gd name="T3" fmla="*/ 0 h 9"/>
                <a:gd name="T4" fmla="*/ 27723309 w 11"/>
                <a:gd name="T5" fmla="*/ 10080977 h 9"/>
                <a:gd name="T6" fmla="*/ 27723309 w 11"/>
                <a:gd name="T7" fmla="*/ 12602014 h 9"/>
                <a:gd name="T8" fmla="*/ 17642393 w 11"/>
                <a:gd name="T9" fmla="*/ 22682990 h 9"/>
                <a:gd name="T10" fmla="*/ 5040457 w 11"/>
                <a:gd name="T11" fmla="*/ 22682990 h 9"/>
                <a:gd name="T12" fmla="*/ 0 w 11"/>
                <a:gd name="T13" fmla="*/ 17642504 h 9"/>
                <a:gd name="T14" fmla="*/ 0 w 11"/>
                <a:gd name="T15" fmla="*/ 5040488 h 9"/>
                <a:gd name="T16" fmla="*/ 5040457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69" name="Freeform 1829"/>
            <p:cNvSpPr>
              <a:spLocks/>
            </p:cNvSpPr>
            <p:nvPr/>
          </p:nvSpPr>
          <p:spPr bwMode="auto">
            <a:xfrm>
              <a:off x="2444750" y="1873251"/>
              <a:ext cx="12700" cy="14288"/>
            </a:xfrm>
            <a:custGeom>
              <a:avLst/>
              <a:gdLst>
                <a:gd name="T0" fmla="*/ 2520950 w 8"/>
                <a:gd name="T1" fmla="*/ 0 h 9"/>
                <a:gd name="T2" fmla="*/ 17640298 w 8"/>
                <a:gd name="T3" fmla="*/ 0 h 9"/>
                <a:gd name="T4" fmla="*/ 20161247 w 8"/>
                <a:gd name="T5" fmla="*/ 5040488 h 9"/>
                <a:gd name="T6" fmla="*/ 20161247 w 8"/>
                <a:gd name="T7" fmla="*/ 17642504 h 9"/>
                <a:gd name="T8" fmla="*/ 17640298 w 8"/>
                <a:gd name="T9" fmla="*/ 22682990 h 9"/>
                <a:gd name="T10" fmla="*/ 7559674 w 8"/>
                <a:gd name="T11" fmla="*/ 22682990 h 9"/>
                <a:gd name="T12" fmla="*/ 0 w 8"/>
                <a:gd name="T13" fmla="*/ 12602014 h 9"/>
                <a:gd name="T14" fmla="*/ 0 w 8"/>
                <a:gd name="T15" fmla="*/ 5040488 h 9"/>
                <a:gd name="T16" fmla="*/ 2520950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70" name="Freeform 1830"/>
            <p:cNvSpPr>
              <a:spLocks/>
            </p:cNvSpPr>
            <p:nvPr/>
          </p:nvSpPr>
          <p:spPr bwMode="auto">
            <a:xfrm>
              <a:off x="2449513" y="1873251"/>
              <a:ext cx="15875" cy="14288"/>
            </a:xfrm>
            <a:custGeom>
              <a:avLst/>
              <a:gdLst>
                <a:gd name="T0" fmla="*/ 5040312 w 10"/>
                <a:gd name="T1" fmla="*/ 0 h 9"/>
                <a:gd name="T2" fmla="*/ 17640299 w 10"/>
                <a:gd name="T3" fmla="*/ 0 h 9"/>
                <a:gd name="T4" fmla="*/ 25201559 w 10"/>
                <a:gd name="T5" fmla="*/ 10080977 h 9"/>
                <a:gd name="T6" fmla="*/ 25201559 w 10"/>
                <a:gd name="T7" fmla="*/ 12602014 h 9"/>
                <a:gd name="T8" fmla="*/ 17640299 w 10"/>
                <a:gd name="T9" fmla="*/ 22682990 h 9"/>
                <a:gd name="T10" fmla="*/ 5040312 w 10"/>
                <a:gd name="T11" fmla="*/ 22682990 h 9"/>
                <a:gd name="T12" fmla="*/ 0 w 10"/>
                <a:gd name="T13" fmla="*/ 17642504 h 9"/>
                <a:gd name="T14" fmla="*/ 0 w 10"/>
                <a:gd name="T15" fmla="*/ 5040488 h 9"/>
                <a:gd name="T16" fmla="*/ 504031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1" name="Freeform 1831"/>
            <p:cNvSpPr>
              <a:spLocks/>
            </p:cNvSpPr>
            <p:nvPr/>
          </p:nvSpPr>
          <p:spPr bwMode="auto">
            <a:xfrm>
              <a:off x="2476500" y="1873251"/>
              <a:ext cx="17463" cy="14288"/>
            </a:xfrm>
            <a:custGeom>
              <a:avLst/>
              <a:gdLst>
                <a:gd name="T0" fmla="*/ 10080913 w 11"/>
                <a:gd name="T1" fmla="*/ 0 h 9"/>
                <a:gd name="T2" fmla="*/ 22682848 w 11"/>
                <a:gd name="T3" fmla="*/ 0 h 9"/>
                <a:gd name="T4" fmla="*/ 27723309 w 11"/>
                <a:gd name="T5" fmla="*/ 5040488 h 9"/>
                <a:gd name="T6" fmla="*/ 27723309 w 11"/>
                <a:gd name="T7" fmla="*/ 17642504 h 9"/>
                <a:gd name="T8" fmla="*/ 22682848 w 11"/>
                <a:gd name="T9" fmla="*/ 22682990 h 9"/>
                <a:gd name="T10" fmla="*/ 10080913 w 11"/>
                <a:gd name="T11" fmla="*/ 22682990 h 9"/>
                <a:gd name="T12" fmla="*/ 0 w 11"/>
                <a:gd name="T13" fmla="*/ 12602014 h 9"/>
                <a:gd name="T14" fmla="*/ 0 w 11"/>
                <a:gd name="T15" fmla="*/ 10080977 h 9"/>
                <a:gd name="T16" fmla="*/ 10080913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72" name="Freeform 1832"/>
            <p:cNvSpPr>
              <a:spLocks/>
            </p:cNvSpPr>
            <p:nvPr/>
          </p:nvSpPr>
          <p:spPr bwMode="auto">
            <a:xfrm>
              <a:off x="3884613" y="1873251"/>
              <a:ext cx="17463" cy="14288"/>
            </a:xfrm>
            <a:custGeom>
              <a:avLst/>
              <a:gdLst>
                <a:gd name="T0" fmla="*/ 5040457 w 11"/>
                <a:gd name="T1" fmla="*/ 0 h 9"/>
                <a:gd name="T2" fmla="*/ 17642393 w 11"/>
                <a:gd name="T3" fmla="*/ 0 h 9"/>
                <a:gd name="T4" fmla="*/ 27723309 w 11"/>
                <a:gd name="T5" fmla="*/ 10080977 h 9"/>
                <a:gd name="T6" fmla="*/ 27723309 w 11"/>
                <a:gd name="T7" fmla="*/ 12602014 h 9"/>
                <a:gd name="T8" fmla="*/ 17642393 w 11"/>
                <a:gd name="T9" fmla="*/ 22682990 h 9"/>
                <a:gd name="T10" fmla="*/ 5040457 w 11"/>
                <a:gd name="T11" fmla="*/ 22682990 h 9"/>
                <a:gd name="T12" fmla="*/ 0 w 11"/>
                <a:gd name="T13" fmla="*/ 17642504 h 9"/>
                <a:gd name="T14" fmla="*/ 0 w 11"/>
                <a:gd name="T15" fmla="*/ 5040488 h 9"/>
                <a:gd name="T16" fmla="*/ 5040457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3" name="Freeform 1833"/>
            <p:cNvSpPr>
              <a:spLocks/>
            </p:cNvSpPr>
            <p:nvPr/>
          </p:nvSpPr>
          <p:spPr bwMode="auto">
            <a:xfrm>
              <a:off x="3932238"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756152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4" name="Freeform 1834"/>
            <p:cNvSpPr>
              <a:spLocks/>
            </p:cNvSpPr>
            <p:nvPr/>
          </p:nvSpPr>
          <p:spPr bwMode="auto">
            <a:xfrm>
              <a:off x="3957638" y="1873251"/>
              <a:ext cx="12700" cy="14288"/>
            </a:xfrm>
            <a:custGeom>
              <a:avLst/>
              <a:gdLst>
                <a:gd name="T0" fmla="*/ 2520950 w 8"/>
                <a:gd name="T1" fmla="*/ 0 h 9"/>
                <a:gd name="T2" fmla="*/ 17640298 w 8"/>
                <a:gd name="T3" fmla="*/ 0 h 9"/>
                <a:gd name="T4" fmla="*/ 20161247 w 8"/>
                <a:gd name="T5" fmla="*/ 5040488 h 9"/>
                <a:gd name="T6" fmla="*/ 20161247 w 8"/>
                <a:gd name="T7" fmla="*/ 12602014 h 9"/>
                <a:gd name="T8" fmla="*/ 12599985 w 8"/>
                <a:gd name="T9" fmla="*/ 22682990 h 9"/>
                <a:gd name="T10" fmla="*/ 2520950 w 8"/>
                <a:gd name="T11" fmla="*/ 22682990 h 9"/>
                <a:gd name="T12" fmla="*/ 0 w 8"/>
                <a:gd name="T13" fmla="*/ 17642504 h 9"/>
                <a:gd name="T14" fmla="*/ 0 w 8"/>
                <a:gd name="T15" fmla="*/ 5040488 h 9"/>
                <a:gd name="T16" fmla="*/ 2520950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75" name="Freeform 1835"/>
            <p:cNvSpPr>
              <a:spLocks/>
            </p:cNvSpPr>
            <p:nvPr/>
          </p:nvSpPr>
          <p:spPr bwMode="auto">
            <a:xfrm>
              <a:off x="4022725"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5121466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6" name="Freeform 1836"/>
            <p:cNvSpPr>
              <a:spLocks/>
            </p:cNvSpPr>
            <p:nvPr/>
          </p:nvSpPr>
          <p:spPr bwMode="auto">
            <a:xfrm>
              <a:off x="5578475" y="1873251"/>
              <a:ext cx="15875" cy="14288"/>
            </a:xfrm>
            <a:custGeom>
              <a:avLst/>
              <a:gdLst>
                <a:gd name="T0" fmla="*/ 7559675 w 10"/>
                <a:gd name="T1" fmla="*/ 0 h 9"/>
                <a:gd name="T2" fmla="*/ 20161249 w 10"/>
                <a:gd name="T3" fmla="*/ 0 h 9"/>
                <a:gd name="T4" fmla="*/ 25201559 w 10"/>
                <a:gd name="T5" fmla="*/ 5040488 h 9"/>
                <a:gd name="T6" fmla="*/ 25201559 w 10"/>
                <a:gd name="T7" fmla="*/ 17642504 h 9"/>
                <a:gd name="T8" fmla="*/ 20161249 w 10"/>
                <a:gd name="T9" fmla="*/ 22682990 h 9"/>
                <a:gd name="T10" fmla="*/ 7559675 w 10"/>
                <a:gd name="T11" fmla="*/ 22682990 h 9"/>
                <a:gd name="T12" fmla="*/ 0 w 10"/>
                <a:gd name="T13" fmla="*/ 12602014 h 9"/>
                <a:gd name="T14" fmla="*/ 0 w 10"/>
                <a:gd name="T15" fmla="*/ 10080977 h 9"/>
                <a:gd name="T16" fmla="*/ 7559675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77" name="Freeform 1837"/>
            <p:cNvSpPr>
              <a:spLocks/>
            </p:cNvSpPr>
            <p:nvPr/>
          </p:nvSpPr>
          <p:spPr bwMode="auto">
            <a:xfrm>
              <a:off x="5589588" y="1873251"/>
              <a:ext cx="15875" cy="14288"/>
            </a:xfrm>
            <a:custGeom>
              <a:avLst/>
              <a:gdLst>
                <a:gd name="T0" fmla="*/ 2520950 w 10"/>
                <a:gd name="T1" fmla="*/ 0 h 9"/>
                <a:gd name="T2" fmla="*/ 17640299 w 10"/>
                <a:gd name="T3" fmla="*/ 0 h 9"/>
                <a:gd name="T4" fmla="*/ 25201559 w 10"/>
                <a:gd name="T5" fmla="*/ 10080977 h 9"/>
                <a:gd name="T6" fmla="*/ 25201559 w 10"/>
                <a:gd name="T7" fmla="*/ 12602014 h 9"/>
                <a:gd name="T8" fmla="*/ 17640299 w 10"/>
                <a:gd name="T9" fmla="*/ 22682990 h 9"/>
                <a:gd name="T10" fmla="*/ 2520950 w 10"/>
                <a:gd name="T11" fmla="*/ 22682990 h 9"/>
                <a:gd name="T12" fmla="*/ 0 w 10"/>
                <a:gd name="T13" fmla="*/ 17642504 h 9"/>
                <a:gd name="T14" fmla="*/ 0 w 10"/>
                <a:gd name="T15" fmla="*/ 5040488 h 9"/>
                <a:gd name="T16" fmla="*/ 2520950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78" name="Freeform 1838"/>
            <p:cNvSpPr>
              <a:spLocks/>
            </p:cNvSpPr>
            <p:nvPr/>
          </p:nvSpPr>
          <p:spPr bwMode="auto">
            <a:xfrm>
              <a:off x="5600700" y="1873251"/>
              <a:ext cx="12700" cy="14288"/>
            </a:xfrm>
            <a:custGeom>
              <a:avLst/>
              <a:gdLst>
                <a:gd name="T0" fmla="*/ 2520950 w 8"/>
                <a:gd name="T1" fmla="*/ 0 h 9"/>
                <a:gd name="T2" fmla="*/ 17640298 w 8"/>
                <a:gd name="T3" fmla="*/ 0 h 9"/>
                <a:gd name="T4" fmla="*/ 20161247 w 8"/>
                <a:gd name="T5" fmla="*/ 5040488 h 9"/>
                <a:gd name="T6" fmla="*/ 20161247 w 8"/>
                <a:gd name="T7" fmla="*/ 12602014 h 9"/>
                <a:gd name="T8" fmla="*/ 12599985 w 8"/>
                <a:gd name="T9" fmla="*/ 22682990 h 9"/>
                <a:gd name="T10" fmla="*/ 2520950 w 8"/>
                <a:gd name="T11" fmla="*/ 22682990 h 9"/>
                <a:gd name="T12" fmla="*/ 0 w 8"/>
                <a:gd name="T13" fmla="*/ 17642504 h 9"/>
                <a:gd name="T14" fmla="*/ 0 w 8"/>
                <a:gd name="T15" fmla="*/ 5040488 h 9"/>
                <a:gd name="T16" fmla="*/ 2520950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79" name="Freeform 1839"/>
            <p:cNvSpPr>
              <a:spLocks/>
            </p:cNvSpPr>
            <p:nvPr/>
          </p:nvSpPr>
          <p:spPr bwMode="auto">
            <a:xfrm>
              <a:off x="5649913"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2602014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0" name="Freeform 1840"/>
            <p:cNvSpPr>
              <a:spLocks/>
            </p:cNvSpPr>
            <p:nvPr/>
          </p:nvSpPr>
          <p:spPr bwMode="auto">
            <a:xfrm>
              <a:off x="6646863" y="1873251"/>
              <a:ext cx="17463" cy="14288"/>
            </a:xfrm>
            <a:custGeom>
              <a:avLst/>
              <a:gdLst>
                <a:gd name="T0" fmla="*/ 10080913 w 11"/>
                <a:gd name="T1" fmla="*/ 0 h 9"/>
                <a:gd name="T2" fmla="*/ 22682848 w 11"/>
                <a:gd name="T3" fmla="*/ 0 h 9"/>
                <a:gd name="T4" fmla="*/ 27723309 w 11"/>
                <a:gd name="T5" fmla="*/ 5040488 h 9"/>
                <a:gd name="T6" fmla="*/ 27723309 w 11"/>
                <a:gd name="T7" fmla="*/ 17642504 h 9"/>
                <a:gd name="T8" fmla="*/ 22682848 w 11"/>
                <a:gd name="T9" fmla="*/ 22682990 h 9"/>
                <a:gd name="T10" fmla="*/ 10080913 w 11"/>
                <a:gd name="T11" fmla="*/ 22682990 h 9"/>
                <a:gd name="T12" fmla="*/ 0 w 11"/>
                <a:gd name="T13" fmla="*/ 12602014 h 9"/>
                <a:gd name="T14" fmla="*/ 0 w 11"/>
                <a:gd name="T15" fmla="*/ 10080977 h 9"/>
                <a:gd name="T16" fmla="*/ 10080913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81" name="Freeform 1841"/>
            <p:cNvSpPr>
              <a:spLocks/>
            </p:cNvSpPr>
            <p:nvPr/>
          </p:nvSpPr>
          <p:spPr bwMode="auto">
            <a:xfrm>
              <a:off x="6678613" y="1873251"/>
              <a:ext cx="12700" cy="14288"/>
            </a:xfrm>
            <a:custGeom>
              <a:avLst/>
              <a:gdLst>
                <a:gd name="T0" fmla="*/ 2520950 w 8"/>
                <a:gd name="T1" fmla="*/ 0 h 9"/>
                <a:gd name="T2" fmla="*/ 17640298 w 8"/>
                <a:gd name="T3" fmla="*/ 0 h 9"/>
                <a:gd name="T4" fmla="*/ 20161247 w 8"/>
                <a:gd name="T5" fmla="*/ 5040488 h 9"/>
                <a:gd name="T6" fmla="*/ 20161247 w 8"/>
                <a:gd name="T7" fmla="*/ 17642504 h 9"/>
                <a:gd name="T8" fmla="*/ 17640298 w 8"/>
                <a:gd name="T9" fmla="*/ 22682990 h 9"/>
                <a:gd name="T10" fmla="*/ 7559674 w 8"/>
                <a:gd name="T11" fmla="*/ 22682990 h 9"/>
                <a:gd name="T12" fmla="*/ 0 w 8"/>
                <a:gd name="T13" fmla="*/ 12602014 h 9"/>
                <a:gd name="T14" fmla="*/ 0 w 8"/>
                <a:gd name="T15" fmla="*/ 5040488 h 9"/>
                <a:gd name="T16" fmla="*/ 2520950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82" name="Freeform 1842"/>
            <p:cNvSpPr>
              <a:spLocks/>
            </p:cNvSpPr>
            <p:nvPr/>
          </p:nvSpPr>
          <p:spPr bwMode="auto">
            <a:xfrm>
              <a:off x="6742113"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756152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3" name="Freeform 1843"/>
            <p:cNvSpPr>
              <a:spLocks/>
            </p:cNvSpPr>
            <p:nvPr/>
          </p:nvSpPr>
          <p:spPr bwMode="auto">
            <a:xfrm>
              <a:off x="6777038"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1008097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4" name="Freeform 1844"/>
            <p:cNvSpPr>
              <a:spLocks/>
            </p:cNvSpPr>
            <p:nvPr/>
          </p:nvSpPr>
          <p:spPr bwMode="auto">
            <a:xfrm>
              <a:off x="7010400"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2602014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5" name="Freeform 1845"/>
            <p:cNvSpPr>
              <a:spLocks/>
            </p:cNvSpPr>
            <p:nvPr/>
          </p:nvSpPr>
          <p:spPr bwMode="auto">
            <a:xfrm>
              <a:off x="7046913" y="1873251"/>
              <a:ext cx="14288" cy="14288"/>
            </a:xfrm>
            <a:custGeom>
              <a:avLst/>
              <a:gdLst>
                <a:gd name="T0" fmla="*/ 5040488 w 9"/>
                <a:gd name="T1" fmla="*/ 0 h 9"/>
                <a:gd name="T2" fmla="*/ 17642504 w 9"/>
                <a:gd name="T3" fmla="*/ 0 h 9"/>
                <a:gd name="T4" fmla="*/ 22682990 w 9"/>
                <a:gd name="T5" fmla="*/ 5040488 h 9"/>
                <a:gd name="T6" fmla="*/ 22682990 w 9"/>
                <a:gd name="T7" fmla="*/ 17642504 h 9"/>
                <a:gd name="T8" fmla="*/ 17642504 w 9"/>
                <a:gd name="T9" fmla="*/ 22682990 h 9"/>
                <a:gd name="T10" fmla="*/ 7561527 w 9"/>
                <a:gd name="T11" fmla="*/ 22682990 h 9"/>
                <a:gd name="T12" fmla="*/ 0 w 9"/>
                <a:gd name="T13" fmla="*/ 1260201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6" name="Freeform 1846"/>
            <p:cNvSpPr>
              <a:spLocks/>
            </p:cNvSpPr>
            <p:nvPr/>
          </p:nvSpPr>
          <p:spPr bwMode="auto">
            <a:xfrm>
              <a:off x="7062788"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5121466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7" name="Freeform 1847"/>
            <p:cNvSpPr>
              <a:spLocks/>
            </p:cNvSpPr>
            <p:nvPr/>
          </p:nvSpPr>
          <p:spPr bwMode="auto">
            <a:xfrm>
              <a:off x="7077075" y="1873251"/>
              <a:ext cx="15875" cy="14288"/>
            </a:xfrm>
            <a:custGeom>
              <a:avLst/>
              <a:gdLst>
                <a:gd name="T0" fmla="*/ 5040312 w 10"/>
                <a:gd name="T1" fmla="*/ 0 h 9"/>
                <a:gd name="T2" fmla="*/ 22682198 w 10"/>
                <a:gd name="T3" fmla="*/ 0 h 9"/>
                <a:gd name="T4" fmla="*/ 25201559 w 10"/>
                <a:gd name="T5" fmla="*/ 5040488 h 9"/>
                <a:gd name="T6" fmla="*/ 25201559 w 10"/>
                <a:gd name="T7" fmla="*/ 17642504 h 9"/>
                <a:gd name="T8" fmla="*/ 22682198 w 10"/>
                <a:gd name="T9" fmla="*/ 22682990 h 9"/>
                <a:gd name="T10" fmla="*/ 5040312 w 10"/>
                <a:gd name="T11" fmla="*/ 22682990 h 9"/>
                <a:gd name="T12" fmla="*/ 0 w 10"/>
                <a:gd name="T13" fmla="*/ 17642504 h 9"/>
                <a:gd name="T14" fmla="*/ 0 w 10"/>
                <a:gd name="T15" fmla="*/ 5040488 h 9"/>
                <a:gd name="T16" fmla="*/ 504031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8" name="Freeform 1848"/>
            <p:cNvSpPr>
              <a:spLocks/>
            </p:cNvSpPr>
            <p:nvPr/>
          </p:nvSpPr>
          <p:spPr bwMode="auto">
            <a:xfrm>
              <a:off x="7102475" y="1873251"/>
              <a:ext cx="15875" cy="14288"/>
            </a:xfrm>
            <a:custGeom>
              <a:avLst/>
              <a:gdLst>
                <a:gd name="T0" fmla="*/ 2520950 w 10"/>
                <a:gd name="T1" fmla="*/ 0 h 9"/>
                <a:gd name="T2" fmla="*/ 17640299 w 10"/>
                <a:gd name="T3" fmla="*/ 0 h 9"/>
                <a:gd name="T4" fmla="*/ 25201559 w 10"/>
                <a:gd name="T5" fmla="*/ 10080977 h 9"/>
                <a:gd name="T6" fmla="*/ 25201559 w 10"/>
                <a:gd name="T7" fmla="*/ 12602014 h 9"/>
                <a:gd name="T8" fmla="*/ 17640299 w 10"/>
                <a:gd name="T9" fmla="*/ 22682990 h 9"/>
                <a:gd name="T10" fmla="*/ 2520950 w 10"/>
                <a:gd name="T11" fmla="*/ 22682990 h 9"/>
                <a:gd name="T12" fmla="*/ 0 w 10"/>
                <a:gd name="T13" fmla="*/ 17642504 h 9"/>
                <a:gd name="T14" fmla="*/ 0 w 10"/>
                <a:gd name="T15" fmla="*/ 5040488 h 9"/>
                <a:gd name="T16" fmla="*/ 2520950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89" name="Freeform 1849"/>
            <p:cNvSpPr>
              <a:spLocks/>
            </p:cNvSpPr>
            <p:nvPr/>
          </p:nvSpPr>
          <p:spPr bwMode="auto">
            <a:xfrm>
              <a:off x="7151688" y="1873251"/>
              <a:ext cx="14288" cy="14288"/>
            </a:xfrm>
            <a:custGeom>
              <a:avLst/>
              <a:gdLst>
                <a:gd name="T0" fmla="*/ 5040488 w 9"/>
                <a:gd name="T1" fmla="*/ 0 h 9"/>
                <a:gd name="T2" fmla="*/ 17642504 w 9"/>
                <a:gd name="T3" fmla="*/ 0 h 9"/>
                <a:gd name="T4" fmla="*/ 22682990 w 9"/>
                <a:gd name="T5" fmla="*/ 5040488 h 9"/>
                <a:gd name="T6" fmla="*/ 22682990 w 9"/>
                <a:gd name="T7" fmla="*/ 12602014 h 9"/>
                <a:gd name="T8" fmla="*/ 12602014 w 9"/>
                <a:gd name="T9" fmla="*/ 22682990 h 9"/>
                <a:gd name="T10" fmla="*/ 5040488 w 9"/>
                <a:gd name="T11" fmla="*/ 22682990 h 9"/>
                <a:gd name="T12" fmla="*/ 0 w 9"/>
                <a:gd name="T13" fmla="*/ 17642504 h 9"/>
                <a:gd name="T14" fmla="*/ 0 w 9"/>
                <a:gd name="T15" fmla="*/ 5040488 h 9"/>
                <a:gd name="T16" fmla="*/ 5040488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90" name="Freeform 1850"/>
            <p:cNvSpPr>
              <a:spLocks/>
            </p:cNvSpPr>
            <p:nvPr/>
          </p:nvSpPr>
          <p:spPr bwMode="auto">
            <a:xfrm>
              <a:off x="7177088" y="1873251"/>
              <a:ext cx="15875" cy="14288"/>
            </a:xfrm>
            <a:custGeom>
              <a:avLst/>
              <a:gdLst>
                <a:gd name="T0" fmla="*/ 5040312 w 10"/>
                <a:gd name="T1" fmla="*/ 0 h 9"/>
                <a:gd name="T2" fmla="*/ 17640299 w 10"/>
                <a:gd name="T3" fmla="*/ 0 h 9"/>
                <a:gd name="T4" fmla="*/ 25201559 w 10"/>
                <a:gd name="T5" fmla="*/ 10080977 h 9"/>
                <a:gd name="T6" fmla="*/ 25201559 w 10"/>
                <a:gd name="T7" fmla="*/ 12602014 h 9"/>
                <a:gd name="T8" fmla="*/ 17640299 w 10"/>
                <a:gd name="T9" fmla="*/ 22682990 h 9"/>
                <a:gd name="T10" fmla="*/ 5040312 w 10"/>
                <a:gd name="T11" fmla="*/ 22682990 h 9"/>
                <a:gd name="T12" fmla="*/ 0 w 10"/>
                <a:gd name="T13" fmla="*/ 17642504 h 9"/>
                <a:gd name="T14" fmla="*/ 0 w 10"/>
                <a:gd name="T15" fmla="*/ 5040488 h 9"/>
                <a:gd name="T16" fmla="*/ 504031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grpSp>
      <p:pic>
        <p:nvPicPr>
          <p:cNvPr id="1041" name="Picture 4607" descr="pr.tif"/>
          <p:cNvPicPr>
            <a:picLocks noChangeAspect="1"/>
          </p:cNvPicPr>
          <p:nvPr/>
        </p:nvPicPr>
        <p:blipFill>
          <a:blip r:embed="rId11" cstate="print"/>
          <a:srcRect/>
          <a:stretch>
            <a:fillRect/>
          </a:stretch>
        </p:blipFill>
        <p:spPr bwMode="auto">
          <a:xfrm>
            <a:off x="1042988" y="2852738"/>
            <a:ext cx="1614487" cy="1208087"/>
          </a:xfrm>
          <a:prstGeom prst="rect">
            <a:avLst/>
          </a:prstGeom>
          <a:noFill/>
          <a:ln w="9525">
            <a:noFill/>
            <a:miter lim="800000"/>
            <a:headEnd/>
            <a:tailEnd/>
          </a:ln>
        </p:spPr>
      </p:pic>
      <p:graphicFrame>
        <p:nvGraphicFramePr>
          <p:cNvPr id="1029" name="Object 1934"/>
          <p:cNvGraphicFramePr>
            <a:graphicFrameLocks noChangeAspect="1"/>
          </p:cNvGraphicFramePr>
          <p:nvPr/>
        </p:nvGraphicFramePr>
        <p:xfrm>
          <a:off x="1979613" y="2924175"/>
          <a:ext cx="701675" cy="430213"/>
        </p:xfrm>
        <a:graphic>
          <a:graphicData uri="http://schemas.openxmlformats.org/presentationml/2006/ole">
            <mc:AlternateContent xmlns:mc="http://schemas.openxmlformats.org/markup-compatibility/2006">
              <mc:Choice xmlns:v="urn:schemas-microsoft-com:vml" Requires="v">
                <p:oleObj name="Equazione" r:id="rId12" imgW="330057" imgH="203112" progId="Equation.3">
                  <p:embed/>
                </p:oleObj>
              </mc:Choice>
              <mc:Fallback>
                <p:oleObj name="Equazione" r:id="rId12" imgW="330057" imgH="203112" progId="Equation.3">
                  <p:embed/>
                  <p:pic>
                    <p:nvPicPr>
                      <p:cNvPr id="1029" name="Object 19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79613" y="2924175"/>
                        <a:ext cx="701675"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042" name="Straight Connector 2048"/>
          <p:cNvCxnSpPr>
            <a:cxnSpLocks noChangeShapeType="1"/>
          </p:cNvCxnSpPr>
          <p:nvPr/>
        </p:nvCxnSpPr>
        <p:spPr bwMode="auto">
          <a:xfrm>
            <a:off x="7956550" y="4868863"/>
            <a:ext cx="900113" cy="0"/>
          </a:xfrm>
          <a:prstGeom prst="line">
            <a:avLst/>
          </a:prstGeom>
          <a:noFill/>
          <a:ln w="19050" algn="ctr">
            <a:solidFill>
              <a:schemeClr val="tx1"/>
            </a:solidFill>
            <a:round/>
            <a:headEnd/>
            <a:tailEnd/>
          </a:ln>
        </p:spPr>
      </p:cxnSp>
      <p:sp>
        <p:nvSpPr>
          <p:cNvPr id="1043" name="Text Box 77"/>
          <p:cNvSpPr txBox="1">
            <a:spLocks noChangeArrowheads="1"/>
          </p:cNvSpPr>
          <p:nvPr/>
        </p:nvSpPr>
        <p:spPr bwMode="auto">
          <a:xfrm>
            <a:off x="6986588" y="4652963"/>
            <a:ext cx="825500" cy="369887"/>
          </a:xfrm>
          <a:prstGeom prst="rect">
            <a:avLst/>
          </a:prstGeom>
          <a:noFill/>
          <a:ln w="9525">
            <a:noFill/>
            <a:miter lim="800000"/>
            <a:headEnd/>
            <a:tailEnd/>
          </a:ln>
        </p:spPr>
        <p:txBody>
          <a:bodyPr>
            <a:spAutoFit/>
          </a:bodyPr>
          <a:lstStyle/>
          <a:p>
            <a:pPr>
              <a:spcBef>
                <a:spcPct val="50000"/>
              </a:spcBef>
            </a:pPr>
            <a:r>
              <a:rPr lang="en-US"/>
              <a:t>s</a:t>
            </a:r>
            <a:r>
              <a:rPr lang="en-US" baseline="-25000"/>
              <a:t>B</a:t>
            </a:r>
            <a:endParaRPr lang="en-US"/>
          </a:p>
        </p:txBody>
      </p:sp>
      <p:sp>
        <p:nvSpPr>
          <p:cNvPr id="1044" name="Text Box 77"/>
          <p:cNvSpPr txBox="1">
            <a:spLocks noChangeArrowheads="1"/>
          </p:cNvSpPr>
          <p:nvPr/>
        </p:nvSpPr>
        <p:spPr bwMode="auto">
          <a:xfrm>
            <a:off x="8027988" y="4891088"/>
            <a:ext cx="1008062" cy="338137"/>
          </a:xfrm>
          <a:prstGeom prst="rect">
            <a:avLst/>
          </a:prstGeom>
          <a:noFill/>
          <a:ln w="9525">
            <a:noFill/>
            <a:miter lim="800000"/>
            <a:headEnd/>
            <a:tailEnd/>
          </a:ln>
        </p:spPr>
        <p:txBody>
          <a:bodyPr>
            <a:spAutoFit/>
          </a:bodyPr>
          <a:lstStyle/>
          <a:p>
            <a:pPr>
              <a:spcBef>
                <a:spcPct val="50000"/>
              </a:spcBef>
            </a:pPr>
            <a:r>
              <a:rPr lang="en-US" sz="1600"/>
              <a:t>1 sec</a:t>
            </a:r>
          </a:p>
        </p:txBody>
      </p:sp>
      <p:sp>
        <p:nvSpPr>
          <p:cNvPr id="2052" name="TextBox 2051"/>
          <p:cNvSpPr txBox="1"/>
          <p:nvPr/>
        </p:nvSpPr>
        <p:spPr>
          <a:xfrm>
            <a:off x="2699793" y="2204864"/>
            <a:ext cx="461665" cy="1728192"/>
          </a:xfrm>
          <a:prstGeom prst="rect">
            <a:avLst/>
          </a:prstGeom>
          <a:noFill/>
        </p:spPr>
        <p:txBody>
          <a:bodyPr vert="vert270">
            <a:spAutoFit/>
          </a:bodyPr>
          <a:lstStyle/>
          <a:p>
            <a:pPr fontAlgn="auto">
              <a:spcBef>
                <a:spcPts val="0"/>
              </a:spcBef>
              <a:spcAft>
                <a:spcPts val="0"/>
              </a:spcAft>
              <a:defRPr/>
            </a:pPr>
            <a:r>
              <a:rPr lang="en-US" dirty="0">
                <a:latin typeface="Arial Black" pitchFamily="34" charset="0"/>
              </a:rPr>
              <a:t>Trials</a:t>
            </a:r>
          </a:p>
        </p:txBody>
      </p:sp>
      <p:pic>
        <p:nvPicPr>
          <p:cNvPr id="2049" name="Picture 2"/>
          <p:cNvPicPr>
            <a:picLocks noChangeAspect="1" noChangeArrowheads="1"/>
          </p:cNvPicPr>
          <p:nvPr/>
        </p:nvPicPr>
        <p:blipFill>
          <a:blip r:embed="rId14">
            <a:extLst>
              <a:ext uri="{28A0092B-C50C-407E-A947-70E740481C1C}">
                <a14:useLocalDpi xmlns:a14="http://schemas.microsoft.com/office/drawing/2010/main" val="0"/>
              </a:ext>
            </a:extLst>
          </a:blip>
          <a:srcRect l="36358" t="2824" r="58331" b="90117"/>
          <a:stretch>
            <a:fillRect/>
          </a:stretch>
        </p:blipFill>
        <p:spPr bwMode="auto">
          <a:xfrm>
            <a:off x="4572000" y="5000636"/>
            <a:ext cx="1200144" cy="150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p:cNvPicPr>
            <a:picLocks noChangeAspect="1" noChangeArrowheads="1"/>
          </p:cNvPicPr>
          <p:nvPr/>
        </p:nvPicPr>
        <p:blipFill>
          <a:blip r:embed="rId14">
            <a:extLst>
              <a:ext uri="{28A0092B-C50C-407E-A947-70E740481C1C}">
                <a14:useLocalDpi xmlns:a14="http://schemas.microsoft.com/office/drawing/2010/main" val="0"/>
              </a:ext>
            </a:extLst>
          </a:blip>
          <a:srcRect l="10464" t="24002" r="80905" b="68939"/>
          <a:stretch>
            <a:fillRect/>
          </a:stretch>
        </p:blipFill>
        <p:spPr bwMode="auto">
          <a:xfrm>
            <a:off x="6050830" y="5000636"/>
            <a:ext cx="1950194" cy="150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7685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gnaposto numero diapositiva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3FB62039-388D-4818-9623-AAB5C6E28692}" type="slidenum">
              <a:rPr lang="en-US" sz="1400" smtClean="0"/>
              <a:pPr/>
              <a:t>54</a:t>
            </a:fld>
            <a:endParaRPr lang="en-US" sz="1400"/>
          </a:p>
        </p:txBody>
      </p:sp>
      <p:sp>
        <p:nvSpPr>
          <p:cNvPr id="55299" name="Text Box 2"/>
          <p:cNvSpPr txBox="1">
            <a:spLocks noChangeArrowheads="1"/>
          </p:cNvSpPr>
          <p:nvPr/>
        </p:nvSpPr>
        <p:spPr bwMode="auto">
          <a:xfrm>
            <a:off x="1042988" y="404813"/>
            <a:ext cx="7416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3200" b="1" dirty="0">
                <a:solidFill>
                  <a:srgbClr val="FF0000"/>
                </a:solidFill>
                <a:latin typeface="Arial" charset="0"/>
              </a:rPr>
              <a:t>The spike timing coding hypothesis</a:t>
            </a:r>
            <a:endParaRPr lang="en-US" sz="3200" dirty="0">
              <a:solidFill>
                <a:srgbClr val="FF0000"/>
              </a:solidFill>
              <a:latin typeface="Arial" charset="0"/>
            </a:endParaRPr>
          </a:p>
        </p:txBody>
      </p:sp>
      <p:sp>
        <p:nvSpPr>
          <p:cNvPr id="55300" name="Text Box 3"/>
          <p:cNvSpPr txBox="1">
            <a:spLocks noChangeArrowheads="1"/>
          </p:cNvSpPr>
          <p:nvPr/>
        </p:nvSpPr>
        <p:spPr bwMode="auto">
          <a:xfrm>
            <a:off x="323850" y="1052513"/>
            <a:ext cx="8012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a:lnSpc>
                <a:spcPct val="120000"/>
              </a:lnSpc>
              <a:buFontTx/>
              <a:buChar char="•"/>
            </a:pPr>
            <a:endParaRPr lang="it-IT" i="1"/>
          </a:p>
        </p:txBody>
      </p:sp>
      <p:sp>
        <p:nvSpPr>
          <p:cNvPr id="55301" name="Text Box 4"/>
          <p:cNvSpPr txBox="1">
            <a:spLocks noChangeArrowheads="1"/>
          </p:cNvSpPr>
          <p:nvPr/>
        </p:nvSpPr>
        <p:spPr bwMode="auto">
          <a:xfrm>
            <a:off x="755650" y="1628775"/>
            <a:ext cx="7653338"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2800">
                <a:latin typeface="Arial" charset="0"/>
              </a:rPr>
              <a:t>The spike timing coding hypothesis states that not only spike counts are important, but also the timing at which each spike was emitted.</a:t>
            </a:r>
          </a:p>
          <a:p>
            <a:endParaRPr lang="en-GB" sz="2800">
              <a:latin typeface="Arial" charset="0"/>
            </a:endParaRPr>
          </a:p>
          <a:p>
            <a:r>
              <a:rPr lang="en-GB" sz="2800">
                <a:latin typeface="Arial" charset="0"/>
              </a:rPr>
              <a:t>Spike timing may convey additional information about the stimulus that is not conveyed by the spike counts alone.</a:t>
            </a:r>
            <a:endParaRPr lang="en-US" sz="2800">
              <a:latin typeface="Arial" charset="0"/>
            </a:endParaRPr>
          </a:p>
        </p:txBody>
      </p:sp>
    </p:spTree>
    <p:extLst>
      <p:ext uri="{BB962C8B-B14F-4D97-AF65-F5344CB8AC3E}">
        <p14:creationId xmlns:p14="http://schemas.microsoft.com/office/powerpoint/2010/main" val="36596807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gnaposto numero diapositiva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577246B9-152C-499E-9CAC-0A299C007DB8}" type="slidenum">
              <a:rPr lang="en-US" sz="1400" smtClean="0"/>
              <a:pPr/>
              <a:t>55</a:t>
            </a:fld>
            <a:endParaRPr lang="en-US" sz="1400"/>
          </a:p>
        </p:txBody>
      </p:sp>
      <p:sp>
        <p:nvSpPr>
          <p:cNvPr id="57347" name="Text Box 2"/>
          <p:cNvSpPr txBox="1">
            <a:spLocks noChangeArrowheads="1"/>
          </p:cNvSpPr>
          <p:nvPr/>
        </p:nvSpPr>
        <p:spPr bwMode="auto">
          <a:xfrm>
            <a:off x="539750" y="260350"/>
            <a:ext cx="8424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2800" b="1" dirty="0">
                <a:solidFill>
                  <a:srgbClr val="FF0000"/>
                </a:solidFill>
                <a:latin typeface="Arial" charset="0"/>
              </a:rPr>
              <a:t>What is the advantage of a spike timing code?</a:t>
            </a:r>
            <a:endParaRPr lang="en-US" sz="2800" dirty="0">
              <a:solidFill>
                <a:srgbClr val="FF0000"/>
              </a:solidFill>
              <a:latin typeface="Arial" charset="0"/>
            </a:endParaRPr>
          </a:p>
        </p:txBody>
      </p:sp>
      <p:sp>
        <p:nvSpPr>
          <p:cNvPr id="57348" name="Rectangle 3"/>
          <p:cNvSpPr>
            <a:spLocks noChangeArrowheads="1"/>
          </p:cNvSpPr>
          <p:nvPr/>
        </p:nvSpPr>
        <p:spPr bwMode="auto">
          <a:xfrm>
            <a:off x="179388" y="1017588"/>
            <a:ext cx="8713787" cy="114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GB" sz="2300">
                <a:latin typeface="Arial" charset="0"/>
              </a:rPr>
              <a:t>Spike timing can code more information than spike counts alone.</a:t>
            </a:r>
          </a:p>
          <a:p>
            <a:endParaRPr lang="en-GB" sz="2300">
              <a:latin typeface="Arial" charset="0"/>
            </a:endParaRPr>
          </a:p>
          <a:p>
            <a:r>
              <a:rPr lang="en-GB" sz="2300">
                <a:latin typeface="Arial" charset="0"/>
              </a:rPr>
              <a:t>Example, use your fingers to represent numbers</a:t>
            </a:r>
            <a:endParaRPr lang="en-US" sz="2300">
              <a:latin typeface="Arial" charset="0"/>
            </a:endParaRPr>
          </a:p>
        </p:txBody>
      </p:sp>
      <p:grpSp>
        <p:nvGrpSpPr>
          <p:cNvPr id="2" name="Group 4"/>
          <p:cNvGrpSpPr>
            <a:grpSpLocks/>
          </p:cNvGrpSpPr>
          <p:nvPr/>
        </p:nvGrpSpPr>
        <p:grpSpPr bwMode="auto">
          <a:xfrm>
            <a:off x="468313" y="2924175"/>
            <a:ext cx="8280400" cy="1620838"/>
            <a:chOff x="295" y="1842"/>
            <a:chExt cx="5216" cy="1021"/>
          </a:xfrm>
        </p:grpSpPr>
        <p:pic>
          <p:nvPicPr>
            <p:cNvPr id="5735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t="29665" r="22829" b="28435"/>
            <a:stretch>
              <a:fillRect/>
            </a:stretch>
          </p:blipFill>
          <p:spPr bwMode="auto">
            <a:xfrm>
              <a:off x="295" y="1842"/>
              <a:ext cx="2041" cy="1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4" name="Rectangle 6"/>
            <p:cNvSpPr>
              <a:spLocks noChangeArrowheads="1"/>
            </p:cNvSpPr>
            <p:nvPr/>
          </p:nvSpPr>
          <p:spPr bwMode="auto">
            <a:xfrm>
              <a:off x="2381" y="2024"/>
              <a:ext cx="313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GB" sz="1800" dirty="0">
                  <a:latin typeface="Arial" charset="0"/>
                </a:rPr>
                <a:t>2 fingers are used to encode 3 different numbers by the total amount of extended fingers</a:t>
              </a:r>
              <a:endParaRPr lang="en-US" sz="1800" dirty="0">
                <a:latin typeface="Arial" charset="0"/>
              </a:endParaRPr>
            </a:p>
          </p:txBody>
        </p:sp>
      </p:grpSp>
      <p:grpSp>
        <p:nvGrpSpPr>
          <p:cNvPr id="3" name="Group 7"/>
          <p:cNvGrpSpPr>
            <a:grpSpLocks/>
          </p:cNvGrpSpPr>
          <p:nvPr/>
        </p:nvGrpSpPr>
        <p:grpSpPr bwMode="auto">
          <a:xfrm>
            <a:off x="395288" y="4724400"/>
            <a:ext cx="8389937" cy="1465263"/>
            <a:chOff x="249" y="2976"/>
            <a:chExt cx="5285" cy="923"/>
          </a:xfrm>
        </p:grpSpPr>
        <p:pic>
          <p:nvPicPr>
            <p:cNvPr id="57351"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t="71565"/>
            <a:stretch>
              <a:fillRect/>
            </a:stretch>
          </p:blipFill>
          <p:spPr bwMode="auto">
            <a:xfrm>
              <a:off x="249" y="2976"/>
              <a:ext cx="2631"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2" name="Rectangle 9"/>
            <p:cNvSpPr>
              <a:spLocks noChangeArrowheads="1"/>
            </p:cNvSpPr>
            <p:nvPr/>
          </p:nvSpPr>
          <p:spPr bwMode="auto">
            <a:xfrm>
              <a:off x="2835" y="2976"/>
              <a:ext cx="2699"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GB" sz="1800" dirty="0">
                  <a:latin typeface="Arial" charset="0"/>
                </a:rPr>
                <a:t>2 fingers are used with a more complex code to encode 4 different numbers. Here the position of the extended finger is also used to signal – this increases the capacity to encode information</a:t>
              </a:r>
              <a:endParaRPr lang="en-US" sz="1800" dirty="0">
                <a:latin typeface="Arial" charset="0"/>
              </a:endParaRPr>
            </a:p>
          </p:txBody>
        </p:sp>
      </p:grpSp>
    </p:spTree>
    <p:extLst>
      <p:ext uri="{BB962C8B-B14F-4D97-AF65-F5344CB8AC3E}">
        <p14:creationId xmlns:p14="http://schemas.microsoft.com/office/powerpoint/2010/main" val="3091811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Segnaposto numero diapositiva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B1A9EEF-2279-4B42-AF92-FCB08ED58936}" type="slidenum">
              <a:rPr lang="en-US" sz="1400" smtClean="0"/>
              <a:pPr/>
              <a:t>56</a:t>
            </a:fld>
            <a:endParaRPr lang="en-US" sz="1400"/>
          </a:p>
        </p:txBody>
      </p:sp>
      <p:grpSp>
        <p:nvGrpSpPr>
          <p:cNvPr id="2" name="Group 2"/>
          <p:cNvGrpSpPr>
            <a:grpSpLocks/>
          </p:cNvGrpSpPr>
          <p:nvPr/>
        </p:nvGrpSpPr>
        <p:grpSpPr bwMode="auto">
          <a:xfrm>
            <a:off x="1192213" y="1716088"/>
            <a:ext cx="4725987" cy="4052887"/>
            <a:chOff x="751" y="1081"/>
            <a:chExt cx="2977" cy="2553"/>
          </a:xfrm>
        </p:grpSpPr>
        <p:graphicFrame>
          <p:nvGraphicFramePr>
            <p:cNvPr id="9218" name="Object 2"/>
            <p:cNvGraphicFramePr>
              <a:graphicFrameLocks noChangeAspect="1"/>
            </p:cNvGraphicFramePr>
            <p:nvPr/>
          </p:nvGraphicFramePr>
          <p:xfrm>
            <a:off x="1006" y="1081"/>
            <a:ext cx="2722" cy="2233"/>
          </p:xfrm>
          <a:graphic>
            <a:graphicData uri="http://schemas.openxmlformats.org/presentationml/2006/ole">
              <mc:AlternateContent xmlns:mc="http://schemas.openxmlformats.org/markup-compatibility/2006">
                <mc:Choice xmlns:v="urn:schemas-microsoft-com:vml" Requires="v">
                  <p:oleObj name="Image" r:id="rId3" imgW="4320508" imgH="3545358" progId="">
                    <p:embed/>
                  </p:oleObj>
                </mc:Choice>
                <mc:Fallback>
                  <p:oleObj name="Image" r:id="rId3" imgW="4320508" imgH="3545358" progId="">
                    <p:embed/>
                    <p:pic>
                      <p:nvPicPr>
                        <p:cNvPr id="921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 y="1081"/>
                          <a:ext cx="2722" cy="2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73" name="Text Box 4"/>
            <p:cNvSpPr txBox="1">
              <a:spLocks noChangeArrowheads="1"/>
            </p:cNvSpPr>
            <p:nvPr/>
          </p:nvSpPr>
          <p:spPr bwMode="auto">
            <a:xfrm rot="-5400000">
              <a:off x="392" y="2023"/>
              <a:ext cx="9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b="1">
                  <a:latin typeface="Arial" charset="0"/>
                </a:rPr>
                <a:t>Stimulus trial</a:t>
              </a:r>
            </a:p>
          </p:txBody>
        </p:sp>
        <p:sp>
          <p:nvSpPr>
            <p:cNvPr id="9274" name="Text Box 5"/>
            <p:cNvSpPr txBox="1">
              <a:spLocks noChangeArrowheads="1"/>
            </p:cNvSpPr>
            <p:nvPr/>
          </p:nvSpPr>
          <p:spPr bwMode="auto">
            <a:xfrm>
              <a:off x="1858" y="3422"/>
              <a:ext cx="126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b="1">
                  <a:latin typeface="Arial" charset="0"/>
                </a:rPr>
                <a:t>Post-stimulus time</a:t>
              </a:r>
            </a:p>
          </p:txBody>
        </p:sp>
      </p:grpSp>
      <p:grpSp>
        <p:nvGrpSpPr>
          <p:cNvPr id="3" name="Group 6"/>
          <p:cNvGrpSpPr>
            <a:grpSpLocks/>
          </p:cNvGrpSpPr>
          <p:nvPr/>
        </p:nvGrpSpPr>
        <p:grpSpPr bwMode="auto">
          <a:xfrm>
            <a:off x="3900488" y="2114550"/>
            <a:ext cx="327025" cy="2819400"/>
            <a:chOff x="2457" y="1332"/>
            <a:chExt cx="206" cy="1776"/>
          </a:xfrm>
        </p:grpSpPr>
        <p:sp>
          <p:nvSpPr>
            <p:cNvPr id="9270" name="Line 7"/>
            <p:cNvSpPr>
              <a:spLocks noChangeShapeType="1"/>
            </p:cNvSpPr>
            <p:nvPr/>
          </p:nvSpPr>
          <p:spPr bwMode="auto">
            <a:xfrm flipV="1">
              <a:off x="2457" y="1332"/>
              <a:ext cx="0" cy="1776"/>
            </a:xfrm>
            <a:prstGeom prst="line">
              <a:avLst/>
            </a:prstGeom>
            <a:noFill/>
            <a:ln w="9525" cap="rnd">
              <a:solidFill>
                <a:srgbClr val="FF33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71" name="Line 8"/>
            <p:cNvSpPr>
              <a:spLocks noChangeShapeType="1"/>
            </p:cNvSpPr>
            <p:nvPr/>
          </p:nvSpPr>
          <p:spPr bwMode="auto">
            <a:xfrm flipV="1">
              <a:off x="2560" y="1332"/>
              <a:ext cx="0" cy="1776"/>
            </a:xfrm>
            <a:prstGeom prst="line">
              <a:avLst/>
            </a:prstGeom>
            <a:noFill/>
            <a:ln w="9525" cap="rnd">
              <a:solidFill>
                <a:srgbClr val="FF33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72" name="Line 9"/>
            <p:cNvSpPr>
              <a:spLocks noChangeShapeType="1"/>
            </p:cNvSpPr>
            <p:nvPr/>
          </p:nvSpPr>
          <p:spPr bwMode="auto">
            <a:xfrm flipV="1">
              <a:off x="2663" y="1332"/>
              <a:ext cx="0" cy="1776"/>
            </a:xfrm>
            <a:prstGeom prst="line">
              <a:avLst/>
            </a:prstGeom>
            <a:noFill/>
            <a:ln w="9525" cap="rnd">
              <a:solidFill>
                <a:srgbClr val="FF33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grpSp>
      <p:grpSp>
        <p:nvGrpSpPr>
          <p:cNvPr id="4" name="Group 10"/>
          <p:cNvGrpSpPr>
            <a:grpSpLocks/>
          </p:cNvGrpSpPr>
          <p:nvPr/>
        </p:nvGrpSpPr>
        <p:grpSpPr bwMode="auto">
          <a:xfrm>
            <a:off x="3738563" y="2114550"/>
            <a:ext cx="650875" cy="2819400"/>
            <a:chOff x="2355" y="1332"/>
            <a:chExt cx="410" cy="1776"/>
          </a:xfrm>
        </p:grpSpPr>
        <p:sp>
          <p:nvSpPr>
            <p:cNvPr id="9268" name="Line 11"/>
            <p:cNvSpPr>
              <a:spLocks noChangeShapeType="1"/>
            </p:cNvSpPr>
            <p:nvPr/>
          </p:nvSpPr>
          <p:spPr bwMode="auto">
            <a:xfrm flipV="1">
              <a:off x="2355" y="1332"/>
              <a:ext cx="0" cy="1776"/>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69" name="Line 12"/>
            <p:cNvSpPr>
              <a:spLocks noChangeShapeType="1"/>
            </p:cNvSpPr>
            <p:nvPr/>
          </p:nvSpPr>
          <p:spPr bwMode="auto">
            <a:xfrm flipV="1">
              <a:off x="2765" y="1332"/>
              <a:ext cx="0" cy="1776"/>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it-IT"/>
            </a:p>
          </p:txBody>
        </p:sp>
      </p:grpSp>
      <p:grpSp>
        <p:nvGrpSpPr>
          <p:cNvPr id="5" name="Group 13"/>
          <p:cNvGrpSpPr>
            <a:grpSpLocks/>
          </p:cNvGrpSpPr>
          <p:nvPr/>
        </p:nvGrpSpPr>
        <p:grpSpPr bwMode="auto">
          <a:xfrm>
            <a:off x="2120900" y="2217738"/>
            <a:ext cx="3232150" cy="2563812"/>
            <a:chOff x="1336" y="1397"/>
            <a:chExt cx="2036" cy="1615"/>
          </a:xfrm>
        </p:grpSpPr>
        <p:grpSp>
          <p:nvGrpSpPr>
            <p:cNvPr id="6" name="Group 14"/>
            <p:cNvGrpSpPr>
              <a:grpSpLocks/>
            </p:cNvGrpSpPr>
            <p:nvPr/>
          </p:nvGrpSpPr>
          <p:grpSpPr bwMode="auto">
            <a:xfrm>
              <a:off x="1336" y="1397"/>
              <a:ext cx="2036" cy="1453"/>
              <a:chOff x="1336" y="1397"/>
              <a:chExt cx="2036" cy="1453"/>
            </a:xfrm>
          </p:grpSpPr>
          <p:sp>
            <p:nvSpPr>
              <p:cNvPr id="9258" name="Line 15"/>
              <p:cNvSpPr>
                <a:spLocks noChangeShapeType="1"/>
              </p:cNvSpPr>
              <p:nvPr/>
            </p:nvSpPr>
            <p:spPr bwMode="auto">
              <a:xfrm>
                <a:off x="1336" y="2204"/>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59" name="Line 16"/>
              <p:cNvSpPr>
                <a:spLocks noChangeShapeType="1"/>
              </p:cNvSpPr>
              <p:nvPr/>
            </p:nvSpPr>
            <p:spPr bwMode="auto">
              <a:xfrm>
                <a:off x="1336" y="2850"/>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60" name="Line 17"/>
              <p:cNvSpPr>
                <a:spLocks noChangeShapeType="1"/>
              </p:cNvSpPr>
              <p:nvPr/>
            </p:nvSpPr>
            <p:spPr bwMode="auto">
              <a:xfrm>
                <a:off x="1336" y="2689"/>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61" name="Line 18"/>
              <p:cNvSpPr>
                <a:spLocks noChangeShapeType="1"/>
              </p:cNvSpPr>
              <p:nvPr/>
            </p:nvSpPr>
            <p:spPr bwMode="auto">
              <a:xfrm>
                <a:off x="1336" y="2527"/>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62" name="Line 19"/>
              <p:cNvSpPr>
                <a:spLocks noChangeShapeType="1"/>
              </p:cNvSpPr>
              <p:nvPr/>
            </p:nvSpPr>
            <p:spPr bwMode="auto">
              <a:xfrm>
                <a:off x="1336" y="2366"/>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63" name="Line 20"/>
              <p:cNvSpPr>
                <a:spLocks noChangeShapeType="1"/>
              </p:cNvSpPr>
              <p:nvPr/>
            </p:nvSpPr>
            <p:spPr bwMode="auto">
              <a:xfrm>
                <a:off x="1336" y="2043"/>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64" name="Line 21"/>
              <p:cNvSpPr>
                <a:spLocks noChangeShapeType="1"/>
              </p:cNvSpPr>
              <p:nvPr/>
            </p:nvSpPr>
            <p:spPr bwMode="auto">
              <a:xfrm>
                <a:off x="1336" y="1881"/>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65" name="Line 22"/>
              <p:cNvSpPr>
                <a:spLocks noChangeShapeType="1"/>
              </p:cNvSpPr>
              <p:nvPr/>
            </p:nvSpPr>
            <p:spPr bwMode="auto">
              <a:xfrm>
                <a:off x="1336" y="1720"/>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66" name="Line 23"/>
              <p:cNvSpPr>
                <a:spLocks noChangeShapeType="1"/>
              </p:cNvSpPr>
              <p:nvPr/>
            </p:nvSpPr>
            <p:spPr bwMode="auto">
              <a:xfrm>
                <a:off x="1336" y="1558"/>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9267" name="Line 24"/>
              <p:cNvSpPr>
                <a:spLocks noChangeShapeType="1"/>
              </p:cNvSpPr>
              <p:nvPr/>
            </p:nvSpPr>
            <p:spPr bwMode="auto">
              <a:xfrm>
                <a:off x="1336" y="1397"/>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grpSp>
        <p:sp>
          <p:nvSpPr>
            <p:cNvPr id="9257" name="Line 25"/>
            <p:cNvSpPr>
              <a:spLocks noChangeShapeType="1"/>
            </p:cNvSpPr>
            <p:nvPr/>
          </p:nvSpPr>
          <p:spPr bwMode="auto">
            <a:xfrm>
              <a:off x="1336" y="3012"/>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grpSp>
      <p:grpSp>
        <p:nvGrpSpPr>
          <p:cNvPr id="7" name="Group 26"/>
          <p:cNvGrpSpPr>
            <a:grpSpLocks/>
          </p:cNvGrpSpPr>
          <p:nvPr/>
        </p:nvGrpSpPr>
        <p:grpSpPr bwMode="auto">
          <a:xfrm>
            <a:off x="5219700" y="1325563"/>
            <a:ext cx="1873250" cy="4702175"/>
            <a:chOff x="3288" y="835"/>
            <a:chExt cx="1180" cy="2962"/>
          </a:xfrm>
        </p:grpSpPr>
        <p:grpSp>
          <p:nvGrpSpPr>
            <p:cNvPr id="8" name="Group 27"/>
            <p:cNvGrpSpPr>
              <a:grpSpLocks/>
            </p:cNvGrpSpPr>
            <p:nvPr/>
          </p:nvGrpSpPr>
          <p:grpSpPr bwMode="auto">
            <a:xfrm>
              <a:off x="3840" y="835"/>
              <a:ext cx="435" cy="2257"/>
              <a:chOff x="3840" y="835"/>
              <a:chExt cx="435" cy="2257"/>
            </a:xfrm>
          </p:grpSpPr>
          <p:sp>
            <p:nvSpPr>
              <p:cNvPr id="9244" name="Text Box 28"/>
              <p:cNvSpPr txBox="1">
                <a:spLocks noChangeArrowheads="1"/>
              </p:cNvSpPr>
              <p:nvPr/>
            </p:nvSpPr>
            <p:spPr bwMode="auto">
              <a:xfrm>
                <a:off x="3955" y="288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9245" name="Text Box 29"/>
              <p:cNvSpPr txBox="1">
                <a:spLocks noChangeArrowheads="1"/>
              </p:cNvSpPr>
              <p:nvPr/>
            </p:nvSpPr>
            <p:spPr bwMode="auto">
              <a:xfrm>
                <a:off x="3955" y="272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9246" name="Text Box 30"/>
              <p:cNvSpPr txBox="1">
                <a:spLocks noChangeArrowheads="1"/>
              </p:cNvSpPr>
              <p:nvPr/>
            </p:nvSpPr>
            <p:spPr bwMode="auto">
              <a:xfrm>
                <a:off x="3955" y="256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9247" name="Text Box 31"/>
              <p:cNvSpPr txBox="1">
                <a:spLocks noChangeArrowheads="1"/>
              </p:cNvSpPr>
              <p:nvPr/>
            </p:nvSpPr>
            <p:spPr bwMode="auto">
              <a:xfrm>
                <a:off x="3955" y="240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9248" name="Text Box 32"/>
              <p:cNvSpPr txBox="1">
                <a:spLocks noChangeArrowheads="1"/>
              </p:cNvSpPr>
              <p:nvPr/>
            </p:nvSpPr>
            <p:spPr bwMode="auto">
              <a:xfrm>
                <a:off x="3955" y="224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2</a:t>
                </a:r>
              </a:p>
            </p:txBody>
          </p:sp>
          <p:sp>
            <p:nvSpPr>
              <p:cNvPr id="9249" name="Text Box 33"/>
              <p:cNvSpPr txBox="1">
                <a:spLocks noChangeArrowheads="1"/>
              </p:cNvSpPr>
              <p:nvPr/>
            </p:nvSpPr>
            <p:spPr bwMode="auto">
              <a:xfrm>
                <a:off x="3955" y="207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9250" name="Text Box 34"/>
              <p:cNvSpPr txBox="1">
                <a:spLocks noChangeArrowheads="1"/>
              </p:cNvSpPr>
              <p:nvPr/>
            </p:nvSpPr>
            <p:spPr bwMode="auto">
              <a:xfrm>
                <a:off x="3955" y="191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9251" name="Text Box 35"/>
              <p:cNvSpPr txBox="1">
                <a:spLocks noChangeArrowheads="1"/>
              </p:cNvSpPr>
              <p:nvPr/>
            </p:nvSpPr>
            <p:spPr bwMode="auto">
              <a:xfrm>
                <a:off x="3955" y="175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9252" name="Text Box 36"/>
              <p:cNvSpPr txBox="1">
                <a:spLocks noChangeArrowheads="1"/>
              </p:cNvSpPr>
              <p:nvPr/>
            </p:nvSpPr>
            <p:spPr bwMode="auto">
              <a:xfrm>
                <a:off x="3955" y="159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9253" name="Text Box 37"/>
              <p:cNvSpPr txBox="1">
                <a:spLocks noChangeArrowheads="1"/>
              </p:cNvSpPr>
              <p:nvPr/>
            </p:nvSpPr>
            <p:spPr bwMode="auto">
              <a:xfrm>
                <a:off x="3955" y="143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9254" name="Text Box 38"/>
              <p:cNvSpPr txBox="1">
                <a:spLocks noChangeArrowheads="1"/>
              </p:cNvSpPr>
              <p:nvPr/>
            </p:nvSpPr>
            <p:spPr bwMode="auto">
              <a:xfrm>
                <a:off x="3955" y="1278"/>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9255" name="Text Box 39"/>
              <p:cNvSpPr txBox="1">
                <a:spLocks noChangeArrowheads="1"/>
              </p:cNvSpPr>
              <p:nvPr/>
            </p:nvSpPr>
            <p:spPr bwMode="auto">
              <a:xfrm>
                <a:off x="3840" y="835"/>
                <a:ext cx="43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Spike</a:t>
                </a:r>
              </a:p>
              <a:p>
                <a:r>
                  <a:rPr lang="en-US" sz="1600">
                    <a:latin typeface="Arial" charset="0"/>
                  </a:rPr>
                  <a:t>count</a:t>
                </a:r>
              </a:p>
            </p:txBody>
          </p:sp>
        </p:grpSp>
        <p:sp>
          <p:nvSpPr>
            <p:cNvPr id="9242" name="Text Box 40"/>
            <p:cNvSpPr txBox="1">
              <a:spLocks noChangeArrowheads="1"/>
            </p:cNvSpPr>
            <p:nvPr/>
          </p:nvSpPr>
          <p:spPr bwMode="auto">
            <a:xfrm>
              <a:off x="3288" y="3566"/>
              <a:ext cx="1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a:solidFill>
                    <a:schemeClr val="accent2"/>
                  </a:solidFill>
                  <a:latin typeface="Arial" charset="0"/>
                </a:rPr>
                <a:t>Up to 5 numbers</a:t>
              </a:r>
              <a:endParaRPr lang="en-US" sz="1800">
                <a:solidFill>
                  <a:schemeClr val="accent2"/>
                </a:solidFill>
                <a:latin typeface="Arial" charset="0"/>
              </a:endParaRPr>
            </a:p>
          </p:txBody>
        </p:sp>
        <p:sp>
          <p:nvSpPr>
            <p:cNvPr id="9243" name="Line 41"/>
            <p:cNvSpPr>
              <a:spLocks noChangeShapeType="1"/>
            </p:cNvSpPr>
            <p:nvPr/>
          </p:nvSpPr>
          <p:spPr bwMode="auto">
            <a:xfrm flipV="1">
              <a:off x="3742" y="3113"/>
              <a:ext cx="227" cy="499"/>
            </a:xfrm>
            <a:prstGeom prst="line">
              <a:avLst/>
            </a:prstGeom>
            <a:noFill/>
            <a:ln w="254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grpSp>
      <p:grpSp>
        <p:nvGrpSpPr>
          <p:cNvPr id="9" name="Group 42"/>
          <p:cNvGrpSpPr>
            <a:grpSpLocks/>
          </p:cNvGrpSpPr>
          <p:nvPr/>
        </p:nvGrpSpPr>
        <p:grpSpPr bwMode="auto">
          <a:xfrm>
            <a:off x="7123113" y="1327150"/>
            <a:ext cx="1617662" cy="4903788"/>
            <a:chOff x="4487" y="836"/>
            <a:chExt cx="1019" cy="3089"/>
          </a:xfrm>
        </p:grpSpPr>
        <p:grpSp>
          <p:nvGrpSpPr>
            <p:cNvPr id="10" name="Group 43"/>
            <p:cNvGrpSpPr>
              <a:grpSpLocks/>
            </p:cNvGrpSpPr>
            <p:nvPr/>
          </p:nvGrpSpPr>
          <p:grpSpPr bwMode="auto">
            <a:xfrm>
              <a:off x="4487" y="836"/>
              <a:ext cx="457" cy="2256"/>
              <a:chOff x="4487" y="836"/>
              <a:chExt cx="457" cy="2256"/>
            </a:xfrm>
          </p:grpSpPr>
          <p:sp>
            <p:nvSpPr>
              <p:cNvPr id="9229" name="Text Box 44"/>
              <p:cNvSpPr txBox="1">
                <a:spLocks noChangeArrowheads="1"/>
              </p:cNvSpPr>
              <p:nvPr/>
            </p:nvSpPr>
            <p:spPr bwMode="auto">
              <a:xfrm>
                <a:off x="4537" y="288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0000</a:t>
                </a:r>
              </a:p>
            </p:txBody>
          </p:sp>
          <p:sp>
            <p:nvSpPr>
              <p:cNvPr id="9230" name="Text Box 45"/>
              <p:cNvSpPr txBox="1">
                <a:spLocks noChangeArrowheads="1"/>
              </p:cNvSpPr>
              <p:nvPr/>
            </p:nvSpPr>
            <p:spPr bwMode="auto">
              <a:xfrm>
                <a:off x="4537" y="272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0000</a:t>
                </a:r>
              </a:p>
            </p:txBody>
          </p:sp>
          <p:sp>
            <p:nvSpPr>
              <p:cNvPr id="9231" name="Text Box 46"/>
              <p:cNvSpPr txBox="1">
                <a:spLocks noChangeArrowheads="1"/>
              </p:cNvSpPr>
              <p:nvPr/>
            </p:nvSpPr>
            <p:spPr bwMode="auto">
              <a:xfrm>
                <a:off x="4537" y="256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0100</a:t>
                </a:r>
              </a:p>
            </p:txBody>
          </p:sp>
          <p:sp>
            <p:nvSpPr>
              <p:cNvPr id="9232" name="Text Box 47"/>
              <p:cNvSpPr txBox="1">
                <a:spLocks noChangeArrowheads="1"/>
              </p:cNvSpPr>
              <p:nvPr/>
            </p:nvSpPr>
            <p:spPr bwMode="auto">
              <a:xfrm>
                <a:off x="4537" y="240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0000</a:t>
                </a:r>
              </a:p>
            </p:txBody>
          </p:sp>
          <p:sp>
            <p:nvSpPr>
              <p:cNvPr id="9233" name="Text Box 48"/>
              <p:cNvSpPr txBox="1">
                <a:spLocks noChangeArrowheads="1"/>
              </p:cNvSpPr>
              <p:nvPr/>
            </p:nvSpPr>
            <p:spPr bwMode="auto">
              <a:xfrm>
                <a:off x="4537" y="224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1100</a:t>
                </a:r>
              </a:p>
            </p:txBody>
          </p:sp>
          <p:sp>
            <p:nvSpPr>
              <p:cNvPr id="9234" name="Text Box 49"/>
              <p:cNvSpPr txBox="1">
                <a:spLocks noChangeArrowheads="1"/>
              </p:cNvSpPr>
              <p:nvPr/>
            </p:nvSpPr>
            <p:spPr bwMode="auto">
              <a:xfrm>
                <a:off x="4537" y="207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0100</a:t>
                </a:r>
              </a:p>
            </p:txBody>
          </p:sp>
          <p:sp>
            <p:nvSpPr>
              <p:cNvPr id="9235" name="Text Box 50"/>
              <p:cNvSpPr txBox="1">
                <a:spLocks noChangeArrowheads="1"/>
              </p:cNvSpPr>
              <p:nvPr/>
            </p:nvSpPr>
            <p:spPr bwMode="auto">
              <a:xfrm>
                <a:off x="4537" y="191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0000</a:t>
                </a:r>
              </a:p>
            </p:txBody>
          </p:sp>
          <p:sp>
            <p:nvSpPr>
              <p:cNvPr id="9236" name="Text Box 51"/>
              <p:cNvSpPr txBox="1">
                <a:spLocks noChangeArrowheads="1"/>
              </p:cNvSpPr>
              <p:nvPr/>
            </p:nvSpPr>
            <p:spPr bwMode="auto">
              <a:xfrm>
                <a:off x="4537" y="175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1000</a:t>
                </a:r>
              </a:p>
            </p:txBody>
          </p:sp>
          <p:sp>
            <p:nvSpPr>
              <p:cNvPr id="9237" name="Text Box 52"/>
              <p:cNvSpPr txBox="1">
                <a:spLocks noChangeArrowheads="1"/>
              </p:cNvSpPr>
              <p:nvPr/>
            </p:nvSpPr>
            <p:spPr bwMode="auto">
              <a:xfrm>
                <a:off x="4537" y="159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1000</a:t>
                </a:r>
              </a:p>
            </p:txBody>
          </p:sp>
          <p:sp>
            <p:nvSpPr>
              <p:cNvPr id="9238" name="Text Box 53"/>
              <p:cNvSpPr txBox="1">
                <a:spLocks noChangeArrowheads="1"/>
              </p:cNvSpPr>
              <p:nvPr/>
            </p:nvSpPr>
            <p:spPr bwMode="auto">
              <a:xfrm>
                <a:off x="4537" y="143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1000</a:t>
                </a:r>
              </a:p>
            </p:txBody>
          </p:sp>
          <p:sp>
            <p:nvSpPr>
              <p:cNvPr id="9239" name="Text Box 54"/>
              <p:cNvSpPr txBox="1">
                <a:spLocks noChangeArrowheads="1"/>
              </p:cNvSpPr>
              <p:nvPr/>
            </p:nvSpPr>
            <p:spPr bwMode="auto">
              <a:xfrm>
                <a:off x="4537" y="1278"/>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0001</a:t>
                </a:r>
              </a:p>
            </p:txBody>
          </p:sp>
          <p:sp>
            <p:nvSpPr>
              <p:cNvPr id="9240" name="Text Box 55"/>
              <p:cNvSpPr txBox="1">
                <a:spLocks noChangeArrowheads="1"/>
              </p:cNvSpPr>
              <p:nvPr/>
            </p:nvSpPr>
            <p:spPr bwMode="auto">
              <a:xfrm>
                <a:off x="4487" y="836"/>
                <a:ext cx="45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Spike</a:t>
                </a:r>
              </a:p>
              <a:p>
                <a:r>
                  <a:rPr lang="en-US" sz="1600">
                    <a:latin typeface="Arial" charset="0"/>
                  </a:rPr>
                  <a:t>timing</a:t>
                </a:r>
              </a:p>
            </p:txBody>
          </p:sp>
        </p:grpSp>
        <p:sp>
          <p:nvSpPr>
            <p:cNvPr id="9227" name="Text Box 56"/>
            <p:cNvSpPr txBox="1">
              <a:spLocks noChangeArrowheads="1"/>
            </p:cNvSpPr>
            <p:nvPr/>
          </p:nvSpPr>
          <p:spPr bwMode="auto">
            <a:xfrm>
              <a:off x="4830" y="3521"/>
              <a:ext cx="67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1800">
                  <a:solidFill>
                    <a:srgbClr val="008000"/>
                  </a:solidFill>
                  <a:latin typeface="Arial" charset="0"/>
                </a:rPr>
                <a:t>2</a:t>
              </a:r>
              <a:r>
                <a:rPr lang="en-GB" sz="1800" baseline="40000">
                  <a:solidFill>
                    <a:srgbClr val="008000"/>
                  </a:solidFill>
                  <a:latin typeface="Arial" charset="0"/>
                </a:rPr>
                <a:t>4</a:t>
              </a:r>
              <a:r>
                <a:rPr lang="en-GB" sz="1800">
                  <a:solidFill>
                    <a:srgbClr val="008000"/>
                  </a:solidFill>
                  <a:latin typeface="Arial" charset="0"/>
                </a:rPr>
                <a:t> =16 </a:t>
              </a:r>
            </a:p>
            <a:p>
              <a:r>
                <a:rPr lang="en-GB" sz="1800">
                  <a:solidFill>
                    <a:srgbClr val="008000"/>
                  </a:solidFill>
                  <a:latin typeface="Arial" charset="0"/>
                </a:rPr>
                <a:t>numbers</a:t>
              </a:r>
              <a:endParaRPr lang="en-US" sz="1800">
                <a:solidFill>
                  <a:srgbClr val="008000"/>
                </a:solidFill>
                <a:latin typeface="Arial" charset="0"/>
              </a:endParaRPr>
            </a:p>
          </p:txBody>
        </p:sp>
        <p:sp>
          <p:nvSpPr>
            <p:cNvPr id="9228" name="Line 57"/>
            <p:cNvSpPr>
              <a:spLocks noChangeShapeType="1"/>
            </p:cNvSpPr>
            <p:nvPr/>
          </p:nvSpPr>
          <p:spPr bwMode="auto">
            <a:xfrm flipH="1" flipV="1">
              <a:off x="4876" y="3113"/>
              <a:ext cx="272" cy="409"/>
            </a:xfrm>
            <a:prstGeom prst="line">
              <a:avLst/>
            </a:prstGeom>
            <a:noFill/>
            <a:ln w="254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grpSp>
      <p:sp>
        <p:nvSpPr>
          <p:cNvPr id="11" name="Text Box 2">
            <a:extLst>
              <a:ext uri="{FF2B5EF4-FFF2-40B4-BE49-F238E27FC236}">
                <a16:creationId xmlns:a16="http://schemas.microsoft.com/office/drawing/2014/main" id="{45941F30-0734-4CEB-B9B7-1402E8646AB9}"/>
              </a:ext>
            </a:extLst>
          </p:cNvPr>
          <p:cNvSpPr txBox="1">
            <a:spLocks noChangeArrowheads="1"/>
          </p:cNvSpPr>
          <p:nvPr/>
        </p:nvSpPr>
        <p:spPr bwMode="auto">
          <a:xfrm>
            <a:off x="539750" y="260350"/>
            <a:ext cx="8424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sz="2800" b="1" dirty="0">
                <a:solidFill>
                  <a:srgbClr val="FF0000"/>
                </a:solidFill>
                <a:latin typeface="Arial" charset="0"/>
              </a:rPr>
              <a:t>From spike count to spike timing</a:t>
            </a:r>
            <a:endParaRPr lang="en-US" sz="2800" dirty="0">
              <a:solidFill>
                <a:srgbClr val="FF0000"/>
              </a:solidFill>
              <a:latin typeface="Arial" charset="0"/>
            </a:endParaRPr>
          </a:p>
        </p:txBody>
      </p:sp>
      <p:sp>
        <p:nvSpPr>
          <p:cNvPr id="12" name="Rectangle 9">
            <a:extLst>
              <a:ext uri="{FF2B5EF4-FFF2-40B4-BE49-F238E27FC236}">
                <a16:creationId xmlns:a16="http://schemas.microsoft.com/office/drawing/2014/main" id="{07F9027E-01A5-4B17-9F7D-CB1F70829BE6}"/>
              </a:ext>
            </a:extLst>
          </p:cNvPr>
          <p:cNvSpPr>
            <a:spLocks noChangeArrowheads="1"/>
          </p:cNvSpPr>
          <p:nvPr/>
        </p:nvSpPr>
        <p:spPr bwMode="auto">
          <a:xfrm>
            <a:off x="683568" y="1181378"/>
            <a:ext cx="53235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en-GB" dirty="0">
                <a:latin typeface="Arial" charset="0"/>
              </a:rPr>
              <a:t>The response window is divided into </a:t>
            </a:r>
            <a:r>
              <a:rPr lang="en-GB" dirty="0" err="1">
                <a:latin typeface="Arial" charset="0"/>
              </a:rPr>
              <a:t>subwindows</a:t>
            </a:r>
            <a:endParaRPr lang="en-US" sz="1800" dirty="0">
              <a:latin typeface="Arial" charset="0"/>
            </a:endParaRPr>
          </a:p>
        </p:txBody>
      </p:sp>
      <p:sp>
        <p:nvSpPr>
          <p:cNvPr id="13" name="Rectangle 9">
            <a:extLst>
              <a:ext uri="{FF2B5EF4-FFF2-40B4-BE49-F238E27FC236}">
                <a16:creationId xmlns:a16="http://schemas.microsoft.com/office/drawing/2014/main" id="{F7A55976-EDCE-4709-A399-4582FFCB4AEA}"/>
              </a:ext>
            </a:extLst>
          </p:cNvPr>
          <p:cNvSpPr>
            <a:spLocks noChangeArrowheads="1"/>
          </p:cNvSpPr>
          <p:nvPr/>
        </p:nvSpPr>
        <p:spPr bwMode="auto">
          <a:xfrm>
            <a:off x="683568" y="6172501"/>
            <a:ext cx="53235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en-GB" dirty="0">
                <a:latin typeface="Arial" charset="0"/>
              </a:rPr>
              <a:t>The response becomes a binary vector</a:t>
            </a:r>
            <a:endParaRPr lang="en-US" sz="1800" dirty="0">
              <a:latin typeface="Arial" charset="0"/>
            </a:endParaRPr>
          </a:p>
        </p:txBody>
      </p:sp>
    </p:spTree>
    <p:extLst>
      <p:ext uri="{BB962C8B-B14F-4D97-AF65-F5344CB8AC3E}">
        <p14:creationId xmlns:p14="http://schemas.microsoft.com/office/powerpoint/2010/main" val="967585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23"/>
          <p:cNvSpPr txBox="1">
            <a:spLocks noChangeArrowheads="1"/>
          </p:cNvSpPr>
          <p:nvPr/>
        </p:nvSpPr>
        <p:spPr bwMode="auto">
          <a:xfrm>
            <a:off x="308741" y="267515"/>
            <a:ext cx="86407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b="1" dirty="0">
                <a:solidFill>
                  <a:srgbClr val="FF0000"/>
                </a:solidFill>
                <a:latin typeface="Arial" charset="0"/>
              </a:rPr>
              <a:t>Defining temporal codes</a:t>
            </a:r>
            <a:endParaRPr lang="en-GB" b="1" dirty="0">
              <a:solidFill>
                <a:srgbClr val="FF9900"/>
              </a:solidFill>
              <a:latin typeface="Arial"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l="7513" r="9004" b="34692"/>
          <a:stretch>
            <a:fillRect/>
          </a:stretch>
        </p:blipFill>
        <p:spPr bwMode="auto">
          <a:xfrm>
            <a:off x="142843" y="1000108"/>
            <a:ext cx="8805149" cy="3786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3"/>
          <p:cNvSpPr txBox="1">
            <a:spLocks noChangeArrowheads="1"/>
          </p:cNvSpPr>
          <p:nvPr/>
        </p:nvSpPr>
        <p:spPr bwMode="auto">
          <a:xfrm>
            <a:off x="357158" y="5143512"/>
            <a:ext cx="86407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dirty="0">
                <a:latin typeface="Arial" charset="0"/>
              </a:rPr>
              <a:t>There is temporal coding if the timing of spikes carries information about stimuli that cannot be possibly extracted from simply counting the spikes in the response time window</a:t>
            </a:r>
          </a:p>
          <a:p>
            <a:endParaRPr lang="en-GB" b="1" dirty="0">
              <a:solidFill>
                <a:srgbClr val="FF9900"/>
              </a:solidFill>
              <a:latin typeface="Arial" charset="0"/>
            </a:endParaRPr>
          </a:p>
        </p:txBody>
      </p:sp>
      <p:sp>
        <p:nvSpPr>
          <p:cNvPr id="4" name="CasellaDiTesto 3">
            <a:extLst>
              <a:ext uri="{FF2B5EF4-FFF2-40B4-BE49-F238E27FC236}">
                <a16:creationId xmlns:a16="http://schemas.microsoft.com/office/drawing/2014/main" id="{87EBAB3F-8F22-4D1D-B904-D95305F56C03}"/>
              </a:ext>
            </a:extLst>
          </p:cNvPr>
          <p:cNvSpPr txBox="1"/>
          <p:nvPr/>
        </p:nvSpPr>
        <p:spPr>
          <a:xfrm>
            <a:off x="4630722" y="353777"/>
            <a:ext cx="2520280" cy="369332"/>
          </a:xfrm>
          <a:prstGeom prst="rect">
            <a:avLst/>
          </a:prstGeom>
          <a:noFill/>
        </p:spPr>
        <p:txBody>
          <a:bodyPr wrap="square" rtlCol="0">
            <a:spAutoFit/>
          </a:bodyPr>
          <a:lstStyle/>
          <a:p>
            <a:r>
              <a:rPr lang="it-IT" dirty="0"/>
              <a:t>Panzeri et al 2010</a:t>
            </a:r>
          </a:p>
        </p:txBody>
      </p:sp>
      <p:sp>
        <p:nvSpPr>
          <p:cNvPr id="6" name="Rettangolo con angoli arrotondati 5">
            <a:extLst>
              <a:ext uri="{FF2B5EF4-FFF2-40B4-BE49-F238E27FC236}">
                <a16:creationId xmlns:a16="http://schemas.microsoft.com/office/drawing/2014/main" id="{3E3337CE-67B7-4F6D-AA86-C7567759AE13}"/>
              </a:ext>
            </a:extLst>
          </p:cNvPr>
          <p:cNvSpPr/>
          <p:nvPr/>
        </p:nvSpPr>
        <p:spPr>
          <a:xfrm>
            <a:off x="6516216" y="153682"/>
            <a:ext cx="720080" cy="72008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it-IT" sz="2800" dirty="0"/>
              <a:t>SR</a:t>
            </a:r>
          </a:p>
        </p:txBody>
      </p:sp>
    </p:spTree>
    <p:extLst>
      <p:ext uri="{BB962C8B-B14F-4D97-AF65-F5344CB8AC3E}">
        <p14:creationId xmlns:p14="http://schemas.microsoft.com/office/powerpoint/2010/main" val="1923163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23"/>
          <p:cNvSpPr txBox="1">
            <a:spLocks noChangeArrowheads="1"/>
          </p:cNvSpPr>
          <p:nvPr/>
        </p:nvSpPr>
        <p:spPr bwMode="auto">
          <a:xfrm>
            <a:off x="214313" y="285750"/>
            <a:ext cx="86407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b="1" dirty="0">
                <a:solidFill>
                  <a:srgbClr val="FF0000"/>
                </a:solidFill>
                <a:latin typeface="Arial" charset="0"/>
              </a:rPr>
              <a:t>Defining temporal codes</a:t>
            </a:r>
            <a:endParaRPr lang="en-GB" b="1" dirty="0">
              <a:solidFill>
                <a:srgbClr val="FF9900"/>
              </a:solidFill>
              <a:latin typeface="Arial"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l="7513" r="9004" b="34692"/>
          <a:stretch>
            <a:fillRect/>
          </a:stretch>
        </p:blipFill>
        <p:spPr bwMode="auto">
          <a:xfrm>
            <a:off x="142843" y="1000108"/>
            <a:ext cx="8805149" cy="3786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3"/>
          <p:cNvSpPr txBox="1">
            <a:spLocks noChangeArrowheads="1"/>
          </p:cNvSpPr>
          <p:nvPr/>
        </p:nvSpPr>
        <p:spPr bwMode="auto">
          <a:xfrm>
            <a:off x="357158" y="5143512"/>
            <a:ext cx="86407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dirty="0">
                <a:latin typeface="Arial" charset="0"/>
              </a:rPr>
              <a:t>There is temporal coding if the timing of spikes carries information about stimuli that cannot be possibly extracted from simply counting the spikes in the response time window</a:t>
            </a:r>
          </a:p>
          <a:p>
            <a:endParaRPr lang="en-GB" b="1" dirty="0">
              <a:solidFill>
                <a:srgbClr val="FF9900"/>
              </a:solidFill>
              <a:latin typeface="Arial" charset="0"/>
            </a:endParaRPr>
          </a:p>
        </p:txBody>
      </p:sp>
      <p:sp>
        <p:nvSpPr>
          <p:cNvPr id="4" name="Ovale 3">
            <a:extLst>
              <a:ext uri="{FF2B5EF4-FFF2-40B4-BE49-F238E27FC236}">
                <a16:creationId xmlns:a16="http://schemas.microsoft.com/office/drawing/2014/main" id="{05ACB48F-1EE8-4E73-9691-B79800F642AA}"/>
              </a:ext>
            </a:extLst>
          </p:cNvPr>
          <p:cNvSpPr/>
          <p:nvPr/>
        </p:nvSpPr>
        <p:spPr>
          <a:xfrm>
            <a:off x="4718588" y="2636912"/>
            <a:ext cx="4286850" cy="3015767"/>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t-IT" sz="2400" b="1" dirty="0"/>
              <a:t>Rate code </a:t>
            </a:r>
            <a:r>
              <a:rPr lang="it-IT" sz="2400" dirty="0" err="1"/>
              <a:t>is</a:t>
            </a:r>
            <a:r>
              <a:rPr lang="it-IT" sz="2400" dirty="0"/>
              <a:t> </a:t>
            </a:r>
            <a:r>
              <a:rPr lang="it-IT" sz="2400" dirty="0" err="1"/>
              <a:t>not</a:t>
            </a:r>
            <a:r>
              <a:rPr lang="it-IT" sz="2400" dirty="0"/>
              <a:t> a </a:t>
            </a:r>
            <a:r>
              <a:rPr lang="it-IT" sz="2400" b="1" dirty="0" err="1"/>
              <a:t>temporal</a:t>
            </a:r>
            <a:r>
              <a:rPr lang="it-IT" sz="2400" b="1" dirty="0"/>
              <a:t> code </a:t>
            </a:r>
            <a:r>
              <a:rPr lang="it-IT" sz="2400" dirty="0" err="1"/>
              <a:t>because</a:t>
            </a:r>
            <a:r>
              <a:rPr lang="it-IT" sz="2400" dirty="0"/>
              <a:t> </a:t>
            </a:r>
            <a:r>
              <a:rPr lang="it-IT" sz="2400" dirty="0" err="1"/>
              <a:t>you</a:t>
            </a:r>
            <a:r>
              <a:rPr lang="it-IT" sz="2400" dirty="0"/>
              <a:t> sum over the </a:t>
            </a:r>
            <a:r>
              <a:rPr lang="it-IT" sz="2400" dirty="0" err="1"/>
              <a:t>whole</a:t>
            </a:r>
            <a:r>
              <a:rPr lang="it-IT" sz="2400" dirty="0"/>
              <a:t> </a:t>
            </a:r>
            <a:r>
              <a:rPr lang="it-IT" sz="2400" dirty="0" err="1"/>
              <a:t>interval</a:t>
            </a:r>
            <a:r>
              <a:rPr lang="it-IT" sz="2400" dirty="0"/>
              <a:t>. </a:t>
            </a:r>
            <a:r>
              <a:rPr lang="it-IT" sz="2400" dirty="0" err="1"/>
              <a:t>It</a:t>
            </a:r>
            <a:r>
              <a:rPr lang="it-IT" sz="2400" dirty="0"/>
              <a:t> </a:t>
            </a:r>
            <a:r>
              <a:rPr lang="it-IT" sz="2400" dirty="0" err="1"/>
              <a:t>usually</a:t>
            </a:r>
            <a:r>
              <a:rPr lang="it-IT" sz="2400" dirty="0"/>
              <a:t> </a:t>
            </a:r>
            <a:r>
              <a:rPr lang="it-IT" sz="2400" dirty="0" err="1"/>
              <a:t>contains</a:t>
            </a:r>
            <a:r>
              <a:rPr lang="it-IT" sz="2400" dirty="0"/>
              <a:t> </a:t>
            </a:r>
            <a:r>
              <a:rPr lang="it-IT" sz="2400" dirty="0" err="1"/>
              <a:t>most</a:t>
            </a:r>
            <a:r>
              <a:rPr lang="it-IT" sz="2400" dirty="0"/>
              <a:t> or </a:t>
            </a:r>
            <a:r>
              <a:rPr lang="it-IT" sz="2400" dirty="0" err="1"/>
              <a:t>all</a:t>
            </a:r>
            <a:r>
              <a:rPr lang="it-IT" sz="2400" dirty="0"/>
              <a:t> the information.</a:t>
            </a:r>
            <a:endParaRPr lang="it-IT" sz="2400" b="1" dirty="0"/>
          </a:p>
        </p:txBody>
      </p:sp>
    </p:spTree>
    <p:extLst>
      <p:ext uri="{BB962C8B-B14F-4D97-AF65-F5344CB8AC3E}">
        <p14:creationId xmlns:p14="http://schemas.microsoft.com/office/powerpoint/2010/main" val="29207191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23"/>
          <p:cNvSpPr txBox="1">
            <a:spLocks noChangeArrowheads="1"/>
          </p:cNvSpPr>
          <p:nvPr/>
        </p:nvSpPr>
        <p:spPr bwMode="auto">
          <a:xfrm>
            <a:off x="214313" y="285750"/>
            <a:ext cx="86407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b="1" dirty="0">
                <a:solidFill>
                  <a:srgbClr val="FF0000"/>
                </a:solidFill>
                <a:latin typeface="Arial" charset="0"/>
              </a:rPr>
              <a:t>Defining temporal codes</a:t>
            </a:r>
            <a:endParaRPr lang="en-GB" b="1" dirty="0">
              <a:solidFill>
                <a:srgbClr val="FF9900"/>
              </a:solidFill>
              <a:latin typeface="Arial"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l="7513" r="9004" b="34692"/>
          <a:stretch>
            <a:fillRect/>
          </a:stretch>
        </p:blipFill>
        <p:spPr bwMode="auto">
          <a:xfrm>
            <a:off x="142843" y="1000108"/>
            <a:ext cx="8805149" cy="3786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3"/>
          <p:cNvSpPr txBox="1">
            <a:spLocks noChangeArrowheads="1"/>
          </p:cNvSpPr>
          <p:nvPr/>
        </p:nvSpPr>
        <p:spPr bwMode="auto">
          <a:xfrm>
            <a:off x="357158" y="5143512"/>
            <a:ext cx="86407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dirty="0">
                <a:latin typeface="Arial" charset="0"/>
              </a:rPr>
              <a:t>There is temporal coding if the timing of spikes carries information about stimuli that cannot be possibly extracted from simply counting the spikes in the response time window</a:t>
            </a:r>
          </a:p>
          <a:p>
            <a:endParaRPr lang="en-GB" b="1" dirty="0">
              <a:solidFill>
                <a:srgbClr val="FF9900"/>
              </a:solidFill>
              <a:latin typeface="Arial" charset="0"/>
            </a:endParaRPr>
          </a:p>
        </p:txBody>
      </p:sp>
      <p:sp>
        <p:nvSpPr>
          <p:cNvPr id="4" name="Ovale 3">
            <a:extLst>
              <a:ext uri="{FF2B5EF4-FFF2-40B4-BE49-F238E27FC236}">
                <a16:creationId xmlns:a16="http://schemas.microsoft.com/office/drawing/2014/main" id="{05ACB48F-1EE8-4E73-9691-B79800F642AA}"/>
              </a:ext>
            </a:extLst>
          </p:cNvPr>
          <p:cNvSpPr/>
          <p:nvPr/>
        </p:nvSpPr>
        <p:spPr>
          <a:xfrm>
            <a:off x="4718588" y="836712"/>
            <a:ext cx="4286850" cy="4815967"/>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t-IT" sz="2400" b="1" dirty="0" err="1"/>
              <a:t>Temporal</a:t>
            </a:r>
            <a:r>
              <a:rPr lang="it-IT" sz="2400" b="1" dirty="0"/>
              <a:t> </a:t>
            </a:r>
            <a:r>
              <a:rPr lang="it-IT" sz="2400" b="1" dirty="0" err="1"/>
              <a:t>codes</a:t>
            </a:r>
            <a:r>
              <a:rPr lang="it-IT" sz="2400" b="1" dirty="0"/>
              <a:t> </a:t>
            </a:r>
            <a:r>
              <a:rPr lang="it-IT" sz="2400" dirty="0" err="1"/>
              <a:t>based</a:t>
            </a:r>
            <a:r>
              <a:rPr lang="it-IT" sz="2400" dirty="0"/>
              <a:t> on</a:t>
            </a:r>
            <a:r>
              <a:rPr lang="it-IT" sz="2400" b="1" dirty="0"/>
              <a:t> </a:t>
            </a:r>
            <a:r>
              <a:rPr lang="it-IT" sz="2400" b="1" dirty="0" err="1"/>
              <a:t>latency</a:t>
            </a:r>
            <a:r>
              <a:rPr lang="it-IT" sz="2400" dirty="0"/>
              <a:t> work </a:t>
            </a:r>
            <a:r>
              <a:rPr lang="it-IT" sz="2400" dirty="0" err="1"/>
              <a:t>only</a:t>
            </a:r>
            <a:r>
              <a:rPr lang="it-IT" sz="2400" dirty="0"/>
              <a:t> </a:t>
            </a:r>
            <a:r>
              <a:rPr lang="it-IT" sz="2400" dirty="0" err="1"/>
              <a:t>if</a:t>
            </a:r>
            <a:r>
              <a:rPr lang="it-IT" sz="2400" dirty="0"/>
              <a:t> </a:t>
            </a:r>
            <a:r>
              <a:rPr lang="it-IT" sz="2400" dirty="0" err="1"/>
              <a:t>associated</a:t>
            </a:r>
            <a:r>
              <a:rPr lang="it-IT" sz="2400" dirty="0"/>
              <a:t> to a </a:t>
            </a:r>
            <a:r>
              <a:rPr lang="it-IT" sz="2400" b="1" dirty="0"/>
              <a:t>clock</a:t>
            </a:r>
            <a:r>
              <a:rPr lang="it-IT" sz="2400" dirty="0"/>
              <a:t> or </a:t>
            </a:r>
            <a:r>
              <a:rPr lang="it-IT" sz="2400" dirty="0" err="1"/>
              <a:t>if</a:t>
            </a:r>
            <a:r>
              <a:rPr lang="it-IT" sz="2400" dirty="0"/>
              <a:t> </a:t>
            </a:r>
            <a:r>
              <a:rPr lang="it-IT" sz="2400" dirty="0" err="1"/>
              <a:t>they</a:t>
            </a:r>
            <a:r>
              <a:rPr lang="it-IT" sz="2400" dirty="0"/>
              <a:t> are </a:t>
            </a:r>
            <a:r>
              <a:rPr lang="it-IT" sz="2400" dirty="0" err="1"/>
              <a:t>actually</a:t>
            </a:r>
            <a:r>
              <a:rPr lang="it-IT" sz="2400" dirty="0"/>
              <a:t> </a:t>
            </a:r>
            <a:r>
              <a:rPr lang="it-IT" sz="2400" dirty="0" err="1"/>
              <a:t>about</a:t>
            </a:r>
            <a:r>
              <a:rPr lang="it-IT" sz="2400" dirty="0"/>
              <a:t> </a:t>
            </a:r>
            <a:r>
              <a:rPr lang="it-IT" sz="2400" b="1" dirty="0"/>
              <a:t>relative </a:t>
            </a:r>
            <a:r>
              <a:rPr lang="it-IT" sz="2400" b="1" dirty="0" err="1"/>
              <a:t>latency</a:t>
            </a:r>
            <a:r>
              <a:rPr lang="it-IT" sz="2400" b="1" dirty="0"/>
              <a:t>.</a:t>
            </a:r>
          </a:p>
        </p:txBody>
      </p:sp>
    </p:spTree>
    <p:extLst>
      <p:ext uri="{BB962C8B-B14F-4D97-AF65-F5344CB8AC3E}">
        <p14:creationId xmlns:p14="http://schemas.microsoft.com/office/powerpoint/2010/main" val="16374673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23"/>
          <p:cNvSpPr txBox="1">
            <a:spLocks noChangeArrowheads="1"/>
          </p:cNvSpPr>
          <p:nvPr/>
        </p:nvSpPr>
        <p:spPr bwMode="auto">
          <a:xfrm>
            <a:off x="214313" y="285750"/>
            <a:ext cx="86407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b="1" dirty="0">
                <a:solidFill>
                  <a:srgbClr val="FF0000"/>
                </a:solidFill>
                <a:latin typeface="Arial" charset="0"/>
              </a:rPr>
              <a:t>Defining temporal codes</a:t>
            </a:r>
            <a:endParaRPr lang="en-GB" b="1" dirty="0">
              <a:solidFill>
                <a:srgbClr val="FF9900"/>
              </a:solidFill>
              <a:latin typeface="Arial"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l="7513" r="9004" b="34692"/>
          <a:stretch>
            <a:fillRect/>
          </a:stretch>
        </p:blipFill>
        <p:spPr bwMode="auto">
          <a:xfrm>
            <a:off x="142843" y="1000108"/>
            <a:ext cx="8805149" cy="3786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3"/>
          <p:cNvSpPr txBox="1">
            <a:spLocks noChangeArrowheads="1"/>
          </p:cNvSpPr>
          <p:nvPr/>
        </p:nvSpPr>
        <p:spPr bwMode="auto">
          <a:xfrm>
            <a:off x="357158" y="5143512"/>
            <a:ext cx="86407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dirty="0">
                <a:latin typeface="Arial" charset="0"/>
              </a:rPr>
              <a:t>There is temporal coding if the timing of spikes carries information about stimuli that cannot be possibly extracted from simply counting the spikes in the response time window</a:t>
            </a:r>
          </a:p>
          <a:p>
            <a:endParaRPr lang="en-GB" b="1" dirty="0">
              <a:solidFill>
                <a:srgbClr val="FF9900"/>
              </a:solidFill>
              <a:latin typeface="Arial" charset="0"/>
            </a:endParaRPr>
          </a:p>
        </p:txBody>
      </p:sp>
      <p:sp>
        <p:nvSpPr>
          <p:cNvPr id="4" name="Ovale 3">
            <a:extLst>
              <a:ext uri="{FF2B5EF4-FFF2-40B4-BE49-F238E27FC236}">
                <a16:creationId xmlns:a16="http://schemas.microsoft.com/office/drawing/2014/main" id="{05ACB48F-1EE8-4E73-9691-B79800F642AA}"/>
              </a:ext>
            </a:extLst>
          </p:cNvPr>
          <p:cNvSpPr/>
          <p:nvPr/>
        </p:nvSpPr>
        <p:spPr>
          <a:xfrm>
            <a:off x="357158" y="1104605"/>
            <a:ext cx="4286850" cy="4815967"/>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it-IT" sz="2400" b="1" dirty="0"/>
              <a:t>The </a:t>
            </a:r>
            <a:r>
              <a:rPr lang="it-IT" sz="2400" b="1" dirty="0" err="1"/>
              <a:t>structure</a:t>
            </a:r>
            <a:r>
              <a:rPr lang="it-IT" sz="2400" b="1" dirty="0"/>
              <a:t> </a:t>
            </a:r>
            <a:r>
              <a:rPr lang="it-IT" sz="2400" dirty="0"/>
              <a:t>(</a:t>
            </a:r>
            <a:r>
              <a:rPr lang="it-IT" sz="2400" dirty="0" err="1"/>
              <a:t>not</a:t>
            </a:r>
            <a:r>
              <a:rPr lang="it-IT" sz="2400" dirty="0"/>
              <a:t> the </a:t>
            </a:r>
            <a:r>
              <a:rPr lang="it-IT" sz="2400" dirty="0" err="1"/>
              <a:t>distribution</a:t>
            </a:r>
            <a:r>
              <a:rPr lang="it-IT" sz="2400" dirty="0"/>
              <a:t>!) </a:t>
            </a:r>
            <a:r>
              <a:rPr lang="it-IT" sz="2400" b="1" dirty="0"/>
              <a:t>of the inter-spike </a:t>
            </a:r>
            <a:r>
              <a:rPr lang="it-IT" sz="2400" b="1" dirty="0" err="1"/>
              <a:t>intervals</a:t>
            </a:r>
            <a:r>
              <a:rPr lang="it-IT" sz="2400" b="1" dirty="0"/>
              <a:t> for a single </a:t>
            </a:r>
            <a:r>
              <a:rPr lang="it-IT" sz="2400" b="1" dirty="0" err="1"/>
              <a:t>neuron</a:t>
            </a:r>
            <a:r>
              <a:rPr lang="it-IT" sz="2400" b="1" dirty="0"/>
              <a:t> </a:t>
            </a:r>
            <a:r>
              <a:rPr lang="it-IT" sz="2400" dirty="0" err="1"/>
              <a:t>is</a:t>
            </a:r>
            <a:r>
              <a:rPr lang="it-IT" sz="2400" dirty="0"/>
              <a:t> the </a:t>
            </a:r>
            <a:r>
              <a:rPr lang="it-IT" sz="2400" dirty="0" err="1"/>
              <a:t>most</a:t>
            </a:r>
            <a:r>
              <a:rPr lang="it-IT" sz="2400" dirty="0"/>
              <a:t> </a:t>
            </a:r>
            <a:r>
              <a:rPr lang="it-IT" sz="2400" dirty="0" err="1"/>
              <a:t>relevant</a:t>
            </a:r>
            <a:r>
              <a:rPr lang="it-IT" sz="2400" dirty="0"/>
              <a:t> </a:t>
            </a:r>
            <a:r>
              <a:rPr lang="it-IT" sz="2400" b="1" dirty="0" err="1"/>
              <a:t>temporal</a:t>
            </a:r>
            <a:r>
              <a:rPr lang="it-IT" sz="2400" b="1" dirty="0"/>
              <a:t> code.</a:t>
            </a:r>
          </a:p>
          <a:p>
            <a:pPr algn="ctr"/>
            <a:r>
              <a:rPr lang="it-IT" sz="2400" dirty="0" err="1"/>
              <a:t>It</a:t>
            </a:r>
            <a:r>
              <a:rPr lang="it-IT" sz="2400" dirty="0"/>
              <a:t> </a:t>
            </a:r>
            <a:r>
              <a:rPr lang="it-IT" sz="2400" dirty="0" err="1"/>
              <a:t>is</a:t>
            </a:r>
            <a:r>
              <a:rPr lang="it-IT" sz="2400" dirty="0"/>
              <a:t> </a:t>
            </a:r>
            <a:r>
              <a:rPr lang="it-IT" sz="2400" dirty="0" err="1"/>
              <a:t>difficult</a:t>
            </a:r>
            <a:r>
              <a:rPr lang="it-IT" sz="2400" dirty="0"/>
              <a:t> to </a:t>
            </a:r>
            <a:r>
              <a:rPr lang="it-IT" sz="2400" dirty="0" err="1"/>
              <a:t>analyze</a:t>
            </a:r>
            <a:r>
              <a:rPr lang="it-IT" sz="2400" dirty="0"/>
              <a:t> due to the high </a:t>
            </a:r>
            <a:r>
              <a:rPr lang="it-IT" sz="2400" dirty="0" err="1"/>
              <a:t>dimensionality</a:t>
            </a:r>
            <a:r>
              <a:rPr lang="it-IT" sz="2400" dirty="0"/>
              <a:t>.</a:t>
            </a:r>
          </a:p>
        </p:txBody>
      </p:sp>
    </p:spTree>
    <p:extLst>
      <p:ext uri="{BB962C8B-B14F-4D97-AF65-F5344CB8AC3E}">
        <p14:creationId xmlns:p14="http://schemas.microsoft.com/office/powerpoint/2010/main" val="768221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7" descr="rast3"/>
          <p:cNvPicPr>
            <a:picLocks noChangeAspect="1" noChangeArrowheads="1"/>
          </p:cNvPicPr>
          <p:nvPr/>
        </p:nvPicPr>
        <p:blipFill>
          <a:blip r:embed="rId3">
            <a:extLst>
              <a:ext uri="{28A0092B-C50C-407E-A947-70E740481C1C}">
                <a14:useLocalDpi xmlns:a14="http://schemas.microsoft.com/office/drawing/2010/main" val="0"/>
              </a:ext>
            </a:extLst>
          </a:blip>
          <a:srcRect l="10255" t="3419" r="5128" b="7669"/>
          <a:stretch>
            <a:fillRect/>
          </a:stretch>
        </p:blipFill>
        <p:spPr bwMode="auto">
          <a:xfrm>
            <a:off x="6143625" y="2786063"/>
            <a:ext cx="2719388"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Text Box 8"/>
          <p:cNvSpPr txBox="1">
            <a:spLocks noChangeArrowheads="1"/>
          </p:cNvSpPr>
          <p:nvPr/>
        </p:nvSpPr>
        <p:spPr bwMode="auto">
          <a:xfrm>
            <a:off x="6643688" y="2286000"/>
            <a:ext cx="952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b">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2000" b="1">
                <a:solidFill>
                  <a:srgbClr val="FF0000"/>
                </a:solidFill>
                <a:latin typeface="Arial" charset="0"/>
              </a:rPr>
              <a:t>Stim 3</a:t>
            </a:r>
            <a:endParaRPr lang="en-US" sz="2000">
              <a:solidFill>
                <a:srgbClr val="FF0000"/>
              </a:solidFill>
              <a:latin typeface="Arial" charset="0"/>
            </a:endParaRPr>
          </a:p>
        </p:txBody>
      </p:sp>
      <p:pic>
        <p:nvPicPr>
          <p:cNvPr id="49156" name="Picture 11" descr="rast1"/>
          <p:cNvPicPr>
            <a:picLocks noChangeAspect="1" noChangeArrowheads="1"/>
          </p:cNvPicPr>
          <p:nvPr/>
        </p:nvPicPr>
        <p:blipFill>
          <a:blip r:embed="rId4">
            <a:extLst>
              <a:ext uri="{28A0092B-C50C-407E-A947-70E740481C1C}">
                <a14:useLocalDpi xmlns:a14="http://schemas.microsoft.com/office/drawing/2010/main" val="0"/>
              </a:ext>
            </a:extLst>
          </a:blip>
          <a:srcRect l="8842" t="2950" r="7133" b="8585"/>
          <a:stretch>
            <a:fillRect/>
          </a:stretch>
        </p:blipFill>
        <p:spPr bwMode="auto">
          <a:xfrm>
            <a:off x="285750" y="2714625"/>
            <a:ext cx="27146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Text Box 12"/>
          <p:cNvSpPr txBox="1">
            <a:spLocks noChangeArrowheads="1"/>
          </p:cNvSpPr>
          <p:nvPr/>
        </p:nvSpPr>
        <p:spPr bwMode="auto">
          <a:xfrm>
            <a:off x="1285875" y="2286000"/>
            <a:ext cx="952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b">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2000" b="1">
                <a:solidFill>
                  <a:srgbClr val="FF0000"/>
                </a:solidFill>
                <a:latin typeface="Arial" charset="0"/>
              </a:rPr>
              <a:t>Stim 1</a:t>
            </a:r>
            <a:endParaRPr lang="en-US" sz="2000">
              <a:solidFill>
                <a:srgbClr val="FF0000"/>
              </a:solidFill>
              <a:latin typeface="Arial" charset="0"/>
            </a:endParaRPr>
          </a:p>
        </p:txBody>
      </p:sp>
      <p:grpSp>
        <p:nvGrpSpPr>
          <p:cNvPr id="2" name="Group 14"/>
          <p:cNvGrpSpPr>
            <a:grpSpLocks/>
          </p:cNvGrpSpPr>
          <p:nvPr/>
        </p:nvGrpSpPr>
        <p:grpSpPr bwMode="auto">
          <a:xfrm>
            <a:off x="3071813" y="4929188"/>
            <a:ext cx="3357562" cy="714375"/>
            <a:chOff x="1220" y="3642"/>
            <a:chExt cx="1372" cy="356"/>
          </a:xfrm>
        </p:grpSpPr>
        <p:sp>
          <p:nvSpPr>
            <p:cNvPr id="49162" name="Rectangle 15"/>
            <p:cNvSpPr>
              <a:spLocks noChangeArrowheads="1"/>
            </p:cNvSpPr>
            <p:nvPr/>
          </p:nvSpPr>
          <p:spPr bwMode="auto">
            <a:xfrm>
              <a:off x="1220" y="3825"/>
              <a:ext cx="10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sz="1200" b="1">
                  <a:solidFill>
                    <a:schemeClr val="tx2"/>
                  </a:solidFill>
                  <a:latin typeface="Helvetica" pitchFamily="-111" charset="0"/>
                </a:rPr>
                <a:t>Peri-stim Time (ms)</a:t>
              </a:r>
            </a:p>
          </p:txBody>
        </p:sp>
        <p:sp>
          <p:nvSpPr>
            <p:cNvPr id="49163" name="Rectangle 16"/>
            <p:cNvSpPr>
              <a:spLocks noChangeArrowheads="1"/>
            </p:cNvSpPr>
            <p:nvPr/>
          </p:nvSpPr>
          <p:spPr bwMode="auto">
            <a:xfrm>
              <a:off x="1577" y="3642"/>
              <a:ext cx="1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sz="1200" b="1">
                  <a:solidFill>
                    <a:schemeClr val="tx2"/>
                  </a:solidFill>
                  <a:latin typeface="Helvetica" pitchFamily="-111" charset="0"/>
                </a:rPr>
                <a:t>0</a:t>
              </a:r>
            </a:p>
          </p:txBody>
        </p:sp>
        <p:sp>
          <p:nvSpPr>
            <p:cNvPr id="49164" name="Rectangle 17"/>
            <p:cNvSpPr>
              <a:spLocks noChangeArrowheads="1"/>
            </p:cNvSpPr>
            <p:nvPr/>
          </p:nvSpPr>
          <p:spPr bwMode="auto">
            <a:xfrm>
              <a:off x="2273" y="3654"/>
              <a:ext cx="31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sz="1200" b="1">
                  <a:solidFill>
                    <a:srgbClr val="333300"/>
                  </a:solidFill>
                  <a:latin typeface="Helvetica" pitchFamily="-111" charset="0"/>
                </a:rPr>
                <a:t>40</a:t>
              </a:r>
            </a:p>
          </p:txBody>
        </p:sp>
      </p:grpSp>
      <p:pic>
        <p:nvPicPr>
          <p:cNvPr id="49159" name="Picture 21" descr="rast2"/>
          <p:cNvPicPr>
            <a:picLocks noChangeAspect="1" noChangeArrowheads="1"/>
          </p:cNvPicPr>
          <p:nvPr/>
        </p:nvPicPr>
        <p:blipFill>
          <a:blip r:embed="rId5">
            <a:extLst>
              <a:ext uri="{28A0092B-C50C-407E-A947-70E740481C1C}">
                <a14:useLocalDpi xmlns:a14="http://schemas.microsoft.com/office/drawing/2010/main" val="0"/>
              </a:ext>
            </a:extLst>
          </a:blip>
          <a:srcRect l="8696" t="5798" r="4349" b="7224"/>
          <a:stretch>
            <a:fillRect/>
          </a:stretch>
        </p:blipFill>
        <p:spPr bwMode="auto">
          <a:xfrm>
            <a:off x="3143250" y="2786063"/>
            <a:ext cx="28575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0" name="Text Box 22"/>
          <p:cNvSpPr txBox="1">
            <a:spLocks noChangeArrowheads="1"/>
          </p:cNvSpPr>
          <p:nvPr/>
        </p:nvSpPr>
        <p:spPr bwMode="auto">
          <a:xfrm>
            <a:off x="4071938" y="2286000"/>
            <a:ext cx="952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b">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2000" b="1">
                <a:solidFill>
                  <a:srgbClr val="FF0000"/>
                </a:solidFill>
                <a:latin typeface="Arial" charset="0"/>
              </a:rPr>
              <a:t>Stim 2</a:t>
            </a:r>
            <a:endParaRPr lang="en-US" sz="2000">
              <a:solidFill>
                <a:srgbClr val="FF0000"/>
              </a:solidFill>
              <a:latin typeface="Arial" charset="0"/>
            </a:endParaRPr>
          </a:p>
        </p:txBody>
      </p:sp>
      <p:sp>
        <p:nvSpPr>
          <p:cNvPr id="49161" name="Text Box 23"/>
          <p:cNvSpPr txBox="1">
            <a:spLocks noChangeArrowheads="1"/>
          </p:cNvSpPr>
          <p:nvPr/>
        </p:nvSpPr>
        <p:spPr bwMode="auto">
          <a:xfrm>
            <a:off x="214313" y="285750"/>
            <a:ext cx="8640762"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b="1">
                <a:solidFill>
                  <a:srgbClr val="FF0000"/>
                </a:solidFill>
                <a:latin typeface="Arial" charset="0"/>
              </a:rPr>
              <a:t>Temporal precision of neural codes</a:t>
            </a:r>
          </a:p>
          <a:p>
            <a:endParaRPr lang="en-GB" b="1">
              <a:solidFill>
                <a:srgbClr val="FF9900"/>
              </a:solidFill>
              <a:latin typeface="Arial" charset="0"/>
            </a:endParaRPr>
          </a:p>
          <a:p>
            <a:r>
              <a:rPr lang="en-GB" sz="2200" b="1">
                <a:latin typeface="Arial" charset="0"/>
              </a:rPr>
              <a:t>What is the minimal temporal precision with which we need to register the spikes in order to obtain as much information as possible about the stimuli?</a:t>
            </a:r>
          </a:p>
        </p:txBody>
      </p:sp>
    </p:spTree>
    <p:extLst>
      <p:ext uri="{BB962C8B-B14F-4D97-AF65-F5344CB8AC3E}">
        <p14:creationId xmlns:p14="http://schemas.microsoft.com/office/powerpoint/2010/main" val="126862888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120900" y="2217738"/>
            <a:ext cx="3232150" cy="2563812"/>
            <a:chOff x="1336" y="1397"/>
            <a:chExt cx="2036" cy="1615"/>
          </a:xfrm>
        </p:grpSpPr>
        <p:grpSp>
          <p:nvGrpSpPr>
            <p:cNvPr id="3" name="Group 3"/>
            <p:cNvGrpSpPr>
              <a:grpSpLocks/>
            </p:cNvGrpSpPr>
            <p:nvPr/>
          </p:nvGrpSpPr>
          <p:grpSpPr bwMode="auto">
            <a:xfrm>
              <a:off x="1336" y="1397"/>
              <a:ext cx="2036" cy="1453"/>
              <a:chOff x="1336" y="1397"/>
              <a:chExt cx="2036" cy="1453"/>
            </a:xfrm>
          </p:grpSpPr>
          <p:sp>
            <p:nvSpPr>
              <p:cNvPr id="6186" name="Line 4"/>
              <p:cNvSpPr>
                <a:spLocks noChangeShapeType="1"/>
              </p:cNvSpPr>
              <p:nvPr/>
            </p:nvSpPr>
            <p:spPr bwMode="auto">
              <a:xfrm>
                <a:off x="1336" y="2204"/>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87" name="Line 5"/>
              <p:cNvSpPr>
                <a:spLocks noChangeShapeType="1"/>
              </p:cNvSpPr>
              <p:nvPr/>
            </p:nvSpPr>
            <p:spPr bwMode="auto">
              <a:xfrm>
                <a:off x="1336" y="2850"/>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88" name="Line 6"/>
              <p:cNvSpPr>
                <a:spLocks noChangeShapeType="1"/>
              </p:cNvSpPr>
              <p:nvPr/>
            </p:nvSpPr>
            <p:spPr bwMode="auto">
              <a:xfrm>
                <a:off x="1336" y="2689"/>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89" name="Line 7"/>
              <p:cNvSpPr>
                <a:spLocks noChangeShapeType="1"/>
              </p:cNvSpPr>
              <p:nvPr/>
            </p:nvSpPr>
            <p:spPr bwMode="auto">
              <a:xfrm>
                <a:off x="1336" y="2527"/>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90" name="Line 8"/>
              <p:cNvSpPr>
                <a:spLocks noChangeShapeType="1"/>
              </p:cNvSpPr>
              <p:nvPr/>
            </p:nvSpPr>
            <p:spPr bwMode="auto">
              <a:xfrm>
                <a:off x="1336" y="2366"/>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91" name="Line 9"/>
              <p:cNvSpPr>
                <a:spLocks noChangeShapeType="1"/>
              </p:cNvSpPr>
              <p:nvPr/>
            </p:nvSpPr>
            <p:spPr bwMode="auto">
              <a:xfrm>
                <a:off x="1336" y="2043"/>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92" name="Line 10"/>
              <p:cNvSpPr>
                <a:spLocks noChangeShapeType="1"/>
              </p:cNvSpPr>
              <p:nvPr/>
            </p:nvSpPr>
            <p:spPr bwMode="auto">
              <a:xfrm>
                <a:off x="1336" y="1881"/>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93" name="Line 11"/>
              <p:cNvSpPr>
                <a:spLocks noChangeShapeType="1"/>
              </p:cNvSpPr>
              <p:nvPr/>
            </p:nvSpPr>
            <p:spPr bwMode="auto">
              <a:xfrm>
                <a:off x="1336" y="1720"/>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94" name="Line 12"/>
              <p:cNvSpPr>
                <a:spLocks noChangeShapeType="1"/>
              </p:cNvSpPr>
              <p:nvPr/>
            </p:nvSpPr>
            <p:spPr bwMode="auto">
              <a:xfrm>
                <a:off x="1336" y="1558"/>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95" name="Line 13"/>
              <p:cNvSpPr>
                <a:spLocks noChangeShapeType="1"/>
              </p:cNvSpPr>
              <p:nvPr/>
            </p:nvSpPr>
            <p:spPr bwMode="auto">
              <a:xfrm>
                <a:off x="1336" y="1397"/>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grpSp>
        <p:sp>
          <p:nvSpPr>
            <p:cNvPr id="6185" name="Line 14"/>
            <p:cNvSpPr>
              <a:spLocks noChangeShapeType="1"/>
            </p:cNvSpPr>
            <p:nvPr/>
          </p:nvSpPr>
          <p:spPr bwMode="auto">
            <a:xfrm>
              <a:off x="1336" y="3012"/>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grpSp>
      <p:graphicFrame>
        <p:nvGraphicFramePr>
          <p:cNvPr id="6146" name="Object 15"/>
          <p:cNvGraphicFramePr>
            <a:graphicFrameLocks noChangeAspect="1"/>
          </p:cNvGraphicFramePr>
          <p:nvPr/>
        </p:nvGraphicFramePr>
        <p:xfrm>
          <a:off x="1609725" y="1360488"/>
          <a:ext cx="4321175" cy="3221037"/>
        </p:xfrm>
        <a:graphic>
          <a:graphicData uri="http://schemas.openxmlformats.org/presentationml/2006/ole">
            <mc:AlternateContent xmlns:mc="http://schemas.openxmlformats.org/markup-compatibility/2006">
              <mc:Choice xmlns:v="urn:schemas-microsoft-com:vml" Requires="v">
                <p:oleObj name="Image" r:id="rId3" imgW="4320508" imgH="3545358" progId="">
                  <p:embed/>
                </p:oleObj>
              </mc:Choice>
              <mc:Fallback>
                <p:oleObj name="Image" r:id="rId3" imgW="4320508" imgH="3545358" progId="">
                  <p:embed/>
                  <p:pic>
                    <p:nvPicPr>
                      <p:cNvPr id="6146" name="Object 15"/>
                      <p:cNvPicPr>
                        <a:picLocks noChangeAspect="1" noChangeArrowheads="1"/>
                      </p:cNvPicPr>
                      <p:nvPr/>
                    </p:nvPicPr>
                    <p:blipFill>
                      <a:blip r:embed="rId4">
                        <a:extLst>
                          <a:ext uri="{28A0092B-C50C-407E-A947-70E740481C1C}">
                            <a14:useLocalDpi xmlns:a14="http://schemas.microsoft.com/office/drawing/2010/main" val="0"/>
                          </a:ext>
                        </a:extLst>
                      </a:blip>
                      <a:srcRect t="9135"/>
                      <a:stretch>
                        <a:fillRect/>
                      </a:stretch>
                    </p:blipFill>
                    <p:spPr bwMode="auto">
                      <a:xfrm>
                        <a:off x="1609725" y="1360488"/>
                        <a:ext cx="4321175" cy="322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8" name="Text Box 16"/>
          <p:cNvSpPr txBox="1">
            <a:spLocks noChangeArrowheads="1"/>
          </p:cNvSpPr>
          <p:nvPr/>
        </p:nvSpPr>
        <p:spPr bwMode="auto">
          <a:xfrm rot="-5400000">
            <a:off x="635794" y="2531269"/>
            <a:ext cx="14747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b="1">
                <a:latin typeface="Arial" charset="0"/>
              </a:rPr>
              <a:t>Stimulus trial</a:t>
            </a:r>
          </a:p>
        </p:txBody>
      </p:sp>
      <p:sp>
        <p:nvSpPr>
          <p:cNvPr id="6149" name="Text Box 17"/>
          <p:cNvSpPr txBox="1">
            <a:spLocks noChangeArrowheads="1"/>
          </p:cNvSpPr>
          <p:nvPr/>
        </p:nvSpPr>
        <p:spPr bwMode="auto">
          <a:xfrm>
            <a:off x="2962275" y="4752975"/>
            <a:ext cx="2005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b="1">
                <a:latin typeface="Arial" charset="0"/>
              </a:rPr>
              <a:t>Post-stimulus time</a:t>
            </a:r>
          </a:p>
        </p:txBody>
      </p:sp>
      <p:sp>
        <p:nvSpPr>
          <p:cNvPr id="6150" name="Line 18"/>
          <p:cNvSpPr>
            <a:spLocks noChangeShapeType="1"/>
          </p:cNvSpPr>
          <p:nvPr/>
        </p:nvSpPr>
        <p:spPr bwMode="auto">
          <a:xfrm flipV="1">
            <a:off x="4076700" y="1435100"/>
            <a:ext cx="0" cy="2819400"/>
          </a:xfrm>
          <a:prstGeom prst="line">
            <a:avLst/>
          </a:prstGeom>
          <a:noFill/>
          <a:ln w="22225" cap="rnd">
            <a:solidFill>
              <a:srgbClr val="FF33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grpSp>
        <p:nvGrpSpPr>
          <p:cNvPr id="4" name="Group 19"/>
          <p:cNvGrpSpPr>
            <a:grpSpLocks/>
          </p:cNvGrpSpPr>
          <p:nvPr/>
        </p:nvGrpSpPr>
        <p:grpSpPr bwMode="auto">
          <a:xfrm>
            <a:off x="3751263" y="1435100"/>
            <a:ext cx="650875" cy="2819400"/>
            <a:chOff x="2355" y="1332"/>
            <a:chExt cx="410" cy="1776"/>
          </a:xfrm>
        </p:grpSpPr>
        <p:sp>
          <p:nvSpPr>
            <p:cNvPr id="6182" name="Line 20"/>
            <p:cNvSpPr>
              <a:spLocks noChangeShapeType="1"/>
            </p:cNvSpPr>
            <p:nvPr/>
          </p:nvSpPr>
          <p:spPr bwMode="auto">
            <a:xfrm flipV="1">
              <a:off x="2355" y="1332"/>
              <a:ext cx="0" cy="1776"/>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6183" name="Line 21"/>
            <p:cNvSpPr>
              <a:spLocks noChangeShapeType="1"/>
            </p:cNvSpPr>
            <p:nvPr/>
          </p:nvSpPr>
          <p:spPr bwMode="auto">
            <a:xfrm flipV="1">
              <a:off x="2765" y="1332"/>
              <a:ext cx="0" cy="1776"/>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it-IT"/>
            </a:p>
          </p:txBody>
        </p:sp>
      </p:grpSp>
      <p:grpSp>
        <p:nvGrpSpPr>
          <p:cNvPr id="5" name="Group 22"/>
          <p:cNvGrpSpPr>
            <a:grpSpLocks/>
          </p:cNvGrpSpPr>
          <p:nvPr/>
        </p:nvGrpSpPr>
        <p:grpSpPr bwMode="auto">
          <a:xfrm>
            <a:off x="6108700" y="646113"/>
            <a:ext cx="690563" cy="3582987"/>
            <a:chOff x="3840" y="835"/>
            <a:chExt cx="435" cy="2257"/>
          </a:xfrm>
        </p:grpSpPr>
        <p:sp>
          <p:nvSpPr>
            <p:cNvPr id="6170" name="Text Box 23"/>
            <p:cNvSpPr txBox="1">
              <a:spLocks noChangeArrowheads="1"/>
            </p:cNvSpPr>
            <p:nvPr/>
          </p:nvSpPr>
          <p:spPr bwMode="auto">
            <a:xfrm>
              <a:off x="3955" y="288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6171" name="Text Box 24"/>
            <p:cNvSpPr txBox="1">
              <a:spLocks noChangeArrowheads="1"/>
            </p:cNvSpPr>
            <p:nvPr/>
          </p:nvSpPr>
          <p:spPr bwMode="auto">
            <a:xfrm>
              <a:off x="3955" y="272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6172" name="Text Box 25"/>
            <p:cNvSpPr txBox="1">
              <a:spLocks noChangeArrowheads="1"/>
            </p:cNvSpPr>
            <p:nvPr/>
          </p:nvSpPr>
          <p:spPr bwMode="auto">
            <a:xfrm>
              <a:off x="3955" y="256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6173" name="Text Box 26"/>
            <p:cNvSpPr txBox="1">
              <a:spLocks noChangeArrowheads="1"/>
            </p:cNvSpPr>
            <p:nvPr/>
          </p:nvSpPr>
          <p:spPr bwMode="auto">
            <a:xfrm>
              <a:off x="3955" y="240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6174" name="Text Box 27"/>
            <p:cNvSpPr txBox="1">
              <a:spLocks noChangeArrowheads="1"/>
            </p:cNvSpPr>
            <p:nvPr/>
          </p:nvSpPr>
          <p:spPr bwMode="auto">
            <a:xfrm>
              <a:off x="3955" y="224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2</a:t>
              </a:r>
            </a:p>
          </p:txBody>
        </p:sp>
        <p:sp>
          <p:nvSpPr>
            <p:cNvPr id="6175" name="Text Box 28"/>
            <p:cNvSpPr txBox="1">
              <a:spLocks noChangeArrowheads="1"/>
            </p:cNvSpPr>
            <p:nvPr/>
          </p:nvSpPr>
          <p:spPr bwMode="auto">
            <a:xfrm>
              <a:off x="3955" y="207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6176" name="Text Box 29"/>
            <p:cNvSpPr txBox="1">
              <a:spLocks noChangeArrowheads="1"/>
            </p:cNvSpPr>
            <p:nvPr/>
          </p:nvSpPr>
          <p:spPr bwMode="auto">
            <a:xfrm>
              <a:off x="3955" y="191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6177" name="Text Box 30"/>
            <p:cNvSpPr txBox="1">
              <a:spLocks noChangeArrowheads="1"/>
            </p:cNvSpPr>
            <p:nvPr/>
          </p:nvSpPr>
          <p:spPr bwMode="auto">
            <a:xfrm>
              <a:off x="3955" y="175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6178" name="Text Box 31"/>
            <p:cNvSpPr txBox="1">
              <a:spLocks noChangeArrowheads="1"/>
            </p:cNvSpPr>
            <p:nvPr/>
          </p:nvSpPr>
          <p:spPr bwMode="auto">
            <a:xfrm>
              <a:off x="3955" y="159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6179" name="Text Box 32"/>
            <p:cNvSpPr txBox="1">
              <a:spLocks noChangeArrowheads="1"/>
            </p:cNvSpPr>
            <p:nvPr/>
          </p:nvSpPr>
          <p:spPr bwMode="auto">
            <a:xfrm>
              <a:off x="3955" y="143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6180" name="Text Box 33"/>
            <p:cNvSpPr txBox="1">
              <a:spLocks noChangeArrowheads="1"/>
            </p:cNvSpPr>
            <p:nvPr/>
          </p:nvSpPr>
          <p:spPr bwMode="auto">
            <a:xfrm>
              <a:off x="3955" y="1278"/>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6181" name="Text Box 34"/>
            <p:cNvSpPr txBox="1">
              <a:spLocks noChangeArrowheads="1"/>
            </p:cNvSpPr>
            <p:nvPr/>
          </p:nvSpPr>
          <p:spPr bwMode="auto">
            <a:xfrm>
              <a:off x="3840" y="835"/>
              <a:ext cx="43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Spike</a:t>
              </a:r>
            </a:p>
            <a:p>
              <a:r>
                <a:rPr lang="en-US" sz="1600">
                  <a:latin typeface="Arial" charset="0"/>
                </a:rPr>
                <a:t>count</a:t>
              </a:r>
            </a:p>
          </p:txBody>
        </p:sp>
      </p:grpSp>
      <p:grpSp>
        <p:nvGrpSpPr>
          <p:cNvPr id="6" name="Group 35"/>
          <p:cNvGrpSpPr>
            <a:grpSpLocks/>
          </p:cNvGrpSpPr>
          <p:nvPr/>
        </p:nvGrpSpPr>
        <p:grpSpPr bwMode="auto">
          <a:xfrm>
            <a:off x="7135813" y="647700"/>
            <a:ext cx="725487" cy="3581400"/>
            <a:chOff x="4487" y="836"/>
            <a:chExt cx="457" cy="2256"/>
          </a:xfrm>
        </p:grpSpPr>
        <p:sp>
          <p:nvSpPr>
            <p:cNvPr id="6158" name="Text Box 36"/>
            <p:cNvSpPr txBox="1">
              <a:spLocks noChangeArrowheads="1"/>
            </p:cNvSpPr>
            <p:nvPr/>
          </p:nvSpPr>
          <p:spPr bwMode="auto">
            <a:xfrm>
              <a:off x="4537" y="2880"/>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 00</a:t>
              </a:r>
            </a:p>
          </p:txBody>
        </p:sp>
        <p:sp>
          <p:nvSpPr>
            <p:cNvPr id="6159" name="Text Box 37"/>
            <p:cNvSpPr txBox="1">
              <a:spLocks noChangeArrowheads="1"/>
            </p:cNvSpPr>
            <p:nvPr/>
          </p:nvSpPr>
          <p:spPr bwMode="auto">
            <a:xfrm>
              <a:off x="4537" y="2720"/>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 00</a:t>
              </a:r>
            </a:p>
          </p:txBody>
        </p:sp>
        <p:sp>
          <p:nvSpPr>
            <p:cNvPr id="6160" name="Text Box 38"/>
            <p:cNvSpPr txBox="1">
              <a:spLocks noChangeArrowheads="1"/>
            </p:cNvSpPr>
            <p:nvPr/>
          </p:nvSpPr>
          <p:spPr bwMode="auto">
            <a:xfrm>
              <a:off x="4537" y="2560"/>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1600">
                  <a:latin typeface="Arial" charset="0"/>
                </a:rPr>
                <a:t> 10</a:t>
              </a:r>
              <a:endParaRPr lang="en-US" sz="1600">
                <a:latin typeface="Arial" charset="0"/>
              </a:endParaRPr>
            </a:p>
          </p:txBody>
        </p:sp>
        <p:sp>
          <p:nvSpPr>
            <p:cNvPr id="6161" name="Text Box 39"/>
            <p:cNvSpPr txBox="1">
              <a:spLocks noChangeArrowheads="1"/>
            </p:cNvSpPr>
            <p:nvPr/>
          </p:nvSpPr>
          <p:spPr bwMode="auto">
            <a:xfrm>
              <a:off x="4537" y="2400"/>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 00</a:t>
              </a:r>
            </a:p>
          </p:txBody>
        </p:sp>
        <p:sp>
          <p:nvSpPr>
            <p:cNvPr id="6162" name="Text Box 40"/>
            <p:cNvSpPr txBox="1">
              <a:spLocks noChangeArrowheads="1"/>
            </p:cNvSpPr>
            <p:nvPr/>
          </p:nvSpPr>
          <p:spPr bwMode="auto">
            <a:xfrm>
              <a:off x="4537" y="2240"/>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1600">
                  <a:latin typeface="Arial" charset="0"/>
                </a:rPr>
                <a:t> 20</a:t>
              </a:r>
              <a:endParaRPr lang="en-US" sz="1600">
                <a:latin typeface="Arial" charset="0"/>
              </a:endParaRPr>
            </a:p>
          </p:txBody>
        </p:sp>
        <p:sp>
          <p:nvSpPr>
            <p:cNvPr id="6163" name="Text Box 41"/>
            <p:cNvSpPr txBox="1">
              <a:spLocks noChangeArrowheads="1"/>
            </p:cNvSpPr>
            <p:nvPr/>
          </p:nvSpPr>
          <p:spPr bwMode="auto">
            <a:xfrm>
              <a:off x="4537" y="2079"/>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 01</a:t>
              </a:r>
            </a:p>
          </p:txBody>
        </p:sp>
        <p:sp>
          <p:nvSpPr>
            <p:cNvPr id="6164" name="Text Box 42"/>
            <p:cNvSpPr txBox="1">
              <a:spLocks noChangeArrowheads="1"/>
            </p:cNvSpPr>
            <p:nvPr/>
          </p:nvSpPr>
          <p:spPr bwMode="auto">
            <a:xfrm>
              <a:off x="4537" y="1919"/>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 00</a:t>
              </a:r>
            </a:p>
          </p:txBody>
        </p:sp>
        <p:sp>
          <p:nvSpPr>
            <p:cNvPr id="6165" name="Text Box 43"/>
            <p:cNvSpPr txBox="1">
              <a:spLocks noChangeArrowheads="1"/>
            </p:cNvSpPr>
            <p:nvPr/>
          </p:nvSpPr>
          <p:spPr bwMode="auto">
            <a:xfrm>
              <a:off x="4537" y="1759"/>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 10</a:t>
              </a:r>
            </a:p>
          </p:txBody>
        </p:sp>
        <p:sp>
          <p:nvSpPr>
            <p:cNvPr id="6166" name="Text Box 44"/>
            <p:cNvSpPr txBox="1">
              <a:spLocks noChangeArrowheads="1"/>
            </p:cNvSpPr>
            <p:nvPr/>
          </p:nvSpPr>
          <p:spPr bwMode="auto">
            <a:xfrm>
              <a:off x="4537" y="1599"/>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 10</a:t>
              </a:r>
            </a:p>
          </p:txBody>
        </p:sp>
        <p:sp>
          <p:nvSpPr>
            <p:cNvPr id="6167" name="Text Box 45"/>
            <p:cNvSpPr txBox="1">
              <a:spLocks noChangeArrowheads="1"/>
            </p:cNvSpPr>
            <p:nvPr/>
          </p:nvSpPr>
          <p:spPr bwMode="auto">
            <a:xfrm>
              <a:off x="4537" y="1439"/>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 10</a:t>
              </a:r>
            </a:p>
          </p:txBody>
        </p:sp>
        <p:sp>
          <p:nvSpPr>
            <p:cNvPr id="6168" name="Text Box 46"/>
            <p:cNvSpPr txBox="1">
              <a:spLocks noChangeArrowheads="1"/>
            </p:cNvSpPr>
            <p:nvPr/>
          </p:nvSpPr>
          <p:spPr bwMode="auto">
            <a:xfrm>
              <a:off x="4537" y="1278"/>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1600">
                  <a:latin typeface="Arial" charset="0"/>
                </a:rPr>
                <a:t> 01</a:t>
              </a:r>
              <a:endParaRPr lang="en-US" sz="1600">
                <a:latin typeface="Arial" charset="0"/>
              </a:endParaRPr>
            </a:p>
          </p:txBody>
        </p:sp>
        <p:sp>
          <p:nvSpPr>
            <p:cNvPr id="6169" name="Text Box 47"/>
            <p:cNvSpPr txBox="1">
              <a:spLocks noChangeArrowheads="1"/>
            </p:cNvSpPr>
            <p:nvPr/>
          </p:nvSpPr>
          <p:spPr bwMode="auto">
            <a:xfrm>
              <a:off x="4487" y="836"/>
              <a:ext cx="45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Spike</a:t>
              </a:r>
            </a:p>
            <a:p>
              <a:r>
                <a:rPr lang="en-US" sz="1600">
                  <a:latin typeface="Arial" charset="0"/>
                </a:rPr>
                <a:t>timing</a:t>
              </a:r>
            </a:p>
          </p:txBody>
        </p:sp>
      </p:grpSp>
      <p:sp>
        <p:nvSpPr>
          <p:cNvPr id="6154" name="Text Box 48"/>
          <p:cNvSpPr txBox="1">
            <a:spLocks noChangeArrowheads="1"/>
          </p:cNvSpPr>
          <p:nvPr/>
        </p:nvSpPr>
        <p:spPr bwMode="auto">
          <a:xfrm>
            <a:off x="4206875" y="414496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1800">
                <a:solidFill>
                  <a:schemeClr val="tx2"/>
                </a:solidFill>
                <a:latin typeface="Arial" charset="0"/>
              </a:rPr>
              <a:t>40</a:t>
            </a:r>
            <a:endParaRPr lang="en-US" sz="1800">
              <a:solidFill>
                <a:schemeClr val="tx2"/>
              </a:solidFill>
              <a:latin typeface="Arial" charset="0"/>
            </a:endParaRPr>
          </a:p>
        </p:txBody>
      </p:sp>
      <p:sp>
        <p:nvSpPr>
          <p:cNvPr id="6155" name="Text Box 49"/>
          <p:cNvSpPr txBox="1">
            <a:spLocks noChangeArrowheads="1"/>
          </p:cNvSpPr>
          <p:nvPr/>
        </p:nvSpPr>
        <p:spPr bwMode="auto">
          <a:xfrm>
            <a:off x="428625" y="5386388"/>
            <a:ext cx="670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l-GR">
                <a:solidFill>
                  <a:schemeClr val="bg1"/>
                </a:solidFill>
                <a:latin typeface="Arial" charset="0"/>
                <a:cs typeface="Arial" charset="0"/>
              </a:rPr>
              <a:t>Δ</a:t>
            </a:r>
            <a:r>
              <a:rPr lang="cy-GB">
                <a:solidFill>
                  <a:schemeClr val="bg1"/>
                </a:solidFill>
                <a:latin typeface="Arial" charset="0"/>
                <a:cs typeface="Arial" charset="0"/>
              </a:rPr>
              <a:t>T = temporal precision in registering the spikes</a:t>
            </a:r>
          </a:p>
        </p:txBody>
      </p:sp>
      <p:sp>
        <p:nvSpPr>
          <p:cNvPr id="6156" name="Text Box 50"/>
          <p:cNvSpPr txBox="1">
            <a:spLocks noChangeArrowheads="1"/>
          </p:cNvSpPr>
          <p:nvPr/>
        </p:nvSpPr>
        <p:spPr bwMode="auto">
          <a:xfrm>
            <a:off x="428625" y="5386388"/>
            <a:ext cx="670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l-GR">
                <a:latin typeface="Arial" charset="0"/>
                <a:cs typeface="Arial" charset="0"/>
              </a:rPr>
              <a:t>Δ</a:t>
            </a:r>
            <a:r>
              <a:rPr lang="cy-GB">
                <a:latin typeface="Arial" charset="0"/>
                <a:cs typeface="Arial" charset="0"/>
              </a:rPr>
              <a:t>T = temporal precision in registering the spikes</a:t>
            </a:r>
          </a:p>
        </p:txBody>
      </p:sp>
      <p:sp>
        <p:nvSpPr>
          <p:cNvPr id="6157" name="Text Box 51"/>
          <p:cNvSpPr txBox="1">
            <a:spLocks noChangeArrowheads="1"/>
          </p:cNvSpPr>
          <p:nvPr/>
        </p:nvSpPr>
        <p:spPr bwMode="auto">
          <a:xfrm>
            <a:off x="7032625" y="315913"/>
            <a:ext cx="11255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l-GR" sz="1400" b="1">
                <a:solidFill>
                  <a:srgbClr val="FF0000"/>
                </a:solidFill>
                <a:latin typeface="Arial" charset="0"/>
                <a:cs typeface="Arial" charset="0"/>
              </a:rPr>
              <a:t>Δ</a:t>
            </a:r>
            <a:r>
              <a:rPr lang="cy-GB" sz="1400" b="1">
                <a:solidFill>
                  <a:srgbClr val="FF0000"/>
                </a:solidFill>
                <a:latin typeface="Arial" charset="0"/>
              </a:rPr>
              <a:t>T = 20 ms</a:t>
            </a:r>
            <a:endParaRPr lang="en-US" sz="1400" b="1">
              <a:solidFill>
                <a:srgbClr val="FF0000"/>
              </a:solidFill>
              <a:latin typeface="Arial" charset="0"/>
            </a:endParaRPr>
          </a:p>
        </p:txBody>
      </p:sp>
    </p:spTree>
    <p:extLst>
      <p:ext uri="{BB962C8B-B14F-4D97-AF65-F5344CB8AC3E}">
        <p14:creationId xmlns:p14="http://schemas.microsoft.com/office/powerpoint/2010/main" val="408483131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120900" y="2217738"/>
            <a:ext cx="3232150" cy="2563812"/>
            <a:chOff x="1336" y="1397"/>
            <a:chExt cx="2036" cy="1615"/>
          </a:xfrm>
        </p:grpSpPr>
        <p:grpSp>
          <p:nvGrpSpPr>
            <p:cNvPr id="3" name="Group 3"/>
            <p:cNvGrpSpPr>
              <a:grpSpLocks/>
            </p:cNvGrpSpPr>
            <p:nvPr/>
          </p:nvGrpSpPr>
          <p:grpSpPr bwMode="auto">
            <a:xfrm>
              <a:off x="1336" y="1397"/>
              <a:ext cx="2036" cy="1453"/>
              <a:chOff x="1336" y="1397"/>
              <a:chExt cx="2036" cy="1453"/>
            </a:xfrm>
          </p:grpSpPr>
          <p:sp>
            <p:nvSpPr>
              <p:cNvPr id="7211" name="Line 4"/>
              <p:cNvSpPr>
                <a:spLocks noChangeShapeType="1"/>
              </p:cNvSpPr>
              <p:nvPr/>
            </p:nvSpPr>
            <p:spPr bwMode="auto">
              <a:xfrm>
                <a:off x="1336" y="2204"/>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12" name="Line 5"/>
              <p:cNvSpPr>
                <a:spLocks noChangeShapeType="1"/>
              </p:cNvSpPr>
              <p:nvPr/>
            </p:nvSpPr>
            <p:spPr bwMode="auto">
              <a:xfrm>
                <a:off x="1336" y="2850"/>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13" name="Line 6"/>
              <p:cNvSpPr>
                <a:spLocks noChangeShapeType="1"/>
              </p:cNvSpPr>
              <p:nvPr/>
            </p:nvSpPr>
            <p:spPr bwMode="auto">
              <a:xfrm>
                <a:off x="1336" y="2689"/>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14" name="Line 7"/>
              <p:cNvSpPr>
                <a:spLocks noChangeShapeType="1"/>
              </p:cNvSpPr>
              <p:nvPr/>
            </p:nvSpPr>
            <p:spPr bwMode="auto">
              <a:xfrm>
                <a:off x="1336" y="2527"/>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15" name="Line 8"/>
              <p:cNvSpPr>
                <a:spLocks noChangeShapeType="1"/>
              </p:cNvSpPr>
              <p:nvPr/>
            </p:nvSpPr>
            <p:spPr bwMode="auto">
              <a:xfrm>
                <a:off x="1336" y="2366"/>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16" name="Line 9"/>
              <p:cNvSpPr>
                <a:spLocks noChangeShapeType="1"/>
              </p:cNvSpPr>
              <p:nvPr/>
            </p:nvSpPr>
            <p:spPr bwMode="auto">
              <a:xfrm>
                <a:off x="1336" y="2043"/>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17" name="Line 10"/>
              <p:cNvSpPr>
                <a:spLocks noChangeShapeType="1"/>
              </p:cNvSpPr>
              <p:nvPr/>
            </p:nvSpPr>
            <p:spPr bwMode="auto">
              <a:xfrm>
                <a:off x="1336" y="1881"/>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18" name="Line 11"/>
              <p:cNvSpPr>
                <a:spLocks noChangeShapeType="1"/>
              </p:cNvSpPr>
              <p:nvPr/>
            </p:nvSpPr>
            <p:spPr bwMode="auto">
              <a:xfrm>
                <a:off x="1336" y="1720"/>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19" name="Line 12"/>
              <p:cNvSpPr>
                <a:spLocks noChangeShapeType="1"/>
              </p:cNvSpPr>
              <p:nvPr/>
            </p:nvSpPr>
            <p:spPr bwMode="auto">
              <a:xfrm>
                <a:off x="1336" y="1558"/>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20" name="Line 13"/>
              <p:cNvSpPr>
                <a:spLocks noChangeShapeType="1"/>
              </p:cNvSpPr>
              <p:nvPr/>
            </p:nvSpPr>
            <p:spPr bwMode="auto">
              <a:xfrm>
                <a:off x="1336" y="1397"/>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grpSp>
        <p:sp>
          <p:nvSpPr>
            <p:cNvPr id="7210" name="Line 14"/>
            <p:cNvSpPr>
              <a:spLocks noChangeShapeType="1"/>
            </p:cNvSpPr>
            <p:nvPr/>
          </p:nvSpPr>
          <p:spPr bwMode="auto">
            <a:xfrm>
              <a:off x="1336" y="3012"/>
              <a:ext cx="2036" cy="0"/>
            </a:xfrm>
            <a:prstGeom prst="line">
              <a:avLst/>
            </a:prstGeom>
            <a:noFill/>
            <a:ln w="9525" cap="rnd">
              <a:solidFill>
                <a:schemeClr val="tx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grpSp>
      <p:graphicFrame>
        <p:nvGraphicFramePr>
          <p:cNvPr id="7170" name="Object 15"/>
          <p:cNvGraphicFramePr>
            <a:graphicFrameLocks noChangeAspect="1"/>
          </p:cNvGraphicFramePr>
          <p:nvPr/>
        </p:nvGraphicFramePr>
        <p:xfrm>
          <a:off x="1609725" y="1360488"/>
          <a:ext cx="4321175" cy="3221037"/>
        </p:xfrm>
        <a:graphic>
          <a:graphicData uri="http://schemas.openxmlformats.org/presentationml/2006/ole">
            <mc:AlternateContent xmlns:mc="http://schemas.openxmlformats.org/markup-compatibility/2006">
              <mc:Choice xmlns:v="urn:schemas-microsoft-com:vml" Requires="v">
                <p:oleObj name="Image" r:id="rId3" imgW="4320508" imgH="3545358" progId="">
                  <p:embed/>
                </p:oleObj>
              </mc:Choice>
              <mc:Fallback>
                <p:oleObj name="Image" r:id="rId3" imgW="4320508" imgH="3545358" progId="">
                  <p:embed/>
                  <p:pic>
                    <p:nvPicPr>
                      <p:cNvPr id="7170" name="Object 15"/>
                      <p:cNvPicPr>
                        <a:picLocks noChangeAspect="1" noChangeArrowheads="1"/>
                      </p:cNvPicPr>
                      <p:nvPr/>
                    </p:nvPicPr>
                    <p:blipFill>
                      <a:blip r:embed="rId4">
                        <a:extLst>
                          <a:ext uri="{28A0092B-C50C-407E-A947-70E740481C1C}">
                            <a14:useLocalDpi xmlns:a14="http://schemas.microsoft.com/office/drawing/2010/main" val="0"/>
                          </a:ext>
                        </a:extLst>
                      </a:blip>
                      <a:srcRect t="9135"/>
                      <a:stretch>
                        <a:fillRect/>
                      </a:stretch>
                    </p:blipFill>
                    <p:spPr bwMode="auto">
                      <a:xfrm>
                        <a:off x="1609725" y="1360488"/>
                        <a:ext cx="4321175" cy="322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2" name="Text Box 16"/>
          <p:cNvSpPr txBox="1">
            <a:spLocks noChangeArrowheads="1"/>
          </p:cNvSpPr>
          <p:nvPr/>
        </p:nvSpPr>
        <p:spPr bwMode="auto">
          <a:xfrm rot="-5400000">
            <a:off x="635794" y="2531269"/>
            <a:ext cx="14747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b="1">
                <a:latin typeface="Arial" charset="0"/>
              </a:rPr>
              <a:t>Stimulus trial</a:t>
            </a:r>
          </a:p>
        </p:txBody>
      </p:sp>
      <p:sp>
        <p:nvSpPr>
          <p:cNvPr id="7173" name="Text Box 17"/>
          <p:cNvSpPr txBox="1">
            <a:spLocks noChangeArrowheads="1"/>
          </p:cNvSpPr>
          <p:nvPr/>
        </p:nvSpPr>
        <p:spPr bwMode="auto">
          <a:xfrm>
            <a:off x="2962275" y="4752975"/>
            <a:ext cx="2005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b="1">
                <a:latin typeface="Arial" charset="0"/>
              </a:rPr>
              <a:t>Post-stimulus time</a:t>
            </a:r>
          </a:p>
        </p:txBody>
      </p:sp>
      <p:sp>
        <p:nvSpPr>
          <p:cNvPr id="7174" name="Line 18"/>
          <p:cNvSpPr>
            <a:spLocks noChangeShapeType="1"/>
          </p:cNvSpPr>
          <p:nvPr/>
        </p:nvSpPr>
        <p:spPr bwMode="auto">
          <a:xfrm flipV="1">
            <a:off x="3913188" y="1435100"/>
            <a:ext cx="0" cy="2819400"/>
          </a:xfrm>
          <a:prstGeom prst="line">
            <a:avLst/>
          </a:prstGeom>
          <a:noFill/>
          <a:ln w="22225" cap="rnd">
            <a:solidFill>
              <a:srgbClr val="FF33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175" name="Line 19"/>
          <p:cNvSpPr>
            <a:spLocks noChangeShapeType="1"/>
          </p:cNvSpPr>
          <p:nvPr/>
        </p:nvSpPr>
        <p:spPr bwMode="auto">
          <a:xfrm flipV="1">
            <a:off x="4076700" y="1435100"/>
            <a:ext cx="0" cy="2819400"/>
          </a:xfrm>
          <a:prstGeom prst="line">
            <a:avLst/>
          </a:prstGeom>
          <a:noFill/>
          <a:ln w="22225" cap="rnd">
            <a:solidFill>
              <a:srgbClr val="FF33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176" name="Line 20"/>
          <p:cNvSpPr>
            <a:spLocks noChangeShapeType="1"/>
          </p:cNvSpPr>
          <p:nvPr/>
        </p:nvSpPr>
        <p:spPr bwMode="auto">
          <a:xfrm flipV="1">
            <a:off x="4240213" y="1435100"/>
            <a:ext cx="0" cy="2819400"/>
          </a:xfrm>
          <a:prstGeom prst="line">
            <a:avLst/>
          </a:prstGeom>
          <a:noFill/>
          <a:ln w="22225" cap="rnd">
            <a:solidFill>
              <a:srgbClr val="FF33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it-IT"/>
          </a:p>
        </p:txBody>
      </p:sp>
      <p:grpSp>
        <p:nvGrpSpPr>
          <p:cNvPr id="4" name="Group 21"/>
          <p:cNvGrpSpPr>
            <a:grpSpLocks/>
          </p:cNvGrpSpPr>
          <p:nvPr/>
        </p:nvGrpSpPr>
        <p:grpSpPr bwMode="auto">
          <a:xfrm>
            <a:off x="3751263" y="1435100"/>
            <a:ext cx="650875" cy="2819400"/>
            <a:chOff x="2355" y="1332"/>
            <a:chExt cx="410" cy="1776"/>
          </a:xfrm>
        </p:grpSpPr>
        <p:sp>
          <p:nvSpPr>
            <p:cNvPr id="7207" name="Line 22"/>
            <p:cNvSpPr>
              <a:spLocks noChangeShapeType="1"/>
            </p:cNvSpPr>
            <p:nvPr/>
          </p:nvSpPr>
          <p:spPr bwMode="auto">
            <a:xfrm flipV="1">
              <a:off x="2355" y="1332"/>
              <a:ext cx="0" cy="1776"/>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it-IT"/>
            </a:p>
          </p:txBody>
        </p:sp>
        <p:sp>
          <p:nvSpPr>
            <p:cNvPr id="7208" name="Line 23"/>
            <p:cNvSpPr>
              <a:spLocks noChangeShapeType="1"/>
            </p:cNvSpPr>
            <p:nvPr/>
          </p:nvSpPr>
          <p:spPr bwMode="auto">
            <a:xfrm flipV="1">
              <a:off x="2765" y="1332"/>
              <a:ext cx="0" cy="1776"/>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it-IT"/>
            </a:p>
          </p:txBody>
        </p:sp>
      </p:grpSp>
      <p:grpSp>
        <p:nvGrpSpPr>
          <p:cNvPr id="5" name="Group 24"/>
          <p:cNvGrpSpPr>
            <a:grpSpLocks/>
          </p:cNvGrpSpPr>
          <p:nvPr/>
        </p:nvGrpSpPr>
        <p:grpSpPr bwMode="auto">
          <a:xfrm>
            <a:off x="6108700" y="646113"/>
            <a:ext cx="690563" cy="3582987"/>
            <a:chOff x="3840" y="835"/>
            <a:chExt cx="435" cy="2257"/>
          </a:xfrm>
        </p:grpSpPr>
        <p:sp>
          <p:nvSpPr>
            <p:cNvPr id="7195" name="Text Box 25"/>
            <p:cNvSpPr txBox="1">
              <a:spLocks noChangeArrowheads="1"/>
            </p:cNvSpPr>
            <p:nvPr/>
          </p:nvSpPr>
          <p:spPr bwMode="auto">
            <a:xfrm>
              <a:off x="3955" y="288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7196" name="Text Box 26"/>
            <p:cNvSpPr txBox="1">
              <a:spLocks noChangeArrowheads="1"/>
            </p:cNvSpPr>
            <p:nvPr/>
          </p:nvSpPr>
          <p:spPr bwMode="auto">
            <a:xfrm>
              <a:off x="3955" y="272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7197" name="Text Box 27"/>
            <p:cNvSpPr txBox="1">
              <a:spLocks noChangeArrowheads="1"/>
            </p:cNvSpPr>
            <p:nvPr/>
          </p:nvSpPr>
          <p:spPr bwMode="auto">
            <a:xfrm>
              <a:off x="3955" y="256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7198" name="Text Box 28"/>
            <p:cNvSpPr txBox="1">
              <a:spLocks noChangeArrowheads="1"/>
            </p:cNvSpPr>
            <p:nvPr/>
          </p:nvSpPr>
          <p:spPr bwMode="auto">
            <a:xfrm>
              <a:off x="3955" y="240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7199" name="Text Box 29"/>
            <p:cNvSpPr txBox="1">
              <a:spLocks noChangeArrowheads="1"/>
            </p:cNvSpPr>
            <p:nvPr/>
          </p:nvSpPr>
          <p:spPr bwMode="auto">
            <a:xfrm>
              <a:off x="3955" y="2240"/>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2</a:t>
              </a:r>
            </a:p>
          </p:txBody>
        </p:sp>
        <p:sp>
          <p:nvSpPr>
            <p:cNvPr id="7200" name="Text Box 30"/>
            <p:cNvSpPr txBox="1">
              <a:spLocks noChangeArrowheads="1"/>
            </p:cNvSpPr>
            <p:nvPr/>
          </p:nvSpPr>
          <p:spPr bwMode="auto">
            <a:xfrm>
              <a:off x="3955" y="207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7201" name="Text Box 31"/>
            <p:cNvSpPr txBox="1">
              <a:spLocks noChangeArrowheads="1"/>
            </p:cNvSpPr>
            <p:nvPr/>
          </p:nvSpPr>
          <p:spPr bwMode="auto">
            <a:xfrm>
              <a:off x="3955" y="191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a:t>
              </a:r>
            </a:p>
          </p:txBody>
        </p:sp>
        <p:sp>
          <p:nvSpPr>
            <p:cNvPr id="7202" name="Text Box 32"/>
            <p:cNvSpPr txBox="1">
              <a:spLocks noChangeArrowheads="1"/>
            </p:cNvSpPr>
            <p:nvPr/>
          </p:nvSpPr>
          <p:spPr bwMode="auto">
            <a:xfrm>
              <a:off x="3955" y="175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7203" name="Text Box 33"/>
            <p:cNvSpPr txBox="1">
              <a:spLocks noChangeArrowheads="1"/>
            </p:cNvSpPr>
            <p:nvPr/>
          </p:nvSpPr>
          <p:spPr bwMode="auto">
            <a:xfrm>
              <a:off x="3955" y="159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7204" name="Text Box 34"/>
            <p:cNvSpPr txBox="1">
              <a:spLocks noChangeArrowheads="1"/>
            </p:cNvSpPr>
            <p:nvPr/>
          </p:nvSpPr>
          <p:spPr bwMode="auto">
            <a:xfrm>
              <a:off x="3955" y="1439"/>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7205" name="Text Box 35"/>
            <p:cNvSpPr txBox="1">
              <a:spLocks noChangeArrowheads="1"/>
            </p:cNvSpPr>
            <p:nvPr/>
          </p:nvSpPr>
          <p:spPr bwMode="auto">
            <a:xfrm>
              <a:off x="3955" y="1278"/>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a:t>
              </a:r>
            </a:p>
          </p:txBody>
        </p:sp>
        <p:sp>
          <p:nvSpPr>
            <p:cNvPr id="7206" name="Text Box 36"/>
            <p:cNvSpPr txBox="1">
              <a:spLocks noChangeArrowheads="1"/>
            </p:cNvSpPr>
            <p:nvPr/>
          </p:nvSpPr>
          <p:spPr bwMode="auto">
            <a:xfrm>
              <a:off x="3840" y="835"/>
              <a:ext cx="43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Spike</a:t>
              </a:r>
            </a:p>
            <a:p>
              <a:r>
                <a:rPr lang="en-US" sz="1600">
                  <a:latin typeface="Arial" charset="0"/>
                </a:rPr>
                <a:t>count</a:t>
              </a:r>
            </a:p>
          </p:txBody>
        </p:sp>
      </p:grpSp>
      <p:grpSp>
        <p:nvGrpSpPr>
          <p:cNvPr id="6" name="Group 37"/>
          <p:cNvGrpSpPr>
            <a:grpSpLocks/>
          </p:cNvGrpSpPr>
          <p:nvPr/>
        </p:nvGrpSpPr>
        <p:grpSpPr bwMode="auto">
          <a:xfrm>
            <a:off x="7135813" y="647700"/>
            <a:ext cx="725487" cy="3581400"/>
            <a:chOff x="4487" y="836"/>
            <a:chExt cx="457" cy="2256"/>
          </a:xfrm>
        </p:grpSpPr>
        <p:sp>
          <p:nvSpPr>
            <p:cNvPr id="7183" name="Text Box 38"/>
            <p:cNvSpPr txBox="1">
              <a:spLocks noChangeArrowheads="1"/>
            </p:cNvSpPr>
            <p:nvPr/>
          </p:nvSpPr>
          <p:spPr bwMode="auto">
            <a:xfrm>
              <a:off x="4537" y="288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0000</a:t>
              </a:r>
            </a:p>
          </p:txBody>
        </p:sp>
        <p:sp>
          <p:nvSpPr>
            <p:cNvPr id="7184" name="Text Box 39"/>
            <p:cNvSpPr txBox="1">
              <a:spLocks noChangeArrowheads="1"/>
            </p:cNvSpPr>
            <p:nvPr/>
          </p:nvSpPr>
          <p:spPr bwMode="auto">
            <a:xfrm>
              <a:off x="4537" y="272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0000</a:t>
              </a:r>
            </a:p>
          </p:txBody>
        </p:sp>
        <p:sp>
          <p:nvSpPr>
            <p:cNvPr id="7185" name="Text Box 40"/>
            <p:cNvSpPr txBox="1">
              <a:spLocks noChangeArrowheads="1"/>
            </p:cNvSpPr>
            <p:nvPr/>
          </p:nvSpPr>
          <p:spPr bwMode="auto">
            <a:xfrm>
              <a:off x="4537" y="256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0100</a:t>
              </a:r>
            </a:p>
          </p:txBody>
        </p:sp>
        <p:sp>
          <p:nvSpPr>
            <p:cNvPr id="7186" name="Text Box 41"/>
            <p:cNvSpPr txBox="1">
              <a:spLocks noChangeArrowheads="1"/>
            </p:cNvSpPr>
            <p:nvPr/>
          </p:nvSpPr>
          <p:spPr bwMode="auto">
            <a:xfrm>
              <a:off x="4537" y="240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0000</a:t>
              </a:r>
            </a:p>
          </p:txBody>
        </p:sp>
        <p:sp>
          <p:nvSpPr>
            <p:cNvPr id="7187" name="Text Box 42"/>
            <p:cNvSpPr txBox="1">
              <a:spLocks noChangeArrowheads="1"/>
            </p:cNvSpPr>
            <p:nvPr/>
          </p:nvSpPr>
          <p:spPr bwMode="auto">
            <a:xfrm>
              <a:off x="4537" y="2240"/>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1100</a:t>
              </a:r>
            </a:p>
          </p:txBody>
        </p:sp>
        <p:sp>
          <p:nvSpPr>
            <p:cNvPr id="7188" name="Text Box 43"/>
            <p:cNvSpPr txBox="1">
              <a:spLocks noChangeArrowheads="1"/>
            </p:cNvSpPr>
            <p:nvPr/>
          </p:nvSpPr>
          <p:spPr bwMode="auto">
            <a:xfrm>
              <a:off x="4537" y="207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0100</a:t>
              </a:r>
            </a:p>
          </p:txBody>
        </p:sp>
        <p:sp>
          <p:nvSpPr>
            <p:cNvPr id="7189" name="Text Box 44"/>
            <p:cNvSpPr txBox="1">
              <a:spLocks noChangeArrowheads="1"/>
            </p:cNvSpPr>
            <p:nvPr/>
          </p:nvSpPr>
          <p:spPr bwMode="auto">
            <a:xfrm>
              <a:off x="4537" y="191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0000</a:t>
              </a:r>
            </a:p>
          </p:txBody>
        </p:sp>
        <p:sp>
          <p:nvSpPr>
            <p:cNvPr id="7190" name="Text Box 45"/>
            <p:cNvSpPr txBox="1">
              <a:spLocks noChangeArrowheads="1"/>
            </p:cNvSpPr>
            <p:nvPr/>
          </p:nvSpPr>
          <p:spPr bwMode="auto">
            <a:xfrm>
              <a:off x="4537" y="175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1000</a:t>
              </a:r>
            </a:p>
          </p:txBody>
        </p:sp>
        <p:sp>
          <p:nvSpPr>
            <p:cNvPr id="7191" name="Text Box 46"/>
            <p:cNvSpPr txBox="1">
              <a:spLocks noChangeArrowheads="1"/>
            </p:cNvSpPr>
            <p:nvPr/>
          </p:nvSpPr>
          <p:spPr bwMode="auto">
            <a:xfrm>
              <a:off x="4537" y="159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1000</a:t>
              </a:r>
            </a:p>
          </p:txBody>
        </p:sp>
        <p:sp>
          <p:nvSpPr>
            <p:cNvPr id="7192" name="Text Box 47"/>
            <p:cNvSpPr txBox="1">
              <a:spLocks noChangeArrowheads="1"/>
            </p:cNvSpPr>
            <p:nvPr/>
          </p:nvSpPr>
          <p:spPr bwMode="auto">
            <a:xfrm>
              <a:off x="4537" y="1439"/>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1000</a:t>
              </a:r>
            </a:p>
          </p:txBody>
        </p:sp>
        <p:sp>
          <p:nvSpPr>
            <p:cNvPr id="7193" name="Text Box 48"/>
            <p:cNvSpPr txBox="1">
              <a:spLocks noChangeArrowheads="1"/>
            </p:cNvSpPr>
            <p:nvPr/>
          </p:nvSpPr>
          <p:spPr bwMode="auto">
            <a:xfrm>
              <a:off x="4537" y="1278"/>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0001</a:t>
              </a:r>
            </a:p>
          </p:txBody>
        </p:sp>
        <p:sp>
          <p:nvSpPr>
            <p:cNvPr id="7194" name="Text Box 49"/>
            <p:cNvSpPr txBox="1">
              <a:spLocks noChangeArrowheads="1"/>
            </p:cNvSpPr>
            <p:nvPr/>
          </p:nvSpPr>
          <p:spPr bwMode="auto">
            <a:xfrm>
              <a:off x="4487" y="836"/>
              <a:ext cx="45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latin typeface="Arial" charset="0"/>
                </a:rPr>
                <a:t>Spike</a:t>
              </a:r>
            </a:p>
            <a:p>
              <a:r>
                <a:rPr lang="en-US" sz="1600">
                  <a:latin typeface="Arial" charset="0"/>
                </a:rPr>
                <a:t>timing</a:t>
              </a:r>
            </a:p>
          </p:txBody>
        </p:sp>
      </p:grpSp>
      <p:sp>
        <p:nvSpPr>
          <p:cNvPr id="7180" name="Text Box 50"/>
          <p:cNvSpPr txBox="1">
            <a:spLocks noChangeArrowheads="1"/>
          </p:cNvSpPr>
          <p:nvPr/>
        </p:nvSpPr>
        <p:spPr bwMode="auto">
          <a:xfrm>
            <a:off x="4206875" y="414496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cy-GB" sz="1800">
                <a:solidFill>
                  <a:schemeClr val="tx2"/>
                </a:solidFill>
                <a:latin typeface="Arial" charset="0"/>
              </a:rPr>
              <a:t>40</a:t>
            </a:r>
            <a:endParaRPr lang="en-US" sz="1800">
              <a:solidFill>
                <a:schemeClr val="tx2"/>
              </a:solidFill>
              <a:latin typeface="Arial" charset="0"/>
            </a:endParaRPr>
          </a:p>
        </p:txBody>
      </p:sp>
      <p:sp>
        <p:nvSpPr>
          <p:cNvPr id="7181" name="Text Box 51"/>
          <p:cNvSpPr txBox="1">
            <a:spLocks noChangeArrowheads="1"/>
          </p:cNvSpPr>
          <p:nvPr/>
        </p:nvSpPr>
        <p:spPr bwMode="auto">
          <a:xfrm>
            <a:off x="7032625" y="315913"/>
            <a:ext cx="11255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l-GR" sz="1400" b="1">
                <a:solidFill>
                  <a:srgbClr val="FF0000"/>
                </a:solidFill>
                <a:latin typeface="Arial" charset="0"/>
                <a:cs typeface="Arial" charset="0"/>
              </a:rPr>
              <a:t>Δ</a:t>
            </a:r>
            <a:r>
              <a:rPr lang="cy-GB" sz="1400" b="1">
                <a:solidFill>
                  <a:srgbClr val="FF0000"/>
                </a:solidFill>
                <a:latin typeface="Arial" charset="0"/>
              </a:rPr>
              <a:t>T = 10 ms</a:t>
            </a:r>
            <a:endParaRPr lang="en-US" sz="1400" b="1">
              <a:solidFill>
                <a:srgbClr val="FF0000"/>
              </a:solidFill>
              <a:latin typeface="Arial" charset="0"/>
            </a:endParaRPr>
          </a:p>
        </p:txBody>
      </p:sp>
      <p:sp>
        <p:nvSpPr>
          <p:cNvPr id="7182" name="Text Box 52"/>
          <p:cNvSpPr txBox="1">
            <a:spLocks noChangeArrowheads="1"/>
          </p:cNvSpPr>
          <p:nvPr/>
        </p:nvSpPr>
        <p:spPr bwMode="auto">
          <a:xfrm>
            <a:off x="428625" y="5386388"/>
            <a:ext cx="670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l-GR">
                <a:latin typeface="Arial" charset="0"/>
                <a:cs typeface="Arial" charset="0"/>
              </a:rPr>
              <a:t>Δ</a:t>
            </a:r>
            <a:r>
              <a:rPr lang="cy-GB">
                <a:latin typeface="Arial" charset="0"/>
                <a:cs typeface="Arial" charset="0"/>
              </a:rPr>
              <a:t>T = temporal precision in registering the spikes</a:t>
            </a:r>
          </a:p>
        </p:txBody>
      </p:sp>
    </p:spTree>
    <p:extLst>
      <p:ext uri="{BB962C8B-B14F-4D97-AF65-F5344CB8AC3E}">
        <p14:creationId xmlns:p14="http://schemas.microsoft.com/office/powerpoint/2010/main" val="150650632"/>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24138"/>
            <a:ext cx="9144000"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CasellaDiTesto 2"/>
          <p:cNvSpPr txBox="1">
            <a:spLocks noChangeArrowheads="1"/>
          </p:cNvSpPr>
          <p:nvPr/>
        </p:nvSpPr>
        <p:spPr bwMode="auto">
          <a:xfrm>
            <a:off x="3000375" y="428625"/>
            <a:ext cx="29924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5400">
                <a:solidFill>
                  <a:srgbClr val="FF0000"/>
                </a:solidFill>
                <a:latin typeface="Arial" charset="0"/>
                <a:cs typeface="Arial" charset="0"/>
              </a:rPr>
              <a:t>Whisking</a:t>
            </a:r>
          </a:p>
        </p:txBody>
      </p:sp>
      <p:cxnSp>
        <p:nvCxnSpPr>
          <p:cNvPr id="51204" name="Connettore 2 4"/>
          <p:cNvCxnSpPr>
            <a:cxnSpLocks noChangeShapeType="1"/>
          </p:cNvCxnSpPr>
          <p:nvPr/>
        </p:nvCxnSpPr>
        <p:spPr bwMode="auto">
          <a:xfrm>
            <a:off x="142875" y="5072063"/>
            <a:ext cx="8858250" cy="1587"/>
          </a:xfrm>
          <a:prstGeom prst="straightConnector1">
            <a:avLst/>
          </a:prstGeom>
          <a:noFill/>
          <a:ln w="41275" algn="ctr">
            <a:solidFill>
              <a:schemeClr val="tx1"/>
            </a:solidFill>
            <a:round/>
            <a:headEnd type="triangle" w="lg" len="lg"/>
            <a:tailEnd type="triangle" w="lg" len="lg"/>
          </a:ln>
          <a:extLst>
            <a:ext uri="{909E8E84-426E-40DD-AFC4-6F175D3DCCD1}">
              <a14:hiddenFill xmlns:a14="http://schemas.microsoft.com/office/drawing/2010/main">
                <a:noFill/>
              </a14:hiddenFill>
            </a:ext>
          </a:extLst>
        </p:spPr>
      </p:cxnSp>
      <p:sp>
        <p:nvSpPr>
          <p:cNvPr id="51205" name="CasellaDiTesto 7"/>
          <p:cNvSpPr txBox="1">
            <a:spLocks noChangeArrowheads="1"/>
          </p:cNvSpPr>
          <p:nvPr/>
        </p:nvSpPr>
        <p:spPr bwMode="auto">
          <a:xfrm>
            <a:off x="3929063" y="5286375"/>
            <a:ext cx="18684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3200">
                <a:latin typeface="Arial" charset="0"/>
                <a:cs typeface="Arial" charset="0"/>
              </a:rPr>
              <a:t>≈ 125 ms</a:t>
            </a:r>
          </a:p>
        </p:txBody>
      </p:sp>
    </p:spTree>
    <p:extLst>
      <p:ext uri="{BB962C8B-B14F-4D97-AF65-F5344CB8AC3E}">
        <p14:creationId xmlns:p14="http://schemas.microsoft.com/office/powerpoint/2010/main" val="3068925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egnaposto numero diapositiva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F966AA7-A5D0-49FA-8798-0D23C8388A66}" type="slidenum">
              <a:rPr lang="en-US" smtClean="0"/>
              <a:pPr eaLnBrk="1" hangingPunct="1"/>
              <a:t>65</a:t>
            </a:fld>
            <a:endParaRPr lang="en-US"/>
          </a:p>
        </p:txBody>
      </p:sp>
      <p:pic>
        <p:nvPicPr>
          <p:cNvPr id="737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714375"/>
            <a:ext cx="8567737"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Text Box 100"/>
          <p:cNvSpPr txBox="1">
            <a:spLocks noChangeArrowheads="1"/>
          </p:cNvSpPr>
          <p:nvPr/>
        </p:nvSpPr>
        <p:spPr bwMode="auto">
          <a:xfrm>
            <a:off x="268288" y="5403850"/>
            <a:ext cx="56610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sz="2400" b="1">
                <a:solidFill>
                  <a:srgbClr val="008000"/>
                </a:solidFill>
              </a:rPr>
              <a:t>Rat somatosensory pathway</a:t>
            </a:r>
          </a:p>
          <a:p>
            <a:r>
              <a:rPr lang="en-GB" sz="2400" b="1">
                <a:solidFill>
                  <a:srgbClr val="008000"/>
                </a:solidFill>
              </a:rPr>
              <a:t>whisker representation</a:t>
            </a:r>
          </a:p>
        </p:txBody>
      </p:sp>
      <p:sp>
        <p:nvSpPr>
          <p:cNvPr id="73733" name="CasellaDiTesto 4"/>
          <p:cNvSpPr txBox="1">
            <a:spLocks noChangeArrowheads="1"/>
          </p:cNvSpPr>
          <p:nvPr/>
        </p:nvSpPr>
        <p:spPr bwMode="auto">
          <a:xfrm>
            <a:off x="3857625" y="6488113"/>
            <a:ext cx="48529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Diamond et al Nature Reviews Neurosci 2008</a:t>
            </a:r>
          </a:p>
        </p:txBody>
      </p:sp>
    </p:spTree>
    <p:extLst>
      <p:ext uri="{BB962C8B-B14F-4D97-AF65-F5344CB8AC3E}">
        <p14:creationId xmlns:p14="http://schemas.microsoft.com/office/powerpoint/2010/main" val="32777208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3"/>
          <p:cNvSpPr txBox="1">
            <a:spLocks noChangeArrowheads="1"/>
          </p:cNvSpPr>
          <p:nvPr/>
        </p:nvSpPr>
        <p:spPr bwMode="auto">
          <a:xfrm>
            <a:off x="4796155" y="2060848"/>
            <a:ext cx="390017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cy-GB" dirty="0">
                <a:latin typeface="Arial" charset="0"/>
              </a:rPr>
              <a:t>Recording from somatosensory cortex while the rat discriminates between different textures. Large differences in texture (CD vs sandpaper) are represented by spike counts</a:t>
            </a:r>
            <a:endParaRPr lang="en-US" dirty="0">
              <a:latin typeface="Arial" charset="0"/>
            </a:endParaRPr>
          </a:p>
        </p:txBody>
      </p:sp>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40348"/>
            <a:ext cx="4348480" cy="6212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l="22813" r="2557" b="75784"/>
          <a:stretch>
            <a:fillRect/>
          </a:stretch>
        </p:blipFill>
        <p:spPr bwMode="auto">
          <a:xfrm>
            <a:off x="4796155" y="209868"/>
            <a:ext cx="4347845" cy="1118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0634312"/>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477962"/>
            <a:ext cx="7704137" cy="362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Text Box 3"/>
          <p:cNvSpPr txBox="1">
            <a:spLocks noChangeArrowheads="1"/>
          </p:cNvSpPr>
          <p:nvPr/>
        </p:nvSpPr>
        <p:spPr bwMode="auto">
          <a:xfrm>
            <a:off x="250825" y="5157788"/>
            <a:ext cx="86423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cy-GB" dirty="0">
                <a:latin typeface="Arial" charset="0"/>
              </a:rPr>
              <a:t>Fine Differences in sandpaper textures (P1200 vs P400) are represented by patterns of spike times but not by spike counts</a:t>
            </a:r>
            <a:endParaRPr lang="en-US" dirty="0">
              <a:latin typeface="Arial"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l="22813" r="2557" b="75784"/>
          <a:stretch>
            <a:fillRect/>
          </a:stretch>
        </p:blipFill>
        <p:spPr bwMode="auto">
          <a:xfrm>
            <a:off x="214313" y="214313"/>
            <a:ext cx="500062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510341"/>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ChangeAspect="1" noChangeArrowheads="1"/>
          </p:cNvPicPr>
          <p:nvPr/>
        </p:nvPicPr>
        <p:blipFill>
          <a:blip r:embed="rId2">
            <a:extLst>
              <a:ext uri="{28A0092B-C50C-407E-A947-70E740481C1C}">
                <a14:useLocalDpi xmlns:a14="http://schemas.microsoft.com/office/drawing/2010/main" val="0"/>
              </a:ext>
            </a:extLst>
          </a:blip>
          <a:srcRect t="13432"/>
          <a:stretch>
            <a:fillRect/>
          </a:stretch>
        </p:blipFill>
        <p:spPr bwMode="auto">
          <a:xfrm>
            <a:off x="214313" y="2500313"/>
            <a:ext cx="312420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3" name="Picture 4"/>
          <p:cNvPicPr>
            <a:picLocks noChangeAspect="1" noChangeArrowheads="1"/>
          </p:cNvPicPr>
          <p:nvPr/>
        </p:nvPicPr>
        <p:blipFill>
          <a:blip r:embed="rId3">
            <a:extLst>
              <a:ext uri="{28A0092B-C50C-407E-A947-70E740481C1C}">
                <a14:useLocalDpi xmlns:a14="http://schemas.microsoft.com/office/drawing/2010/main" val="0"/>
              </a:ext>
            </a:extLst>
          </a:blip>
          <a:srcRect l="44910" t="11095"/>
          <a:stretch>
            <a:fillRect/>
          </a:stretch>
        </p:blipFill>
        <p:spPr bwMode="auto">
          <a:xfrm>
            <a:off x="4857750" y="2357438"/>
            <a:ext cx="35052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4" name="Picture 2"/>
          <p:cNvPicPr>
            <a:picLocks noChangeAspect="1" noChangeArrowheads="1"/>
          </p:cNvPicPr>
          <p:nvPr/>
        </p:nvPicPr>
        <p:blipFill>
          <a:blip r:embed="rId4">
            <a:extLst>
              <a:ext uri="{28A0092B-C50C-407E-A947-70E740481C1C}">
                <a14:useLocalDpi xmlns:a14="http://schemas.microsoft.com/office/drawing/2010/main" val="0"/>
              </a:ext>
            </a:extLst>
          </a:blip>
          <a:srcRect l="22813" r="2557" b="75784"/>
          <a:stretch>
            <a:fillRect/>
          </a:stretch>
        </p:blipFill>
        <p:spPr bwMode="auto">
          <a:xfrm>
            <a:off x="214313" y="214313"/>
            <a:ext cx="500062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CasellaDiTesto 4"/>
          <p:cNvSpPr txBox="1">
            <a:spLocks noChangeArrowheads="1"/>
          </p:cNvSpPr>
          <p:nvPr/>
        </p:nvSpPr>
        <p:spPr bwMode="auto">
          <a:xfrm>
            <a:off x="214313" y="1857375"/>
            <a:ext cx="2743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800">
                <a:latin typeface="Arial" charset="0"/>
                <a:cs typeface="Arial" charset="0"/>
              </a:rPr>
              <a:t>Spike count info</a:t>
            </a:r>
          </a:p>
        </p:txBody>
      </p:sp>
      <p:sp>
        <p:nvSpPr>
          <p:cNvPr id="56326" name="CasellaDiTesto 5"/>
          <p:cNvSpPr txBox="1">
            <a:spLocks noChangeArrowheads="1"/>
          </p:cNvSpPr>
          <p:nvPr/>
        </p:nvSpPr>
        <p:spPr bwMode="auto">
          <a:xfrm>
            <a:off x="4572000" y="1785938"/>
            <a:ext cx="4443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800">
                <a:latin typeface="Arial" charset="0"/>
                <a:cs typeface="Arial" charset="0"/>
              </a:rPr>
              <a:t>Additional spike timing info</a:t>
            </a:r>
          </a:p>
        </p:txBody>
      </p:sp>
      <p:sp>
        <p:nvSpPr>
          <p:cNvPr id="56327" name="CasellaDiTesto 6"/>
          <p:cNvSpPr txBox="1">
            <a:spLocks noChangeArrowheads="1"/>
          </p:cNvSpPr>
          <p:nvPr/>
        </p:nvSpPr>
        <p:spPr bwMode="auto">
          <a:xfrm>
            <a:off x="571500" y="5857875"/>
            <a:ext cx="71755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800">
                <a:latin typeface="Arial" charset="0"/>
                <a:cs typeface="Arial" charset="0"/>
              </a:rPr>
              <a:t>Spike counts encode big texture differences</a:t>
            </a:r>
          </a:p>
          <a:p>
            <a:r>
              <a:rPr lang="en-US" sz="2800">
                <a:latin typeface="Arial" charset="0"/>
                <a:cs typeface="Arial" charset="0"/>
              </a:rPr>
              <a:t>Spike times encode finer texture differences</a:t>
            </a:r>
          </a:p>
        </p:txBody>
      </p:sp>
    </p:spTree>
    <p:extLst>
      <p:ext uri="{BB962C8B-B14F-4D97-AF65-F5344CB8AC3E}">
        <p14:creationId xmlns:p14="http://schemas.microsoft.com/office/powerpoint/2010/main" val="40724794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3"/>
          <p:cNvPicPr>
            <a:picLocks noChangeAspect="1" noChangeArrowheads="1"/>
          </p:cNvPicPr>
          <p:nvPr/>
        </p:nvPicPr>
        <p:blipFill>
          <a:blip r:embed="rId2">
            <a:extLst>
              <a:ext uri="{28A0092B-C50C-407E-A947-70E740481C1C}">
                <a14:useLocalDpi xmlns:a14="http://schemas.microsoft.com/office/drawing/2010/main" val="0"/>
              </a:ext>
            </a:extLst>
          </a:blip>
          <a:srcRect l="49751"/>
          <a:stretch>
            <a:fillRect/>
          </a:stretch>
        </p:blipFill>
        <p:spPr bwMode="auto">
          <a:xfrm>
            <a:off x="0" y="3576638"/>
            <a:ext cx="5572125" cy="328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3" name="Picture 3"/>
          <p:cNvPicPr>
            <a:picLocks noChangeAspect="1" noChangeArrowheads="1"/>
          </p:cNvPicPr>
          <p:nvPr/>
        </p:nvPicPr>
        <p:blipFill>
          <a:blip r:embed="rId2">
            <a:extLst>
              <a:ext uri="{28A0092B-C50C-407E-A947-70E740481C1C}">
                <a14:useLocalDpi xmlns:a14="http://schemas.microsoft.com/office/drawing/2010/main" val="0"/>
              </a:ext>
            </a:extLst>
          </a:blip>
          <a:srcRect r="50255"/>
          <a:stretch>
            <a:fillRect/>
          </a:stretch>
        </p:blipFill>
        <p:spPr bwMode="auto">
          <a:xfrm>
            <a:off x="0" y="500042"/>
            <a:ext cx="542925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CasellaDiTesto 3"/>
          <p:cNvSpPr txBox="1">
            <a:spLocks noChangeArrowheads="1"/>
          </p:cNvSpPr>
          <p:nvPr/>
        </p:nvSpPr>
        <p:spPr bwMode="auto">
          <a:xfrm>
            <a:off x="5572161" y="1037096"/>
            <a:ext cx="342899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latin typeface="Arial" charset="0"/>
                <a:cs typeface="Arial" charset="0"/>
              </a:rPr>
              <a:t>In temporal code the reliability corresponds to the temporal precision of the response.</a:t>
            </a:r>
          </a:p>
          <a:p>
            <a:r>
              <a:rPr lang="en-US" dirty="0">
                <a:latin typeface="Arial" charset="0"/>
                <a:cs typeface="Arial" charset="0"/>
              </a:rPr>
              <a:t>This is high for faster stimuli (such as random noise in each frame) and lower for slower stimuli (such as natural movies)  </a:t>
            </a:r>
          </a:p>
        </p:txBody>
      </p:sp>
      <p:sp>
        <p:nvSpPr>
          <p:cNvPr id="66565" name="CasellaDiTesto 4"/>
          <p:cNvSpPr txBox="1">
            <a:spLocks noChangeArrowheads="1"/>
          </p:cNvSpPr>
          <p:nvPr/>
        </p:nvSpPr>
        <p:spPr bwMode="auto">
          <a:xfrm>
            <a:off x="5796136" y="6165304"/>
            <a:ext cx="27622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dirty="0">
                <a:latin typeface="Arial" charset="0"/>
                <a:cs typeface="Arial" charset="0"/>
              </a:rPr>
              <a:t>Butts et al, Nature (2008)</a:t>
            </a:r>
          </a:p>
        </p:txBody>
      </p:sp>
      <p:sp>
        <p:nvSpPr>
          <p:cNvPr id="6" name="Rectangle 2"/>
          <p:cNvSpPr txBox="1">
            <a:spLocks noChangeArrowheads="1"/>
          </p:cNvSpPr>
          <p:nvPr/>
        </p:nvSpPr>
        <p:spPr>
          <a:xfrm>
            <a:off x="395288" y="71414"/>
            <a:ext cx="8569200" cy="298450"/>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solidFill>
                  <a:srgbClr val="FF0000"/>
                </a:solidFill>
                <a:latin typeface="Arial" charset="0"/>
                <a:ea typeface="+mj-ea"/>
                <a:cs typeface="Arial" charset="0"/>
              </a:rPr>
              <a:t>Precision</a:t>
            </a:r>
            <a:r>
              <a:rPr kumimoji="0" lang="en-US" sz="3200" b="0" i="0" u="none" strike="noStrike" kern="1200" cap="none" spc="0" normalizeH="0" baseline="0" noProof="0" dirty="0">
                <a:ln>
                  <a:noFill/>
                </a:ln>
                <a:solidFill>
                  <a:srgbClr val="FF0000"/>
                </a:solidFill>
                <a:effectLst/>
                <a:uLnTx/>
                <a:uFillTx/>
                <a:latin typeface="Arial" charset="0"/>
                <a:ea typeface="+mj-ea"/>
                <a:cs typeface="Arial" charset="0"/>
              </a:rPr>
              <a:t> depends on stimulus identity</a:t>
            </a:r>
          </a:p>
        </p:txBody>
      </p:sp>
      <p:sp>
        <p:nvSpPr>
          <p:cNvPr id="2" name="Rettangolo con angoli arrotondati 1">
            <a:extLst>
              <a:ext uri="{FF2B5EF4-FFF2-40B4-BE49-F238E27FC236}">
                <a16:creationId xmlns:a16="http://schemas.microsoft.com/office/drawing/2014/main" id="{5B39666A-72D6-426E-BC8D-5D2E8A0B05E0}"/>
              </a:ext>
            </a:extLst>
          </p:cNvPr>
          <p:cNvSpPr/>
          <p:nvPr/>
        </p:nvSpPr>
        <p:spPr>
          <a:xfrm>
            <a:off x="6566578" y="5364823"/>
            <a:ext cx="720080" cy="72008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it-IT" sz="2800" dirty="0"/>
              <a:t>SR</a:t>
            </a:r>
          </a:p>
        </p:txBody>
      </p:sp>
    </p:spTree>
    <p:extLst>
      <p:ext uri="{BB962C8B-B14F-4D97-AF65-F5344CB8AC3E}">
        <p14:creationId xmlns:p14="http://schemas.microsoft.com/office/powerpoint/2010/main" val="25205342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 name="Rectangle 2"/>
          <p:cNvSpPr>
            <a:spLocks noGrp="1" noChangeArrowheads="1"/>
          </p:cNvSpPr>
          <p:nvPr>
            <p:ph type="title"/>
          </p:nvPr>
        </p:nvSpPr>
        <p:spPr>
          <a:xfrm>
            <a:off x="228600" y="0"/>
            <a:ext cx="8229600" cy="487362"/>
          </a:xfrm>
        </p:spPr>
        <p:txBody>
          <a:bodyPr anchor="t" anchorCtr="0">
            <a:normAutofit fontScale="90000"/>
          </a:bodyPr>
          <a:lstStyle/>
          <a:p>
            <a:r>
              <a:rPr lang="en-US" sz="3200" b="1" dirty="0">
                <a:solidFill>
                  <a:srgbClr val="FF0000"/>
                </a:solidFill>
                <a:cs typeface="Arial" pitchFamily="34" charset="0"/>
              </a:rPr>
              <a:t>Computing Information about movie stimuli</a:t>
            </a:r>
          </a:p>
        </p:txBody>
      </p:sp>
      <p:sp>
        <p:nvSpPr>
          <p:cNvPr id="1039" name="Text Box 4"/>
          <p:cNvSpPr txBox="1">
            <a:spLocks noChangeArrowheads="1"/>
          </p:cNvSpPr>
          <p:nvPr/>
        </p:nvSpPr>
        <p:spPr bwMode="auto">
          <a:xfrm>
            <a:off x="457200" y="5290572"/>
            <a:ext cx="8286750" cy="1238801"/>
          </a:xfrm>
          <a:prstGeom prst="rect">
            <a:avLst/>
          </a:prstGeom>
          <a:noFill/>
          <a:ln w="9525">
            <a:noFill/>
            <a:miter lim="800000"/>
            <a:headEnd/>
            <a:tailEnd/>
          </a:ln>
        </p:spPr>
        <p:txBody>
          <a:bodyPr>
            <a:spAutoFit/>
          </a:bodyPr>
          <a:lstStyle/>
          <a:p>
            <a:pPr marL="285750" indent="-285750">
              <a:spcBef>
                <a:spcPts val="300"/>
              </a:spcBef>
              <a:buFont typeface="Arial" pitchFamily="34" charset="0"/>
              <a:buChar char="•"/>
            </a:pPr>
            <a:r>
              <a:rPr lang="en-US" dirty="0">
                <a:latin typeface="+mj-lt"/>
                <a:cs typeface="Arial" pitchFamily="34" charset="0"/>
              </a:rPr>
              <a:t>Information about which section of the dynamic stimulus elicited the considered neural response .</a:t>
            </a:r>
          </a:p>
          <a:p>
            <a:pPr marL="285750" indent="-285750">
              <a:spcBef>
                <a:spcPts val="300"/>
              </a:spcBef>
              <a:buFont typeface="Arial" pitchFamily="34" charset="0"/>
              <a:buChar char="•"/>
            </a:pPr>
            <a:r>
              <a:rPr lang="en-US" dirty="0">
                <a:latin typeface="+mj-lt"/>
                <a:cs typeface="Arial" pitchFamily="34" charset="0"/>
              </a:rPr>
              <a:t>This quantification of information captures information about all possible stimulus features in the movie, including </a:t>
            </a:r>
            <a:r>
              <a:rPr lang="en-US" i="1" dirty="0">
                <a:latin typeface="+mj-lt"/>
                <a:cs typeface="Arial" pitchFamily="34" charset="0"/>
              </a:rPr>
              <a:t>what</a:t>
            </a:r>
            <a:r>
              <a:rPr lang="en-US" dirty="0">
                <a:latin typeface="+mj-lt"/>
                <a:cs typeface="Arial" pitchFamily="34" charset="0"/>
              </a:rPr>
              <a:t> and </a:t>
            </a:r>
            <a:r>
              <a:rPr lang="en-US" i="1" dirty="0">
                <a:latin typeface="+mj-lt"/>
                <a:cs typeface="Arial" pitchFamily="34" charset="0"/>
              </a:rPr>
              <a:t>when</a:t>
            </a:r>
            <a:r>
              <a:rPr lang="en-US" dirty="0">
                <a:latin typeface="+mj-lt"/>
                <a:cs typeface="Arial" pitchFamily="34" charset="0"/>
              </a:rPr>
              <a:t> property</a:t>
            </a:r>
          </a:p>
        </p:txBody>
      </p:sp>
      <p:sp>
        <p:nvSpPr>
          <p:cNvPr id="3" name="Rectangle 2"/>
          <p:cNvSpPr/>
          <p:nvPr/>
        </p:nvSpPr>
        <p:spPr>
          <a:xfrm>
            <a:off x="2133600" y="3695546"/>
            <a:ext cx="76200"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4" name="Rectangle 3"/>
          <p:cNvSpPr/>
          <p:nvPr/>
        </p:nvSpPr>
        <p:spPr>
          <a:xfrm>
            <a:off x="4600575" y="1159563"/>
            <a:ext cx="111125"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 name="Rectangle 4"/>
          <p:cNvSpPr/>
          <p:nvPr/>
        </p:nvSpPr>
        <p:spPr>
          <a:xfrm>
            <a:off x="4543425" y="1066800"/>
            <a:ext cx="257175" cy="1384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4" name="Rectangle 13"/>
          <p:cNvSpPr/>
          <p:nvPr/>
        </p:nvSpPr>
        <p:spPr>
          <a:xfrm>
            <a:off x="2081212" y="3602198"/>
            <a:ext cx="257175" cy="1384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nvGrpSpPr>
          <p:cNvPr id="2" name="Group 12"/>
          <p:cNvGrpSpPr/>
          <p:nvPr/>
        </p:nvGrpSpPr>
        <p:grpSpPr>
          <a:xfrm>
            <a:off x="18888" y="1513754"/>
            <a:ext cx="2680904" cy="3139209"/>
            <a:chOff x="5220072" y="1700808"/>
            <a:chExt cx="3816424" cy="4824536"/>
          </a:xfrm>
        </p:grpSpPr>
        <p:pic>
          <p:nvPicPr>
            <p:cNvPr id="15" name="Picture 14" descr="tom2.tif"/>
            <p:cNvPicPr>
              <a:picLocks noChangeAspect="1"/>
            </p:cNvPicPr>
            <p:nvPr/>
          </p:nvPicPr>
          <p:blipFill>
            <a:blip r:embed="rId3" cstate="print"/>
            <a:stretch>
              <a:fillRect/>
            </a:stretch>
          </p:blipFill>
          <p:spPr>
            <a:xfrm>
              <a:off x="5220072" y="1700808"/>
              <a:ext cx="2160000" cy="1617112"/>
            </a:xfrm>
            <a:prstGeom prst="rect">
              <a:avLst/>
            </a:prstGeom>
          </p:spPr>
        </p:pic>
        <p:pic>
          <p:nvPicPr>
            <p:cNvPr id="16" name="Picture 15" descr="tom3.tif"/>
            <p:cNvPicPr>
              <a:picLocks noChangeAspect="1"/>
            </p:cNvPicPr>
            <p:nvPr/>
          </p:nvPicPr>
          <p:blipFill>
            <a:blip r:embed="rId4" cstate="print"/>
            <a:srcRect l="13335" t="8906" r="9990" b="10942"/>
            <a:stretch>
              <a:fillRect/>
            </a:stretch>
          </p:blipFill>
          <p:spPr>
            <a:xfrm>
              <a:off x="6012160" y="2924944"/>
              <a:ext cx="1656184" cy="1296144"/>
            </a:xfrm>
            <a:prstGeom prst="rect">
              <a:avLst/>
            </a:prstGeom>
          </p:spPr>
        </p:pic>
        <p:pic>
          <p:nvPicPr>
            <p:cNvPr id="17" name="Picture 16" descr="tom4.tif"/>
            <p:cNvPicPr>
              <a:picLocks noChangeAspect="1"/>
            </p:cNvPicPr>
            <p:nvPr/>
          </p:nvPicPr>
          <p:blipFill>
            <a:blip r:embed="rId5" cstate="print"/>
            <a:srcRect l="13335" t="8906" r="9990" b="10942"/>
            <a:stretch>
              <a:fillRect/>
            </a:stretch>
          </p:blipFill>
          <p:spPr>
            <a:xfrm>
              <a:off x="6660232" y="4077072"/>
              <a:ext cx="1656184" cy="1296144"/>
            </a:xfrm>
            <a:prstGeom prst="rect">
              <a:avLst/>
            </a:prstGeom>
          </p:spPr>
        </p:pic>
        <p:pic>
          <p:nvPicPr>
            <p:cNvPr id="18" name="Picture 17" descr="tom5.tif"/>
            <p:cNvPicPr>
              <a:picLocks noChangeAspect="1"/>
            </p:cNvPicPr>
            <p:nvPr/>
          </p:nvPicPr>
          <p:blipFill>
            <a:blip r:embed="rId6" cstate="print"/>
            <a:srcRect l="13681" t="7918" r="9644" b="11930"/>
            <a:stretch>
              <a:fillRect/>
            </a:stretch>
          </p:blipFill>
          <p:spPr>
            <a:xfrm>
              <a:off x="7380312" y="5229200"/>
              <a:ext cx="1656184" cy="1296144"/>
            </a:xfrm>
            <a:prstGeom prst="rect">
              <a:avLst/>
            </a:prstGeom>
          </p:spPr>
        </p:pic>
        <p:cxnSp>
          <p:nvCxnSpPr>
            <p:cNvPr id="19" name="Straight Arrow Connector 18"/>
            <p:cNvCxnSpPr/>
            <p:nvPr/>
          </p:nvCxnSpPr>
          <p:spPr bwMode="auto">
            <a:xfrm rot="16200000" flipH="1">
              <a:off x="4680012" y="4257092"/>
              <a:ext cx="2952328" cy="1584176"/>
            </a:xfrm>
            <a:prstGeom prst="straightConnector1">
              <a:avLst/>
            </a:prstGeom>
            <a:solidFill>
              <a:schemeClr val="accent1"/>
            </a:solidFill>
            <a:ln w="25400" cap="flat" cmpd="sng" algn="ctr">
              <a:solidFill>
                <a:schemeClr val="tx1"/>
              </a:solidFill>
              <a:prstDash val="solid"/>
              <a:round/>
              <a:headEnd type="none" w="med" len="med"/>
              <a:tailEnd type="triangle" w="lg" len="lg"/>
            </a:ln>
            <a:effectLst/>
          </p:spPr>
        </p:cxnSp>
        <p:sp>
          <p:nvSpPr>
            <p:cNvPr id="21" name="CasellaDiTesto 5"/>
            <p:cNvSpPr txBox="1">
              <a:spLocks noChangeArrowheads="1"/>
            </p:cNvSpPr>
            <p:nvPr/>
          </p:nvSpPr>
          <p:spPr bwMode="auto">
            <a:xfrm rot="3676181">
              <a:off x="5226212" y="5009249"/>
              <a:ext cx="1606285" cy="596702"/>
            </a:xfrm>
            <a:prstGeom prst="rect">
              <a:avLst/>
            </a:prstGeom>
            <a:noFill/>
            <a:ln w="9525">
              <a:noFill/>
              <a:miter lim="800000"/>
              <a:headEnd/>
              <a:tailEnd/>
            </a:ln>
          </p:spPr>
          <p:txBody>
            <a:bodyPr wrap="square">
              <a:spAutoFit/>
            </a:bodyPr>
            <a:lstStyle/>
            <a:p>
              <a:r>
                <a:rPr lang="en-US" sz="1800" b="1" dirty="0">
                  <a:latin typeface="Arial" charset="0"/>
                  <a:cs typeface="Arial" charset="0"/>
                </a:rPr>
                <a:t>Time</a:t>
              </a:r>
            </a:p>
          </p:txBody>
        </p:sp>
      </p:grpSp>
      <p:pic>
        <p:nvPicPr>
          <p:cNvPr id="20" name="Picture 4610" descr="prsa.tif"/>
          <p:cNvPicPr>
            <a:picLocks noChangeAspect="1"/>
          </p:cNvPicPr>
          <p:nvPr/>
        </p:nvPicPr>
        <p:blipFill>
          <a:blip r:embed="rId7" cstate="print"/>
          <a:srcRect/>
          <a:stretch>
            <a:fillRect/>
          </a:stretch>
        </p:blipFill>
        <p:spPr bwMode="auto">
          <a:xfrm>
            <a:off x="4511675" y="476250"/>
            <a:ext cx="1584325" cy="1300163"/>
          </a:xfrm>
          <a:prstGeom prst="rect">
            <a:avLst/>
          </a:prstGeom>
          <a:noFill/>
          <a:ln w="9525">
            <a:noFill/>
            <a:miter lim="800000"/>
            <a:headEnd/>
            <a:tailEnd/>
          </a:ln>
        </p:spPr>
      </p:pic>
      <p:pic>
        <p:nvPicPr>
          <p:cNvPr id="22" name="Picture 4609" descr="prsb.tif"/>
          <p:cNvPicPr>
            <a:picLocks noChangeAspect="1"/>
          </p:cNvPicPr>
          <p:nvPr/>
        </p:nvPicPr>
        <p:blipFill>
          <a:blip r:embed="rId8" cstate="print"/>
          <a:srcRect/>
          <a:stretch>
            <a:fillRect/>
          </a:stretch>
        </p:blipFill>
        <p:spPr bwMode="auto">
          <a:xfrm>
            <a:off x="6342062" y="476250"/>
            <a:ext cx="1658938" cy="1296988"/>
          </a:xfrm>
          <a:prstGeom prst="rect">
            <a:avLst/>
          </a:prstGeom>
          <a:noFill/>
          <a:ln w="9525">
            <a:noFill/>
            <a:miter lim="800000"/>
            <a:headEnd/>
            <a:tailEnd/>
          </a:ln>
        </p:spPr>
      </p:pic>
      <p:sp>
        <p:nvSpPr>
          <p:cNvPr id="25" name="Rectangle 102"/>
          <p:cNvSpPr>
            <a:spLocks noChangeArrowheads="1"/>
          </p:cNvSpPr>
          <p:nvPr/>
        </p:nvSpPr>
        <p:spPr bwMode="auto">
          <a:xfrm>
            <a:off x="3203575" y="1916113"/>
            <a:ext cx="5635625" cy="2808287"/>
          </a:xfrm>
          <a:prstGeom prst="rect">
            <a:avLst/>
          </a:prstGeom>
          <a:solidFill>
            <a:schemeClr val="bg2">
              <a:lumMod val="40000"/>
              <a:lumOff val="60000"/>
            </a:schemeClr>
          </a:solidFill>
          <a:ln w="9525">
            <a:solidFill>
              <a:srgbClr val="F8F8F8"/>
            </a:solidFill>
            <a:miter lim="800000"/>
            <a:headEnd/>
            <a:tailEnd/>
          </a:ln>
        </p:spPr>
        <p:txBody>
          <a:bodyPr wrap="none" anchor="ctr"/>
          <a:lstStyle/>
          <a:p>
            <a:pPr>
              <a:defRPr/>
            </a:pPr>
            <a:endParaRPr lang="en-US"/>
          </a:p>
        </p:txBody>
      </p:sp>
      <p:sp>
        <p:nvSpPr>
          <p:cNvPr id="26" name="Rectangle 103"/>
          <p:cNvSpPr>
            <a:spLocks noChangeArrowheads="1"/>
          </p:cNvSpPr>
          <p:nvPr/>
        </p:nvSpPr>
        <p:spPr bwMode="auto">
          <a:xfrm>
            <a:off x="5184088" y="1916113"/>
            <a:ext cx="180000" cy="2808287"/>
          </a:xfrm>
          <a:prstGeom prst="rect">
            <a:avLst/>
          </a:prstGeom>
          <a:solidFill>
            <a:schemeClr val="accent6">
              <a:lumMod val="40000"/>
              <a:lumOff val="60000"/>
            </a:schemeClr>
          </a:solidFill>
          <a:ln w="9525">
            <a:solidFill>
              <a:srgbClr val="F8F8F8"/>
            </a:solidFill>
            <a:miter lim="800000"/>
            <a:headEnd/>
            <a:tailEnd/>
          </a:ln>
        </p:spPr>
        <p:txBody>
          <a:bodyPr wrap="none" anchor="ctr"/>
          <a:lstStyle/>
          <a:p>
            <a:pPr>
              <a:defRPr/>
            </a:pPr>
            <a:endParaRPr lang="en-US"/>
          </a:p>
        </p:txBody>
      </p:sp>
      <p:sp>
        <p:nvSpPr>
          <p:cNvPr id="27" name="Rectangle 104"/>
          <p:cNvSpPr>
            <a:spLocks noChangeArrowheads="1"/>
          </p:cNvSpPr>
          <p:nvPr/>
        </p:nvSpPr>
        <p:spPr bwMode="auto">
          <a:xfrm>
            <a:off x="7056296" y="1916113"/>
            <a:ext cx="180000" cy="2808287"/>
          </a:xfrm>
          <a:prstGeom prst="rect">
            <a:avLst/>
          </a:prstGeom>
          <a:solidFill>
            <a:schemeClr val="accent6">
              <a:lumMod val="40000"/>
              <a:lumOff val="60000"/>
            </a:schemeClr>
          </a:solidFill>
          <a:ln w="9525">
            <a:solidFill>
              <a:srgbClr val="F8F8F8"/>
            </a:solidFill>
            <a:miter lim="800000"/>
            <a:headEnd/>
            <a:tailEnd/>
          </a:ln>
        </p:spPr>
        <p:txBody>
          <a:bodyPr wrap="none" anchor="ctr"/>
          <a:lstStyle/>
          <a:p>
            <a:pPr>
              <a:defRPr/>
            </a:pPr>
            <a:endParaRPr lang="en-US"/>
          </a:p>
        </p:txBody>
      </p:sp>
      <p:graphicFrame>
        <p:nvGraphicFramePr>
          <p:cNvPr id="28" name="Object 81"/>
          <p:cNvGraphicFramePr>
            <a:graphicFrameLocks noChangeAspect="1"/>
          </p:cNvGraphicFramePr>
          <p:nvPr/>
        </p:nvGraphicFramePr>
        <p:xfrm>
          <a:off x="498734" y="741318"/>
          <a:ext cx="3422129" cy="650963"/>
        </p:xfrm>
        <a:graphic>
          <a:graphicData uri="http://schemas.openxmlformats.org/presentationml/2006/ole">
            <mc:AlternateContent xmlns:mc="http://schemas.openxmlformats.org/markup-compatibility/2006">
              <mc:Choice xmlns:v="urn:schemas-microsoft-com:vml" Requires="v">
                <p:oleObj name="Equazione" r:id="rId9" imgW="2273300" imgH="431800" progId="Equation.3">
                  <p:embed/>
                </p:oleObj>
              </mc:Choice>
              <mc:Fallback>
                <p:oleObj name="Equazione" r:id="rId9" imgW="2273300" imgH="431800" progId="Equation.3">
                  <p:embed/>
                  <p:pic>
                    <p:nvPicPr>
                      <p:cNvPr id="28" name="Object 8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8734" y="741318"/>
                        <a:ext cx="3422129" cy="650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Text Box 76"/>
          <p:cNvSpPr txBox="1">
            <a:spLocks noChangeArrowheads="1"/>
          </p:cNvSpPr>
          <p:nvPr/>
        </p:nvSpPr>
        <p:spPr bwMode="auto">
          <a:xfrm>
            <a:off x="5003800" y="4652963"/>
            <a:ext cx="561975" cy="461962"/>
          </a:xfrm>
          <a:prstGeom prst="rect">
            <a:avLst/>
          </a:prstGeom>
          <a:noFill/>
          <a:ln w="9525">
            <a:noFill/>
            <a:miter lim="800000"/>
            <a:headEnd/>
            <a:tailEnd/>
          </a:ln>
        </p:spPr>
        <p:txBody>
          <a:bodyPr>
            <a:spAutoFit/>
          </a:bodyPr>
          <a:lstStyle/>
          <a:p>
            <a:pPr>
              <a:spcBef>
                <a:spcPct val="50000"/>
              </a:spcBef>
            </a:pPr>
            <a:r>
              <a:rPr lang="en-US">
                <a:latin typeface="Arial" charset="0"/>
              </a:rPr>
              <a:t>s</a:t>
            </a:r>
            <a:r>
              <a:rPr lang="en-US" baseline="-25000">
                <a:latin typeface="Arial" charset="0"/>
              </a:rPr>
              <a:t>A</a:t>
            </a:r>
            <a:endParaRPr lang="en-US">
              <a:latin typeface="Arial" charset="0"/>
            </a:endParaRPr>
          </a:p>
        </p:txBody>
      </p:sp>
      <p:graphicFrame>
        <p:nvGraphicFramePr>
          <p:cNvPr id="30" name="Object 82"/>
          <p:cNvGraphicFramePr>
            <a:graphicFrameLocks noChangeAspect="1"/>
          </p:cNvGraphicFramePr>
          <p:nvPr/>
        </p:nvGraphicFramePr>
        <p:xfrm>
          <a:off x="5003800" y="692150"/>
          <a:ext cx="773113" cy="304800"/>
        </p:xfrm>
        <a:graphic>
          <a:graphicData uri="http://schemas.openxmlformats.org/presentationml/2006/ole">
            <mc:AlternateContent xmlns:mc="http://schemas.openxmlformats.org/markup-compatibility/2006">
              <mc:Choice xmlns:v="urn:schemas-microsoft-com:vml" Requires="v">
                <p:oleObj name="Equazione" r:id="rId11" imgW="545626" imgH="215713" progId="Equation.3">
                  <p:embed/>
                </p:oleObj>
              </mc:Choice>
              <mc:Fallback>
                <p:oleObj name="Equazione" r:id="rId11" imgW="545626" imgH="215713" progId="Equation.3">
                  <p:embed/>
                  <p:pic>
                    <p:nvPicPr>
                      <p:cNvPr id="30" name="Object 8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3800" y="692150"/>
                        <a:ext cx="773113"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83"/>
          <p:cNvGraphicFramePr>
            <a:graphicFrameLocks noChangeAspect="1"/>
          </p:cNvGraphicFramePr>
          <p:nvPr/>
        </p:nvGraphicFramePr>
        <p:xfrm>
          <a:off x="6948488" y="692150"/>
          <a:ext cx="771525" cy="306388"/>
        </p:xfrm>
        <a:graphic>
          <a:graphicData uri="http://schemas.openxmlformats.org/presentationml/2006/ole">
            <mc:AlternateContent xmlns:mc="http://schemas.openxmlformats.org/markup-compatibility/2006">
              <mc:Choice xmlns:v="urn:schemas-microsoft-com:vml" Requires="v">
                <p:oleObj name="Equazione" r:id="rId13" imgW="545626" imgH="215713" progId="Equation.3">
                  <p:embed/>
                </p:oleObj>
              </mc:Choice>
              <mc:Fallback>
                <p:oleObj name="Equazione" r:id="rId13" imgW="545626" imgH="215713" progId="Equation.3">
                  <p:embed/>
                  <p:pic>
                    <p:nvPicPr>
                      <p:cNvPr id="31" name="Object 8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48488" y="692150"/>
                        <a:ext cx="771525" cy="306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1942"/>
          <p:cNvGrpSpPr>
            <a:grpSpLocks/>
          </p:cNvGrpSpPr>
          <p:nvPr/>
        </p:nvGrpSpPr>
        <p:grpSpPr bwMode="auto">
          <a:xfrm>
            <a:off x="3276600" y="1989138"/>
            <a:ext cx="5472113" cy="2735262"/>
            <a:chOff x="1543050" y="1873251"/>
            <a:chExt cx="6723063" cy="2795588"/>
          </a:xfrm>
        </p:grpSpPr>
        <p:grpSp>
          <p:nvGrpSpPr>
            <p:cNvPr id="7" name="Group 406"/>
            <p:cNvGrpSpPr>
              <a:grpSpLocks/>
            </p:cNvGrpSpPr>
            <p:nvPr/>
          </p:nvGrpSpPr>
          <p:grpSpPr bwMode="auto">
            <a:xfrm>
              <a:off x="1909841" y="4213368"/>
              <a:ext cx="6356610" cy="455628"/>
              <a:chOff x="1203" y="2654"/>
              <a:chExt cx="4004" cy="287"/>
            </a:xfrm>
          </p:grpSpPr>
          <p:sp>
            <p:nvSpPr>
              <p:cNvPr id="1481" name="Freeform 206"/>
              <p:cNvSpPr>
                <a:spLocks/>
              </p:cNvSpPr>
              <p:nvPr/>
            </p:nvSpPr>
            <p:spPr bwMode="auto">
              <a:xfrm>
                <a:off x="3241" y="2932"/>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82" name="Freeform 207"/>
              <p:cNvSpPr>
                <a:spLocks/>
              </p:cNvSpPr>
              <p:nvPr/>
            </p:nvSpPr>
            <p:spPr bwMode="auto">
              <a:xfrm>
                <a:off x="3248" y="2932"/>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3" name="Freeform 208"/>
              <p:cNvSpPr>
                <a:spLocks/>
              </p:cNvSpPr>
              <p:nvPr/>
            </p:nvSpPr>
            <p:spPr bwMode="auto">
              <a:xfrm>
                <a:off x="3311" y="2932"/>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4" name="Freeform 209"/>
              <p:cNvSpPr>
                <a:spLocks/>
              </p:cNvSpPr>
              <p:nvPr/>
            </p:nvSpPr>
            <p:spPr bwMode="auto">
              <a:xfrm>
                <a:off x="3329" y="2932"/>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85" name="Freeform 210"/>
              <p:cNvSpPr>
                <a:spLocks/>
              </p:cNvSpPr>
              <p:nvPr/>
            </p:nvSpPr>
            <p:spPr bwMode="auto">
              <a:xfrm>
                <a:off x="3336" y="2932"/>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86" name="Freeform 211"/>
              <p:cNvSpPr>
                <a:spLocks/>
              </p:cNvSpPr>
              <p:nvPr/>
            </p:nvSpPr>
            <p:spPr bwMode="auto">
              <a:xfrm>
                <a:off x="3362" y="2932"/>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7" name="Freeform 212"/>
              <p:cNvSpPr>
                <a:spLocks/>
              </p:cNvSpPr>
              <p:nvPr/>
            </p:nvSpPr>
            <p:spPr bwMode="auto">
              <a:xfrm>
                <a:off x="3526" y="2932"/>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88" name="Freeform 213"/>
              <p:cNvSpPr>
                <a:spLocks/>
              </p:cNvSpPr>
              <p:nvPr/>
            </p:nvSpPr>
            <p:spPr bwMode="auto">
              <a:xfrm>
                <a:off x="3859" y="2932"/>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89" name="Freeform 214"/>
              <p:cNvSpPr>
                <a:spLocks/>
              </p:cNvSpPr>
              <p:nvPr/>
            </p:nvSpPr>
            <p:spPr bwMode="auto">
              <a:xfrm>
                <a:off x="4207" y="2932"/>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90" name="Freeform 215"/>
              <p:cNvSpPr>
                <a:spLocks/>
              </p:cNvSpPr>
              <p:nvPr/>
            </p:nvSpPr>
            <p:spPr bwMode="auto">
              <a:xfrm>
                <a:off x="4290" y="2932"/>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1" name="Freeform 216"/>
              <p:cNvSpPr>
                <a:spLocks/>
              </p:cNvSpPr>
              <p:nvPr/>
            </p:nvSpPr>
            <p:spPr bwMode="auto">
              <a:xfrm>
                <a:off x="5177" y="2932"/>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92" name="Freeform 217"/>
              <p:cNvSpPr>
                <a:spLocks/>
              </p:cNvSpPr>
              <p:nvPr/>
            </p:nvSpPr>
            <p:spPr bwMode="auto">
              <a:xfrm>
                <a:off x="1564"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93" name="Freeform 218"/>
              <p:cNvSpPr>
                <a:spLocks/>
              </p:cNvSpPr>
              <p:nvPr/>
            </p:nvSpPr>
            <p:spPr bwMode="auto">
              <a:xfrm>
                <a:off x="1567" y="2892"/>
                <a:ext cx="11" cy="10"/>
              </a:xfrm>
              <a:custGeom>
                <a:avLst/>
                <a:gdLst>
                  <a:gd name="T0" fmla="*/ 4 w 11"/>
                  <a:gd name="T1" fmla="*/ 0 h 10"/>
                  <a:gd name="T2" fmla="*/ 7 w 11"/>
                  <a:gd name="T3" fmla="*/ 0 h 10"/>
                  <a:gd name="T4" fmla="*/ 11 w 11"/>
                  <a:gd name="T5" fmla="*/ 3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4" name="Freeform 219"/>
              <p:cNvSpPr>
                <a:spLocks/>
              </p:cNvSpPr>
              <p:nvPr/>
            </p:nvSpPr>
            <p:spPr bwMode="auto">
              <a:xfrm>
                <a:off x="1581"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5" name="Freeform 220"/>
              <p:cNvSpPr>
                <a:spLocks/>
              </p:cNvSpPr>
              <p:nvPr/>
            </p:nvSpPr>
            <p:spPr bwMode="auto">
              <a:xfrm>
                <a:off x="1597"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6" name="Freeform 221"/>
              <p:cNvSpPr>
                <a:spLocks/>
              </p:cNvSpPr>
              <p:nvPr/>
            </p:nvSpPr>
            <p:spPr bwMode="auto">
              <a:xfrm>
                <a:off x="1604"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7" name="Freeform 222"/>
              <p:cNvSpPr>
                <a:spLocks/>
              </p:cNvSpPr>
              <p:nvPr/>
            </p:nvSpPr>
            <p:spPr bwMode="auto">
              <a:xfrm>
                <a:off x="1630"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98" name="Freeform 223"/>
              <p:cNvSpPr>
                <a:spLocks/>
              </p:cNvSpPr>
              <p:nvPr/>
            </p:nvSpPr>
            <p:spPr bwMode="auto">
              <a:xfrm>
                <a:off x="1636" y="2892"/>
                <a:ext cx="8" cy="10"/>
              </a:xfrm>
              <a:custGeom>
                <a:avLst/>
                <a:gdLst>
                  <a:gd name="T0" fmla="*/ 3 w 8"/>
                  <a:gd name="T1" fmla="*/ 0 h 10"/>
                  <a:gd name="T2" fmla="*/ 5 w 8"/>
                  <a:gd name="T3" fmla="*/ 0 h 10"/>
                  <a:gd name="T4" fmla="*/ 8 w 8"/>
                  <a:gd name="T5" fmla="*/ 3 h 10"/>
                  <a:gd name="T6" fmla="*/ 8 w 8"/>
                  <a:gd name="T7" fmla="*/ 9 h 10"/>
                  <a:gd name="T8" fmla="*/ 7 w 8"/>
                  <a:gd name="T9" fmla="*/ 10 h 10"/>
                  <a:gd name="T10" fmla="*/ 1 w 8"/>
                  <a:gd name="T11" fmla="*/ 10 h 10"/>
                  <a:gd name="T12" fmla="*/ 0 w 8"/>
                  <a:gd name="T13" fmla="*/ 9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9"/>
                    </a:lnTo>
                    <a:lnTo>
                      <a:pt x="7"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99" name="Freeform 224"/>
              <p:cNvSpPr>
                <a:spLocks/>
              </p:cNvSpPr>
              <p:nvPr/>
            </p:nvSpPr>
            <p:spPr bwMode="auto">
              <a:xfrm>
                <a:off x="1656" y="2892"/>
                <a:ext cx="11" cy="10"/>
              </a:xfrm>
              <a:custGeom>
                <a:avLst/>
                <a:gdLst>
                  <a:gd name="T0" fmla="*/ 4 w 11"/>
                  <a:gd name="T1" fmla="*/ 0 h 10"/>
                  <a:gd name="T2" fmla="*/ 7 w 11"/>
                  <a:gd name="T3" fmla="*/ 0 h 10"/>
                  <a:gd name="T4" fmla="*/ 11 w 11"/>
                  <a:gd name="T5" fmla="*/ 3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00" name="Freeform 225"/>
              <p:cNvSpPr>
                <a:spLocks/>
              </p:cNvSpPr>
              <p:nvPr/>
            </p:nvSpPr>
            <p:spPr bwMode="auto">
              <a:xfrm>
                <a:off x="1686"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01" name="Freeform 226"/>
              <p:cNvSpPr>
                <a:spLocks/>
              </p:cNvSpPr>
              <p:nvPr/>
            </p:nvSpPr>
            <p:spPr bwMode="auto">
              <a:xfrm>
                <a:off x="1819"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02" name="Freeform 227"/>
              <p:cNvSpPr>
                <a:spLocks/>
              </p:cNvSpPr>
              <p:nvPr/>
            </p:nvSpPr>
            <p:spPr bwMode="auto">
              <a:xfrm>
                <a:off x="2510"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03" name="Freeform 228"/>
              <p:cNvSpPr>
                <a:spLocks/>
              </p:cNvSpPr>
              <p:nvPr/>
            </p:nvSpPr>
            <p:spPr bwMode="auto">
              <a:xfrm>
                <a:off x="2520"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04" name="Freeform 229"/>
              <p:cNvSpPr>
                <a:spLocks/>
              </p:cNvSpPr>
              <p:nvPr/>
            </p:nvSpPr>
            <p:spPr bwMode="auto">
              <a:xfrm>
                <a:off x="2536"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05" name="Freeform 230"/>
              <p:cNvSpPr>
                <a:spLocks/>
              </p:cNvSpPr>
              <p:nvPr/>
            </p:nvSpPr>
            <p:spPr bwMode="auto">
              <a:xfrm>
                <a:off x="2538" y="2892"/>
                <a:ext cx="10" cy="10"/>
              </a:xfrm>
              <a:custGeom>
                <a:avLst/>
                <a:gdLst>
                  <a:gd name="T0" fmla="*/ 3 w 10"/>
                  <a:gd name="T1" fmla="*/ 0 h 10"/>
                  <a:gd name="T2" fmla="*/ 7 w 10"/>
                  <a:gd name="T3" fmla="*/ 0 h 10"/>
                  <a:gd name="T4" fmla="*/ 10 w 10"/>
                  <a:gd name="T5" fmla="*/ 3 h 10"/>
                  <a:gd name="T6" fmla="*/ 10 w 10"/>
                  <a:gd name="T7" fmla="*/ 9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9"/>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06" name="Freeform 231"/>
              <p:cNvSpPr>
                <a:spLocks/>
              </p:cNvSpPr>
              <p:nvPr/>
            </p:nvSpPr>
            <p:spPr bwMode="auto">
              <a:xfrm>
                <a:off x="3222" y="2892"/>
                <a:ext cx="9" cy="10"/>
              </a:xfrm>
              <a:custGeom>
                <a:avLst/>
                <a:gdLst>
                  <a:gd name="T0" fmla="*/ 4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07" name="Freeform 232"/>
              <p:cNvSpPr>
                <a:spLocks/>
              </p:cNvSpPr>
              <p:nvPr/>
            </p:nvSpPr>
            <p:spPr bwMode="auto">
              <a:xfrm>
                <a:off x="3226" y="2892"/>
                <a:ext cx="10" cy="10"/>
              </a:xfrm>
              <a:custGeom>
                <a:avLst/>
                <a:gdLst>
                  <a:gd name="T0" fmla="*/ 3 w 10"/>
                  <a:gd name="T1" fmla="*/ 0 h 10"/>
                  <a:gd name="T2" fmla="*/ 7 w 10"/>
                  <a:gd name="T3" fmla="*/ 0 h 10"/>
                  <a:gd name="T4" fmla="*/ 10 w 10"/>
                  <a:gd name="T5" fmla="*/ 3 h 10"/>
                  <a:gd name="T6" fmla="*/ 10 w 10"/>
                  <a:gd name="T7" fmla="*/ 9 h 10"/>
                  <a:gd name="T8" fmla="*/ 8 w 10"/>
                  <a:gd name="T9" fmla="*/ 10 h 10"/>
                  <a:gd name="T10" fmla="*/ 1 w 10"/>
                  <a:gd name="T11" fmla="*/ 10 h 10"/>
                  <a:gd name="T12" fmla="*/ 0 w 10"/>
                  <a:gd name="T13" fmla="*/ 9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9"/>
                    </a:lnTo>
                    <a:lnTo>
                      <a:pt x="8"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08" name="Freeform 233"/>
              <p:cNvSpPr>
                <a:spLocks/>
              </p:cNvSpPr>
              <p:nvPr/>
            </p:nvSpPr>
            <p:spPr bwMode="auto">
              <a:xfrm>
                <a:off x="3301" y="2892"/>
                <a:ext cx="8" cy="10"/>
              </a:xfrm>
              <a:custGeom>
                <a:avLst/>
                <a:gdLst>
                  <a:gd name="T0" fmla="*/ 3 w 8"/>
                  <a:gd name="T1" fmla="*/ 0 h 10"/>
                  <a:gd name="T2" fmla="*/ 5 w 8"/>
                  <a:gd name="T3" fmla="*/ 0 h 10"/>
                  <a:gd name="T4" fmla="*/ 8 w 8"/>
                  <a:gd name="T5" fmla="*/ 3 h 10"/>
                  <a:gd name="T6" fmla="*/ 8 w 8"/>
                  <a:gd name="T7" fmla="*/ 9 h 10"/>
                  <a:gd name="T8" fmla="*/ 7 w 8"/>
                  <a:gd name="T9" fmla="*/ 10 h 10"/>
                  <a:gd name="T10" fmla="*/ 1 w 8"/>
                  <a:gd name="T11" fmla="*/ 10 h 10"/>
                  <a:gd name="T12" fmla="*/ 0 w 8"/>
                  <a:gd name="T13" fmla="*/ 9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9"/>
                    </a:lnTo>
                    <a:lnTo>
                      <a:pt x="7"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09" name="Freeform 234"/>
              <p:cNvSpPr>
                <a:spLocks/>
              </p:cNvSpPr>
              <p:nvPr/>
            </p:nvSpPr>
            <p:spPr bwMode="auto">
              <a:xfrm>
                <a:off x="3313" y="2892"/>
                <a:ext cx="10" cy="10"/>
              </a:xfrm>
              <a:custGeom>
                <a:avLst/>
                <a:gdLst>
                  <a:gd name="T0" fmla="*/ 3 w 10"/>
                  <a:gd name="T1" fmla="*/ 0 h 10"/>
                  <a:gd name="T2" fmla="*/ 7 w 10"/>
                  <a:gd name="T3" fmla="*/ 0 h 10"/>
                  <a:gd name="T4" fmla="*/ 10 w 10"/>
                  <a:gd name="T5" fmla="*/ 3 h 10"/>
                  <a:gd name="T6" fmla="*/ 10 w 10"/>
                  <a:gd name="T7" fmla="*/ 9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9"/>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10" name="Freeform 235"/>
              <p:cNvSpPr>
                <a:spLocks/>
              </p:cNvSpPr>
              <p:nvPr/>
            </p:nvSpPr>
            <p:spPr bwMode="auto">
              <a:xfrm>
                <a:off x="3337"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11" name="Freeform 236"/>
              <p:cNvSpPr>
                <a:spLocks/>
              </p:cNvSpPr>
              <p:nvPr/>
            </p:nvSpPr>
            <p:spPr bwMode="auto">
              <a:xfrm>
                <a:off x="3526"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12" name="Freeform 237"/>
              <p:cNvSpPr>
                <a:spLocks/>
              </p:cNvSpPr>
              <p:nvPr/>
            </p:nvSpPr>
            <p:spPr bwMode="auto">
              <a:xfrm>
                <a:off x="3531" y="2892"/>
                <a:ext cx="11" cy="10"/>
              </a:xfrm>
              <a:custGeom>
                <a:avLst/>
                <a:gdLst>
                  <a:gd name="T0" fmla="*/ 4 w 11"/>
                  <a:gd name="T1" fmla="*/ 0 h 10"/>
                  <a:gd name="T2" fmla="*/ 7 w 11"/>
                  <a:gd name="T3" fmla="*/ 0 h 10"/>
                  <a:gd name="T4" fmla="*/ 11 w 11"/>
                  <a:gd name="T5" fmla="*/ 3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13" name="Freeform 238"/>
              <p:cNvSpPr>
                <a:spLocks/>
              </p:cNvSpPr>
              <p:nvPr/>
            </p:nvSpPr>
            <p:spPr bwMode="auto">
              <a:xfrm>
                <a:off x="3981"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14" name="Freeform 239"/>
              <p:cNvSpPr>
                <a:spLocks/>
              </p:cNvSpPr>
              <p:nvPr/>
            </p:nvSpPr>
            <p:spPr bwMode="auto">
              <a:xfrm>
                <a:off x="3988" y="2892"/>
                <a:ext cx="9" cy="10"/>
              </a:xfrm>
              <a:custGeom>
                <a:avLst/>
                <a:gdLst>
                  <a:gd name="T0" fmla="*/ 4 w 9"/>
                  <a:gd name="T1" fmla="*/ 0 h 10"/>
                  <a:gd name="T2" fmla="*/ 6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9"/>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15" name="Freeform 240"/>
              <p:cNvSpPr>
                <a:spLocks/>
              </p:cNvSpPr>
              <p:nvPr/>
            </p:nvSpPr>
            <p:spPr bwMode="auto">
              <a:xfrm>
                <a:off x="4184" y="2892"/>
                <a:ext cx="9" cy="10"/>
              </a:xfrm>
              <a:custGeom>
                <a:avLst/>
                <a:gdLst>
                  <a:gd name="T0" fmla="*/ 3 w 9"/>
                  <a:gd name="T1" fmla="*/ 0 h 10"/>
                  <a:gd name="T2" fmla="*/ 5 w 9"/>
                  <a:gd name="T3" fmla="*/ 0 h 10"/>
                  <a:gd name="T4" fmla="*/ 9 w 9"/>
                  <a:gd name="T5" fmla="*/ 3 h 10"/>
                  <a:gd name="T6" fmla="*/ 9 w 9"/>
                  <a:gd name="T7" fmla="*/ 9 h 10"/>
                  <a:gd name="T8" fmla="*/ 7 w 9"/>
                  <a:gd name="T9" fmla="*/ 10 h 10"/>
                  <a:gd name="T10" fmla="*/ 2 w 9"/>
                  <a:gd name="T11" fmla="*/ 10 h 10"/>
                  <a:gd name="T12" fmla="*/ 0 w 9"/>
                  <a:gd name="T13" fmla="*/ 9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9"/>
                    </a:lnTo>
                    <a:lnTo>
                      <a:pt x="7" y="10"/>
                    </a:lnTo>
                    <a:lnTo>
                      <a:pt x="2"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16" name="Freeform 241"/>
              <p:cNvSpPr>
                <a:spLocks/>
              </p:cNvSpPr>
              <p:nvPr/>
            </p:nvSpPr>
            <p:spPr bwMode="auto">
              <a:xfrm>
                <a:off x="4201"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17" name="Freeform 242"/>
              <p:cNvSpPr>
                <a:spLocks/>
              </p:cNvSpPr>
              <p:nvPr/>
            </p:nvSpPr>
            <p:spPr bwMode="auto">
              <a:xfrm>
                <a:off x="4208"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18" name="Freeform 243"/>
              <p:cNvSpPr>
                <a:spLocks/>
              </p:cNvSpPr>
              <p:nvPr/>
            </p:nvSpPr>
            <p:spPr bwMode="auto">
              <a:xfrm>
                <a:off x="4210" y="2892"/>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9"/>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19" name="Freeform 244"/>
              <p:cNvSpPr>
                <a:spLocks/>
              </p:cNvSpPr>
              <p:nvPr/>
            </p:nvSpPr>
            <p:spPr bwMode="auto">
              <a:xfrm>
                <a:off x="4310" y="2892"/>
                <a:ext cx="8" cy="10"/>
              </a:xfrm>
              <a:custGeom>
                <a:avLst/>
                <a:gdLst>
                  <a:gd name="T0" fmla="*/ 3 w 8"/>
                  <a:gd name="T1" fmla="*/ 0 h 10"/>
                  <a:gd name="T2" fmla="*/ 5 w 8"/>
                  <a:gd name="T3" fmla="*/ 0 h 10"/>
                  <a:gd name="T4" fmla="*/ 8 w 8"/>
                  <a:gd name="T5" fmla="*/ 3 h 10"/>
                  <a:gd name="T6" fmla="*/ 8 w 8"/>
                  <a:gd name="T7" fmla="*/ 9 h 10"/>
                  <a:gd name="T8" fmla="*/ 7 w 8"/>
                  <a:gd name="T9" fmla="*/ 10 h 10"/>
                  <a:gd name="T10" fmla="*/ 1 w 8"/>
                  <a:gd name="T11" fmla="*/ 10 h 10"/>
                  <a:gd name="T12" fmla="*/ 0 w 8"/>
                  <a:gd name="T13" fmla="*/ 9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9"/>
                    </a:lnTo>
                    <a:lnTo>
                      <a:pt x="7" y="10"/>
                    </a:lnTo>
                    <a:lnTo>
                      <a:pt x="1" y="10"/>
                    </a:lnTo>
                    <a:lnTo>
                      <a:pt x="0" y="9"/>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20" name="Freeform 245"/>
              <p:cNvSpPr>
                <a:spLocks/>
              </p:cNvSpPr>
              <p:nvPr/>
            </p:nvSpPr>
            <p:spPr bwMode="auto">
              <a:xfrm>
                <a:off x="1573" y="2854"/>
                <a:ext cx="8" cy="8"/>
              </a:xfrm>
              <a:custGeom>
                <a:avLst/>
                <a:gdLst>
                  <a:gd name="T0" fmla="*/ 1 w 8"/>
                  <a:gd name="T1" fmla="*/ 0 h 8"/>
                  <a:gd name="T2" fmla="*/ 5 w 8"/>
                  <a:gd name="T3" fmla="*/ 0 h 8"/>
                  <a:gd name="T4" fmla="*/ 8 w 8"/>
                  <a:gd name="T5" fmla="*/ 3 h 8"/>
                  <a:gd name="T6" fmla="*/ 8 w 8"/>
                  <a:gd name="T7" fmla="*/ 6 h 8"/>
                  <a:gd name="T8" fmla="*/ 7 w 8"/>
                  <a:gd name="T9" fmla="*/ 8 h 8"/>
                  <a:gd name="T10" fmla="*/ 1 w 8"/>
                  <a:gd name="T11" fmla="*/ 8 h 8"/>
                  <a:gd name="T12" fmla="*/ 0 w 8"/>
                  <a:gd name="T13" fmla="*/ 6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6"/>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21" name="Freeform 246"/>
              <p:cNvSpPr>
                <a:spLocks/>
              </p:cNvSpPr>
              <p:nvPr/>
            </p:nvSpPr>
            <p:spPr bwMode="auto">
              <a:xfrm>
                <a:off x="1576" y="2854"/>
                <a:ext cx="11" cy="8"/>
              </a:xfrm>
              <a:custGeom>
                <a:avLst/>
                <a:gdLst>
                  <a:gd name="T0" fmla="*/ 4 w 11"/>
                  <a:gd name="T1" fmla="*/ 0 h 8"/>
                  <a:gd name="T2" fmla="*/ 9 w 11"/>
                  <a:gd name="T3" fmla="*/ 0 h 8"/>
                  <a:gd name="T4" fmla="*/ 11 w 11"/>
                  <a:gd name="T5" fmla="*/ 1 h 8"/>
                  <a:gd name="T6" fmla="*/ 11 w 11"/>
                  <a:gd name="T7" fmla="*/ 6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22" name="Freeform 247"/>
              <p:cNvSpPr>
                <a:spLocks/>
              </p:cNvSpPr>
              <p:nvPr/>
            </p:nvSpPr>
            <p:spPr bwMode="auto">
              <a:xfrm>
                <a:off x="1587"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23" name="Freeform 248"/>
              <p:cNvSpPr>
                <a:spLocks/>
              </p:cNvSpPr>
              <p:nvPr/>
            </p:nvSpPr>
            <p:spPr bwMode="auto">
              <a:xfrm>
                <a:off x="2021" y="2854"/>
                <a:ext cx="9" cy="8"/>
              </a:xfrm>
              <a:custGeom>
                <a:avLst/>
                <a:gdLst>
                  <a:gd name="T0" fmla="*/ 2 w 9"/>
                  <a:gd name="T1" fmla="*/ 0 h 8"/>
                  <a:gd name="T2" fmla="*/ 6 w 9"/>
                  <a:gd name="T3" fmla="*/ 0 h 8"/>
                  <a:gd name="T4" fmla="*/ 9 w 9"/>
                  <a:gd name="T5" fmla="*/ 3 h 8"/>
                  <a:gd name="T6" fmla="*/ 9 w 9"/>
                  <a:gd name="T7" fmla="*/ 6 h 8"/>
                  <a:gd name="T8" fmla="*/ 7 w 9"/>
                  <a:gd name="T9" fmla="*/ 8 h 8"/>
                  <a:gd name="T10" fmla="*/ 2 w 9"/>
                  <a:gd name="T11" fmla="*/ 8 h 8"/>
                  <a:gd name="T12" fmla="*/ 0 w 9"/>
                  <a:gd name="T13" fmla="*/ 6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6"/>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4" name="Freeform 249"/>
              <p:cNvSpPr>
                <a:spLocks/>
              </p:cNvSpPr>
              <p:nvPr/>
            </p:nvSpPr>
            <p:spPr bwMode="auto">
              <a:xfrm>
                <a:off x="2093"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25" name="Freeform 250"/>
              <p:cNvSpPr>
                <a:spLocks/>
              </p:cNvSpPr>
              <p:nvPr/>
            </p:nvSpPr>
            <p:spPr bwMode="auto">
              <a:xfrm>
                <a:off x="2142" y="2854"/>
                <a:ext cx="8" cy="8"/>
              </a:xfrm>
              <a:custGeom>
                <a:avLst/>
                <a:gdLst>
                  <a:gd name="T0" fmla="*/ 1 w 8"/>
                  <a:gd name="T1" fmla="*/ 0 h 8"/>
                  <a:gd name="T2" fmla="*/ 5 w 8"/>
                  <a:gd name="T3" fmla="*/ 0 h 8"/>
                  <a:gd name="T4" fmla="*/ 8 w 8"/>
                  <a:gd name="T5" fmla="*/ 3 h 8"/>
                  <a:gd name="T6" fmla="*/ 8 w 8"/>
                  <a:gd name="T7" fmla="*/ 6 h 8"/>
                  <a:gd name="T8" fmla="*/ 7 w 8"/>
                  <a:gd name="T9" fmla="*/ 8 h 8"/>
                  <a:gd name="T10" fmla="*/ 1 w 8"/>
                  <a:gd name="T11" fmla="*/ 8 h 8"/>
                  <a:gd name="T12" fmla="*/ 0 w 8"/>
                  <a:gd name="T13" fmla="*/ 6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6"/>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26" name="Freeform 251"/>
              <p:cNvSpPr>
                <a:spLocks/>
              </p:cNvSpPr>
              <p:nvPr/>
            </p:nvSpPr>
            <p:spPr bwMode="auto">
              <a:xfrm>
                <a:off x="2147"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27" name="Freeform 252"/>
              <p:cNvSpPr>
                <a:spLocks/>
              </p:cNvSpPr>
              <p:nvPr/>
            </p:nvSpPr>
            <p:spPr bwMode="auto">
              <a:xfrm>
                <a:off x="2149"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28" name="Freeform 253"/>
              <p:cNvSpPr>
                <a:spLocks/>
              </p:cNvSpPr>
              <p:nvPr/>
            </p:nvSpPr>
            <p:spPr bwMode="auto">
              <a:xfrm>
                <a:off x="2463"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9" name="Freeform 254"/>
              <p:cNvSpPr>
                <a:spLocks/>
              </p:cNvSpPr>
              <p:nvPr/>
            </p:nvSpPr>
            <p:spPr bwMode="auto">
              <a:xfrm>
                <a:off x="2496" y="2854"/>
                <a:ext cx="11" cy="8"/>
              </a:xfrm>
              <a:custGeom>
                <a:avLst/>
                <a:gdLst>
                  <a:gd name="T0" fmla="*/ 4 w 11"/>
                  <a:gd name="T1" fmla="*/ 0 h 8"/>
                  <a:gd name="T2" fmla="*/ 9 w 11"/>
                  <a:gd name="T3" fmla="*/ 0 h 8"/>
                  <a:gd name="T4" fmla="*/ 11 w 11"/>
                  <a:gd name="T5" fmla="*/ 1 h 8"/>
                  <a:gd name="T6" fmla="*/ 11 w 11"/>
                  <a:gd name="T7" fmla="*/ 6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0" name="Freeform 255"/>
              <p:cNvSpPr>
                <a:spLocks/>
              </p:cNvSpPr>
              <p:nvPr/>
            </p:nvSpPr>
            <p:spPr bwMode="auto">
              <a:xfrm>
                <a:off x="2503" y="2854"/>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6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1" name="Freeform 256"/>
              <p:cNvSpPr>
                <a:spLocks/>
              </p:cNvSpPr>
              <p:nvPr/>
            </p:nvSpPr>
            <p:spPr bwMode="auto">
              <a:xfrm>
                <a:off x="2512"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2" name="Freeform 257"/>
              <p:cNvSpPr>
                <a:spLocks/>
              </p:cNvSpPr>
              <p:nvPr/>
            </p:nvSpPr>
            <p:spPr bwMode="auto">
              <a:xfrm>
                <a:off x="2533"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33" name="Freeform 258"/>
              <p:cNvSpPr>
                <a:spLocks/>
              </p:cNvSpPr>
              <p:nvPr/>
            </p:nvSpPr>
            <p:spPr bwMode="auto">
              <a:xfrm>
                <a:off x="2554" y="2854"/>
                <a:ext cx="10" cy="8"/>
              </a:xfrm>
              <a:custGeom>
                <a:avLst/>
                <a:gdLst>
                  <a:gd name="T0" fmla="*/ 3 w 10"/>
                  <a:gd name="T1" fmla="*/ 0 h 8"/>
                  <a:gd name="T2" fmla="*/ 8 w 10"/>
                  <a:gd name="T3" fmla="*/ 0 h 8"/>
                  <a:gd name="T4" fmla="*/ 10 w 10"/>
                  <a:gd name="T5" fmla="*/ 1 h 8"/>
                  <a:gd name="T6" fmla="*/ 10 w 10"/>
                  <a:gd name="T7" fmla="*/ 6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6"/>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34" name="Freeform 259"/>
              <p:cNvSpPr>
                <a:spLocks/>
              </p:cNvSpPr>
              <p:nvPr/>
            </p:nvSpPr>
            <p:spPr bwMode="auto">
              <a:xfrm>
                <a:off x="2564"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5" name="Freeform 260"/>
              <p:cNvSpPr>
                <a:spLocks/>
              </p:cNvSpPr>
              <p:nvPr/>
            </p:nvSpPr>
            <p:spPr bwMode="auto">
              <a:xfrm>
                <a:off x="3137" y="2854"/>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36" name="Freeform 261"/>
              <p:cNvSpPr>
                <a:spLocks/>
              </p:cNvSpPr>
              <p:nvPr/>
            </p:nvSpPr>
            <p:spPr bwMode="auto">
              <a:xfrm>
                <a:off x="3138" y="2854"/>
                <a:ext cx="11" cy="8"/>
              </a:xfrm>
              <a:custGeom>
                <a:avLst/>
                <a:gdLst>
                  <a:gd name="T0" fmla="*/ 4 w 11"/>
                  <a:gd name="T1" fmla="*/ 0 h 8"/>
                  <a:gd name="T2" fmla="*/ 9 w 11"/>
                  <a:gd name="T3" fmla="*/ 0 h 8"/>
                  <a:gd name="T4" fmla="*/ 11 w 11"/>
                  <a:gd name="T5" fmla="*/ 1 h 8"/>
                  <a:gd name="T6" fmla="*/ 11 w 11"/>
                  <a:gd name="T7" fmla="*/ 6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37" name="Freeform 262"/>
              <p:cNvSpPr>
                <a:spLocks/>
              </p:cNvSpPr>
              <p:nvPr/>
            </p:nvSpPr>
            <p:spPr bwMode="auto">
              <a:xfrm>
                <a:off x="3158" y="2854"/>
                <a:ext cx="8" cy="8"/>
              </a:xfrm>
              <a:custGeom>
                <a:avLst/>
                <a:gdLst>
                  <a:gd name="T0" fmla="*/ 3 w 8"/>
                  <a:gd name="T1" fmla="*/ 0 h 8"/>
                  <a:gd name="T2" fmla="*/ 7 w 8"/>
                  <a:gd name="T3" fmla="*/ 0 h 8"/>
                  <a:gd name="T4" fmla="*/ 8 w 8"/>
                  <a:gd name="T5" fmla="*/ 1 h 8"/>
                  <a:gd name="T6" fmla="*/ 8 w 8"/>
                  <a:gd name="T7" fmla="*/ 6 h 8"/>
                  <a:gd name="T8" fmla="*/ 7 w 8"/>
                  <a:gd name="T9" fmla="*/ 8 h 8"/>
                  <a:gd name="T10" fmla="*/ 1 w 8"/>
                  <a:gd name="T11" fmla="*/ 8 h 8"/>
                  <a:gd name="T12" fmla="*/ 0 w 8"/>
                  <a:gd name="T13" fmla="*/ 6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6"/>
                    </a:lnTo>
                    <a:lnTo>
                      <a:pt x="7" y="8"/>
                    </a:lnTo>
                    <a:lnTo>
                      <a:pt x="1"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38" name="Freeform 263"/>
              <p:cNvSpPr>
                <a:spLocks/>
              </p:cNvSpPr>
              <p:nvPr/>
            </p:nvSpPr>
            <p:spPr bwMode="auto">
              <a:xfrm>
                <a:off x="3161" y="2854"/>
                <a:ext cx="11" cy="8"/>
              </a:xfrm>
              <a:custGeom>
                <a:avLst/>
                <a:gdLst>
                  <a:gd name="T0" fmla="*/ 2 w 11"/>
                  <a:gd name="T1" fmla="*/ 0 h 8"/>
                  <a:gd name="T2" fmla="*/ 9 w 11"/>
                  <a:gd name="T3" fmla="*/ 0 h 8"/>
                  <a:gd name="T4" fmla="*/ 11 w 11"/>
                  <a:gd name="T5" fmla="*/ 1 h 8"/>
                  <a:gd name="T6" fmla="*/ 11 w 11"/>
                  <a:gd name="T7" fmla="*/ 6 h 8"/>
                  <a:gd name="T8" fmla="*/ 9 w 11"/>
                  <a:gd name="T9" fmla="*/ 8 h 8"/>
                  <a:gd name="T10" fmla="*/ 2 w 11"/>
                  <a:gd name="T11" fmla="*/ 8 h 8"/>
                  <a:gd name="T12" fmla="*/ 0 w 11"/>
                  <a:gd name="T13" fmla="*/ 6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9" y="0"/>
                    </a:lnTo>
                    <a:lnTo>
                      <a:pt x="11" y="1"/>
                    </a:lnTo>
                    <a:lnTo>
                      <a:pt x="11" y="6"/>
                    </a:lnTo>
                    <a:lnTo>
                      <a:pt x="9"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9" name="Freeform 264"/>
              <p:cNvSpPr>
                <a:spLocks/>
              </p:cNvSpPr>
              <p:nvPr/>
            </p:nvSpPr>
            <p:spPr bwMode="auto">
              <a:xfrm>
                <a:off x="3170" y="2854"/>
                <a:ext cx="10" cy="8"/>
              </a:xfrm>
              <a:custGeom>
                <a:avLst/>
                <a:gdLst>
                  <a:gd name="T0" fmla="*/ 3 w 10"/>
                  <a:gd name="T1" fmla="*/ 0 h 8"/>
                  <a:gd name="T2" fmla="*/ 9 w 10"/>
                  <a:gd name="T3" fmla="*/ 0 h 8"/>
                  <a:gd name="T4" fmla="*/ 10 w 10"/>
                  <a:gd name="T5" fmla="*/ 1 h 8"/>
                  <a:gd name="T6" fmla="*/ 10 w 10"/>
                  <a:gd name="T7" fmla="*/ 6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6"/>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40" name="Freeform 265"/>
              <p:cNvSpPr>
                <a:spLocks/>
              </p:cNvSpPr>
              <p:nvPr/>
            </p:nvSpPr>
            <p:spPr bwMode="auto">
              <a:xfrm>
                <a:off x="3173"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41" name="Freeform 266"/>
              <p:cNvSpPr>
                <a:spLocks/>
              </p:cNvSpPr>
              <p:nvPr/>
            </p:nvSpPr>
            <p:spPr bwMode="auto">
              <a:xfrm>
                <a:off x="3193" y="2854"/>
                <a:ext cx="10" cy="8"/>
              </a:xfrm>
              <a:custGeom>
                <a:avLst/>
                <a:gdLst>
                  <a:gd name="T0" fmla="*/ 1 w 10"/>
                  <a:gd name="T1" fmla="*/ 0 h 8"/>
                  <a:gd name="T2" fmla="*/ 6 w 10"/>
                  <a:gd name="T3" fmla="*/ 0 h 8"/>
                  <a:gd name="T4" fmla="*/ 10 w 10"/>
                  <a:gd name="T5" fmla="*/ 3 h 8"/>
                  <a:gd name="T6" fmla="*/ 10 w 10"/>
                  <a:gd name="T7" fmla="*/ 5 h 8"/>
                  <a:gd name="T8" fmla="*/ 6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6" y="0"/>
                    </a:lnTo>
                    <a:lnTo>
                      <a:pt x="10" y="3"/>
                    </a:lnTo>
                    <a:lnTo>
                      <a:pt x="10" y="5"/>
                    </a:lnTo>
                    <a:lnTo>
                      <a:pt x="6"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42" name="Freeform 267"/>
              <p:cNvSpPr>
                <a:spLocks/>
              </p:cNvSpPr>
              <p:nvPr/>
            </p:nvSpPr>
            <p:spPr bwMode="auto">
              <a:xfrm>
                <a:off x="3222"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43" name="Freeform 268"/>
              <p:cNvSpPr>
                <a:spLocks/>
              </p:cNvSpPr>
              <p:nvPr/>
            </p:nvSpPr>
            <p:spPr bwMode="auto">
              <a:xfrm>
                <a:off x="3224"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4" name="Freeform 269"/>
              <p:cNvSpPr>
                <a:spLocks/>
              </p:cNvSpPr>
              <p:nvPr/>
            </p:nvSpPr>
            <p:spPr bwMode="auto">
              <a:xfrm>
                <a:off x="3226" y="2854"/>
                <a:ext cx="10" cy="8"/>
              </a:xfrm>
              <a:custGeom>
                <a:avLst/>
                <a:gdLst>
                  <a:gd name="T0" fmla="*/ 1 w 10"/>
                  <a:gd name="T1" fmla="*/ 0 h 8"/>
                  <a:gd name="T2" fmla="*/ 8 w 10"/>
                  <a:gd name="T3" fmla="*/ 0 h 8"/>
                  <a:gd name="T4" fmla="*/ 10 w 10"/>
                  <a:gd name="T5" fmla="*/ 1 h 8"/>
                  <a:gd name="T6" fmla="*/ 10 w 10"/>
                  <a:gd name="T7" fmla="*/ 6 h 8"/>
                  <a:gd name="T8" fmla="*/ 8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8" y="0"/>
                    </a:lnTo>
                    <a:lnTo>
                      <a:pt x="10" y="1"/>
                    </a:lnTo>
                    <a:lnTo>
                      <a:pt x="10" y="6"/>
                    </a:lnTo>
                    <a:lnTo>
                      <a:pt x="8"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45" name="Freeform 270"/>
              <p:cNvSpPr>
                <a:spLocks/>
              </p:cNvSpPr>
              <p:nvPr/>
            </p:nvSpPr>
            <p:spPr bwMode="auto">
              <a:xfrm>
                <a:off x="3236"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46" name="Freeform 271"/>
              <p:cNvSpPr>
                <a:spLocks/>
              </p:cNvSpPr>
              <p:nvPr/>
            </p:nvSpPr>
            <p:spPr bwMode="auto">
              <a:xfrm>
                <a:off x="3240" y="2854"/>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6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6"/>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47" name="Freeform 272"/>
              <p:cNvSpPr>
                <a:spLocks/>
              </p:cNvSpPr>
              <p:nvPr/>
            </p:nvSpPr>
            <p:spPr bwMode="auto">
              <a:xfrm>
                <a:off x="3278"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48" name="Freeform 273"/>
              <p:cNvSpPr>
                <a:spLocks/>
              </p:cNvSpPr>
              <p:nvPr/>
            </p:nvSpPr>
            <p:spPr bwMode="auto">
              <a:xfrm>
                <a:off x="3313" y="2854"/>
                <a:ext cx="10" cy="8"/>
              </a:xfrm>
              <a:custGeom>
                <a:avLst/>
                <a:gdLst>
                  <a:gd name="T0" fmla="*/ 3 w 10"/>
                  <a:gd name="T1" fmla="*/ 0 h 8"/>
                  <a:gd name="T2" fmla="*/ 9 w 10"/>
                  <a:gd name="T3" fmla="*/ 0 h 8"/>
                  <a:gd name="T4" fmla="*/ 10 w 10"/>
                  <a:gd name="T5" fmla="*/ 1 h 8"/>
                  <a:gd name="T6" fmla="*/ 10 w 10"/>
                  <a:gd name="T7" fmla="*/ 6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6"/>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49" name="Freeform 274"/>
              <p:cNvSpPr>
                <a:spLocks/>
              </p:cNvSpPr>
              <p:nvPr/>
            </p:nvSpPr>
            <p:spPr bwMode="auto">
              <a:xfrm>
                <a:off x="3318" y="2854"/>
                <a:ext cx="9" cy="8"/>
              </a:xfrm>
              <a:custGeom>
                <a:avLst/>
                <a:gdLst>
                  <a:gd name="T0" fmla="*/ 2 w 9"/>
                  <a:gd name="T1" fmla="*/ 0 h 8"/>
                  <a:gd name="T2" fmla="*/ 5 w 9"/>
                  <a:gd name="T3" fmla="*/ 0 h 8"/>
                  <a:gd name="T4" fmla="*/ 9 w 9"/>
                  <a:gd name="T5" fmla="*/ 3 h 8"/>
                  <a:gd name="T6" fmla="*/ 9 w 9"/>
                  <a:gd name="T7" fmla="*/ 6 h 8"/>
                  <a:gd name="T8" fmla="*/ 7 w 9"/>
                  <a:gd name="T9" fmla="*/ 8 h 8"/>
                  <a:gd name="T10" fmla="*/ 2 w 9"/>
                  <a:gd name="T11" fmla="*/ 8 h 8"/>
                  <a:gd name="T12" fmla="*/ 0 w 9"/>
                  <a:gd name="T13" fmla="*/ 6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6"/>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0" name="Freeform 275"/>
              <p:cNvSpPr>
                <a:spLocks/>
              </p:cNvSpPr>
              <p:nvPr/>
            </p:nvSpPr>
            <p:spPr bwMode="auto">
              <a:xfrm>
                <a:off x="4425" y="2854"/>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6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6"/>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1" name="Freeform 276"/>
              <p:cNvSpPr>
                <a:spLocks/>
              </p:cNvSpPr>
              <p:nvPr/>
            </p:nvSpPr>
            <p:spPr bwMode="auto">
              <a:xfrm>
                <a:off x="4451" y="2854"/>
                <a:ext cx="10" cy="8"/>
              </a:xfrm>
              <a:custGeom>
                <a:avLst/>
                <a:gdLst>
                  <a:gd name="T0" fmla="*/ 4 w 10"/>
                  <a:gd name="T1" fmla="*/ 0 h 8"/>
                  <a:gd name="T2" fmla="*/ 9 w 10"/>
                  <a:gd name="T3" fmla="*/ 0 h 8"/>
                  <a:gd name="T4" fmla="*/ 10 w 10"/>
                  <a:gd name="T5" fmla="*/ 1 h 8"/>
                  <a:gd name="T6" fmla="*/ 10 w 10"/>
                  <a:gd name="T7" fmla="*/ 6 h 8"/>
                  <a:gd name="T8" fmla="*/ 9 w 10"/>
                  <a:gd name="T9" fmla="*/ 8 h 8"/>
                  <a:gd name="T10" fmla="*/ 4 w 10"/>
                  <a:gd name="T11" fmla="*/ 8 h 8"/>
                  <a:gd name="T12" fmla="*/ 0 w 10"/>
                  <a:gd name="T13" fmla="*/ 5 h 8"/>
                  <a:gd name="T14" fmla="*/ 0 w 10"/>
                  <a:gd name="T15" fmla="*/ 3 h 8"/>
                  <a:gd name="T16" fmla="*/ 4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0"/>
                    </a:moveTo>
                    <a:lnTo>
                      <a:pt x="9" y="0"/>
                    </a:lnTo>
                    <a:lnTo>
                      <a:pt x="10" y="1"/>
                    </a:lnTo>
                    <a:lnTo>
                      <a:pt x="10" y="6"/>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2" name="Freeform 277"/>
              <p:cNvSpPr>
                <a:spLocks/>
              </p:cNvSpPr>
              <p:nvPr/>
            </p:nvSpPr>
            <p:spPr bwMode="auto">
              <a:xfrm>
                <a:off x="4510" y="2854"/>
                <a:ext cx="9" cy="8"/>
              </a:xfrm>
              <a:custGeom>
                <a:avLst/>
                <a:gdLst>
                  <a:gd name="T0" fmla="*/ 4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6"/>
                    </a:lnTo>
                    <a:lnTo>
                      <a:pt x="7" y="8"/>
                    </a:lnTo>
                    <a:lnTo>
                      <a:pt x="2" y="8"/>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3" name="Freeform 278"/>
              <p:cNvSpPr>
                <a:spLocks/>
              </p:cNvSpPr>
              <p:nvPr/>
            </p:nvSpPr>
            <p:spPr bwMode="auto">
              <a:xfrm>
                <a:off x="4542"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54" name="Freeform 279"/>
              <p:cNvSpPr>
                <a:spLocks/>
              </p:cNvSpPr>
              <p:nvPr/>
            </p:nvSpPr>
            <p:spPr bwMode="auto">
              <a:xfrm>
                <a:off x="4582" y="2854"/>
                <a:ext cx="9" cy="8"/>
              </a:xfrm>
              <a:custGeom>
                <a:avLst/>
                <a:gdLst>
                  <a:gd name="T0" fmla="*/ 3 w 9"/>
                  <a:gd name="T1" fmla="*/ 0 h 8"/>
                  <a:gd name="T2" fmla="*/ 7 w 9"/>
                  <a:gd name="T3" fmla="*/ 0 h 8"/>
                  <a:gd name="T4" fmla="*/ 9 w 9"/>
                  <a:gd name="T5" fmla="*/ 1 h 8"/>
                  <a:gd name="T6" fmla="*/ 9 w 9"/>
                  <a:gd name="T7" fmla="*/ 6 h 8"/>
                  <a:gd name="T8" fmla="*/ 7 w 9"/>
                  <a:gd name="T9" fmla="*/ 8 h 8"/>
                  <a:gd name="T10" fmla="*/ 2 w 9"/>
                  <a:gd name="T11" fmla="*/ 8 h 8"/>
                  <a:gd name="T12" fmla="*/ 0 w 9"/>
                  <a:gd name="T13" fmla="*/ 6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6"/>
                    </a:lnTo>
                    <a:lnTo>
                      <a:pt x="7" y="8"/>
                    </a:lnTo>
                    <a:lnTo>
                      <a:pt x="2" y="8"/>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55" name="Freeform 280"/>
              <p:cNvSpPr>
                <a:spLocks/>
              </p:cNvSpPr>
              <p:nvPr/>
            </p:nvSpPr>
            <p:spPr bwMode="auto">
              <a:xfrm>
                <a:off x="1203"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56" name="Freeform 281"/>
              <p:cNvSpPr>
                <a:spLocks/>
              </p:cNvSpPr>
              <p:nvPr/>
            </p:nvSpPr>
            <p:spPr bwMode="auto">
              <a:xfrm>
                <a:off x="1232"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7" name="Freeform 282"/>
              <p:cNvSpPr>
                <a:spLocks/>
              </p:cNvSpPr>
              <p:nvPr/>
            </p:nvSpPr>
            <p:spPr bwMode="auto">
              <a:xfrm>
                <a:off x="1255" y="2813"/>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58" name="Freeform 283"/>
              <p:cNvSpPr>
                <a:spLocks/>
              </p:cNvSpPr>
              <p:nvPr/>
            </p:nvSpPr>
            <p:spPr bwMode="auto">
              <a:xfrm>
                <a:off x="1258" y="2813"/>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9" name="Freeform 284"/>
              <p:cNvSpPr>
                <a:spLocks/>
              </p:cNvSpPr>
              <p:nvPr/>
            </p:nvSpPr>
            <p:spPr bwMode="auto">
              <a:xfrm>
                <a:off x="1534" y="2813"/>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0" name="Freeform 285"/>
              <p:cNvSpPr>
                <a:spLocks/>
              </p:cNvSpPr>
              <p:nvPr/>
            </p:nvSpPr>
            <p:spPr bwMode="auto">
              <a:xfrm>
                <a:off x="1625"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61" name="Freeform 286"/>
              <p:cNvSpPr>
                <a:spLocks/>
              </p:cNvSpPr>
              <p:nvPr/>
            </p:nvSpPr>
            <p:spPr bwMode="auto">
              <a:xfrm>
                <a:off x="2526"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62" name="Freeform 287"/>
              <p:cNvSpPr>
                <a:spLocks/>
              </p:cNvSpPr>
              <p:nvPr/>
            </p:nvSpPr>
            <p:spPr bwMode="auto">
              <a:xfrm>
                <a:off x="2527" y="2813"/>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3" name="Freeform 288"/>
              <p:cNvSpPr>
                <a:spLocks/>
              </p:cNvSpPr>
              <p:nvPr/>
            </p:nvSpPr>
            <p:spPr bwMode="auto">
              <a:xfrm>
                <a:off x="2533"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64" name="Freeform 289"/>
              <p:cNvSpPr>
                <a:spLocks/>
              </p:cNvSpPr>
              <p:nvPr/>
            </p:nvSpPr>
            <p:spPr bwMode="auto">
              <a:xfrm>
                <a:off x="2541" y="2813"/>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5" name="Freeform 290"/>
              <p:cNvSpPr>
                <a:spLocks/>
              </p:cNvSpPr>
              <p:nvPr/>
            </p:nvSpPr>
            <p:spPr bwMode="auto">
              <a:xfrm>
                <a:off x="2543" y="2813"/>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6" name="Freeform 291"/>
              <p:cNvSpPr>
                <a:spLocks/>
              </p:cNvSpPr>
              <p:nvPr/>
            </p:nvSpPr>
            <p:spPr bwMode="auto">
              <a:xfrm>
                <a:off x="2559" y="2813"/>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67" name="Freeform 292"/>
              <p:cNvSpPr>
                <a:spLocks/>
              </p:cNvSpPr>
              <p:nvPr/>
            </p:nvSpPr>
            <p:spPr bwMode="auto">
              <a:xfrm>
                <a:off x="2582"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68" name="Freeform 293"/>
              <p:cNvSpPr>
                <a:spLocks/>
              </p:cNvSpPr>
              <p:nvPr/>
            </p:nvSpPr>
            <p:spPr bwMode="auto">
              <a:xfrm>
                <a:off x="2603" y="281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69" name="Freeform 294"/>
              <p:cNvSpPr>
                <a:spLocks/>
              </p:cNvSpPr>
              <p:nvPr/>
            </p:nvSpPr>
            <p:spPr bwMode="auto">
              <a:xfrm>
                <a:off x="2613" y="2813"/>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70" name="Freeform 295"/>
              <p:cNvSpPr>
                <a:spLocks/>
              </p:cNvSpPr>
              <p:nvPr/>
            </p:nvSpPr>
            <p:spPr bwMode="auto">
              <a:xfrm>
                <a:off x="3215" y="2813"/>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1" name="Freeform 296"/>
              <p:cNvSpPr>
                <a:spLocks/>
              </p:cNvSpPr>
              <p:nvPr/>
            </p:nvSpPr>
            <p:spPr bwMode="auto">
              <a:xfrm>
                <a:off x="3220" y="2813"/>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72" name="Freeform 297"/>
              <p:cNvSpPr>
                <a:spLocks/>
              </p:cNvSpPr>
              <p:nvPr/>
            </p:nvSpPr>
            <p:spPr bwMode="auto">
              <a:xfrm>
                <a:off x="3238" y="2813"/>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73" name="Freeform 298"/>
              <p:cNvSpPr>
                <a:spLocks/>
              </p:cNvSpPr>
              <p:nvPr/>
            </p:nvSpPr>
            <p:spPr bwMode="auto">
              <a:xfrm>
                <a:off x="3250"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74" name="Freeform 299"/>
              <p:cNvSpPr>
                <a:spLocks/>
              </p:cNvSpPr>
              <p:nvPr/>
            </p:nvSpPr>
            <p:spPr bwMode="auto">
              <a:xfrm>
                <a:off x="3280" y="2813"/>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5" name="Freeform 300"/>
              <p:cNvSpPr>
                <a:spLocks/>
              </p:cNvSpPr>
              <p:nvPr/>
            </p:nvSpPr>
            <p:spPr bwMode="auto">
              <a:xfrm>
                <a:off x="3287" y="2813"/>
                <a:ext cx="8" cy="9"/>
              </a:xfrm>
              <a:custGeom>
                <a:avLst/>
                <a:gdLst>
                  <a:gd name="T0" fmla="*/ 2 w 8"/>
                  <a:gd name="T1" fmla="*/ 0 h 9"/>
                  <a:gd name="T2" fmla="*/ 5 w 8"/>
                  <a:gd name="T3" fmla="*/ 0 h 9"/>
                  <a:gd name="T4" fmla="*/ 8 w 8"/>
                  <a:gd name="T5" fmla="*/ 4 h 9"/>
                  <a:gd name="T6" fmla="*/ 8 w 8"/>
                  <a:gd name="T7" fmla="*/ 7 h 9"/>
                  <a:gd name="T8" fmla="*/ 7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5" y="0"/>
                    </a:lnTo>
                    <a:lnTo>
                      <a:pt x="8" y="4"/>
                    </a:lnTo>
                    <a:lnTo>
                      <a:pt x="8"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6" name="Freeform 301"/>
              <p:cNvSpPr>
                <a:spLocks/>
              </p:cNvSpPr>
              <p:nvPr/>
            </p:nvSpPr>
            <p:spPr bwMode="auto">
              <a:xfrm>
                <a:off x="3289" y="2813"/>
                <a:ext cx="10" cy="9"/>
              </a:xfrm>
              <a:custGeom>
                <a:avLst/>
                <a:gdLst>
                  <a:gd name="T0" fmla="*/ 1 w 10"/>
                  <a:gd name="T1" fmla="*/ 0 h 9"/>
                  <a:gd name="T2" fmla="*/ 6 w 10"/>
                  <a:gd name="T3" fmla="*/ 0 h 9"/>
                  <a:gd name="T4" fmla="*/ 10 w 10"/>
                  <a:gd name="T5" fmla="*/ 4 h 9"/>
                  <a:gd name="T6" fmla="*/ 10 w 10"/>
                  <a:gd name="T7" fmla="*/ 6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4"/>
                    </a:lnTo>
                    <a:lnTo>
                      <a:pt x="10" y="6"/>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77" name="Freeform 302"/>
              <p:cNvSpPr>
                <a:spLocks/>
              </p:cNvSpPr>
              <p:nvPr/>
            </p:nvSpPr>
            <p:spPr bwMode="auto">
              <a:xfrm>
                <a:off x="3554" y="2813"/>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8" name="Freeform 303"/>
              <p:cNvSpPr>
                <a:spLocks/>
              </p:cNvSpPr>
              <p:nvPr/>
            </p:nvSpPr>
            <p:spPr bwMode="auto">
              <a:xfrm>
                <a:off x="3578"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79" name="Freeform 304"/>
              <p:cNvSpPr>
                <a:spLocks/>
              </p:cNvSpPr>
              <p:nvPr/>
            </p:nvSpPr>
            <p:spPr bwMode="auto">
              <a:xfrm>
                <a:off x="3622" y="2813"/>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80" name="Freeform 305"/>
              <p:cNvSpPr>
                <a:spLocks/>
              </p:cNvSpPr>
              <p:nvPr/>
            </p:nvSpPr>
            <p:spPr bwMode="auto">
              <a:xfrm>
                <a:off x="4261" y="2813"/>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81" name="Freeform 306"/>
              <p:cNvSpPr>
                <a:spLocks/>
              </p:cNvSpPr>
              <p:nvPr/>
            </p:nvSpPr>
            <p:spPr bwMode="auto">
              <a:xfrm>
                <a:off x="4283"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82" name="Freeform 307"/>
              <p:cNvSpPr>
                <a:spLocks/>
              </p:cNvSpPr>
              <p:nvPr/>
            </p:nvSpPr>
            <p:spPr bwMode="auto">
              <a:xfrm>
                <a:off x="4339" y="281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83" name="Freeform 308"/>
              <p:cNvSpPr>
                <a:spLocks/>
              </p:cNvSpPr>
              <p:nvPr/>
            </p:nvSpPr>
            <p:spPr bwMode="auto">
              <a:xfrm>
                <a:off x="4449" y="2813"/>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4" name="Freeform 309"/>
              <p:cNvSpPr>
                <a:spLocks/>
              </p:cNvSpPr>
              <p:nvPr/>
            </p:nvSpPr>
            <p:spPr bwMode="auto">
              <a:xfrm>
                <a:off x="4488" y="2813"/>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85" name="Freeform 310"/>
              <p:cNvSpPr>
                <a:spLocks/>
              </p:cNvSpPr>
              <p:nvPr/>
            </p:nvSpPr>
            <p:spPr bwMode="auto">
              <a:xfrm>
                <a:off x="1405" y="277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6" name="Freeform 311"/>
              <p:cNvSpPr>
                <a:spLocks/>
              </p:cNvSpPr>
              <p:nvPr/>
            </p:nvSpPr>
            <p:spPr bwMode="auto">
              <a:xfrm>
                <a:off x="1588"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7" name="Freeform 312"/>
              <p:cNvSpPr>
                <a:spLocks/>
              </p:cNvSpPr>
              <p:nvPr/>
            </p:nvSpPr>
            <p:spPr bwMode="auto">
              <a:xfrm>
                <a:off x="1590"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8" name="Freeform 313"/>
              <p:cNvSpPr>
                <a:spLocks/>
              </p:cNvSpPr>
              <p:nvPr/>
            </p:nvSpPr>
            <p:spPr bwMode="auto">
              <a:xfrm>
                <a:off x="1676" y="2773"/>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89" name="Freeform 314"/>
              <p:cNvSpPr>
                <a:spLocks/>
              </p:cNvSpPr>
              <p:nvPr/>
            </p:nvSpPr>
            <p:spPr bwMode="auto">
              <a:xfrm>
                <a:off x="1718" y="277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90" name="Freeform 315"/>
              <p:cNvSpPr>
                <a:spLocks/>
              </p:cNvSpPr>
              <p:nvPr/>
            </p:nvSpPr>
            <p:spPr bwMode="auto">
              <a:xfrm>
                <a:off x="1965" y="277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91" name="Freeform 316"/>
              <p:cNvSpPr>
                <a:spLocks/>
              </p:cNvSpPr>
              <p:nvPr/>
            </p:nvSpPr>
            <p:spPr bwMode="auto">
              <a:xfrm>
                <a:off x="2023" y="2773"/>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92" name="Freeform 317"/>
              <p:cNvSpPr>
                <a:spLocks/>
              </p:cNvSpPr>
              <p:nvPr/>
            </p:nvSpPr>
            <p:spPr bwMode="auto">
              <a:xfrm>
                <a:off x="2419"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93" name="Freeform 318"/>
              <p:cNvSpPr>
                <a:spLocks/>
              </p:cNvSpPr>
              <p:nvPr/>
            </p:nvSpPr>
            <p:spPr bwMode="auto">
              <a:xfrm>
                <a:off x="2437" y="277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594" name="Freeform 319"/>
              <p:cNvSpPr>
                <a:spLocks/>
              </p:cNvSpPr>
              <p:nvPr/>
            </p:nvSpPr>
            <p:spPr bwMode="auto">
              <a:xfrm>
                <a:off x="2440"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5" name="Freeform 320"/>
              <p:cNvSpPr>
                <a:spLocks/>
              </p:cNvSpPr>
              <p:nvPr/>
            </p:nvSpPr>
            <p:spPr bwMode="auto">
              <a:xfrm>
                <a:off x="2461"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96" name="Freeform 321"/>
              <p:cNvSpPr>
                <a:spLocks/>
              </p:cNvSpPr>
              <p:nvPr/>
            </p:nvSpPr>
            <p:spPr bwMode="auto">
              <a:xfrm>
                <a:off x="2541" y="277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97" name="Freeform 322"/>
              <p:cNvSpPr>
                <a:spLocks/>
              </p:cNvSpPr>
              <p:nvPr/>
            </p:nvSpPr>
            <p:spPr bwMode="auto">
              <a:xfrm>
                <a:off x="3009"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98" name="Freeform 323"/>
              <p:cNvSpPr>
                <a:spLocks/>
              </p:cNvSpPr>
              <p:nvPr/>
            </p:nvSpPr>
            <p:spPr bwMode="auto">
              <a:xfrm>
                <a:off x="3154"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99" name="Freeform 324"/>
              <p:cNvSpPr>
                <a:spLocks/>
              </p:cNvSpPr>
              <p:nvPr/>
            </p:nvSpPr>
            <p:spPr bwMode="auto">
              <a:xfrm>
                <a:off x="3165" y="2773"/>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00" name="Freeform 325"/>
              <p:cNvSpPr>
                <a:spLocks/>
              </p:cNvSpPr>
              <p:nvPr/>
            </p:nvSpPr>
            <p:spPr bwMode="auto">
              <a:xfrm>
                <a:off x="3175"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01" name="Freeform 326"/>
              <p:cNvSpPr>
                <a:spLocks/>
              </p:cNvSpPr>
              <p:nvPr/>
            </p:nvSpPr>
            <p:spPr bwMode="auto">
              <a:xfrm>
                <a:off x="3180"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02" name="Freeform 327"/>
              <p:cNvSpPr>
                <a:spLocks/>
              </p:cNvSpPr>
              <p:nvPr/>
            </p:nvSpPr>
            <p:spPr bwMode="auto">
              <a:xfrm>
                <a:off x="3233" y="2773"/>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03" name="Freeform 328"/>
              <p:cNvSpPr>
                <a:spLocks/>
              </p:cNvSpPr>
              <p:nvPr/>
            </p:nvSpPr>
            <p:spPr bwMode="auto">
              <a:xfrm>
                <a:off x="3236"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04" name="Freeform 329"/>
              <p:cNvSpPr>
                <a:spLocks/>
              </p:cNvSpPr>
              <p:nvPr/>
            </p:nvSpPr>
            <p:spPr bwMode="auto">
              <a:xfrm>
                <a:off x="3241"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5" name="Freeform 330"/>
              <p:cNvSpPr>
                <a:spLocks/>
              </p:cNvSpPr>
              <p:nvPr/>
            </p:nvSpPr>
            <p:spPr bwMode="auto">
              <a:xfrm>
                <a:off x="3269"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06" name="Freeform 331"/>
              <p:cNvSpPr>
                <a:spLocks/>
              </p:cNvSpPr>
              <p:nvPr/>
            </p:nvSpPr>
            <p:spPr bwMode="auto">
              <a:xfrm>
                <a:off x="3278"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07" name="Freeform 332"/>
              <p:cNvSpPr>
                <a:spLocks/>
              </p:cNvSpPr>
              <p:nvPr/>
            </p:nvSpPr>
            <p:spPr bwMode="auto">
              <a:xfrm>
                <a:off x="3287" y="2773"/>
                <a:ext cx="8" cy="9"/>
              </a:xfrm>
              <a:custGeom>
                <a:avLst/>
                <a:gdLst>
                  <a:gd name="T0" fmla="*/ 2 w 8"/>
                  <a:gd name="T1" fmla="*/ 0 h 9"/>
                  <a:gd name="T2" fmla="*/ 7 w 8"/>
                  <a:gd name="T3" fmla="*/ 0 h 9"/>
                  <a:gd name="T4" fmla="*/ 8 w 8"/>
                  <a:gd name="T5" fmla="*/ 2 h 9"/>
                  <a:gd name="T6" fmla="*/ 8 w 8"/>
                  <a:gd name="T7" fmla="*/ 5 h 9"/>
                  <a:gd name="T8" fmla="*/ 5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7" y="0"/>
                    </a:lnTo>
                    <a:lnTo>
                      <a:pt x="8" y="2"/>
                    </a:lnTo>
                    <a:lnTo>
                      <a:pt x="8"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08" name="Freeform 333"/>
              <p:cNvSpPr>
                <a:spLocks/>
              </p:cNvSpPr>
              <p:nvPr/>
            </p:nvSpPr>
            <p:spPr bwMode="auto">
              <a:xfrm>
                <a:off x="3290"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09" name="Freeform 334"/>
              <p:cNvSpPr>
                <a:spLocks/>
              </p:cNvSpPr>
              <p:nvPr/>
            </p:nvSpPr>
            <p:spPr bwMode="auto">
              <a:xfrm>
                <a:off x="3501" y="277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10" name="Freeform 335"/>
              <p:cNvSpPr>
                <a:spLocks/>
              </p:cNvSpPr>
              <p:nvPr/>
            </p:nvSpPr>
            <p:spPr bwMode="auto">
              <a:xfrm>
                <a:off x="3954" y="277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1" name="Freeform 336"/>
              <p:cNvSpPr>
                <a:spLocks/>
              </p:cNvSpPr>
              <p:nvPr/>
            </p:nvSpPr>
            <p:spPr bwMode="auto">
              <a:xfrm>
                <a:off x="3961" y="277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12" name="Freeform 337"/>
              <p:cNvSpPr>
                <a:spLocks/>
              </p:cNvSpPr>
              <p:nvPr/>
            </p:nvSpPr>
            <p:spPr bwMode="auto">
              <a:xfrm>
                <a:off x="4105"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13" name="Freeform 338"/>
              <p:cNvSpPr>
                <a:spLocks/>
              </p:cNvSpPr>
              <p:nvPr/>
            </p:nvSpPr>
            <p:spPr bwMode="auto">
              <a:xfrm>
                <a:off x="4168" y="277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14" name="Freeform 339"/>
              <p:cNvSpPr>
                <a:spLocks/>
              </p:cNvSpPr>
              <p:nvPr/>
            </p:nvSpPr>
            <p:spPr bwMode="auto">
              <a:xfrm>
                <a:off x="4194" y="277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5" name="Freeform 340"/>
              <p:cNvSpPr>
                <a:spLocks/>
              </p:cNvSpPr>
              <p:nvPr/>
            </p:nvSpPr>
            <p:spPr bwMode="auto">
              <a:xfrm>
                <a:off x="4201" y="2773"/>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16" name="Freeform 341"/>
              <p:cNvSpPr>
                <a:spLocks/>
              </p:cNvSpPr>
              <p:nvPr/>
            </p:nvSpPr>
            <p:spPr bwMode="auto">
              <a:xfrm>
                <a:off x="4226" y="2773"/>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17" name="Freeform 342"/>
              <p:cNvSpPr>
                <a:spLocks/>
              </p:cNvSpPr>
              <p:nvPr/>
            </p:nvSpPr>
            <p:spPr bwMode="auto">
              <a:xfrm>
                <a:off x="4240" y="277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18" name="Freeform 343"/>
              <p:cNvSpPr>
                <a:spLocks/>
              </p:cNvSpPr>
              <p:nvPr/>
            </p:nvSpPr>
            <p:spPr bwMode="auto">
              <a:xfrm>
                <a:off x="1279" y="273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19" name="Freeform 344"/>
              <p:cNvSpPr>
                <a:spLocks/>
              </p:cNvSpPr>
              <p:nvPr/>
            </p:nvSpPr>
            <p:spPr bwMode="auto">
              <a:xfrm>
                <a:off x="1283" y="273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20" name="Freeform 345"/>
              <p:cNvSpPr>
                <a:spLocks/>
              </p:cNvSpPr>
              <p:nvPr/>
            </p:nvSpPr>
            <p:spPr bwMode="auto">
              <a:xfrm>
                <a:off x="1285"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21" name="Freeform 346"/>
              <p:cNvSpPr>
                <a:spLocks/>
              </p:cNvSpPr>
              <p:nvPr/>
            </p:nvSpPr>
            <p:spPr bwMode="auto">
              <a:xfrm>
                <a:off x="1323" y="273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22" name="Freeform 347"/>
              <p:cNvSpPr>
                <a:spLocks/>
              </p:cNvSpPr>
              <p:nvPr/>
            </p:nvSpPr>
            <p:spPr bwMode="auto">
              <a:xfrm>
                <a:off x="1606" y="273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23" name="Freeform 348"/>
              <p:cNvSpPr>
                <a:spLocks/>
              </p:cNvSpPr>
              <p:nvPr/>
            </p:nvSpPr>
            <p:spPr bwMode="auto">
              <a:xfrm>
                <a:off x="1637" y="273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24" name="Freeform 349"/>
              <p:cNvSpPr>
                <a:spLocks/>
              </p:cNvSpPr>
              <p:nvPr/>
            </p:nvSpPr>
            <p:spPr bwMode="auto">
              <a:xfrm>
                <a:off x="1641" y="273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25" name="Freeform 350"/>
              <p:cNvSpPr>
                <a:spLocks/>
              </p:cNvSpPr>
              <p:nvPr/>
            </p:nvSpPr>
            <p:spPr bwMode="auto">
              <a:xfrm>
                <a:off x="1669"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26" name="Freeform 351"/>
              <p:cNvSpPr>
                <a:spLocks/>
              </p:cNvSpPr>
              <p:nvPr/>
            </p:nvSpPr>
            <p:spPr bwMode="auto">
              <a:xfrm>
                <a:off x="2271" y="273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27" name="Freeform 352"/>
              <p:cNvSpPr>
                <a:spLocks/>
              </p:cNvSpPr>
              <p:nvPr/>
            </p:nvSpPr>
            <p:spPr bwMode="auto">
              <a:xfrm>
                <a:off x="2381" y="2733"/>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28" name="Freeform 353"/>
              <p:cNvSpPr>
                <a:spLocks/>
              </p:cNvSpPr>
              <p:nvPr/>
            </p:nvSpPr>
            <p:spPr bwMode="auto">
              <a:xfrm>
                <a:off x="2520"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29" name="Freeform 354"/>
              <p:cNvSpPr>
                <a:spLocks/>
              </p:cNvSpPr>
              <p:nvPr/>
            </p:nvSpPr>
            <p:spPr bwMode="auto">
              <a:xfrm>
                <a:off x="2526" y="2733"/>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30" name="Freeform 355"/>
              <p:cNvSpPr>
                <a:spLocks/>
              </p:cNvSpPr>
              <p:nvPr/>
            </p:nvSpPr>
            <p:spPr bwMode="auto">
              <a:xfrm>
                <a:off x="2527"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31" name="Freeform 356"/>
              <p:cNvSpPr>
                <a:spLocks/>
              </p:cNvSpPr>
              <p:nvPr/>
            </p:nvSpPr>
            <p:spPr bwMode="auto">
              <a:xfrm>
                <a:off x="2538" y="2733"/>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2" name="Freeform 357"/>
              <p:cNvSpPr>
                <a:spLocks/>
              </p:cNvSpPr>
              <p:nvPr/>
            </p:nvSpPr>
            <p:spPr bwMode="auto">
              <a:xfrm>
                <a:off x="2615"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33" name="Freeform 358"/>
              <p:cNvSpPr>
                <a:spLocks/>
              </p:cNvSpPr>
              <p:nvPr/>
            </p:nvSpPr>
            <p:spPr bwMode="auto">
              <a:xfrm>
                <a:off x="3193" y="2733"/>
                <a:ext cx="10" cy="9"/>
              </a:xfrm>
              <a:custGeom>
                <a:avLst/>
                <a:gdLst>
                  <a:gd name="T0" fmla="*/ 1 w 10"/>
                  <a:gd name="T1" fmla="*/ 0 h 9"/>
                  <a:gd name="T2" fmla="*/ 6 w 10"/>
                  <a:gd name="T3" fmla="*/ 0 h 9"/>
                  <a:gd name="T4" fmla="*/ 10 w 10"/>
                  <a:gd name="T5" fmla="*/ 3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3"/>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34" name="Freeform 359"/>
              <p:cNvSpPr>
                <a:spLocks/>
              </p:cNvSpPr>
              <p:nvPr/>
            </p:nvSpPr>
            <p:spPr bwMode="auto">
              <a:xfrm>
                <a:off x="3198" y="2733"/>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35" name="Freeform 360"/>
              <p:cNvSpPr>
                <a:spLocks/>
              </p:cNvSpPr>
              <p:nvPr/>
            </p:nvSpPr>
            <p:spPr bwMode="auto">
              <a:xfrm>
                <a:off x="3222" y="2733"/>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36" name="Freeform 361"/>
              <p:cNvSpPr>
                <a:spLocks/>
              </p:cNvSpPr>
              <p:nvPr/>
            </p:nvSpPr>
            <p:spPr bwMode="auto">
              <a:xfrm>
                <a:off x="3224" y="2733"/>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37" name="Freeform 362"/>
              <p:cNvSpPr>
                <a:spLocks/>
              </p:cNvSpPr>
              <p:nvPr/>
            </p:nvSpPr>
            <p:spPr bwMode="auto">
              <a:xfrm>
                <a:off x="3255" y="2733"/>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38" name="Freeform 363"/>
              <p:cNvSpPr>
                <a:spLocks/>
              </p:cNvSpPr>
              <p:nvPr/>
            </p:nvSpPr>
            <p:spPr bwMode="auto">
              <a:xfrm>
                <a:off x="3257" y="2733"/>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39" name="Freeform 364"/>
              <p:cNvSpPr>
                <a:spLocks/>
              </p:cNvSpPr>
              <p:nvPr/>
            </p:nvSpPr>
            <p:spPr bwMode="auto">
              <a:xfrm>
                <a:off x="3315" y="2733"/>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40" name="Freeform 365"/>
              <p:cNvSpPr>
                <a:spLocks/>
              </p:cNvSpPr>
              <p:nvPr/>
            </p:nvSpPr>
            <p:spPr bwMode="auto">
              <a:xfrm>
                <a:off x="3577" y="2733"/>
                <a:ext cx="10" cy="9"/>
              </a:xfrm>
              <a:custGeom>
                <a:avLst/>
                <a:gdLst>
                  <a:gd name="T0" fmla="*/ 1 w 10"/>
                  <a:gd name="T1" fmla="*/ 0 h 9"/>
                  <a:gd name="T2" fmla="*/ 6 w 10"/>
                  <a:gd name="T3" fmla="*/ 0 h 9"/>
                  <a:gd name="T4" fmla="*/ 10 w 10"/>
                  <a:gd name="T5" fmla="*/ 3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3"/>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41" name="Freeform 366"/>
              <p:cNvSpPr>
                <a:spLocks/>
              </p:cNvSpPr>
              <p:nvPr/>
            </p:nvSpPr>
            <p:spPr bwMode="auto">
              <a:xfrm>
                <a:off x="4208"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2" name="Freeform 367"/>
              <p:cNvSpPr>
                <a:spLocks/>
              </p:cNvSpPr>
              <p:nvPr/>
            </p:nvSpPr>
            <p:spPr bwMode="auto">
              <a:xfrm>
                <a:off x="4297" y="2733"/>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3" name="Freeform 368"/>
              <p:cNvSpPr>
                <a:spLocks/>
              </p:cNvSpPr>
              <p:nvPr/>
            </p:nvSpPr>
            <p:spPr bwMode="auto">
              <a:xfrm>
                <a:off x="1576"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44" name="Freeform 369"/>
              <p:cNvSpPr>
                <a:spLocks/>
              </p:cNvSpPr>
              <p:nvPr/>
            </p:nvSpPr>
            <p:spPr bwMode="auto">
              <a:xfrm>
                <a:off x="1580"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45" name="Freeform 370"/>
              <p:cNvSpPr>
                <a:spLocks/>
              </p:cNvSpPr>
              <p:nvPr/>
            </p:nvSpPr>
            <p:spPr bwMode="auto">
              <a:xfrm>
                <a:off x="1588"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6" name="Freeform 371"/>
              <p:cNvSpPr>
                <a:spLocks/>
              </p:cNvSpPr>
              <p:nvPr/>
            </p:nvSpPr>
            <p:spPr bwMode="auto">
              <a:xfrm>
                <a:off x="1590"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7" name="Freeform 372"/>
              <p:cNvSpPr>
                <a:spLocks/>
              </p:cNvSpPr>
              <p:nvPr/>
            </p:nvSpPr>
            <p:spPr bwMode="auto">
              <a:xfrm>
                <a:off x="1599" y="2693"/>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8" name="Freeform 373"/>
              <p:cNvSpPr>
                <a:spLocks/>
              </p:cNvSpPr>
              <p:nvPr/>
            </p:nvSpPr>
            <p:spPr bwMode="auto">
              <a:xfrm>
                <a:off x="1648" y="2693"/>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49" name="Freeform 374"/>
              <p:cNvSpPr>
                <a:spLocks/>
              </p:cNvSpPr>
              <p:nvPr/>
            </p:nvSpPr>
            <p:spPr bwMode="auto">
              <a:xfrm>
                <a:off x="2505" y="2693"/>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50" name="Freeform 375"/>
              <p:cNvSpPr>
                <a:spLocks/>
              </p:cNvSpPr>
              <p:nvPr/>
            </p:nvSpPr>
            <p:spPr bwMode="auto">
              <a:xfrm>
                <a:off x="2508"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1" name="Freeform 376"/>
              <p:cNvSpPr>
                <a:spLocks/>
              </p:cNvSpPr>
              <p:nvPr/>
            </p:nvSpPr>
            <p:spPr bwMode="auto">
              <a:xfrm>
                <a:off x="2526"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52" name="Freeform 377"/>
              <p:cNvSpPr>
                <a:spLocks/>
              </p:cNvSpPr>
              <p:nvPr/>
            </p:nvSpPr>
            <p:spPr bwMode="auto">
              <a:xfrm>
                <a:off x="2533"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53" name="Freeform 378"/>
              <p:cNvSpPr>
                <a:spLocks/>
              </p:cNvSpPr>
              <p:nvPr/>
            </p:nvSpPr>
            <p:spPr bwMode="auto">
              <a:xfrm>
                <a:off x="3166"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4" name="Freeform 379"/>
              <p:cNvSpPr>
                <a:spLocks/>
              </p:cNvSpPr>
              <p:nvPr/>
            </p:nvSpPr>
            <p:spPr bwMode="auto">
              <a:xfrm>
                <a:off x="3170" y="2693"/>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55" name="Freeform 380"/>
              <p:cNvSpPr>
                <a:spLocks/>
              </p:cNvSpPr>
              <p:nvPr/>
            </p:nvSpPr>
            <p:spPr bwMode="auto">
              <a:xfrm>
                <a:off x="3173"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6" name="Freeform 381"/>
              <p:cNvSpPr>
                <a:spLocks/>
              </p:cNvSpPr>
              <p:nvPr/>
            </p:nvSpPr>
            <p:spPr bwMode="auto">
              <a:xfrm>
                <a:off x="3191" y="2693"/>
                <a:ext cx="8" cy="10"/>
              </a:xfrm>
              <a:custGeom>
                <a:avLst/>
                <a:gdLst>
                  <a:gd name="T0" fmla="*/ 2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2"/>
                    </a:lnTo>
                    <a:lnTo>
                      <a:pt x="8"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7" name="Freeform 382"/>
              <p:cNvSpPr>
                <a:spLocks/>
              </p:cNvSpPr>
              <p:nvPr/>
            </p:nvSpPr>
            <p:spPr bwMode="auto">
              <a:xfrm>
                <a:off x="3194"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58" name="Freeform 383"/>
              <p:cNvSpPr>
                <a:spLocks/>
              </p:cNvSpPr>
              <p:nvPr/>
            </p:nvSpPr>
            <p:spPr bwMode="auto">
              <a:xfrm>
                <a:off x="3203" y="2693"/>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59" name="Freeform 384"/>
              <p:cNvSpPr>
                <a:spLocks/>
              </p:cNvSpPr>
              <p:nvPr/>
            </p:nvSpPr>
            <p:spPr bwMode="auto">
              <a:xfrm>
                <a:off x="3206"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0" name="Freeform 385"/>
              <p:cNvSpPr>
                <a:spLocks/>
              </p:cNvSpPr>
              <p:nvPr/>
            </p:nvSpPr>
            <p:spPr bwMode="auto">
              <a:xfrm>
                <a:off x="3208"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1" name="Freeform 386"/>
              <p:cNvSpPr>
                <a:spLocks/>
              </p:cNvSpPr>
              <p:nvPr/>
            </p:nvSpPr>
            <p:spPr bwMode="auto">
              <a:xfrm>
                <a:off x="3217" y="2693"/>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2" name="Freeform 387"/>
              <p:cNvSpPr>
                <a:spLocks/>
              </p:cNvSpPr>
              <p:nvPr/>
            </p:nvSpPr>
            <p:spPr bwMode="auto">
              <a:xfrm>
                <a:off x="3231"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3" name="Freeform 388"/>
              <p:cNvSpPr>
                <a:spLocks/>
              </p:cNvSpPr>
              <p:nvPr/>
            </p:nvSpPr>
            <p:spPr bwMode="auto">
              <a:xfrm>
                <a:off x="3278"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4" name="Freeform 389"/>
              <p:cNvSpPr>
                <a:spLocks/>
              </p:cNvSpPr>
              <p:nvPr/>
            </p:nvSpPr>
            <p:spPr bwMode="auto">
              <a:xfrm>
                <a:off x="3297"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65" name="Freeform 390"/>
              <p:cNvSpPr>
                <a:spLocks/>
              </p:cNvSpPr>
              <p:nvPr/>
            </p:nvSpPr>
            <p:spPr bwMode="auto">
              <a:xfrm>
                <a:off x="3301"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66" name="Freeform 391"/>
              <p:cNvSpPr>
                <a:spLocks/>
              </p:cNvSpPr>
              <p:nvPr/>
            </p:nvSpPr>
            <p:spPr bwMode="auto">
              <a:xfrm>
                <a:off x="3318"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7" name="Freeform 392"/>
              <p:cNvSpPr>
                <a:spLocks/>
              </p:cNvSpPr>
              <p:nvPr/>
            </p:nvSpPr>
            <p:spPr bwMode="auto">
              <a:xfrm>
                <a:off x="3320" y="2693"/>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68" name="Freeform 393"/>
              <p:cNvSpPr>
                <a:spLocks/>
              </p:cNvSpPr>
              <p:nvPr/>
            </p:nvSpPr>
            <p:spPr bwMode="auto">
              <a:xfrm>
                <a:off x="3535"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69" name="Freeform 394"/>
              <p:cNvSpPr>
                <a:spLocks/>
              </p:cNvSpPr>
              <p:nvPr/>
            </p:nvSpPr>
            <p:spPr bwMode="auto">
              <a:xfrm>
                <a:off x="3543" y="2693"/>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0" name="Freeform 395"/>
              <p:cNvSpPr>
                <a:spLocks/>
              </p:cNvSpPr>
              <p:nvPr/>
            </p:nvSpPr>
            <p:spPr bwMode="auto">
              <a:xfrm>
                <a:off x="3545"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1" name="Freeform 396"/>
              <p:cNvSpPr>
                <a:spLocks/>
              </p:cNvSpPr>
              <p:nvPr/>
            </p:nvSpPr>
            <p:spPr bwMode="auto">
              <a:xfrm>
                <a:off x="3582"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72" name="Freeform 397"/>
              <p:cNvSpPr>
                <a:spLocks/>
              </p:cNvSpPr>
              <p:nvPr/>
            </p:nvSpPr>
            <p:spPr bwMode="auto">
              <a:xfrm>
                <a:off x="4290"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73" name="Freeform 398"/>
              <p:cNvSpPr>
                <a:spLocks/>
              </p:cNvSpPr>
              <p:nvPr/>
            </p:nvSpPr>
            <p:spPr bwMode="auto">
              <a:xfrm>
                <a:off x="4345"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74" name="Freeform 399"/>
              <p:cNvSpPr>
                <a:spLocks/>
              </p:cNvSpPr>
              <p:nvPr/>
            </p:nvSpPr>
            <p:spPr bwMode="auto">
              <a:xfrm>
                <a:off x="4392"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75" name="Freeform 400"/>
              <p:cNvSpPr>
                <a:spLocks/>
              </p:cNvSpPr>
              <p:nvPr/>
            </p:nvSpPr>
            <p:spPr bwMode="auto">
              <a:xfrm>
                <a:off x="4488" y="2693"/>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76" name="Freeform 401"/>
              <p:cNvSpPr>
                <a:spLocks/>
              </p:cNvSpPr>
              <p:nvPr/>
            </p:nvSpPr>
            <p:spPr bwMode="auto">
              <a:xfrm>
                <a:off x="4512" y="2693"/>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7" name="Freeform 402"/>
              <p:cNvSpPr>
                <a:spLocks/>
              </p:cNvSpPr>
              <p:nvPr/>
            </p:nvSpPr>
            <p:spPr bwMode="auto">
              <a:xfrm>
                <a:off x="4585" y="2693"/>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8" name="Freeform 403"/>
              <p:cNvSpPr>
                <a:spLocks/>
              </p:cNvSpPr>
              <p:nvPr/>
            </p:nvSpPr>
            <p:spPr bwMode="auto">
              <a:xfrm>
                <a:off x="5196" y="2693"/>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79" name="Freeform 404"/>
              <p:cNvSpPr>
                <a:spLocks/>
              </p:cNvSpPr>
              <p:nvPr/>
            </p:nvSpPr>
            <p:spPr bwMode="auto">
              <a:xfrm>
                <a:off x="1248" y="2654"/>
                <a:ext cx="10" cy="9"/>
              </a:xfrm>
              <a:custGeom>
                <a:avLst/>
                <a:gdLst>
                  <a:gd name="T0" fmla="*/ 4 w 10"/>
                  <a:gd name="T1" fmla="*/ 0 h 9"/>
                  <a:gd name="T2" fmla="*/ 9 w 10"/>
                  <a:gd name="T3" fmla="*/ 0 h 9"/>
                  <a:gd name="T4" fmla="*/ 10 w 10"/>
                  <a:gd name="T5" fmla="*/ 2 h 9"/>
                  <a:gd name="T6" fmla="*/ 10 w 10"/>
                  <a:gd name="T7" fmla="*/ 7 h 9"/>
                  <a:gd name="T8" fmla="*/ 9 w 10"/>
                  <a:gd name="T9" fmla="*/ 9 h 9"/>
                  <a:gd name="T10" fmla="*/ 4 w 10"/>
                  <a:gd name="T11" fmla="*/ 9 h 9"/>
                  <a:gd name="T12" fmla="*/ 0 w 10"/>
                  <a:gd name="T13" fmla="*/ 6 h 9"/>
                  <a:gd name="T14" fmla="*/ 0 w 10"/>
                  <a:gd name="T15" fmla="*/ 4 h 9"/>
                  <a:gd name="T16" fmla="*/ 4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4" y="0"/>
                    </a:moveTo>
                    <a:lnTo>
                      <a:pt x="9" y="0"/>
                    </a:lnTo>
                    <a:lnTo>
                      <a:pt x="10" y="2"/>
                    </a:lnTo>
                    <a:lnTo>
                      <a:pt x="10"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80" name="Freeform 405"/>
              <p:cNvSpPr>
                <a:spLocks/>
              </p:cNvSpPr>
              <p:nvPr/>
            </p:nvSpPr>
            <p:spPr bwMode="auto">
              <a:xfrm>
                <a:off x="1252" y="2654"/>
                <a:ext cx="8" cy="9"/>
              </a:xfrm>
              <a:custGeom>
                <a:avLst/>
                <a:gdLst>
                  <a:gd name="T0" fmla="*/ 3 w 8"/>
                  <a:gd name="T1" fmla="*/ 0 h 9"/>
                  <a:gd name="T2" fmla="*/ 6 w 8"/>
                  <a:gd name="T3" fmla="*/ 0 h 9"/>
                  <a:gd name="T4" fmla="*/ 8 w 8"/>
                  <a:gd name="T5" fmla="*/ 2 h 9"/>
                  <a:gd name="T6" fmla="*/ 8 w 8"/>
                  <a:gd name="T7" fmla="*/ 7 h 9"/>
                  <a:gd name="T8" fmla="*/ 6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6" y="0"/>
                    </a:lnTo>
                    <a:lnTo>
                      <a:pt x="8" y="2"/>
                    </a:lnTo>
                    <a:lnTo>
                      <a:pt x="8" y="7"/>
                    </a:lnTo>
                    <a:lnTo>
                      <a:pt x="6"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8" name="Group 607"/>
            <p:cNvGrpSpPr>
              <a:grpSpLocks/>
            </p:cNvGrpSpPr>
            <p:nvPr/>
          </p:nvGrpSpPr>
          <p:grpSpPr bwMode="auto">
            <a:xfrm>
              <a:off x="1682806" y="3895846"/>
              <a:ext cx="6104155" cy="331798"/>
              <a:chOff x="1060" y="2454"/>
              <a:chExt cx="3845" cy="209"/>
            </a:xfrm>
          </p:grpSpPr>
          <p:sp>
            <p:nvSpPr>
              <p:cNvPr id="1281" name="Freeform 407"/>
              <p:cNvSpPr>
                <a:spLocks/>
              </p:cNvSpPr>
              <p:nvPr/>
            </p:nvSpPr>
            <p:spPr bwMode="auto">
              <a:xfrm>
                <a:off x="1267"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2" name="Freeform 408"/>
              <p:cNvSpPr>
                <a:spLocks/>
              </p:cNvSpPr>
              <p:nvPr/>
            </p:nvSpPr>
            <p:spPr bwMode="auto">
              <a:xfrm>
                <a:off x="1583" y="2654"/>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83" name="Freeform 409"/>
              <p:cNvSpPr>
                <a:spLocks/>
              </p:cNvSpPr>
              <p:nvPr/>
            </p:nvSpPr>
            <p:spPr bwMode="auto">
              <a:xfrm>
                <a:off x="1615"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84" name="Freeform 410"/>
              <p:cNvSpPr>
                <a:spLocks/>
              </p:cNvSpPr>
              <p:nvPr/>
            </p:nvSpPr>
            <p:spPr bwMode="auto">
              <a:xfrm>
                <a:off x="1648"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85" name="Freeform 411"/>
              <p:cNvSpPr>
                <a:spLocks/>
              </p:cNvSpPr>
              <p:nvPr/>
            </p:nvSpPr>
            <p:spPr bwMode="auto">
              <a:xfrm>
                <a:off x="1704"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86" name="Freeform 412"/>
              <p:cNvSpPr>
                <a:spLocks/>
              </p:cNvSpPr>
              <p:nvPr/>
            </p:nvSpPr>
            <p:spPr bwMode="auto">
              <a:xfrm>
                <a:off x="1821" y="265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87" name="Freeform 413"/>
              <p:cNvSpPr>
                <a:spLocks/>
              </p:cNvSpPr>
              <p:nvPr/>
            </p:nvSpPr>
            <p:spPr bwMode="auto">
              <a:xfrm>
                <a:off x="2541" y="265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88" name="Freeform 414"/>
              <p:cNvSpPr>
                <a:spLocks/>
              </p:cNvSpPr>
              <p:nvPr/>
            </p:nvSpPr>
            <p:spPr bwMode="auto">
              <a:xfrm>
                <a:off x="2543"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89" name="Freeform 415"/>
              <p:cNvSpPr>
                <a:spLocks/>
              </p:cNvSpPr>
              <p:nvPr/>
            </p:nvSpPr>
            <p:spPr bwMode="auto">
              <a:xfrm>
                <a:off x="2548"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90" name="Freeform 416"/>
              <p:cNvSpPr>
                <a:spLocks/>
              </p:cNvSpPr>
              <p:nvPr/>
            </p:nvSpPr>
            <p:spPr bwMode="auto">
              <a:xfrm>
                <a:off x="2552" y="265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1" name="Freeform 417"/>
              <p:cNvSpPr>
                <a:spLocks/>
              </p:cNvSpPr>
              <p:nvPr/>
            </p:nvSpPr>
            <p:spPr bwMode="auto">
              <a:xfrm>
                <a:off x="2566"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2" name="Freeform 418"/>
              <p:cNvSpPr>
                <a:spLocks/>
              </p:cNvSpPr>
              <p:nvPr/>
            </p:nvSpPr>
            <p:spPr bwMode="auto">
              <a:xfrm>
                <a:off x="2568"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93" name="Freeform 419"/>
              <p:cNvSpPr>
                <a:spLocks/>
              </p:cNvSpPr>
              <p:nvPr/>
            </p:nvSpPr>
            <p:spPr bwMode="auto">
              <a:xfrm>
                <a:off x="2573" y="265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94" name="Freeform 420"/>
              <p:cNvSpPr>
                <a:spLocks/>
              </p:cNvSpPr>
              <p:nvPr/>
            </p:nvSpPr>
            <p:spPr bwMode="auto">
              <a:xfrm>
                <a:off x="2575"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95" name="Freeform 421"/>
              <p:cNvSpPr>
                <a:spLocks/>
              </p:cNvSpPr>
              <p:nvPr/>
            </p:nvSpPr>
            <p:spPr bwMode="auto">
              <a:xfrm>
                <a:off x="2603" y="265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96" name="Freeform 422"/>
              <p:cNvSpPr>
                <a:spLocks/>
              </p:cNvSpPr>
              <p:nvPr/>
            </p:nvSpPr>
            <p:spPr bwMode="auto">
              <a:xfrm>
                <a:off x="3018" y="265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97" name="Freeform 423"/>
              <p:cNvSpPr>
                <a:spLocks/>
              </p:cNvSpPr>
              <p:nvPr/>
            </p:nvSpPr>
            <p:spPr bwMode="auto">
              <a:xfrm>
                <a:off x="3215"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98" name="Freeform 424"/>
              <p:cNvSpPr>
                <a:spLocks/>
              </p:cNvSpPr>
              <p:nvPr/>
            </p:nvSpPr>
            <p:spPr bwMode="auto">
              <a:xfrm>
                <a:off x="3222"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99" name="Freeform 425"/>
              <p:cNvSpPr>
                <a:spLocks/>
              </p:cNvSpPr>
              <p:nvPr/>
            </p:nvSpPr>
            <p:spPr bwMode="auto">
              <a:xfrm>
                <a:off x="3285"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00" name="Freeform 426"/>
              <p:cNvSpPr>
                <a:spLocks/>
              </p:cNvSpPr>
              <p:nvPr/>
            </p:nvSpPr>
            <p:spPr bwMode="auto">
              <a:xfrm>
                <a:off x="3295" y="265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1" name="Freeform 427"/>
              <p:cNvSpPr>
                <a:spLocks/>
              </p:cNvSpPr>
              <p:nvPr/>
            </p:nvSpPr>
            <p:spPr bwMode="auto">
              <a:xfrm>
                <a:off x="3355" y="265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2" name="Freeform 428"/>
              <p:cNvSpPr>
                <a:spLocks/>
              </p:cNvSpPr>
              <p:nvPr/>
            </p:nvSpPr>
            <p:spPr bwMode="auto">
              <a:xfrm>
                <a:off x="3388" y="265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3" name="Freeform 429"/>
              <p:cNvSpPr>
                <a:spLocks/>
              </p:cNvSpPr>
              <p:nvPr/>
            </p:nvSpPr>
            <p:spPr bwMode="auto">
              <a:xfrm>
                <a:off x="3535" y="265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04" name="Freeform 430"/>
              <p:cNvSpPr>
                <a:spLocks/>
              </p:cNvSpPr>
              <p:nvPr/>
            </p:nvSpPr>
            <p:spPr bwMode="auto">
              <a:xfrm>
                <a:off x="4200" y="265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05" name="Freeform 431"/>
              <p:cNvSpPr>
                <a:spLocks/>
              </p:cNvSpPr>
              <p:nvPr/>
            </p:nvSpPr>
            <p:spPr bwMode="auto">
              <a:xfrm>
                <a:off x="4238" y="265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06" name="Freeform 432"/>
              <p:cNvSpPr>
                <a:spLocks/>
              </p:cNvSpPr>
              <p:nvPr/>
            </p:nvSpPr>
            <p:spPr bwMode="auto">
              <a:xfrm>
                <a:off x="4242" y="2654"/>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07" name="Freeform 433"/>
              <p:cNvSpPr>
                <a:spLocks/>
              </p:cNvSpPr>
              <p:nvPr/>
            </p:nvSpPr>
            <p:spPr bwMode="auto">
              <a:xfrm>
                <a:off x="4261" y="265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8" name="Freeform 434"/>
              <p:cNvSpPr>
                <a:spLocks/>
              </p:cNvSpPr>
              <p:nvPr/>
            </p:nvSpPr>
            <p:spPr bwMode="auto">
              <a:xfrm>
                <a:off x="4264" y="2654"/>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09" name="Freeform 435"/>
              <p:cNvSpPr>
                <a:spLocks/>
              </p:cNvSpPr>
              <p:nvPr/>
            </p:nvSpPr>
            <p:spPr bwMode="auto">
              <a:xfrm>
                <a:off x="4266" y="2654"/>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0" name="Freeform 436"/>
              <p:cNvSpPr>
                <a:spLocks/>
              </p:cNvSpPr>
              <p:nvPr/>
            </p:nvSpPr>
            <p:spPr bwMode="auto">
              <a:xfrm>
                <a:off x="4287" y="265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1" name="Freeform 437"/>
              <p:cNvSpPr>
                <a:spLocks/>
              </p:cNvSpPr>
              <p:nvPr/>
            </p:nvSpPr>
            <p:spPr bwMode="auto">
              <a:xfrm>
                <a:off x="4458" y="265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2" name="Freeform 438"/>
              <p:cNvSpPr>
                <a:spLocks/>
              </p:cNvSpPr>
              <p:nvPr/>
            </p:nvSpPr>
            <p:spPr bwMode="auto">
              <a:xfrm>
                <a:off x="1615" y="2614"/>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13" name="Freeform 439"/>
              <p:cNvSpPr>
                <a:spLocks/>
              </p:cNvSpPr>
              <p:nvPr/>
            </p:nvSpPr>
            <p:spPr bwMode="auto">
              <a:xfrm>
                <a:off x="1662" y="261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14" name="Freeform 440"/>
              <p:cNvSpPr>
                <a:spLocks/>
              </p:cNvSpPr>
              <p:nvPr/>
            </p:nvSpPr>
            <p:spPr bwMode="auto">
              <a:xfrm>
                <a:off x="1855"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5" name="Freeform 441"/>
              <p:cNvSpPr>
                <a:spLocks/>
              </p:cNvSpPr>
              <p:nvPr/>
            </p:nvSpPr>
            <p:spPr bwMode="auto">
              <a:xfrm>
                <a:off x="2520"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6" name="Freeform 442"/>
              <p:cNvSpPr>
                <a:spLocks/>
              </p:cNvSpPr>
              <p:nvPr/>
            </p:nvSpPr>
            <p:spPr bwMode="auto">
              <a:xfrm>
                <a:off x="2533" y="261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17" name="Freeform 443"/>
              <p:cNvSpPr>
                <a:spLocks/>
              </p:cNvSpPr>
              <p:nvPr/>
            </p:nvSpPr>
            <p:spPr bwMode="auto">
              <a:xfrm>
                <a:off x="2536"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18" name="Freeform 444"/>
              <p:cNvSpPr>
                <a:spLocks/>
              </p:cNvSpPr>
              <p:nvPr/>
            </p:nvSpPr>
            <p:spPr bwMode="auto">
              <a:xfrm>
                <a:off x="2620" y="261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19" name="Freeform 445"/>
              <p:cNvSpPr>
                <a:spLocks/>
              </p:cNvSpPr>
              <p:nvPr/>
            </p:nvSpPr>
            <p:spPr bwMode="auto">
              <a:xfrm>
                <a:off x="3290" y="261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20" name="Freeform 446"/>
              <p:cNvSpPr>
                <a:spLocks/>
              </p:cNvSpPr>
              <p:nvPr/>
            </p:nvSpPr>
            <p:spPr bwMode="auto">
              <a:xfrm>
                <a:off x="3714" y="261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21" name="Freeform 447"/>
              <p:cNvSpPr>
                <a:spLocks/>
              </p:cNvSpPr>
              <p:nvPr/>
            </p:nvSpPr>
            <p:spPr bwMode="auto">
              <a:xfrm>
                <a:off x="3734" y="261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2" name="Freeform 448"/>
              <p:cNvSpPr>
                <a:spLocks/>
              </p:cNvSpPr>
              <p:nvPr/>
            </p:nvSpPr>
            <p:spPr bwMode="auto">
              <a:xfrm>
                <a:off x="3947" y="261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3" name="Freeform 449"/>
              <p:cNvSpPr>
                <a:spLocks/>
              </p:cNvSpPr>
              <p:nvPr/>
            </p:nvSpPr>
            <p:spPr bwMode="auto">
              <a:xfrm>
                <a:off x="4210" y="261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4" name="Freeform 450"/>
              <p:cNvSpPr>
                <a:spLocks/>
              </p:cNvSpPr>
              <p:nvPr/>
            </p:nvSpPr>
            <p:spPr bwMode="auto">
              <a:xfrm>
                <a:off x="4215" y="261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5" name="Freeform 451"/>
              <p:cNvSpPr>
                <a:spLocks/>
              </p:cNvSpPr>
              <p:nvPr/>
            </p:nvSpPr>
            <p:spPr bwMode="auto">
              <a:xfrm>
                <a:off x="4219" y="261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6" name="Freeform 452"/>
              <p:cNvSpPr>
                <a:spLocks/>
              </p:cNvSpPr>
              <p:nvPr/>
            </p:nvSpPr>
            <p:spPr bwMode="auto">
              <a:xfrm>
                <a:off x="4247" y="2614"/>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7" name="Freeform 453"/>
              <p:cNvSpPr>
                <a:spLocks/>
              </p:cNvSpPr>
              <p:nvPr/>
            </p:nvSpPr>
            <p:spPr bwMode="auto">
              <a:xfrm>
                <a:off x="4254" y="2614"/>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2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28" name="Freeform 454"/>
              <p:cNvSpPr>
                <a:spLocks/>
              </p:cNvSpPr>
              <p:nvPr/>
            </p:nvSpPr>
            <p:spPr bwMode="auto">
              <a:xfrm>
                <a:off x="4358"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29" name="Freeform 455"/>
              <p:cNvSpPr>
                <a:spLocks/>
              </p:cNvSpPr>
              <p:nvPr/>
            </p:nvSpPr>
            <p:spPr bwMode="auto">
              <a:xfrm>
                <a:off x="4425" y="2614"/>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0" name="Freeform 456"/>
              <p:cNvSpPr>
                <a:spLocks/>
              </p:cNvSpPr>
              <p:nvPr/>
            </p:nvSpPr>
            <p:spPr bwMode="auto">
              <a:xfrm>
                <a:off x="4455" y="2614"/>
                <a:ext cx="8" cy="9"/>
              </a:xfrm>
              <a:custGeom>
                <a:avLst/>
                <a:gdLst>
                  <a:gd name="T0" fmla="*/ 3 w 8"/>
                  <a:gd name="T1" fmla="*/ 0 h 9"/>
                  <a:gd name="T2" fmla="*/ 6 w 8"/>
                  <a:gd name="T3" fmla="*/ 0 h 9"/>
                  <a:gd name="T4" fmla="*/ 8 w 8"/>
                  <a:gd name="T5" fmla="*/ 2 h 9"/>
                  <a:gd name="T6" fmla="*/ 8 w 8"/>
                  <a:gd name="T7" fmla="*/ 7 h 9"/>
                  <a:gd name="T8" fmla="*/ 6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6" y="0"/>
                    </a:lnTo>
                    <a:lnTo>
                      <a:pt x="8" y="2"/>
                    </a:lnTo>
                    <a:lnTo>
                      <a:pt x="8" y="7"/>
                    </a:lnTo>
                    <a:lnTo>
                      <a:pt x="6"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31" name="Freeform 457"/>
              <p:cNvSpPr>
                <a:spLocks/>
              </p:cNvSpPr>
              <p:nvPr/>
            </p:nvSpPr>
            <p:spPr bwMode="auto">
              <a:xfrm>
                <a:off x="4460" y="261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32" name="Freeform 458"/>
              <p:cNvSpPr>
                <a:spLocks/>
              </p:cNvSpPr>
              <p:nvPr/>
            </p:nvSpPr>
            <p:spPr bwMode="auto">
              <a:xfrm>
                <a:off x="4463" y="261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3" name="Freeform 459"/>
              <p:cNvSpPr>
                <a:spLocks/>
              </p:cNvSpPr>
              <p:nvPr/>
            </p:nvSpPr>
            <p:spPr bwMode="auto">
              <a:xfrm>
                <a:off x="4465" y="2614"/>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4" name="Freeform 460"/>
              <p:cNvSpPr>
                <a:spLocks/>
              </p:cNvSpPr>
              <p:nvPr/>
            </p:nvSpPr>
            <p:spPr bwMode="auto">
              <a:xfrm>
                <a:off x="4470"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35" name="Freeform 461"/>
              <p:cNvSpPr>
                <a:spLocks/>
              </p:cNvSpPr>
              <p:nvPr/>
            </p:nvSpPr>
            <p:spPr bwMode="auto">
              <a:xfrm>
                <a:off x="4510"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36" name="Freeform 462"/>
              <p:cNvSpPr>
                <a:spLocks/>
              </p:cNvSpPr>
              <p:nvPr/>
            </p:nvSpPr>
            <p:spPr bwMode="auto">
              <a:xfrm>
                <a:off x="4512" y="261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7" name="Freeform 463"/>
              <p:cNvSpPr>
                <a:spLocks/>
              </p:cNvSpPr>
              <p:nvPr/>
            </p:nvSpPr>
            <p:spPr bwMode="auto">
              <a:xfrm>
                <a:off x="4599" y="2614"/>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38" name="Freeform 464"/>
              <p:cNvSpPr>
                <a:spLocks/>
              </p:cNvSpPr>
              <p:nvPr/>
            </p:nvSpPr>
            <p:spPr bwMode="auto">
              <a:xfrm>
                <a:off x="4854" y="2614"/>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39" name="Freeform 465"/>
              <p:cNvSpPr>
                <a:spLocks/>
              </p:cNvSpPr>
              <p:nvPr/>
            </p:nvSpPr>
            <p:spPr bwMode="auto">
              <a:xfrm>
                <a:off x="4858" y="2614"/>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0" name="Freeform 466"/>
              <p:cNvSpPr>
                <a:spLocks/>
              </p:cNvSpPr>
              <p:nvPr/>
            </p:nvSpPr>
            <p:spPr bwMode="auto">
              <a:xfrm>
                <a:off x="4865" y="261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1" name="Freeform 467"/>
              <p:cNvSpPr>
                <a:spLocks/>
              </p:cNvSpPr>
              <p:nvPr/>
            </p:nvSpPr>
            <p:spPr bwMode="auto">
              <a:xfrm>
                <a:off x="4872" y="2614"/>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2" name="Freeform 468"/>
              <p:cNvSpPr>
                <a:spLocks/>
              </p:cNvSpPr>
              <p:nvPr/>
            </p:nvSpPr>
            <p:spPr bwMode="auto">
              <a:xfrm>
                <a:off x="4896" y="2614"/>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43" name="Freeform 469"/>
              <p:cNvSpPr>
                <a:spLocks/>
              </p:cNvSpPr>
              <p:nvPr/>
            </p:nvSpPr>
            <p:spPr bwMode="auto">
              <a:xfrm>
                <a:off x="1567" y="257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44" name="Freeform 470"/>
              <p:cNvSpPr>
                <a:spLocks/>
              </p:cNvSpPr>
              <p:nvPr/>
            </p:nvSpPr>
            <p:spPr bwMode="auto">
              <a:xfrm>
                <a:off x="1587"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5" name="Freeform 471"/>
              <p:cNvSpPr>
                <a:spLocks/>
              </p:cNvSpPr>
              <p:nvPr/>
            </p:nvSpPr>
            <p:spPr bwMode="auto">
              <a:xfrm>
                <a:off x="1648" y="2574"/>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6" name="Freeform 472"/>
              <p:cNvSpPr>
                <a:spLocks/>
              </p:cNvSpPr>
              <p:nvPr/>
            </p:nvSpPr>
            <p:spPr bwMode="auto">
              <a:xfrm>
                <a:off x="1765"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7" name="Freeform 473"/>
              <p:cNvSpPr>
                <a:spLocks/>
              </p:cNvSpPr>
              <p:nvPr/>
            </p:nvSpPr>
            <p:spPr bwMode="auto">
              <a:xfrm>
                <a:off x="1772"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8" name="Freeform 474"/>
              <p:cNvSpPr>
                <a:spLocks/>
              </p:cNvSpPr>
              <p:nvPr/>
            </p:nvSpPr>
            <p:spPr bwMode="auto">
              <a:xfrm>
                <a:off x="2479" y="257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49" name="Freeform 475"/>
              <p:cNvSpPr>
                <a:spLocks/>
              </p:cNvSpPr>
              <p:nvPr/>
            </p:nvSpPr>
            <p:spPr bwMode="auto">
              <a:xfrm>
                <a:off x="2512" y="2574"/>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0" name="Freeform 476"/>
              <p:cNvSpPr>
                <a:spLocks/>
              </p:cNvSpPr>
              <p:nvPr/>
            </p:nvSpPr>
            <p:spPr bwMode="auto">
              <a:xfrm>
                <a:off x="2520" y="257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1" name="Freeform 477"/>
              <p:cNvSpPr>
                <a:spLocks/>
              </p:cNvSpPr>
              <p:nvPr/>
            </p:nvSpPr>
            <p:spPr bwMode="auto">
              <a:xfrm>
                <a:off x="2533"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2" name="Freeform 478"/>
              <p:cNvSpPr>
                <a:spLocks/>
              </p:cNvSpPr>
              <p:nvPr/>
            </p:nvSpPr>
            <p:spPr bwMode="auto">
              <a:xfrm>
                <a:off x="2545" y="257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53" name="Freeform 479"/>
              <p:cNvSpPr>
                <a:spLocks/>
              </p:cNvSpPr>
              <p:nvPr/>
            </p:nvSpPr>
            <p:spPr bwMode="auto">
              <a:xfrm>
                <a:off x="3522" y="257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54" name="Freeform 480"/>
              <p:cNvSpPr>
                <a:spLocks/>
              </p:cNvSpPr>
              <p:nvPr/>
            </p:nvSpPr>
            <p:spPr bwMode="auto">
              <a:xfrm>
                <a:off x="3542"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5" name="Freeform 481"/>
              <p:cNvSpPr>
                <a:spLocks/>
              </p:cNvSpPr>
              <p:nvPr/>
            </p:nvSpPr>
            <p:spPr bwMode="auto">
              <a:xfrm>
                <a:off x="4186" y="2574"/>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6" name="Freeform 482"/>
              <p:cNvSpPr>
                <a:spLocks/>
              </p:cNvSpPr>
              <p:nvPr/>
            </p:nvSpPr>
            <p:spPr bwMode="auto">
              <a:xfrm>
                <a:off x="4198" y="257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7" name="Freeform 483"/>
              <p:cNvSpPr>
                <a:spLocks/>
              </p:cNvSpPr>
              <p:nvPr/>
            </p:nvSpPr>
            <p:spPr bwMode="auto">
              <a:xfrm>
                <a:off x="4200" y="257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8" name="Freeform 484"/>
              <p:cNvSpPr>
                <a:spLocks/>
              </p:cNvSpPr>
              <p:nvPr/>
            </p:nvSpPr>
            <p:spPr bwMode="auto">
              <a:xfrm>
                <a:off x="4201" y="257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59" name="Freeform 485"/>
              <p:cNvSpPr>
                <a:spLocks/>
              </p:cNvSpPr>
              <p:nvPr/>
            </p:nvSpPr>
            <p:spPr bwMode="auto">
              <a:xfrm>
                <a:off x="4207"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60" name="Freeform 486"/>
              <p:cNvSpPr>
                <a:spLocks/>
              </p:cNvSpPr>
              <p:nvPr/>
            </p:nvSpPr>
            <p:spPr bwMode="auto">
              <a:xfrm>
                <a:off x="4231" y="257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1" name="Freeform 487"/>
              <p:cNvSpPr>
                <a:spLocks/>
              </p:cNvSpPr>
              <p:nvPr/>
            </p:nvSpPr>
            <p:spPr bwMode="auto">
              <a:xfrm>
                <a:off x="4264" y="2574"/>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2" name="Freeform 488"/>
              <p:cNvSpPr>
                <a:spLocks/>
              </p:cNvSpPr>
              <p:nvPr/>
            </p:nvSpPr>
            <p:spPr bwMode="auto">
              <a:xfrm>
                <a:off x="4271" y="257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3" name="Freeform 489"/>
              <p:cNvSpPr>
                <a:spLocks/>
              </p:cNvSpPr>
              <p:nvPr/>
            </p:nvSpPr>
            <p:spPr bwMode="auto">
              <a:xfrm>
                <a:off x="4275" y="257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64" name="Freeform 490"/>
              <p:cNvSpPr>
                <a:spLocks/>
              </p:cNvSpPr>
              <p:nvPr/>
            </p:nvSpPr>
            <p:spPr bwMode="auto">
              <a:xfrm>
                <a:off x="4325" y="257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5" name="Freeform 491"/>
              <p:cNvSpPr>
                <a:spLocks/>
              </p:cNvSpPr>
              <p:nvPr/>
            </p:nvSpPr>
            <p:spPr bwMode="auto">
              <a:xfrm>
                <a:off x="4479" y="257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6" name="Freeform 492"/>
              <p:cNvSpPr>
                <a:spLocks/>
              </p:cNvSpPr>
              <p:nvPr/>
            </p:nvSpPr>
            <p:spPr bwMode="auto">
              <a:xfrm>
                <a:off x="4491" y="257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67" name="Freeform 493"/>
              <p:cNvSpPr>
                <a:spLocks/>
              </p:cNvSpPr>
              <p:nvPr/>
            </p:nvSpPr>
            <p:spPr bwMode="auto">
              <a:xfrm>
                <a:off x="4495" y="257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68" name="Freeform 494"/>
              <p:cNvSpPr>
                <a:spLocks/>
              </p:cNvSpPr>
              <p:nvPr/>
            </p:nvSpPr>
            <p:spPr bwMode="auto">
              <a:xfrm>
                <a:off x="1248" y="2534"/>
                <a:ext cx="10" cy="9"/>
              </a:xfrm>
              <a:custGeom>
                <a:avLst/>
                <a:gdLst>
                  <a:gd name="T0" fmla="*/ 4 w 10"/>
                  <a:gd name="T1" fmla="*/ 0 h 9"/>
                  <a:gd name="T2" fmla="*/ 9 w 10"/>
                  <a:gd name="T3" fmla="*/ 0 h 9"/>
                  <a:gd name="T4" fmla="*/ 10 w 10"/>
                  <a:gd name="T5" fmla="*/ 2 h 9"/>
                  <a:gd name="T6" fmla="*/ 10 w 10"/>
                  <a:gd name="T7" fmla="*/ 7 h 9"/>
                  <a:gd name="T8" fmla="*/ 9 w 10"/>
                  <a:gd name="T9" fmla="*/ 9 h 9"/>
                  <a:gd name="T10" fmla="*/ 4 w 10"/>
                  <a:gd name="T11" fmla="*/ 9 h 9"/>
                  <a:gd name="T12" fmla="*/ 0 w 10"/>
                  <a:gd name="T13" fmla="*/ 5 h 9"/>
                  <a:gd name="T14" fmla="*/ 0 w 10"/>
                  <a:gd name="T15" fmla="*/ 3 h 9"/>
                  <a:gd name="T16" fmla="*/ 4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4" y="0"/>
                    </a:moveTo>
                    <a:lnTo>
                      <a:pt x="9" y="0"/>
                    </a:lnTo>
                    <a:lnTo>
                      <a:pt x="10" y="2"/>
                    </a:lnTo>
                    <a:lnTo>
                      <a:pt x="10"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69" name="Freeform 495"/>
              <p:cNvSpPr>
                <a:spLocks/>
              </p:cNvSpPr>
              <p:nvPr/>
            </p:nvSpPr>
            <p:spPr bwMode="auto">
              <a:xfrm>
                <a:off x="1564"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0" name="Freeform 496"/>
              <p:cNvSpPr>
                <a:spLocks/>
              </p:cNvSpPr>
              <p:nvPr/>
            </p:nvSpPr>
            <p:spPr bwMode="auto">
              <a:xfrm>
                <a:off x="1573" y="253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71" name="Freeform 497"/>
              <p:cNvSpPr>
                <a:spLocks/>
              </p:cNvSpPr>
              <p:nvPr/>
            </p:nvSpPr>
            <p:spPr bwMode="auto">
              <a:xfrm>
                <a:off x="1580"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72" name="Freeform 498"/>
              <p:cNvSpPr>
                <a:spLocks/>
              </p:cNvSpPr>
              <p:nvPr/>
            </p:nvSpPr>
            <p:spPr bwMode="auto">
              <a:xfrm>
                <a:off x="1592" y="253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3" name="Freeform 499"/>
              <p:cNvSpPr>
                <a:spLocks/>
              </p:cNvSpPr>
              <p:nvPr/>
            </p:nvSpPr>
            <p:spPr bwMode="auto">
              <a:xfrm>
                <a:off x="1613"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4" name="Freeform 500"/>
              <p:cNvSpPr>
                <a:spLocks/>
              </p:cNvSpPr>
              <p:nvPr/>
            </p:nvSpPr>
            <p:spPr bwMode="auto">
              <a:xfrm>
                <a:off x="1632"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75" name="Freeform 501"/>
              <p:cNvSpPr>
                <a:spLocks/>
              </p:cNvSpPr>
              <p:nvPr/>
            </p:nvSpPr>
            <p:spPr bwMode="auto">
              <a:xfrm>
                <a:off x="1667"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6" name="Freeform 502"/>
              <p:cNvSpPr>
                <a:spLocks/>
              </p:cNvSpPr>
              <p:nvPr/>
            </p:nvSpPr>
            <p:spPr bwMode="auto">
              <a:xfrm>
                <a:off x="2503"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7" name="Freeform 503"/>
              <p:cNvSpPr>
                <a:spLocks/>
              </p:cNvSpPr>
              <p:nvPr/>
            </p:nvSpPr>
            <p:spPr bwMode="auto">
              <a:xfrm>
                <a:off x="2508"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8" name="Freeform 504"/>
              <p:cNvSpPr>
                <a:spLocks/>
              </p:cNvSpPr>
              <p:nvPr/>
            </p:nvSpPr>
            <p:spPr bwMode="auto">
              <a:xfrm>
                <a:off x="2512" y="2534"/>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79" name="Freeform 505"/>
              <p:cNvSpPr>
                <a:spLocks/>
              </p:cNvSpPr>
              <p:nvPr/>
            </p:nvSpPr>
            <p:spPr bwMode="auto">
              <a:xfrm>
                <a:off x="2515"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0" name="Freeform 506"/>
              <p:cNvSpPr>
                <a:spLocks/>
              </p:cNvSpPr>
              <p:nvPr/>
            </p:nvSpPr>
            <p:spPr bwMode="auto">
              <a:xfrm>
                <a:off x="2520"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1" name="Freeform 507"/>
              <p:cNvSpPr>
                <a:spLocks/>
              </p:cNvSpPr>
              <p:nvPr/>
            </p:nvSpPr>
            <p:spPr bwMode="auto">
              <a:xfrm>
                <a:off x="2524"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2" name="Freeform 508"/>
              <p:cNvSpPr>
                <a:spLocks/>
              </p:cNvSpPr>
              <p:nvPr/>
            </p:nvSpPr>
            <p:spPr bwMode="auto">
              <a:xfrm>
                <a:off x="2527"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3" name="Freeform 509"/>
              <p:cNvSpPr>
                <a:spLocks/>
              </p:cNvSpPr>
              <p:nvPr/>
            </p:nvSpPr>
            <p:spPr bwMode="auto">
              <a:xfrm>
                <a:off x="2552" y="2534"/>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4" name="Freeform 510"/>
              <p:cNvSpPr>
                <a:spLocks/>
              </p:cNvSpPr>
              <p:nvPr/>
            </p:nvSpPr>
            <p:spPr bwMode="auto">
              <a:xfrm>
                <a:off x="3013"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85" name="Freeform 511"/>
              <p:cNvSpPr>
                <a:spLocks/>
              </p:cNvSpPr>
              <p:nvPr/>
            </p:nvSpPr>
            <p:spPr bwMode="auto">
              <a:xfrm>
                <a:off x="3021"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6" name="Freeform 512"/>
              <p:cNvSpPr>
                <a:spLocks/>
              </p:cNvSpPr>
              <p:nvPr/>
            </p:nvSpPr>
            <p:spPr bwMode="auto">
              <a:xfrm>
                <a:off x="3039"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7" name="Freeform 513"/>
              <p:cNvSpPr>
                <a:spLocks/>
              </p:cNvSpPr>
              <p:nvPr/>
            </p:nvSpPr>
            <p:spPr bwMode="auto">
              <a:xfrm>
                <a:off x="3165"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88" name="Freeform 514"/>
              <p:cNvSpPr>
                <a:spLocks/>
              </p:cNvSpPr>
              <p:nvPr/>
            </p:nvSpPr>
            <p:spPr bwMode="auto">
              <a:xfrm>
                <a:off x="3193" y="2534"/>
                <a:ext cx="10" cy="9"/>
              </a:xfrm>
              <a:custGeom>
                <a:avLst/>
                <a:gdLst>
                  <a:gd name="T0" fmla="*/ 1 w 10"/>
                  <a:gd name="T1" fmla="*/ 0 h 9"/>
                  <a:gd name="T2" fmla="*/ 6 w 10"/>
                  <a:gd name="T3" fmla="*/ 0 h 9"/>
                  <a:gd name="T4" fmla="*/ 10 w 10"/>
                  <a:gd name="T5" fmla="*/ 3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3"/>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89" name="Freeform 515"/>
              <p:cNvSpPr>
                <a:spLocks/>
              </p:cNvSpPr>
              <p:nvPr/>
            </p:nvSpPr>
            <p:spPr bwMode="auto">
              <a:xfrm>
                <a:off x="3241"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90" name="Freeform 516"/>
              <p:cNvSpPr>
                <a:spLocks/>
              </p:cNvSpPr>
              <p:nvPr/>
            </p:nvSpPr>
            <p:spPr bwMode="auto">
              <a:xfrm>
                <a:off x="3259" y="2534"/>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91" name="Freeform 517"/>
              <p:cNvSpPr>
                <a:spLocks/>
              </p:cNvSpPr>
              <p:nvPr/>
            </p:nvSpPr>
            <p:spPr bwMode="auto">
              <a:xfrm>
                <a:off x="3269"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2" name="Freeform 518"/>
              <p:cNvSpPr>
                <a:spLocks/>
              </p:cNvSpPr>
              <p:nvPr/>
            </p:nvSpPr>
            <p:spPr bwMode="auto">
              <a:xfrm>
                <a:off x="3278"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3" name="Freeform 519"/>
              <p:cNvSpPr>
                <a:spLocks/>
              </p:cNvSpPr>
              <p:nvPr/>
            </p:nvSpPr>
            <p:spPr bwMode="auto">
              <a:xfrm>
                <a:off x="3290"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94" name="Freeform 520"/>
              <p:cNvSpPr>
                <a:spLocks/>
              </p:cNvSpPr>
              <p:nvPr/>
            </p:nvSpPr>
            <p:spPr bwMode="auto">
              <a:xfrm>
                <a:off x="3297"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95" name="Freeform 521"/>
              <p:cNvSpPr>
                <a:spLocks/>
              </p:cNvSpPr>
              <p:nvPr/>
            </p:nvSpPr>
            <p:spPr bwMode="auto">
              <a:xfrm>
                <a:off x="3301" y="2534"/>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96" name="Freeform 522"/>
              <p:cNvSpPr>
                <a:spLocks/>
              </p:cNvSpPr>
              <p:nvPr/>
            </p:nvSpPr>
            <p:spPr bwMode="auto">
              <a:xfrm>
                <a:off x="3302" y="2534"/>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7" name="Freeform 523"/>
              <p:cNvSpPr>
                <a:spLocks/>
              </p:cNvSpPr>
              <p:nvPr/>
            </p:nvSpPr>
            <p:spPr bwMode="auto">
              <a:xfrm>
                <a:off x="3318"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8" name="Freeform 524"/>
              <p:cNvSpPr>
                <a:spLocks/>
              </p:cNvSpPr>
              <p:nvPr/>
            </p:nvSpPr>
            <p:spPr bwMode="auto">
              <a:xfrm>
                <a:off x="3522" y="2534"/>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99" name="Freeform 525"/>
              <p:cNvSpPr>
                <a:spLocks/>
              </p:cNvSpPr>
              <p:nvPr/>
            </p:nvSpPr>
            <p:spPr bwMode="auto">
              <a:xfrm>
                <a:off x="3528" y="2534"/>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00" name="Freeform 526"/>
              <p:cNvSpPr>
                <a:spLocks/>
              </p:cNvSpPr>
              <p:nvPr/>
            </p:nvSpPr>
            <p:spPr bwMode="auto">
              <a:xfrm>
                <a:off x="3985" y="2534"/>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1" name="Freeform 527"/>
              <p:cNvSpPr>
                <a:spLocks/>
              </p:cNvSpPr>
              <p:nvPr/>
            </p:nvSpPr>
            <p:spPr bwMode="auto">
              <a:xfrm>
                <a:off x="4121" y="2534"/>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2" name="Freeform 528"/>
              <p:cNvSpPr>
                <a:spLocks/>
              </p:cNvSpPr>
              <p:nvPr/>
            </p:nvSpPr>
            <p:spPr bwMode="auto">
              <a:xfrm>
                <a:off x="4132" y="253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03" name="Freeform 529"/>
              <p:cNvSpPr>
                <a:spLocks/>
              </p:cNvSpPr>
              <p:nvPr/>
            </p:nvSpPr>
            <p:spPr bwMode="auto">
              <a:xfrm>
                <a:off x="4172" y="253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04" name="Freeform 530"/>
              <p:cNvSpPr>
                <a:spLocks/>
              </p:cNvSpPr>
              <p:nvPr/>
            </p:nvSpPr>
            <p:spPr bwMode="auto">
              <a:xfrm>
                <a:off x="4191"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5" name="Freeform 531"/>
              <p:cNvSpPr>
                <a:spLocks/>
              </p:cNvSpPr>
              <p:nvPr/>
            </p:nvSpPr>
            <p:spPr bwMode="auto">
              <a:xfrm>
                <a:off x="4233" y="2534"/>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6" name="Freeform 532"/>
              <p:cNvSpPr>
                <a:spLocks/>
              </p:cNvSpPr>
              <p:nvPr/>
            </p:nvSpPr>
            <p:spPr bwMode="auto">
              <a:xfrm>
                <a:off x="4262"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7" name="Freeform 533"/>
              <p:cNvSpPr>
                <a:spLocks/>
              </p:cNvSpPr>
              <p:nvPr/>
            </p:nvSpPr>
            <p:spPr bwMode="auto">
              <a:xfrm>
                <a:off x="4282" y="2534"/>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08" name="Freeform 534"/>
              <p:cNvSpPr>
                <a:spLocks/>
              </p:cNvSpPr>
              <p:nvPr/>
            </p:nvSpPr>
            <p:spPr bwMode="auto">
              <a:xfrm>
                <a:off x="4390" y="2534"/>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9" name="Freeform 535"/>
              <p:cNvSpPr>
                <a:spLocks/>
              </p:cNvSpPr>
              <p:nvPr/>
            </p:nvSpPr>
            <p:spPr bwMode="auto">
              <a:xfrm>
                <a:off x="4455" y="2534"/>
                <a:ext cx="8" cy="9"/>
              </a:xfrm>
              <a:custGeom>
                <a:avLst/>
                <a:gdLst>
                  <a:gd name="T0" fmla="*/ 1 w 8"/>
                  <a:gd name="T1" fmla="*/ 0 h 9"/>
                  <a:gd name="T2" fmla="*/ 6 w 8"/>
                  <a:gd name="T3" fmla="*/ 0 h 9"/>
                  <a:gd name="T4" fmla="*/ 8 w 8"/>
                  <a:gd name="T5" fmla="*/ 2 h 9"/>
                  <a:gd name="T6" fmla="*/ 8 w 8"/>
                  <a:gd name="T7" fmla="*/ 7 h 9"/>
                  <a:gd name="T8" fmla="*/ 6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7"/>
                    </a:lnTo>
                    <a:lnTo>
                      <a:pt x="6"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10" name="Freeform 536"/>
              <p:cNvSpPr>
                <a:spLocks/>
              </p:cNvSpPr>
              <p:nvPr/>
            </p:nvSpPr>
            <p:spPr bwMode="auto">
              <a:xfrm>
                <a:off x="1060" y="2494"/>
                <a:ext cx="8" cy="10"/>
              </a:xfrm>
              <a:custGeom>
                <a:avLst/>
                <a:gdLst>
                  <a:gd name="T0" fmla="*/ 1 w 8"/>
                  <a:gd name="T1" fmla="*/ 0 h 10"/>
                  <a:gd name="T2" fmla="*/ 6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6"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11" name="Freeform 537"/>
              <p:cNvSpPr>
                <a:spLocks/>
              </p:cNvSpPr>
              <p:nvPr/>
            </p:nvSpPr>
            <p:spPr bwMode="auto">
              <a:xfrm>
                <a:off x="1084"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2" name="Freeform 538"/>
              <p:cNvSpPr>
                <a:spLocks/>
              </p:cNvSpPr>
              <p:nvPr/>
            </p:nvSpPr>
            <p:spPr bwMode="auto">
              <a:xfrm>
                <a:off x="1140"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3" name="Freeform 539"/>
              <p:cNvSpPr>
                <a:spLocks/>
              </p:cNvSpPr>
              <p:nvPr/>
            </p:nvSpPr>
            <p:spPr bwMode="auto">
              <a:xfrm>
                <a:off x="1215"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4" name="Freeform 540"/>
              <p:cNvSpPr>
                <a:spLocks/>
              </p:cNvSpPr>
              <p:nvPr/>
            </p:nvSpPr>
            <p:spPr bwMode="auto">
              <a:xfrm>
                <a:off x="1238"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15" name="Freeform 541"/>
              <p:cNvSpPr>
                <a:spLocks/>
              </p:cNvSpPr>
              <p:nvPr/>
            </p:nvSpPr>
            <p:spPr bwMode="auto">
              <a:xfrm>
                <a:off x="1615"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16" name="Freeform 542"/>
              <p:cNvSpPr>
                <a:spLocks/>
              </p:cNvSpPr>
              <p:nvPr/>
            </p:nvSpPr>
            <p:spPr bwMode="auto">
              <a:xfrm>
                <a:off x="1646"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7" name="Freeform 543"/>
              <p:cNvSpPr>
                <a:spLocks/>
              </p:cNvSpPr>
              <p:nvPr/>
            </p:nvSpPr>
            <p:spPr bwMode="auto">
              <a:xfrm>
                <a:off x="1656"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18" name="Freeform 544"/>
              <p:cNvSpPr>
                <a:spLocks/>
              </p:cNvSpPr>
              <p:nvPr/>
            </p:nvSpPr>
            <p:spPr bwMode="auto">
              <a:xfrm>
                <a:off x="1663"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19" name="Freeform 545"/>
              <p:cNvSpPr>
                <a:spLocks/>
              </p:cNvSpPr>
              <p:nvPr/>
            </p:nvSpPr>
            <p:spPr bwMode="auto">
              <a:xfrm>
                <a:off x="1686"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0" name="Freeform 546"/>
              <p:cNvSpPr>
                <a:spLocks/>
              </p:cNvSpPr>
              <p:nvPr/>
            </p:nvSpPr>
            <p:spPr bwMode="auto">
              <a:xfrm>
                <a:off x="1695"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1" name="Freeform 547"/>
              <p:cNvSpPr>
                <a:spLocks/>
              </p:cNvSpPr>
              <p:nvPr/>
            </p:nvSpPr>
            <p:spPr bwMode="auto">
              <a:xfrm>
                <a:off x="1960"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22" name="Freeform 548"/>
              <p:cNvSpPr>
                <a:spLocks/>
              </p:cNvSpPr>
              <p:nvPr/>
            </p:nvSpPr>
            <p:spPr bwMode="auto">
              <a:xfrm>
                <a:off x="2369" y="2494"/>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23" name="Freeform 549"/>
              <p:cNvSpPr>
                <a:spLocks/>
              </p:cNvSpPr>
              <p:nvPr/>
            </p:nvSpPr>
            <p:spPr bwMode="auto">
              <a:xfrm>
                <a:off x="2393"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24" name="Freeform 550"/>
              <p:cNvSpPr>
                <a:spLocks/>
              </p:cNvSpPr>
              <p:nvPr/>
            </p:nvSpPr>
            <p:spPr bwMode="auto">
              <a:xfrm>
                <a:off x="2472"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25" name="Freeform 551"/>
              <p:cNvSpPr>
                <a:spLocks/>
              </p:cNvSpPr>
              <p:nvPr/>
            </p:nvSpPr>
            <p:spPr bwMode="auto">
              <a:xfrm>
                <a:off x="2489"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26" name="Freeform 552"/>
              <p:cNvSpPr>
                <a:spLocks/>
              </p:cNvSpPr>
              <p:nvPr/>
            </p:nvSpPr>
            <p:spPr bwMode="auto">
              <a:xfrm>
                <a:off x="2498"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27" name="Freeform 553"/>
              <p:cNvSpPr>
                <a:spLocks/>
              </p:cNvSpPr>
              <p:nvPr/>
            </p:nvSpPr>
            <p:spPr bwMode="auto">
              <a:xfrm>
                <a:off x="2508" y="2494"/>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8" name="Freeform 554"/>
              <p:cNvSpPr>
                <a:spLocks/>
              </p:cNvSpPr>
              <p:nvPr/>
            </p:nvSpPr>
            <p:spPr bwMode="auto">
              <a:xfrm>
                <a:off x="2512"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9" name="Freeform 555"/>
              <p:cNvSpPr>
                <a:spLocks/>
              </p:cNvSpPr>
              <p:nvPr/>
            </p:nvSpPr>
            <p:spPr bwMode="auto">
              <a:xfrm>
                <a:off x="2526"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30" name="Freeform 556"/>
              <p:cNvSpPr>
                <a:spLocks/>
              </p:cNvSpPr>
              <p:nvPr/>
            </p:nvSpPr>
            <p:spPr bwMode="auto">
              <a:xfrm>
                <a:off x="2533"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31" name="Freeform 557"/>
              <p:cNvSpPr>
                <a:spLocks/>
              </p:cNvSpPr>
              <p:nvPr/>
            </p:nvSpPr>
            <p:spPr bwMode="auto">
              <a:xfrm>
                <a:off x="2541" y="2494"/>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2" name="Freeform 558"/>
              <p:cNvSpPr>
                <a:spLocks/>
              </p:cNvSpPr>
              <p:nvPr/>
            </p:nvSpPr>
            <p:spPr bwMode="auto">
              <a:xfrm>
                <a:off x="2543"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3" name="Freeform 559"/>
              <p:cNvSpPr>
                <a:spLocks/>
              </p:cNvSpPr>
              <p:nvPr/>
            </p:nvSpPr>
            <p:spPr bwMode="auto">
              <a:xfrm>
                <a:off x="2554" y="2494"/>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34" name="Freeform 560"/>
              <p:cNvSpPr>
                <a:spLocks/>
              </p:cNvSpPr>
              <p:nvPr/>
            </p:nvSpPr>
            <p:spPr bwMode="auto">
              <a:xfrm>
                <a:off x="2583"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5" name="Freeform 561"/>
              <p:cNvSpPr>
                <a:spLocks/>
              </p:cNvSpPr>
              <p:nvPr/>
            </p:nvSpPr>
            <p:spPr bwMode="auto">
              <a:xfrm>
                <a:off x="2592"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6" name="Freeform 562"/>
              <p:cNvSpPr>
                <a:spLocks/>
              </p:cNvSpPr>
              <p:nvPr/>
            </p:nvSpPr>
            <p:spPr bwMode="auto">
              <a:xfrm>
                <a:off x="3257"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37" name="Freeform 563"/>
              <p:cNvSpPr>
                <a:spLocks/>
              </p:cNvSpPr>
              <p:nvPr/>
            </p:nvSpPr>
            <p:spPr bwMode="auto">
              <a:xfrm>
                <a:off x="3266"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38" name="Freeform 564"/>
              <p:cNvSpPr>
                <a:spLocks/>
              </p:cNvSpPr>
              <p:nvPr/>
            </p:nvSpPr>
            <p:spPr bwMode="auto">
              <a:xfrm>
                <a:off x="3278"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9" name="Freeform 565"/>
              <p:cNvSpPr>
                <a:spLocks/>
              </p:cNvSpPr>
              <p:nvPr/>
            </p:nvSpPr>
            <p:spPr bwMode="auto">
              <a:xfrm>
                <a:off x="3289" y="2494"/>
                <a:ext cx="10" cy="10"/>
              </a:xfrm>
              <a:custGeom>
                <a:avLst/>
                <a:gdLst>
                  <a:gd name="T0" fmla="*/ 1 w 10"/>
                  <a:gd name="T1" fmla="*/ 0 h 10"/>
                  <a:gd name="T2" fmla="*/ 6 w 10"/>
                  <a:gd name="T3" fmla="*/ 0 h 10"/>
                  <a:gd name="T4" fmla="*/ 10 w 10"/>
                  <a:gd name="T5" fmla="*/ 3 h 10"/>
                  <a:gd name="T6" fmla="*/ 10 w 10"/>
                  <a:gd name="T7" fmla="*/ 7 h 10"/>
                  <a:gd name="T8" fmla="*/ 6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6" y="0"/>
                    </a:lnTo>
                    <a:lnTo>
                      <a:pt x="10" y="3"/>
                    </a:lnTo>
                    <a:lnTo>
                      <a:pt x="10" y="7"/>
                    </a:lnTo>
                    <a:lnTo>
                      <a:pt x="6"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40" name="Freeform 566"/>
              <p:cNvSpPr>
                <a:spLocks/>
              </p:cNvSpPr>
              <p:nvPr/>
            </p:nvSpPr>
            <p:spPr bwMode="auto">
              <a:xfrm>
                <a:off x="3304"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1" name="Freeform 567"/>
              <p:cNvSpPr>
                <a:spLocks/>
              </p:cNvSpPr>
              <p:nvPr/>
            </p:nvSpPr>
            <p:spPr bwMode="auto">
              <a:xfrm>
                <a:off x="3309" y="2494"/>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2" name="Freeform 568"/>
              <p:cNvSpPr>
                <a:spLocks/>
              </p:cNvSpPr>
              <p:nvPr/>
            </p:nvSpPr>
            <p:spPr bwMode="auto">
              <a:xfrm>
                <a:off x="3313"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43" name="Freeform 569"/>
              <p:cNvSpPr>
                <a:spLocks/>
              </p:cNvSpPr>
              <p:nvPr/>
            </p:nvSpPr>
            <p:spPr bwMode="auto">
              <a:xfrm>
                <a:off x="3325"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4" name="Freeform 570"/>
              <p:cNvSpPr>
                <a:spLocks/>
              </p:cNvSpPr>
              <p:nvPr/>
            </p:nvSpPr>
            <p:spPr bwMode="auto">
              <a:xfrm>
                <a:off x="3332"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5" name="Freeform 571"/>
              <p:cNvSpPr>
                <a:spLocks/>
              </p:cNvSpPr>
              <p:nvPr/>
            </p:nvSpPr>
            <p:spPr bwMode="auto">
              <a:xfrm>
                <a:off x="3374"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6" name="Freeform 572"/>
              <p:cNvSpPr>
                <a:spLocks/>
              </p:cNvSpPr>
              <p:nvPr/>
            </p:nvSpPr>
            <p:spPr bwMode="auto">
              <a:xfrm>
                <a:off x="3385" y="2494"/>
                <a:ext cx="10" cy="10"/>
              </a:xfrm>
              <a:custGeom>
                <a:avLst/>
                <a:gdLst>
                  <a:gd name="T0" fmla="*/ 1 w 10"/>
                  <a:gd name="T1" fmla="*/ 0 h 10"/>
                  <a:gd name="T2" fmla="*/ 6 w 10"/>
                  <a:gd name="T3" fmla="*/ 0 h 10"/>
                  <a:gd name="T4" fmla="*/ 10 w 10"/>
                  <a:gd name="T5" fmla="*/ 3 h 10"/>
                  <a:gd name="T6" fmla="*/ 10 w 10"/>
                  <a:gd name="T7" fmla="*/ 7 h 10"/>
                  <a:gd name="T8" fmla="*/ 6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6" y="0"/>
                    </a:lnTo>
                    <a:lnTo>
                      <a:pt x="10" y="3"/>
                    </a:lnTo>
                    <a:lnTo>
                      <a:pt x="10" y="7"/>
                    </a:lnTo>
                    <a:lnTo>
                      <a:pt x="6"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47" name="Freeform 573"/>
              <p:cNvSpPr>
                <a:spLocks/>
              </p:cNvSpPr>
              <p:nvPr/>
            </p:nvSpPr>
            <p:spPr bwMode="auto">
              <a:xfrm>
                <a:off x="3407"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8" name="Freeform 574"/>
              <p:cNvSpPr>
                <a:spLocks/>
              </p:cNvSpPr>
              <p:nvPr/>
            </p:nvSpPr>
            <p:spPr bwMode="auto">
              <a:xfrm>
                <a:off x="3416"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49" name="Freeform 575"/>
              <p:cNvSpPr>
                <a:spLocks/>
              </p:cNvSpPr>
              <p:nvPr/>
            </p:nvSpPr>
            <p:spPr bwMode="auto">
              <a:xfrm>
                <a:off x="3425"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50" name="Freeform 576"/>
              <p:cNvSpPr>
                <a:spLocks/>
              </p:cNvSpPr>
              <p:nvPr/>
            </p:nvSpPr>
            <p:spPr bwMode="auto">
              <a:xfrm>
                <a:off x="3479" y="2494"/>
                <a:ext cx="8" cy="10"/>
              </a:xfrm>
              <a:custGeom>
                <a:avLst/>
                <a:gdLst>
                  <a:gd name="T0" fmla="*/ 2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1"/>
                    </a:lnTo>
                    <a:lnTo>
                      <a:pt x="8"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1" name="Freeform 577"/>
              <p:cNvSpPr>
                <a:spLocks/>
              </p:cNvSpPr>
              <p:nvPr/>
            </p:nvSpPr>
            <p:spPr bwMode="auto">
              <a:xfrm>
                <a:off x="3517"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2" name="Freeform 578"/>
              <p:cNvSpPr>
                <a:spLocks/>
              </p:cNvSpPr>
              <p:nvPr/>
            </p:nvSpPr>
            <p:spPr bwMode="auto">
              <a:xfrm>
                <a:off x="3528"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53" name="Freeform 579"/>
              <p:cNvSpPr>
                <a:spLocks/>
              </p:cNvSpPr>
              <p:nvPr/>
            </p:nvSpPr>
            <p:spPr bwMode="auto">
              <a:xfrm>
                <a:off x="3531"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54" name="Freeform 580"/>
              <p:cNvSpPr>
                <a:spLocks/>
              </p:cNvSpPr>
              <p:nvPr/>
            </p:nvSpPr>
            <p:spPr bwMode="auto">
              <a:xfrm>
                <a:off x="3536"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5" name="Freeform 581"/>
              <p:cNvSpPr>
                <a:spLocks/>
              </p:cNvSpPr>
              <p:nvPr/>
            </p:nvSpPr>
            <p:spPr bwMode="auto">
              <a:xfrm>
                <a:off x="3545"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6" name="Freeform 582"/>
              <p:cNvSpPr>
                <a:spLocks/>
              </p:cNvSpPr>
              <p:nvPr/>
            </p:nvSpPr>
            <p:spPr bwMode="auto">
              <a:xfrm>
                <a:off x="3568"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57" name="Freeform 583"/>
              <p:cNvSpPr>
                <a:spLocks/>
              </p:cNvSpPr>
              <p:nvPr/>
            </p:nvSpPr>
            <p:spPr bwMode="auto">
              <a:xfrm>
                <a:off x="4187" y="2494"/>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58" name="Freeform 584"/>
              <p:cNvSpPr>
                <a:spLocks/>
              </p:cNvSpPr>
              <p:nvPr/>
            </p:nvSpPr>
            <p:spPr bwMode="auto">
              <a:xfrm>
                <a:off x="4207"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59" name="Freeform 585"/>
              <p:cNvSpPr>
                <a:spLocks/>
              </p:cNvSpPr>
              <p:nvPr/>
            </p:nvSpPr>
            <p:spPr bwMode="auto">
              <a:xfrm>
                <a:off x="4210" y="2494"/>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0" name="Freeform 586"/>
              <p:cNvSpPr>
                <a:spLocks/>
              </p:cNvSpPr>
              <p:nvPr/>
            </p:nvSpPr>
            <p:spPr bwMode="auto">
              <a:xfrm>
                <a:off x="4214" y="2494"/>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61" name="Freeform 587"/>
              <p:cNvSpPr>
                <a:spLocks/>
              </p:cNvSpPr>
              <p:nvPr/>
            </p:nvSpPr>
            <p:spPr bwMode="auto">
              <a:xfrm>
                <a:off x="4219" y="2494"/>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62" name="Freeform 588"/>
              <p:cNvSpPr>
                <a:spLocks/>
              </p:cNvSpPr>
              <p:nvPr/>
            </p:nvSpPr>
            <p:spPr bwMode="auto">
              <a:xfrm>
                <a:off x="4425" y="2494"/>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3" name="Freeform 589"/>
              <p:cNvSpPr>
                <a:spLocks/>
              </p:cNvSpPr>
              <p:nvPr/>
            </p:nvSpPr>
            <p:spPr bwMode="auto">
              <a:xfrm>
                <a:off x="4432"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4" name="Freeform 590"/>
              <p:cNvSpPr>
                <a:spLocks/>
              </p:cNvSpPr>
              <p:nvPr/>
            </p:nvSpPr>
            <p:spPr bwMode="auto">
              <a:xfrm>
                <a:off x="4434" y="2494"/>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65" name="Freeform 591"/>
              <p:cNvSpPr>
                <a:spLocks/>
              </p:cNvSpPr>
              <p:nvPr/>
            </p:nvSpPr>
            <p:spPr bwMode="auto">
              <a:xfrm>
                <a:off x="4608" y="2494"/>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66" name="Freeform 592"/>
              <p:cNvSpPr>
                <a:spLocks/>
              </p:cNvSpPr>
              <p:nvPr/>
            </p:nvSpPr>
            <p:spPr bwMode="auto">
              <a:xfrm>
                <a:off x="1341"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67" name="Freeform 593"/>
              <p:cNvSpPr>
                <a:spLocks/>
              </p:cNvSpPr>
              <p:nvPr/>
            </p:nvSpPr>
            <p:spPr bwMode="auto">
              <a:xfrm>
                <a:off x="1869"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68" name="Freeform 594"/>
              <p:cNvSpPr>
                <a:spLocks/>
              </p:cNvSpPr>
              <p:nvPr/>
            </p:nvSpPr>
            <p:spPr bwMode="auto">
              <a:xfrm>
                <a:off x="1941"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69" name="Freeform 595"/>
              <p:cNvSpPr>
                <a:spLocks/>
              </p:cNvSpPr>
              <p:nvPr/>
            </p:nvSpPr>
            <p:spPr bwMode="auto">
              <a:xfrm>
                <a:off x="1953"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70" name="Freeform 596"/>
              <p:cNvSpPr>
                <a:spLocks/>
              </p:cNvSpPr>
              <p:nvPr/>
            </p:nvSpPr>
            <p:spPr bwMode="auto">
              <a:xfrm>
                <a:off x="2349"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71" name="Freeform 597"/>
              <p:cNvSpPr>
                <a:spLocks/>
              </p:cNvSpPr>
              <p:nvPr/>
            </p:nvSpPr>
            <p:spPr bwMode="auto">
              <a:xfrm>
                <a:off x="2353"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72" name="Freeform 598"/>
              <p:cNvSpPr>
                <a:spLocks/>
              </p:cNvSpPr>
              <p:nvPr/>
            </p:nvSpPr>
            <p:spPr bwMode="auto">
              <a:xfrm>
                <a:off x="2358"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73" name="Freeform 599"/>
              <p:cNvSpPr>
                <a:spLocks/>
              </p:cNvSpPr>
              <p:nvPr/>
            </p:nvSpPr>
            <p:spPr bwMode="auto">
              <a:xfrm>
                <a:off x="2374"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74" name="Freeform 600"/>
              <p:cNvSpPr>
                <a:spLocks/>
              </p:cNvSpPr>
              <p:nvPr/>
            </p:nvSpPr>
            <p:spPr bwMode="auto">
              <a:xfrm>
                <a:off x="2397"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75" name="Freeform 601"/>
              <p:cNvSpPr>
                <a:spLocks/>
              </p:cNvSpPr>
              <p:nvPr/>
            </p:nvSpPr>
            <p:spPr bwMode="auto">
              <a:xfrm>
                <a:off x="2543"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76" name="Freeform 602"/>
              <p:cNvSpPr>
                <a:spLocks/>
              </p:cNvSpPr>
              <p:nvPr/>
            </p:nvSpPr>
            <p:spPr bwMode="auto">
              <a:xfrm>
                <a:off x="2545"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77" name="Freeform 603"/>
              <p:cNvSpPr>
                <a:spLocks/>
              </p:cNvSpPr>
              <p:nvPr/>
            </p:nvSpPr>
            <p:spPr bwMode="auto">
              <a:xfrm>
                <a:off x="2550"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78" name="Freeform 604"/>
              <p:cNvSpPr>
                <a:spLocks/>
              </p:cNvSpPr>
              <p:nvPr/>
            </p:nvSpPr>
            <p:spPr bwMode="auto">
              <a:xfrm>
                <a:off x="2554" y="2454"/>
                <a:ext cx="10" cy="10"/>
              </a:xfrm>
              <a:custGeom>
                <a:avLst/>
                <a:gdLst>
                  <a:gd name="T0" fmla="*/ 3 w 10"/>
                  <a:gd name="T1" fmla="*/ 0 h 10"/>
                  <a:gd name="T2" fmla="*/ 7 w 10"/>
                  <a:gd name="T3" fmla="*/ 0 h 10"/>
                  <a:gd name="T4" fmla="*/ 10 w 10"/>
                  <a:gd name="T5" fmla="*/ 3 h 10"/>
                  <a:gd name="T6" fmla="*/ 10 w 10"/>
                  <a:gd name="T7" fmla="*/ 8 h 10"/>
                  <a:gd name="T8" fmla="*/ 8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8"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79" name="Freeform 605"/>
              <p:cNvSpPr>
                <a:spLocks/>
              </p:cNvSpPr>
              <p:nvPr/>
            </p:nvSpPr>
            <p:spPr bwMode="auto">
              <a:xfrm>
                <a:off x="2569"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80" name="Freeform 606"/>
              <p:cNvSpPr>
                <a:spLocks/>
              </p:cNvSpPr>
              <p:nvPr/>
            </p:nvSpPr>
            <p:spPr bwMode="auto">
              <a:xfrm>
                <a:off x="2575" y="2454"/>
                <a:ext cx="10" cy="10"/>
              </a:xfrm>
              <a:custGeom>
                <a:avLst/>
                <a:gdLst>
                  <a:gd name="T0" fmla="*/ 3 w 10"/>
                  <a:gd name="T1" fmla="*/ 0 h 10"/>
                  <a:gd name="T2" fmla="*/ 7 w 10"/>
                  <a:gd name="T3" fmla="*/ 0 h 10"/>
                  <a:gd name="T4" fmla="*/ 10 w 10"/>
                  <a:gd name="T5" fmla="*/ 3 h 10"/>
                  <a:gd name="T6" fmla="*/ 10 w 10"/>
                  <a:gd name="T7" fmla="*/ 6 h 10"/>
                  <a:gd name="T8" fmla="*/ 7 w 10"/>
                  <a:gd name="T9" fmla="*/ 10 h 10"/>
                  <a:gd name="T10" fmla="*/ 1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6"/>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9" name="Group 808"/>
            <p:cNvGrpSpPr>
              <a:grpSpLocks/>
            </p:cNvGrpSpPr>
            <p:nvPr/>
          </p:nvGrpSpPr>
          <p:grpSpPr bwMode="auto">
            <a:xfrm>
              <a:off x="1947928" y="3517910"/>
              <a:ext cx="6315288" cy="393701"/>
              <a:chOff x="1227" y="2216"/>
              <a:chExt cx="3978" cy="248"/>
            </a:xfrm>
          </p:grpSpPr>
          <p:sp>
            <p:nvSpPr>
              <p:cNvPr id="1081" name="Freeform 608"/>
              <p:cNvSpPr>
                <a:spLocks/>
              </p:cNvSpPr>
              <p:nvPr/>
            </p:nvSpPr>
            <p:spPr bwMode="auto">
              <a:xfrm>
                <a:off x="2597"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82" name="Freeform 609"/>
              <p:cNvSpPr>
                <a:spLocks/>
              </p:cNvSpPr>
              <p:nvPr/>
            </p:nvSpPr>
            <p:spPr bwMode="auto">
              <a:xfrm>
                <a:off x="2925"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83" name="Freeform 610"/>
              <p:cNvSpPr>
                <a:spLocks/>
              </p:cNvSpPr>
              <p:nvPr/>
            </p:nvSpPr>
            <p:spPr bwMode="auto">
              <a:xfrm>
                <a:off x="2974"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84" name="Freeform 611"/>
              <p:cNvSpPr>
                <a:spLocks/>
              </p:cNvSpPr>
              <p:nvPr/>
            </p:nvSpPr>
            <p:spPr bwMode="auto">
              <a:xfrm>
                <a:off x="3313"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85" name="Freeform 612"/>
              <p:cNvSpPr>
                <a:spLocks/>
              </p:cNvSpPr>
              <p:nvPr/>
            </p:nvSpPr>
            <p:spPr bwMode="auto">
              <a:xfrm>
                <a:off x="3522"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86" name="Freeform 613"/>
              <p:cNvSpPr>
                <a:spLocks/>
              </p:cNvSpPr>
              <p:nvPr/>
            </p:nvSpPr>
            <p:spPr bwMode="auto">
              <a:xfrm>
                <a:off x="3526"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87" name="Freeform 614"/>
              <p:cNvSpPr>
                <a:spLocks/>
              </p:cNvSpPr>
              <p:nvPr/>
            </p:nvSpPr>
            <p:spPr bwMode="auto">
              <a:xfrm>
                <a:off x="3529"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88" name="Freeform 615"/>
              <p:cNvSpPr>
                <a:spLocks/>
              </p:cNvSpPr>
              <p:nvPr/>
            </p:nvSpPr>
            <p:spPr bwMode="auto">
              <a:xfrm>
                <a:off x="3531"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89" name="Freeform 616"/>
              <p:cNvSpPr>
                <a:spLocks/>
              </p:cNvSpPr>
              <p:nvPr/>
            </p:nvSpPr>
            <p:spPr bwMode="auto">
              <a:xfrm>
                <a:off x="3535"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0" name="Freeform 617"/>
              <p:cNvSpPr>
                <a:spLocks/>
              </p:cNvSpPr>
              <p:nvPr/>
            </p:nvSpPr>
            <p:spPr bwMode="auto">
              <a:xfrm>
                <a:off x="3536" y="2454"/>
                <a:ext cx="11" cy="10"/>
              </a:xfrm>
              <a:custGeom>
                <a:avLst/>
                <a:gdLst>
                  <a:gd name="T0" fmla="*/ 4 w 11"/>
                  <a:gd name="T1" fmla="*/ 0 h 10"/>
                  <a:gd name="T2" fmla="*/ 7 w 11"/>
                  <a:gd name="T3" fmla="*/ 0 h 10"/>
                  <a:gd name="T4" fmla="*/ 11 w 11"/>
                  <a:gd name="T5" fmla="*/ 3 h 10"/>
                  <a:gd name="T6" fmla="*/ 11 w 11"/>
                  <a:gd name="T7" fmla="*/ 6 h 10"/>
                  <a:gd name="T8" fmla="*/ 7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6"/>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91" name="Freeform 618"/>
              <p:cNvSpPr>
                <a:spLocks/>
              </p:cNvSpPr>
              <p:nvPr/>
            </p:nvSpPr>
            <p:spPr bwMode="auto">
              <a:xfrm>
                <a:off x="3866"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92" name="Freeform 619"/>
              <p:cNvSpPr>
                <a:spLocks/>
              </p:cNvSpPr>
              <p:nvPr/>
            </p:nvSpPr>
            <p:spPr bwMode="auto">
              <a:xfrm>
                <a:off x="3870"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2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3" name="Freeform 620"/>
              <p:cNvSpPr>
                <a:spLocks/>
              </p:cNvSpPr>
              <p:nvPr/>
            </p:nvSpPr>
            <p:spPr bwMode="auto">
              <a:xfrm>
                <a:off x="4194" y="2454"/>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6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6"/>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94" name="Freeform 621"/>
              <p:cNvSpPr>
                <a:spLocks/>
              </p:cNvSpPr>
              <p:nvPr/>
            </p:nvSpPr>
            <p:spPr bwMode="auto">
              <a:xfrm>
                <a:off x="4205" y="2454"/>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5" name="Freeform 622"/>
              <p:cNvSpPr>
                <a:spLocks/>
              </p:cNvSpPr>
              <p:nvPr/>
            </p:nvSpPr>
            <p:spPr bwMode="auto">
              <a:xfrm>
                <a:off x="4226" y="2454"/>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6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6"/>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6" name="Freeform 623"/>
              <p:cNvSpPr>
                <a:spLocks/>
              </p:cNvSpPr>
              <p:nvPr/>
            </p:nvSpPr>
            <p:spPr bwMode="auto">
              <a:xfrm>
                <a:off x="4385"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7" name="Freeform 624"/>
              <p:cNvSpPr>
                <a:spLocks/>
              </p:cNvSpPr>
              <p:nvPr/>
            </p:nvSpPr>
            <p:spPr bwMode="auto">
              <a:xfrm>
                <a:off x="4421"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98" name="Freeform 625"/>
              <p:cNvSpPr>
                <a:spLocks/>
              </p:cNvSpPr>
              <p:nvPr/>
            </p:nvSpPr>
            <p:spPr bwMode="auto">
              <a:xfrm>
                <a:off x="4448" y="2454"/>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99" name="Freeform 626"/>
              <p:cNvSpPr>
                <a:spLocks/>
              </p:cNvSpPr>
              <p:nvPr/>
            </p:nvSpPr>
            <p:spPr bwMode="auto">
              <a:xfrm>
                <a:off x="4449" y="2454"/>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00" name="Freeform 627"/>
              <p:cNvSpPr>
                <a:spLocks/>
              </p:cNvSpPr>
              <p:nvPr/>
            </p:nvSpPr>
            <p:spPr bwMode="auto">
              <a:xfrm>
                <a:off x="4455" y="2454"/>
                <a:ext cx="8" cy="10"/>
              </a:xfrm>
              <a:custGeom>
                <a:avLst/>
                <a:gdLst>
                  <a:gd name="T0" fmla="*/ 3 w 8"/>
                  <a:gd name="T1" fmla="*/ 0 h 10"/>
                  <a:gd name="T2" fmla="*/ 5 w 8"/>
                  <a:gd name="T3" fmla="*/ 0 h 10"/>
                  <a:gd name="T4" fmla="*/ 8 w 8"/>
                  <a:gd name="T5" fmla="*/ 3 h 10"/>
                  <a:gd name="T6" fmla="*/ 8 w 8"/>
                  <a:gd name="T7" fmla="*/ 8 h 10"/>
                  <a:gd name="T8" fmla="*/ 6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6"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01" name="Freeform 628"/>
              <p:cNvSpPr>
                <a:spLocks/>
              </p:cNvSpPr>
              <p:nvPr/>
            </p:nvSpPr>
            <p:spPr bwMode="auto">
              <a:xfrm>
                <a:off x="4465" y="2454"/>
                <a:ext cx="10" cy="10"/>
              </a:xfrm>
              <a:custGeom>
                <a:avLst/>
                <a:gdLst>
                  <a:gd name="T0" fmla="*/ 3 w 10"/>
                  <a:gd name="T1" fmla="*/ 0 h 10"/>
                  <a:gd name="T2" fmla="*/ 7 w 10"/>
                  <a:gd name="T3" fmla="*/ 0 h 10"/>
                  <a:gd name="T4" fmla="*/ 10 w 10"/>
                  <a:gd name="T5" fmla="*/ 3 h 10"/>
                  <a:gd name="T6" fmla="*/ 10 w 10"/>
                  <a:gd name="T7" fmla="*/ 6 h 10"/>
                  <a:gd name="T8" fmla="*/ 7 w 10"/>
                  <a:gd name="T9" fmla="*/ 10 h 10"/>
                  <a:gd name="T10" fmla="*/ 2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6"/>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02" name="Freeform 629"/>
              <p:cNvSpPr>
                <a:spLocks/>
              </p:cNvSpPr>
              <p:nvPr/>
            </p:nvSpPr>
            <p:spPr bwMode="auto">
              <a:xfrm>
                <a:off x="4477" y="2454"/>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03" name="Freeform 630"/>
              <p:cNvSpPr>
                <a:spLocks/>
              </p:cNvSpPr>
              <p:nvPr/>
            </p:nvSpPr>
            <p:spPr bwMode="auto">
              <a:xfrm>
                <a:off x="1567"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04" name="Freeform 631"/>
              <p:cNvSpPr>
                <a:spLocks/>
              </p:cNvSpPr>
              <p:nvPr/>
            </p:nvSpPr>
            <p:spPr bwMode="auto">
              <a:xfrm>
                <a:off x="1573" y="2415"/>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05" name="Freeform 632"/>
              <p:cNvSpPr>
                <a:spLocks/>
              </p:cNvSpPr>
              <p:nvPr/>
            </p:nvSpPr>
            <p:spPr bwMode="auto">
              <a:xfrm>
                <a:off x="1581" y="2415"/>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6" name="Freeform 633"/>
              <p:cNvSpPr>
                <a:spLocks/>
              </p:cNvSpPr>
              <p:nvPr/>
            </p:nvSpPr>
            <p:spPr bwMode="auto">
              <a:xfrm>
                <a:off x="1583"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7" name="Freeform 634"/>
              <p:cNvSpPr>
                <a:spLocks/>
              </p:cNvSpPr>
              <p:nvPr/>
            </p:nvSpPr>
            <p:spPr bwMode="auto">
              <a:xfrm>
                <a:off x="1630" y="2415"/>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08" name="Freeform 635"/>
              <p:cNvSpPr>
                <a:spLocks/>
              </p:cNvSpPr>
              <p:nvPr/>
            </p:nvSpPr>
            <p:spPr bwMode="auto">
              <a:xfrm>
                <a:off x="1644"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09" name="Freeform 636"/>
              <p:cNvSpPr>
                <a:spLocks/>
              </p:cNvSpPr>
              <p:nvPr/>
            </p:nvSpPr>
            <p:spPr bwMode="auto">
              <a:xfrm>
                <a:off x="1646" y="2415"/>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10" name="Freeform 637"/>
              <p:cNvSpPr>
                <a:spLocks/>
              </p:cNvSpPr>
              <p:nvPr/>
            </p:nvSpPr>
            <p:spPr bwMode="auto">
              <a:xfrm>
                <a:off x="1670"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11" name="Freeform 638"/>
              <p:cNvSpPr>
                <a:spLocks/>
              </p:cNvSpPr>
              <p:nvPr/>
            </p:nvSpPr>
            <p:spPr bwMode="auto">
              <a:xfrm>
                <a:off x="1679" y="2415"/>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12" name="Freeform 639"/>
              <p:cNvSpPr>
                <a:spLocks/>
              </p:cNvSpPr>
              <p:nvPr/>
            </p:nvSpPr>
            <p:spPr bwMode="auto">
              <a:xfrm>
                <a:off x="1709" y="2415"/>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13" name="Freeform 640"/>
              <p:cNvSpPr>
                <a:spLocks/>
              </p:cNvSpPr>
              <p:nvPr/>
            </p:nvSpPr>
            <p:spPr bwMode="auto">
              <a:xfrm>
                <a:off x="2501" y="2415"/>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14" name="Freeform 641"/>
              <p:cNvSpPr>
                <a:spLocks/>
              </p:cNvSpPr>
              <p:nvPr/>
            </p:nvSpPr>
            <p:spPr bwMode="auto">
              <a:xfrm>
                <a:off x="2510"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15" name="Freeform 642"/>
              <p:cNvSpPr>
                <a:spLocks/>
              </p:cNvSpPr>
              <p:nvPr/>
            </p:nvSpPr>
            <p:spPr bwMode="auto">
              <a:xfrm>
                <a:off x="2515"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16" name="Freeform 643"/>
              <p:cNvSpPr>
                <a:spLocks/>
              </p:cNvSpPr>
              <p:nvPr/>
            </p:nvSpPr>
            <p:spPr bwMode="auto">
              <a:xfrm>
                <a:off x="2517" y="2415"/>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17" name="Freeform 644"/>
              <p:cNvSpPr>
                <a:spLocks/>
              </p:cNvSpPr>
              <p:nvPr/>
            </p:nvSpPr>
            <p:spPr bwMode="auto">
              <a:xfrm>
                <a:off x="2527"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18" name="Freeform 645"/>
              <p:cNvSpPr>
                <a:spLocks/>
              </p:cNvSpPr>
              <p:nvPr/>
            </p:nvSpPr>
            <p:spPr bwMode="auto">
              <a:xfrm>
                <a:off x="2529"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19" name="Freeform 646"/>
              <p:cNvSpPr>
                <a:spLocks/>
              </p:cNvSpPr>
              <p:nvPr/>
            </p:nvSpPr>
            <p:spPr bwMode="auto">
              <a:xfrm>
                <a:off x="2536"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0" name="Freeform 647"/>
              <p:cNvSpPr>
                <a:spLocks/>
              </p:cNvSpPr>
              <p:nvPr/>
            </p:nvSpPr>
            <p:spPr bwMode="auto">
              <a:xfrm>
                <a:off x="2538" y="241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21" name="Freeform 648"/>
              <p:cNvSpPr>
                <a:spLocks/>
              </p:cNvSpPr>
              <p:nvPr/>
            </p:nvSpPr>
            <p:spPr bwMode="auto">
              <a:xfrm>
                <a:off x="2576"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2" name="Freeform 649"/>
              <p:cNvSpPr>
                <a:spLocks/>
              </p:cNvSpPr>
              <p:nvPr/>
            </p:nvSpPr>
            <p:spPr bwMode="auto">
              <a:xfrm>
                <a:off x="3007"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3" name="Freeform 650"/>
              <p:cNvSpPr>
                <a:spLocks/>
              </p:cNvSpPr>
              <p:nvPr/>
            </p:nvSpPr>
            <p:spPr bwMode="auto">
              <a:xfrm>
                <a:off x="3013" y="2415"/>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24" name="Freeform 651"/>
              <p:cNvSpPr>
                <a:spLocks/>
              </p:cNvSpPr>
              <p:nvPr/>
            </p:nvSpPr>
            <p:spPr bwMode="auto">
              <a:xfrm>
                <a:off x="3037"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5" name="Freeform 652"/>
              <p:cNvSpPr>
                <a:spLocks/>
              </p:cNvSpPr>
              <p:nvPr/>
            </p:nvSpPr>
            <p:spPr bwMode="auto">
              <a:xfrm>
                <a:off x="3550"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6" name="Freeform 653"/>
              <p:cNvSpPr>
                <a:spLocks/>
              </p:cNvSpPr>
              <p:nvPr/>
            </p:nvSpPr>
            <p:spPr bwMode="auto">
              <a:xfrm>
                <a:off x="4161" y="2415"/>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27" name="Freeform 654"/>
              <p:cNvSpPr>
                <a:spLocks/>
              </p:cNvSpPr>
              <p:nvPr/>
            </p:nvSpPr>
            <p:spPr bwMode="auto">
              <a:xfrm>
                <a:off x="4187"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28" name="Freeform 655"/>
              <p:cNvSpPr>
                <a:spLocks/>
              </p:cNvSpPr>
              <p:nvPr/>
            </p:nvSpPr>
            <p:spPr bwMode="auto">
              <a:xfrm>
                <a:off x="4200" y="2415"/>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29" name="Freeform 656"/>
              <p:cNvSpPr>
                <a:spLocks/>
              </p:cNvSpPr>
              <p:nvPr/>
            </p:nvSpPr>
            <p:spPr bwMode="auto">
              <a:xfrm>
                <a:off x="4231"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0" name="Freeform 657"/>
              <p:cNvSpPr>
                <a:spLocks/>
              </p:cNvSpPr>
              <p:nvPr/>
            </p:nvSpPr>
            <p:spPr bwMode="auto">
              <a:xfrm>
                <a:off x="4238"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31" name="Freeform 658"/>
              <p:cNvSpPr>
                <a:spLocks/>
              </p:cNvSpPr>
              <p:nvPr/>
            </p:nvSpPr>
            <p:spPr bwMode="auto">
              <a:xfrm>
                <a:off x="4322" y="2415"/>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32" name="Freeform 659"/>
              <p:cNvSpPr>
                <a:spLocks/>
              </p:cNvSpPr>
              <p:nvPr/>
            </p:nvSpPr>
            <p:spPr bwMode="auto">
              <a:xfrm>
                <a:off x="4327"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33" name="Freeform 660"/>
              <p:cNvSpPr>
                <a:spLocks/>
              </p:cNvSpPr>
              <p:nvPr/>
            </p:nvSpPr>
            <p:spPr bwMode="auto">
              <a:xfrm>
                <a:off x="4338" y="2415"/>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34" name="Freeform 661"/>
              <p:cNvSpPr>
                <a:spLocks/>
              </p:cNvSpPr>
              <p:nvPr/>
            </p:nvSpPr>
            <p:spPr bwMode="auto">
              <a:xfrm>
                <a:off x="4355" y="241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35" name="Freeform 662"/>
              <p:cNvSpPr>
                <a:spLocks/>
              </p:cNvSpPr>
              <p:nvPr/>
            </p:nvSpPr>
            <p:spPr bwMode="auto">
              <a:xfrm>
                <a:off x="4379" y="241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36" name="Freeform 663"/>
              <p:cNvSpPr>
                <a:spLocks/>
              </p:cNvSpPr>
              <p:nvPr/>
            </p:nvSpPr>
            <p:spPr bwMode="auto">
              <a:xfrm>
                <a:off x="4411" y="241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37" name="Freeform 664"/>
              <p:cNvSpPr>
                <a:spLocks/>
              </p:cNvSpPr>
              <p:nvPr/>
            </p:nvSpPr>
            <p:spPr bwMode="auto">
              <a:xfrm>
                <a:off x="4430" y="2415"/>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38" name="Freeform 665"/>
              <p:cNvSpPr>
                <a:spLocks/>
              </p:cNvSpPr>
              <p:nvPr/>
            </p:nvSpPr>
            <p:spPr bwMode="auto">
              <a:xfrm>
                <a:off x="4441" y="2415"/>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39" name="Freeform 666"/>
              <p:cNvSpPr>
                <a:spLocks/>
              </p:cNvSpPr>
              <p:nvPr/>
            </p:nvSpPr>
            <p:spPr bwMode="auto">
              <a:xfrm>
                <a:off x="4472" y="2415"/>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0" name="Freeform 667"/>
              <p:cNvSpPr>
                <a:spLocks/>
              </p:cNvSpPr>
              <p:nvPr/>
            </p:nvSpPr>
            <p:spPr bwMode="auto">
              <a:xfrm>
                <a:off x="1606" y="2375"/>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1" name="Freeform 668"/>
              <p:cNvSpPr>
                <a:spLocks/>
              </p:cNvSpPr>
              <p:nvPr/>
            </p:nvSpPr>
            <p:spPr bwMode="auto">
              <a:xfrm>
                <a:off x="1637" y="2375"/>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2" name="Freeform 669"/>
              <p:cNvSpPr>
                <a:spLocks/>
              </p:cNvSpPr>
              <p:nvPr/>
            </p:nvSpPr>
            <p:spPr bwMode="auto">
              <a:xfrm>
                <a:off x="1644"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3" name="Freeform 670"/>
              <p:cNvSpPr>
                <a:spLocks/>
              </p:cNvSpPr>
              <p:nvPr/>
            </p:nvSpPr>
            <p:spPr bwMode="auto">
              <a:xfrm>
                <a:off x="1702" y="2375"/>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4" name="Freeform 671"/>
              <p:cNvSpPr>
                <a:spLocks/>
              </p:cNvSpPr>
              <p:nvPr/>
            </p:nvSpPr>
            <p:spPr bwMode="auto">
              <a:xfrm>
                <a:off x="1709"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5" name="Freeform 672"/>
              <p:cNvSpPr>
                <a:spLocks/>
              </p:cNvSpPr>
              <p:nvPr/>
            </p:nvSpPr>
            <p:spPr bwMode="auto">
              <a:xfrm>
                <a:off x="1716"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6" name="Freeform 673"/>
              <p:cNvSpPr>
                <a:spLocks/>
              </p:cNvSpPr>
              <p:nvPr/>
            </p:nvSpPr>
            <p:spPr bwMode="auto">
              <a:xfrm>
                <a:off x="1726" y="2375"/>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7" name="Freeform 674"/>
              <p:cNvSpPr>
                <a:spLocks/>
              </p:cNvSpPr>
              <p:nvPr/>
            </p:nvSpPr>
            <p:spPr bwMode="auto">
              <a:xfrm>
                <a:off x="1747"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48" name="Freeform 675"/>
              <p:cNvSpPr>
                <a:spLocks/>
              </p:cNvSpPr>
              <p:nvPr/>
            </p:nvSpPr>
            <p:spPr bwMode="auto">
              <a:xfrm>
                <a:off x="1751" y="2375"/>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49" name="Freeform 676"/>
              <p:cNvSpPr>
                <a:spLocks/>
              </p:cNvSpPr>
              <p:nvPr/>
            </p:nvSpPr>
            <p:spPr bwMode="auto">
              <a:xfrm>
                <a:off x="1752"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50" name="Freeform 677"/>
              <p:cNvSpPr>
                <a:spLocks/>
              </p:cNvSpPr>
              <p:nvPr/>
            </p:nvSpPr>
            <p:spPr bwMode="auto">
              <a:xfrm>
                <a:off x="2498" y="237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51" name="Freeform 678"/>
              <p:cNvSpPr>
                <a:spLocks/>
              </p:cNvSpPr>
              <p:nvPr/>
            </p:nvSpPr>
            <p:spPr bwMode="auto">
              <a:xfrm>
                <a:off x="2503" y="2375"/>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2" name="Freeform 679"/>
              <p:cNvSpPr>
                <a:spLocks/>
              </p:cNvSpPr>
              <p:nvPr/>
            </p:nvSpPr>
            <p:spPr bwMode="auto">
              <a:xfrm>
                <a:off x="2508"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3" name="Freeform 680"/>
              <p:cNvSpPr>
                <a:spLocks/>
              </p:cNvSpPr>
              <p:nvPr/>
            </p:nvSpPr>
            <p:spPr bwMode="auto">
              <a:xfrm>
                <a:off x="2519" y="2375"/>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54" name="Freeform 681"/>
              <p:cNvSpPr>
                <a:spLocks/>
              </p:cNvSpPr>
              <p:nvPr/>
            </p:nvSpPr>
            <p:spPr bwMode="auto">
              <a:xfrm>
                <a:off x="2520" y="2375"/>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5" name="Freeform 682"/>
              <p:cNvSpPr>
                <a:spLocks/>
              </p:cNvSpPr>
              <p:nvPr/>
            </p:nvSpPr>
            <p:spPr bwMode="auto">
              <a:xfrm>
                <a:off x="2527" y="2375"/>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6" name="Freeform 683"/>
              <p:cNvSpPr>
                <a:spLocks/>
              </p:cNvSpPr>
              <p:nvPr/>
            </p:nvSpPr>
            <p:spPr bwMode="auto">
              <a:xfrm>
                <a:off x="2529"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57" name="Freeform 684"/>
              <p:cNvSpPr>
                <a:spLocks/>
              </p:cNvSpPr>
              <p:nvPr/>
            </p:nvSpPr>
            <p:spPr bwMode="auto">
              <a:xfrm>
                <a:off x="2534" y="2375"/>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58" name="Freeform 685"/>
              <p:cNvSpPr>
                <a:spLocks/>
              </p:cNvSpPr>
              <p:nvPr/>
            </p:nvSpPr>
            <p:spPr bwMode="auto">
              <a:xfrm>
                <a:off x="2538" y="2375"/>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59" name="Freeform 686"/>
              <p:cNvSpPr>
                <a:spLocks/>
              </p:cNvSpPr>
              <p:nvPr/>
            </p:nvSpPr>
            <p:spPr bwMode="auto">
              <a:xfrm>
                <a:off x="4331" y="2375"/>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60" name="Freeform 687"/>
              <p:cNvSpPr>
                <a:spLocks/>
              </p:cNvSpPr>
              <p:nvPr/>
            </p:nvSpPr>
            <p:spPr bwMode="auto">
              <a:xfrm>
                <a:off x="4336" y="2375"/>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1" name="Freeform 688"/>
              <p:cNvSpPr>
                <a:spLocks/>
              </p:cNvSpPr>
              <p:nvPr/>
            </p:nvSpPr>
            <p:spPr bwMode="auto">
              <a:xfrm>
                <a:off x="4339"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62" name="Freeform 689"/>
              <p:cNvSpPr>
                <a:spLocks/>
              </p:cNvSpPr>
              <p:nvPr/>
            </p:nvSpPr>
            <p:spPr bwMode="auto">
              <a:xfrm>
                <a:off x="4346"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63" name="Freeform 690"/>
              <p:cNvSpPr>
                <a:spLocks/>
              </p:cNvSpPr>
              <p:nvPr/>
            </p:nvSpPr>
            <p:spPr bwMode="auto">
              <a:xfrm>
                <a:off x="4348" y="2375"/>
                <a:ext cx="10" cy="9"/>
              </a:xfrm>
              <a:custGeom>
                <a:avLst/>
                <a:gdLst>
                  <a:gd name="T0" fmla="*/ 4 w 10"/>
                  <a:gd name="T1" fmla="*/ 0 h 9"/>
                  <a:gd name="T2" fmla="*/ 9 w 10"/>
                  <a:gd name="T3" fmla="*/ 0 h 9"/>
                  <a:gd name="T4" fmla="*/ 10 w 10"/>
                  <a:gd name="T5" fmla="*/ 2 h 9"/>
                  <a:gd name="T6" fmla="*/ 10 w 10"/>
                  <a:gd name="T7" fmla="*/ 7 h 9"/>
                  <a:gd name="T8" fmla="*/ 9 w 10"/>
                  <a:gd name="T9" fmla="*/ 9 h 9"/>
                  <a:gd name="T10" fmla="*/ 4 w 10"/>
                  <a:gd name="T11" fmla="*/ 9 h 9"/>
                  <a:gd name="T12" fmla="*/ 0 w 10"/>
                  <a:gd name="T13" fmla="*/ 5 h 9"/>
                  <a:gd name="T14" fmla="*/ 0 w 10"/>
                  <a:gd name="T15" fmla="*/ 3 h 9"/>
                  <a:gd name="T16" fmla="*/ 4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4" y="0"/>
                    </a:moveTo>
                    <a:lnTo>
                      <a:pt x="9" y="0"/>
                    </a:lnTo>
                    <a:lnTo>
                      <a:pt x="10" y="2"/>
                    </a:lnTo>
                    <a:lnTo>
                      <a:pt x="10"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64" name="Freeform 691"/>
              <p:cNvSpPr>
                <a:spLocks/>
              </p:cNvSpPr>
              <p:nvPr/>
            </p:nvSpPr>
            <p:spPr bwMode="auto">
              <a:xfrm>
                <a:off x="4352" y="2375"/>
                <a:ext cx="8" cy="9"/>
              </a:xfrm>
              <a:custGeom>
                <a:avLst/>
                <a:gdLst>
                  <a:gd name="T0" fmla="*/ 1 w 8"/>
                  <a:gd name="T1" fmla="*/ 0 h 9"/>
                  <a:gd name="T2" fmla="*/ 6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65" name="Freeform 692"/>
              <p:cNvSpPr>
                <a:spLocks/>
              </p:cNvSpPr>
              <p:nvPr/>
            </p:nvSpPr>
            <p:spPr bwMode="auto">
              <a:xfrm>
                <a:off x="4386"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66" name="Freeform 693"/>
              <p:cNvSpPr>
                <a:spLocks/>
              </p:cNvSpPr>
              <p:nvPr/>
            </p:nvSpPr>
            <p:spPr bwMode="auto">
              <a:xfrm>
                <a:off x="4395" y="2375"/>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67" name="Freeform 694"/>
              <p:cNvSpPr>
                <a:spLocks/>
              </p:cNvSpPr>
              <p:nvPr/>
            </p:nvSpPr>
            <p:spPr bwMode="auto">
              <a:xfrm>
                <a:off x="5182" y="2375"/>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8" name="Freeform 695"/>
              <p:cNvSpPr>
                <a:spLocks/>
              </p:cNvSpPr>
              <p:nvPr/>
            </p:nvSpPr>
            <p:spPr bwMode="auto">
              <a:xfrm>
                <a:off x="1574"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9" name="Freeform 696"/>
              <p:cNvSpPr>
                <a:spLocks/>
              </p:cNvSpPr>
              <p:nvPr/>
            </p:nvSpPr>
            <p:spPr bwMode="auto">
              <a:xfrm>
                <a:off x="159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0" name="Freeform 697"/>
              <p:cNvSpPr>
                <a:spLocks/>
              </p:cNvSpPr>
              <p:nvPr/>
            </p:nvSpPr>
            <p:spPr bwMode="auto">
              <a:xfrm>
                <a:off x="1599"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1" name="Freeform 698"/>
              <p:cNvSpPr>
                <a:spLocks/>
              </p:cNvSpPr>
              <p:nvPr/>
            </p:nvSpPr>
            <p:spPr bwMode="auto">
              <a:xfrm>
                <a:off x="1622"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72" name="Freeform 699"/>
              <p:cNvSpPr>
                <a:spLocks/>
              </p:cNvSpPr>
              <p:nvPr/>
            </p:nvSpPr>
            <p:spPr bwMode="auto">
              <a:xfrm>
                <a:off x="1641" y="233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73" name="Freeform 700"/>
              <p:cNvSpPr>
                <a:spLocks/>
              </p:cNvSpPr>
              <p:nvPr/>
            </p:nvSpPr>
            <p:spPr bwMode="auto">
              <a:xfrm>
                <a:off x="1646"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4" name="Freeform 701"/>
              <p:cNvSpPr>
                <a:spLocks/>
              </p:cNvSpPr>
              <p:nvPr/>
            </p:nvSpPr>
            <p:spPr bwMode="auto">
              <a:xfrm>
                <a:off x="1815"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5" name="Freeform 702"/>
              <p:cNvSpPr>
                <a:spLocks/>
              </p:cNvSpPr>
              <p:nvPr/>
            </p:nvSpPr>
            <p:spPr bwMode="auto">
              <a:xfrm>
                <a:off x="247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6" name="Freeform 703"/>
              <p:cNvSpPr>
                <a:spLocks/>
              </p:cNvSpPr>
              <p:nvPr/>
            </p:nvSpPr>
            <p:spPr bwMode="auto">
              <a:xfrm>
                <a:off x="2487"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7" name="Freeform 704"/>
              <p:cNvSpPr>
                <a:spLocks/>
              </p:cNvSpPr>
              <p:nvPr/>
            </p:nvSpPr>
            <p:spPr bwMode="auto">
              <a:xfrm>
                <a:off x="2489"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78" name="Freeform 705"/>
              <p:cNvSpPr>
                <a:spLocks/>
              </p:cNvSpPr>
              <p:nvPr/>
            </p:nvSpPr>
            <p:spPr bwMode="auto">
              <a:xfrm>
                <a:off x="2512"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9" name="Freeform 706"/>
              <p:cNvSpPr>
                <a:spLocks/>
              </p:cNvSpPr>
              <p:nvPr/>
            </p:nvSpPr>
            <p:spPr bwMode="auto">
              <a:xfrm>
                <a:off x="251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0" name="Freeform 707"/>
              <p:cNvSpPr>
                <a:spLocks/>
              </p:cNvSpPr>
              <p:nvPr/>
            </p:nvSpPr>
            <p:spPr bwMode="auto">
              <a:xfrm>
                <a:off x="2520"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1" name="Freeform 708"/>
              <p:cNvSpPr>
                <a:spLocks/>
              </p:cNvSpPr>
              <p:nvPr/>
            </p:nvSpPr>
            <p:spPr bwMode="auto">
              <a:xfrm>
                <a:off x="2527" y="233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2" name="Freeform 709"/>
              <p:cNvSpPr>
                <a:spLocks/>
              </p:cNvSpPr>
              <p:nvPr/>
            </p:nvSpPr>
            <p:spPr bwMode="auto">
              <a:xfrm>
                <a:off x="2529"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83" name="Freeform 710"/>
              <p:cNvSpPr>
                <a:spLocks/>
              </p:cNvSpPr>
              <p:nvPr/>
            </p:nvSpPr>
            <p:spPr bwMode="auto">
              <a:xfrm>
                <a:off x="2533"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84" name="Freeform 711"/>
              <p:cNvSpPr>
                <a:spLocks/>
              </p:cNvSpPr>
              <p:nvPr/>
            </p:nvSpPr>
            <p:spPr bwMode="auto">
              <a:xfrm>
                <a:off x="2534" y="233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5" name="Freeform 712"/>
              <p:cNvSpPr>
                <a:spLocks/>
              </p:cNvSpPr>
              <p:nvPr/>
            </p:nvSpPr>
            <p:spPr bwMode="auto">
              <a:xfrm>
                <a:off x="2538" y="233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86" name="Freeform 713"/>
              <p:cNvSpPr>
                <a:spLocks/>
              </p:cNvSpPr>
              <p:nvPr/>
            </p:nvSpPr>
            <p:spPr bwMode="auto">
              <a:xfrm>
                <a:off x="2552" y="2335"/>
                <a:ext cx="10" cy="10"/>
              </a:xfrm>
              <a:custGeom>
                <a:avLst/>
                <a:gdLst>
                  <a:gd name="T0" fmla="*/ 2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9" y="0"/>
                    </a:lnTo>
                    <a:lnTo>
                      <a:pt x="10" y="1"/>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7" name="Freeform 714"/>
              <p:cNvSpPr>
                <a:spLocks/>
              </p:cNvSpPr>
              <p:nvPr/>
            </p:nvSpPr>
            <p:spPr bwMode="auto">
              <a:xfrm>
                <a:off x="2561" y="233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88" name="Freeform 715"/>
              <p:cNvSpPr>
                <a:spLocks/>
              </p:cNvSpPr>
              <p:nvPr/>
            </p:nvSpPr>
            <p:spPr bwMode="auto">
              <a:xfrm>
                <a:off x="2793"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89" name="Freeform 716"/>
              <p:cNvSpPr>
                <a:spLocks/>
              </p:cNvSpPr>
              <p:nvPr/>
            </p:nvSpPr>
            <p:spPr bwMode="auto">
              <a:xfrm>
                <a:off x="3282" y="233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90" name="Freeform 717"/>
              <p:cNvSpPr>
                <a:spLocks/>
              </p:cNvSpPr>
              <p:nvPr/>
            </p:nvSpPr>
            <p:spPr bwMode="auto">
              <a:xfrm>
                <a:off x="3290"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91" name="Freeform 718"/>
              <p:cNvSpPr>
                <a:spLocks/>
              </p:cNvSpPr>
              <p:nvPr/>
            </p:nvSpPr>
            <p:spPr bwMode="auto">
              <a:xfrm>
                <a:off x="3320" y="233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2" name="Freeform 719"/>
              <p:cNvSpPr>
                <a:spLocks/>
              </p:cNvSpPr>
              <p:nvPr/>
            </p:nvSpPr>
            <p:spPr bwMode="auto">
              <a:xfrm>
                <a:off x="3325"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3" name="Freeform 720"/>
              <p:cNvSpPr>
                <a:spLocks/>
              </p:cNvSpPr>
              <p:nvPr/>
            </p:nvSpPr>
            <p:spPr bwMode="auto">
              <a:xfrm>
                <a:off x="3327"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4" name="Freeform 721"/>
              <p:cNvSpPr>
                <a:spLocks/>
              </p:cNvSpPr>
              <p:nvPr/>
            </p:nvSpPr>
            <p:spPr bwMode="auto">
              <a:xfrm>
                <a:off x="3341"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5" name="Freeform 722"/>
              <p:cNvSpPr>
                <a:spLocks/>
              </p:cNvSpPr>
              <p:nvPr/>
            </p:nvSpPr>
            <p:spPr bwMode="auto">
              <a:xfrm>
                <a:off x="3528"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96" name="Freeform 723"/>
              <p:cNvSpPr>
                <a:spLocks/>
              </p:cNvSpPr>
              <p:nvPr/>
            </p:nvSpPr>
            <p:spPr bwMode="auto">
              <a:xfrm>
                <a:off x="3538" y="233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97" name="Freeform 724"/>
              <p:cNvSpPr>
                <a:spLocks/>
              </p:cNvSpPr>
              <p:nvPr/>
            </p:nvSpPr>
            <p:spPr bwMode="auto">
              <a:xfrm>
                <a:off x="4191"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8" name="Freeform 725"/>
              <p:cNvSpPr>
                <a:spLocks/>
              </p:cNvSpPr>
              <p:nvPr/>
            </p:nvSpPr>
            <p:spPr bwMode="auto">
              <a:xfrm>
                <a:off x="4198"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99" name="Freeform 726"/>
              <p:cNvSpPr>
                <a:spLocks/>
              </p:cNvSpPr>
              <p:nvPr/>
            </p:nvSpPr>
            <p:spPr bwMode="auto">
              <a:xfrm>
                <a:off x="4200" y="233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00" name="Freeform 727"/>
              <p:cNvSpPr>
                <a:spLocks/>
              </p:cNvSpPr>
              <p:nvPr/>
            </p:nvSpPr>
            <p:spPr bwMode="auto">
              <a:xfrm>
                <a:off x="4240"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1" name="Freeform 728"/>
              <p:cNvSpPr>
                <a:spLocks/>
              </p:cNvSpPr>
              <p:nvPr/>
            </p:nvSpPr>
            <p:spPr bwMode="auto">
              <a:xfrm>
                <a:off x="4416"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2" name="Freeform 729"/>
              <p:cNvSpPr>
                <a:spLocks/>
              </p:cNvSpPr>
              <p:nvPr/>
            </p:nvSpPr>
            <p:spPr bwMode="auto">
              <a:xfrm>
                <a:off x="4519" y="233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3" name="Freeform 730"/>
              <p:cNvSpPr>
                <a:spLocks/>
              </p:cNvSpPr>
              <p:nvPr/>
            </p:nvSpPr>
            <p:spPr bwMode="auto">
              <a:xfrm>
                <a:off x="5195" y="233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04" name="Freeform 731"/>
              <p:cNvSpPr>
                <a:spLocks/>
              </p:cNvSpPr>
              <p:nvPr/>
            </p:nvSpPr>
            <p:spPr bwMode="auto">
              <a:xfrm>
                <a:off x="1227"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5" name="Freeform 732"/>
              <p:cNvSpPr>
                <a:spLocks/>
              </p:cNvSpPr>
              <p:nvPr/>
            </p:nvSpPr>
            <p:spPr bwMode="auto">
              <a:xfrm>
                <a:off x="1274"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6" name="Freeform 733"/>
              <p:cNvSpPr>
                <a:spLocks/>
              </p:cNvSpPr>
              <p:nvPr/>
            </p:nvSpPr>
            <p:spPr bwMode="auto">
              <a:xfrm>
                <a:off x="1559" y="229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07" name="Freeform 734"/>
              <p:cNvSpPr>
                <a:spLocks/>
              </p:cNvSpPr>
              <p:nvPr/>
            </p:nvSpPr>
            <p:spPr bwMode="auto">
              <a:xfrm>
                <a:off x="1576"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08" name="Freeform 735"/>
              <p:cNvSpPr>
                <a:spLocks/>
              </p:cNvSpPr>
              <p:nvPr/>
            </p:nvSpPr>
            <p:spPr bwMode="auto">
              <a:xfrm>
                <a:off x="1581" y="229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9" name="Freeform 736"/>
              <p:cNvSpPr>
                <a:spLocks/>
              </p:cNvSpPr>
              <p:nvPr/>
            </p:nvSpPr>
            <p:spPr bwMode="auto">
              <a:xfrm>
                <a:off x="1583"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0" name="Freeform 737"/>
              <p:cNvSpPr>
                <a:spLocks/>
              </p:cNvSpPr>
              <p:nvPr/>
            </p:nvSpPr>
            <p:spPr bwMode="auto">
              <a:xfrm>
                <a:off x="1641" y="229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11" name="Freeform 738"/>
              <p:cNvSpPr>
                <a:spLocks/>
              </p:cNvSpPr>
              <p:nvPr/>
            </p:nvSpPr>
            <p:spPr bwMode="auto">
              <a:xfrm>
                <a:off x="1667"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2" name="Freeform 739"/>
              <p:cNvSpPr>
                <a:spLocks/>
              </p:cNvSpPr>
              <p:nvPr/>
            </p:nvSpPr>
            <p:spPr bwMode="auto">
              <a:xfrm>
                <a:off x="2498"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13" name="Freeform 740"/>
              <p:cNvSpPr>
                <a:spLocks/>
              </p:cNvSpPr>
              <p:nvPr/>
            </p:nvSpPr>
            <p:spPr bwMode="auto">
              <a:xfrm>
                <a:off x="2512" y="229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4" name="Freeform 741"/>
              <p:cNvSpPr>
                <a:spLocks/>
              </p:cNvSpPr>
              <p:nvPr/>
            </p:nvSpPr>
            <p:spPr bwMode="auto">
              <a:xfrm>
                <a:off x="2526" y="2295"/>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15" name="Freeform 742"/>
              <p:cNvSpPr>
                <a:spLocks/>
              </p:cNvSpPr>
              <p:nvPr/>
            </p:nvSpPr>
            <p:spPr bwMode="auto">
              <a:xfrm>
                <a:off x="2538"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16" name="Freeform 743"/>
              <p:cNvSpPr>
                <a:spLocks/>
              </p:cNvSpPr>
              <p:nvPr/>
            </p:nvSpPr>
            <p:spPr bwMode="auto">
              <a:xfrm>
                <a:off x="2545"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17" name="Freeform 744"/>
              <p:cNvSpPr>
                <a:spLocks/>
              </p:cNvSpPr>
              <p:nvPr/>
            </p:nvSpPr>
            <p:spPr bwMode="auto">
              <a:xfrm>
                <a:off x="2554" y="229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18" name="Freeform 745"/>
              <p:cNvSpPr>
                <a:spLocks/>
              </p:cNvSpPr>
              <p:nvPr/>
            </p:nvSpPr>
            <p:spPr bwMode="auto">
              <a:xfrm>
                <a:off x="2564"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9" name="Freeform 746"/>
              <p:cNvSpPr>
                <a:spLocks/>
              </p:cNvSpPr>
              <p:nvPr/>
            </p:nvSpPr>
            <p:spPr bwMode="auto">
              <a:xfrm>
                <a:off x="2585"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20" name="Freeform 747"/>
              <p:cNvSpPr>
                <a:spLocks/>
              </p:cNvSpPr>
              <p:nvPr/>
            </p:nvSpPr>
            <p:spPr bwMode="auto">
              <a:xfrm>
                <a:off x="3173" y="229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1" name="Freeform 748"/>
              <p:cNvSpPr>
                <a:spLocks/>
              </p:cNvSpPr>
              <p:nvPr/>
            </p:nvSpPr>
            <p:spPr bwMode="auto">
              <a:xfrm>
                <a:off x="3287" y="2295"/>
                <a:ext cx="8" cy="10"/>
              </a:xfrm>
              <a:custGeom>
                <a:avLst/>
                <a:gdLst>
                  <a:gd name="T0" fmla="*/ 2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1"/>
                    </a:lnTo>
                    <a:lnTo>
                      <a:pt x="8"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2" name="Freeform 749"/>
              <p:cNvSpPr>
                <a:spLocks/>
              </p:cNvSpPr>
              <p:nvPr/>
            </p:nvSpPr>
            <p:spPr bwMode="auto">
              <a:xfrm>
                <a:off x="3295" y="2295"/>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3" name="Freeform 750"/>
              <p:cNvSpPr>
                <a:spLocks/>
              </p:cNvSpPr>
              <p:nvPr/>
            </p:nvSpPr>
            <p:spPr bwMode="auto">
              <a:xfrm>
                <a:off x="3320" y="229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4" name="Freeform 751"/>
              <p:cNvSpPr>
                <a:spLocks/>
              </p:cNvSpPr>
              <p:nvPr/>
            </p:nvSpPr>
            <p:spPr bwMode="auto">
              <a:xfrm>
                <a:off x="3522"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25" name="Freeform 752"/>
              <p:cNvSpPr>
                <a:spLocks/>
              </p:cNvSpPr>
              <p:nvPr/>
            </p:nvSpPr>
            <p:spPr bwMode="auto">
              <a:xfrm>
                <a:off x="3587"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26" name="Freeform 753"/>
              <p:cNvSpPr>
                <a:spLocks/>
              </p:cNvSpPr>
              <p:nvPr/>
            </p:nvSpPr>
            <p:spPr bwMode="auto">
              <a:xfrm>
                <a:off x="3657" y="2295"/>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7" name="Freeform 754"/>
              <p:cNvSpPr>
                <a:spLocks/>
              </p:cNvSpPr>
              <p:nvPr/>
            </p:nvSpPr>
            <p:spPr bwMode="auto">
              <a:xfrm>
                <a:off x="4139" y="2295"/>
                <a:ext cx="10" cy="10"/>
              </a:xfrm>
              <a:custGeom>
                <a:avLst/>
                <a:gdLst>
                  <a:gd name="T0" fmla="*/ 3 w 10"/>
                  <a:gd name="T1" fmla="*/ 0 h 10"/>
                  <a:gd name="T2" fmla="*/ 8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28" name="Freeform 755"/>
              <p:cNvSpPr>
                <a:spLocks/>
              </p:cNvSpPr>
              <p:nvPr/>
            </p:nvSpPr>
            <p:spPr bwMode="auto">
              <a:xfrm>
                <a:off x="4187"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29" name="Freeform 756"/>
              <p:cNvSpPr>
                <a:spLocks/>
              </p:cNvSpPr>
              <p:nvPr/>
            </p:nvSpPr>
            <p:spPr bwMode="auto">
              <a:xfrm>
                <a:off x="4194"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30" name="Freeform 757"/>
              <p:cNvSpPr>
                <a:spLocks/>
              </p:cNvSpPr>
              <p:nvPr/>
            </p:nvSpPr>
            <p:spPr bwMode="auto">
              <a:xfrm>
                <a:off x="4208"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1" name="Freeform 758"/>
              <p:cNvSpPr>
                <a:spLocks/>
              </p:cNvSpPr>
              <p:nvPr/>
            </p:nvSpPr>
            <p:spPr bwMode="auto">
              <a:xfrm>
                <a:off x="4224" y="2295"/>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2" name="Freeform 759"/>
              <p:cNvSpPr>
                <a:spLocks/>
              </p:cNvSpPr>
              <p:nvPr/>
            </p:nvSpPr>
            <p:spPr bwMode="auto">
              <a:xfrm>
                <a:off x="4242" y="2295"/>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33" name="Freeform 760"/>
              <p:cNvSpPr>
                <a:spLocks/>
              </p:cNvSpPr>
              <p:nvPr/>
            </p:nvSpPr>
            <p:spPr bwMode="auto">
              <a:xfrm>
                <a:off x="4243"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34" name="Freeform 761"/>
              <p:cNvSpPr>
                <a:spLocks/>
              </p:cNvSpPr>
              <p:nvPr/>
            </p:nvSpPr>
            <p:spPr bwMode="auto">
              <a:xfrm>
                <a:off x="4257"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5" name="Freeform 762"/>
              <p:cNvSpPr>
                <a:spLocks/>
              </p:cNvSpPr>
              <p:nvPr/>
            </p:nvSpPr>
            <p:spPr bwMode="auto">
              <a:xfrm>
                <a:off x="4290" y="2295"/>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36" name="Freeform 763"/>
              <p:cNvSpPr>
                <a:spLocks/>
              </p:cNvSpPr>
              <p:nvPr/>
            </p:nvSpPr>
            <p:spPr bwMode="auto">
              <a:xfrm>
                <a:off x="4304" y="2295"/>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7" name="Freeform 764"/>
              <p:cNvSpPr>
                <a:spLocks/>
              </p:cNvSpPr>
              <p:nvPr/>
            </p:nvSpPr>
            <p:spPr bwMode="auto">
              <a:xfrm>
                <a:off x="4411" y="2295"/>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38" name="Freeform 765"/>
              <p:cNvSpPr>
                <a:spLocks/>
              </p:cNvSpPr>
              <p:nvPr/>
            </p:nvSpPr>
            <p:spPr bwMode="auto">
              <a:xfrm>
                <a:off x="1444" y="2254"/>
                <a:ext cx="8" cy="11"/>
              </a:xfrm>
              <a:custGeom>
                <a:avLst/>
                <a:gdLst>
                  <a:gd name="T0" fmla="*/ 3 w 8"/>
                  <a:gd name="T1" fmla="*/ 0 h 11"/>
                  <a:gd name="T2" fmla="*/ 5 w 8"/>
                  <a:gd name="T3" fmla="*/ 0 h 11"/>
                  <a:gd name="T4" fmla="*/ 8 w 8"/>
                  <a:gd name="T5" fmla="*/ 4 h 11"/>
                  <a:gd name="T6" fmla="*/ 8 w 8"/>
                  <a:gd name="T7" fmla="*/ 9 h 11"/>
                  <a:gd name="T8" fmla="*/ 6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6"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39" name="Freeform 766"/>
              <p:cNvSpPr>
                <a:spLocks/>
              </p:cNvSpPr>
              <p:nvPr/>
            </p:nvSpPr>
            <p:spPr bwMode="auto">
              <a:xfrm>
                <a:off x="1559"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0" name="Freeform 767"/>
              <p:cNvSpPr>
                <a:spLocks/>
              </p:cNvSpPr>
              <p:nvPr/>
            </p:nvSpPr>
            <p:spPr bwMode="auto">
              <a:xfrm>
                <a:off x="1613"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1" name="Freeform 768"/>
              <p:cNvSpPr>
                <a:spLocks/>
              </p:cNvSpPr>
              <p:nvPr/>
            </p:nvSpPr>
            <p:spPr bwMode="auto">
              <a:xfrm>
                <a:off x="1620"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2" name="Freeform 769"/>
              <p:cNvSpPr>
                <a:spLocks/>
              </p:cNvSpPr>
              <p:nvPr/>
            </p:nvSpPr>
            <p:spPr bwMode="auto">
              <a:xfrm>
                <a:off x="1653"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3" name="Freeform 770"/>
              <p:cNvSpPr>
                <a:spLocks/>
              </p:cNvSpPr>
              <p:nvPr/>
            </p:nvSpPr>
            <p:spPr bwMode="auto">
              <a:xfrm>
                <a:off x="1667"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4" name="Freeform 771"/>
              <p:cNvSpPr>
                <a:spLocks/>
              </p:cNvSpPr>
              <p:nvPr/>
            </p:nvSpPr>
            <p:spPr bwMode="auto">
              <a:xfrm>
                <a:off x="2397"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5" name="Freeform 772"/>
              <p:cNvSpPr>
                <a:spLocks/>
              </p:cNvSpPr>
              <p:nvPr/>
            </p:nvSpPr>
            <p:spPr bwMode="auto">
              <a:xfrm>
                <a:off x="2517"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6" name="Freeform 773"/>
              <p:cNvSpPr>
                <a:spLocks/>
              </p:cNvSpPr>
              <p:nvPr/>
            </p:nvSpPr>
            <p:spPr bwMode="auto">
              <a:xfrm>
                <a:off x="2534" y="2254"/>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47" name="Freeform 774"/>
              <p:cNvSpPr>
                <a:spLocks/>
              </p:cNvSpPr>
              <p:nvPr/>
            </p:nvSpPr>
            <p:spPr bwMode="auto">
              <a:xfrm>
                <a:off x="2548" y="2254"/>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48" name="Freeform 775"/>
              <p:cNvSpPr>
                <a:spLocks/>
              </p:cNvSpPr>
              <p:nvPr/>
            </p:nvSpPr>
            <p:spPr bwMode="auto">
              <a:xfrm>
                <a:off x="2554" y="2254"/>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49" name="Freeform 776"/>
              <p:cNvSpPr>
                <a:spLocks/>
              </p:cNvSpPr>
              <p:nvPr/>
            </p:nvSpPr>
            <p:spPr bwMode="auto">
              <a:xfrm>
                <a:off x="2569" y="2254"/>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50" name="Freeform 777"/>
              <p:cNvSpPr>
                <a:spLocks/>
              </p:cNvSpPr>
              <p:nvPr/>
            </p:nvSpPr>
            <p:spPr bwMode="auto">
              <a:xfrm>
                <a:off x="2582"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1" name="Freeform 778"/>
              <p:cNvSpPr>
                <a:spLocks/>
              </p:cNvSpPr>
              <p:nvPr/>
            </p:nvSpPr>
            <p:spPr bwMode="auto">
              <a:xfrm>
                <a:off x="3301"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2" name="Freeform 779"/>
              <p:cNvSpPr>
                <a:spLocks/>
              </p:cNvSpPr>
              <p:nvPr/>
            </p:nvSpPr>
            <p:spPr bwMode="auto">
              <a:xfrm>
                <a:off x="3320"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3" name="Freeform 780"/>
              <p:cNvSpPr>
                <a:spLocks/>
              </p:cNvSpPr>
              <p:nvPr/>
            </p:nvSpPr>
            <p:spPr bwMode="auto">
              <a:xfrm>
                <a:off x="3336"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4" name="Freeform 781"/>
              <p:cNvSpPr>
                <a:spLocks/>
              </p:cNvSpPr>
              <p:nvPr/>
            </p:nvSpPr>
            <p:spPr bwMode="auto">
              <a:xfrm>
                <a:off x="3337" y="2254"/>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55" name="Freeform 782"/>
              <p:cNvSpPr>
                <a:spLocks/>
              </p:cNvSpPr>
              <p:nvPr/>
            </p:nvSpPr>
            <p:spPr bwMode="auto">
              <a:xfrm>
                <a:off x="3536" y="2254"/>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56" name="Freeform 783"/>
              <p:cNvSpPr>
                <a:spLocks/>
              </p:cNvSpPr>
              <p:nvPr/>
            </p:nvSpPr>
            <p:spPr bwMode="auto">
              <a:xfrm>
                <a:off x="3549"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7" name="Freeform 784"/>
              <p:cNvSpPr>
                <a:spLocks/>
              </p:cNvSpPr>
              <p:nvPr/>
            </p:nvSpPr>
            <p:spPr bwMode="auto">
              <a:xfrm>
                <a:off x="3681" y="2254"/>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58" name="Freeform 785"/>
              <p:cNvSpPr>
                <a:spLocks/>
              </p:cNvSpPr>
              <p:nvPr/>
            </p:nvSpPr>
            <p:spPr bwMode="auto">
              <a:xfrm>
                <a:off x="3889" y="2254"/>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59" name="Freeform 786"/>
              <p:cNvSpPr>
                <a:spLocks/>
              </p:cNvSpPr>
              <p:nvPr/>
            </p:nvSpPr>
            <p:spPr bwMode="auto">
              <a:xfrm>
                <a:off x="3919" y="2254"/>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60" name="Freeform 787"/>
              <p:cNvSpPr>
                <a:spLocks/>
              </p:cNvSpPr>
              <p:nvPr/>
            </p:nvSpPr>
            <p:spPr bwMode="auto">
              <a:xfrm>
                <a:off x="3962" y="2254"/>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61" name="Freeform 788"/>
              <p:cNvSpPr>
                <a:spLocks/>
              </p:cNvSpPr>
              <p:nvPr/>
            </p:nvSpPr>
            <p:spPr bwMode="auto">
              <a:xfrm>
                <a:off x="3983" y="2254"/>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62" name="Freeform 789"/>
              <p:cNvSpPr>
                <a:spLocks/>
              </p:cNvSpPr>
              <p:nvPr/>
            </p:nvSpPr>
            <p:spPr bwMode="auto">
              <a:xfrm>
                <a:off x="4123" y="2254"/>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63" name="Freeform 790"/>
              <p:cNvSpPr>
                <a:spLocks/>
              </p:cNvSpPr>
              <p:nvPr/>
            </p:nvSpPr>
            <p:spPr bwMode="auto">
              <a:xfrm>
                <a:off x="4479" y="2254"/>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64" name="Freeform 791"/>
              <p:cNvSpPr>
                <a:spLocks/>
              </p:cNvSpPr>
              <p:nvPr/>
            </p:nvSpPr>
            <p:spPr bwMode="auto">
              <a:xfrm>
                <a:off x="1583"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5" name="Freeform 792"/>
              <p:cNvSpPr>
                <a:spLocks/>
              </p:cNvSpPr>
              <p:nvPr/>
            </p:nvSpPr>
            <p:spPr bwMode="auto">
              <a:xfrm>
                <a:off x="1592" y="2216"/>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66" name="Freeform 793"/>
              <p:cNvSpPr>
                <a:spLocks/>
              </p:cNvSpPr>
              <p:nvPr/>
            </p:nvSpPr>
            <p:spPr bwMode="auto">
              <a:xfrm>
                <a:off x="1595" y="2216"/>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67" name="Freeform 794"/>
              <p:cNvSpPr>
                <a:spLocks/>
              </p:cNvSpPr>
              <p:nvPr/>
            </p:nvSpPr>
            <p:spPr bwMode="auto">
              <a:xfrm>
                <a:off x="1608" y="221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68" name="Freeform 795"/>
              <p:cNvSpPr>
                <a:spLocks/>
              </p:cNvSpPr>
              <p:nvPr/>
            </p:nvSpPr>
            <p:spPr bwMode="auto">
              <a:xfrm>
                <a:off x="1622" y="2216"/>
                <a:ext cx="8" cy="9"/>
              </a:xfrm>
              <a:custGeom>
                <a:avLst/>
                <a:gdLst>
                  <a:gd name="T0" fmla="*/ 1 w 8"/>
                  <a:gd name="T1" fmla="*/ 0 h 9"/>
                  <a:gd name="T2" fmla="*/ 5 w 8"/>
                  <a:gd name="T3" fmla="*/ 0 h 9"/>
                  <a:gd name="T4" fmla="*/ 8 w 8"/>
                  <a:gd name="T5" fmla="*/ 3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3"/>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69" name="Freeform 796"/>
              <p:cNvSpPr>
                <a:spLocks/>
              </p:cNvSpPr>
              <p:nvPr/>
            </p:nvSpPr>
            <p:spPr bwMode="auto">
              <a:xfrm>
                <a:off x="1749"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70" name="Freeform 797"/>
              <p:cNvSpPr>
                <a:spLocks/>
              </p:cNvSpPr>
              <p:nvPr/>
            </p:nvSpPr>
            <p:spPr bwMode="auto">
              <a:xfrm>
                <a:off x="1824"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71" name="Freeform 798"/>
              <p:cNvSpPr>
                <a:spLocks/>
              </p:cNvSpPr>
              <p:nvPr/>
            </p:nvSpPr>
            <p:spPr bwMode="auto">
              <a:xfrm>
                <a:off x="1840" y="221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72" name="Freeform 799"/>
              <p:cNvSpPr>
                <a:spLocks/>
              </p:cNvSpPr>
              <p:nvPr/>
            </p:nvSpPr>
            <p:spPr bwMode="auto">
              <a:xfrm>
                <a:off x="1875" y="2216"/>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3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73" name="Freeform 800"/>
              <p:cNvSpPr>
                <a:spLocks/>
              </p:cNvSpPr>
              <p:nvPr/>
            </p:nvSpPr>
            <p:spPr bwMode="auto">
              <a:xfrm>
                <a:off x="1965"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74" name="Freeform 801"/>
              <p:cNvSpPr>
                <a:spLocks/>
              </p:cNvSpPr>
              <p:nvPr/>
            </p:nvSpPr>
            <p:spPr bwMode="auto">
              <a:xfrm>
                <a:off x="2543"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75" name="Freeform 802"/>
              <p:cNvSpPr>
                <a:spLocks/>
              </p:cNvSpPr>
              <p:nvPr/>
            </p:nvSpPr>
            <p:spPr bwMode="auto">
              <a:xfrm>
                <a:off x="2552" y="2216"/>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76" name="Freeform 803"/>
              <p:cNvSpPr>
                <a:spLocks/>
              </p:cNvSpPr>
              <p:nvPr/>
            </p:nvSpPr>
            <p:spPr bwMode="auto">
              <a:xfrm>
                <a:off x="2568" y="221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77" name="Freeform 804"/>
              <p:cNvSpPr>
                <a:spLocks/>
              </p:cNvSpPr>
              <p:nvPr/>
            </p:nvSpPr>
            <p:spPr bwMode="auto">
              <a:xfrm>
                <a:off x="3030"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78" name="Freeform 805"/>
              <p:cNvSpPr>
                <a:spLocks/>
              </p:cNvSpPr>
              <p:nvPr/>
            </p:nvSpPr>
            <p:spPr bwMode="auto">
              <a:xfrm>
                <a:off x="3198" y="2216"/>
                <a:ext cx="8" cy="9"/>
              </a:xfrm>
              <a:custGeom>
                <a:avLst/>
                <a:gdLst>
                  <a:gd name="T0" fmla="*/ 1 w 8"/>
                  <a:gd name="T1" fmla="*/ 0 h 9"/>
                  <a:gd name="T2" fmla="*/ 5 w 8"/>
                  <a:gd name="T3" fmla="*/ 0 h 9"/>
                  <a:gd name="T4" fmla="*/ 8 w 8"/>
                  <a:gd name="T5" fmla="*/ 3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3"/>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79" name="Freeform 806"/>
              <p:cNvSpPr>
                <a:spLocks/>
              </p:cNvSpPr>
              <p:nvPr/>
            </p:nvSpPr>
            <p:spPr bwMode="auto">
              <a:xfrm>
                <a:off x="3201"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80" name="Freeform 807"/>
              <p:cNvSpPr>
                <a:spLocks/>
              </p:cNvSpPr>
              <p:nvPr/>
            </p:nvSpPr>
            <p:spPr bwMode="auto">
              <a:xfrm>
                <a:off x="3238" y="2216"/>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10" name="Group 1009"/>
            <p:cNvGrpSpPr>
              <a:grpSpLocks/>
            </p:cNvGrpSpPr>
            <p:nvPr/>
          </p:nvGrpSpPr>
          <p:grpSpPr bwMode="auto">
            <a:xfrm>
              <a:off x="1543151" y="3138592"/>
              <a:ext cx="6218638" cy="393713"/>
              <a:chOff x="972" y="1977"/>
              <a:chExt cx="3917" cy="248"/>
            </a:xfrm>
          </p:grpSpPr>
          <p:sp>
            <p:nvSpPr>
              <p:cNvPr id="878" name="Freeform 809"/>
              <p:cNvSpPr>
                <a:spLocks/>
              </p:cNvSpPr>
              <p:nvPr/>
            </p:nvSpPr>
            <p:spPr bwMode="auto">
              <a:xfrm>
                <a:off x="3271" y="2216"/>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79" name="Freeform 810"/>
              <p:cNvSpPr>
                <a:spLocks/>
              </p:cNvSpPr>
              <p:nvPr/>
            </p:nvSpPr>
            <p:spPr bwMode="auto">
              <a:xfrm>
                <a:off x="3273" y="221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80" name="Freeform 811"/>
              <p:cNvSpPr>
                <a:spLocks/>
              </p:cNvSpPr>
              <p:nvPr/>
            </p:nvSpPr>
            <p:spPr bwMode="auto">
              <a:xfrm>
                <a:off x="3278" y="2216"/>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81" name="Freeform 812"/>
              <p:cNvSpPr>
                <a:spLocks/>
              </p:cNvSpPr>
              <p:nvPr/>
            </p:nvSpPr>
            <p:spPr bwMode="auto">
              <a:xfrm>
                <a:off x="3287" y="2216"/>
                <a:ext cx="8" cy="9"/>
              </a:xfrm>
              <a:custGeom>
                <a:avLst/>
                <a:gdLst>
                  <a:gd name="T0" fmla="*/ 2 w 8"/>
                  <a:gd name="T1" fmla="*/ 0 h 9"/>
                  <a:gd name="T2" fmla="*/ 5 w 8"/>
                  <a:gd name="T3" fmla="*/ 0 h 9"/>
                  <a:gd name="T4" fmla="*/ 8 w 8"/>
                  <a:gd name="T5" fmla="*/ 3 h 9"/>
                  <a:gd name="T6" fmla="*/ 8 w 8"/>
                  <a:gd name="T7" fmla="*/ 7 h 9"/>
                  <a:gd name="T8" fmla="*/ 7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5" y="0"/>
                    </a:lnTo>
                    <a:lnTo>
                      <a:pt x="8" y="3"/>
                    </a:lnTo>
                    <a:lnTo>
                      <a:pt x="8"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82" name="Freeform 813"/>
              <p:cNvSpPr>
                <a:spLocks/>
              </p:cNvSpPr>
              <p:nvPr/>
            </p:nvSpPr>
            <p:spPr bwMode="auto">
              <a:xfrm>
                <a:off x="3290"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83" name="Freeform 814"/>
              <p:cNvSpPr>
                <a:spLocks/>
              </p:cNvSpPr>
              <p:nvPr/>
            </p:nvSpPr>
            <p:spPr bwMode="auto">
              <a:xfrm>
                <a:off x="3442" y="221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84" name="Freeform 815"/>
              <p:cNvSpPr>
                <a:spLocks/>
              </p:cNvSpPr>
              <p:nvPr/>
            </p:nvSpPr>
            <p:spPr bwMode="auto">
              <a:xfrm>
                <a:off x="3517" y="2216"/>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85" name="Freeform 816"/>
              <p:cNvSpPr>
                <a:spLocks/>
              </p:cNvSpPr>
              <p:nvPr/>
            </p:nvSpPr>
            <p:spPr bwMode="auto">
              <a:xfrm>
                <a:off x="3587" y="221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86" name="Freeform 817"/>
              <p:cNvSpPr>
                <a:spLocks/>
              </p:cNvSpPr>
              <p:nvPr/>
            </p:nvSpPr>
            <p:spPr bwMode="auto">
              <a:xfrm>
                <a:off x="4215"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87" name="Freeform 818"/>
              <p:cNvSpPr>
                <a:spLocks/>
              </p:cNvSpPr>
              <p:nvPr/>
            </p:nvSpPr>
            <p:spPr bwMode="auto">
              <a:xfrm>
                <a:off x="4297"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88" name="Freeform 819"/>
              <p:cNvSpPr>
                <a:spLocks/>
              </p:cNvSpPr>
              <p:nvPr/>
            </p:nvSpPr>
            <p:spPr bwMode="auto">
              <a:xfrm>
                <a:off x="4304"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89" name="Freeform 820"/>
              <p:cNvSpPr>
                <a:spLocks/>
              </p:cNvSpPr>
              <p:nvPr/>
            </p:nvSpPr>
            <p:spPr bwMode="auto">
              <a:xfrm>
                <a:off x="4411" y="221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90" name="Freeform 821"/>
              <p:cNvSpPr>
                <a:spLocks/>
              </p:cNvSpPr>
              <p:nvPr/>
            </p:nvSpPr>
            <p:spPr bwMode="auto">
              <a:xfrm>
                <a:off x="4489" y="2216"/>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91" name="Freeform 822"/>
              <p:cNvSpPr>
                <a:spLocks/>
              </p:cNvSpPr>
              <p:nvPr/>
            </p:nvSpPr>
            <p:spPr bwMode="auto">
              <a:xfrm>
                <a:off x="4496"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92" name="Freeform 823"/>
              <p:cNvSpPr>
                <a:spLocks/>
              </p:cNvSpPr>
              <p:nvPr/>
            </p:nvSpPr>
            <p:spPr bwMode="auto">
              <a:xfrm>
                <a:off x="4880" y="2216"/>
                <a:ext cx="9" cy="9"/>
              </a:xfrm>
              <a:custGeom>
                <a:avLst/>
                <a:gdLst>
                  <a:gd name="T0" fmla="*/ 2 w 9"/>
                  <a:gd name="T1" fmla="*/ 0 h 9"/>
                  <a:gd name="T2" fmla="*/ 6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93" name="Freeform 824"/>
              <p:cNvSpPr>
                <a:spLocks/>
              </p:cNvSpPr>
              <p:nvPr/>
            </p:nvSpPr>
            <p:spPr bwMode="auto">
              <a:xfrm>
                <a:off x="1559" y="217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94" name="Freeform 825"/>
              <p:cNvSpPr>
                <a:spLocks/>
              </p:cNvSpPr>
              <p:nvPr/>
            </p:nvSpPr>
            <p:spPr bwMode="auto">
              <a:xfrm>
                <a:off x="1566" y="2176"/>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95" name="Freeform 826"/>
              <p:cNvSpPr>
                <a:spLocks/>
              </p:cNvSpPr>
              <p:nvPr/>
            </p:nvSpPr>
            <p:spPr bwMode="auto">
              <a:xfrm>
                <a:off x="1573" y="2176"/>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96" name="Freeform 827"/>
              <p:cNvSpPr>
                <a:spLocks/>
              </p:cNvSpPr>
              <p:nvPr/>
            </p:nvSpPr>
            <p:spPr bwMode="auto">
              <a:xfrm>
                <a:off x="1616"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97" name="Freeform 828"/>
              <p:cNvSpPr>
                <a:spLocks/>
              </p:cNvSpPr>
              <p:nvPr/>
            </p:nvSpPr>
            <p:spPr bwMode="auto">
              <a:xfrm>
                <a:off x="1681"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98" name="Freeform 829"/>
              <p:cNvSpPr>
                <a:spLocks/>
              </p:cNvSpPr>
              <p:nvPr/>
            </p:nvSpPr>
            <p:spPr bwMode="auto">
              <a:xfrm>
                <a:off x="1985" y="217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99" name="Freeform 830"/>
              <p:cNvSpPr>
                <a:spLocks/>
              </p:cNvSpPr>
              <p:nvPr/>
            </p:nvSpPr>
            <p:spPr bwMode="auto">
              <a:xfrm>
                <a:off x="2390" y="2176"/>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00" name="Freeform 831"/>
              <p:cNvSpPr>
                <a:spLocks/>
              </p:cNvSpPr>
              <p:nvPr/>
            </p:nvSpPr>
            <p:spPr bwMode="auto">
              <a:xfrm>
                <a:off x="2421"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01" name="Freeform 832"/>
              <p:cNvSpPr>
                <a:spLocks/>
              </p:cNvSpPr>
              <p:nvPr/>
            </p:nvSpPr>
            <p:spPr bwMode="auto">
              <a:xfrm>
                <a:off x="2442"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02" name="Freeform 833"/>
              <p:cNvSpPr>
                <a:spLocks/>
              </p:cNvSpPr>
              <p:nvPr/>
            </p:nvSpPr>
            <p:spPr bwMode="auto">
              <a:xfrm>
                <a:off x="2449"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03" name="Freeform 834"/>
              <p:cNvSpPr>
                <a:spLocks/>
              </p:cNvSpPr>
              <p:nvPr/>
            </p:nvSpPr>
            <p:spPr bwMode="auto">
              <a:xfrm>
                <a:off x="2454" y="2176"/>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04" name="Freeform 835"/>
              <p:cNvSpPr>
                <a:spLocks/>
              </p:cNvSpPr>
              <p:nvPr/>
            </p:nvSpPr>
            <p:spPr bwMode="auto">
              <a:xfrm>
                <a:off x="2489"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05" name="Freeform 836"/>
              <p:cNvSpPr>
                <a:spLocks/>
              </p:cNvSpPr>
              <p:nvPr/>
            </p:nvSpPr>
            <p:spPr bwMode="auto">
              <a:xfrm>
                <a:off x="2505"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06" name="Freeform 837"/>
              <p:cNvSpPr>
                <a:spLocks/>
              </p:cNvSpPr>
              <p:nvPr/>
            </p:nvSpPr>
            <p:spPr bwMode="auto">
              <a:xfrm>
                <a:off x="2508"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07" name="Freeform 838"/>
              <p:cNvSpPr>
                <a:spLocks/>
              </p:cNvSpPr>
              <p:nvPr/>
            </p:nvSpPr>
            <p:spPr bwMode="auto">
              <a:xfrm>
                <a:off x="2512"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08" name="Freeform 839"/>
              <p:cNvSpPr>
                <a:spLocks/>
              </p:cNvSpPr>
              <p:nvPr/>
            </p:nvSpPr>
            <p:spPr bwMode="auto">
              <a:xfrm>
                <a:off x="2515"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09" name="Freeform 840"/>
              <p:cNvSpPr>
                <a:spLocks/>
              </p:cNvSpPr>
              <p:nvPr/>
            </p:nvSpPr>
            <p:spPr bwMode="auto">
              <a:xfrm>
                <a:off x="2569"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10" name="Freeform 841"/>
              <p:cNvSpPr>
                <a:spLocks/>
              </p:cNvSpPr>
              <p:nvPr/>
            </p:nvSpPr>
            <p:spPr bwMode="auto">
              <a:xfrm>
                <a:off x="2847"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11" name="Freeform 842"/>
              <p:cNvSpPr>
                <a:spLocks/>
              </p:cNvSpPr>
              <p:nvPr/>
            </p:nvSpPr>
            <p:spPr bwMode="auto">
              <a:xfrm>
                <a:off x="3203" y="217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12" name="Freeform 843"/>
              <p:cNvSpPr>
                <a:spLocks/>
              </p:cNvSpPr>
              <p:nvPr/>
            </p:nvSpPr>
            <p:spPr bwMode="auto">
              <a:xfrm>
                <a:off x="3262" y="2176"/>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13" name="Freeform 844"/>
              <p:cNvSpPr>
                <a:spLocks/>
              </p:cNvSpPr>
              <p:nvPr/>
            </p:nvSpPr>
            <p:spPr bwMode="auto">
              <a:xfrm>
                <a:off x="3269"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14" name="Freeform 845"/>
              <p:cNvSpPr>
                <a:spLocks/>
              </p:cNvSpPr>
              <p:nvPr/>
            </p:nvSpPr>
            <p:spPr bwMode="auto">
              <a:xfrm>
                <a:off x="3273"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15" name="Freeform 846"/>
              <p:cNvSpPr>
                <a:spLocks/>
              </p:cNvSpPr>
              <p:nvPr/>
            </p:nvSpPr>
            <p:spPr bwMode="auto">
              <a:xfrm>
                <a:off x="3302" y="2176"/>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16" name="Freeform 847"/>
              <p:cNvSpPr>
                <a:spLocks/>
              </p:cNvSpPr>
              <p:nvPr/>
            </p:nvSpPr>
            <p:spPr bwMode="auto">
              <a:xfrm>
                <a:off x="3318" y="2176"/>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17" name="Freeform 848"/>
              <p:cNvSpPr>
                <a:spLocks/>
              </p:cNvSpPr>
              <p:nvPr/>
            </p:nvSpPr>
            <p:spPr bwMode="auto">
              <a:xfrm>
                <a:off x="4418" y="2176"/>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18" name="Freeform 849"/>
              <p:cNvSpPr>
                <a:spLocks/>
              </p:cNvSpPr>
              <p:nvPr/>
            </p:nvSpPr>
            <p:spPr bwMode="auto">
              <a:xfrm>
                <a:off x="4421"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19" name="Freeform 850"/>
              <p:cNvSpPr>
                <a:spLocks/>
              </p:cNvSpPr>
              <p:nvPr/>
            </p:nvSpPr>
            <p:spPr bwMode="auto">
              <a:xfrm>
                <a:off x="4427" y="217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20" name="Freeform 851"/>
              <p:cNvSpPr>
                <a:spLocks/>
              </p:cNvSpPr>
              <p:nvPr/>
            </p:nvSpPr>
            <p:spPr bwMode="auto">
              <a:xfrm>
                <a:off x="4435" y="217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21" name="Freeform 852"/>
              <p:cNvSpPr>
                <a:spLocks/>
              </p:cNvSpPr>
              <p:nvPr/>
            </p:nvSpPr>
            <p:spPr bwMode="auto">
              <a:xfrm>
                <a:off x="4439" y="217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22" name="Freeform 853"/>
              <p:cNvSpPr>
                <a:spLocks/>
              </p:cNvSpPr>
              <p:nvPr/>
            </p:nvSpPr>
            <p:spPr bwMode="auto">
              <a:xfrm>
                <a:off x="4608" y="2176"/>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23" name="Freeform 854"/>
              <p:cNvSpPr>
                <a:spLocks/>
              </p:cNvSpPr>
              <p:nvPr/>
            </p:nvSpPr>
            <p:spPr bwMode="auto">
              <a:xfrm>
                <a:off x="4626" y="2176"/>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24" name="Freeform 855"/>
              <p:cNvSpPr>
                <a:spLocks/>
              </p:cNvSpPr>
              <p:nvPr/>
            </p:nvSpPr>
            <p:spPr bwMode="auto">
              <a:xfrm>
                <a:off x="1058" y="2136"/>
                <a:ext cx="8" cy="10"/>
              </a:xfrm>
              <a:custGeom>
                <a:avLst/>
                <a:gdLst>
                  <a:gd name="T0" fmla="*/ 2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1"/>
                    </a:lnTo>
                    <a:lnTo>
                      <a:pt x="8"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25" name="Freeform 856"/>
              <p:cNvSpPr>
                <a:spLocks/>
              </p:cNvSpPr>
              <p:nvPr/>
            </p:nvSpPr>
            <p:spPr bwMode="auto">
              <a:xfrm>
                <a:off x="1555"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26" name="Freeform 857"/>
              <p:cNvSpPr>
                <a:spLocks/>
              </p:cNvSpPr>
              <p:nvPr/>
            </p:nvSpPr>
            <p:spPr bwMode="auto">
              <a:xfrm>
                <a:off x="1560" y="2136"/>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27" name="Freeform 858"/>
              <p:cNvSpPr>
                <a:spLocks/>
              </p:cNvSpPr>
              <p:nvPr/>
            </p:nvSpPr>
            <p:spPr bwMode="auto">
              <a:xfrm>
                <a:off x="1567" y="2136"/>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28" name="Freeform 859"/>
              <p:cNvSpPr>
                <a:spLocks/>
              </p:cNvSpPr>
              <p:nvPr/>
            </p:nvSpPr>
            <p:spPr bwMode="auto">
              <a:xfrm>
                <a:off x="1629" y="2136"/>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29" name="Freeform 860"/>
              <p:cNvSpPr>
                <a:spLocks/>
              </p:cNvSpPr>
              <p:nvPr/>
            </p:nvSpPr>
            <p:spPr bwMode="auto">
              <a:xfrm>
                <a:off x="1646" y="2136"/>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30" name="Freeform 861"/>
              <p:cNvSpPr>
                <a:spLocks/>
              </p:cNvSpPr>
              <p:nvPr/>
            </p:nvSpPr>
            <p:spPr bwMode="auto">
              <a:xfrm>
                <a:off x="2276"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31" name="Freeform 862"/>
              <p:cNvSpPr>
                <a:spLocks/>
              </p:cNvSpPr>
              <p:nvPr/>
            </p:nvSpPr>
            <p:spPr bwMode="auto">
              <a:xfrm>
                <a:off x="2301" y="2136"/>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32" name="Freeform 863"/>
              <p:cNvSpPr>
                <a:spLocks/>
              </p:cNvSpPr>
              <p:nvPr/>
            </p:nvSpPr>
            <p:spPr bwMode="auto">
              <a:xfrm>
                <a:off x="2468"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33" name="Freeform 864"/>
              <p:cNvSpPr>
                <a:spLocks/>
              </p:cNvSpPr>
              <p:nvPr/>
            </p:nvSpPr>
            <p:spPr bwMode="auto">
              <a:xfrm>
                <a:off x="2470"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34" name="Freeform 865"/>
              <p:cNvSpPr>
                <a:spLocks/>
              </p:cNvSpPr>
              <p:nvPr/>
            </p:nvSpPr>
            <p:spPr bwMode="auto">
              <a:xfrm>
                <a:off x="2498"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35" name="Freeform 866"/>
              <p:cNvSpPr>
                <a:spLocks/>
              </p:cNvSpPr>
              <p:nvPr/>
            </p:nvSpPr>
            <p:spPr bwMode="auto">
              <a:xfrm>
                <a:off x="2575" y="2136"/>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36" name="Freeform 867"/>
              <p:cNvSpPr>
                <a:spLocks/>
              </p:cNvSpPr>
              <p:nvPr/>
            </p:nvSpPr>
            <p:spPr bwMode="auto">
              <a:xfrm>
                <a:off x="2594"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37" name="Freeform 868"/>
              <p:cNvSpPr>
                <a:spLocks/>
              </p:cNvSpPr>
              <p:nvPr/>
            </p:nvSpPr>
            <p:spPr bwMode="auto">
              <a:xfrm>
                <a:off x="3165" y="2136"/>
                <a:ext cx="8" cy="10"/>
              </a:xfrm>
              <a:custGeom>
                <a:avLst/>
                <a:gdLst>
                  <a:gd name="T0" fmla="*/ 1 w 8"/>
                  <a:gd name="T1" fmla="*/ 0 h 10"/>
                  <a:gd name="T2" fmla="*/ 7 w 8"/>
                  <a:gd name="T3" fmla="*/ 0 h 10"/>
                  <a:gd name="T4" fmla="*/ 8 w 8"/>
                  <a:gd name="T5" fmla="*/ 1 h 10"/>
                  <a:gd name="T6" fmla="*/ 8 w 8"/>
                  <a:gd name="T7" fmla="*/ 7 h 10"/>
                  <a:gd name="T8" fmla="*/ 5 w 8"/>
                  <a:gd name="T9" fmla="*/ 10 h 10"/>
                  <a:gd name="T10" fmla="*/ 3 w 8"/>
                  <a:gd name="T11" fmla="*/ 10 h 10"/>
                  <a:gd name="T12" fmla="*/ 0 w 8"/>
                  <a:gd name="T13" fmla="*/ 7 h 10"/>
                  <a:gd name="T14" fmla="*/ 0 w 8"/>
                  <a:gd name="T15" fmla="*/ 1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1"/>
                    </a:lnTo>
                    <a:lnTo>
                      <a:pt x="8" y="7"/>
                    </a:lnTo>
                    <a:lnTo>
                      <a:pt x="5"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38" name="Freeform 869"/>
              <p:cNvSpPr>
                <a:spLocks/>
              </p:cNvSpPr>
              <p:nvPr/>
            </p:nvSpPr>
            <p:spPr bwMode="auto">
              <a:xfrm>
                <a:off x="3168"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39" name="Freeform 870"/>
              <p:cNvSpPr>
                <a:spLocks/>
              </p:cNvSpPr>
              <p:nvPr/>
            </p:nvSpPr>
            <p:spPr bwMode="auto">
              <a:xfrm>
                <a:off x="3184" y="2136"/>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40" name="Freeform 871"/>
              <p:cNvSpPr>
                <a:spLocks/>
              </p:cNvSpPr>
              <p:nvPr/>
            </p:nvSpPr>
            <p:spPr bwMode="auto">
              <a:xfrm>
                <a:off x="3193" y="2136"/>
                <a:ext cx="10" cy="10"/>
              </a:xfrm>
              <a:custGeom>
                <a:avLst/>
                <a:gdLst>
                  <a:gd name="T0" fmla="*/ 1 w 10"/>
                  <a:gd name="T1" fmla="*/ 0 h 10"/>
                  <a:gd name="T2" fmla="*/ 6 w 10"/>
                  <a:gd name="T3" fmla="*/ 0 h 10"/>
                  <a:gd name="T4" fmla="*/ 10 w 10"/>
                  <a:gd name="T5" fmla="*/ 3 h 10"/>
                  <a:gd name="T6" fmla="*/ 10 w 10"/>
                  <a:gd name="T7" fmla="*/ 7 h 10"/>
                  <a:gd name="T8" fmla="*/ 6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6" y="0"/>
                    </a:lnTo>
                    <a:lnTo>
                      <a:pt x="10" y="3"/>
                    </a:lnTo>
                    <a:lnTo>
                      <a:pt x="10" y="7"/>
                    </a:lnTo>
                    <a:lnTo>
                      <a:pt x="6"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41" name="Freeform 872"/>
              <p:cNvSpPr>
                <a:spLocks/>
              </p:cNvSpPr>
              <p:nvPr/>
            </p:nvSpPr>
            <p:spPr bwMode="auto">
              <a:xfrm>
                <a:off x="3194" y="2136"/>
                <a:ext cx="11" cy="10"/>
              </a:xfrm>
              <a:custGeom>
                <a:avLst/>
                <a:gdLst>
                  <a:gd name="T0" fmla="*/ 4 w 11"/>
                  <a:gd name="T1" fmla="*/ 0 h 10"/>
                  <a:gd name="T2" fmla="*/ 9 w 11"/>
                  <a:gd name="T3" fmla="*/ 0 h 10"/>
                  <a:gd name="T4" fmla="*/ 11 w 11"/>
                  <a:gd name="T5" fmla="*/ 1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1"/>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42" name="Freeform 873"/>
              <p:cNvSpPr>
                <a:spLocks/>
              </p:cNvSpPr>
              <p:nvPr/>
            </p:nvSpPr>
            <p:spPr bwMode="auto">
              <a:xfrm>
                <a:off x="3199"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43" name="Freeform 874"/>
              <p:cNvSpPr>
                <a:spLocks/>
              </p:cNvSpPr>
              <p:nvPr/>
            </p:nvSpPr>
            <p:spPr bwMode="auto">
              <a:xfrm>
                <a:off x="3210"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44" name="Freeform 875"/>
              <p:cNvSpPr>
                <a:spLocks/>
              </p:cNvSpPr>
              <p:nvPr/>
            </p:nvSpPr>
            <p:spPr bwMode="auto">
              <a:xfrm>
                <a:off x="3215"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45" name="Freeform 876"/>
              <p:cNvSpPr>
                <a:spLocks/>
              </p:cNvSpPr>
              <p:nvPr/>
            </p:nvSpPr>
            <p:spPr bwMode="auto">
              <a:xfrm>
                <a:off x="3217" y="2136"/>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46" name="Freeform 877"/>
              <p:cNvSpPr>
                <a:spLocks/>
              </p:cNvSpPr>
              <p:nvPr/>
            </p:nvSpPr>
            <p:spPr bwMode="auto">
              <a:xfrm>
                <a:off x="3302"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47" name="Freeform 878"/>
              <p:cNvSpPr>
                <a:spLocks/>
              </p:cNvSpPr>
              <p:nvPr/>
            </p:nvSpPr>
            <p:spPr bwMode="auto">
              <a:xfrm>
                <a:off x="3311"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48" name="Freeform 879"/>
              <p:cNvSpPr>
                <a:spLocks/>
              </p:cNvSpPr>
              <p:nvPr/>
            </p:nvSpPr>
            <p:spPr bwMode="auto">
              <a:xfrm>
                <a:off x="4105"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49" name="Freeform 880"/>
              <p:cNvSpPr>
                <a:spLocks/>
              </p:cNvSpPr>
              <p:nvPr/>
            </p:nvSpPr>
            <p:spPr bwMode="auto">
              <a:xfrm>
                <a:off x="4201"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50" name="Freeform 881"/>
              <p:cNvSpPr>
                <a:spLocks/>
              </p:cNvSpPr>
              <p:nvPr/>
            </p:nvSpPr>
            <p:spPr bwMode="auto">
              <a:xfrm>
                <a:off x="4208"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51" name="Freeform 882"/>
              <p:cNvSpPr>
                <a:spLocks/>
              </p:cNvSpPr>
              <p:nvPr/>
            </p:nvSpPr>
            <p:spPr bwMode="auto">
              <a:xfrm>
                <a:off x="4210"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52" name="Freeform 883"/>
              <p:cNvSpPr>
                <a:spLocks/>
              </p:cNvSpPr>
              <p:nvPr/>
            </p:nvSpPr>
            <p:spPr bwMode="auto">
              <a:xfrm>
                <a:off x="4215"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53" name="Freeform 884"/>
              <p:cNvSpPr>
                <a:spLocks/>
              </p:cNvSpPr>
              <p:nvPr/>
            </p:nvSpPr>
            <p:spPr bwMode="auto">
              <a:xfrm>
                <a:off x="4226" y="2136"/>
                <a:ext cx="10" cy="10"/>
              </a:xfrm>
              <a:custGeom>
                <a:avLst/>
                <a:gdLst>
                  <a:gd name="T0" fmla="*/ 3 w 10"/>
                  <a:gd name="T1" fmla="*/ 0 h 10"/>
                  <a:gd name="T2" fmla="*/ 9 w 10"/>
                  <a:gd name="T3" fmla="*/ 0 h 10"/>
                  <a:gd name="T4" fmla="*/ 10 w 10"/>
                  <a:gd name="T5" fmla="*/ 1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1"/>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54" name="Freeform 885"/>
              <p:cNvSpPr>
                <a:spLocks/>
              </p:cNvSpPr>
              <p:nvPr/>
            </p:nvSpPr>
            <p:spPr bwMode="auto">
              <a:xfrm>
                <a:off x="4240"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55" name="Freeform 886"/>
              <p:cNvSpPr>
                <a:spLocks/>
              </p:cNvSpPr>
              <p:nvPr/>
            </p:nvSpPr>
            <p:spPr bwMode="auto">
              <a:xfrm>
                <a:off x="4257" y="2136"/>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1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56" name="Freeform 887"/>
              <p:cNvSpPr>
                <a:spLocks/>
              </p:cNvSpPr>
              <p:nvPr/>
            </p:nvSpPr>
            <p:spPr bwMode="auto">
              <a:xfrm>
                <a:off x="4262"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57" name="Freeform 888"/>
              <p:cNvSpPr>
                <a:spLocks/>
              </p:cNvSpPr>
              <p:nvPr/>
            </p:nvSpPr>
            <p:spPr bwMode="auto">
              <a:xfrm>
                <a:off x="4280"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58" name="Freeform 889"/>
              <p:cNvSpPr>
                <a:spLocks/>
              </p:cNvSpPr>
              <p:nvPr/>
            </p:nvSpPr>
            <p:spPr bwMode="auto">
              <a:xfrm>
                <a:off x="4474" y="2136"/>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1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59" name="Freeform 890"/>
              <p:cNvSpPr>
                <a:spLocks/>
              </p:cNvSpPr>
              <p:nvPr/>
            </p:nvSpPr>
            <p:spPr bwMode="auto">
              <a:xfrm>
                <a:off x="4496" y="2136"/>
                <a:ext cx="9" cy="10"/>
              </a:xfrm>
              <a:custGeom>
                <a:avLst/>
                <a:gdLst>
                  <a:gd name="T0" fmla="*/ 2 w 9"/>
                  <a:gd name="T1" fmla="*/ 0 h 10"/>
                  <a:gd name="T2" fmla="*/ 7 w 9"/>
                  <a:gd name="T3" fmla="*/ 0 h 10"/>
                  <a:gd name="T4" fmla="*/ 9 w 9"/>
                  <a:gd name="T5" fmla="*/ 1 h 10"/>
                  <a:gd name="T6" fmla="*/ 9 w 9"/>
                  <a:gd name="T7" fmla="*/ 7 h 10"/>
                  <a:gd name="T8" fmla="*/ 6 w 9"/>
                  <a:gd name="T9" fmla="*/ 10 h 10"/>
                  <a:gd name="T10" fmla="*/ 4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6" y="10"/>
                    </a:lnTo>
                    <a:lnTo>
                      <a:pt x="4"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60" name="Freeform 891"/>
              <p:cNvSpPr>
                <a:spLocks/>
              </p:cNvSpPr>
              <p:nvPr/>
            </p:nvSpPr>
            <p:spPr bwMode="auto">
              <a:xfrm>
                <a:off x="4528" y="2136"/>
                <a:ext cx="9" cy="10"/>
              </a:xfrm>
              <a:custGeom>
                <a:avLst/>
                <a:gdLst>
                  <a:gd name="T0" fmla="*/ 2 w 9"/>
                  <a:gd name="T1" fmla="*/ 0 h 10"/>
                  <a:gd name="T2" fmla="*/ 7 w 9"/>
                  <a:gd name="T3" fmla="*/ 0 h 10"/>
                  <a:gd name="T4" fmla="*/ 9 w 9"/>
                  <a:gd name="T5" fmla="*/ 1 h 10"/>
                  <a:gd name="T6" fmla="*/ 9 w 9"/>
                  <a:gd name="T7" fmla="*/ 7 h 10"/>
                  <a:gd name="T8" fmla="*/ 5 w 9"/>
                  <a:gd name="T9" fmla="*/ 10 h 10"/>
                  <a:gd name="T10" fmla="*/ 3 w 9"/>
                  <a:gd name="T11" fmla="*/ 10 h 10"/>
                  <a:gd name="T12" fmla="*/ 0 w 9"/>
                  <a:gd name="T13" fmla="*/ 7 h 10"/>
                  <a:gd name="T14" fmla="*/ 0 w 9"/>
                  <a:gd name="T15" fmla="*/ 1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1"/>
                    </a:lnTo>
                    <a:lnTo>
                      <a:pt x="9" y="7"/>
                    </a:lnTo>
                    <a:lnTo>
                      <a:pt x="5" y="10"/>
                    </a:lnTo>
                    <a:lnTo>
                      <a:pt x="3" y="10"/>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61" name="Freeform 892"/>
              <p:cNvSpPr>
                <a:spLocks/>
              </p:cNvSpPr>
              <p:nvPr/>
            </p:nvSpPr>
            <p:spPr bwMode="auto">
              <a:xfrm>
                <a:off x="972"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62" name="Freeform 893"/>
              <p:cNvSpPr>
                <a:spLocks/>
              </p:cNvSpPr>
              <p:nvPr/>
            </p:nvSpPr>
            <p:spPr bwMode="auto">
              <a:xfrm>
                <a:off x="976" y="2095"/>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63" name="Freeform 894"/>
              <p:cNvSpPr>
                <a:spLocks/>
              </p:cNvSpPr>
              <p:nvPr/>
            </p:nvSpPr>
            <p:spPr bwMode="auto">
              <a:xfrm>
                <a:off x="990" y="2095"/>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64" name="Freeform 895"/>
              <p:cNvSpPr>
                <a:spLocks/>
              </p:cNvSpPr>
              <p:nvPr/>
            </p:nvSpPr>
            <p:spPr bwMode="auto">
              <a:xfrm>
                <a:off x="1543" y="2095"/>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4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65" name="Freeform 896"/>
              <p:cNvSpPr>
                <a:spLocks/>
              </p:cNvSpPr>
              <p:nvPr/>
            </p:nvSpPr>
            <p:spPr bwMode="auto">
              <a:xfrm>
                <a:off x="1547" y="2095"/>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66" name="Freeform 897"/>
              <p:cNvSpPr>
                <a:spLocks/>
              </p:cNvSpPr>
              <p:nvPr/>
            </p:nvSpPr>
            <p:spPr bwMode="auto">
              <a:xfrm>
                <a:off x="1567"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67" name="Freeform 898"/>
              <p:cNvSpPr>
                <a:spLocks/>
              </p:cNvSpPr>
              <p:nvPr/>
            </p:nvSpPr>
            <p:spPr bwMode="auto">
              <a:xfrm>
                <a:off x="1580" y="2095"/>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68" name="Freeform 899"/>
              <p:cNvSpPr>
                <a:spLocks/>
              </p:cNvSpPr>
              <p:nvPr/>
            </p:nvSpPr>
            <p:spPr bwMode="auto">
              <a:xfrm>
                <a:off x="1606"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69" name="Freeform 900"/>
              <p:cNvSpPr>
                <a:spLocks/>
              </p:cNvSpPr>
              <p:nvPr/>
            </p:nvSpPr>
            <p:spPr bwMode="auto">
              <a:xfrm>
                <a:off x="1625"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70" name="Freeform 901"/>
              <p:cNvSpPr>
                <a:spLocks/>
              </p:cNvSpPr>
              <p:nvPr/>
            </p:nvSpPr>
            <p:spPr bwMode="auto">
              <a:xfrm>
                <a:off x="1763"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71" name="Freeform 902"/>
              <p:cNvSpPr>
                <a:spLocks/>
              </p:cNvSpPr>
              <p:nvPr/>
            </p:nvSpPr>
            <p:spPr bwMode="auto">
              <a:xfrm>
                <a:off x="2480"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72" name="Freeform 903"/>
              <p:cNvSpPr>
                <a:spLocks/>
              </p:cNvSpPr>
              <p:nvPr/>
            </p:nvSpPr>
            <p:spPr bwMode="auto">
              <a:xfrm>
                <a:off x="2486" y="2095"/>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73" name="Freeform 904"/>
              <p:cNvSpPr>
                <a:spLocks/>
              </p:cNvSpPr>
              <p:nvPr/>
            </p:nvSpPr>
            <p:spPr bwMode="auto">
              <a:xfrm>
                <a:off x="2527" y="2095"/>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74" name="Freeform 905"/>
              <p:cNvSpPr>
                <a:spLocks/>
              </p:cNvSpPr>
              <p:nvPr/>
            </p:nvSpPr>
            <p:spPr bwMode="auto">
              <a:xfrm>
                <a:off x="2529"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75" name="Freeform 906"/>
              <p:cNvSpPr>
                <a:spLocks/>
              </p:cNvSpPr>
              <p:nvPr/>
            </p:nvSpPr>
            <p:spPr bwMode="auto">
              <a:xfrm>
                <a:off x="2534" y="2095"/>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76" name="Freeform 907"/>
              <p:cNvSpPr>
                <a:spLocks/>
              </p:cNvSpPr>
              <p:nvPr/>
            </p:nvSpPr>
            <p:spPr bwMode="auto">
              <a:xfrm>
                <a:off x="3189"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77" name="Freeform 908"/>
              <p:cNvSpPr>
                <a:spLocks/>
              </p:cNvSpPr>
              <p:nvPr/>
            </p:nvSpPr>
            <p:spPr bwMode="auto">
              <a:xfrm>
                <a:off x="3217" y="2095"/>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78" name="Freeform 909"/>
              <p:cNvSpPr>
                <a:spLocks/>
              </p:cNvSpPr>
              <p:nvPr/>
            </p:nvSpPr>
            <p:spPr bwMode="auto">
              <a:xfrm>
                <a:off x="3290"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79" name="Freeform 910"/>
              <p:cNvSpPr>
                <a:spLocks/>
              </p:cNvSpPr>
              <p:nvPr/>
            </p:nvSpPr>
            <p:spPr bwMode="auto">
              <a:xfrm>
                <a:off x="3295" y="2095"/>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80" name="Freeform 911"/>
              <p:cNvSpPr>
                <a:spLocks/>
              </p:cNvSpPr>
              <p:nvPr/>
            </p:nvSpPr>
            <p:spPr bwMode="auto">
              <a:xfrm>
                <a:off x="3327"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81" name="Freeform 912"/>
              <p:cNvSpPr>
                <a:spLocks/>
              </p:cNvSpPr>
              <p:nvPr/>
            </p:nvSpPr>
            <p:spPr bwMode="auto">
              <a:xfrm>
                <a:off x="3336" y="2095"/>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82" name="Freeform 913"/>
              <p:cNvSpPr>
                <a:spLocks/>
              </p:cNvSpPr>
              <p:nvPr/>
            </p:nvSpPr>
            <p:spPr bwMode="auto">
              <a:xfrm>
                <a:off x="3526"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83" name="Freeform 914"/>
              <p:cNvSpPr>
                <a:spLocks/>
              </p:cNvSpPr>
              <p:nvPr/>
            </p:nvSpPr>
            <p:spPr bwMode="auto">
              <a:xfrm>
                <a:off x="4184"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84" name="Freeform 915"/>
              <p:cNvSpPr>
                <a:spLocks/>
              </p:cNvSpPr>
              <p:nvPr/>
            </p:nvSpPr>
            <p:spPr bwMode="auto">
              <a:xfrm>
                <a:off x="4191" y="2095"/>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85" name="Freeform 916"/>
              <p:cNvSpPr>
                <a:spLocks/>
              </p:cNvSpPr>
              <p:nvPr/>
            </p:nvSpPr>
            <p:spPr bwMode="auto">
              <a:xfrm>
                <a:off x="4210" y="2095"/>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86" name="Freeform 917"/>
              <p:cNvSpPr>
                <a:spLocks/>
              </p:cNvSpPr>
              <p:nvPr/>
            </p:nvSpPr>
            <p:spPr bwMode="auto">
              <a:xfrm>
                <a:off x="4214" y="2095"/>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87" name="Freeform 918"/>
              <p:cNvSpPr>
                <a:spLocks/>
              </p:cNvSpPr>
              <p:nvPr/>
            </p:nvSpPr>
            <p:spPr bwMode="auto">
              <a:xfrm>
                <a:off x="4379"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88" name="Freeform 919"/>
              <p:cNvSpPr>
                <a:spLocks/>
              </p:cNvSpPr>
              <p:nvPr/>
            </p:nvSpPr>
            <p:spPr bwMode="auto">
              <a:xfrm>
                <a:off x="4395" y="2095"/>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89" name="Freeform 920"/>
              <p:cNvSpPr>
                <a:spLocks/>
              </p:cNvSpPr>
              <p:nvPr/>
            </p:nvSpPr>
            <p:spPr bwMode="auto">
              <a:xfrm>
                <a:off x="1323"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90" name="Freeform 921"/>
              <p:cNvSpPr>
                <a:spLocks/>
              </p:cNvSpPr>
              <p:nvPr/>
            </p:nvSpPr>
            <p:spPr bwMode="auto">
              <a:xfrm>
                <a:off x="1611"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91" name="Freeform 922"/>
              <p:cNvSpPr>
                <a:spLocks/>
              </p:cNvSpPr>
              <p:nvPr/>
            </p:nvSpPr>
            <p:spPr bwMode="auto">
              <a:xfrm>
                <a:off x="1622"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92" name="Freeform 923"/>
              <p:cNvSpPr>
                <a:spLocks/>
              </p:cNvSpPr>
              <p:nvPr/>
            </p:nvSpPr>
            <p:spPr bwMode="auto">
              <a:xfrm>
                <a:off x="1625"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93" name="Freeform 924"/>
              <p:cNvSpPr>
                <a:spLocks/>
              </p:cNvSpPr>
              <p:nvPr/>
            </p:nvSpPr>
            <p:spPr bwMode="auto">
              <a:xfrm>
                <a:off x="2510"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94" name="Freeform 925"/>
              <p:cNvSpPr>
                <a:spLocks/>
              </p:cNvSpPr>
              <p:nvPr/>
            </p:nvSpPr>
            <p:spPr bwMode="auto">
              <a:xfrm>
                <a:off x="2524"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95" name="Freeform 926"/>
              <p:cNvSpPr>
                <a:spLocks/>
              </p:cNvSpPr>
              <p:nvPr/>
            </p:nvSpPr>
            <p:spPr bwMode="auto">
              <a:xfrm>
                <a:off x="2536" y="2055"/>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96" name="Freeform 927"/>
              <p:cNvSpPr>
                <a:spLocks/>
              </p:cNvSpPr>
              <p:nvPr/>
            </p:nvSpPr>
            <p:spPr bwMode="auto">
              <a:xfrm>
                <a:off x="2541"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97" name="Freeform 928"/>
              <p:cNvSpPr>
                <a:spLocks/>
              </p:cNvSpPr>
              <p:nvPr/>
            </p:nvSpPr>
            <p:spPr bwMode="auto">
              <a:xfrm>
                <a:off x="2892"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98" name="Freeform 929"/>
              <p:cNvSpPr>
                <a:spLocks/>
              </p:cNvSpPr>
              <p:nvPr/>
            </p:nvSpPr>
            <p:spPr bwMode="auto">
              <a:xfrm>
                <a:off x="3004"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99" name="Freeform 930"/>
              <p:cNvSpPr>
                <a:spLocks/>
              </p:cNvSpPr>
              <p:nvPr/>
            </p:nvSpPr>
            <p:spPr bwMode="auto">
              <a:xfrm>
                <a:off x="3014"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00" name="Freeform 931"/>
              <p:cNvSpPr>
                <a:spLocks/>
              </p:cNvSpPr>
              <p:nvPr/>
            </p:nvSpPr>
            <p:spPr bwMode="auto">
              <a:xfrm>
                <a:off x="3034"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01" name="Freeform 932"/>
              <p:cNvSpPr>
                <a:spLocks/>
              </p:cNvSpPr>
              <p:nvPr/>
            </p:nvSpPr>
            <p:spPr bwMode="auto">
              <a:xfrm>
                <a:off x="3055"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02" name="Freeform 933"/>
              <p:cNvSpPr>
                <a:spLocks/>
              </p:cNvSpPr>
              <p:nvPr/>
            </p:nvSpPr>
            <p:spPr bwMode="auto">
              <a:xfrm>
                <a:off x="3074" y="2055"/>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03" name="Freeform 934"/>
              <p:cNvSpPr>
                <a:spLocks/>
              </p:cNvSpPr>
              <p:nvPr/>
            </p:nvSpPr>
            <p:spPr bwMode="auto">
              <a:xfrm>
                <a:off x="3168" y="2055"/>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04" name="Freeform 935"/>
              <p:cNvSpPr>
                <a:spLocks/>
              </p:cNvSpPr>
              <p:nvPr/>
            </p:nvSpPr>
            <p:spPr bwMode="auto">
              <a:xfrm>
                <a:off x="3173"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05" name="Freeform 936"/>
              <p:cNvSpPr>
                <a:spLocks/>
              </p:cNvSpPr>
              <p:nvPr/>
            </p:nvSpPr>
            <p:spPr bwMode="auto">
              <a:xfrm>
                <a:off x="3189"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06" name="Freeform 937"/>
              <p:cNvSpPr>
                <a:spLocks/>
              </p:cNvSpPr>
              <p:nvPr/>
            </p:nvSpPr>
            <p:spPr bwMode="auto">
              <a:xfrm>
                <a:off x="3255"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07" name="Freeform 938"/>
              <p:cNvSpPr>
                <a:spLocks/>
              </p:cNvSpPr>
              <p:nvPr/>
            </p:nvSpPr>
            <p:spPr bwMode="auto">
              <a:xfrm>
                <a:off x="3257"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08" name="Freeform 939"/>
              <p:cNvSpPr>
                <a:spLocks/>
              </p:cNvSpPr>
              <p:nvPr/>
            </p:nvSpPr>
            <p:spPr bwMode="auto">
              <a:xfrm>
                <a:off x="3269"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09" name="Freeform 940"/>
              <p:cNvSpPr>
                <a:spLocks/>
              </p:cNvSpPr>
              <p:nvPr/>
            </p:nvSpPr>
            <p:spPr bwMode="auto">
              <a:xfrm>
                <a:off x="3273"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10" name="Freeform 941"/>
              <p:cNvSpPr>
                <a:spLocks/>
              </p:cNvSpPr>
              <p:nvPr/>
            </p:nvSpPr>
            <p:spPr bwMode="auto">
              <a:xfrm>
                <a:off x="3276"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11" name="Freeform 942"/>
              <p:cNvSpPr>
                <a:spLocks/>
              </p:cNvSpPr>
              <p:nvPr/>
            </p:nvSpPr>
            <p:spPr bwMode="auto">
              <a:xfrm>
                <a:off x="3285"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12" name="Freeform 943"/>
              <p:cNvSpPr>
                <a:spLocks/>
              </p:cNvSpPr>
              <p:nvPr/>
            </p:nvSpPr>
            <p:spPr bwMode="auto">
              <a:xfrm>
                <a:off x="3289" y="2055"/>
                <a:ext cx="10" cy="11"/>
              </a:xfrm>
              <a:custGeom>
                <a:avLst/>
                <a:gdLst>
                  <a:gd name="T0" fmla="*/ 3 w 10"/>
                  <a:gd name="T1" fmla="*/ 0 h 11"/>
                  <a:gd name="T2" fmla="*/ 6 w 10"/>
                  <a:gd name="T3" fmla="*/ 0 h 11"/>
                  <a:gd name="T4" fmla="*/ 10 w 10"/>
                  <a:gd name="T5" fmla="*/ 4 h 11"/>
                  <a:gd name="T6" fmla="*/ 10 w 10"/>
                  <a:gd name="T7" fmla="*/ 7 h 11"/>
                  <a:gd name="T8" fmla="*/ 6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6" y="0"/>
                    </a:lnTo>
                    <a:lnTo>
                      <a:pt x="10" y="4"/>
                    </a:lnTo>
                    <a:lnTo>
                      <a:pt x="10" y="7"/>
                    </a:lnTo>
                    <a:lnTo>
                      <a:pt x="6"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13" name="Freeform 944"/>
              <p:cNvSpPr>
                <a:spLocks/>
              </p:cNvSpPr>
              <p:nvPr/>
            </p:nvSpPr>
            <p:spPr bwMode="auto">
              <a:xfrm>
                <a:off x="3295"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14" name="Freeform 945"/>
              <p:cNvSpPr>
                <a:spLocks/>
              </p:cNvSpPr>
              <p:nvPr/>
            </p:nvSpPr>
            <p:spPr bwMode="auto">
              <a:xfrm>
                <a:off x="3297"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15" name="Freeform 946"/>
              <p:cNvSpPr>
                <a:spLocks/>
              </p:cNvSpPr>
              <p:nvPr/>
            </p:nvSpPr>
            <p:spPr bwMode="auto">
              <a:xfrm>
                <a:off x="3301"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16" name="Freeform 947"/>
              <p:cNvSpPr>
                <a:spLocks/>
              </p:cNvSpPr>
              <p:nvPr/>
            </p:nvSpPr>
            <p:spPr bwMode="auto">
              <a:xfrm>
                <a:off x="3309"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17" name="Freeform 948"/>
              <p:cNvSpPr>
                <a:spLocks/>
              </p:cNvSpPr>
              <p:nvPr/>
            </p:nvSpPr>
            <p:spPr bwMode="auto">
              <a:xfrm>
                <a:off x="3313" y="2055"/>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18" name="Freeform 949"/>
              <p:cNvSpPr>
                <a:spLocks/>
              </p:cNvSpPr>
              <p:nvPr/>
            </p:nvSpPr>
            <p:spPr bwMode="auto">
              <a:xfrm>
                <a:off x="3334"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19" name="Freeform 950"/>
              <p:cNvSpPr>
                <a:spLocks/>
              </p:cNvSpPr>
              <p:nvPr/>
            </p:nvSpPr>
            <p:spPr bwMode="auto">
              <a:xfrm>
                <a:off x="3536" y="2055"/>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20" name="Freeform 951"/>
              <p:cNvSpPr>
                <a:spLocks/>
              </p:cNvSpPr>
              <p:nvPr/>
            </p:nvSpPr>
            <p:spPr bwMode="auto">
              <a:xfrm>
                <a:off x="3550" y="2055"/>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21" name="Freeform 952"/>
              <p:cNvSpPr>
                <a:spLocks/>
              </p:cNvSpPr>
              <p:nvPr/>
            </p:nvSpPr>
            <p:spPr bwMode="auto">
              <a:xfrm>
                <a:off x="3601"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22" name="Freeform 953"/>
              <p:cNvSpPr>
                <a:spLocks/>
              </p:cNvSpPr>
              <p:nvPr/>
            </p:nvSpPr>
            <p:spPr bwMode="auto">
              <a:xfrm>
                <a:off x="3617"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23" name="Freeform 954"/>
              <p:cNvSpPr>
                <a:spLocks/>
              </p:cNvSpPr>
              <p:nvPr/>
            </p:nvSpPr>
            <p:spPr bwMode="auto">
              <a:xfrm>
                <a:off x="3631"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24" name="Freeform 955"/>
              <p:cNvSpPr>
                <a:spLocks/>
              </p:cNvSpPr>
              <p:nvPr/>
            </p:nvSpPr>
            <p:spPr bwMode="auto">
              <a:xfrm>
                <a:off x="3950" y="2055"/>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25" name="Freeform 956"/>
              <p:cNvSpPr>
                <a:spLocks/>
              </p:cNvSpPr>
              <p:nvPr/>
            </p:nvSpPr>
            <p:spPr bwMode="auto">
              <a:xfrm>
                <a:off x="3954"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27" name="Freeform 957"/>
              <p:cNvSpPr>
                <a:spLocks/>
              </p:cNvSpPr>
              <p:nvPr/>
            </p:nvSpPr>
            <p:spPr bwMode="auto">
              <a:xfrm>
                <a:off x="4179"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28" name="Freeform 958"/>
              <p:cNvSpPr>
                <a:spLocks/>
              </p:cNvSpPr>
              <p:nvPr/>
            </p:nvSpPr>
            <p:spPr bwMode="auto">
              <a:xfrm>
                <a:off x="4186" y="2055"/>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29" name="Freeform 959"/>
              <p:cNvSpPr>
                <a:spLocks/>
              </p:cNvSpPr>
              <p:nvPr/>
            </p:nvSpPr>
            <p:spPr bwMode="auto">
              <a:xfrm>
                <a:off x="4191" y="2055"/>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30" name="Freeform 960"/>
              <p:cNvSpPr>
                <a:spLocks/>
              </p:cNvSpPr>
              <p:nvPr/>
            </p:nvSpPr>
            <p:spPr bwMode="auto">
              <a:xfrm>
                <a:off x="4193"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31" name="Freeform 961"/>
              <p:cNvSpPr>
                <a:spLocks/>
              </p:cNvSpPr>
              <p:nvPr/>
            </p:nvSpPr>
            <p:spPr bwMode="auto">
              <a:xfrm>
                <a:off x="4226" y="2055"/>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32" name="Freeform 962"/>
              <p:cNvSpPr>
                <a:spLocks/>
              </p:cNvSpPr>
              <p:nvPr/>
            </p:nvSpPr>
            <p:spPr bwMode="auto">
              <a:xfrm>
                <a:off x="4348" y="2055"/>
                <a:ext cx="10" cy="11"/>
              </a:xfrm>
              <a:custGeom>
                <a:avLst/>
                <a:gdLst>
                  <a:gd name="T0" fmla="*/ 4 w 10"/>
                  <a:gd name="T1" fmla="*/ 0 h 11"/>
                  <a:gd name="T2" fmla="*/ 7 w 10"/>
                  <a:gd name="T3" fmla="*/ 0 h 11"/>
                  <a:gd name="T4" fmla="*/ 10 w 10"/>
                  <a:gd name="T5" fmla="*/ 4 h 11"/>
                  <a:gd name="T6" fmla="*/ 10 w 10"/>
                  <a:gd name="T7" fmla="*/ 9 h 11"/>
                  <a:gd name="T8" fmla="*/ 9 w 10"/>
                  <a:gd name="T9" fmla="*/ 11 h 11"/>
                  <a:gd name="T10" fmla="*/ 4 w 10"/>
                  <a:gd name="T11" fmla="*/ 11 h 11"/>
                  <a:gd name="T12" fmla="*/ 0 w 10"/>
                  <a:gd name="T13" fmla="*/ 7 h 11"/>
                  <a:gd name="T14" fmla="*/ 0 w 10"/>
                  <a:gd name="T15" fmla="*/ 4 h 11"/>
                  <a:gd name="T16" fmla="*/ 4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4" y="0"/>
                    </a:moveTo>
                    <a:lnTo>
                      <a:pt x="7" y="0"/>
                    </a:lnTo>
                    <a:lnTo>
                      <a:pt x="10" y="4"/>
                    </a:lnTo>
                    <a:lnTo>
                      <a:pt x="10"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33" name="Freeform 963"/>
              <p:cNvSpPr>
                <a:spLocks/>
              </p:cNvSpPr>
              <p:nvPr/>
            </p:nvSpPr>
            <p:spPr bwMode="auto">
              <a:xfrm>
                <a:off x="4425" y="2055"/>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34" name="Freeform 964"/>
              <p:cNvSpPr>
                <a:spLocks/>
              </p:cNvSpPr>
              <p:nvPr/>
            </p:nvSpPr>
            <p:spPr bwMode="auto">
              <a:xfrm>
                <a:off x="4444" y="2055"/>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35" name="Freeform 965"/>
              <p:cNvSpPr>
                <a:spLocks/>
              </p:cNvSpPr>
              <p:nvPr/>
            </p:nvSpPr>
            <p:spPr bwMode="auto">
              <a:xfrm>
                <a:off x="4448" y="2055"/>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36" name="Freeform 966"/>
              <p:cNvSpPr>
                <a:spLocks/>
              </p:cNvSpPr>
              <p:nvPr/>
            </p:nvSpPr>
            <p:spPr bwMode="auto">
              <a:xfrm>
                <a:off x="1590" y="2017"/>
                <a:ext cx="11" cy="9"/>
              </a:xfrm>
              <a:custGeom>
                <a:avLst/>
                <a:gdLst>
                  <a:gd name="T0" fmla="*/ 2 w 11"/>
                  <a:gd name="T1" fmla="*/ 0 h 9"/>
                  <a:gd name="T2" fmla="*/ 7 w 11"/>
                  <a:gd name="T3" fmla="*/ 0 h 9"/>
                  <a:gd name="T4" fmla="*/ 11 w 11"/>
                  <a:gd name="T5" fmla="*/ 3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3"/>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37" name="Freeform 967"/>
              <p:cNvSpPr>
                <a:spLocks/>
              </p:cNvSpPr>
              <p:nvPr/>
            </p:nvSpPr>
            <p:spPr bwMode="auto">
              <a:xfrm>
                <a:off x="2569" y="201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40" name="Freeform 968"/>
              <p:cNvSpPr>
                <a:spLocks/>
              </p:cNvSpPr>
              <p:nvPr/>
            </p:nvSpPr>
            <p:spPr bwMode="auto">
              <a:xfrm>
                <a:off x="2582" y="2017"/>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3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41" name="Freeform 969"/>
              <p:cNvSpPr>
                <a:spLocks/>
              </p:cNvSpPr>
              <p:nvPr/>
            </p:nvSpPr>
            <p:spPr bwMode="auto">
              <a:xfrm>
                <a:off x="3334" y="2017"/>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42" name="Freeform 970"/>
              <p:cNvSpPr>
                <a:spLocks/>
              </p:cNvSpPr>
              <p:nvPr/>
            </p:nvSpPr>
            <p:spPr bwMode="auto">
              <a:xfrm>
                <a:off x="3336" y="2017"/>
                <a:ext cx="10" cy="9"/>
              </a:xfrm>
              <a:custGeom>
                <a:avLst/>
                <a:gdLst>
                  <a:gd name="T0" fmla="*/ 1 w 10"/>
                  <a:gd name="T1" fmla="*/ 0 h 9"/>
                  <a:gd name="T2" fmla="*/ 7 w 10"/>
                  <a:gd name="T3" fmla="*/ 0 h 9"/>
                  <a:gd name="T4" fmla="*/ 10 w 10"/>
                  <a:gd name="T5" fmla="*/ 3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3"/>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43" name="Freeform 971"/>
              <p:cNvSpPr>
                <a:spLocks/>
              </p:cNvSpPr>
              <p:nvPr/>
            </p:nvSpPr>
            <p:spPr bwMode="auto">
              <a:xfrm>
                <a:off x="3559"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44" name="Freeform 972"/>
              <p:cNvSpPr>
                <a:spLocks/>
              </p:cNvSpPr>
              <p:nvPr/>
            </p:nvSpPr>
            <p:spPr bwMode="auto">
              <a:xfrm>
                <a:off x="3660" y="2017"/>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45" name="Freeform 973"/>
              <p:cNvSpPr>
                <a:spLocks/>
              </p:cNvSpPr>
              <p:nvPr/>
            </p:nvSpPr>
            <p:spPr bwMode="auto">
              <a:xfrm>
                <a:off x="4186" y="2017"/>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46" name="Freeform 974"/>
              <p:cNvSpPr>
                <a:spLocks/>
              </p:cNvSpPr>
              <p:nvPr/>
            </p:nvSpPr>
            <p:spPr bwMode="auto">
              <a:xfrm>
                <a:off x="4269" y="2017"/>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47" name="Freeform 975"/>
              <p:cNvSpPr>
                <a:spLocks/>
              </p:cNvSpPr>
              <p:nvPr/>
            </p:nvSpPr>
            <p:spPr bwMode="auto">
              <a:xfrm>
                <a:off x="4275" y="201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48" name="Freeform 976"/>
              <p:cNvSpPr>
                <a:spLocks/>
              </p:cNvSpPr>
              <p:nvPr/>
            </p:nvSpPr>
            <p:spPr bwMode="auto">
              <a:xfrm>
                <a:off x="4280"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49" name="Freeform 977"/>
              <p:cNvSpPr>
                <a:spLocks/>
              </p:cNvSpPr>
              <p:nvPr/>
            </p:nvSpPr>
            <p:spPr bwMode="auto">
              <a:xfrm>
                <a:off x="4296" y="2017"/>
                <a:ext cx="8" cy="9"/>
              </a:xfrm>
              <a:custGeom>
                <a:avLst/>
                <a:gdLst>
                  <a:gd name="T0" fmla="*/ 1 w 8"/>
                  <a:gd name="T1" fmla="*/ 0 h 9"/>
                  <a:gd name="T2" fmla="*/ 5 w 8"/>
                  <a:gd name="T3" fmla="*/ 0 h 9"/>
                  <a:gd name="T4" fmla="*/ 8 w 8"/>
                  <a:gd name="T5" fmla="*/ 3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3"/>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50" name="Freeform 978"/>
              <p:cNvSpPr>
                <a:spLocks/>
              </p:cNvSpPr>
              <p:nvPr/>
            </p:nvSpPr>
            <p:spPr bwMode="auto">
              <a:xfrm>
                <a:off x="4411" y="2017"/>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3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51" name="Freeform 979"/>
              <p:cNvSpPr>
                <a:spLocks/>
              </p:cNvSpPr>
              <p:nvPr/>
            </p:nvSpPr>
            <p:spPr bwMode="auto">
              <a:xfrm>
                <a:off x="4425" y="2017"/>
                <a:ext cx="10" cy="9"/>
              </a:xfrm>
              <a:custGeom>
                <a:avLst/>
                <a:gdLst>
                  <a:gd name="T0" fmla="*/ 2 w 10"/>
                  <a:gd name="T1" fmla="*/ 0 h 9"/>
                  <a:gd name="T2" fmla="*/ 7 w 10"/>
                  <a:gd name="T3" fmla="*/ 0 h 9"/>
                  <a:gd name="T4" fmla="*/ 10 w 10"/>
                  <a:gd name="T5" fmla="*/ 3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3"/>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52" name="Freeform 980"/>
              <p:cNvSpPr>
                <a:spLocks/>
              </p:cNvSpPr>
              <p:nvPr/>
            </p:nvSpPr>
            <p:spPr bwMode="auto">
              <a:xfrm>
                <a:off x="4432"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53" name="Freeform 981"/>
              <p:cNvSpPr>
                <a:spLocks/>
              </p:cNvSpPr>
              <p:nvPr/>
            </p:nvSpPr>
            <p:spPr bwMode="auto">
              <a:xfrm>
                <a:off x="4444" y="201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54" name="Freeform 982"/>
              <p:cNvSpPr>
                <a:spLocks/>
              </p:cNvSpPr>
              <p:nvPr/>
            </p:nvSpPr>
            <p:spPr bwMode="auto">
              <a:xfrm>
                <a:off x="4479" y="2017"/>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3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55" name="Freeform 983"/>
              <p:cNvSpPr>
                <a:spLocks/>
              </p:cNvSpPr>
              <p:nvPr/>
            </p:nvSpPr>
            <p:spPr bwMode="auto">
              <a:xfrm>
                <a:off x="4587" y="201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3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56" name="Freeform 984"/>
              <p:cNvSpPr>
                <a:spLocks/>
              </p:cNvSpPr>
              <p:nvPr/>
            </p:nvSpPr>
            <p:spPr bwMode="auto">
              <a:xfrm>
                <a:off x="4615" y="2017"/>
                <a:ext cx="9" cy="9"/>
              </a:xfrm>
              <a:custGeom>
                <a:avLst/>
                <a:gdLst>
                  <a:gd name="T0" fmla="*/ 2 w 9"/>
                  <a:gd name="T1" fmla="*/ 0 h 9"/>
                  <a:gd name="T2" fmla="*/ 5 w 9"/>
                  <a:gd name="T3" fmla="*/ 0 h 9"/>
                  <a:gd name="T4" fmla="*/ 9 w 9"/>
                  <a:gd name="T5" fmla="*/ 3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3"/>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57" name="Freeform 985"/>
              <p:cNvSpPr>
                <a:spLocks/>
              </p:cNvSpPr>
              <p:nvPr/>
            </p:nvSpPr>
            <p:spPr bwMode="auto">
              <a:xfrm>
                <a:off x="1051" y="1977"/>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58" name="Freeform 986"/>
              <p:cNvSpPr>
                <a:spLocks/>
              </p:cNvSpPr>
              <p:nvPr/>
            </p:nvSpPr>
            <p:spPr bwMode="auto">
              <a:xfrm>
                <a:off x="1302" y="1977"/>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59" name="Freeform 987"/>
              <p:cNvSpPr>
                <a:spLocks/>
              </p:cNvSpPr>
              <p:nvPr/>
            </p:nvSpPr>
            <p:spPr bwMode="auto">
              <a:xfrm>
                <a:off x="1587" y="1977"/>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0" name="Freeform 988"/>
              <p:cNvSpPr>
                <a:spLocks/>
              </p:cNvSpPr>
              <p:nvPr/>
            </p:nvSpPr>
            <p:spPr bwMode="auto">
              <a:xfrm>
                <a:off x="1616"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61" name="Freeform 989"/>
              <p:cNvSpPr>
                <a:spLocks/>
              </p:cNvSpPr>
              <p:nvPr/>
            </p:nvSpPr>
            <p:spPr bwMode="auto">
              <a:xfrm>
                <a:off x="1637" y="1977"/>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62" name="Freeform 990"/>
              <p:cNvSpPr>
                <a:spLocks/>
              </p:cNvSpPr>
              <p:nvPr/>
            </p:nvSpPr>
            <p:spPr bwMode="auto">
              <a:xfrm>
                <a:off x="2405"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63" name="Freeform 991"/>
              <p:cNvSpPr>
                <a:spLocks/>
              </p:cNvSpPr>
              <p:nvPr/>
            </p:nvSpPr>
            <p:spPr bwMode="auto">
              <a:xfrm>
                <a:off x="2489"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64" name="Freeform 992"/>
              <p:cNvSpPr>
                <a:spLocks/>
              </p:cNvSpPr>
              <p:nvPr/>
            </p:nvSpPr>
            <p:spPr bwMode="auto">
              <a:xfrm>
                <a:off x="2494" y="1977"/>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65" name="Freeform 993"/>
              <p:cNvSpPr>
                <a:spLocks/>
              </p:cNvSpPr>
              <p:nvPr/>
            </p:nvSpPr>
            <p:spPr bwMode="auto">
              <a:xfrm>
                <a:off x="2496"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66" name="Freeform 994"/>
              <p:cNvSpPr>
                <a:spLocks/>
              </p:cNvSpPr>
              <p:nvPr/>
            </p:nvSpPr>
            <p:spPr bwMode="auto">
              <a:xfrm>
                <a:off x="2501" y="1977"/>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67" name="Freeform 995"/>
              <p:cNvSpPr>
                <a:spLocks/>
              </p:cNvSpPr>
              <p:nvPr/>
            </p:nvSpPr>
            <p:spPr bwMode="auto">
              <a:xfrm>
                <a:off x="2505"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8" name="Freeform 996"/>
              <p:cNvSpPr>
                <a:spLocks/>
              </p:cNvSpPr>
              <p:nvPr/>
            </p:nvSpPr>
            <p:spPr bwMode="auto">
              <a:xfrm>
                <a:off x="2524" y="1977"/>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9" name="Freeform 997"/>
              <p:cNvSpPr>
                <a:spLocks/>
              </p:cNvSpPr>
              <p:nvPr/>
            </p:nvSpPr>
            <p:spPr bwMode="auto">
              <a:xfrm>
                <a:off x="2533" y="1977"/>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70" name="Freeform 998"/>
              <p:cNvSpPr>
                <a:spLocks/>
              </p:cNvSpPr>
              <p:nvPr/>
            </p:nvSpPr>
            <p:spPr bwMode="auto">
              <a:xfrm>
                <a:off x="2543" y="1977"/>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1" name="Freeform 999"/>
              <p:cNvSpPr>
                <a:spLocks/>
              </p:cNvSpPr>
              <p:nvPr/>
            </p:nvSpPr>
            <p:spPr bwMode="auto">
              <a:xfrm>
                <a:off x="2583" y="1977"/>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2" name="Freeform 1000"/>
              <p:cNvSpPr>
                <a:spLocks/>
              </p:cNvSpPr>
              <p:nvPr/>
            </p:nvSpPr>
            <p:spPr bwMode="auto">
              <a:xfrm>
                <a:off x="2594"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73" name="Freeform 1001"/>
              <p:cNvSpPr>
                <a:spLocks/>
              </p:cNvSpPr>
              <p:nvPr/>
            </p:nvSpPr>
            <p:spPr bwMode="auto">
              <a:xfrm>
                <a:off x="3170"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74" name="Freeform 1002"/>
              <p:cNvSpPr>
                <a:spLocks/>
              </p:cNvSpPr>
              <p:nvPr/>
            </p:nvSpPr>
            <p:spPr bwMode="auto">
              <a:xfrm>
                <a:off x="3177" y="1977"/>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5" name="Freeform 1003"/>
              <p:cNvSpPr>
                <a:spLocks/>
              </p:cNvSpPr>
              <p:nvPr/>
            </p:nvSpPr>
            <p:spPr bwMode="auto">
              <a:xfrm>
                <a:off x="3193" y="1977"/>
                <a:ext cx="10" cy="8"/>
              </a:xfrm>
              <a:custGeom>
                <a:avLst/>
                <a:gdLst>
                  <a:gd name="T0" fmla="*/ 1 w 10"/>
                  <a:gd name="T1" fmla="*/ 0 h 8"/>
                  <a:gd name="T2" fmla="*/ 6 w 10"/>
                  <a:gd name="T3" fmla="*/ 0 h 8"/>
                  <a:gd name="T4" fmla="*/ 10 w 10"/>
                  <a:gd name="T5" fmla="*/ 3 h 8"/>
                  <a:gd name="T6" fmla="*/ 10 w 10"/>
                  <a:gd name="T7" fmla="*/ 5 h 8"/>
                  <a:gd name="T8" fmla="*/ 6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6" y="0"/>
                    </a:lnTo>
                    <a:lnTo>
                      <a:pt x="10" y="3"/>
                    </a:lnTo>
                    <a:lnTo>
                      <a:pt x="10" y="5"/>
                    </a:lnTo>
                    <a:lnTo>
                      <a:pt x="6"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76" name="Freeform 1004"/>
              <p:cNvSpPr>
                <a:spLocks/>
              </p:cNvSpPr>
              <p:nvPr/>
            </p:nvSpPr>
            <p:spPr bwMode="auto">
              <a:xfrm>
                <a:off x="3220"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77" name="Freeform 1005"/>
              <p:cNvSpPr>
                <a:spLocks/>
              </p:cNvSpPr>
              <p:nvPr/>
            </p:nvSpPr>
            <p:spPr bwMode="auto">
              <a:xfrm>
                <a:off x="3257"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78" name="Freeform 1006"/>
              <p:cNvSpPr>
                <a:spLocks/>
              </p:cNvSpPr>
              <p:nvPr/>
            </p:nvSpPr>
            <p:spPr bwMode="auto">
              <a:xfrm>
                <a:off x="3271" y="1977"/>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9" name="Freeform 1007"/>
              <p:cNvSpPr>
                <a:spLocks/>
              </p:cNvSpPr>
              <p:nvPr/>
            </p:nvSpPr>
            <p:spPr bwMode="auto">
              <a:xfrm>
                <a:off x="3285"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80" name="Freeform 1008"/>
              <p:cNvSpPr>
                <a:spLocks/>
              </p:cNvSpPr>
              <p:nvPr/>
            </p:nvSpPr>
            <p:spPr bwMode="auto">
              <a:xfrm>
                <a:off x="3343" y="1977"/>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11" name="Group 1210"/>
            <p:cNvGrpSpPr>
              <a:grpSpLocks/>
            </p:cNvGrpSpPr>
            <p:nvPr/>
          </p:nvGrpSpPr>
          <p:grpSpPr bwMode="auto">
            <a:xfrm>
              <a:off x="1631999" y="2757495"/>
              <a:ext cx="6159676" cy="393701"/>
              <a:chOff x="1028" y="1737"/>
              <a:chExt cx="3880" cy="248"/>
            </a:xfrm>
          </p:grpSpPr>
          <p:sp>
            <p:nvSpPr>
              <p:cNvPr id="678" name="Freeform 1010"/>
              <p:cNvSpPr>
                <a:spLocks/>
              </p:cNvSpPr>
              <p:nvPr/>
            </p:nvSpPr>
            <p:spPr bwMode="auto">
              <a:xfrm>
                <a:off x="3353" y="1977"/>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79" name="Freeform 1011"/>
              <p:cNvSpPr>
                <a:spLocks/>
              </p:cNvSpPr>
              <p:nvPr/>
            </p:nvSpPr>
            <p:spPr bwMode="auto">
              <a:xfrm>
                <a:off x="4219" y="1977"/>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80" name="Freeform 1012"/>
              <p:cNvSpPr>
                <a:spLocks/>
              </p:cNvSpPr>
              <p:nvPr/>
            </p:nvSpPr>
            <p:spPr bwMode="auto">
              <a:xfrm>
                <a:off x="4249" y="1977"/>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81" name="Freeform 1013"/>
              <p:cNvSpPr>
                <a:spLocks/>
              </p:cNvSpPr>
              <p:nvPr/>
            </p:nvSpPr>
            <p:spPr bwMode="auto">
              <a:xfrm>
                <a:off x="4250" y="1977"/>
                <a:ext cx="11" cy="8"/>
              </a:xfrm>
              <a:custGeom>
                <a:avLst/>
                <a:gdLst>
                  <a:gd name="T0" fmla="*/ 2 w 11"/>
                  <a:gd name="T1" fmla="*/ 0 h 8"/>
                  <a:gd name="T2" fmla="*/ 9 w 11"/>
                  <a:gd name="T3" fmla="*/ 0 h 8"/>
                  <a:gd name="T4" fmla="*/ 11 w 11"/>
                  <a:gd name="T5" fmla="*/ 1 h 8"/>
                  <a:gd name="T6" fmla="*/ 11 w 11"/>
                  <a:gd name="T7" fmla="*/ 7 h 8"/>
                  <a:gd name="T8" fmla="*/ 9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9" y="0"/>
                    </a:lnTo>
                    <a:lnTo>
                      <a:pt x="11" y="1"/>
                    </a:lnTo>
                    <a:lnTo>
                      <a:pt x="11" y="7"/>
                    </a:lnTo>
                    <a:lnTo>
                      <a:pt x="9"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82" name="Freeform 1014"/>
              <p:cNvSpPr>
                <a:spLocks/>
              </p:cNvSpPr>
              <p:nvPr/>
            </p:nvSpPr>
            <p:spPr bwMode="auto">
              <a:xfrm>
                <a:off x="4472" y="1977"/>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83" name="Freeform 1015"/>
              <p:cNvSpPr>
                <a:spLocks/>
              </p:cNvSpPr>
              <p:nvPr/>
            </p:nvSpPr>
            <p:spPr bwMode="auto">
              <a:xfrm>
                <a:off x="4894" y="1977"/>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84" name="Freeform 1016"/>
              <p:cNvSpPr>
                <a:spLocks/>
              </p:cNvSpPr>
              <p:nvPr/>
            </p:nvSpPr>
            <p:spPr bwMode="auto">
              <a:xfrm>
                <a:off x="4898" y="1977"/>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85" name="Freeform 1017"/>
              <p:cNvSpPr>
                <a:spLocks/>
              </p:cNvSpPr>
              <p:nvPr/>
            </p:nvSpPr>
            <p:spPr bwMode="auto">
              <a:xfrm>
                <a:off x="1044"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86" name="Freeform 1018"/>
              <p:cNvSpPr>
                <a:spLocks/>
              </p:cNvSpPr>
              <p:nvPr/>
            </p:nvSpPr>
            <p:spPr bwMode="auto">
              <a:xfrm>
                <a:off x="1060" y="1936"/>
                <a:ext cx="8" cy="9"/>
              </a:xfrm>
              <a:custGeom>
                <a:avLst/>
                <a:gdLst>
                  <a:gd name="T0" fmla="*/ 1 w 8"/>
                  <a:gd name="T1" fmla="*/ 0 h 9"/>
                  <a:gd name="T2" fmla="*/ 6 w 8"/>
                  <a:gd name="T3" fmla="*/ 0 h 9"/>
                  <a:gd name="T4" fmla="*/ 8 w 8"/>
                  <a:gd name="T5" fmla="*/ 2 h 9"/>
                  <a:gd name="T6" fmla="*/ 8 w 8"/>
                  <a:gd name="T7" fmla="*/ 7 h 9"/>
                  <a:gd name="T8" fmla="*/ 6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7"/>
                    </a:lnTo>
                    <a:lnTo>
                      <a:pt x="6"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87" name="Freeform 1019"/>
              <p:cNvSpPr>
                <a:spLocks/>
              </p:cNvSpPr>
              <p:nvPr/>
            </p:nvSpPr>
            <p:spPr bwMode="auto">
              <a:xfrm>
                <a:off x="1063" y="1936"/>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88" name="Freeform 1020"/>
              <p:cNvSpPr>
                <a:spLocks/>
              </p:cNvSpPr>
              <p:nvPr/>
            </p:nvSpPr>
            <p:spPr bwMode="auto">
              <a:xfrm>
                <a:off x="1136"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89" name="Freeform 1021"/>
              <p:cNvSpPr>
                <a:spLocks/>
              </p:cNvSpPr>
              <p:nvPr/>
            </p:nvSpPr>
            <p:spPr bwMode="auto">
              <a:xfrm>
                <a:off x="1286" y="1936"/>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90" name="Freeform 1022"/>
              <p:cNvSpPr>
                <a:spLocks/>
              </p:cNvSpPr>
              <p:nvPr/>
            </p:nvSpPr>
            <p:spPr bwMode="auto">
              <a:xfrm>
                <a:off x="1316"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91" name="Freeform 1023"/>
              <p:cNvSpPr>
                <a:spLocks/>
              </p:cNvSpPr>
              <p:nvPr/>
            </p:nvSpPr>
            <p:spPr bwMode="auto">
              <a:xfrm>
                <a:off x="1348" y="1936"/>
                <a:ext cx="8" cy="9"/>
              </a:xfrm>
              <a:custGeom>
                <a:avLst/>
                <a:gdLst>
                  <a:gd name="T0" fmla="*/ 1 w 8"/>
                  <a:gd name="T1" fmla="*/ 0 h 9"/>
                  <a:gd name="T2" fmla="*/ 6 w 8"/>
                  <a:gd name="T3" fmla="*/ 0 h 9"/>
                  <a:gd name="T4" fmla="*/ 8 w 8"/>
                  <a:gd name="T5" fmla="*/ 2 h 9"/>
                  <a:gd name="T6" fmla="*/ 8 w 8"/>
                  <a:gd name="T7" fmla="*/ 7 h 9"/>
                  <a:gd name="T8" fmla="*/ 6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6" y="0"/>
                    </a:lnTo>
                    <a:lnTo>
                      <a:pt x="8" y="2"/>
                    </a:lnTo>
                    <a:lnTo>
                      <a:pt x="8" y="7"/>
                    </a:lnTo>
                    <a:lnTo>
                      <a:pt x="6"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92" name="Freeform 1024"/>
              <p:cNvSpPr>
                <a:spLocks/>
              </p:cNvSpPr>
              <p:nvPr/>
            </p:nvSpPr>
            <p:spPr bwMode="auto">
              <a:xfrm>
                <a:off x="1349" y="1936"/>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93" name="Freeform 1025"/>
              <p:cNvSpPr>
                <a:spLocks/>
              </p:cNvSpPr>
              <p:nvPr/>
            </p:nvSpPr>
            <p:spPr bwMode="auto">
              <a:xfrm>
                <a:off x="1574" y="1936"/>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94" name="Freeform 1026"/>
              <p:cNvSpPr>
                <a:spLocks/>
              </p:cNvSpPr>
              <p:nvPr/>
            </p:nvSpPr>
            <p:spPr bwMode="auto">
              <a:xfrm>
                <a:off x="1622"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95" name="Freeform 1027"/>
              <p:cNvSpPr>
                <a:spLocks/>
              </p:cNvSpPr>
              <p:nvPr/>
            </p:nvSpPr>
            <p:spPr bwMode="auto">
              <a:xfrm>
                <a:off x="1653"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96" name="Freeform 1028"/>
              <p:cNvSpPr>
                <a:spLocks/>
              </p:cNvSpPr>
              <p:nvPr/>
            </p:nvSpPr>
            <p:spPr bwMode="auto">
              <a:xfrm>
                <a:off x="1718"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97" name="Freeform 1029"/>
              <p:cNvSpPr>
                <a:spLocks/>
              </p:cNvSpPr>
              <p:nvPr/>
            </p:nvSpPr>
            <p:spPr bwMode="auto">
              <a:xfrm>
                <a:off x="2393"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98" name="Freeform 1030"/>
              <p:cNvSpPr>
                <a:spLocks/>
              </p:cNvSpPr>
              <p:nvPr/>
            </p:nvSpPr>
            <p:spPr bwMode="auto">
              <a:xfrm>
                <a:off x="2437"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99" name="Freeform 1031"/>
              <p:cNvSpPr>
                <a:spLocks/>
              </p:cNvSpPr>
              <p:nvPr/>
            </p:nvSpPr>
            <p:spPr bwMode="auto">
              <a:xfrm>
                <a:off x="2486"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00" name="Freeform 1032"/>
              <p:cNvSpPr>
                <a:spLocks/>
              </p:cNvSpPr>
              <p:nvPr/>
            </p:nvSpPr>
            <p:spPr bwMode="auto">
              <a:xfrm>
                <a:off x="2487" y="1936"/>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01" name="Freeform 1033"/>
              <p:cNvSpPr>
                <a:spLocks/>
              </p:cNvSpPr>
              <p:nvPr/>
            </p:nvSpPr>
            <p:spPr bwMode="auto">
              <a:xfrm>
                <a:off x="2519" y="1936"/>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02" name="Freeform 1034"/>
              <p:cNvSpPr>
                <a:spLocks/>
              </p:cNvSpPr>
              <p:nvPr/>
            </p:nvSpPr>
            <p:spPr bwMode="auto">
              <a:xfrm>
                <a:off x="3117"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03" name="Freeform 1035"/>
              <p:cNvSpPr>
                <a:spLocks/>
              </p:cNvSpPr>
              <p:nvPr/>
            </p:nvSpPr>
            <p:spPr bwMode="auto">
              <a:xfrm>
                <a:off x="3158" y="1936"/>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04" name="Freeform 1036"/>
              <p:cNvSpPr>
                <a:spLocks/>
              </p:cNvSpPr>
              <p:nvPr/>
            </p:nvSpPr>
            <p:spPr bwMode="auto">
              <a:xfrm>
                <a:off x="3165" y="1936"/>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05" name="Freeform 1037"/>
              <p:cNvSpPr>
                <a:spLocks/>
              </p:cNvSpPr>
              <p:nvPr/>
            </p:nvSpPr>
            <p:spPr bwMode="auto">
              <a:xfrm>
                <a:off x="3166" y="1936"/>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06" name="Freeform 1038"/>
              <p:cNvSpPr>
                <a:spLocks/>
              </p:cNvSpPr>
              <p:nvPr/>
            </p:nvSpPr>
            <p:spPr bwMode="auto">
              <a:xfrm>
                <a:off x="3198"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07" name="Freeform 1039"/>
              <p:cNvSpPr>
                <a:spLocks/>
              </p:cNvSpPr>
              <p:nvPr/>
            </p:nvSpPr>
            <p:spPr bwMode="auto">
              <a:xfrm>
                <a:off x="3206" y="1936"/>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08" name="Freeform 1040"/>
              <p:cNvSpPr>
                <a:spLocks/>
              </p:cNvSpPr>
              <p:nvPr/>
            </p:nvSpPr>
            <p:spPr bwMode="auto">
              <a:xfrm>
                <a:off x="3238"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09" name="Freeform 1041"/>
              <p:cNvSpPr>
                <a:spLocks/>
              </p:cNvSpPr>
              <p:nvPr/>
            </p:nvSpPr>
            <p:spPr bwMode="auto">
              <a:xfrm>
                <a:off x="3294" y="1936"/>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10" name="Freeform 1042"/>
              <p:cNvSpPr>
                <a:spLocks/>
              </p:cNvSpPr>
              <p:nvPr/>
            </p:nvSpPr>
            <p:spPr bwMode="auto">
              <a:xfrm>
                <a:off x="3522"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1" name="Freeform 1043"/>
              <p:cNvSpPr>
                <a:spLocks/>
              </p:cNvSpPr>
              <p:nvPr/>
            </p:nvSpPr>
            <p:spPr bwMode="auto">
              <a:xfrm>
                <a:off x="3528" y="1936"/>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12" name="Freeform 1044"/>
              <p:cNvSpPr>
                <a:spLocks/>
              </p:cNvSpPr>
              <p:nvPr/>
            </p:nvSpPr>
            <p:spPr bwMode="auto">
              <a:xfrm>
                <a:off x="3529"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3" name="Freeform 1045"/>
              <p:cNvSpPr>
                <a:spLocks/>
              </p:cNvSpPr>
              <p:nvPr/>
            </p:nvSpPr>
            <p:spPr bwMode="auto">
              <a:xfrm>
                <a:off x="3599" y="1936"/>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4" name="Freeform 1046"/>
              <p:cNvSpPr>
                <a:spLocks/>
              </p:cNvSpPr>
              <p:nvPr/>
            </p:nvSpPr>
            <p:spPr bwMode="auto">
              <a:xfrm>
                <a:off x="3678" y="1936"/>
                <a:ext cx="8" cy="9"/>
              </a:xfrm>
              <a:custGeom>
                <a:avLst/>
                <a:gdLst>
                  <a:gd name="T0" fmla="*/ 2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7" y="0"/>
                    </a:lnTo>
                    <a:lnTo>
                      <a:pt x="8" y="2"/>
                    </a:lnTo>
                    <a:lnTo>
                      <a:pt x="8"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5" name="Freeform 1047"/>
              <p:cNvSpPr>
                <a:spLocks/>
              </p:cNvSpPr>
              <p:nvPr/>
            </p:nvSpPr>
            <p:spPr bwMode="auto">
              <a:xfrm>
                <a:off x="3681"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16" name="Freeform 1048"/>
              <p:cNvSpPr>
                <a:spLocks/>
              </p:cNvSpPr>
              <p:nvPr/>
            </p:nvSpPr>
            <p:spPr bwMode="auto">
              <a:xfrm>
                <a:off x="3690" y="1936"/>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17" name="Freeform 1049"/>
              <p:cNvSpPr>
                <a:spLocks/>
              </p:cNvSpPr>
              <p:nvPr/>
            </p:nvSpPr>
            <p:spPr bwMode="auto">
              <a:xfrm>
                <a:off x="3706" y="1936"/>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18" name="Freeform 1050"/>
              <p:cNvSpPr>
                <a:spLocks/>
              </p:cNvSpPr>
              <p:nvPr/>
            </p:nvSpPr>
            <p:spPr bwMode="auto">
              <a:xfrm>
                <a:off x="4414"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9" name="Freeform 1051"/>
              <p:cNvSpPr>
                <a:spLocks/>
              </p:cNvSpPr>
              <p:nvPr/>
            </p:nvSpPr>
            <p:spPr bwMode="auto">
              <a:xfrm>
                <a:off x="4421" y="1936"/>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0" name="Freeform 1052"/>
              <p:cNvSpPr>
                <a:spLocks/>
              </p:cNvSpPr>
              <p:nvPr/>
            </p:nvSpPr>
            <p:spPr bwMode="auto">
              <a:xfrm>
                <a:off x="4442" y="1936"/>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21" name="Freeform 1053"/>
              <p:cNvSpPr>
                <a:spLocks/>
              </p:cNvSpPr>
              <p:nvPr/>
            </p:nvSpPr>
            <p:spPr bwMode="auto">
              <a:xfrm>
                <a:off x="4474" y="1936"/>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2" name="Freeform 1054"/>
              <p:cNvSpPr>
                <a:spLocks/>
              </p:cNvSpPr>
              <p:nvPr/>
            </p:nvSpPr>
            <p:spPr bwMode="auto">
              <a:xfrm>
                <a:off x="4612" y="1936"/>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23" name="Freeform 1055"/>
              <p:cNvSpPr>
                <a:spLocks/>
              </p:cNvSpPr>
              <p:nvPr/>
            </p:nvSpPr>
            <p:spPr bwMode="auto">
              <a:xfrm>
                <a:off x="1613"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4" name="Freeform 1056"/>
              <p:cNvSpPr>
                <a:spLocks/>
              </p:cNvSpPr>
              <p:nvPr/>
            </p:nvSpPr>
            <p:spPr bwMode="auto">
              <a:xfrm>
                <a:off x="1622"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25" name="Freeform 1057"/>
              <p:cNvSpPr>
                <a:spLocks/>
              </p:cNvSpPr>
              <p:nvPr/>
            </p:nvSpPr>
            <p:spPr bwMode="auto">
              <a:xfrm>
                <a:off x="1653"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6" name="Freeform 1058"/>
              <p:cNvSpPr>
                <a:spLocks/>
              </p:cNvSpPr>
              <p:nvPr/>
            </p:nvSpPr>
            <p:spPr bwMode="auto">
              <a:xfrm>
                <a:off x="1667"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7" name="Freeform 1059"/>
              <p:cNvSpPr>
                <a:spLocks/>
              </p:cNvSpPr>
              <p:nvPr/>
            </p:nvSpPr>
            <p:spPr bwMode="auto">
              <a:xfrm>
                <a:off x="1693"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8" name="Freeform 1060"/>
              <p:cNvSpPr>
                <a:spLocks/>
              </p:cNvSpPr>
              <p:nvPr/>
            </p:nvSpPr>
            <p:spPr bwMode="auto">
              <a:xfrm>
                <a:off x="1719"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9" name="Freeform 1061"/>
              <p:cNvSpPr>
                <a:spLocks/>
              </p:cNvSpPr>
              <p:nvPr/>
            </p:nvSpPr>
            <p:spPr bwMode="auto">
              <a:xfrm>
                <a:off x="1747"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0" name="Freeform 1062"/>
              <p:cNvSpPr>
                <a:spLocks/>
              </p:cNvSpPr>
              <p:nvPr/>
            </p:nvSpPr>
            <p:spPr bwMode="auto">
              <a:xfrm>
                <a:off x="1780"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1" name="Freeform 1063"/>
              <p:cNvSpPr>
                <a:spLocks/>
              </p:cNvSpPr>
              <p:nvPr/>
            </p:nvSpPr>
            <p:spPr bwMode="auto">
              <a:xfrm>
                <a:off x="2386"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2" name="Freeform 1064"/>
              <p:cNvSpPr>
                <a:spLocks/>
              </p:cNvSpPr>
              <p:nvPr/>
            </p:nvSpPr>
            <p:spPr bwMode="auto">
              <a:xfrm>
                <a:off x="2400"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3" name="Freeform 1065"/>
              <p:cNvSpPr>
                <a:spLocks/>
              </p:cNvSpPr>
              <p:nvPr/>
            </p:nvSpPr>
            <p:spPr bwMode="auto">
              <a:xfrm>
                <a:off x="2407"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4" name="Freeform 1066"/>
              <p:cNvSpPr>
                <a:spLocks/>
              </p:cNvSpPr>
              <p:nvPr/>
            </p:nvSpPr>
            <p:spPr bwMode="auto">
              <a:xfrm>
                <a:off x="2416" y="1896"/>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5" name="Freeform 1067"/>
              <p:cNvSpPr>
                <a:spLocks/>
              </p:cNvSpPr>
              <p:nvPr/>
            </p:nvSpPr>
            <p:spPr bwMode="auto">
              <a:xfrm>
                <a:off x="2428"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6" name="Freeform 1068"/>
              <p:cNvSpPr>
                <a:spLocks/>
              </p:cNvSpPr>
              <p:nvPr/>
            </p:nvSpPr>
            <p:spPr bwMode="auto">
              <a:xfrm>
                <a:off x="2433"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7" name="Freeform 1069"/>
              <p:cNvSpPr>
                <a:spLocks/>
              </p:cNvSpPr>
              <p:nvPr/>
            </p:nvSpPr>
            <p:spPr bwMode="auto">
              <a:xfrm>
                <a:off x="2440"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38" name="Freeform 1070"/>
              <p:cNvSpPr>
                <a:spLocks/>
              </p:cNvSpPr>
              <p:nvPr/>
            </p:nvSpPr>
            <p:spPr bwMode="auto">
              <a:xfrm>
                <a:off x="2445"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9" name="Freeform 1071"/>
              <p:cNvSpPr>
                <a:spLocks/>
              </p:cNvSpPr>
              <p:nvPr/>
            </p:nvSpPr>
            <p:spPr bwMode="auto">
              <a:xfrm>
                <a:off x="2449"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0" name="Freeform 1072"/>
              <p:cNvSpPr>
                <a:spLocks/>
              </p:cNvSpPr>
              <p:nvPr/>
            </p:nvSpPr>
            <p:spPr bwMode="auto">
              <a:xfrm>
                <a:off x="2505"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1" name="Freeform 1073"/>
              <p:cNvSpPr>
                <a:spLocks/>
              </p:cNvSpPr>
              <p:nvPr/>
            </p:nvSpPr>
            <p:spPr bwMode="auto">
              <a:xfrm>
                <a:off x="2508"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2" name="Freeform 1074"/>
              <p:cNvSpPr>
                <a:spLocks/>
              </p:cNvSpPr>
              <p:nvPr/>
            </p:nvSpPr>
            <p:spPr bwMode="auto">
              <a:xfrm>
                <a:off x="2520"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3" name="Freeform 1075"/>
              <p:cNvSpPr>
                <a:spLocks/>
              </p:cNvSpPr>
              <p:nvPr/>
            </p:nvSpPr>
            <p:spPr bwMode="auto">
              <a:xfrm>
                <a:off x="2526"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4" name="Freeform 1076"/>
              <p:cNvSpPr>
                <a:spLocks/>
              </p:cNvSpPr>
              <p:nvPr/>
            </p:nvSpPr>
            <p:spPr bwMode="auto">
              <a:xfrm>
                <a:off x="2545"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5" name="Freeform 1077"/>
              <p:cNvSpPr>
                <a:spLocks/>
              </p:cNvSpPr>
              <p:nvPr/>
            </p:nvSpPr>
            <p:spPr bwMode="auto">
              <a:xfrm>
                <a:off x="2548"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6" name="Freeform 1078"/>
              <p:cNvSpPr>
                <a:spLocks/>
              </p:cNvSpPr>
              <p:nvPr/>
            </p:nvSpPr>
            <p:spPr bwMode="auto">
              <a:xfrm>
                <a:off x="2561" y="1896"/>
                <a:ext cx="10" cy="11"/>
              </a:xfrm>
              <a:custGeom>
                <a:avLst/>
                <a:gdLst>
                  <a:gd name="T0" fmla="*/ 3 w 10"/>
                  <a:gd name="T1" fmla="*/ 0 h 11"/>
                  <a:gd name="T2" fmla="*/ 8 w 10"/>
                  <a:gd name="T3" fmla="*/ 0 h 11"/>
                  <a:gd name="T4" fmla="*/ 10 w 10"/>
                  <a:gd name="T5" fmla="*/ 2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47" name="Freeform 1079"/>
              <p:cNvSpPr>
                <a:spLocks/>
              </p:cNvSpPr>
              <p:nvPr/>
            </p:nvSpPr>
            <p:spPr bwMode="auto">
              <a:xfrm>
                <a:off x="2575" y="1896"/>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48" name="Freeform 1080"/>
              <p:cNvSpPr>
                <a:spLocks/>
              </p:cNvSpPr>
              <p:nvPr/>
            </p:nvSpPr>
            <p:spPr bwMode="auto">
              <a:xfrm>
                <a:off x="2576"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9" name="Freeform 1081"/>
              <p:cNvSpPr>
                <a:spLocks/>
              </p:cNvSpPr>
              <p:nvPr/>
            </p:nvSpPr>
            <p:spPr bwMode="auto">
              <a:xfrm>
                <a:off x="2589"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0" name="Freeform 1082"/>
              <p:cNvSpPr>
                <a:spLocks/>
              </p:cNvSpPr>
              <p:nvPr/>
            </p:nvSpPr>
            <p:spPr bwMode="auto">
              <a:xfrm>
                <a:off x="3271"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1" name="Freeform 1083"/>
              <p:cNvSpPr>
                <a:spLocks/>
              </p:cNvSpPr>
              <p:nvPr/>
            </p:nvSpPr>
            <p:spPr bwMode="auto">
              <a:xfrm>
                <a:off x="3282" y="1896"/>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2" name="Freeform 1084"/>
              <p:cNvSpPr>
                <a:spLocks/>
              </p:cNvSpPr>
              <p:nvPr/>
            </p:nvSpPr>
            <p:spPr bwMode="auto">
              <a:xfrm>
                <a:off x="3306"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3" name="Freeform 1085"/>
              <p:cNvSpPr>
                <a:spLocks/>
              </p:cNvSpPr>
              <p:nvPr/>
            </p:nvSpPr>
            <p:spPr bwMode="auto">
              <a:xfrm>
                <a:off x="3309"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4" name="Freeform 1086"/>
              <p:cNvSpPr>
                <a:spLocks/>
              </p:cNvSpPr>
              <p:nvPr/>
            </p:nvSpPr>
            <p:spPr bwMode="auto">
              <a:xfrm>
                <a:off x="3313"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55" name="Freeform 1087"/>
              <p:cNvSpPr>
                <a:spLocks/>
              </p:cNvSpPr>
              <p:nvPr/>
            </p:nvSpPr>
            <p:spPr bwMode="auto">
              <a:xfrm>
                <a:off x="3325"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6" name="Freeform 1088"/>
              <p:cNvSpPr>
                <a:spLocks/>
              </p:cNvSpPr>
              <p:nvPr/>
            </p:nvSpPr>
            <p:spPr bwMode="auto">
              <a:xfrm>
                <a:off x="3329" y="1896"/>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7" name="Freeform 1089"/>
              <p:cNvSpPr>
                <a:spLocks/>
              </p:cNvSpPr>
              <p:nvPr/>
            </p:nvSpPr>
            <p:spPr bwMode="auto">
              <a:xfrm>
                <a:off x="3350"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58" name="Freeform 1090"/>
              <p:cNvSpPr>
                <a:spLocks/>
              </p:cNvSpPr>
              <p:nvPr/>
            </p:nvSpPr>
            <p:spPr bwMode="auto">
              <a:xfrm>
                <a:off x="3545"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9" name="Freeform 1091"/>
              <p:cNvSpPr>
                <a:spLocks/>
              </p:cNvSpPr>
              <p:nvPr/>
            </p:nvSpPr>
            <p:spPr bwMode="auto">
              <a:xfrm>
                <a:off x="3549"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0" name="Freeform 1092"/>
              <p:cNvSpPr>
                <a:spLocks/>
              </p:cNvSpPr>
              <p:nvPr/>
            </p:nvSpPr>
            <p:spPr bwMode="auto">
              <a:xfrm>
                <a:off x="4207" y="1896"/>
                <a:ext cx="8" cy="11"/>
              </a:xfrm>
              <a:custGeom>
                <a:avLst/>
                <a:gdLst>
                  <a:gd name="T0" fmla="*/ 1 w 8"/>
                  <a:gd name="T1" fmla="*/ 0 h 11"/>
                  <a:gd name="T2" fmla="*/ 7 w 8"/>
                  <a:gd name="T3" fmla="*/ 0 h 11"/>
                  <a:gd name="T4" fmla="*/ 8 w 8"/>
                  <a:gd name="T5" fmla="*/ 2 h 11"/>
                  <a:gd name="T6" fmla="*/ 8 w 8"/>
                  <a:gd name="T7" fmla="*/ 9 h 11"/>
                  <a:gd name="T8" fmla="*/ 7 w 8"/>
                  <a:gd name="T9" fmla="*/ 11 h 11"/>
                  <a:gd name="T10" fmla="*/ 1 w 8"/>
                  <a:gd name="T11" fmla="*/ 11 h 11"/>
                  <a:gd name="T12" fmla="*/ 0 w 8"/>
                  <a:gd name="T13" fmla="*/ 9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9"/>
                    </a:lnTo>
                    <a:lnTo>
                      <a:pt x="7" y="11"/>
                    </a:lnTo>
                    <a:lnTo>
                      <a:pt x="1" y="11"/>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1" name="Freeform 1093"/>
              <p:cNvSpPr>
                <a:spLocks/>
              </p:cNvSpPr>
              <p:nvPr/>
            </p:nvSpPr>
            <p:spPr bwMode="auto">
              <a:xfrm>
                <a:off x="4264" y="1896"/>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2" name="Freeform 1094"/>
              <p:cNvSpPr>
                <a:spLocks/>
              </p:cNvSpPr>
              <p:nvPr/>
            </p:nvSpPr>
            <p:spPr bwMode="auto">
              <a:xfrm>
                <a:off x="4362" y="1896"/>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3" name="Freeform 1095"/>
              <p:cNvSpPr>
                <a:spLocks/>
              </p:cNvSpPr>
              <p:nvPr/>
            </p:nvSpPr>
            <p:spPr bwMode="auto">
              <a:xfrm>
                <a:off x="4500" y="1896"/>
                <a:ext cx="10" cy="11"/>
              </a:xfrm>
              <a:custGeom>
                <a:avLst/>
                <a:gdLst>
                  <a:gd name="T0" fmla="*/ 3 w 10"/>
                  <a:gd name="T1" fmla="*/ 0 h 11"/>
                  <a:gd name="T2" fmla="*/ 9 w 10"/>
                  <a:gd name="T3" fmla="*/ 0 h 11"/>
                  <a:gd name="T4" fmla="*/ 10 w 10"/>
                  <a:gd name="T5" fmla="*/ 2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64" name="Freeform 1096"/>
              <p:cNvSpPr>
                <a:spLocks/>
              </p:cNvSpPr>
              <p:nvPr/>
            </p:nvSpPr>
            <p:spPr bwMode="auto">
              <a:xfrm>
                <a:off x="4610" y="1896"/>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5" name="Freeform 1097"/>
              <p:cNvSpPr>
                <a:spLocks/>
              </p:cNvSpPr>
              <p:nvPr/>
            </p:nvSpPr>
            <p:spPr bwMode="auto">
              <a:xfrm>
                <a:off x="4627" y="1896"/>
                <a:ext cx="11" cy="11"/>
              </a:xfrm>
              <a:custGeom>
                <a:avLst/>
                <a:gdLst>
                  <a:gd name="T0" fmla="*/ 4 w 11"/>
                  <a:gd name="T1" fmla="*/ 0 h 11"/>
                  <a:gd name="T2" fmla="*/ 9 w 11"/>
                  <a:gd name="T3" fmla="*/ 0 h 11"/>
                  <a:gd name="T4" fmla="*/ 11 w 11"/>
                  <a:gd name="T5" fmla="*/ 2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6" name="Freeform 1098"/>
              <p:cNvSpPr>
                <a:spLocks/>
              </p:cNvSpPr>
              <p:nvPr/>
            </p:nvSpPr>
            <p:spPr bwMode="auto">
              <a:xfrm>
                <a:off x="4631" y="1896"/>
                <a:ext cx="9" cy="11"/>
              </a:xfrm>
              <a:custGeom>
                <a:avLst/>
                <a:gdLst>
                  <a:gd name="T0" fmla="*/ 2 w 9"/>
                  <a:gd name="T1" fmla="*/ 0 h 11"/>
                  <a:gd name="T2" fmla="*/ 7 w 9"/>
                  <a:gd name="T3" fmla="*/ 0 h 11"/>
                  <a:gd name="T4" fmla="*/ 9 w 9"/>
                  <a:gd name="T5" fmla="*/ 2 h 11"/>
                  <a:gd name="T6" fmla="*/ 9 w 9"/>
                  <a:gd name="T7" fmla="*/ 9 h 11"/>
                  <a:gd name="T8" fmla="*/ 7 w 9"/>
                  <a:gd name="T9" fmla="*/ 11 h 11"/>
                  <a:gd name="T10" fmla="*/ 2 w 9"/>
                  <a:gd name="T11" fmla="*/ 11 h 11"/>
                  <a:gd name="T12" fmla="*/ 0 w 9"/>
                  <a:gd name="T13" fmla="*/ 9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9"/>
                    </a:lnTo>
                    <a:lnTo>
                      <a:pt x="7" y="11"/>
                    </a:lnTo>
                    <a:lnTo>
                      <a:pt x="2" y="11"/>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67" name="Freeform 1099"/>
              <p:cNvSpPr>
                <a:spLocks/>
              </p:cNvSpPr>
              <p:nvPr/>
            </p:nvSpPr>
            <p:spPr bwMode="auto">
              <a:xfrm>
                <a:off x="1335"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8" name="Freeform 1100"/>
              <p:cNvSpPr>
                <a:spLocks/>
              </p:cNvSpPr>
              <p:nvPr/>
            </p:nvSpPr>
            <p:spPr bwMode="auto">
              <a:xfrm>
                <a:off x="1342"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69" name="Freeform 1101"/>
              <p:cNvSpPr>
                <a:spLocks/>
              </p:cNvSpPr>
              <p:nvPr/>
            </p:nvSpPr>
            <p:spPr bwMode="auto">
              <a:xfrm>
                <a:off x="1349"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0" name="Freeform 1102"/>
              <p:cNvSpPr>
                <a:spLocks/>
              </p:cNvSpPr>
              <p:nvPr/>
            </p:nvSpPr>
            <p:spPr bwMode="auto">
              <a:xfrm>
                <a:off x="1608"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1" name="Freeform 1103"/>
              <p:cNvSpPr>
                <a:spLocks/>
              </p:cNvSpPr>
              <p:nvPr/>
            </p:nvSpPr>
            <p:spPr bwMode="auto">
              <a:xfrm>
                <a:off x="2409" y="1856"/>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2" name="Freeform 1104"/>
              <p:cNvSpPr>
                <a:spLocks/>
              </p:cNvSpPr>
              <p:nvPr/>
            </p:nvSpPr>
            <p:spPr bwMode="auto">
              <a:xfrm>
                <a:off x="2412" y="1856"/>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3" name="Freeform 1105"/>
              <p:cNvSpPr>
                <a:spLocks/>
              </p:cNvSpPr>
              <p:nvPr/>
            </p:nvSpPr>
            <p:spPr bwMode="auto">
              <a:xfrm>
                <a:off x="2472" y="1856"/>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4" name="Freeform 1106"/>
              <p:cNvSpPr>
                <a:spLocks/>
              </p:cNvSpPr>
              <p:nvPr/>
            </p:nvSpPr>
            <p:spPr bwMode="auto">
              <a:xfrm>
                <a:off x="2550"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75" name="Freeform 1107"/>
              <p:cNvSpPr>
                <a:spLocks/>
              </p:cNvSpPr>
              <p:nvPr/>
            </p:nvSpPr>
            <p:spPr bwMode="auto">
              <a:xfrm>
                <a:off x="2561"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6" name="Freeform 1108"/>
              <p:cNvSpPr>
                <a:spLocks/>
              </p:cNvSpPr>
              <p:nvPr/>
            </p:nvSpPr>
            <p:spPr bwMode="auto">
              <a:xfrm>
                <a:off x="2566"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7" name="Freeform 1109"/>
              <p:cNvSpPr>
                <a:spLocks/>
              </p:cNvSpPr>
              <p:nvPr/>
            </p:nvSpPr>
            <p:spPr bwMode="auto">
              <a:xfrm>
                <a:off x="2573"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8" name="Freeform 1110"/>
              <p:cNvSpPr>
                <a:spLocks/>
              </p:cNvSpPr>
              <p:nvPr/>
            </p:nvSpPr>
            <p:spPr bwMode="auto">
              <a:xfrm>
                <a:off x="2601" y="1856"/>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79" name="Freeform 1111"/>
              <p:cNvSpPr>
                <a:spLocks/>
              </p:cNvSpPr>
              <p:nvPr/>
            </p:nvSpPr>
            <p:spPr bwMode="auto">
              <a:xfrm>
                <a:off x="2616"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0" name="Freeform 1112"/>
              <p:cNvSpPr>
                <a:spLocks/>
              </p:cNvSpPr>
              <p:nvPr/>
            </p:nvSpPr>
            <p:spPr bwMode="auto">
              <a:xfrm>
                <a:off x="3215"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1" name="Freeform 1113"/>
              <p:cNvSpPr>
                <a:spLocks/>
              </p:cNvSpPr>
              <p:nvPr/>
            </p:nvSpPr>
            <p:spPr bwMode="auto">
              <a:xfrm>
                <a:off x="3226"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1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82" name="Freeform 1114"/>
              <p:cNvSpPr>
                <a:spLocks/>
              </p:cNvSpPr>
              <p:nvPr/>
            </p:nvSpPr>
            <p:spPr bwMode="auto">
              <a:xfrm>
                <a:off x="3238"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83" name="Freeform 1115"/>
              <p:cNvSpPr>
                <a:spLocks/>
              </p:cNvSpPr>
              <p:nvPr/>
            </p:nvSpPr>
            <p:spPr bwMode="auto">
              <a:xfrm>
                <a:off x="3294" y="1856"/>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84" name="Freeform 1116"/>
              <p:cNvSpPr>
                <a:spLocks/>
              </p:cNvSpPr>
              <p:nvPr/>
            </p:nvSpPr>
            <p:spPr bwMode="auto">
              <a:xfrm>
                <a:off x="3297"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5" name="Freeform 1117"/>
              <p:cNvSpPr>
                <a:spLocks/>
              </p:cNvSpPr>
              <p:nvPr/>
            </p:nvSpPr>
            <p:spPr bwMode="auto">
              <a:xfrm>
                <a:off x="3315" y="1856"/>
                <a:ext cx="10" cy="11"/>
              </a:xfrm>
              <a:custGeom>
                <a:avLst/>
                <a:gdLst>
                  <a:gd name="T0" fmla="*/ 3 w 10"/>
                  <a:gd name="T1" fmla="*/ 0 h 11"/>
                  <a:gd name="T2" fmla="*/ 7 w 10"/>
                  <a:gd name="T3" fmla="*/ 0 h 11"/>
                  <a:gd name="T4" fmla="*/ 10 w 10"/>
                  <a:gd name="T5" fmla="*/ 4 h 11"/>
                  <a:gd name="T6" fmla="*/ 10 w 10"/>
                  <a:gd name="T7" fmla="*/ 9 h 11"/>
                  <a:gd name="T8" fmla="*/ 8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8"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86" name="Freeform 1118"/>
              <p:cNvSpPr>
                <a:spLocks/>
              </p:cNvSpPr>
              <p:nvPr/>
            </p:nvSpPr>
            <p:spPr bwMode="auto">
              <a:xfrm>
                <a:off x="3318"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7" name="Freeform 1119"/>
              <p:cNvSpPr>
                <a:spLocks/>
              </p:cNvSpPr>
              <p:nvPr/>
            </p:nvSpPr>
            <p:spPr bwMode="auto">
              <a:xfrm>
                <a:off x="3344"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88" name="Freeform 1120"/>
              <p:cNvSpPr>
                <a:spLocks/>
              </p:cNvSpPr>
              <p:nvPr/>
            </p:nvSpPr>
            <p:spPr bwMode="auto">
              <a:xfrm>
                <a:off x="3388"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89" name="Freeform 1121"/>
              <p:cNvSpPr>
                <a:spLocks/>
              </p:cNvSpPr>
              <p:nvPr/>
            </p:nvSpPr>
            <p:spPr bwMode="auto">
              <a:xfrm>
                <a:off x="3529"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90" name="Freeform 1122"/>
              <p:cNvSpPr>
                <a:spLocks/>
              </p:cNvSpPr>
              <p:nvPr/>
            </p:nvSpPr>
            <p:spPr bwMode="auto">
              <a:xfrm>
                <a:off x="3536" y="1856"/>
                <a:ext cx="11" cy="11"/>
              </a:xfrm>
              <a:custGeom>
                <a:avLst/>
                <a:gdLst>
                  <a:gd name="T0" fmla="*/ 4 w 11"/>
                  <a:gd name="T1" fmla="*/ 0 h 11"/>
                  <a:gd name="T2" fmla="*/ 7 w 11"/>
                  <a:gd name="T3" fmla="*/ 0 h 11"/>
                  <a:gd name="T4" fmla="*/ 11 w 11"/>
                  <a:gd name="T5" fmla="*/ 4 h 11"/>
                  <a:gd name="T6" fmla="*/ 11 w 11"/>
                  <a:gd name="T7" fmla="*/ 7 h 11"/>
                  <a:gd name="T8" fmla="*/ 7 w 11"/>
                  <a:gd name="T9" fmla="*/ 11 h 11"/>
                  <a:gd name="T10" fmla="*/ 2 w 11"/>
                  <a:gd name="T11" fmla="*/ 11 h 11"/>
                  <a:gd name="T12" fmla="*/ 0 w 11"/>
                  <a:gd name="T13" fmla="*/ 9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7"/>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91" name="Freeform 1123"/>
              <p:cNvSpPr>
                <a:spLocks/>
              </p:cNvSpPr>
              <p:nvPr/>
            </p:nvSpPr>
            <p:spPr bwMode="auto">
              <a:xfrm>
                <a:off x="3543" y="1856"/>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92" name="Freeform 1124"/>
              <p:cNvSpPr>
                <a:spLocks/>
              </p:cNvSpPr>
              <p:nvPr/>
            </p:nvSpPr>
            <p:spPr bwMode="auto">
              <a:xfrm>
                <a:off x="4329" y="1856"/>
                <a:ext cx="10" cy="11"/>
              </a:xfrm>
              <a:custGeom>
                <a:avLst/>
                <a:gdLst>
                  <a:gd name="T0" fmla="*/ 3 w 10"/>
                  <a:gd name="T1" fmla="*/ 0 h 11"/>
                  <a:gd name="T2" fmla="*/ 7 w 10"/>
                  <a:gd name="T3" fmla="*/ 0 h 11"/>
                  <a:gd name="T4" fmla="*/ 10 w 10"/>
                  <a:gd name="T5" fmla="*/ 4 h 11"/>
                  <a:gd name="T6" fmla="*/ 10 w 10"/>
                  <a:gd name="T7" fmla="*/ 7 h 11"/>
                  <a:gd name="T8" fmla="*/ 7 w 10"/>
                  <a:gd name="T9" fmla="*/ 11 h 11"/>
                  <a:gd name="T10" fmla="*/ 2 w 10"/>
                  <a:gd name="T11" fmla="*/ 11 h 11"/>
                  <a:gd name="T12" fmla="*/ 0 w 10"/>
                  <a:gd name="T13" fmla="*/ 9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7"/>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93" name="Freeform 1125"/>
              <p:cNvSpPr>
                <a:spLocks/>
              </p:cNvSpPr>
              <p:nvPr/>
            </p:nvSpPr>
            <p:spPr bwMode="auto">
              <a:xfrm>
                <a:off x="4435" y="1856"/>
                <a:ext cx="11" cy="11"/>
              </a:xfrm>
              <a:custGeom>
                <a:avLst/>
                <a:gdLst>
                  <a:gd name="T0" fmla="*/ 4 w 11"/>
                  <a:gd name="T1" fmla="*/ 0 h 11"/>
                  <a:gd name="T2" fmla="*/ 7 w 11"/>
                  <a:gd name="T3" fmla="*/ 0 h 11"/>
                  <a:gd name="T4" fmla="*/ 11 w 11"/>
                  <a:gd name="T5" fmla="*/ 4 h 11"/>
                  <a:gd name="T6" fmla="*/ 11 w 11"/>
                  <a:gd name="T7" fmla="*/ 9 h 11"/>
                  <a:gd name="T8" fmla="*/ 9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7" y="0"/>
                    </a:lnTo>
                    <a:lnTo>
                      <a:pt x="11" y="4"/>
                    </a:lnTo>
                    <a:lnTo>
                      <a:pt x="11" y="9"/>
                    </a:lnTo>
                    <a:lnTo>
                      <a:pt x="9"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94" name="Freeform 1126"/>
              <p:cNvSpPr>
                <a:spLocks/>
              </p:cNvSpPr>
              <p:nvPr/>
            </p:nvSpPr>
            <p:spPr bwMode="auto">
              <a:xfrm>
                <a:off x="4449" y="1856"/>
                <a:ext cx="9" cy="11"/>
              </a:xfrm>
              <a:custGeom>
                <a:avLst/>
                <a:gdLst>
                  <a:gd name="T0" fmla="*/ 4 w 9"/>
                  <a:gd name="T1" fmla="*/ 0 h 11"/>
                  <a:gd name="T2" fmla="*/ 6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6"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95" name="Freeform 1127"/>
              <p:cNvSpPr>
                <a:spLocks/>
              </p:cNvSpPr>
              <p:nvPr/>
            </p:nvSpPr>
            <p:spPr bwMode="auto">
              <a:xfrm>
                <a:off x="4566"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796" name="Freeform 1128"/>
              <p:cNvSpPr>
                <a:spLocks/>
              </p:cNvSpPr>
              <p:nvPr/>
            </p:nvSpPr>
            <p:spPr bwMode="auto">
              <a:xfrm>
                <a:off x="4624"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97" name="Freeform 1129"/>
              <p:cNvSpPr>
                <a:spLocks/>
              </p:cNvSpPr>
              <p:nvPr/>
            </p:nvSpPr>
            <p:spPr bwMode="auto">
              <a:xfrm>
                <a:off x="4823" y="1856"/>
                <a:ext cx="9" cy="11"/>
              </a:xfrm>
              <a:custGeom>
                <a:avLst/>
                <a:gdLst>
                  <a:gd name="T0" fmla="*/ 3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3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3" y="0"/>
                    </a:moveTo>
                    <a:lnTo>
                      <a:pt x="5" y="0"/>
                    </a:lnTo>
                    <a:lnTo>
                      <a:pt x="9" y="4"/>
                    </a:lnTo>
                    <a:lnTo>
                      <a:pt x="9" y="9"/>
                    </a:lnTo>
                    <a:lnTo>
                      <a:pt x="7" y="11"/>
                    </a:lnTo>
                    <a:lnTo>
                      <a:pt x="2"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98" name="Freeform 1130"/>
              <p:cNvSpPr>
                <a:spLocks/>
              </p:cNvSpPr>
              <p:nvPr/>
            </p:nvSpPr>
            <p:spPr bwMode="auto">
              <a:xfrm>
                <a:off x="4825" y="1856"/>
                <a:ext cx="8" cy="11"/>
              </a:xfrm>
              <a:custGeom>
                <a:avLst/>
                <a:gdLst>
                  <a:gd name="T0" fmla="*/ 3 w 8"/>
                  <a:gd name="T1" fmla="*/ 0 h 11"/>
                  <a:gd name="T2" fmla="*/ 5 w 8"/>
                  <a:gd name="T3" fmla="*/ 0 h 11"/>
                  <a:gd name="T4" fmla="*/ 8 w 8"/>
                  <a:gd name="T5" fmla="*/ 4 h 11"/>
                  <a:gd name="T6" fmla="*/ 8 w 8"/>
                  <a:gd name="T7" fmla="*/ 9 h 11"/>
                  <a:gd name="T8" fmla="*/ 7 w 8"/>
                  <a:gd name="T9" fmla="*/ 11 h 11"/>
                  <a:gd name="T10" fmla="*/ 1 w 8"/>
                  <a:gd name="T11" fmla="*/ 11 h 11"/>
                  <a:gd name="T12" fmla="*/ 0 w 8"/>
                  <a:gd name="T13" fmla="*/ 9 h 11"/>
                  <a:gd name="T14" fmla="*/ 0 w 8"/>
                  <a:gd name="T15" fmla="*/ 4 h 11"/>
                  <a:gd name="T16" fmla="*/ 3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3" y="0"/>
                    </a:moveTo>
                    <a:lnTo>
                      <a:pt x="5" y="0"/>
                    </a:lnTo>
                    <a:lnTo>
                      <a:pt x="8" y="4"/>
                    </a:lnTo>
                    <a:lnTo>
                      <a:pt x="8" y="9"/>
                    </a:lnTo>
                    <a:lnTo>
                      <a:pt x="7" y="11"/>
                    </a:lnTo>
                    <a:lnTo>
                      <a:pt x="1" y="11"/>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799" name="Freeform 1131"/>
              <p:cNvSpPr>
                <a:spLocks/>
              </p:cNvSpPr>
              <p:nvPr/>
            </p:nvSpPr>
            <p:spPr bwMode="auto">
              <a:xfrm>
                <a:off x="4884" y="1856"/>
                <a:ext cx="10" cy="11"/>
              </a:xfrm>
              <a:custGeom>
                <a:avLst/>
                <a:gdLst>
                  <a:gd name="T0" fmla="*/ 3 w 10"/>
                  <a:gd name="T1" fmla="*/ 0 h 11"/>
                  <a:gd name="T2" fmla="*/ 7 w 10"/>
                  <a:gd name="T3" fmla="*/ 0 h 11"/>
                  <a:gd name="T4" fmla="*/ 10 w 10"/>
                  <a:gd name="T5" fmla="*/ 4 h 11"/>
                  <a:gd name="T6" fmla="*/ 10 w 10"/>
                  <a:gd name="T7" fmla="*/ 9 h 11"/>
                  <a:gd name="T8" fmla="*/ 9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7" y="0"/>
                    </a:lnTo>
                    <a:lnTo>
                      <a:pt x="10" y="4"/>
                    </a:lnTo>
                    <a:lnTo>
                      <a:pt x="10" y="9"/>
                    </a:lnTo>
                    <a:lnTo>
                      <a:pt x="9"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00" name="Freeform 1132"/>
              <p:cNvSpPr>
                <a:spLocks/>
              </p:cNvSpPr>
              <p:nvPr/>
            </p:nvSpPr>
            <p:spPr bwMode="auto">
              <a:xfrm>
                <a:off x="4889" y="1856"/>
                <a:ext cx="9" cy="11"/>
              </a:xfrm>
              <a:custGeom>
                <a:avLst/>
                <a:gdLst>
                  <a:gd name="T0" fmla="*/ 4 w 9"/>
                  <a:gd name="T1" fmla="*/ 0 h 11"/>
                  <a:gd name="T2" fmla="*/ 5 w 9"/>
                  <a:gd name="T3" fmla="*/ 0 h 11"/>
                  <a:gd name="T4" fmla="*/ 9 w 9"/>
                  <a:gd name="T5" fmla="*/ 4 h 11"/>
                  <a:gd name="T6" fmla="*/ 9 w 9"/>
                  <a:gd name="T7" fmla="*/ 9 h 11"/>
                  <a:gd name="T8" fmla="*/ 7 w 9"/>
                  <a:gd name="T9" fmla="*/ 11 h 11"/>
                  <a:gd name="T10" fmla="*/ 2 w 9"/>
                  <a:gd name="T11" fmla="*/ 11 h 11"/>
                  <a:gd name="T12" fmla="*/ 0 w 9"/>
                  <a:gd name="T13" fmla="*/ 9 h 11"/>
                  <a:gd name="T14" fmla="*/ 0 w 9"/>
                  <a:gd name="T15" fmla="*/ 4 h 11"/>
                  <a:gd name="T16" fmla="*/ 4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4" y="0"/>
                    </a:moveTo>
                    <a:lnTo>
                      <a:pt x="5" y="0"/>
                    </a:lnTo>
                    <a:lnTo>
                      <a:pt x="9" y="4"/>
                    </a:lnTo>
                    <a:lnTo>
                      <a:pt x="9" y="9"/>
                    </a:lnTo>
                    <a:lnTo>
                      <a:pt x="7" y="11"/>
                    </a:lnTo>
                    <a:lnTo>
                      <a:pt x="2" y="11"/>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01" name="Freeform 1133"/>
              <p:cNvSpPr>
                <a:spLocks/>
              </p:cNvSpPr>
              <p:nvPr/>
            </p:nvSpPr>
            <p:spPr bwMode="auto">
              <a:xfrm>
                <a:off x="1028"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02" name="Freeform 1134"/>
              <p:cNvSpPr>
                <a:spLocks/>
              </p:cNvSpPr>
              <p:nvPr/>
            </p:nvSpPr>
            <p:spPr bwMode="auto">
              <a:xfrm>
                <a:off x="1304"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03" name="Freeform 1135"/>
              <p:cNvSpPr>
                <a:spLocks/>
              </p:cNvSpPr>
              <p:nvPr/>
            </p:nvSpPr>
            <p:spPr bwMode="auto">
              <a:xfrm>
                <a:off x="1318" y="1818"/>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04" name="Freeform 1136"/>
              <p:cNvSpPr>
                <a:spLocks/>
              </p:cNvSpPr>
              <p:nvPr/>
            </p:nvSpPr>
            <p:spPr bwMode="auto">
              <a:xfrm>
                <a:off x="1323"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05" name="Freeform 1137"/>
              <p:cNvSpPr>
                <a:spLocks/>
              </p:cNvSpPr>
              <p:nvPr/>
            </p:nvSpPr>
            <p:spPr bwMode="auto">
              <a:xfrm>
                <a:off x="1332" y="1818"/>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06" name="Freeform 1138"/>
              <p:cNvSpPr>
                <a:spLocks/>
              </p:cNvSpPr>
              <p:nvPr/>
            </p:nvSpPr>
            <p:spPr bwMode="auto">
              <a:xfrm>
                <a:off x="1353" y="1818"/>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07" name="Freeform 1139"/>
              <p:cNvSpPr>
                <a:spLocks/>
              </p:cNvSpPr>
              <p:nvPr/>
            </p:nvSpPr>
            <p:spPr bwMode="auto">
              <a:xfrm>
                <a:off x="1358"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08" name="Freeform 1140"/>
              <p:cNvSpPr>
                <a:spLocks/>
              </p:cNvSpPr>
              <p:nvPr/>
            </p:nvSpPr>
            <p:spPr bwMode="auto">
              <a:xfrm>
                <a:off x="1375"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09" name="Freeform 1141"/>
              <p:cNvSpPr>
                <a:spLocks/>
              </p:cNvSpPr>
              <p:nvPr/>
            </p:nvSpPr>
            <p:spPr bwMode="auto">
              <a:xfrm>
                <a:off x="1548"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10" name="Freeform 1142"/>
              <p:cNvSpPr>
                <a:spLocks/>
              </p:cNvSpPr>
              <p:nvPr/>
            </p:nvSpPr>
            <p:spPr bwMode="auto">
              <a:xfrm>
                <a:off x="1552" y="1818"/>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11" name="Freeform 1143"/>
              <p:cNvSpPr>
                <a:spLocks/>
              </p:cNvSpPr>
              <p:nvPr/>
            </p:nvSpPr>
            <p:spPr bwMode="auto">
              <a:xfrm>
                <a:off x="1557"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12" name="Freeform 1144"/>
              <p:cNvSpPr>
                <a:spLocks/>
              </p:cNvSpPr>
              <p:nvPr/>
            </p:nvSpPr>
            <p:spPr bwMode="auto">
              <a:xfrm>
                <a:off x="1560" y="181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13" name="Freeform 1145"/>
              <p:cNvSpPr>
                <a:spLocks/>
              </p:cNvSpPr>
              <p:nvPr/>
            </p:nvSpPr>
            <p:spPr bwMode="auto">
              <a:xfrm>
                <a:off x="1564"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14" name="Freeform 1146"/>
              <p:cNvSpPr>
                <a:spLocks/>
              </p:cNvSpPr>
              <p:nvPr/>
            </p:nvSpPr>
            <p:spPr bwMode="auto">
              <a:xfrm>
                <a:off x="1576" y="181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15" name="Freeform 1147"/>
              <p:cNvSpPr>
                <a:spLocks/>
              </p:cNvSpPr>
              <p:nvPr/>
            </p:nvSpPr>
            <p:spPr bwMode="auto">
              <a:xfrm>
                <a:off x="1588"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16" name="Freeform 1148"/>
              <p:cNvSpPr>
                <a:spLocks/>
              </p:cNvSpPr>
              <p:nvPr/>
            </p:nvSpPr>
            <p:spPr bwMode="auto">
              <a:xfrm>
                <a:off x="1613"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17" name="Freeform 1149"/>
              <p:cNvSpPr>
                <a:spLocks/>
              </p:cNvSpPr>
              <p:nvPr/>
            </p:nvSpPr>
            <p:spPr bwMode="auto">
              <a:xfrm>
                <a:off x="1711" y="1818"/>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18" name="Freeform 1150"/>
              <p:cNvSpPr>
                <a:spLocks/>
              </p:cNvSpPr>
              <p:nvPr/>
            </p:nvSpPr>
            <p:spPr bwMode="auto">
              <a:xfrm>
                <a:off x="1775"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19" name="Freeform 1151"/>
              <p:cNvSpPr>
                <a:spLocks/>
              </p:cNvSpPr>
              <p:nvPr/>
            </p:nvSpPr>
            <p:spPr bwMode="auto">
              <a:xfrm>
                <a:off x="2363"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20" name="Freeform 1152"/>
              <p:cNvSpPr>
                <a:spLocks/>
              </p:cNvSpPr>
              <p:nvPr/>
            </p:nvSpPr>
            <p:spPr bwMode="auto">
              <a:xfrm>
                <a:off x="2533"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21" name="Freeform 1153"/>
              <p:cNvSpPr>
                <a:spLocks/>
              </p:cNvSpPr>
              <p:nvPr/>
            </p:nvSpPr>
            <p:spPr bwMode="auto">
              <a:xfrm>
                <a:off x="2538"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22" name="Freeform 1154"/>
              <p:cNvSpPr>
                <a:spLocks/>
              </p:cNvSpPr>
              <p:nvPr/>
            </p:nvSpPr>
            <p:spPr bwMode="auto">
              <a:xfrm>
                <a:off x="2541" y="181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23" name="Freeform 1155"/>
              <p:cNvSpPr>
                <a:spLocks/>
              </p:cNvSpPr>
              <p:nvPr/>
            </p:nvSpPr>
            <p:spPr bwMode="auto">
              <a:xfrm>
                <a:off x="2545"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24" name="Freeform 1156"/>
              <p:cNvSpPr>
                <a:spLocks/>
              </p:cNvSpPr>
              <p:nvPr/>
            </p:nvSpPr>
            <p:spPr bwMode="auto">
              <a:xfrm>
                <a:off x="2615"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25" name="Freeform 1157"/>
              <p:cNvSpPr>
                <a:spLocks/>
              </p:cNvSpPr>
              <p:nvPr/>
            </p:nvSpPr>
            <p:spPr bwMode="auto">
              <a:xfrm>
                <a:off x="2623"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26" name="Freeform 1158"/>
              <p:cNvSpPr>
                <a:spLocks/>
              </p:cNvSpPr>
              <p:nvPr/>
            </p:nvSpPr>
            <p:spPr bwMode="auto">
              <a:xfrm>
                <a:off x="2629"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27" name="Freeform 1159"/>
              <p:cNvSpPr>
                <a:spLocks/>
              </p:cNvSpPr>
              <p:nvPr/>
            </p:nvSpPr>
            <p:spPr bwMode="auto">
              <a:xfrm>
                <a:off x="2636"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28" name="Freeform 1160"/>
              <p:cNvSpPr>
                <a:spLocks/>
              </p:cNvSpPr>
              <p:nvPr/>
            </p:nvSpPr>
            <p:spPr bwMode="auto">
              <a:xfrm>
                <a:off x="2887"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29" name="Freeform 1161"/>
              <p:cNvSpPr>
                <a:spLocks/>
              </p:cNvSpPr>
              <p:nvPr/>
            </p:nvSpPr>
            <p:spPr bwMode="auto">
              <a:xfrm>
                <a:off x="2978"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30" name="Freeform 1162"/>
              <p:cNvSpPr>
                <a:spLocks/>
              </p:cNvSpPr>
              <p:nvPr/>
            </p:nvSpPr>
            <p:spPr bwMode="auto">
              <a:xfrm>
                <a:off x="2992" y="1818"/>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31" name="Freeform 1163"/>
              <p:cNvSpPr>
                <a:spLocks/>
              </p:cNvSpPr>
              <p:nvPr/>
            </p:nvSpPr>
            <p:spPr bwMode="auto">
              <a:xfrm>
                <a:off x="2997"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32" name="Freeform 1164"/>
              <p:cNvSpPr>
                <a:spLocks/>
              </p:cNvSpPr>
              <p:nvPr/>
            </p:nvSpPr>
            <p:spPr bwMode="auto">
              <a:xfrm>
                <a:off x="3013"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33" name="Freeform 1165"/>
              <p:cNvSpPr>
                <a:spLocks/>
              </p:cNvSpPr>
              <p:nvPr/>
            </p:nvSpPr>
            <p:spPr bwMode="auto">
              <a:xfrm>
                <a:off x="3018" y="181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34" name="Freeform 1166"/>
              <p:cNvSpPr>
                <a:spLocks/>
              </p:cNvSpPr>
              <p:nvPr/>
            </p:nvSpPr>
            <p:spPr bwMode="auto">
              <a:xfrm>
                <a:off x="3182"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35" name="Freeform 1167"/>
              <p:cNvSpPr>
                <a:spLocks/>
              </p:cNvSpPr>
              <p:nvPr/>
            </p:nvSpPr>
            <p:spPr bwMode="auto">
              <a:xfrm>
                <a:off x="3193" y="1818"/>
                <a:ext cx="10" cy="8"/>
              </a:xfrm>
              <a:custGeom>
                <a:avLst/>
                <a:gdLst>
                  <a:gd name="T0" fmla="*/ 1 w 10"/>
                  <a:gd name="T1" fmla="*/ 0 h 8"/>
                  <a:gd name="T2" fmla="*/ 6 w 10"/>
                  <a:gd name="T3" fmla="*/ 0 h 8"/>
                  <a:gd name="T4" fmla="*/ 10 w 10"/>
                  <a:gd name="T5" fmla="*/ 3 h 8"/>
                  <a:gd name="T6" fmla="*/ 10 w 10"/>
                  <a:gd name="T7" fmla="*/ 5 h 8"/>
                  <a:gd name="T8" fmla="*/ 6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6" y="0"/>
                    </a:lnTo>
                    <a:lnTo>
                      <a:pt x="10" y="3"/>
                    </a:lnTo>
                    <a:lnTo>
                      <a:pt x="10" y="5"/>
                    </a:lnTo>
                    <a:lnTo>
                      <a:pt x="6"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36" name="Freeform 1168"/>
              <p:cNvSpPr>
                <a:spLocks/>
              </p:cNvSpPr>
              <p:nvPr/>
            </p:nvSpPr>
            <p:spPr bwMode="auto">
              <a:xfrm>
                <a:off x="3222"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37" name="Freeform 1169"/>
              <p:cNvSpPr>
                <a:spLocks/>
              </p:cNvSpPr>
              <p:nvPr/>
            </p:nvSpPr>
            <p:spPr bwMode="auto">
              <a:xfrm>
                <a:off x="3229"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38" name="Freeform 1170"/>
              <p:cNvSpPr>
                <a:spLocks/>
              </p:cNvSpPr>
              <p:nvPr/>
            </p:nvSpPr>
            <p:spPr bwMode="auto">
              <a:xfrm>
                <a:off x="3238" y="1818"/>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39" name="Freeform 1171"/>
              <p:cNvSpPr>
                <a:spLocks/>
              </p:cNvSpPr>
              <p:nvPr/>
            </p:nvSpPr>
            <p:spPr bwMode="auto">
              <a:xfrm>
                <a:off x="3278" y="181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40" name="Freeform 1172"/>
              <p:cNvSpPr>
                <a:spLocks/>
              </p:cNvSpPr>
              <p:nvPr/>
            </p:nvSpPr>
            <p:spPr bwMode="auto">
              <a:xfrm>
                <a:off x="3282" y="1818"/>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41" name="Freeform 1173"/>
              <p:cNvSpPr>
                <a:spLocks/>
              </p:cNvSpPr>
              <p:nvPr/>
            </p:nvSpPr>
            <p:spPr bwMode="auto">
              <a:xfrm>
                <a:off x="3552"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42" name="Freeform 1174"/>
              <p:cNvSpPr>
                <a:spLocks/>
              </p:cNvSpPr>
              <p:nvPr/>
            </p:nvSpPr>
            <p:spPr bwMode="auto">
              <a:xfrm>
                <a:off x="3582"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43" name="Freeform 1175"/>
              <p:cNvSpPr>
                <a:spLocks/>
              </p:cNvSpPr>
              <p:nvPr/>
            </p:nvSpPr>
            <p:spPr bwMode="auto">
              <a:xfrm>
                <a:off x="4207" y="181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44" name="Freeform 1176"/>
              <p:cNvSpPr>
                <a:spLocks/>
              </p:cNvSpPr>
              <p:nvPr/>
            </p:nvSpPr>
            <p:spPr bwMode="auto">
              <a:xfrm>
                <a:off x="4208"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45" name="Freeform 1177"/>
              <p:cNvSpPr>
                <a:spLocks/>
              </p:cNvSpPr>
              <p:nvPr/>
            </p:nvSpPr>
            <p:spPr bwMode="auto">
              <a:xfrm>
                <a:off x="4224"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46" name="Freeform 1178"/>
              <p:cNvSpPr>
                <a:spLocks/>
              </p:cNvSpPr>
              <p:nvPr/>
            </p:nvSpPr>
            <p:spPr bwMode="auto">
              <a:xfrm>
                <a:off x="4297" y="181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47" name="Freeform 1179"/>
              <p:cNvSpPr>
                <a:spLocks/>
              </p:cNvSpPr>
              <p:nvPr/>
            </p:nvSpPr>
            <p:spPr bwMode="auto">
              <a:xfrm>
                <a:off x="4379" y="181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48" name="Freeform 1180"/>
              <p:cNvSpPr>
                <a:spLocks/>
              </p:cNvSpPr>
              <p:nvPr/>
            </p:nvSpPr>
            <p:spPr bwMode="auto">
              <a:xfrm>
                <a:off x="4441"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49" name="Freeform 1181"/>
              <p:cNvSpPr>
                <a:spLocks/>
              </p:cNvSpPr>
              <p:nvPr/>
            </p:nvSpPr>
            <p:spPr bwMode="auto">
              <a:xfrm>
                <a:off x="4448" y="181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50" name="Freeform 1182"/>
              <p:cNvSpPr>
                <a:spLocks/>
              </p:cNvSpPr>
              <p:nvPr/>
            </p:nvSpPr>
            <p:spPr bwMode="auto">
              <a:xfrm>
                <a:off x="4451" y="1818"/>
                <a:ext cx="10" cy="8"/>
              </a:xfrm>
              <a:custGeom>
                <a:avLst/>
                <a:gdLst>
                  <a:gd name="T0" fmla="*/ 4 w 10"/>
                  <a:gd name="T1" fmla="*/ 0 h 8"/>
                  <a:gd name="T2" fmla="*/ 9 w 10"/>
                  <a:gd name="T3" fmla="*/ 0 h 8"/>
                  <a:gd name="T4" fmla="*/ 10 w 10"/>
                  <a:gd name="T5" fmla="*/ 1 h 8"/>
                  <a:gd name="T6" fmla="*/ 10 w 10"/>
                  <a:gd name="T7" fmla="*/ 7 h 8"/>
                  <a:gd name="T8" fmla="*/ 9 w 10"/>
                  <a:gd name="T9" fmla="*/ 8 h 8"/>
                  <a:gd name="T10" fmla="*/ 4 w 10"/>
                  <a:gd name="T11" fmla="*/ 8 h 8"/>
                  <a:gd name="T12" fmla="*/ 0 w 10"/>
                  <a:gd name="T13" fmla="*/ 5 h 8"/>
                  <a:gd name="T14" fmla="*/ 0 w 10"/>
                  <a:gd name="T15" fmla="*/ 3 h 8"/>
                  <a:gd name="T16" fmla="*/ 4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0"/>
                    </a:moveTo>
                    <a:lnTo>
                      <a:pt x="9" y="0"/>
                    </a:lnTo>
                    <a:lnTo>
                      <a:pt x="10" y="1"/>
                    </a:lnTo>
                    <a:lnTo>
                      <a:pt x="10"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51" name="Freeform 1183"/>
              <p:cNvSpPr>
                <a:spLocks/>
              </p:cNvSpPr>
              <p:nvPr/>
            </p:nvSpPr>
            <p:spPr bwMode="auto">
              <a:xfrm>
                <a:off x="4512" y="1818"/>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52" name="Freeform 1184"/>
              <p:cNvSpPr>
                <a:spLocks/>
              </p:cNvSpPr>
              <p:nvPr/>
            </p:nvSpPr>
            <p:spPr bwMode="auto">
              <a:xfrm>
                <a:off x="1569" y="177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53" name="Freeform 1185"/>
              <p:cNvSpPr>
                <a:spLocks/>
              </p:cNvSpPr>
              <p:nvPr/>
            </p:nvSpPr>
            <p:spPr bwMode="auto">
              <a:xfrm>
                <a:off x="1573" y="177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54" name="Freeform 1186"/>
              <p:cNvSpPr>
                <a:spLocks/>
              </p:cNvSpPr>
              <p:nvPr/>
            </p:nvSpPr>
            <p:spPr bwMode="auto">
              <a:xfrm>
                <a:off x="1574" y="177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55" name="Freeform 1187"/>
              <p:cNvSpPr>
                <a:spLocks/>
              </p:cNvSpPr>
              <p:nvPr/>
            </p:nvSpPr>
            <p:spPr bwMode="auto">
              <a:xfrm>
                <a:off x="1580"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56" name="Freeform 1188"/>
              <p:cNvSpPr>
                <a:spLocks/>
              </p:cNvSpPr>
              <p:nvPr/>
            </p:nvSpPr>
            <p:spPr bwMode="auto">
              <a:xfrm>
                <a:off x="2419" y="177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57" name="Freeform 1189"/>
              <p:cNvSpPr>
                <a:spLocks/>
              </p:cNvSpPr>
              <p:nvPr/>
            </p:nvSpPr>
            <p:spPr bwMode="auto">
              <a:xfrm>
                <a:off x="2520" y="177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58" name="Freeform 1190"/>
              <p:cNvSpPr>
                <a:spLocks/>
              </p:cNvSpPr>
              <p:nvPr/>
            </p:nvSpPr>
            <p:spPr bwMode="auto">
              <a:xfrm>
                <a:off x="2526"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59" name="Freeform 1191"/>
              <p:cNvSpPr>
                <a:spLocks/>
              </p:cNvSpPr>
              <p:nvPr/>
            </p:nvSpPr>
            <p:spPr bwMode="auto">
              <a:xfrm>
                <a:off x="2534" y="177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60" name="Freeform 1192"/>
              <p:cNvSpPr>
                <a:spLocks/>
              </p:cNvSpPr>
              <p:nvPr/>
            </p:nvSpPr>
            <p:spPr bwMode="auto">
              <a:xfrm>
                <a:off x="2545"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61" name="Freeform 1193"/>
              <p:cNvSpPr>
                <a:spLocks/>
              </p:cNvSpPr>
              <p:nvPr/>
            </p:nvSpPr>
            <p:spPr bwMode="auto">
              <a:xfrm>
                <a:off x="2575" y="1778"/>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62" name="Freeform 1194"/>
              <p:cNvSpPr>
                <a:spLocks/>
              </p:cNvSpPr>
              <p:nvPr/>
            </p:nvSpPr>
            <p:spPr bwMode="auto">
              <a:xfrm>
                <a:off x="2582"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63" name="Freeform 1195"/>
              <p:cNvSpPr>
                <a:spLocks/>
              </p:cNvSpPr>
              <p:nvPr/>
            </p:nvSpPr>
            <p:spPr bwMode="auto">
              <a:xfrm>
                <a:off x="2589"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64" name="Freeform 1196"/>
              <p:cNvSpPr>
                <a:spLocks/>
              </p:cNvSpPr>
              <p:nvPr/>
            </p:nvSpPr>
            <p:spPr bwMode="auto">
              <a:xfrm>
                <a:off x="2597" y="177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65" name="Freeform 1197"/>
              <p:cNvSpPr>
                <a:spLocks/>
              </p:cNvSpPr>
              <p:nvPr/>
            </p:nvSpPr>
            <p:spPr bwMode="auto">
              <a:xfrm>
                <a:off x="3262" y="1778"/>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66" name="Freeform 1198"/>
              <p:cNvSpPr>
                <a:spLocks/>
              </p:cNvSpPr>
              <p:nvPr/>
            </p:nvSpPr>
            <p:spPr bwMode="auto">
              <a:xfrm>
                <a:off x="3287" y="1778"/>
                <a:ext cx="8" cy="8"/>
              </a:xfrm>
              <a:custGeom>
                <a:avLst/>
                <a:gdLst>
                  <a:gd name="T0" fmla="*/ 2 w 8"/>
                  <a:gd name="T1" fmla="*/ 0 h 8"/>
                  <a:gd name="T2" fmla="*/ 5 w 8"/>
                  <a:gd name="T3" fmla="*/ 0 h 8"/>
                  <a:gd name="T4" fmla="*/ 8 w 8"/>
                  <a:gd name="T5" fmla="*/ 3 h 8"/>
                  <a:gd name="T6" fmla="*/ 8 w 8"/>
                  <a:gd name="T7" fmla="*/ 7 h 8"/>
                  <a:gd name="T8" fmla="*/ 7 w 8"/>
                  <a:gd name="T9" fmla="*/ 8 h 8"/>
                  <a:gd name="T10" fmla="*/ 2 w 8"/>
                  <a:gd name="T11" fmla="*/ 8 h 8"/>
                  <a:gd name="T12" fmla="*/ 0 w 8"/>
                  <a:gd name="T13" fmla="*/ 7 h 8"/>
                  <a:gd name="T14" fmla="*/ 0 w 8"/>
                  <a:gd name="T15" fmla="*/ 1 h 8"/>
                  <a:gd name="T16" fmla="*/ 2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2" y="0"/>
                    </a:moveTo>
                    <a:lnTo>
                      <a:pt x="5" y="0"/>
                    </a:lnTo>
                    <a:lnTo>
                      <a:pt x="8" y="3"/>
                    </a:lnTo>
                    <a:lnTo>
                      <a:pt x="8"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67" name="Freeform 1199"/>
              <p:cNvSpPr>
                <a:spLocks/>
              </p:cNvSpPr>
              <p:nvPr/>
            </p:nvSpPr>
            <p:spPr bwMode="auto">
              <a:xfrm>
                <a:off x="3290" y="1778"/>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68" name="Freeform 1200"/>
              <p:cNvSpPr>
                <a:spLocks/>
              </p:cNvSpPr>
              <p:nvPr/>
            </p:nvSpPr>
            <p:spPr bwMode="auto">
              <a:xfrm>
                <a:off x="3294" y="1778"/>
                <a:ext cx="8" cy="8"/>
              </a:xfrm>
              <a:custGeom>
                <a:avLst/>
                <a:gdLst>
                  <a:gd name="T0" fmla="*/ 3 w 8"/>
                  <a:gd name="T1" fmla="*/ 0 h 8"/>
                  <a:gd name="T2" fmla="*/ 7 w 8"/>
                  <a:gd name="T3" fmla="*/ 0 h 8"/>
                  <a:gd name="T4" fmla="*/ 8 w 8"/>
                  <a:gd name="T5" fmla="*/ 1 h 8"/>
                  <a:gd name="T6" fmla="*/ 8 w 8"/>
                  <a:gd name="T7" fmla="*/ 7 h 8"/>
                  <a:gd name="T8" fmla="*/ 7 w 8"/>
                  <a:gd name="T9" fmla="*/ 8 h 8"/>
                  <a:gd name="T10" fmla="*/ 1 w 8"/>
                  <a:gd name="T11" fmla="*/ 8 h 8"/>
                  <a:gd name="T12" fmla="*/ 0 w 8"/>
                  <a:gd name="T13" fmla="*/ 7 h 8"/>
                  <a:gd name="T14" fmla="*/ 0 w 8"/>
                  <a:gd name="T15" fmla="*/ 3 h 8"/>
                  <a:gd name="T16" fmla="*/ 3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3" y="0"/>
                    </a:moveTo>
                    <a:lnTo>
                      <a:pt x="7" y="0"/>
                    </a:lnTo>
                    <a:lnTo>
                      <a:pt x="8" y="1"/>
                    </a:lnTo>
                    <a:lnTo>
                      <a:pt x="8" y="7"/>
                    </a:lnTo>
                    <a:lnTo>
                      <a:pt x="7" y="8"/>
                    </a:lnTo>
                    <a:lnTo>
                      <a:pt x="1"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69" name="Freeform 1201"/>
              <p:cNvSpPr>
                <a:spLocks/>
              </p:cNvSpPr>
              <p:nvPr/>
            </p:nvSpPr>
            <p:spPr bwMode="auto">
              <a:xfrm>
                <a:off x="3304" y="1778"/>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70" name="Freeform 1202"/>
              <p:cNvSpPr>
                <a:spLocks/>
              </p:cNvSpPr>
              <p:nvPr/>
            </p:nvSpPr>
            <p:spPr bwMode="auto">
              <a:xfrm>
                <a:off x="3306"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71" name="Freeform 1203"/>
              <p:cNvSpPr>
                <a:spLocks/>
              </p:cNvSpPr>
              <p:nvPr/>
            </p:nvSpPr>
            <p:spPr bwMode="auto">
              <a:xfrm>
                <a:off x="3535" y="1778"/>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872" name="Freeform 1204"/>
              <p:cNvSpPr>
                <a:spLocks/>
              </p:cNvSpPr>
              <p:nvPr/>
            </p:nvSpPr>
            <p:spPr bwMode="auto">
              <a:xfrm>
                <a:off x="3563" y="1778"/>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73" name="Freeform 1205"/>
              <p:cNvSpPr>
                <a:spLocks/>
              </p:cNvSpPr>
              <p:nvPr/>
            </p:nvSpPr>
            <p:spPr bwMode="auto">
              <a:xfrm>
                <a:off x="4205" y="1778"/>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74" name="Freeform 1206"/>
              <p:cNvSpPr>
                <a:spLocks/>
              </p:cNvSpPr>
              <p:nvPr/>
            </p:nvSpPr>
            <p:spPr bwMode="auto">
              <a:xfrm>
                <a:off x="4219"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75" name="Freeform 1207"/>
              <p:cNvSpPr>
                <a:spLocks/>
              </p:cNvSpPr>
              <p:nvPr/>
            </p:nvSpPr>
            <p:spPr bwMode="auto">
              <a:xfrm>
                <a:off x="4278" y="1778"/>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76" name="Freeform 1208"/>
              <p:cNvSpPr>
                <a:spLocks/>
              </p:cNvSpPr>
              <p:nvPr/>
            </p:nvSpPr>
            <p:spPr bwMode="auto">
              <a:xfrm>
                <a:off x="4411" y="1778"/>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77" name="Freeform 1209"/>
              <p:cNvSpPr>
                <a:spLocks/>
              </p:cNvSpPr>
              <p:nvPr/>
            </p:nvSpPr>
            <p:spPr bwMode="auto">
              <a:xfrm>
                <a:off x="1583"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12" name="Group 1411"/>
            <p:cNvGrpSpPr>
              <a:grpSpLocks/>
            </p:cNvGrpSpPr>
            <p:nvPr/>
          </p:nvGrpSpPr>
          <p:grpSpPr bwMode="auto">
            <a:xfrm>
              <a:off x="1695455" y="2505159"/>
              <a:ext cx="6065857" cy="266709"/>
              <a:chOff x="1068" y="1578"/>
              <a:chExt cx="3821" cy="168"/>
            </a:xfrm>
          </p:grpSpPr>
          <p:sp>
            <p:nvSpPr>
              <p:cNvPr id="478" name="Freeform 1211"/>
              <p:cNvSpPr>
                <a:spLocks/>
              </p:cNvSpPr>
              <p:nvPr/>
            </p:nvSpPr>
            <p:spPr bwMode="auto">
              <a:xfrm>
                <a:off x="1587" y="1737"/>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79" name="Freeform 1212"/>
              <p:cNvSpPr>
                <a:spLocks/>
              </p:cNvSpPr>
              <p:nvPr/>
            </p:nvSpPr>
            <p:spPr bwMode="auto">
              <a:xfrm>
                <a:off x="1728" y="173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80" name="Freeform 1213"/>
              <p:cNvSpPr>
                <a:spLocks/>
              </p:cNvSpPr>
              <p:nvPr/>
            </p:nvSpPr>
            <p:spPr bwMode="auto">
              <a:xfrm>
                <a:off x="2393" y="173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81" name="Freeform 1214"/>
              <p:cNvSpPr>
                <a:spLocks/>
              </p:cNvSpPr>
              <p:nvPr/>
            </p:nvSpPr>
            <p:spPr bwMode="auto">
              <a:xfrm>
                <a:off x="2508"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82" name="Freeform 1215"/>
              <p:cNvSpPr>
                <a:spLocks/>
              </p:cNvSpPr>
              <p:nvPr/>
            </p:nvSpPr>
            <p:spPr bwMode="auto">
              <a:xfrm>
                <a:off x="2510"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83" name="Freeform 1216"/>
              <p:cNvSpPr>
                <a:spLocks/>
              </p:cNvSpPr>
              <p:nvPr/>
            </p:nvSpPr>
            <p:spPr bwMode="auto">
              <a:xfrm>
                <a:off x="2515"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84" name="Freeform 1217"/>
              <p:cNvSpPr>
                <a:spLocks/>
              </p:cNvSpPr>
              <p:nvPr/>
            </p:nvSpPr>
            <p:spPr bwMode="auto">
              <a:xfrm>
                <a:off x="2519" y="1737"/>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85" name="Freeform 1218"/>
              <p:cNvSpPr>
                <a:spLocks/>
              </p:cNvSpPr>
              <p:nvPr/>
            </p:nvSpPr>
            <p:spPr bwMode="auto">
              <a:xfrm>
                <a:off x="2533" y="1737"/>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86" name="Freeform 1219"/>
              <p:cNvSpPr>
                <a:spLocks/>
              </p:cNvSpPr>
              <p:nvPr/>
            </p:nvSpPr>
            <p:spPr bwMode="auto">
              <a:xfrm>
                <a:off x="2534"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87" name="Freeform 1220"/>
              <p:cNvSpPr>
                <a:spLocks/>
              </p:cNvSpPr>
              <p:nvPr/>
            </p:nvSpPr>
            <p:spPr bwMode="auto">
              <a:xfrm>
                <a:off x="2550"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88" name="Freeform 1221"/>
              <p:cNvSpPr>
                <a:spLocks/>
              </p:cNvSpPr>
              <p:nvPr/>
            </p:nvSpPr>
            <p:spPr bwMode="auto">
              <a:xfrm>
                <a:off x="2554" y="173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89" name="Freeform 1222"/>
              <p:cNvSpPr>
                <a:spLocks/>
              </p:cNvSpPr>
              <p:nvPr/>
            </p:nvSpPr>
            <p:spPr bwMode="auto">
              <a:xfrm>
                <a:off x="2557"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90" name="Freeform 1223"/>
              <p:cNvSpPr>
                <a:spLocks/>
              </p:cNvSpPr>
              <p:nvPr/>
            </p:nvSpPr>
            <p:spPr bwMode="auto">
              <a:xfrm>
                <a:off x="2561" y="173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91" name="Freeform 1224"/>
              <p:cNvSpPr>
                <a:spLocks/>
              </p:cNvSpPr>
              <p:nvPr/>
            </p:nvSpPr>
            <p:spPr bwMode="auto">
              <a:xfrm>
                <a:off x="2568" y="1737"/>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92" name="Freeform 1225"/>
              <p:cNvSpPr>
                <a:spLocks/>
              </p:cNvSpPr>
              <p:nvPr/>
            </p:nvSpPr>
            <p:spPr bwMode="auto">
              <a:xfrm>
                <a:off x="2569" y="1737"/>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93" name="Freeform 1226"/>
              <p:cNvSpPr>
                <a:spLocks/>
              </p:cNvSpPr>
              <p:nvPr/>
            </p:nvSpPr>
            <p:spPr bwMode="auto">
              <a:xfrm>
                <a:off x="2606"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94" name="Freeform 1227"/>
              <p:cNvSpPr>
                <a:spLocks/>
              </p:cNvSpPr>
              <p:nvPr/>
            </p:nvSpPr>
            <p:spPr bwMode="auto">
              <a:xfrm>
                <a:off x="3030"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95" name="Freeform 1228"/>
              <p:cNvSpPr>
                <a:spLocks/>
              </p:cNvSpPr>
              <p:nvPr/>
            </p:nvSpPr>
            <p:spPr bwMode="auto">
              <a:xfrm>
                <a:off x="3262"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96" name="Freeform 1229"/>
              <p:cNvSpPr>
                <a:spLocks/>
              </p:cNvSpPr>
              <p:nvPr/>
            </p:nvSpPr>
            <p:spPr bwMode="auto">
              <a:xfrm>
                <a:off x="3264"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97" name="Freeform 1230"/>
              <p:cNvSpPr>
                <a:spLocks/>
              </p:cNvSpPr>
              <p:nvPr/>
            </p:nvSpPr>
            <p:spPr bwMode="auto">
              <a:xfrm>
                <a:off x="3266" y="1737"/>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98" name="Freeform 1231"/>
              <p:cNvSpPr>
                <a:spLocks/>
              </p:cNvSpPr>
              <p:nvPr/>
            </p:nvSpPr>
            <p:spPr bwMode="auto">
              <a:xfrm>
                <a:off x="3278"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99" name="Freeform 1232"/>
              <p:cNvSpPr>
                <a:spLocks/>
              </p:cNvSpPr>
              <p:nvPr/>
            </p:nvSpPr>
            <p:spPr bwMode="auto">
              <a:xfrm>
                <a:off x="3282" y="1737"/>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00" name="Freeform 1233"/>
              <p:cNvSpPr>
                <a:spLocks/>
              </p:cNvSpPr>
              <p:nvPr/>
            </p:nvSpPr>
            <p:spPr bwMode="auto">
              <a:xfrm>
                <a:off x="3309"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01" name="Freeform 1234"/>
              <p:cNvSpPr>
                <a:spLocks/>
              </p:cNvSpPr>
              <p:nvPr/>
            </p:nvSpPr>
            <p:spPr bwMode="auto">
              <a:xfrm>
                <a:off x="3313" y="1737"/>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02" name="Freeform 1235"/>
              <p:cNvSpPr>
                <a:spLocks/>
              </p:cNvSpPr>
              <p:nvPr/>
            </p:nvSpPr>
            <p:spPr bwMode="auto">
              <a:xfrm>
                <a:off x="3498" y="1737"/>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03" name="Freeform 1236"/>
              <p:cNvSpPr>
                <a:spLocks/>
              </p:cNvSpPr>
              <p:nvPr/>
            </p:nvSpPr>
            <p:spPr bwMode="auto">
              <a:xfrm>
                <a:off x="3512" y="1737"/>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04" name="Freeform 1237"/>
              <p:cNvSpPr>
                <a:spLocks/>
              </p:cNvSpPr>
              <p:nvPr/>
            </p:nvSpPr>
            <p:spPr bwMode="auto">
              <a:xfrm>
                <a:off x="4172" y="1737"/>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05" name="Freeform 1238"/>
              <p:cNvSpPr>
                <a:spLocks/>
              </p:cNvSpPr>
              <p:nvPr/>
            </p:nvSpPr>
            <p:spPr bwMode="auto">
              <a:xfrm>
                <a:off x="4182"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06" name="Freeform 1239"/>
              <p:cNvSpPr>
                <a:spLocks/>
              </p:cNvSpPr>
              <p:nvPr/>
            </p:nvSpPr>
            <p:spPr bwMode="auto">
              <a:xfrm>
                <a:off x="4184" y="1737"/>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07" name="Freeform 1240"/>
              <p:cNvSpPr>
                <a:spLocks/>
              </p:cNvSpPr>
              <p:nvPr/>
            </p:nvSpPr>
            <p:spPr bwMode="auto">
              <a:xfrm>
                <a:off x="4208"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08" name="Freeform 1241"/>
              <p:cNvSpPr>
                <a:spLocks/>
              </p:cNvSpPr>
              <p:nvPr/>
            </p:nvSpPr>
            <p:spPr bwMode="auto">
              <a:xfrm>
                <a:off x="4210" y="1737"/>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09" name="Freeform 1242"/>
              <p:cNvSpPr>
                <a:spLocks/>
              </p:cNvSpPr>
              <p:nvPr/>
            </p:nvSpPr>
            <p:spPr bwMode="auto">
              <a:xfrm>
                <a:off x="4269" y="1737"/>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10" name="Freeform 1243"/>
              <p:cNvSpPr>
                <a:spLocks/>
              </p:cNvSpPr>
              <p:nvPr/>
            </p:nvSpPr>
            <p:spPr bwMode="auto">
              <a:xfrm>
                <a:off x="4880" y="1737"/>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11" name="Freeform 1244"/>
              <p:cNvSpPr>
                <a:spLocks/>
              </p:cNvSpPr>
              <p:nvPr/>
            </p:nvSpPr>
            <p:spPr bwMode="auto">
              <a:xfrm>
                <a:off x="1203"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12" name="Freeform 1245"/>
              <p:cNvSpPr>
                <a:spLocks/>
              </p:cNvSpPr>
              <p:nvPr/>
            </p:nvSpPr>
            <p:spPr bwMode="auto">
              <a:xfrm>
                <a:off x="1204"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13" name="Freeform 1246"/>
              <p:cNvSpPr>
                <a:spLocks/>
              </p:cNvSpPr>
              <p:nvPr/>
            </p:nvSpPr>
            <p:spPr bwMode="auto">
              <a:xfrm>
                <a:off x="1206"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14" name="Freeform 1247"/>
              <p:cNvSpPr>
                <a:spLocks/>
              </p:cNvSpPr>
              <p:nvPr/>
            </p:nvSpPr>
            <p:spPr bwMode="auto">
              <a:xfrm>
                <a:off x="1213"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15" name="Freeform 1248"/>
              <p:cNvSpPr>
                <a:spLocks/>
              </p:cNvSpPr>
              <p:nvPr/>
            </p:nvSpPr>
            <p:spPr bwMode="auto">
              <a:xfrm>
                <a:off x="1220"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16" name="Freeform 1249"/>
              <p:cNvSpPr>
                <a:spLocks/>
              </p:cNvSpPr>
              <p:nvPr/>
            </p:nvSpPr>
            <p:spPr bwMode="auto">
              <a:xfrm>
                <a:off x="1227"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17" name="Freeform 1250"/>
              <p:cNvSpPr>
                <a:spLocks/>
              </p:cNvSpPr>
              <p:nvPr/>
            </p:nvSpPr>
            <p:spPr bwMode="auto">
              <a:xfrm>
                <a:off x="1232"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18" name="Freeform 1251"/>
              <p:cNvSpPr>
                <a:spLocks/>
              </p:cNvSpPr>
              <p:nvPr/>
            </p:nvSpPr>
            <p:spPr bwMode="auto">
              <a:xfrm>
                <a:off x="1241"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19" name="Freeform 1252"/>
              <p:cNvSpPr>
                <a:spLocks/>
              </p:cNvSpPr>
              <p:nvPr/>
            </p:nvSpPr>
            <p:spPr bwMode="auto">
              <a:xfrm>
                <a:off x="1245"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20" name="Freeform 1253"/>
              <p:cNvSpPr>
                <a:spLocks/>
              </p:cNvSpPr>
              <p:nvPr/>
            </p:nvSpPr>
            <p:spPr bwMode="auto">
              <a:xfrm>
                <a:off x="1248" y="1697"/>
                <a:ext cx="10" cy="11"/>
              </a:xfrm>
              <a:custGeom>
                <a:avLst/>
                <a:gdLst>
                  <a:gd name="T0" fmla="*/ 4 w 10"/>
                  <a:gd name="T1" fmla="*/ 0 h 11"/>
                  <a:gd name="T2" fmla="*/ 9 w 10"/>
                  <a:gd name="T3" fmla="*/ 0 h 11"/>
                  <a:gd name="T4" fmla="*/ 10 w 10"/>
                  <a:gd name="T5" fmla="*/ 2 h 11"/>
                  <a:gd name="T6" fmla="*/ 10 w 10"/>
                  <a:gd name="T7" fmla="*/ 7 h 11"/>
                  <a:gd name="T8" fmla="*/ 7 w 10"/>
                  <a:gd name="T9" fmla="*/ 11 h 11"/>
                  <a:gd name="T10" fmla="*/ 4 w 10"/>
                  <a:gd name="T11" fmla="*/ 11 h 11"/>
                  <a:gd name="T12" fmla="*/ 0 w 10"/>
                  <a:gd name="T13" fmla="*/ 7 h 11"/>
                  <a:gd name="T14" fmla="*/ 0 w 10"/>
                  <a:gd name="T15" fmla="*/ 4 h 11"/>
                  <a:gd name="T16" fmla="*/ 4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4" y="0"/>
                    </a:moveTo>
                    <a:lnTo>
                      <a:pt x="9" y="0"/>
                    </a:lnTo>
                    <a:lnTo>
                      <a:pt x="10" y="2"/>
                    </a:lnTo>
                    <a:lnTo>
                      <a:pt x="10"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21" name="Freeform 1254"/>
              <p:cNvSpPr>
                <a:spLocks/>
              </p:cNvSpPr>
              <p:nvPr/>
            </p:nvSpPr>
            <p:spPr bwMode="auto">
              <a:xfrm>
                <a:off x="1252" y="1697"/>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22" name="Freeform 1255"/>
              <p:cNvSpPr>
                <a:spLocks/>
              </p:cNvSpPr>
              <p:nvPr/>
            </p:nvSpPr>
            <p:spPr bwMode="auto">
              <a:xfrm>
                <a:off x="1258"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23" name="Freeform 1256"/>
              <p:cNvSpPr>
                <a:spLocks/>
              </p:cNvSpPr>
              <p:nvPr/>
            </p:nvSpPr>
            <p:spPr bwMode="auto">
              <a:xfrm>
                <a:off x="1262"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24" name="Freeform 1257"/>
              <p:cNvSpPr>
                <a:spLocks/>
              </p:cNvSpPr>
              <p:nvPr/>
            </p:nvSpPr>
            <p:spPr bwMode="auto">
              <a:xfrm>
                <a:off x="1276"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25" name="Freeform 1258"/>
              <p:cNvSpPr>
                <a:spLocks/>
              </p:cNvSpPr>
              <p:nvPr/>
            </p:nvSpPr>
            <p:spPr bwMode="auto">
              <a:xfrm>
                <a:off x="1288"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26" name="Freeform 1259"/>
              <p:cNvSpPr>
                <a:spLocks/>
              </p:cNvSpPr>
              <p:nvPr/>
            </p:nvSpPr>
            <p:spPr bwMode="auto">
              <a:xfrm>
                <a:off x="1307"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27" name="Freeform 1260"/>
              <p:cNvSpPr>
                <a:spLocks/>
              </p:cNvSpPr>
              <p:nvPr/>
            </p:nvSpPr>
            <p:spPr bwMode="auto">
              <a:xfrm>
                <a:off x="1309"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28" name="Freeform 1261"/>
              <p:cNvSpPr>
                <a:spLocks/>
              </p:cNvSpPr>
              <p:nvPr/>
            </p:nvSpPr>
            <p:spPr bwMode="auto">
              <a:xfrm>
                <a:off x="1608"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29" name="Freeform 1262"/>
              <p:cNvSpPr>
                <a:spLocks/>
              </p:cNvSpPr>
              <p:nvPr/>
            </p:nvSpPr>
            <p:spPr bwMode="auto">
              <a:xfrm>
                <a:off x="1613"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30" name="Freeform 1263"/>
              <p:cNvSpPr>
                <a:spLocks/>
              </p:cNvSpPr>
              <p:nvPr/>
            </p:nvSpPr>
            <p:spPr bwMode="auto">
              <a:xfrm>
                <a:off x="1702"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31" name="Freeform 1264"/>
              <p:cNvSpPr>
                <a:spLocks/>
              </p:cNvSpPr>
              <p:nvPr/>
            </p:nvSpPr>
            <p:spPr bwMode="auto">
              <a:xfrm>
                <a:off x="1772"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32" name="Freeform 1265"/>
              <p:cNvSpPr>
                <a:spLocks/>
              </p:cNvSpPr>
              <p:nvPr/>
            </p:nvSpPr>
            <p:spPr bwMode="auto">
              <a:xfrm>
                <a:off x="2515"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33" name="Freeform 1266"/>
              <p:cNvSpPr>
                <a:spLocks/>
              </p:cNvSpPr>
              <p:nvPr/>
            </p:nvSpPr>
            <p:spPr bwMode="auto">
              <a:xfrm>
                <a:off x="2517"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34" name="Freeform 1267"/>
              <p:cNvSpPr>
                <a:spLocks/>
              </p:cNvSpPr>
              <p:nvPr/>
            </p:nvSpPr>
            <p:spPr bwMode="auto">
              <a:xfrm>
                <a:off x="2536"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35" name="Freeform 1268"/>
              <p:cNvSpPr>
                <a:spLocks/>
              </p:cNvSpPr>
              <p:nvPr/>
            </p:nvSpPr>
            <p:spPr bwMode="auto">
              <a:xfrm>
                <a:off x="2543"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36" name="Freeform 1269"/>
              <p:cNvSpPr>
                <a:spLocks/>
              </p:cNvSpPr>
              <p:nvPr/>
            </p:nvSpPr>
            <p:spPr bwMode="auto">
              <a:xfrm>
                <a:off x="2545"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37" name="Freeform 1270"/>
              <p:cNvSpPr>
                <a:spLocks/>
              </p:cNvSpPr>
              <p:nvPr/>
            </p:nvSpPr>
            <p:spPr bwMode="auto">
              <a:xfrm>
                <a:off x="2548"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38" name="Freeform 1271"/>
              <p:cNvSpPr>
                <a:spLocks/>
              </p:cNvSpPr>
              <p:nvPr/>
            </p:nvSpPr>
            <p:spPr bwMode="auto">
              <a:xfrm>
                <a:off x="2550"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39" name="Freeform 1272"/>
              <p:cNvSpPr>
                <a:spLocks/>
              </p:cNvSpPr>
              <p:nvPr/>
            </p:nvSpPr>
            <p:spPr bwMode="auto">
              <a:xfrm>
                <a:off x="2564"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40" name="Freeform 1273"/>
              <p:cNvSpPr>
                <a:spLocks/>
              </p:cNvSpPr>
              <p:nvPr/>
            </p:nvSpPr>
            <p:spPr bwMode="auto">
              <a:xfrm>
                <a:off x="2585"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41" name="Freeform 1274"/>
              <p:cNvSpPr>
                <a:spLocks/>
              </p:cNvSpPr>
              <p:nvPr/>
            </p:nvSpPr>
            <p:spPr bwMode="auto">
              <a:xfrm>
                <a:off x="2606"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42" name="Freeform 1275"/>
              <p:cNvSpPr>
                <a:spLocks/>
              </p:cNvSpPr>
              <p:nvPr/>
            </p:nvSpPr>
            <p:spPr bwMode="auto">
              <a:xfrm>
                <a:off x="3014"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43" name="Freeform 1276"/>
              <p:cNvSpPr>
                <a:spLocks/>
              </p:cNvSpPr>
              <p:nvPr/>
            </p:nvSpPr>
            <p:spPr bwMode="auto">
              <a:xfrm>
                <a:off x="3302"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44" name="Freeform 1277"/>
              <p:cNvSpPr>
                <a:spLocks/>
              </p:cNvSpPr>
              <p:nvPr/>
            </p:nvSpPr>
            <p:spPr bwMode="auto">
              <a:xfrm>
                <a:off x="3955"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45" name="Freeform 1278"/>
              <p:cNvSpPr>
                <a:spLocks/>
              </p:cNvSpPr>
              <p:nvPr/>
            </p:nvSpPr>
            <p:spPr bwMode="auto">
              <a:xfrm>
                <a:off x="3962"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46" name="Freeform 1279"/>
              <p:cNvSpPr>
                <a:spLocks/>
              </p:cNvSpPr>
              <p:nvPr/>
            </p:nvSpPr>
            <p:spPr bwMode="auto">
              <a:xfrm>
                <a:off x="3968" y="1697"/>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47" name="Freeform 1280"/>
              <p:cNvSpPr>
                <a:spLocks/>
              </p:cNvSpPr>
              <p:nvPr/>
            </p:nvSpPr>
            <p:spPr bwMode="auto">
              <a:xfrm>
                <a:off x="3985"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48" name="Freeform 1281"/>
              <p:cNvSpPr>
                <a:spLocks/>
              </p:cNvSpPr>
              <p:nvPr/>
            </p:nvSpPr>
            <p:spPr bwMode="auto">
              <a:xfrm>
                <a:off x="4002"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49" name="Freeform 1282"/>
              <p:cNvSpPr>
                <a:spLocks/>
              </p:cNvSpPr>
              <p:nvPr/>
            </p:nvSpPr>
            <p:spPr bwMode="auto">
              <a:xfrm>
                <a:off x="4016"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50" name="Freeform 1283"/>
              <p:cNvSpPr>
                <a:spLocks/>
              </p:cNvSpPr>
              <p:nvPr/>
            </p:nvSpPr>
            <p:spPr bwMode="auto">
              <a:xfrm>
                <a:off x="4187"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51" name="Freeform 1284"/>
              <p:cNvSpPr>
                <a:spLocks/>
              </p:cNvSpPr>
              <p:nvPr/>
            </p:nvSpPr>
            <p:spPr bwMode="auto">
              <a:xfrm>
                <a:off x="4194"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52" name="Freeform 1285"/>
              <p:cNvSpPr>
                <a:spLocks/>
              </p:cNvSpPr>
              <p:nvPr/>
            </p:nvSpPr>
            <p:spPr bwMode="auto">
              <a:xfrm>
                <a:off x="4210"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53" name="Freeform 1286"/>
              <p:cNvSpPr>
                <a:spLocks/>
              </p:cNvSpPr>
              <p:nvPr/>
            </p:nvSpPr>
            <p:spPr bwMode="auto">
              <a:xfrm>
                <a:off x="4217"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54" name="Freeform 1287"/>
              <p:cNvSpPr>
                <a:spLocks/>
              </p:cNvSpPr>
              <p:nvPr/>
            </p:nvSpPr>
            <p:spPr bwMode="auto">
              <a:xfrm>
                <a:off x="4222"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55" name="Freeform 1288"/>
              <p:cNvSpPr>
                <a:spLocks/>
              </p:cNvSpPr>
              <p:nvPr/>
            </p:nvSpPr>
            <p:spPr bwMode="auto">
              <a:xfrm>
                <a:off x="4228"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56" name="Freeform 1289"/>
              <p:cNvSpPr>
                <a:spLocks/>
              </p:cNvSpPr>
              <p:nvPr/>
            </p:nvSpPr>
            <p:spPr bwMode="auto">
              <a:xfrm>
                <a:off x="4235"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57" name="Freeform 1290"/>
              <p:cNvSpPr>
                <a:spLocks/>
              </p:cNvSpPr>
              <p:nvPr/>
            </p:nvSpPr>
            <p:spPr bwMode="auto">
              <a:xfrm>
                <a:off x="4238"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58" name="Freeform 1291"/>
              <p:cNvSpPr>
                <a:spLocks/>
              </p:cNvSpPr>
              <p:nvPr/>
            </p:nvSpPr>
            <p:spPr bwMode="auto">
              <a:xfrm>
                <a:off x="4247"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59" name="Freeform 1292"/>
              <p:cNvSpPr>
                <a:spLocks/>
              </p:cNvSpPr>
              <p:nvPr/>
            </p:nvSpPr>
            <p:spPr bwMode="auto">
              <a:xfrm>
                <a:off x="4256" y="1697"/>
                <a:ext cx="8" cy="11"/>
              </a:xfrm>
              <a:custGeom>
                <a:avLst/>
                <a:gdLst>
                  <a:gd name="T0" fmla="*/ 1 w 8"/>
                  <a:gd name="T1" fmla="*/ 0 h 11"/>
                  <a:gd name="T2" fmla="*/ 6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6"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60" name="Freeform 1293"/>
              <p:cNvSpPr>
                <a:spLocks/>
              </p:cNvSpPr>
              <p:nvPr/>
            </p:nvSpPr>
            <p:spPr bwMode="auto">
              <a:xfrm>
                <a:off x="4264"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61" name="Freeform 1294"/>
              <p:cNvSpPr>
                <a:spLocks/>
              </p:cNvSpPr>
              <p:nvPr/>
            </p:nvSpPr>
            <p:spPr bwMode="auto">
              <a:xfrm>
                <a:off x="4355"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62" name="Freeform 1295"/>
              <p:cNvSpPr>
                <a:spLocks/>
              </p:cNvSpPr>
              <p:nvPr/>
            </p:nvSpPr>
            <p:spPr bwMode="auto">
              <a:xfrm>
                <a:off x="4395" y="1697"/>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63" name="Freeform 1296"/>
              <p:cNvSpPr>
                <a:spLocks/>
              </p:cNvSpPr>
              <p:nvPr/>
            </p:nvSpPr>
            <p:spPr bwMode="auto">
              <a:xfrm>
                <a:off x="4407"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64" name="Freeform 1297"/>
              <p:cNvSpPr>
                <a:spLocks/>
              </p:cNvSpPr>
              <p:nvPr/>
            </p:nvSpPr>
            <p:spPr bwMode="auto">
              <a:xfrm>
                <a:off x="4409" y="1697"/>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65" name="Freeform 1298"/>
              <p:cNvSpPr>
                <a:spLocks/>
              </p:cNvSpPr>
              <p:nvPr/>
            </p:nvSpPr>
            <p:spPr bwMode="auto">
              <a:xfrm>
                <a:off x="4411"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66" name="Freeform 1299"/>
              <p:cNvSpPr>
                <a:spLocks/>
              </p:cNvSpPr>
              <p:nvPr/>
            </p:nvSpPr>
            <p:spPr bwMode="auto">
              <a:xfrm>
                <a:off x="4414"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67" name="Freeform 1300"/>
              <p:cNvSpPr>
                <a:spLocks/>
              </p:cNvSpPr>
              <p:nvPr/>
            </p:nvSpPr>
            <p:spPr bwMode="auto">
              <a:xfrm>
                <a:off x="4418" y="1697"/>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68" name="Freeform 1301"/>
              <p:cNvSpPr>
                <a:spLocks/>
              </p:cNvSpPr>
              <p:nvPr/>
            </p:nvSpPr>
            <p:spPr bwMode="auto">
              <a:xfrm>
                <a:off x="4547" y="1697"/>
                <a:ext cx="10" cy="11"/>
              </a:xfrm>
              <a:custGeom>
                <a:avLst/>
                <a:gdLst>
                  <a:gd name="T0" fmla="*/ 4 w 10"/>
                  <a:gd name="T1" fmla="*/ 0 h 11"/>
                  <a:gd name="T2" fmla="*/ 9 w 10"/>
                  <a:gd name="T3" fmla="*/ 0 h 11"/>
                  <a:gd name="T4" fmla="*/ 10 w 10"/>
                  <a:gd name="T5" fmla="*/ 2 h 11"/>
                  <a:gd name="T6" fmla="*/ 10 w 10"/>
                  <a:gd name="T7" fmla="*/ 7 h 11"/>
                  <a:gd name="T8" fmla="*/ 7 w 10"/>
                  <a:gd name="T9" fmla="*/ 11 h 11"/>
                  <a:gd name="T10" fmla="*/ 4 w 10"/>
                  <a:gd name="T11" fmla="*/ 11 h 11"/>
                  <a:gd name="T12" fmla="*/ 0 w 10"/>
                  <a:gd name="T13" fmla="*/ 7 h 11"/>
                  <a:gd name="T14" fmla="*/ 0 w 10"/>
                  <a:gd name="T15" fmla="*/ 4 h 11"/>
                  <a:gd name="T16" fmla="*/ 4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4" y="0"/>
                    </a:moveTo>
                    <a:lnTo>
                      <a:pt x="9" y="0"/>
                    </a:lnTo>
                    <a:lnTo>
                      <a:pt x="10" y="2"/>
                    </a:lnTo>
                    <a:lnTo>
                      <a:pt x="10"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69" name="Freeform 1302"/>
              <p:cNvSpPr>
                <a:spLocks/>
              </p:cNvSpPr>
              <p:nvPr/>
            </p:nvSpPr>
            <p:spPr bwMode="auto">
              <a:xfrm>
                <a:off x="4554" y="1697"/>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70" name="Freeform 1303"/>
              <p:cNvSpPr>
                <a:spLocks/>
              </p:cNvSpPr>
              <p:nvPr/>
            </p:nvSpPr>
            <p:spPr bwMode="auto">
              <a:xfrm>
                <a:off x="4591" y="1697"/>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71" name="Freeform 1304"/>
              <p:cNvSpPr>
                <a:spLocks/>
              </p:cNvSpPr>
              <p:nvPr/>
            </p:nvSpPr>
            <p:spPr bwMode="auto">
              <a:xfrm>
                <a:off x="4840"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72" name="Freeform 1305"/>
              <p:cNvSpPr>
                <a:spLocks/>
              </p:cNvSpPr>
              <p:nvPr/>
            </p:nvSpPr>
            <p:spPr bwMode="auto">
              <a:xfrm>
                <a:off x="4844" y="1697"/>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73" name="Freeform 1306"/>
              <p:cNvSpPr>
                <a:spLocks/>
              </p:cNvSpPr>
              <p:nvPr/>
            </p:nvSpPr>
            <p:spPr bwMode="auto">
              <a:xfrm>
                <a:off x="4854" y="1697"/>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74" name="Freeform 1307"/>
              <p:cNvSpPr>
                <a:spLocks/>
              </p:cNvSpPr>
              <p:nvPr/>
            </p:nvSpPr>
            <p:spPr bwMode="auto">
              <a:xfrm>
                <a:off x="4880" y="1697"/>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75" name="Freeform 1308"/>
              <p:cNvSpPr>
                <a:spLocks/>
              </p:cNvSpPr>
              <p:nvPr/>
            </p:nvSpPr>
            <p:spPr bwMode="auto">
              <a:xfrm>
                <a:off x="1241"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76" name="Freeform 1309"/>
              <p:cNvSpPr>
                <a:spLocks/>
              </p:cNvSpPr>
              <p:nvPr/>
            </p:nvSpPr>
            <p:spPr bwMode="auto">
              <a:xfrm>
                <a:off x="1267"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77" name="Freeform 1310"/>
              <p:cNvSpPr>
                <a:spLocks/>
              </p:cNvSpPr>
              <p:nvPr/>
            </p:nvSpPr>
            <p:spPr bwMode="auto">
              <a:xfrm>
                <a:off x="1543" y="1657"/>
                <a:ext cx="10" cy="10"/>
              </a:xfrm>
              <a:custGeom>
                <a:avLst/>
                <a:gdLst>
                  <a:gd name="T0" fmla="*/ 4 w 10"/>
                  <a:gd name="T1" fmla="*/ 0 h 10"/>
                  <a:gd name="T2" fmla="*/ 7 w 10"/>
                  <a:gd name="T3" fmla="*/ 0 h 10"/>
                  <a:gd name="T4" fmla="*/ 10 w 10"/>
                  <a:gd name="T5" fmla="*/ 4 h 10"/>
                  <a:gd name="T6" fmla="*/ 10 w 10"/>
                  <a:gd name="T7" fmla="*/ 7 h 10"/>
                  <a:gd name="T8" fmla="*/ 7 w 10"/>
                  <a:gd name="T9" fmla="*/ 10 h 10"/>
                  <a:gd name="T10" fmla="*/ 2 w 10"/>
                  <a:gd name="T11" fmla="*/ 10 h 10"/>
                  <a:gd name="T12" fmla="*/ 0 w 10"/>
                  <a:gd name="T13" fmla="*/ 9 h 10"/>
                  <a:gd name="T14" fmla="*/ 0 w 10"/>
                  <a:gd name="T15" fmla="*/ 4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7" y="0"/>
                    </a:lnTo>
                    <a:lnTo>
                      <a:pt x="10" y="4"/>
                    </a:lnTo>
                    <a:lnTo>
                      <a:pt x="10"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78" name="Freeform 1311"/>
              <p:cNvSpPr>
                <a:spLocks/>
              </p:cNvSpPr>
              <p:nvPr/>
            </p:nvSpPr>
            <p:spPr bwMode="auto">
              <a:xfrm>
                <a:off x="1547" y="1657"/>
                <a:ext cx="8" cy="10"/>
              </a:xfrm>
              <a:custGeom>
                <a:avLst/>
                <a:gdLst>
                  <a:gd name="T0" fmla="*/ 3 w 8"/>
                  <a:gd name="T1" fmla="*/ 0 h 10"/>
                  <a:gd name="T2" fmla="*/ 5 w 8"/>
                  <a:gd name="T3" fmla="*/ 0 h 10"/>
                  <a:gd name="T4" fmla="*/ 8 w 8"/>
                  <a:gd name="T5" fmla="*/ 4 h 10"/>
                  <a:gd name="T6" fmla="*/ 8 w 8"/>
                  <a:gd name="T7" fmla="*/ 9 h 10"/>
                  <a:gd name="T8" fmla="*/ 6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6"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79" name="Freeform 1312"/>
              <p:cNvSpPr>
                <a:spLocks/>
              </p:cNvSpPr>
              <p:nvPr/>
            </p:nvSpPr>
            <p:spPr bwMode="auto">
              <a:xfrm>
                <a:off x="1552"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80" name="Freeform 1313"/>
              <p:cNvSpPr>
                <a:spLocks/>
              </p:cNvSpPr>
              <p:nvPr/>
            </p:nvSpPr>
            <p:spPr bwMode="auto">
              <a:xfrm>
                <a:off x="1566"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81" name="Freeform 1314"/>
              <p:cNvSpPr>
                <a:spLocks/>
              </p:cNvSpPr>
              <p:nvPr/>
            </p:nvSpPr>
            <p:spPr bwMode="auto">
              <a:xfrm>
                <a:off x="1707"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82" name="Freeform 1315"/>
              <p:cNvSpPr>
                <a:spLocks/>
              </p:cNvSpPr>
              <p:nvPr/>
            </p:nvSpPr>
            <p:spPr bwMode="auto">
              <a:xfrm>
                <a:off x="1709" y="1657"/>
                <a:ext cx="9" cy="10"/>
              </a:xfrm>
              <a:custGeom>
                <a:avLst/>
                <a:gdLst>
                  <a:gd name="T0" fmla="*/ 3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4"/>
                    </a:lnTo>
                    <a:lnTo>
                      <a:pt x="9"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83" name="Freeform 1316"/>
              <p:cNvSpPr>
                <a:spLocks/>
              </p:cNvSpPr>
              <p:nvPr/>
            </p:nvSpPr>
            <p:spPr bwMode="auto">
              <a:xfrm>
                <a:off x="1728"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84" name="Freeform 1317"/>
              <p:cNvSpPr>
                <a:spLocks/>
              </p:cNvSpPr>
              <p:nvPr/>
            </p:nvSpPr>
            <p:spPr bwMode="auto">
              <a:xfrm>
                <a:off x="1957"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85" name="Freeform 1318"/>
              <p:cNvSpPr>
                <a:spLocks/>
              </p:cNvSpPr>
              <p:nvPr/>
            </p:nvSpPr>
            <p:spPr bwMode="auto">
              <a:xfrm>
                <a:off x="1969"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86" name="Freeform 1319"/>
              <p:cNvSpPr>
                <a:spLocks/>
              </p:cNvSpPr>
              <p:nvPr/>
            </p:nvSpPr>
            <p:spPr bwMode="auto">
              <a:xfrm>
                <a:off x="2070"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87" name="Freeform 1320"/>
              <p:cNvSpPr>
                <a:spLocks/>
              </p:cNvSpPr>
              <p:nvPr/>
            </p:nvSpPr>
            <p:spPr bwMode="auto">
              <a:xfrm>
                <a:off x="2365"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88" name="Freeform 1321"/>
              <p:cNvSpPr>
                <a:spLocks/>
              </p:cNvSpPr>
              <p:nvPr/>
            </p:nvSpPr>
            <p:spPr bwMode="auto">
              <a:xfrm>
                <a:off x="2369"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89" name="Freeform 1322"/>
              <p:cNvSpPr>
                <a:spLocks/>
              </p:cNvSpPr>
              <p:nvPr/>
            </p:nvSpPr>
            <p:spPr bwMode="auto">
              <a:xfrm>
                <a:off x="2376" y="1657"/>
                <a:ext cx="10" cy="10"/>
              </a:xfrm>
              <a:custGeom>
                <a:avLst/>
                <a:gdLst>
                  <a:gd name="T0" fmla="*/ 3 w 10"/>
                  <a:gd name="T1" fmla="*/ 0 h 10"/>
                  <a:gd name="T2" fmla="*/ 7 w 10"/>
                  <a:gd name="T3" fmla="*/ 0 h 10"/>
                  <a:gd name="T4" fmla="*/ 10 w 10"/>
                  <a:gd name="T5" fmla="*/ 4 h 10"/>
                  <a:gd name="T6" fmla="*/ 10 w 10"/>
                  <a:gd name="T7" fmla="*/ 7 h 10"/>
                  <a:gd name="T8" fmla="*/ 7 w 10"/>
                  <a:gd name="T9" fmla="*/ 10 h 10"/>
                  <a:gd name="T10" fmla="*/ 1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7"/>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90" name="Freeform 1323"/>
              <p:cNvSpPr>
                <a:spLocks/>
              </p:cNvSpPr>
              <p:nvPr/>
            </p:nvSpPr>
            <p:spPr bwMode="auto">
              <a:xfrm>
                <a:off x="2510"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91" name="Freeform 1324"/>
              <p:cNvSpPr>
                <a:spLocks/>
              </p:cNvSpPr>
              <p:nvPr/>
            </p:nvSpPr>
            <p:spPr bwMode="auto">
              <a:xfrm>
                <a:off x="2536"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92" name="Freeform 1325"/>
              <p:cNvSpPr>
                <a:spLocks/>
              </p:cNvSpPr>
              <p:nvPr/>
            </p:nvSpPr>
            <p:spPr bwMode="auto">
              <a:xfrm>
                <a:off x="2554"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93" name="Freeform 1326"/>
              <p:cNvSpPr>
                <a:spLocks/>
              </p:cNvSpPr>
              <p:nvPr/>
            </p:nvSpPr>
            <p:spPr bwMode="auto">
              <a:xfrm>
                <a:off x="2569"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94" name="Freeform 1327"/>
              <p:cNvSpPr>
                <a:spLocks/>
              </p:cNvSpPr>
              <p:nvPr/>
            </p:nvSpPr>
            <p:spPr bwMode="auto">
              <a:xfrm>
                <a:off x="2802" y="1657"/>
                <a:ext cx="10" cy="10"/>
              </a:xfrm>
              <a:custGeom>
                <a:avLst/>
                <a:gdLst>
                  <a:gd name="T0" fmla="*/ 3 w 10"/>
                  <a:gd name="T1" fmla="*/ 0 h 10"/>
                  <a:gd name="T2" fmla="*/ 6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6"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95" name="Freeform 1328"/>
              <p:cNvSpPr>
                <a:spLocks/>
              </p:cNvSpPr>
              <p:nvPr/>
            </p:nvSpPr>
            <p:spPr bwMode="auto">
              <a:xfrm>
                <a:off x="3201"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96" name="Freeform 1329"/>
              <p:cNvSpPr>
                <a:spLocks/>
              </p:cNvSpPr>
              <p:nvPr/>
            </p:nvSpPr>
            <p:spPr bwMode="auto">
              <a:xfrm>
                <a:off x="3245" y="1657"/>
                <a:ext cx="9" cy="10"/>
              </a:xfrm>
              <a:custGeom>
                <a:avLst/>
                <a:gdLst>
                  <a:gd name="T0" fmla="*/ 3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4"/>
                    </a:lnTo>
                    <a:lnTo>
                      <a:pt x="9"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97" name="Freeform 1330"/>
              <p:cNvSpPr>
                <a:spLocks/>
              </p:cNvSpPr>
              <p:nvPr/>
            </p:nvSpPr>
            <p:spPr bwMode="auto">
              <a:xfrm>
                <a:off x="3280" y="1657"/>
                <a:ext cx="10" cy="10"/>
              </a:xfrm>
              <a:custGeom>
                <a:avLst/>
                <a:gdLst>
                  <a:gd name="T0" fmla="*/ 3 w 10"/>
                  <a:gd name="T1" fmla="*/ 0 h 10"/>
                  <a:gd name="T2" fmla="*/ 7 w 10"/>
                  <a:gd name="T3" fmla="*/ 0 h 10"/>
                  <a:gd name="T4" fmla="*/ 10 w 10"/>
                  <a:gd name="T5" fmla="*/ 4 h 10"/>
                  <a:gd name="T6" fmla="*/ 10 w 10"/>
                  <a:gd name="T7" fmla="*/ 7 h 10"/>
                  <a:gd name="T8" fmla="*/ 7 w 10"/>
                  <a:gd name="T9" fmla="*/ 10 h 10"/>
                  <a:gd name="T10" fmla="*/ 2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7"/>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98" name="Freeform 1331"/>
              <p:cNvSpPr>
                <a:spLocks/>
              </p:cNvSpPr>
              <p:nvPr/>
            </p:nvSpPr>
            <p:spPr bwMode="auto">
              <a:xfrm>
                <a:off x="3285"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99" name="Freeform 1332"/>
              <p:cNvSpPr>
                <a:spLocks/>
              </p:cNvSpPr>
              <p:nvPr/>
            </p:nvSpPr>
            <p:spPr bwMode="auto">
              <a:xfrm>
                <a:off x="3287"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2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00" name="Freeform 1333"/>
              <p:cNvSpPr>
                <a:spLocks/>
              </p:cNvSpPr>
              <p:nvPr/>
            </p:nvSpPr>
            <p:spPr bwMode="auto">
              <a:xfrm>
                <a:off x="3311"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01" name="Freeform 1334"/>
              <p:cNvSpPr>
                <a:spLocks/>
              </p:cNvSpPr>
              <p:nvPr/>
            </p:nvSpPr>
            <p:spPr bwMode="auto">
              <a:xfrm>
                <a:off x="3315"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02" name="Freeform 1335"/>
              <p:cNvSpPr>
                <a:spLocks/>
              </p:cNvSpPr>
              <p:nvPr/>
            </p:nvSpPr>
            <p:spPr bwMode="auto">
              <a:xfrm>
                <a:off x="3501" y="1657"/>
                <a:ext cx="9" cy="10"/>
              </a:xfrm>
              <a:custGeom>
                <a:avLst/>
                <a:gdLst>
                  <a:gd name="T0" fmla="*/ 4 w 9"/>
                  <a:gd name="T1" fmla="*/ 0 h 10"/>
                  <a:gd name="T2" fmla="*/ 6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03" name="Freeform 1336"/>
              <p:cNvSpPr>
                <a:spLocks/>
              </p:cNvSpPr>
              <p:nvPr/>
            </p:nvSpPr>
            <p:spPr bwMode="auto">
              <a:xfrm>
                <a:off x="3505" y="1657"/>
                <a:ext cx="10" cy="10"/>
              </a:xfrm>
              <a:custGeom>
                <a:avLst/>
                <a:gdLst>
                  <a:gd name="T0" fmla="*/ 3 w 10"/>
                  <a:gd name="T1" fmla="*/ 0 h 10"/>
                  <a:gd name="T2" fmla="*/ 7 w 10"/>
                  <a:gd name="T3" fmla="*/ 0 h 10"/>
                  <a:gd name="T4" fmla="*/ 10 w 10"/>
                  <a:gd name="T5" fmla="*/ 4 h 10"/>
                  <a:gd name="T6" fmla="*/ 10 w 10"/>
                  <a:gd name="T7" fmla="*/ 7 h 10"/>
                  <a:gd name="T8" fmla="*/ 7 w 10"/>
                  <a:gd name="T9" fmla="*/ 10 h 10"/>
                  <a:gd name="T10" fmla="*/ 2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7"/>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04" name="Freeform 1337"/>
              <p:cNvSpPr>
                <a:spLocks/>
              </p:cNvSpPr>
              <p:nvPr/>
            </p:nvSpPr>
            <p:spPr bwMode="auto">
              <a:xfrm>
                <a:off x="3519" y="1657"/>
                <a:ext cx="9" cy="10"/>
              </a:xfrm>
              <a:custGeom>
                <a:avLst/>
                <a:gdLst>
                  <a:gd name="T0" fmla="*/ 3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4"/>
                    </a:lnTo>
                    <a:lnTo>
                      <a:pt x="9" y="9"/>
                    </a:lnTo>
                    <a:lnTo>
                      <a:pt x="7"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05" name="Freeform 1338"/>
              <p:cNvSpPr>
                <a:spLocks/>
              </p:cNvSpPr>
              <p:nvPr/>
            </p:nvSpPr>
            <p:spPr bwMode="auto">
              <a:xfrm>
                <a:off x="3559"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06" name="Freeform 1339"/>
              <p:cNvSpPr>
                <a:spLocks/>
              </p:cNvSpPr>
              <p:nvPr/>
            </p:nvSpPr>
            <p:spPr bwMode="auto">
              <a:xfrm>
                <a:off x="4121"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07" name="Freeform 1340"/>
              <p:cNvSpPr>
                <a:spLocks/>
              </p:cNvSpPr>
              <p:nvPr/>
            </p:nvSpPr>
            <p:spPr bwMode="auto">
              <a:xfrm>
                <a:off x="4123"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08" name="Freeform 1341"/>
              <p:cNvSpPr>
                <a:spLocks/>
              </p:cNvSpPr>
              <p:nvPr/>
            </p:nvSpPr>
            <p:spPr bwMode="auto">
              <a:xfrm>
                <a:off x="4200"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09" name="Freeform 1342"/>
              <p:cNvSpPr>
                <a:spLocks/>
              </p:cNvSpPr>
              <p:nvPr/>
            </p:nvSpPr>
            <p:spPr bwMode="auto">
              <a:xfrm>
                <a:off x="4219"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10" name="Freeform 1343"/>
              <p:cNvSpPr>
                <a:spLocks/>
              </p:cNvSpPr>
              <p:nvPr/>
            </p:nvSpPr>
            <p:spPr bwMode="auto">
              <a:xfrm>
                <a:off x="4304"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11" name="Freeform 1344"/>
              <p:cNvSpPr>
                <a:spLocks/>
              </p:cNvSpPr>
              <p:nvPr/>
            </p:nvSpPr>
            <p:spPr bwMode="auto">
              <a:xfrm>
                <a:off x="4313" y="1657"/>
                <a:ext cx="11" cy="10"/>
              </a:xfrm>
              <a:custGeom>
                <a:avLst/>
                <a:gdLst>
                  <a:gd name="T0" fmla="*/ 4 w 11"/>
                  <a:gd name="T1" fmla="*/ 0 h 10"/>
                  <a:gd name="T2" fmla="*/ 7 w 11"/>
                  <a:gd name="T3" fmla="*/ 0 h 10"/>
                  <a:gd name="T4" fmla="*/ 11 w 11"/>
                  <a:gd name="T5" fmla="*/ 4 h 10"/>
                  <a:gd name="T6" fmla="*/ 11 w 11"/>
                  <a:gd name="T7" fmla="*/ 7 h 10"/>
                  <a:gd name="T8" fmla="*/ 7 w 11"/>
                  <a:gd name="T9" fmla="*/ 10 h 10"/>
                  <a:gd name="T10" fmla="*/ 2 w 11"/>
                  <a:gd name="T11" fmla="*/ 10 h 10"/>
                  <a:gd name="T12" fmla="*/ 0 w 11"/>
                  <a:gd name="T13" fmla="*/ 9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7"/>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12" name="Freeform 1345"/>
              <p:cNvSpPr>
                <a:spLocks/>
              </p:cNvSpPr>
              <p:nvPr/>
            </p:nvSpPr>
            <p:spPr bwMode="auto">
              <a:xfrm>
                <a:off x="4441"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13" name="Freeform 1346"/>
              <p:cNvSpPr>
                <a:spLocks/>
              </p:cNvSpPr>
              <p:nvPr/>
            </p:nvSpPr>
            <p:spPr bwMode="auto">
              <a:xfrm>
                <a:off x="4448"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14" name="Freeform 1347"/>
              <p:cNvSpPr>
                <a:spLocks/>
              </p:cNvSpPr>
              <p:nvPr/>
            </p:nvSpPr>
            <p:spPr bwMode="auto">
              <a:xfrm>
                <a:off x="4451" y="1657"/>
                <a:ext cx="10" cy="10"/>
              </a:xfrm>
              <a:custGeom>
                <a:avLst/>
                <a:gdLst>
                  <a:gd name="T0" fmla="*/ 4 w 10"/>
                  <a:gd name="T1" fmla="*/ 0 h 10"/>
                  <a:gd name="T2" fmla="*/ 7 w 10"/>
                  <a:gd name="T3" fmla="*/ 0 h 10"/>
                  <a:gd name="T4" fmla="*/ 10 w 10"/>
                  <a:gd name="T5" fmla="*/ 4 h 10"/>
                  <a:gd name="T6" fmla="*/ 10 w 10"/>
                  <a:gd name="T7" fmla="*/ 9 h 10"/>
                  <a:gd name="T8" fmla="*/ 9 w 10"/>
                  <a:gd name="T9" fmla="*/ 10 h 10"/>
                  <a:gd name="T10" fmla="*/ 4 w 10"/>
                  <a:gd name="T11" fmla="*/ 10 h 10"/>
                  <a:gd name="T12" fmla="*/ 0 w 10"/>
                  <a:gd name="T13" fmla="*/ 7 h 10"/>
                  <a:gd name="T14" fmla="*/ 0 w 10"/>
                  <a:gd name="T15" fmla="*/ 4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7" y="0"/>
                    </a:lnTo>
                    <a:lnTo>
                      <a:pt x="10" y="4"/>
                    </a:lnTo>
                    <a:lnTo>
                      <a:pt x="10"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15" name="Freeform 1348"/>
              <p:cNvSpPr>
                <a:spLocks/>
              </p:cNvSpPr>
              <p:nvPr/>
            </p:nvSpPr>
            <p:spPr bwMode="auto">
              <a:xfrm>
                <a:off x="4458"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2 w 10"/>
                  <a:gd name="T11" fmla="*/ 10 h 10"/>
                  <a:gd name="T12" fmla="*/ 0 w 10"/>
                  <a:gd name="T13" fmla="*/ 9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2"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16" name="Freeform 1349"/>
              <p:cNvSpPr>
                <a:spLocks/>
              </p:cNvSpPr>
              <p:nvPr/>
            </p:nvSpPr>
            <p:spPr bwMode="auto">
              <a:xfrm>
                <a:off x="4460" y="1657"/>
                <a:ext cx="10" cy="10"/>
              </a:xfrm>
              <a:custGeom>
                <a:avLst/>
                <a:gdLst>
                  <a:gd name="T0" fmla="*/ 3 w 10"/>
                  <a:gd name="T1" fmla="*/ 0 h 10"/>
                  <a:gd name="T2" fmla="*/ 7 w 10"/>
                  <a:gd name="T3" fmla="*/ 0 h 10"/>
                  <a:gd name="T4" fmla="*/ 10 w 10"/>
                  <a:gd name="T5" fmla="*/ 4 h 10"/>
                  <a:gd name="T6" fmla="*/ 10 w 10"/>
                  <a:gd name="T7" fmla="*/ 9 h 10"/>
                  <a:gd name="T8" fmla="*/ 8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8"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17" name="Freeform 1350"/>
              <p:cNvSpPr>
                <a:spLocks/>
              </p:cNvSpPr>
              <p:nvPr/>
            </p:nvSpPr>
            <p:spPr bwMode="auto">
              <a:xfrm>
                <a:off x="4463"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18" name="Freeform 1351"/>
              <p:cNvSpPr>
                <a:spLocks/>
              </p:cNvSpPr>
              <p:nvPr/>
            </p:nvSpPr>
            <p:spPr bwMode="auto">
              <a:xfrm>
                <a:off x="4495" y="1657"/>
                <a:ext cx="8" cy="10"/>
              </a:xfrm>
              <a:custGeom>
                <a:avLst/>
                <a:gdLst>
                  <a:gd name="T0" fmla="*/ 3 w 8"/>
                  <a:gd name="T1" fmla="*/ 0 h 10"/>
                  <a:gd name="T2" fmla="*/ 5 w 8"/>
                  <a:gd name="T3" fmla="*/ 0 h 10"/>
                  <a:gd name="T4" fmla="*/ 8 w 8"/>
                  <a:gd name="T5" fmla="*/ 4 h 10"/>
                  <a:gd name="T6" fmla="*/ 8 w 8"/>
                  <a:gd name="T7" fmla="*/ 9 h 10"/>
                  <a:gd name="T8" fmla="*/ 7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7"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19" name="Freeform 1352"/>
              <p:cNvSpPr>
                <a:spLocks/>
              </p:cNvSpPr>
              <p:nvPr/>
            </p:nvSpPr>
            <p:spPr bwMode="auto">
              <a:xfrm>
                <a:off x="4498" y="1657"/>
                <a:ext cx="11" cy="10"/>
              </a:xfrm>
              <a:custGeom>
                <a:avLst/>
                <a:gdLst>
                  <a:gd name="T0" fmla="*/ 4 w 11"/>
                  <a:gd name="T1" fmla="*/ 0 h 10"/>
                  <a:gd name="T2" fmla="*/ 7 w 11"/>
                  <a:gd name="T3" fmla="*/ 0 h 10"/>
                  <a:gd name="T4" fmla="*/ 11 w 11"/>
                  <a:gd name="T5" fmla="*/ 4 h 10"/>
                  <a:gd name="T6" fmla="*/ 11 w 11"/>
                  <a:gd name="T7" fmla="*/ 9 h 10"/>
                  <a:gd name="T8" fmla="*/ 9 w 11"/>
                  <a:gd name="T9" fmla="*/ 10 h 10"/>
                  <a:gd name="T10" fmla="*/ 4 w 11"/>
                  <a:gd name="T11" fmla="*/ 10 h 10"/>
                  <a:gd name="T12" fmla="*/ 0 w 11"/>
                  <a:gd name="T13" fmla="*/ 7 h 10"/>
                  <a:gd name="T14" fmla="*/ 0 w 11"/>
                  <a:gd name="T15" fmla="*/ 4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4"/>
                    </a:lnTo>
                    <a:lnTo>
                      <a:pt x="11" y="9"/>
                    </a:lnTo>
                    <a:lnTo>
                      <a:pt x="9" y="10"/>
                    </a:lnTo>
                    <a:lnTo>
                      <a:pt x="4" y="10"/>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20" name="Freeform 1353"/>
              <p:cNvSpPr>
                <a:spLocks/>
              </p:cNvSpPr>
              <p:nvPr/>
            </p:nvSpPr>
            <p:spPr bwMode="auto">
              <a:xfrm>
                <a:off x="4500"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21" name="Freeform 1354"/>
              <p:cNvSpPr>
                <a:spLocks/>
              </p:cNvSpPr>
              <p:nvPr/>
            </p:nvSpPr>
            <p:spPr bwMode="auto">
              <a:xfrm>
                <a:off x="4551" y="1657"/>
                <a:ext cx="8" cy="10"/>
              </a:xfrm>
              <a:custGeom>
                <a:avLst/>
                <a:gdLst>
                  <a:gd name="T0" fmla="*/ 3 w 8"/>
                  <a:gd name="T1" fmla="*/ 0 h 10"/>
                  <a:gd name="T2" fmla="*/ 5 w 8"/>
                  <a:gd name="T3" fmla="*/ 0 h 10"/>
                  <a:gd name="T4" fmla="*/ 8 w 8"/>
                  <a:gd name="T5" fmla="*/ 4 h 10"/>
                  <a:gd name="T6" fmla="*/ 8 w 8"/>
                  <a:gd name="T7" fmla="*/ 9 h 10"/>
                  <a:gd name="T8" fmla="*/ 6 w 8"/>
                  <a:gd name="T9" fmla="*/ 10 h 10"/>
                  <a:gd name="T10" fmla="*/ 1 w 8"/>
                  <a:gd name="T11" fmla="*/ 10 h 10"/>
                  <a:gd name="T12" fmla="*/ 0 w 8"/>
                  <a:gd name="T13" fmla="*/ 9 h 10"/>
                  <a:gd name="T14" fmla="*/ 0 w 8"/>
                  <a:gd name="T15" fmla="*/ 4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4"/>
                    </a:lnTo>
                    <a:lnTo>
                      <a:pt x="8" y="9"/>
                    </a:lnTo>
                    <a:lnTo>
                      <a:pt x="6" y="10"/>
                    </a:lnTo>
                    <a:lnTo>
                      <a:pt x="1" y="10"/>
                    </a:lnTo>
                    <a:lnTo>
                      <a:pt x="0" y="9"/>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22" name="Freeform 1355"/>
              <p:cNvSpPr>
                <a:spLocks/>
              </p:cNvSpPr>
              <p:nvPr/>
            </p:nvSpPr>
            <p:spPr bwMode="auto">
              <a:xfrm>
                <a:off x="4554" y="1657"/>
                <a:ext cx="10" cy="10"/>
              </a:xfrm>
              <a:custGeom>
                <a:avLst/>
                <a:gdLst>
                  <a:gd name="T0" fmla="*/ 3 w 10"/>
                  <a:gd name="T1" fmla="*/ 0 h 10"/>
                  <a:gd name="T2" fmla="*/ 7 w 10"/>
                  <a:gd name="T3" fmla="*/ 0 h 10"/>
                  <a:gd name="T4" fmla="*/ 10 w 10"/>
                  <a:gd name="T5" fmla="*/ 4 h 10"/>
                  <a:gd name="T6" fmla="*/ 10 w 10"/>
                  <a:gd name="T7" fmla="*/ 9 h 10"/>
                  <a:gd name="T8" fmla="*/ 9 w 10"/>
                  <a:gd name="T9" fmla="*/ 10 h 10"/>
                  <a:gd name="T10" fmla="*/ 3 w 10"/>
                  <a:gd name="T11" fmla="*/ 10 h 10"/>
                  <a:gd name="T12" fmla="*/ 0 w 10"/>
                  <a:gd name="T13" fmla="*/ 7 h 10"/>
                  <a:gd name="T14" fmla="*/ 0 w 10"/>
                  <a:gd name="T15" fmla="*/ 4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4"/>
                    </a:lnTo>
                    <a:lnTo>
                      <a:pt x="10" y="9"/>
                    </a:lnTo>
                    <a:lnTo>
                      <a:pt x="9" y="10"/>
                    </a:lnTo>
                    <a:lnTo>
                      <a:pt x="3" y="10"/>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23" name="Freeform 1356"/>
              <p:cNvSpPr>
                <a:spLocks/>
              </p:cNvSpPr>
              <p:nvPr/>
            </p:nvSpPr>
            <p:spPr bwMode="auto">
              <a:xfrm>
                <a:off x="4559" y="1657"/>
                <a:ext cx="9" cy="10"/>
              </a:xfrm>
              <a:custGeom>
                <a:avLst/>
                <a:gdLst>
                  <a:gd name="T0" fmla="*/ 4 w 9"/>
                  <a:gd name="T1" fmla="*/ 0 h 10"/>
                  <a:gd name="T2" fmla="*/ 5 w 9"/>
                  <a:gd name="T3" fmla="*/ 0 h 10"/>
                  <a:gd name="T4" fmla="*/ 9 w 9"/>
                  <a:gd name="T5" fmla="*/ 4 h 10"/>
                  <a:gd name="T6" fmla="*/ 9 w 9"/>
                  <a:gd name="T7" fmla="*/ 9 h 10"/>
                  <a:gd name="T8" fmla="*/ 7 w 9"/>
                  <a:gd name="T9" fmla="*/ 10 h 10"/>
                  <a:gd name="T10" fmla="*/ 2 w 9"/>
                  <a:gd name="T11" fmla="*/ 10 h 10"/>
                  <a:gd name="T12" fmla="*/ 0 w 9"/>
                  <a:gd name="T13" fmla="*/ 9 h 10"/>
                  <a:gd name="T14" fmla="*/ 0 w 9"/>
                  <a:gd name="T15" fmla="*/ 4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4"/>
                    </a:lnTo>
                    <a:lnTo>
                      <a:pt x="9" y="9"/>
                    </a:lnTo>
                    <a:lnTo>
                      <a:pt x="7" y="10"/>
                    </a:lnTo>
                    <a:lnTo>
                      <a:pt x="2" y="10"/>
                    </a:lnTo>
                    <a:lnTo>
                      <a:pt x="0" y="9"/>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24" name="Freeform 1357"/>
              <p:cNvSpPr>
                <a:spLocks/>
              </p:cNvSpPr>
              <p:nvPr/>
            </p:nvSpPr>
            <p:spPr bwMode="auto">
              <a:xfrm>
                <a:off x="1262" y="1619"/>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25" name="Freeform 1358"/>
              <p:cNvSpPr>
                <a:spLocks/>
              </p:cNvSpPr>
              <p:nvPr/>
            </p:nvSpPr>
            <p:spPr bwMode="auto">
              <a:xfrm>
                <a:off x="1285" y="1619"/>
                <a:ext cx="8" cy="8"/>
              </a:xfrm>
              <a:custGeom>
                <a:avLst/>
                <a:gdLst>
                  <a:gd name="T0" fmla="*/ 1 w 8"/>
                  <a:gd name="T1" fmla="*/ 0 h 8"/>
                  <a:gd name="T2" fmla="*/ 5 w 8"/>
                  <a:gd name="T3" fmla="*/ 0 h 8"/>
                  <a:gd name="T4" fmla="*/ 8 w 8"/>
                  <a:gd name="T5" fmla="*/ 3 h 8"/>
                  <a:gd name="T6" fmla="*/ 8 w 8"/>
                  <a:gd name="T7" fmla="*/ 7 h 8"/>
                  <a:gd name="T8" fmla="*/ 7 w 8"/>
                  <a:gd name="T9" fmla="*/ 8 h 8"/>
                  <a:gd name="T10" fmla="*/ 1 w 8"/>
                  <a:gd name="T11" fmla="*/ 8 h 8"/>
                  <a:gd name="T12" fmla="*/ 0 w 8"/>
                  <a:gd name="T13" fmla="*/ 7 h 8"/>
                  <a:gd name="T14" fmla="*/ 0 w 8"/>
                  <a:gd name="T15" fmla="*/ 1 h 8"/>
                  <a:gd name="T16" fmla="*/ 1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1" y="0"/>
                    </a:moveTo>
                    <a:lnTo>
                      <a:pt x="5" y="0"/>
                    </a:lnTo>
                    <a:lnTo>
                      <a:pt x="8" y="3"/>
                    </a:lnTo>
                    <a:lnTo>
                      <a:pt x="8" y="7"/>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26" name="Freeform 1359"/>
              <p:cNvSpPr>
                <a:spLocks/>
              </p:cNvSpPr>
              <p:nvPr/>
            </p:nvSpPr>
            <p:spPr bwMode="auto">
              <a:xfrm>
                <a:off x="1335"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27" name="Freeform 1360"/>
              <p:cNvSpPr>
                <a:spLocks/>
              </p:cNvSpPr>
              <p:nvPr/>
            </p:nvSpPr>
            <p:spPr bwMode="auto">
              <a:xfrm>
                <a:off x="1339"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28" name="Freeform 1361"/>
              <p:cNvSpPr>
                <a:spLocks/>
              </p:cNvSpPr>
              <p:nvPr/>
            </p:nvSpPr>
            <p:spPr bwMode="auto">
              <a:xfrm>
                <a:off x="1344" y="1619"/>
                <a:ext cx="10" cy="8"/>
              </a:xfrm>
              <a:custGeom>
                <a:avLst/>
                <a:gdLst>
                  <a:gd name="T0" fmla="*/ 4 w 10"/>
                  <a:gd name="T1" fmla="*/ 0 h 8"/>
                  <a:gd name="T2" fmla="*/ 9 w 10"/>
                  <a:gd name="T3" fmla="*/ 0 h 8"/>
                  <a:gd name="T4" fmla="*/ 10 w 10"/>
                  <a:gd name="T5" fmla="*/ 1 h 8"/>
                  <a:gd name="T6" fmla="*/ 10 w 10"/>
                  <a:gd name="T7" fmla="*/ 7 h 8"/>
                  <a:gd name="T8" fmla="*/ 9 w 10"/>
                  <a:gd name="T9" fmla="*/ 8 h 8"/>
                  <a:gd name="T10" fmla="*/ 4 w 10"/>
                  <a:gd name="T11" fmla="*/ 8 h 8"/>
                  <a:gd name="T12" fmla="*/ 0 w 10"/>
                  <a:gd name="T13" fmla="*/ 5 h 8"/>
                  <a:gd name="T14" fmla="*/ 0 w 10"/>
                  <a:gd name="T15" fmla="*/ 3 h 8"/>
                  <a:gd name="T16" fmla="*/ 4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4" y="0"/>
                    </a:moveTo>
                    <a:lnTo>
                      <a:pt x="9" y="0"/>
                    </a:lnTo>
                    <a:lnTo>
                      <a:pt x="10" y="1"/>
                    </a:lnTo>
                    <a:lnTo>
                      <a:pt x="10"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29" name="Freeform 1362"/>
              <p:cNvSpPr>
                <a:spLocks/>
              </p:cNvSpPr>
              <p:nvPr/>
            </p:nvSpPr>
            <p:spPr bwMode="auto">
              <a:xfrm>
                <a:off x="1375"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30" name="Freeform 1363"/>
              <p:cNvSpPr>
                <a:spLocks/>
              </p:cNvSpPr>
              <p:nvPr/>
            </p:nvSpPr>
            <p:spPr bwMode="auto">
              <a:xfrm>
                <a:off x="1389" y="1619"/>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31" name="Freeform 1364"/>
              <p:cNvSpPr>
                <a:spLocks/>
              </p:cNvSpPr>
              <p:nvPr/>
            </p:nvSpPr>
            <p:spPr bwMode="auto">
              <a:xfrm>
                <a:off x="1616"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32" name="Freeform 1365"/>
              <p:cNvSpPr>
                <a:spLocks/>
              </p:cNvSpPr>
              <p:nvPr/>
            </p:nvSpPr>
            <p:spPr bwMode="auto">
              <a:xfrm>
                <a:off x="1625"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33" name="Freeform 1366"/>
              <p:cNvSpPr>
                <a:spLocks/>
              </p:cNvSpPr>
              <p:nvPr/>
            </p:nvSpPr>
            <p:spPr bwMode="auto">
              <a:xfrm>
                <a:off x="1653"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34" name="Freeform 1367"/>
              <p:cNvSpPr>
                <a:spLocks/>
              </p:cNvSpPr>
              <p:nvPr/>
            </p:nvSpPr>
            <p:spPr bwMode="auto">
              <a:xfrm>
                <a:off x="1656"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35" name="Freeform 1368"/>
              <p:cNvSpPr>
                <a:spLocks/>
              </p:cNvSpPr>
              <p:nvPr/>
            </p:nvSpPr>
            <p:spPr bwMode="auto">
              <a:xfrm>
                <a:off x="1740"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36" name="Freeform 1369"/>
              <p:cNvSpPr>
                <a:spLocks/>
              </p:cNvSpPr>
              <p:nvPr/>
            </p:nvSpPr>
            <p:spPr bwMode="auto">
              <a:xfrm>
                <a:off x="2564"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37" name="Freeform 1370"/>
              <p:cNvSpPr>
                <a:spLocks/>
              </p:cNvSpPr>
              <p:nvPr/>
            </p:nvSpPr>
            <p:spPr bwMode="auto">
              <a:xfrm>
                <a:off x="2842"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38" name="Freeform 1371"/>
              <p:cNvSpPr>
                <a:spLocks/>
              </p:cNvSpPr>
              <p:nvPr/>
            </p:nvSpPr>
            <p:spPr bwMode="auto">
              <a:xfrm>
                <a:off x="3337"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39" name="Freeform 1372"/>
              <p:cNvSpPr>
                <a:spLocks/>
              </p:cNvSpPr>
              <p:nvPr/>
            </p:nvSpPr>
            <p:spPr bwMode="auto">
              <a:xfrm>
                <a:off x="3344"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40" name="Freeform 1373"/>
              <p:cNvSpPr>
                <a:spLocks/>
              </p:cNvSpPr>
              <p:nvPr/>
            </p:nvSpPr>
            <p:spPr bwMode="auto">
              <a:xfrm>
                <a:off x="3351" y="1619"/>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41" name="Freeform 1374"/>
              <p:cNvSpPr>
                <a:spLocks/>
              </p:cNvSpPr>
              <p:nvPr/>
            </p:nvSpPr>
            <p:spPr bwMode="auto">
              <a:xfrm>
                <a:off x="3371"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42" name="Freeform 1375"/>
              <p:cNvSpPr>
                <a:spLocks/>
              </p:cNvSpPr>
              <p:nvPr/>
            </p:nvSpPr>
            <p:spPr bwMode="auto">
              <a:xfrm>
                <a:off x="3381"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43" name="Freeform 1376"/>
              <p:cNvSpPr>
                <a:spLocks/>
              </p:cNvSpPr>
              <p:nvPr/>
            </p:nvSpPr>
            <p:spPr bwMode="auto">
              <a:xfrm>
                <a:off x="3383" y="1619"/>
                <a:ext cx="8" cy="8"/>
              </a:xfrm>
              <a:custGeom>
                <a:avLst/>
                <a:gdLst>
                  <a:gd name="T0" fmla="*/ 2 w 8"/>
                  <a:gd name="T1" fmla="*/ 0 h 8"/>
                  <a:gd name="T2" fmla="*/ 5 w 8"/>
                  <a:gd name="T3" fmla="*/ 0 h 8"/>
                  <a:gd name="T4" fmla="*/ 8 w 8"/>
                  <a:gd name="T5" fmla="*/ 3 h 8"/>
                  <a:gd name="T6" fmla="*/ 8 w 8"/>
                  <a:gd name="T7" fmla="*/ 7 h 8"/>
                  <a:gd name="T8" fmla="*/ 7 w 8"/>
                  <a:gd name="T9" fmla="*/ 8 h 8"/>
                  <a:gd name="T10" fmla="*/ 2 w 8"/>
                  <a:gd name="T11" fmla="*/ 8 h 8"/>
                  <a:gd name="T12" fmla="*/ 0 w 8"/>
                  <a:gd name="T13" fmla="*/ 7 h 8"/>
                  <a:gd name="T14" fmla="*/ 0 w 8"/>
                  <a:gd name="T15" fmla="*/ 1 h 8"/>
                  <a:gd name="T16" fmla="*/ 2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2" y="0"/>
                    </a:moveTo>
                    <a:lnTo>
                      <a:pt x="5" y="0"/>
                    </a:lnTo>
                    <a:lnTo>
                      <a:pt x="8" y="3"/>
                    </a:lnTo>
                    <a:lnTo>
                      <a:pt x="8"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44" name="Freeform 1377"/>
              <p:cNvSpPr>
                <a:spLocks/>
              </p:cNvSpPr>
              <p:nvPr/>
            </p:nvSpPr>
            <p:spPr bwMode="auto">
              <a:xfrm>
                <a:off x="3388"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45" name="Freeform 1378"/>
              <p:cNvSpPr>
                <a:spLocks/>
              </p:cNvSpPr>
              <p:nvPr/>
            </p:nvSpPr>
            <p:spPr bwMode="auto">
              <a:xfrm>
                <a:off x="3398" y="1619"/>
                <a:ext cx="9" cy="8"/>
              </a:xfrm>
              <a:custGeom>
                <a:avLst/>
                <a:gdLst>
                  <a:gd name="T0" fmla="*/ 2 w 9"/>
                  <a:gd name="T1" fmla="*/ 0 h 8"/>
                  <a:gd name="T2" fmla="*/ 6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6"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46" name="Freeform 1379"/>
              <p:cNvSpPr>
                <a:spLocks/>
              </p:cNvSpPr>
              <p:nvPr/>
            </p:nvSpPr>
            <p:spPr bwMode="auto">
              <a:xfrm>
                <a:off x="3529"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47" name="Freeform 1380"/>
              <p:cNvSpPr>
                <a:spLocks/>
              </p:cNvSpPr>
              <p:nvPr/>
            </p:nvSpPr>
            <p:spPr bwMode="auto">
              <a:xfrm>
                <a:off x="3536"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48" name="Freeform 1381"/>
              <p:cNvSpPr>
                <a:spLocks/>
              </p:cNvSpPr>
              <p:nvPr/>
            </p:nvSpPr>
            <p:spPr bwMode="auto">
              <a:xfrm>
                <a:off x="3570"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49" name="Freeform 1382"/>
              <p:cNvSpPr>
                <a:spLocks/>
              </p:cNvSpPr>
              <p:nvPr/>
            </p:nvSpPr>
            <p:spPr bwMode="auto">
              <a:xfrm>
                <a:off x="3575" y="1619"/>
                <a:ext cx="8" cy="8"/>
              </a:xfrm>
              <a:custGeom>
                <a:avLst/>
                <a:gdLst>
                  <a:gd name="T0" fmla="*/ 2 w 8"/>
                  <a:gd name="T1" fmla="*/ 0 h 8"/>
                  <a:gd name="T2" fmla="*/ 5 w 8"/>
                  <a:gd name="T3" fmla="*/ 0 h 8"/>
                  <a:gd name="T4" fmla="*/ 8 w 8"/>
                  <a:gd name="T5" fmla="*/ 3 h 8"/>
                  <a:gd name="T6" fmla="*/ 8 w 8"/>
                  <a:gd name="T7" fmla="*/ 7 h 8"/>
                  <a:gd name="T8" fmla="*/ 7 w 8"/>
                  <a:gd name="T9" fmla="*/ 8 h 8"/>
                  <a:gd name="T10" fmla="*/ 2 w 8"/>
                  <a:gd name="T11" fmla="*/ 8 h 8"/>
                  <a:gd name="T12" fmla="*/ 0 w 8"/>
                  <a:gd name="T13" fmla="*/ 7 h 8"/>
                  <a:gd name="T14" fmla="*/ 0 w 8"/>
                  <a:gd name="T15" fmla="*/ 1 h 8"/>
                  <a:gd name="T16" fmla="*/ 2 w 8"/>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8"/>
                  <a:gd name="T29" fmla="*/ 8 w 8"/>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8">
                    <a:moveTo>
                      <a:pt x="2" y="0"/>
                    </a:moveTo>
                    <a:lnTo>
                      <a:pt x="5" y="0"/>
                    </a:lnTo>
                    <a:lnTo>
                      <a:pt x="8" y="3"/>
                    </a:lnTo>
                    <a:lnTo>
                      <a:pt x="8"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50" name="Freeform 1383"/>
              <p:cNvSpPr>
                <a:spLocks/>
              </p:cNvSpPr>
              <p:nvPr/>
            </p:nvSpPr>
            <p:spPr bwMode="auto">
              <a:xfrm>
                <a:off x="3610" y="1619"/>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51" name="Freeform 1384"/>
              <p:cNvSpPr>
                <a:spLocks/>
              </p:cNvSpPr>
              <p:nvPr/>
            </p:nvSpPr>
            <p:spPr bwMode="auto">
              <a:xfrm>
                <a:off x="3622"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52" name="Freeform 1385"/>
              <p:cNvSpPr>
                <a:spLocks/>
              </p:cNvSpPr>
              <p:nvPr/>
            </p:nvSpPr>
            <p:spPr bwMode="auto">
              <a:xfrm>
                <a:off x="3915"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53" name="Freeform 1386"/>
              <p:cNvSpPr>
                <a:spLocks/>
              </p:cNvSpPr>
              <p:nvPr/>
            </p:nvSpPr>
            <p:spPr bwMode="auto">
              <a:xfrm>
                <a:off x="3920"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54" name="Freeform 1387"/>
              <p:cNvSpPr>
                <a:spLocks/>
              </p:cNvSpPr>
              <p:nvPr/>
            </p:nvSpPr>
            <p:spPr bwMode="auto">
              <a:xfrm>
                <a:off x="4076"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55" name="Freeform 1388"/>
              <p:cNvSpPr>
                <a:spLocks/>
              </p:cNvSpPr>
              <p:nvPr/>
            </p:nvSpPr>
            <p:spPr bwMode="auto">
              <a:xfrm>
                <a:off x="4135"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56" name="Freeform 1389"/>
              <p:cNvSpPr>
                <a:spLocks/>
              </p:cNvSpPr>
              <p:nvPr/>
            </p:nvSpPr>
            <p:spPr bwMode="auto">
              <a:xfrm>
                <a:off x="4139"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57" name="Freeform 1390"/>
              <p:cNvSpPr>
                <a:spLocks/>
              </p:cNvSpPr>
              <p:nvPr/>
            </p:nvSpPr>
            <p:spPr bwMode="auto">
              <a:xfrm>
                <a:off x="4168"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58" name="Freeform 1391"/>
              <p:cNvSpPr>
                <a:spLocks/>
              </p:cNvSpPr>
              <p:nvPr/>
            </p:nvSpPr>
            <p:spPr bwMode="auto">
              <a:xfrm>
                <a:off x="4313"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59" name="Freeform 1392"/>
              <p:cNvSpPr>
                <a:spLocks/>
              </p:cNvSpPr>
              <p:nvPr/>
            </p:nvSpPr>
            <p:spPr bwMode="auto">
              <a:xfrm>
                <a:off x="4336"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60" name="Freeform 1393"/>
              <p:cNvSpPr>
                <a:spLocks/>
              </p:cNvSpPr>
              <p:nvPr/>
            </p:nvSpPr>
            <p:spPr bwMode="auto">
              <a:xfrm>
                <a:off x="4402" y="1619"/>
                <a:ext cx="11" cy="8"/>
              </a:xfrm>
              <a:custGeom>
                <a:avLst/>
                <a:gdLst>
                  <a:gd name="T0" fmla="*/ 4 w 11"/>
                  <a:gd name="T1" fmla="*/ 0 h 8"/>
                  <a:gd name="T2" fmla="*/ 9 w 11"/>
                  <a:gd name="T3" fmla="*/ 0 h 8"/>
                  <a:gd name="T4" fmla="*/ 11 w 11"/>
                  <a:gd name="T5" fmla="*/ 1 h 8"/>
                  <a:gd name="T6" fmla="*/ 11 w 11"/>
                  <a:gd name="T7" fmla="*/ 7 h 8"/>
                  <a:gd name="T8" fmla="*/ 9 w 11"/>
                  <a:gd name="T9" fmla="*/ 8 h 8"/>
                  <a:gd name="T10" fmla="*/ 4 w 11"/>
                  <a:gd name="T11" fmla="*/ 8 h 8"/>
                  <a:gd name="T12" fmla="*/ 0 w 11"/>
                  <a:gd name="T13" fmla="*/ 5 h 8"/>
                  <a:gd name="T14" fmla="*/ 0 w 11"/>
                  <a:gd name="T15" fmla="*/ 3 h 8"/>
                  <a:gd name="T16" fmla="*/ 4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4" y="0"/>
                    </a:moveTo>
                    <a:lnTo>
                      <a:pt x="9" y="0"/>
                    </a:lnTo>
                    <a:lnTo>
                      <a:pt x="11" y="1"/>
                    </a:lnTo>
                    <a:lnTo>
                      <a:pt x="11" y="7"/>
                    </a:lnTo>
                    <a:lnTo>
                      <a:pt x="9" y="8"/>
                    </a:lnTo>
                    <a:lnTo>
                      <a:pt x="4" y="8"/>
                    </a:lnTo>
                    <a:lnTo>
                      <a:pt x="0" y="5"/>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61" name="Freeform 1394"/>
              <p:cNvSpPr>
                <a:spLocks/>
              </p:cNvSpPr>
              <p:nvPr/>
            </p:nvSpPr>
            <p:spPr bwMode="auto">
              <a:xfrm>
                <a:off x="4425" y="1619"/>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62" name="Freeform 1395"/>
              <p:cNvSpPr>
                <a:spLocks/>
              </p:cNvSpPr>
              <p:nvPr/>
            </p:nvSpPr>
            <p:spPr bwMode="auto">
              <a:xfrm>
                <a:off x="4434" y="1619"/>
                <a:ext cx="10" cy="8"/>
              </a:xfrm>
              <a:custGeom>
                <a:avLst/>
                <a:gdLst>
                  <a:gd name="T0" fmla="*/ 1 w 10"/>
                  <a:gd name="T1" fmla="*/ 0 h 8"/>
                  <a:gd name="T2" fmla="*/ 7 w 10"/>
                  <a:gd name="T3" fmla="*/ 0 h 8"/>
                  <a:gd name="T4" fmla="*/ 10 w 10"/>
                  <a:gd name="T5" fmla="*/ 3 h 8"/>
                  <a:gd name="T6" fmla="*/ 10 w 10"/>
                  <a:gd name="T7" fmla="*/ 5 h 8"/>
                  <a:gd name="T8" fmla="*/ 7 w 10"/>
                  <a:gd name="T9" fmla="*/ 8 h 8"/>
                  <a:gd name="T10" fmla="*/ 1 w 10"/>
                  <a:gd name="T11" fmla="*/ 8 h 8"/>
                  <a:gd name="T12" fmla="*/ 0 w 10"/>
                  <a:gd name="T13" fmla="*/ 7 h 8"/>
                  <a:gd name="T14" fmla="*/ 0 w 10"/>
                  <a:gd name="T15" fmla="*/ 1 h 8"/>
                  <a:gd name="T16" fmla="*/ 1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1" y="0"/>
                    </a:moveTo>
                    <a:lnTo>
                      <a:pt x="7" y="0"/>
                    </a:lnTo>
                    <a:lnTo>
                      <a:pt x="10" y="3"/>
                    </a:lnTo>
                    <a:lnTo>
                      <a:pt x="10" y="5"/>
                    </a:lnTo>
                    <a:lnTo>
                      <a:pt x="7" y="8"/>
                    </a:lnTo>
                    <a:lnTo>
                      <a:pt x="1" y="8"/>
                    </a:lnTo>
                    <a:lnTo>
                      <a:pt x="0" y="7"/>
                    </a:lnTo>
                    <a:lnTo>
                      <a:pt x="0" y="1"/>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63" name="Freeform 1396"/>
              <p:cNvSpPr>
                <a:spLocks/>
              </p:cNvSpPr>
              <p:nvPr/>
            </p:nvSpPr>
            <p:spPr bwMode="auto">
              <a:xfrm>
                <a:off x="4456"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64" name="Freeform 1397"/>
              <p:cNvSpPr>
                <a:spLocks/>
              </p:cNvSpPr>
              <p:nvPr/>
            </p:nvSpPr>
            <p:spPr bwMode="auto">
              <a:xfrm>
                <a:off x="4470"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65" name="Freeform 1398"/>
              <p:cNvSpPr>
                <a:spLocks/>
              </p:cNvSpPr>
              <p:nvPr/>
            </p:nvSpPr>
            <p:spPr bwMode="auto">
              <a:xfrm>
                <a:off x="4489"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66" name="Freeform 1399"/>
              <p:cNvSpPr>
                <a:spLocks/>
              </p:cNvSpPr>
              <p:nvPr/>
            </p:nvSpPr>
            <p:spPr bwMode="auto">
              <a:xfrm>
                <a:off x="4500" y="1619"/>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67" name="Freeform 1400"/>
              <p:cNvSpPr>
                <a:spLocks/>
              </p:cNvSpPr>
              <p:nvPr/>
            </p:nvSpPr>
            <p:spPr bwMode="auto">
              <a:xfrm>
                <a:off x="4505" y="1619"/>
                <a:ext cx="9" cy="8"/>
              </a:xfrm>
              <a:custGeom>
                <a:avLst/>
                <a:gdLst>
                  <a:gd name="T0" fmla="*/ 2 w 9"/>
                  <a:gd name="T1" fmla="*/ 0 h 8"/>
                  <a:gd name="T2" fmla="*/ 5 w 9"/>
                  <a:gd name="T3" fmla="*/ 0 h 8"/>
                  <a:gd name="T4" fmla="*/ 9 w 9"/>
                  <a:gd name="T5" fmla="*/ 3 h 8"/>
                  <a:gd name="T6" fmla="*/ 9 w 9"/>
                  <a:gd name="T7" fmla="*/ 7 h 8"/>
                  <a:gd name="T8" fmla="*/ 7 w 9"/>
                  <a:gd name="T9" fmla="*/ 8 h 8"/>
                  <a:gd name="T10" fmla="*/ 2 w 9"/>
                  <a:gd name="T11" fmla="*/ 8 h 8"/>
                  <a:gd name="T12" fmla="*/ 0 w 9"/>
                  <a:gd name="T13" fmla="*/ 7 h 8"/>
                  <a:gd name="T14" fmla="*/ 0 w 9"/>
                  <a:gd name="T15" fmla="*/ 1 h 8"/>
                  <a:gd name="T16" fmla="*/ 2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2" y="0"/>
                    </a:moveTo>
                    <a:lnTo>
                      <a:pt x="5" y="0"/>
                    </a:lnTo>
                    <a:lnTo>
                      <a:pt x="9" y="3"/>
                    </a:lnTo>
                    <a:lnTo>
                      <a:pt x="9" y="7"/>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68" name="Freeform 1401"/>
              <p:cNvSpPr>
                <a:spLocks/>
              </p:cNvSpPr>
              <p:nvPr/>
            </p:nvSpPr>
            <p:spPr bwMode="auto">
              <a:xfrm>
                <a:off x="4507" y="1619"/>
                <a:ext cx="10" cy="8"/>
              </a:xfrm>
              <a:custGeom>
                <a:avLst/>
                <a:gdLst>
                  <a:gd name="T0" fmla="*/ 3 w 10"/>
                  <a:gd name="T1" fmla="*/ 0 h 8"/>
                  <a:gd name="T2" fmla="*/ 9 w 10"/>
                  <a:gd name="T3" fmla="*/ 0 h 8"/>
                  <a:gd name="T4" fmla="*/ 10 w 10"/>
                  <a:gd name="T5" fmla="*/ 1 h 8"/>
                  <a:gd name="T6" fmla="*/ 10 w 10"/>
                  <a:gd name="T7" fmla="*/ 7 h 8"/>
                  <a:gd name="T8" fmla="*/ 9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9" y="0"/>
                    </a:lnTo>
                    <a:lnTo>
                      <a:pt x="10" y="1"/>
                    </a:lnTo>
                    <a:lnTo>
                      <a:pt x="10" y="7"/>
                    </a:lnTo>
                    <a:lnTo>
                      <a:pt x="9"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69" name="Freeform 1402"/>
              <p:cNvSpPr>
                <a:spLocks/>
              </p:cNvSpPr>
              <p:nvPr/>
            </p:nvSpPr>
            <p:spPr bwMode="auto">
              <a:xfrm>
                <a:off x="4519" y="1619"/>
                <a:ext cx="9" cy="8"/>
              </a:xfrm>
              <a:custGeom>
                <a:avLst/>
                <a:gdLst>
                  <a:gd name="T0" fmla="*/ 4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4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4" y="0"/>
                    </a:moveTo>
                    <a:lnTo>
                      <a:pt x="7" y="0"/>
                    </a:lnTo>
                    <a:lnTo>
                      <a:pt x="9" y="1"/>
                    </a:lnTo>
                    <a:lnTo>
                      <a:pt x="9" y="7"/>
                    </a:lnTo>
                    <a:lnTo>
                      <a:pt x="7" y="8"/>
                    </a:lnTo>
                    <a:lnTo>
                      <a:pt x="2" y="8"/>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70" name="Freeform 1403"/>
              <p:cNvSpPr>
                <a:spLocks/>
              </p:cNvSpPr>
              <p:nvPr/>
            </p:nvSpPr>
            <p:spPr bwMode="auto">
              <a:xfrm>
                <a:off x="4521" y="1619"/>
                <a:ext cx="10" cy="8"/>
              </a:xfrm>
              <a:custGeom>
                <a:avLst/>
                <a:gdLst>
                  <a:gd name="T0" fmla="*/ 2 w 10"/>
                  <a:gd name="T1" fmla="*/ 0 h 8"/>
                  <a:gd name="T2" fmla="*/ 7 w 10"/>
                  <a:gd name="T3" fmla="*/ 0 h 8"/>
                  <a:gd name="T4" fmla="*/ 10 w 10"/>
                  <a:gd name="T5" fmla="*/ 3 h 8"/>
                  <a:gd name="T6" fmla="*/ 10 w 10"/>
                  <a:gd name="T7" fmla="*/ 5 h 8"/>
                  <a:gd name="T8" fmla="*/ 7 w 10"/>
                  <a:gd name="T9" fmla="*/ 8 h 8"/>
                  <a:gd name="T10" fmla="*/ 2 w 10"/>
                  <a:gd name="T11" fmla="*/ 8 h 8"/>
                  <a:gd name="T12" fmla="*/ 0 w 10"/>
                  <a:gd name="T13" fmla="*/ 7 h 8"/>
                  <a:gd name="T14" fmla="*/ 0 w 10"/>
                  <a:gd name="T15" fmla="*/ 1 h 8"/>
                  <a:gd name="T16" fmla="*/ 2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2" y="0"/>
                    </a:moveTo>
                    <a:lnTo>
                      <a:pt x="7" y="0"/>
                    </a:lnTo>
                    <a:lnTo>
                      <a:pt x="10" y="3"/>
                    </a:lnTo>
                    <a:lnTo>
                      <a:pt x="10"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71" name="Freeform 1404"/>
              <p:cNvSpPr>
                <a:spLocks/>
              </p:cNvSpPr>
              <p:nvPr/>
            </p:nvSpPr>
            <p:spPr bwMode="auto">
              <a:xfrm>
                <a:off x="4542"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72" name="Freeform 1405"/>
              <p:cNvSpPr>
                <a:spLocks/>
              </p:cNvSpPr>
              <p:nvPr/>
            </p:nvSpPr>
            <p:spPr bwMode="auto">
              <a:xfrm>
                <a:off x="4545" y="1619"/>
                <a:ext cx="11" cy="8"/>
              </a:xfrm>
              <a:custGeom>
                <a:avLst/>
                <a:gdLst>
                  <a:gd name="T0" fmla="*/ 2 w 11"/>
                  <a:gd name="T1" fmla="*/ 0 h 8"/>
                  <a:gd name="T2" fmla="*/ 7 w 11"/>
                  <a:gd name="T3" fmla="*/ 0 h 8"/>
                  <a:gd name="T4" fmla="*/ 11 w 11"/>
                  <a:gd name="T5" fmla="*/ 3 h 8"/>
                  <a:gd name="T6" fmla="*/ 11 w 11"/>
                  <a:gd name="T7" fmla="*/ 5 h 8"/>
                  <a:gd name="T8" fmla="*/ 7 w 11"/>
                  <a:gd name="T9" fmla="*/ 8 h 8"/>
                  <a:gd name="T10" fmla="*/ 2 w 11"/>
                  <a:gd name="T11" fmla="*/ 8 h 8"/>
                  <a:gd name="T12" fmla="*/ 0 w 11"/>
                  <a:gd name="T13" fmla="*/ 7 h 8"/>
                  <a:gd name="T14" fmla="*/ 0 w 11"/>
                  <a:gd name="T15" fmla="*/ 1 h 8"/>
                  <a:gd name="T16" fmla="*/ 2 w 11"/>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8"/>
                  <a:gd name="T29" fmla="*/ 11 w 11"/>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8">
                    <a:moveTo>
                      <a:pt x="2" y="0"/>
                    </a:moveTo>
                    <a:lnTo>
                      <a:pt x="7" y="0"/>
                    </a:lnTo>
                    <a:lnTo>
                      <a:pt x="11" y="3"/>
                    </a:lnTo>
                    <a:lnTo>
                      <a:pt x="11" y="5"/>
                    </a:lnTo>
                    <a:lnTo>
                      <a:pt x="7" y="8"/>
                    </a:lnTo>
                    <a:lnTo>
                      <a:pt x="2" y="8"/>
                    </a:lnTo>
                    <a:lnTo>
                      <a:pt x="0" y="7"/>
                    </a:lnTo>
                    <a:lnTo>
                      <a:pt x="0" y="1"/>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73" name="Freeform 1406"/>
              <p:cNvSpPr>
                <a:spLocks/>
              </p:cNvSpPr>
              <p:nvPr/>
            </p:nvSpPr>
            <p:spPr bwMode="auto">
              <a:xfrm>
                <a:off x="4563" y="1619"/>
                <a:ext cx="10" cy="8"/>
              </a:xfrm>
              <a:custGeom>
                <a:avLst/>
                <a:gdLst>
                  <a:gd name="T0" fmla="*/ 3 w 10"/>
                  <a:gd name="T1" fmla="*/ 0 h 8"/>
                  <a:gd name="T2" fmla="*/ 8 w 10"/>
                  <a:gd name="T3" fmla="*/ 0 h 8"/>
                  <a:gd name="T4" fmla="*/ 10 w 10"/>
                  <a:gd name="T5" fmla="*/ 1 h 8"/>
                  <a:gd name="T6" fmla="*/ 10 w 10"/>
                  <a:gd name="T7" fmla="*/ 7 h 8"/>
                  <a:gd name="T8" fmla="*/ 8 w 10"/>
                  <a:gd name="T9" fmla="*/ 8 h 8"/>
                  <a:gd name="T10" fmla="*/ 3 w 10"/>
                  <a:gd name="T11" fmla="*/ 8 h 8"/>
                  <a:gd name="T12" fmla="*/ 0 w 10"/>
                  <a:gd name="T13" fmla="*/ 5 h 8"/>
                  <a:gd name="T14" fmla="*/ 0 w 10"/>
                  <a:gd name="T15" fmla="*/ 3 h 8"/>
                  <a:gd name="T16" fmla="*/ 3 w 10"/>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8"/>
                  <a:gd name="T29" fmla="*/ 10 w 10"/>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8">
                    <a:moveTo>
                      <a:pt x="3" y="0"/>
                    </a:moveTo>
                    <a:lnTo>
                      <a:pt x="8" y="0"/>
                    </a:lnTo>
                    <a:lnTo>
                      <a:pt x="10" y="1"/>
                    </a:lnTo>
                    <a:lnTo>
                      <a:pt x="10" y="7"/>
                    </a:lnTo>
                    <a:lnTo>
                      <a:pt x="8" y="8"/>
                    </a:lnTo>
                    <a:lnTo>
                      <a:pt x="3" y="8"/>
                    </a:lnTo>
                    <a:lnTo>
                      <a:pt x="0" y="5"/>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74" name="Freeform 1407"/>
              <p:cNvSpPr>
                <a:spLocks/>
              </p:cNvSpPr>
              <p:nvPr/>
            </p:nvSpPr>
            <p:spPr bwMode="auto">
              <a:xfrm>
                <a:off x="4575" y="1619"/>
                <a:ext cx="9" cy="8"/>
              </a:xfrm>
              <a:custGeom>
                <a:avLst/>
                <a:gdLst>
                  <a:gd name="T0" fmla="*/ 3 w 9"/>
                  <a:gd name="T1" fmla="*/ 0 h 8"/>
                  <a:gd name="T2" fmla="*/ 7 w 9"/>
                  <a:gd name="T3" fmla="*/ 0 h 8"/>
                  <a:gd name="T4" fmla="*/ 9 w 9"/>
                  <a:gd name="T5" fmla="*/ 1 h 8"/>
                  <a:gd name="T6" fmla="*/ 9 w 9"/>
                  <a:gd name="T7" fmla="*/ 7 h 8"/>
                  <a:gd name="T8" fmla="*/ 7 w 9"/>
                  <a:gd name="T9" fmla="*/ 8 h 8"/>
                  <a:gd name="T10" fmla="*/ 2 w 9"/>
                  <a:gd name="T11" fmla="*/ 8 h 8"/>
                  <a:gd name="T12" fmla="*/ 0 w 9"/>
                  <a:gd name="T13" fmla="*/ 7 h 8"/>
                  <a:gd name="T14" fmla="*/ 0 w 9"/>
                  <a:gd name="T15" fmla="*/ 3 h 8"/>
                  <a:gd name="T16" fmla="*/ 3 w 9"/>
                  <a:gd name="T17" fmla="*/ 0 h 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8"/>
                  <a:gd name="T29" fmla="*/ 9 w 9"/>
                  <a:gd name="T30" fmla="*/ 8 h 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8">
                    <a:moveTo>
                      <a:pt x="3" y="0"/>
                    </a:moveTo>
                    <a:lnTo>
                      <a:pt x="7" y="0"/>
                    </a:lnTo>
                    <a:lnTo>
                      <a:pt x="9" y="1"/>
                    </a:lnTo>
                    <a:lnTo>
                      <a:pt x="9" y="7"/>
                    </a:lnTo>
                    <a:lnTo>
                      <a:pt x="7" y="8"/>
                    </a:lnTo>
                    <a:lnTo>
                      <a:pt x="2" y="8"/>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75" name="Freeform 1408"/>
              <p:cNvSpPr>
                <a:spLocks/>
              </p:cNvSpPr>
              <p:nvPr/>
            </p:nvSpPr>
            <p:spPr bwMode="auto">
              <a:xfrm>
                <a:off x="1068"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76" name="Freeform 1409"/>
              <p:cNvSpPr>
                <a:spLocks/>
              </p:cNvSpPr>
              <p:nvPr/>
            </p:nvSpPr>
            <p:spPr bwMode="auto">
              <a:xfrm>
                <a:off x="1389"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77" name="Freeform 1410"/>
              <p:cNvSpPr>
                <a:spLocks/>
              </p:cNvSpPr>
              <p:nvPr/>
            </p:nvSpPr>
            <p:spPr bwMode="auto">
              <a:xfrm>
                <a:off x="1588"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13" name="Group 1612"/>
            <p:cNvGrpSpPr>
              <a:grpSpLocks/>
            </p:cNvGrpSpPr>
            <p:nvPr/>
          </p:nvGrpSpPr>
          <p:grpSpPr bwMode="auto">
            <a:xfrm>
              <a:off x="1698625" y="2314644"/>
              <a:ext cx="5656289" cy="204794"/>
              <a:chOff x="1070" y="1458"/>
              <a:chExt cx="3563" cy="129"/>
            </a:xfrm>
          </p:grpSpPr>
          <p:sp>
            <p:nvSpPr>
              <p:cNvPr id="278" name="Freeform 1412"/>
              <p:cNvSpPr>
                <a:spLocks/>
              </p:cNvSpPr>
              <p:nvPr/>
            </p:nvSpPr>
            <p:spPr bwMode="auto">
              <a:xfrm>
                <a:off x="1592" y="1578"/>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79" name="Freeform 1413"/>
              <p:cNvSpPr>
                <a:spLocks/>
              </p:cNvSpPr>
              <p:nvPr/>
            </p:nvSpPr>
            <p:spPr bwMode="auto">
              <a:xfrm>
                <a:off x="1597"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80" name="Freeform 1414"/>
              <p:cNvSpPr>
                <a:spLocks/>
              </p:cNvSpPr>
              <p:nvPr/>
            </p:nvSpPr>
            <p:spPr bwMode="auto">
              <a:xfrm>
                <a:off x="1749"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81" name="Freeform 1415"/>
              <p:cNvSpPr>
                <a:spLocks/>
              </p:cNvSpPr>
              <p:nvPr/>
            </p:nvSpPr>
            <p:spPr bwMode="auto">
              <a:xfrm>
                <a:off x="2398"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82" name="Freeform 1416"/>
              <p:cNvSpPr>
                <a:spLocks/>
              </p:cNvSpPr>
              <p:nvPr/>
            </p:nvSpPr>
            <p:spPr bwMode="auto">
              <a:xfrm>
                <a:off x="2503"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83" name="Freeform 1417"/>
              <p:cNvSpPr>
                <a:spLocks/>
              </p:cNvSpPr>
              <p:nvPr/>
            </p:nvSpPr>
            <p:spPr bwMode="auto">
              <a:xfrm>
                <a:off x="2508"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84" name="Freeform 1418"/>
              <p:cNvSpPr>
                <a:spLocks/>
              </p:cNvSpPr>
              <p:nvPr/>
            </p:nvSpPr>
            <p:spPr bwMode="auto">
              <a:xfrm>
                <a:off x="2519"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85" name="Freeform 1419"/>
              <p:cNvSpPr>
                <a:spLocks/>
              </p:cNvSpPr>
              <p:nvPr/>
            </p:nvSpPr>
            <p:spPr bwMode="auto">
              <a:xfrm>
                <a:off x="2526"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86" name="Freeform 1420"/>
              <p:cNvSpPr>
                <a:spLocks/>
              </p:cNvSpPr>
              <p:nvPr/>
            </p:nvSpPr>
            <p:spPr bwMode="auto">
              <a:xfrm>
                <a:off x="2527"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87" name="Freeform 1421"/>
              <p:cNvSpPr>
                <a:spLocks/>
              </p:cNvSpPr>
              <p:nvPr/>
            </p:nvSpPr>
            <p:spPr bwMode="auto">
              <a:xfrm>
                <a:off x="2533"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88" name="Freeform 1422"/>
              <p:cNvSpPr>
                <a:spLocks/>
              </p:cNvSpPr>
              <p:nvPr/>
            </p:nvSpPr>
            <p:spPr bwMode="auto">
              <a:xfrm>
                <a:off x="2541"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89" name="Freeform 1423"/>
              <p:cNvSpPr>
                <a:spLocks/>
              </p:cNvSpPr>
              <p:nvPr/>
            </p:nvSpPr>
            <p:spPr bwMode="auto">
              <a:xfrm>
                <a:off x="2552" y="1578"/>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90" name="Freeform 1424"/>
              <p:cNvSpPr>
                <a:spLocks/>
              </p:cNvSpPr>
              <p:nvPr/>
            </p:nvSpPr>
            <p:spPr bwMode="auto">
              <a:xfrm>
                <a:off x="2554"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91" name="Freeform 1425"/>
              <p:cNvSpPr>
                <a:spLocks/>
              </p:cNvSpPr>
              <p:nvPr/>
            </p:nvSpPr>
            <p:spPr bwMode="auto">
              <a:xfrm>
                <a:off x="2566"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92" name="Freeform 1426"/>
              <p:cNvSpPr>
                <a:spLocks/>
              </p:cNvSpPr>
              <p:nvPr/>
            </p:nvSpPr>
            <p:spPr bwMode="auto">
              <a:xfrm>
                <a:off x="2573" y="1578"/>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93" name="Freeform 1427"/>
              <p:cNvSpPr>
                <a:spLocks/>
              </p:cNvSpPr>
              <p:nvPr/>
            </p:nvSpPr>
            <p:spPr bwMode="auto">
              <a:xfrm>
                <a:off x="2746"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94" name="Freeform 1428"/>
              <p:cNvSpPr>
                <a:spLocks/>
              </p:cNvSpPr>
              <p:nvPr/>
            </p:nvSpPr>
            <p:spPr bwMode="auto">
              <a:xfrm>
                <a:off x="3302"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95" name="Freeform 1429"/>
              <p:cNvSpPr>
                <a:spLocks/>
              </p:cNvSpPr>
              <p:nvPr/>
            </p:nvSpPr>
            <p:spPr bwMode="auto">
              <a:xfrm>
                <a:off x="3311"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96" name="Freeform 1430"/>
              <p:cNvSpPr>
                <a:spLocks/>
              </p:cNvSpPr>
              <p:nvPr/>
            </p:nvSpPr>
            <p:spPr bwMode="auto">
              <a:xfrm>
                <a:off x="3313" y="157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97" name="Freeform 1431"/>
              <p:cNvSpPr>
                <a:spLocks/>
              </p:cNvSpPr>
              <p:nvPr/>
            </p:nvSpPr>
            <p:spPr bwMode="auto">
              <a:xfrm>
                <a:off x="3318"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98" name="Freeform 1432"/>
              <p:cNvSpPr>
                <a:spLocks/>
              </p:cNvSpPr>
              <p:nvPr/>
            </p:nvSpPr>
            <p:spPr bwMode="auto">
              <a:xfrm>
                <a:off x="3329"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99" name="Freeform 1433"/>
              <p:cNvSpPr>
                <a:spLocks/>
              </p:cNvSpPr>
              <p:nvPr/>
            </p:nvSpPr>
            <p:spPr bwMode="auto">
              <a:xfrm>
                <a:off x="3337"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00" name="Freeform 1434"/>
              <p:cNvSpPr>
                <a:spLocks/>
              </p:cNvSpPr>
              <p:nvPr/>
            </p:nvSpPr>
            <p:spPr bwMode="auto">
              <a:xfrm>
                <a:off x="3353" y="157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01" name="Freeform 1435"/>
              <p:cNvSpPr>
                <a:spLocks/>
              </p:cNvSpPr>
              <p:nvPr/>
            </p:nvSpPr>
            <p:spPr bwMode="auto">
              <a:xfrm>
                <a:off x="3355" y="157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02" name="Freeform 1436"/>
              <p:cNvSpPr>
                <a:spLocks/>
              </p:cNvSpPr>
              <p:nvPr/>
            </p:nvSpPr>
            <p:spPr bwMode="auto">
              <a:xfrm>
                <a:off x="3371"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03" name="Freeform 1437"/>
              <p:cNvSpPr>
                <a:spLocks/>
              </p:cNvSpPr>
              <p:nvPr/>
            </p:nvSpPr>
            <p:spPr bwMode="auto">
              <a:xfrm>
                <a:off x="3381"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04" name="Freeform 1438"/>
              <p:cNvSpPr>
                <a:spLocks/>
              </p:cNvSpPr>
              <p:nvPr/>
            </p:nvSpPr>
            <p:spPr bwMode="auto">
              <a:xfrm>
                <a:off x="3475" y="157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05" name="Freeform 1439"/>
              <p:cNvSpPr>
                <a:spLocks/>
              </p:cNvSpPr>
              <p:nvPr/>
            </p:nvSpPr>
            <p:spPr bwMode="auto">
              <a:xfrm>
                <a:off x="3489"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06" name="Freeform 1440"/>
              <p:cNvSpPr>
                <a:spLocks/>
              </p:cNvSpPr>
              <p:nvPr/>
            </p:nvSpPr>
            <p:spPr bwMode="auto">
              <a:xfrm>
                <a:off x="3521"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07" name="Freeform 1441"/>
              <p:cNvSpPr>
                <a:spLocks/>
              </p:cNvSpPr>
              <p:nvPr/>
            </p:nvSpPr>
            <p:spPr bwMode="auto">
              <a:xfrm>
                <a:off x="3526"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08" name="Freeform 1442"/>
              <p:cNvSpPr>
                <a:spLocks/>
              </p:cNvSpPr>
              <p:nvPr/>
            </p:nvSpPr>
            <p:spPr bwMode="auto">
              <a:xfrm>
                <a:off x="4123" y="157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09" name="Freeform 1443"/>
              <p:cNvSpPr>
                <a:spLocks/>
              </p:cNvSpPr>
              <p:nvPr/>
            </p:nvSpPr>
            <p:spPr bwMode="auto">
              <a:xfrm>
                <a:off x="4132" y="157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10" name="Freeform 1444"/>
              <p:cNvSpPr>
                <a:spLocks/>
              </p:cNvSpPr>
              <p:nvPr/>
            </p:nvSpPr>
            <p:spPr bwMode="auto">
              <a:xfrm>
                <a:off x="4177"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11" name="Freeform 1445"/>
              <p:cNvSpPr>
                <a:spLocks/>
              </p:cNvSpPr>
              <p:nvPr/>
            </p:nvSpPr>
            <p:spPr bwMode="auto">
              <a:xfrm>
                <a:off x="4182"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12" name="Freeform 1446"/>
              <p:cNvSpPr>
                <a:spLocks/>
              </p:cNvSpPr>
              <p:nvPr/>
            </p:nvSpPr>
            <p:spPr bwMode="auto">
              <a:xfrm>
                <a:off x="4207"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13" name="Freeform 1447"/>
              <p:cNvSpPr>
                <a:spLocks/>
              </p:cNvSpPr>
              <p:nvPr/>
            </p:nvSpPr>
            <p:spPr bwMode="auto">
              <a:xfrm>
                <a:off x="4215" y="1578"/>
                <a:ext cx="9" cy="9"/>
              </a:xfrm>
              <a:custGeom>
                <a:avLst/>
                <a:gdLst>
                  <a:gd name="T0" fmla="*/ 2 w 9"/>
                  <a:gd name="T1" fmla="*/ 0 h 9"/>
                  <a:gd name="T2" fmla="*/ 6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6"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14" name="Freeform 1448"/>
              <p:cNvSpPr>
                <a:spLocks/>
              </p:cNvSpPr>
              <p:nvPr/>
            </p:nvSpPr>
            <p:spPr bwMode="auto">
              <a:xfrm>
                <a:off x="4224"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15" name="Freeform 1449"/>
              <p:cNvSpPr>
                <a:spLocks/>
              </p:cNvSpPr>
              <p:nvPr/>
            </p:nvSpPr>
            <p:spPr bwMode="auto">
              <a:xfrm>
                <a:off x="4269"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16" name="Freeform 1450"/>
              <p:cNvSpPr>
                <a:spLocks/>
              </p:cNvSpPr>
              <p:nvPr/>
            </p:nvSpPr>
            <p:spPr bwMode="auto">
              <a:xfrm>
                <a:off x="4280"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17" name="Freeform 1451"/>
              <p:cNvSpPr>
                <a:spLocks/>
              </p:cNvSpPr>
              <p:nvPr/>
            </p:nvSpPr>
            <p:spPr bwMode="auto">
              <a:xfrm>
                <a:off x="4315" y="1578"/>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18" name="Freeform 1452"/>
              <p:cNvSpPr>
                <a:spLocks/>
              </p:cNvSpPr>
              <p:nvPr/>
            </p:nvSpPr>
            <p:spPr bwMode="auto">
              <a:xfrm>
                <a:off x="4358"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19" name="Freeform 1453"/>
              <p:cNvSpPr>
                <a:spLocks/>
              </p:cNvSpPr>
              <p:nvPr/>
            </p:nvSpPr>
            <p:spPr bwMode="auto">
              <a:xfrm>
                <a:off x="4362" y="1578"/>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20" name="Freeform 1454"/>
              <p:cNvSpPr>
                <a:spLocks/>
              </p:cNvSpPr>
              <p:nvPr/>
            </p:nvSpPr>
            <p:spPr bwMode="auto">
              <a:xfrm>
                <a:off x="4385" y="1578"/>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21" name="Freeform 1455"/>
              <p:cNvSpPr>
                <a:spLocks/>
              </p:cNvSpPr>
              <p:nvPr/>
            </p:nvSpPr>
            <p:spPr bwMode="auto">
              <a:xfrm>
                <a:off x="4390" y="1578"/>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22" name="Freeform 1456"/>
              <p:cNvSpPr>
                <a:spLocks/>
              </p:cNvSpPr>
              <p:nvPr/>
            </p:nvSpPr>
            <p:spPr bwMode="auto">
              <a:xfrm>
                <a:off x="4392" y="1578"/>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23" name="Freeform 1457"/>
              <p:cNvSpPr>
                <a:spLocks/>
              </p:cNvSpPr>
              <p:nvPr/>
            </p:nvSpPr>
            <p:spPr bwMode="auto">
              <a:xfrm>
                <a:off x="4393" y="1578"/>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24" name="Freeform 1458"/>
              <p:cNvSpPr>
                <a:spLocks/>
              </p:cNvSpPr>
              <p:nvPr/>
            </p:nvSpPr>
            <p:spPr bwMode="auto">
              <a:xfrm>
                <a:off x="4395" y="157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25" name="Freeform 1459"/>
              <p:cNvSpPr>
                <a:spLocks/>
              </p:cNvSpPr>
              <p:nvPr/>
            </p:nvSpPr>
            <p:spPr bwMode="auto">
              <a:xfrm>
                <a:off x="4416"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26" name="Freeform 1460"/>
              <p:cNvSpPr>
                <a:spLocks/>
              </p:cNvSpPr>
              <p:nvPr/>
            </p:nvSpPr>
            <p:spPr bwMode="auto">
              <a:xfrm>
                <a:off x="4418" y="1578"/>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27" name="Freeform 1461"/>
              <p:cNvSpPr>
                <a:spLocks/>
              </p:cNvSpPr>
              <p:nvPr/>
            </p:nvSpPr>
            <p:spPr bwMode="auto">
              <a:xfrm>
                <a:off x="4463" y="1578"/>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28" name="Freeform 1462"/>
              <p:cNvSpPr>
                <a:spLocks/>
              </p:cNvSpPr>
              <p:nvPr/>
            </p:nvSpPr>
            <p:spPr bwMode="auto">
              <a:xfrm>
                <a:off x="4481" y="1578"/>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29" name="Freeform 1463"/>
              <p:cNvSpPr>
                <a:spLocks/>
              </p:cNvSpPr>
              <p:nvPr/>
            </p:nvSpPr>
            <p:spPr bwMode="auto">
              <a:xfrm>
                <a:off x="4495" y="1578"/>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30" name="Freeform 1464"/>
              <p:cNvSpPr>
                <a:spLocks/>
              </p:cNvSpPr>
              <p:nvPr/>
            </p:nvSpPr>
            <p:spPr bwMode="auto">
              <a:xfrm>
                <a:off x="4510" y="1578"/>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31" name="Freeform 1465"/>
              <p:cNvSpPr>
                <a:spLocks/>
              </p:cNvSpPr>
              <p:nvPr/>
            </p:nvSpPr>
            <p:spPr bwMode="auto">
              <a:xfrm>
                <a:off x="1070"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32" name="Freeform 1466"/>
              <p:cNvSpPr>
                <a:spLocks/>
              </p:cNvSpPr>
              <p:nvPr/>
            </p:nvSpPr>
            <p:spPr bwMode="auto">
              <a:xfrm>
                <a:off x="1559"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33" name="Freeform 1467"/>
              <p:cNvSpPr>
                <a:spLocks/>
              </p:cNvSpPr>
              <p:nvPr/>
            </p:nvSpPr>
            <p:spPr bwMode="auto">
              <a:xfrm>
                <a:off x="1573" y="1538"/>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34" name="Freeform 1468"/>
              <p:cNvSpPr>
                <a:spLocks/>
              </p:cNvSpPr>
              <p:nvPr/>
            </p:nvSpPr>
            <p:spPr bwMode="auto">
              <a:xfrm>
                <a:off x="1576"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35" name="Freeform 1469"/>
              <p:cNvSpPr>
                <a:spLocks/>
              </p:cNvSpPr>
              <p:nvPr/>
            </p:nvSpPr>
            <p:spPr bwMode="auto">
              <a:xfrm>
                <a:off x="1606"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36" name="Freeform 1470"/>
              <p:cNvSpPr>
                <a:spLocks/>
              </p:cNvSpPr>
              <p:nvPr/>
            </p:nvSpPr>
            <p:spPr bwMode="auto">
              <a:xfrm>
                <a:off x="1625"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37" name="Freeform 1471"/>
              <p:cNvSpPr>
                <a:spLocks/>
              </p:cNvSpPr>
              <p:nvPr/>
            </p:nvSpPr>
            <p:spPr bwMode="auto">
              <a:xfrm>
                <a:off x="1670"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38" name="Freeform 1472"/>
              <p:cNvSpPr>
                <a:spLocks/>
              </p:cNvSpPr>
              <p:nvPr/>
            </p:nvSpPr>
            <p:spPr bwMode="auto">
              <a:xfrm>
                <a:off x="1726"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39" name="Freeform 1473"/>
              <p:cNvSpPr>
                <a:spLocks/>
              </p:cNvSpPr>
              <p:nvPr/>
            </p:nvSpPr>
            <p:spPr bwMode="auto">
              <a:xfrm>
                <a:off x="1936"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40" name="Freeform 1474"/>
              <p:cNvSpPr>
                <a:spLocks/>
              </p:cNvSpPr>
              <p:nvPr/>
            </p:nvSpPr>
            <p:spPr bwMode="auto">
              <a:xfrm>
                <a:off x="2390" y="1538"/>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41" name="Freeform 1475"/>
              <p:cNvSpPr>
                <a:spLocks/>
              </p:cNvSpPr>
              <p:nvPr/>
            </p:nvSpPr>
            <p:spPr bwMode="auto">
              <a:xfrm>
                <a:off x="2397" y="1538"/>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42" name="Freeform 1476"/>
              <p:cNvSpPr>
                <a:spLocks/>
              </p:cNvSpPr>
              <p:nvPr/>
            </p:nvSpPr>
            <p:spPr bwMode="auto">
              <a:xfrm>
                <a:off x="2400"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43" name="Freeform 1477"/>
              <p:cNvSpPr>
                <a:spLocks/>
              </p:cNvSpPr>
              <p:nvPr/>
            </p:nvSpPr>
            <p:spPr bwMode="auto">
              <a:xfrm>
                <a:off x="2407"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44" name="Freeform 1478"/>
              <p:cNvSpPr>
                <a:spLocks/>
              </p:cNvSpPr>
              <p:nvPr/>
            </p:nvSpPr>
            <p:spPr bwMode="auto">
              <a:xfrm>
                <a:off x="2419"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45" name="Freeform 1479"/>
              <p:cNvSpPr>
                <a:spLocks/>
              </p:cNvSpPr>
              <p:nvPr/>
            </p:nvSpPr>
            <p:spPr bwMode="auto">
              <a:xfrm>
                <a:off x="2472"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46" name="Freeform 1480"/>
              <p:cNvSpPr>
                <a:spLocks/>
              </p:cNvSpPr>
              <p:nvPr/>
            </p:nvSpPr>
            <p:spPr bwMode="auto">
              <a:xfrm>
                <a:off x="2501"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47" name="Freeform 1481"/>
              <p:cNvSpPr>
                <a:spLocks/>
              </p:cNvSpPr>
              <p:nvPr/>
            </p:nvSpPr>
            <p:spPr bwMode="auto">
              <a:xfrm>
                <a:off x="2517"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48" name="Freeform 1482"/>
              <p:cNvSpPr>
                <a:spLocks/>
              </p:cNvSpPr>
              <p:nvPr/>
            </p:nvSpPr>
            <p:spPr bwMode="auto">
              <a:xfrm>
                <a:off x="2534"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49" name="Freeform 1483"/>
              <p:cNvSpPr>
                <a:spLocks/>
              </p:cNvSpPr>
              <p:nvPr/>
            </p:nvSpPr>
            <p:spPr bwMode="auto">
              <a:xfrm>
                <a:off x="2538" y="153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50" name="Freeform 1484"/>
              <p:cNvSpPr>
                <a:spLocks/>
              </p:cNvSpPr>
              <p:nvPr/>
            </p:nvSpPr>
            <p:spPr bwMode="auto">
              <a:xfrm>
                <a:off x="2554" y="153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51" name="Freeform 1485"/>
              <p:cNvSpPr>
                <a:spLocks/>
              </p:cNvSpPr>
              <p:nvPr/>
            </p:nvSpPr>
            <p:spPr bwMode="auto">
              <a:xfrm>
                <a:off x="2582" y="1538"/>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52" name="Freeform 1486"/>
              <p:cNvSpPr>
                <a:spLocks/>
              </p:cNvSpPr>
              <p:nvPr/>
            </p:nvSpPr>
            <p:spPr bwMode="auto">
              <a:xfrm>
                <a:off x="2594" y="1538"/>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53" name="Freeform 1487"/>
              <p:cNvSpPr>
                <a:spLocks/>
              </p:cNvSpPr>
              <p:nvPr/>
            </p:nvSpPr>
            <p:spPr bwMode="auto">
              <a:xfrm>
                <a:off x="2606"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54" name="Freeform 1488"/>
              <p:cNvSpPr>
                <a:spLocks/>
              </p:cNvSpPr>
              <p:nvPr/>
            </p:nvSpPr>
            <p:spPr bwMode="auto">
              <a:xfrm>
                <a:off x="2733"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55" name="Freeform 1489"/>
              <p:cNvSpPr>
                <a:spLocks/>
              </p:cNvSpPr>
              <p:nvPr/>
            </p:nvSpPr>
            <p:spPr bwMode="auto">
              <a:xfrm>
                <a:off x="2765"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56" name="Freeform 1490"/>
              <p:cNvSpPr>
                <a:spLocks/>
              </p:cNvSpPr>
              <p:nvPr/>
            </p:nvSpPr>
            <p:spPr bwMode="auto">
              <a:xfrm>
                <a:off x="3257"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57" name="Freeform 1491"/>
              <p:cNvSpPr>
                <a:spLocks/>
              </p:cNvSpPr>
              <p:nvPr/>
            </p:nvSpPr>
            <p:spPr bwMode="auto">
              <a:xfrm>
                <a:off x="3297"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58" name="Freeform 1492"/>
              <p:cNvSpPr>
                <a:spLocks/>
              </p:cNvSpPr>
              <p:nvPr/>
            </p:nvSpPr>
            <p:spPr bwMode="auto">
              <a:xfrm>
                <a:off x="3318"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59" name="Freeform 1493"/>
              <p:cNvSpPr>
                <a:spLocks/>
              </p:cNvSpPr>
              <p:nvPr/>
            </p:nvSpPr>
            <p:spPr bwMode="auto">
              <a:xfrm>
                <a:off x="3322" y="153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60" name="Freeform 1494"/>
              <p:cNvSpPr>
                <a:spLocks/>
              </p:cNvSpPr>
              <p:nvPr/>
            </p:nvSpPr>
            <p:spPr bwMode="auto">
              <a:xfrm>
                <a:off x="3501"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61" name="Freeform 1495"/>
              <p:cNvSpPr>
                <a:spLocks/>
              </p:cNvSpPr>
              <p:nvPr/>
            </p:nvSpPr>
            <p:spPr bwMode="auto">
              <a:xfrm>
                <a:off x="3512"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62" name="Freeform 1496"/>
              <p:cNvSpPr>
                <a:spLocks/>
              </p:cNvSpPr>
              <p:nvPr/>
            </p:nvSpPr>
            <p:spPr bwMode="auto">
              <a:xfrm>
                <a:off x="3519"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63" name="Freeform 1497"/>
              <p:cNvSpPr>
                <a:spLocks/>
              </p:cNvSpPr>
              <p:nvPr/>
            </p:nvSpPr>
            <p:spPr bwMode="auto">
              <a:xfrm>
                <a:off x="3554"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64" name="Freeform 1498"/>
              <p:cNvSpPr>
                <a:spLocks/>
              </p:cNvSpPr>
              <p:nvPr/>
            </p:nvSpPr>
            <p:spPr bwMode="auto">
              <a:xfrm>
                <a:off x="3927"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65" name="Freeform 1499"/>
              <p:cNvSpPr>
                <a:spLocks/>
              </p:cNvSpPr>
              <p:nvPr/>
            </p:nvSpPr>
            <p:spPr bwMode="auto">
              <a:xfrm>
                <a:off x="3974"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66" name="Freeform 1500"/>
              <p:cNvSpPr>
                <a:spLocks/>
              </p:cNvSpPr>
              <p:nvPr/>
            </p:nvSpPr>
            <p:spPr bwMode="auto">
              <a:xfrm>
                <a:off x="3985"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67" name="Freeform 1501"/>
              <p:cNvSpPr>
                <a:spLocks/>
              </p:cNvSpPr>
              <p:nvPr/>
            </p:nvSpPr>
            <p:spPr bwMode="auto">
              <a:xfrm>
                <a:off x="3992"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68" name="Freeform 1502"/>
              <p:cNvSpPr>
                <a:spLocks/>
              </p:cNvSpPr>
              <p:nvPr/>
            </p:nvSpPr>
            <p:spPr bwMode="auto">
              <a:xfrm>
                <a:off x="4009"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69" name="Freeform 1503"/>
              <p:cNvSpPr>
                <a:spLocks/>
              </p:cNvSpPr>
              <p:nvPr/>
            </p:nvSpPr>
            <p:spPr bwMode="auto">
              <a:xfrm>
                <a:off x="4016"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70" name="Freeform 1504"/>
              <p:cNvSpPr>
                <a:spLocks/>
              </p:cNvSpPr>
              <p:nvPr/>
            </p:nvSpPr>
            <p:spPr bwMode="auto">
              <a:xfrm>
                <a:off x="4018"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71" name="Freeform 1505"/>
              <p:cNvSpPr>
                <a:spLocks/>
              </p:cNvSpPr>
              <p:nvPr/>
            </p:nvSpPr>
            <p:spPr bwMode="auto">
              <a:xfrm>
                <a:off x="4023"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72" name="Freeform 1506"/>
              <p:cNvSpPr>
                <a:spLocks/>
              </p:cNvSpPr>
              <p:nvPr/>
            </p:nvSpPr>
            <p:spPr bwMode="auto">
              <a:xfrm>
                <a:off x="4025"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73" name="Freeform 1507"/>
              <p:cNvSpPr>
                <a:spLocks/>
              </p:cNvSpPr>
              <p:nvPr/>
            </p:nvSpPr>
            <p:spPr bwMode="auto">
              <a:xfrm>
                <a:off x="4032"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74" name="Freeform 1508"/>
              <p:cNvSpPr>
                <a:spLocks/>
              </p:cNvSpPr>
              <p:nvPr/>
            </p:nvSpPr>
            <p:spPr bwMode="auto">
              <a:xfrm>
                <a:off x="4053"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75" name="Freeform 1509"/>
              <p:cNvSpPr>
                <a:spLocks/>
              </p:cNvSpPr>
              <p:nvPr/>
            </p:nvSpPr>
            <p:spPr bwMode="auto">
              <a:xfrm>
                <a:off x="4112" y="1538"/>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76" name="Freeform 1510"/>
              <p:cNvSpPr>
                <a:spLocks/>
              </p:cNvSpPr>
              <p:nvPr/>
            </p:nvSpPr>
            <p:spPr bwMode="auto">
              <a:xfrm>
                <a:off x="4118" y="1538"/>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77" name="Freeform 1511"/>
              <p:cNvSpPr>
                <a:spLocks/>
              </p:cNvSpPr>
              <p:nvPr/>
            </p:nvSpPr>
            <p:spPr bwMode="auto">
              <a:xfrm>
                <a:off x="4184"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78" name="Freeform 1512"/>
              <p:cNvSpPr>
                <a:spLocks/>
              </p:cNvSpPr>
              <p:nvPr/>
            </p:nvSpPr>
            <p:spPr bwMode="auto">
              <a:xfrm>
                <a:off x="4210" y="1538"/>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79" name="Freeform 1513"/>
              <p:cNvSpPr>
                <a:spLocks/>
              </p:cNvSpPr>
              <p:nvPr/>
            </p:nvSpPr>
            <p:spPr bwMode="auto">
              <a:xfrm>
                <a:off x="4235" y="1538"/>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80" name="Freeform 1514"/>
              <p:cNvSpPr>
                <a:spLocks/>
              </p:cNvSpPr>
              <p:nvPr/>
            </p:nvSpPr>
            <p:spPr bwMode="auto">
              <a:xfrm>
                <a:off x="4249" y="1538"/>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81" name="Freeform 1515"/>
              <p:cNvSpPr>
                <a:spLocks/>
              </p:cNvSpPr>
              <p:nvPr/>
            </p:nvSpPr>
            <p:spPr bwMode="auto">
              <a:xfrm>
                <a:off x="4294" y="1538"/>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82" name="Freeform 1516"/>
              <p:cNvSpPr>
                <a:spLocks/>
              </p:cNvSpPr>
              <p:nvPr/>
            </p:nvSpPr>
            <p:spPr bwMode="auto">
              <a:xfrm>
                <a:off x="4435"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83" name="Freeform 1517"/>
              <p:cNvSpPr>
                <a:spLocks/>
              </p:cNvSpPr>
              <p:nvPr/>
            </p:nvSpPr>
            <p:spPr bwMode="auto">
              <a:xfrm>
                <a:off x="4465" y="1538"/>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84" name="Freeform 1518"/>
              <p:cNvSpPr>
                <a:spLocks/>
              </p:cNvSpPr>
              <p:nvPr/>
            </p:nvSpPr>
            <p:spPr bwMode="auto">
              <a:xfrm>
                <a:off x="4568" y="1538"/>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85" name="Freeform 1519"/>
              <p:cNvSpPr>
                <a:spLocks/>
              </p:cNvSpPr>
              <p:nvPr/>
            </p:nvSpPr>
            <p:spPr bwMode="auto">
              <a:xfrm>
                <a:off x="4571" y="1538"/>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86" name="Freeform 1520"/>
              <p:cNvSpPr>
                <a:spLocks/>
              </p:cNvSpPr>
              <p:nvPr/>
            </p:nvSpPr>
            <p:spPr bwMode="auto">
              <a:xfrm>
                <a:off x="1416"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87" name="Freeform 1521"/>
              <p:cNvSpPr>
                <a:spLocks/>
              </p:cNvSpPr>
              <p:nvPr/>
            </p:nvSpPr>
            <p:spPr bwMode="auto">
              <a:xfrm>
                <a:off x="1559" y="1498"/>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88" name="Freeform 1522"/>
              <p:cNvSpPr>
                <a:spLocks/>
              </p:cNvSpPr>
              <p:nvPr/>
            </p:nvSpPr>
            <p:spPr bwMode="auto">
              <a:xfrm>
                <a:off x="1695" y="1498"/>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89" name="Freeform 1523"/>
              <p:cNvSpPr>
                <a:spLocks/>
              </p:cNvSpPr>
              <p:nvPr/>
            </p:nvSpPr>
            <p:spPr bwMode="auto">
              <a:xfrm>
                <a:off x="1878"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90" name="Freeform 1524"/>
              <p:cNvSpPr>
                <a:spLocks/>
              </p:cNvSpPr>
              <p:nvPr/>
            </p:nvSpPr>
            <p:spPr bwMode="auto">
              <a:xfrm>
                <a:off x="1903" y="1498"/>
                <a:ext cx="10" cy="11"/>
              </a:xfrm>
              <a:custGeom>
                <a:avLst/>
                <a:gdLst>
                  <a:gd name="T0" fmla="*/ 1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7" y="0"/>
                    </a:lnTo>
                    <a:lnTo>
                      <a:pt x="10" y="4"/>
                    </a:lnTo>
                    <a:lnTo>
                      <a:pt x="10" y="7"/>
                    </a:lnTo>
                    <a:lnTo>
                      <a:pt x="7"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91" name="Freeform 1525"/>
              <p:cNvSpPr>
                <a:spLocks/>
              </p:cNvSpPr>
              <p:nvPr/>
            </p:nvSpPr>
            <p:spPr bwMode="auto">
              <a:xfrm>
                <a:off x="1904" y="1498"/>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392" name="Freeform 1526"/>
              <p:cNvSpPr>
                <a:spLocks/>
              </p:cNvSpPr>
              <p:nvPr/>
            </p:nvSpPr>
            <p:spPr bwMode="auto">
              <a:xfrm>
                <a:off x="1924"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393" name="Freeform 1527"/>
              <p:cNvSpPr>
                <a:spLocks/>
              </p:cNvSpPr>
              <p:nvPr/>
            </p:nvSpPr>
            <p:spPr bwMode="auto">
              <a:xfrm>
                <a:off x="1929"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94" name="Freeform 1528"/>
              <p:cNvSpPr>
                <a:spLocks/>
              </p:cNvSpPr>
              <p:nvPr/>
            </p:nvSpPr>
            <p:spPr bwMode="auto">
              <a:xfrm>
                <a:off x="1967"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95" name="Freeform 1529"/>
              <p:cNvSpPr>
                <a:spLocks/>
              </p:cNvSpPr>
              <p:nvPr/>
            </p:nvSpPr>
            <p:spPr bwMode="auto">
              <a:xfrm>
                <a:off x="1974"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96" name="Freeform 1530"/>
              <p:cNvSpPr>
                <a:spLocks/>
              </p:cNvSpPr>
              <p:nvPr/>
            </p:nvSpPr>
            <p:spPr bwMode="auto">
              <a:xfrm>
                <a:off x="2505" y="1498"/>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397" name="Freeform 1531"/>
              <p:cNvSpPr>
                <a:spLocks/>
              </p:cNvSpPr>
              <p:nvPr/>
            </p:nvSpPr>
            <p:spPr bwMode="auto">
              <a:xfrm>
                <a:off x="2550"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98" name="Freeform 1532"/>
              <p:cNvSpPr>
                <a:spLocks/>
              </p:cNvSpPr>
              <p:nvPr/>
            </p:nvSpPr>
            <p:spPr bwMode="auto">
              <a:xfrm>
                <a:off x="2552" y="1498"/>
                <a:ext cx="10" cy="11"/>
              </a:xfrm>
              <a:custGeom>
                <a:avLst/>
                <a:gdLst>
                  <a:gd name="T0" fmla="*/ 2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9" y="0"/>
                    </a:lnTo>
                    <a:lnTo>
                      <a:pt x="10" y="2"/>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399" name="Freeform 1533"/>
              <p:cNvSpPr>
                <a:spLocks/>
              </p:cNvSpPr>
              <p:nvPr/>
            </p:nvSpPr>
            <p:spPr bwMode="auto">
              <a:xfrm>
                <a:off x="3025" y="1498"/>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00" name="Freeform 1534"/>
              <p:cNvSpPr>
                <a:spLocks/>
              </p:cNvSpPr>
              <p:nvPr/>
            </p:nvSpPr>
            <p:spPr bwMode="auto">
              <a:xfrm>
                <a:off x="3280" y="1498"/>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01" name="Freeform 1535"/>
              <p:cNvSpPr>
                <a:spLocks/>
              </p:cNvSpPr>
              <p:nvPr/>
            </p:nvSpPr>
            <p:spPr bwMode="auto">
              <a:xfrm>
                <a:off x="3287" y="1498"/>
                <a:ext cx="8" cy="11"/>
              </a:xfrm>
              <a:custGeom>
                <a:avLst/>
                <a:gdLst>
                  <a:gd name="T0" fmla="*/ 2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2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2" y="0"/>
                    </a:moveTo>
                    <a:lnTo>
                      <a:pt x="7" y="0"/>
                    </a:lnTo>
                    <a:lnTo>
                      <a:pt x="8" y="2"/>
                    </a:lnTo>
                    <a:lnTo>
                      <a:pt x="8"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02" name="Freeform 1536"/>
              <p:cNvSpPr>
                <a:spLocks/>
              </p:cNvSpPr>
              <p:nvPr/>
            </p:nvSpPr>
            <p:spPr bwMode="auto">
              <a:xfrm>
                <a:off x="3297" y="1498"/>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03" name="Freeform 1537"/>
              <p:cNvSpPr>
                <a:spLocks/>
              </p:cNvSpPr>
              <p:nvPr/>
            </p:nvSpPr>
            <p:spPr bwMode="auto">
              <a:xfrm>
                <a:off x="3302"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04" name="Freeform 1538"/>
              <p:cNvSpPr>
                <a:spLocks/>
              </p:cNvSpPr>
              <p:nvPr/>
            </p:nvSpPr>
            <p:spPr bwMode="auto">
              <a:xfrm>
                <a:off x="3304"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05" name="Freeform 1539"/>
              <p:cNvSpPr>
                <a:spLocks/>
              </p:cNvSpPr>
              <p:nvPr/>
            </p:nvSpPr>
            <p:spPr bwMode="auto">
              <a:xfrm>
                <a:off x="3322"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06" name="Freeform 1540"/>
              <p:cNvSpPr>
                <a:spLocks/>
              </p:cNvSpPr>
              <p:nvPr/>
            </p:nvSpPr>
            <p:spPr bwMode="auto">
              <a:xfrm>
                <a:off x="3337"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07" name="Freeform 1541"/>
              <p:cNvSpPr>
                <a:spLocks/>
              </p:cNvSpPr>
              <p:nvPr/>
            </p:nvSpPr>
            <p:spPr bwMode="auto">
              <a:xfrm>
                <a:off x="3344"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08" name="Freeform 1542"/>
              <p:cNvSpPr>
                <a:spLocks/>
              </p:cNvSpPr>
              <p:nvPr/>
            </p:nvSpPr>
            <p:spPr bwMode="auto">
              <a:xfrm>
                <a:off x="3458" y="1498"/>
                <a:ext cx="10" cy="11"/>
              </a:xfrm>
              <a:custGeom>
                <a:avLst/>
                <a:gdLst>
                  <a:gd name="T0" fmla="*/ 3 w 10"/>
                  <a:gd name="T1" fmla="*/ 0 h 11"/>
                  <a:gd name="T2" fmla="*/ 9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9"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09" name="Freeform 1543"/>
              <p:cNvSpPr>
                <a:spLocks/>
              </p:cNvSpPr>
              <p:nvPr/>
            </p:nvSpPr>
            <p:spPr bwMode="auto">
              <a:xfrm>
                <a:off x="3501"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10" name="Freeform 1544"/>
              <p:cNvSpPr>
                <a:spLocks/>
              </p:cNvSpPr>
              <p:nvPr/>
            </p:nvSpPr>
            <p:spPr bwMode="auto">
              <a:xfrm>
                <a:off x="3577" y="1498"/>
                <a:ext cx="10" cy="11"/>
              </a:xfrm>
              <a:custGeom>
                <a:avLst/>
                <a:gdLst>
                  <a:gd name="T0" fmla="*/ 1 w 10"/>
                  <a:gd name="T1" fmla="*/ 0 h 11"/>
                  <a:gd name="T2" fmla="*/ 6 w 10"/>
                  <a:gd name="T3" fmla="*/ 0 h 11"/>
                  <a:gd name="T4" fmla="*/ 10 w 10"/>
                  <a:gd name="T5" fmla="*/ 4 h 11"/>
                  <a:gd name="T6" fmla="*/ 10 w 10"/>
                  <a:gd name="T7" fmla="*/ 7 h 11"/>
                  <a:gd name="T8" fmla="*/ 6 w 10"/>
                  <a:gd name="T9" fmla="*/ 11 h 11"/>
                  <a:gd name="T10" fmla="*/ 3 w 10"/>
                  <a:gd name="T11" fmla="*/ 11 h 11"/>
                  <a:gd name="T12" fmla="*/ 0 w 10"/>
                  <a:gd name="T13" fmla="*/ 7 h 11"/>
                  <a:gd name="T14" fmla="*/ 0 w 10"/>
                  <a:gd name="T15" fmla="*/ 2 h 11"/>
                  <a:gd name="T16" fmla="*/ 1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1" y="0"/>
                    </a:moveTo>
                    <a:lnTo>
                      <a:pt x="6" y="0"/>
                    </a:lnTo>
                    <a:lnTo>
                      <a:pt x="10" y="4"/>
                    </a:lnTo>
                    <a:lnTo>
                      <a:pt x="10" y="7"/>
                    </a:lnTo>
                    <a:lnTo>
                      <a:pt x="6"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11" name="Freeform 1545"/>
              <p:cNvSpPr>
                <a:spLocks/>
              </p:cNvSpPr>
              <p:nvPr/>
            </p:nvSpPr>
            <p:spPr bwMode="auto">
              <a:xfrm>
                <a:off x="4247"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12" name="Freeform 1546"/>
              <p:cNvSpPr>
                <a:spLocks/>
              </p:cNvSpPr>
              <p:nvPr/>
            </p:nvSpPr>
            <p:spPr bwMode="auto">
              <a:xfrm>
                <a:off x="4250" y="1498"/>
                <a:ext cx="11" cy="11"/>
              </a:xfrm>
              <a:custGeom>
                <a:avLst/>
                <a:gdLst>
                  <a:gd name="T0" fmla="*/ 2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9" y="0"/>
                    </a:lnTo>
                    <a:lnTo>
                      <a:pt x="11" y="2"/>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13" name="Freeform 1547"/>
              <p:cNvSpPr>
                <a:spLocks/>
              </p:cNvSpPr>
              <p:nvPr/>
            </p:nvSpPr>
            <p:spPr bwMode="auto">
              <a:xfrm>
                <a:off x="4273" y="1498"/>
                <a:ext cx="10" cy="11"/>
              </a:xfrm>
              <a:custGeom>
                <a:avLst/>
                <a:gdLst>
                  <a:gd name="T0" fmla="*/ 2 w 10"/>
                  <a:gd name="T1" fmla="*/ 0 h 11"/>
                  <a:gd name="T2" fmla="*/ 7 w 10"/>
                  <a:gd name="T3" fmla="*/ 0 h 11"/>
                  <a:gd name="T4" fmla="*/ 10 w 10"/>
                  <a:gd name="T5" fmla="*/ 4 h 11"/>
                  <a:gd name="T6" fmla="*/ 10 w 10"/>
                  <a:gd name="T7" fmla="*/ 7 h 11"/>
                  <a:gd name="T8" fmla="*/ 7 w 10"/>
                  <a:gd name="T9" fmla="*/ 11 h 11"/>
                  <a:gd name="T10" fmla="*/ 3 w 10"/>
                  <a:gd name="T11" fmla="*/ 11 h 11"/>
                  <a:gd name="T12" fmla="*/ 0 w 10"/>
                  <a:gd name="T13" fmla="*/ 7 h 11"/>
                  <a:gd name="T14" fmla="*/ 0 w 10"/>
                  <a:gd name="T15" fmla="*/ 2 h 11"/>
                  <a:gd name="T16" fmla="*/ 2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2" y="0"/>
                    </a:moveTo>
                    <a:lnTo>
                      <a:pt x="7" y="0"/>
                    </a:lnTo>
                    <a:lnTo>
                      <a:pt x="10" y="4"/>
                    </a:lnTo>
                    <a:lnTo>
                      <a:pt x="10" y="7"/>
                    </a:lnTo>
                    <a:lnTo>
                      <a:pt x="7"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14" name="Freeform 1548"/>
              <p:cNvSpPr>
                <a:spLocks/>
              </p:cNvSpPr>
              <p:nvPr/>
            </p:nvSpPr>
            <p:spPr bwMode="auto">
              <a:xfrm>
                <a:off x="4296"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15" name="Freeform 1549"/>
              <p:cNvSpPr>
                <a:spLocks/>
              </p:cNvSpPr>
              <p:nvPr/>
            </p:nvSpPr>
            <p:spPr bwMode="auto">
              <a:xfrm>
                <a:off x="4310"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16" name="Freeform 1550"/>
              <p:cNvSpPr>
                <a:spLocks/>
              </p:cNvSpPr>
              <p:nvPr/>
            </p:nvSpPr>
            <p:spPr bwMode="auto">
              <a:xfrm>
                <a:off x="4320"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17" name="Freeform 1551"/>
              <p:cNvSpPr>
                <a:spLocks/>
              </p:cNvSpPr>
              <p:nvPr/>
            </p:nvSpPr>
            <p:spPr bwMode="auto">
              <a:xfrm>
                <a:off x="4393" y="1498"/>
                <a:ext cx="11" cy="11"/>
              </a:xfrm>
              <a:custGeom>
                <a:avLst/>
                <a:gdLst>
                  <a:gd name="T0" fmla="*/ 2 w 11"/>
                  <a:gd name="T1" fmla="*/ 0 h 11"/>
                  <a:gd name="T2" fmla="*/ 7 w 11"/>
                  <a:gd name="T3" fmla="*/ 0 h 11"/>
                  <a:gd name="T4" fmla="*/ 11 w 11"/>
                  <a:gd name="T5" fmla="*/ 4 h 11"/>
                  <a:gd name="T6" fmla="*/ 11 w 11"/>
                  <a:gd name="T7" fmla="*/ 7 h 11"/>
                  <a:gd name="T8" fmla="*/ 7 w 11"/>
                  <a:gd name="T9" fmla="*/ 11 h 11"/>
                  <a:gd name="T10" fmla="*/ 4 w 11"/>
                  <a:gd name="T11" fmla="*/ 11 h 11"/>
                  <a:gd name="T12" fmla="*/ 0 w 11"/>
                  <a:gd name="T13" fmla="*/ 7 h 11"/>
                  <a:gd name="T14" fmla="*/ 0 w 11"/>
                  <a:gd name="T15" fmla="*/ 2 h 11"/>
                  <a:gd name="T16" fmla="*/ 2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2" y="0"/>
                    </a:moveTo>
                    <a:lnTo>
                      <a:pt x="7" y="0"/>
                    </a:lnTo>
                    <a:lnTo>
                      <a:pt x="11" y="4"/>
                    </a:lnTo>
                    <a:lnTo>
                      <a:pt x="11" y="7"/>
                    </a:lnTo>
                    <a:lnTo>
                      <a:pt x="7"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18" name="Freeform 1552"/>
              <p:cNvSpPr>
                <a:spLocks/>
              </p:cNvSpPr>
              <p:nvPr/>
            </p:nvSpPr>
            <p:spPr bwMode="auto">
              <a:xfrm>
                <a:off x="4402" y="1498"/>
                <a:ext cx="11" cy="11"/>
              </a:xfrm>
              <a:custGeom>
                <a:avLst/>
                <a:gdLst>
                  <a:gd name="T0" fmla="*/ 4 w 11"/>
                  <a:gd name="T1" fmla="*/ 0 h 11"/>
                  <a:gd name="T2" fmla="*/ 9 w 11"/>
                  <a:gd name="T3" fmla="*/ 0 h 11"/>
                  <a:gd name="T4" fmla="*/ 11 w 11"/>
                  <a:gd name="T5" fmla="*/ 2 h 11"/>
                  <a:gd name="T6" fmla="*/ 11 w 11"/>
                  <a:gd name="T7" fmla="*/ 7 h 11"/>
                  <a:gd name="T8" fmla="*/ 7 w 11"/>
                  <a:gd name="T9" fmla="*/ 11 h 11"/>
                  <a:gd name="T10" fmla="*/ 4 w 11"/>
                  <a:gd name="T11" fmla="*/ 11 h 11"/>
                  <a:gd name="T12" fmla="*/ 0 w 11"/>
                  <a:gd name="T13" fmla="*/ 7 h 11"/>
                  <a:gd name="T14" fmla="*/ 0 w 11"/>
                  <a:gd name="T15" fmla="*/ 4 h 11"/>
                  <a:gd name="T16" fmla="*/ 4 w 11"/>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1"/>
                  <a:gd name="T29" fmla="*/ 11 w 11"/>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1">
                    <a:moveTo>
                      <a:pt x="4" y="0"/>
                    </a:moveTo>
                    <a:lnTo>
                      <a:pt x="9" y="0"/>
                    </a:lnTo>
                    <a:lnTo>
                      <a:pt x="11" y="2"/>
                    </a:lnTo>
                    <a:lnTo>
                      <a:pt x="11" y="7"/>
                    </a:lnTo>
                    <a:lnTo>
                      <a:pt x="7" y="11"/>
                    </a:lnTo>
                    <a:lnTo>
                      <a:pt x="4" y="11"/>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19" name="Freeform 1553"/>
              <p:cNvSpPr>
                <a:spLocks/>
              </p:cNvSpPr>
              <p:nvPr/>
            </p:nvSpPr>
            <p:spPr bwMode="auto">
              <a:xfrm>
                <a:off x="4407"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20" name="Freeform 1554"/>
              <p:cNvSpPr>
                <a:spLocks/>
              </p:cNvSpPr>
              <p:nvPr/>
            </p:nvSpPr>
            <p:spPr bwMode="auto">
              <a:xfrm>
                <a:off x="4439"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21" name="Freeform 1555"/>
              <p:cNvSpPr>
                <a:spLocks/>
              </p:cNvSpPr>
              <p:nvPr/>
            </p:nvSpPr>
            <p:spPr bwMode="auto">
              <a:xfrm>
                <a:off x="4448" y="1498"/>
                <a:ext cx="8" cy="11"/>
              </a:xfrm>
              <a:custGeom>
                <a:avLst/>
                <a:gdLst>
                  <a:gd name="T0" fmla="*/ 1 w 8"/>
                  <a:gd name="T1" fmla="*/ 0 h 11"/>
                  <a:gd name="T2" fmla="*/ 7 w 8"/>
                  <a:gd name="T3" fmla="*/ 0 h 11"/>
                  <a:gd name="T4" fmla="*/ 8 w 8"/>
                  <a:gd name="T5" fmla="*/ 2 h 11"/>
                  <a:gd name="T6" fmla="*/ 8 w 8"/>
                  <a:gd name="T7" fmla="*/ 7 h 11"/>
                  <a:gd name="T8" fmla="*/ 5 w 8"/>
                  <a:gd name="T9" fmla="*/ 11 h 11"/>
                  <a:gd name="T10" fmla="*/ 3 w 8"/>
                  <a:gd name="T11" fmla="*/ 11 h 11"/>
                  <a:gd name="T12" fmla="*/ 0 w 8"/>
                  <a:gd name="T13" fmla="*/ 7 h 11"/>
                  <a:gd name="T14" fmla="*/ 0 w 8"/>
                  <a:gd name="T15" fmla="*/ 2 h 11"/>
                  <a:gd name="T16" fmla="*/ 1 w 8"/>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1"/>
                  <a:gd name="T29" fmla="*/ 8 w 8"/>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1">
                    <a:moveTo>
                      <a:pt x="1" y="0"/>
                    </a:moveTo>
                    <a:lnTo>
                      <a:pt x="7" y="0"/>
                    </a:lnTo>
                    <a:lnTo>
                      <a:pt x="8" y="2"/>
                    </a:lnTo>
                    <a:lnTo>
                      <a:pt x="8" y="7"/>
                    </a:lnTo>
                    <a:lnTo>
                      <a:pt x="5" y="11"/>
                    </a:lnTo>
                    <a:lnTo>
                      <a:pt x="3" y="11"/>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22" name="Freeform 1556"/>
              <p:cNvSpPr>
                <a:spLocks/>
              </p:cNvSpPr>
              <p:nvPr/>
            </p:nvSpPr>
            <p:spPr bwMode="auto">
              <a:xfrm>
                <a:off x="4456"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23" name="Freeform 1557"/>
              <p:cNvSpPr>
                <a:spLocks/>
              </p:cNvSpPr>
              <p:nvPr/>
            </p:nvSpPr>
            <p:spPr bwMode="auto">
              <a:xfrm>
                <a:off x="4467" y="1498"/>
                <a:ext cx="10" cy="11"/>
              </a:xfrm>
              <a:custGeom>
                <a:avLst/>
                <a:gdLst>
                  <a:gd name="T0" fmla="*/ 3 w 10"/>
                  <a:gd name="T1" fmla="*/ 0 h 11"/>
                  <a:gd name="T2" fmla="*/ 8 w 10"/>
                  <a:gd name="T3" fmla="*/ 0 h 11"/>
                  <a:gd name="T4" fmla="*/ 10 w 10"/>
                  <a:gd name="T5" fmla="*/ 2 h 11"/>
                  <a:gd name="T6" fmla="*/ 10 w 10"/>
                  <a:gd name="T7" fmla="*/ 7 h 11"/>
                  <a:gd name="T8" fmla="*/ 7 w 10"/>
                  <a:gd name="T9" fmla="*/ 11 h 11"/>
                  <a:gd name="T10" fmla="*/ 3 w 10"/>
                  <a:gd name="T11" fmla="*/ 11 h 11"/>
                  <a:gd name="T12" fmla="*/ 0 w 10"/>
                  <a:gd name="T13" fmla="*/ 7 h 11"/>
                  <a:gd name="T14" fmla="*/ 0 w 10"/>
                  <a:gd name="T15" fmla="*/ 4 h 11"/>
                  <a:gd name="T16" fmla="*/ 3 w 10"/>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1"/>
                  <a:gd name="T29" fmla="*/ 10 w 10"/>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1">
                    <a:moveTo>
                      <a:pt x="3" y="0"/>
                    </a:moveTo>
                    <a:lnTo>
                      <a:pt x="8" y="0"/>
                    </a:lnTo>
                    <a:lnTo>
                      <a:pt x="10" y="2"/>
                    </a:lnTo>
                    <a:lnTo>
                      <a:pt x="10" y="7"/>
                    </a:lnTo>
                    <a:lnTo>
                      <a:pt x="7" y="11"/>
                    </a:lnTo>
                    <a:lnTo>
                      <a:pt x="3" y="11"/>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24" name="Freeform 1558"/>
              <p:cNvSpPr>
                <a:spLocks/>
              </p:cNvSpPr>
              <p:nvPr/>
            </p:nvSpPr>
            <p:spPr bwMode="auto">
              <a:xfrm>
                <a:off x="4472"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25" name="Freeform 1559"/>
              <p:cNvSpPr>
                <a:spLocks/>
              </p:cNvSpPr>
              <p:nvPr/>
            </p:nvSpPr>
            <p:spPr bwMode="auto">
              <a:xfrm>
                <a:off x="4479"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26" name="Freeform 1560"/>
              <p:cNvSpPr>
                <a:spLocks/>
              </p:cNvSpPr>
              <p:nvPr/>
            </p:nvSpPr>
            <p:spPr bwMode="auto">
              <a:xfrm>
                <a:off x="4496"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27" name="Freeform 1561"/>
              <p:cNvSpPr>
                <a:spLocks/>
              </p:cNvSpPr>
              <p:nvPr/>
            </p:nvSpPr>
            <p:spPr bwMode="auto">
              <a:xfrm>
                <a:off x="4510" y="1498"/>
                <a:ext cx="9" cy="11"/>
              </a:xfrm>
              <a:custGeom>
                <a:avLst/>
                <a:gdLst>
                  <a:gd name="T0" fmla="*/ 2 w 9"/>
                  <a:gd name="T1" fmla="*/ 0 h 11"/>
                  <a:gd name="T2" fmla="*/ 7 w 9"/>
                  <a:gd name="T3" fmla="*/ 0 h 11"/>
                  <a:gd name="T4" fmla="*/ 9 w 9"/>
                  <a:gd name="T5" fmla="*/ 2 h 11"/>
                  <a:gd name="T6" fmla="*/ 9 w 9"/>
                  <a:gd name="T7" fmla="*/ 7 h 11"/>
                  <a:gd name="T8" fmla="*/ 6 w 9"/>
                  <a:gd name="T9" fmla="*/ 11 h 11"/>
                  <a:gd name="T10" fmla="*/ 4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6" y="11"/>
                    </a:lnTo>
                    <a:lnTo>
                      <a:pt x="4"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28" name="Freeform 1562"/>
              <p:cNvSpPr>
                <a:spLocks/>
              </p:cNvSpPr>
              <p:nvPr/>
            </p:nvSpPr>
            <p:spPr bwMode="auto">
              <a:xfrm>
                <a:off x="4624" y="1498"/>
                <a:ext cx="9" cy="11"/>
              </a:xfrm>
              <a:custGeom>
                <a:avLst/>
                <a:gdLst>
                  <a:gd name="T0" fmla="*/ 2 w 9"/>
                  <a:gd name="T1" fmla="*/ 0 h 11"/>
                  <a:gd name="T2" fmla="*/ 7 w 9"/>
                  <a:gd name="T3" fmla="*/ 0 h 11"/>
                  <a:gd name="T4" fmla="*/ 9 w 9"/>
                  <a:gd name="T5" fmla="*/ 2 h 11"/>
                  <a:gd name="T6" fmla="*/ 9 w 9"/>
                  <a:gd name="T7" fmla="*/ 7 h 11"/>
                  <a:gd name="T8" fmla="*/ 5 w 9"/>
                  <a:gd name="T9" fmla="*/ 11 h 11"/>
                  <a:gd name="T10" fmla="*/ 3 w 9"/>
                  <a:gd name="T11" fmla="*/ 11 h 11"/>
                  <a:gd name="T12" fmla="*/ 0 w 9"/>
                  <a:gd name="T13" fmla="*/ 7 h 11"/>
                  <a:gd name="T14" fmla="*/ 0 w 9"/>
                  <a:gd name="T15" fmla="*/ 2 h 11"/>
                  <a:gd name="T16" fmla="*/ 2 w 9"/>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1"/>
                  <a:gd name="T29" fmla="*/ 9 w 9"/>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1">
                    <a:moveTo>
                      <a:pt x="2" y="0"/>
                    </a:moveTo>
                    <a:lnTo>
                      <a:pt x="7" y="0"/>
                    </a:lnTo>
                    <a:lnTo>
                      <a:pt x="9" y="2"/>
                    </a:lnTo>
                    <a:lnTo>
                      <a:pt x="9" y="7"/>
                    </a:lnTo>
                    <a:lnTo>
                      <a:pt x="5" y="11"/>
                    </a:lnTo>
                    <a:lnTo>
                      <a:pt x="3" y="11"/>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29" name="Freeform 1563"/>
              <p:cNvSpPr>
                <a:spLocks/>
              </p:cNvSpPr>
              <p:nvPr/>
            </p:nvSpPr>
            <p:spPr bwMode="auto">
              <a:xfrm>
                <a:off x="1409"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30" name="Freeform 1564"/>
              <p:cNvSpPr>
                <a:spLocks/>
              </p:cNvSpPr>
              <p:nvPr/>
            </p:nvSpPr>
            <p:spPr bwMode="auto">
              <a:xfrm>
                <a:off x="1440" y="1458"/>
                <a:ext cx="10" cy="10"/>
              </a:xfrm>
              <a:custGeom>
                <a:avLst/>
                <a:gdLst>
                  <a:gd name="T0" fmla="*/ 4 w 10"/>
                  <a:gd name="T1" fmla="*/ 0 h 10"/>
                  <a:gd name="T2" fmla="*/ 9 w 10"/>
                  <a:gd name="T3" fmla="*/ 0 h 10"/>
                  <a:gd name="T4" fmla="*/ 10 w 10"/>
                  <a:gd name="T5" fmla="*/ 2 h 10"/>
                  <a:gd name="T6" fmla="*/ 10 w 10"/>
                  <a:gd name="T7" fmla="*/ 7 h 10"/>
                  <a:gd name="T8" fmla="*/ 7 w 10"/>
                  <a:gd name="T9" fmla="*/ 10 h 10"/>
                  <a:gd name="T10" fmla="*/ 4 w 10"/>
                  <a:gd name="T11" fmla="*/ 10 h 10"/>
                  <a:gd name="T12" fmla="*/ 0 w 10"/>
                  <a:gd name="T13" fmla="*/ 7 h 10"/>
                  <a:gd name="T14" fmla="*/ 0 w 10"/>
                  <a:gd name="T15" fmla="*/ 3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9" y="0"/>
                    </a:lnTo>
                    <a:lnTo>
                      <a:pt x="10" y="2"/>
                    </a:lnTo>
                    <a:lnTo>
                      <a:pt x="10"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31" name="Freeform 1565"/>
              <p:cNvSpPr>
                <a:spLocks/>
              </p:cNvSpPr>
              <p:nvPr/>
            </p:nvSpPr>
            <p:spPr bwMode="auto">
              <a:xfrm>
                <a:off x="1503"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32" name="Freeform 1566"/>
              <p:cNvSpPr>
                <a:spLocks/>
              </p:cNvSpPr>
              <p:nvPr/>
            </p:nvSpPr>
            <p:spPr bwMode="auto">
              <a:xfrm>
                <a:off x="1541"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33" name="Freeform 1567"/>
              <p:cNvSpPr>
                <a:spLocks/>
              </p:cNvSpPr>
              <p:nvPr/>
            </p:nvSpPr>
            <p:spPr bwMode="auto">
              <a:xfrm>
                <a:off x="1547" y="1458"/>
                <a:ext cx="8" cy="10"/>
              </a:xfrm>
              <a:custGeom>
                <a:avLst/>
                <a:gdLst>
                  <a:gd name="T0" fmla="*/ 1 w 8"/>
                  <a:gd name="T1" fmla="*/ 0 h 10"/>
                  <a:gd name="T2" fmla="*/ 6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6"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34" name="Freeform 1568"/>
              <p:cNvSpPr>
                <a:spLocks/>
              </p:cNvSpPr>
              <p:nvPr/>
            </p:nvSpPr>
            <p:spPr bwMode="auto">
              <a:xfrm>
                <a:off x="1550"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35" name="Freeform 1569"/>
              <p:cNvSpPr>
                <a:spLocks/>
              </p:cNvSpPr>
              <p:nvPr/>
            </p:nvSpPr>
            <p:spPr bwMode="auto">
              <a:xfrm>
                <a:off x="1602"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36" name="Freeform 1570"/>
              <p:cNvSpPr>
                <a:spLocks/>
              </p:cNvSpPr>
              <p:nvPr/>
            </p:nvSpPr>
            <p:spPr bwMode="auto">
              <a:xfrm>
                <a:off x="1625" y="1458"/>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37" name="Freeform 1571"/>
              <p:cNvSpPr>
                <a:spLocks/>
              </p:cNvSpPr>
              <p:nvPr/>
            </p:nvSpPr>
            <p:spPr bwMode="auto">
              <a:xfrm>
                <a:off x="1670"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38" name="Freeform 1572"/>
              <p:cNvSpPr>
                <a:spLocks/>
              </p:cNvSpPr>
              <p:nvPr/>
            </p:nvSpPr>
            <p:spPr bwMode="auto">
              <a:xfrm>
                <a:off x="2527"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39" name="Freeform 1573"/>
              <p:cNvSpPr>
                <a:spLocks/>
              </p:cNvSpPr>
              <p:nvPr/>
            </p:nvSpPr>
            <p:spPr bwMode="auto">
              <a:xfrm>
                <a:off x="2529" y="1458"/>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40" name="Freeform 1574"/>
              <p:cNvSpPr>
                <a:spLocks/>
              </p:cNvSpPr>
              <p:nvPr/>
            </p:nvSpPr>
            <p:spPr bwMode="auto">
              <a:xfrm>
                <a:off x="2533" y="1458"/>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41" name="Freeform 1575"/>
              <p:cNvSpPr>
                <a:spLocks/>
              </p:cNvSpPr>
              <p:nvPr/>
            </p:nvSpPr>
            <p:spPr bwMode="auto">
              <a:xfrm>
                <a:off x="2536"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42" name="Freeform 1576"/>
              <p:cNvSpPr>
                <a:spLocks/>
              </p:cNvSpPr>
              <p:nvPr/>
            </p:nvSpPr>
            <p:spPr bwMode="auto">
              <a:xfrm>
                <a:off x="2557"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43" name="Freeform 1577"/>
              <p:cNvSpPr>
                <a:spLocks/>
              </p:cNvSpPr>
              <p:nvPr/>
            </p:nvSpPr>
            <p:spPr bwMode="auto">
              <a:xfrm>
                <a:off x="2564"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44" name="Freeform 1578"/>
              <p:cNvSpPr>
                <a:spLocks/>
              </p:cNvSpPr>
              <p:nvPr/>
            </p:nvSpPr>
            <p:spPr bwMode="auto">
              <a:xfrm>
                <a:off x="2576"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45" name="Freeform 1579"/>
              <p:cNvSpPr>
                <a:spLocks/>
              </p:cNvSpPr>
              <p:nvPr/>
            </p:nvSpPr>
            <p:spPr bwMode="auto">
              <a:xfrm>
                <a:off x="2583"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46" name="Freeform 1580"/>
              <p:cNvSpPr>
                <a:spLocks/>
              </p:cNvSpPr>
              <p:nvPr/>
            </p:nvSpPr>
            <p:spPr bwMode="auto">
              <a:xfrm>
                <a:off x="2728"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47" name="Freeform 1581"/>
              <p:cNvSpPr>
                <a:spLocks/>
              </p:cNvSpPr>
              <p:nvPr/>
            </p:nvSpPr>
            <p:spPr bwMode="auto">
              <a:xfrm>
                <a:off x="3276"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48" name="Freeform 1582"/>
              <p:cNvSpPr>
                <a:spLocks/>
              </p:cNvSpPr>
              <p:nvPr/>
            </p:nvSpPr>
            <p:spPr bwMode="auto">
              <a:xfrm>
                <a:off x="3295"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49" name="Freeform 1583"/>
              <p:cNvSpPr>
                <a:spLocks/>
              </p:cNvSpPr>
              <p:nvPr/>
            </p:nvSpPr>
            <p:spPr bwMode="auto">
              <a:xfrm>
                <a:off x="3297" y="1458"/>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50" name="Freeform 1584"/>
              <p:cNvSpPr>
                <a:spLocks/>
              </p:cNvSpPr>
              <p:nvPr/>
            </p:nvSpPr>
            <p:spPr bwMode="auto">
              <a:xfrm>
                <a:off x="3311"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51" name="Freeform 1585"/>
              <p:cNvSpPr>
                <a:spLocks/>
              </p:cNvSpPr>
              <p:nvPr/>
            </p:nvSpPr>
            <p:spPr bwMode="auto">
              <a:xfrm>
                <a:off x="3318"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52" name="Freeform 1586"/>
              <p:cNvSpPr>
                <a:spLocks/>
              </p:cNvSpPr>
              <p:nvPr/>
            </p:nvSpPr>
            <p:spPr bwMode="auto">
              <a:xfrm>
                <a:off x="3322"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53" name="Freeform 1587"/>
              <p:cNvSpPr>
                <a:spLocks/>
              </p:cNvSpPr>
              <p:nvPr/>
            </p:nvSpPr>
            <p:spPr bwMode="auto">
              <a:xfrm>
                <a:off x="3329" y="1458"/>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54" name="Freeform 1588"/>
              <p:cNvSpPr>
                <a:spLocks/>
              </p:cNvSpPr>
              <p:nvPr/>
            </p:nvSpPr>
            <p:spPr bwMode="auto">
              <a:xfrm>
                <a:off x="3332"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55" name="Freeform 1589"/>
              <p:cNvSpPr>
                <a:spLocks/>
              </p:cNvSpPr>
              <p:nvPr/>
            </p:nvSpPr>
            <p:spPr bwMode="auto">
              <a:xfrm>
                <a:off x="3505"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56" name="Freeform 1590"/>
              <p:cNvSpPr>
                <a:spLocks/>
              </p:cNvSpPr>
              <p:nvPr/>
            </p:nvSpPr>
            <p:spPr bwMode="auto">
              <a:xfrm>
                <a:off x="3508"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57" name="Freeform 1591"/>
              <p:cNvSpPr>
                <a:spLocks/>
              </p:cNvSpPr>
              <p:nvPr/>
            </p:nvSpPr>
            <p:spPr bwMode="auto">
              <a:xfrm>
                <a:off x="3519"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58" name="Freeform 1592"/>
              <p:cNvSpPr>
                <a:spLocks/>
              </p:cNvSpPr>
              <p:nvPr/>
            </p:nvSpPr>
            <p:spPr bwMode="auto">
              <a:xfrm>
                <a:off x="3521" y="1458"/>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59" name="Freeform 1593"/>
              <p:cNvSpPr>
                <a:spLocks/>
              </p:cNvSpPr>
              <p:nvPr/>
            </p:nvSpPr>
            <p:spPr bwMode="auto">
              <a:xfrm>
                <a:off x="3575" y="1458"/>
                <a:ext cx="8" cy="10"/>
              </a:xfrm>
              <a:custGeom>
                <a:avLst/>
                <a:gdLst>
                  <a:gd name="T0" fmla="*/ 2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2"/>
                    </a:lnTo>
                    <a:lnTo>
                      <a:pt x="8"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60" name="Freeform 1594"/>
              <p:cNvSpPr>
                <a:spLocks/>
              </p:cNvSpPr>
              <p:nvPr/>
            </p:nvSpPr>
            <p:spPr bwMode="auto">
              <a:xfrm>
                <a:off x="3632"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61" name="Freeform 1595"/>
              <p:cNvSpPr>
                <a:spLocks/>
              </p:cNvSpPr>
              <p:nvPr/>
            </p:nvSpPr>
            <p:spPr bwMode="auto">
              <a:xfrm>
                <a:off x="3947"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62" name="Freeform 1596"/>
              <p:cNvSpPr>
                <a:spLocks/>
              </p:cNvSpPr>
              <p:nvPr/>
            </p:nvSpPr>
            <p:spPr bwMode="auto">
              <a:xfrm>
                <a:off x="4034"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63" name="Freeform 1597"/>
              <p:cNvSpPr>
                <a:spLocks/>
              </p:cNvSpPr>
              <p:nvPr/>
            </p:nvSpPr>
            <p:spPr bwMode="auto">
              <a:xfrm>
                <a:off x="4039"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64" name="Freeform 1598"/>
              <p:cNvSpPr>
                <a:spLocks/>
              </p:cNvSpPr>
              <p:nvPr/>
            </p:nvSpPr>
            <p:spPr bwMode="auto">
              <a:xfrm>
                <a:off x="4118" y="1458"/>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65" name="Freeform 1599"/>
              <p:cNvSpPr>
                <a:spLocks/>
              </p:cNvSpPr>
              <p:nvPr/>
            </p:nvSpPr>
            <p:spPr bwMode="auto">
              <a:xfrm>
                <a:off x="4128"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66" name="Freeform 1600"/>
              <p:cNvSpPr>
                <a:spLocks/>
              </p:cNvSpPr>
              <p:nvPr/>
            </p:nvSpPr>
            <p:spPr bwMode="auto">
              <a:xfrm>
                <a:off x="4132"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67" name="Freeform 1601"/>
              <p:cNvSpPr>
                <a:spLocks/>
              </p:cNvSpPr>
              <p:nvPr/>
            </p:nvSpPr>
            <p:spPr bwMode="auto">
              <a:xfrm>
                <a:off x="4219" y="1458"/>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68" name="Freeform 1602"/>
              <p:cNvSpPr>
                <a:spLocks/>
              </p:cNvSpPr>
              <p:nvPr/>
            </p:nvSpPr>
            <p:spPr bwMode="auto">
              <a:xfrm>
                <a:off x="4226" y="1458"/>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69" name="Freeform 1603"/>
              <p:cNvSpPr>
                <a:spLocks/>
              </p:cNvSpPr>
              <p:nvPr/>
            </p:nvSpPr>
            <p:spPr bwMode="auto">
              <a:xfrm>
                <a:off x="4273"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70" name="Freeform 1604"/>
              <p:cNvSpPr>
                <a:spLocks/>
              </p:cNvSpPr>
              <p:nvPr/>
            </p:nvSpPr>
            <p:spPr bwMode="auto">
              <a:xfrm>
                <a:off x="4278"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71" name="Freeform 1605"/>
              <p:cNvSpPr>
                <a:spLocks/>
              </p:cNvSpPr>
              <p:nvPr/>
            </p:nvSpPr>
            <p:spPr bwMode="auto">
              <a:xfrm>
                <a:off x="4282"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72" name="Freeform 1606"/>
              <p:cNvSpPr>
                <a:spLocks/>
              </p:cNvSpPr>
              <p:nvPr/>
            </p:nvSpPr>
            <p:spPr bwMode="auto">
              <a:xfrm>
                <a:off x="4306"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73" name="Freeform 1607"/>
              <p:cNvSpPr>
                <a:spLocks/>
              </p:cNvSpPr>
              <p:nvPr/>
            </p:nvSpPr>
            <p:spPr bwMode="auto">
              <a:xfrm>
                <a:off x="4313"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74" name="Freeform 1608"/>
              <p:cNvSpPr>
                <a:spLocks/>
              </p:cNvSpPr>
              <p:nvPr/>
            </p:nvSpPr>
            <p:spPr bwMode="auto">
              <a:xfrm>
                <a:off x="4322" y="1458"/>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75" name="Freeform 1609"/>
              <p:cNvSpPr>
                <a:spLocks/>
              </p:cNvSpPr>
              <p:nvPr/>
            </p:nvSpPr>
            <p:spPr bwMode="auto">
              <a:xfrm>
                <a:off x="4338" y="1458"/>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476" name="Freeform 1610"/>
              <p:cNvSpPr>
                <a:spLocks/>
              </p:cNvSpPr>
              <p:nvPr/>
            </p:nvSpPr>
            <p:spPr bwMode="auto">
              <a:xfrm>
                <a:off x="4343"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477" name="Freeform 1611"/>
              <p:cNvSpPr>
                <a:spLocks/>
              </p:cNvSpPr>
              <p:nvPr/>
            </p:nvSpPr>
            <p:spPr bwMode="auto">
              <a:xfrm>
                <a:off x="4348" y="1458"/>
                <a:ext cx="10" cy="10"/>
              </a:xfrm>
              <a:custGeom>
                <a:avLst/>
                <a:gdLst>
                  <a:gd name="T0" fmla="*/ 4 w 10"/>
                  <a:gd name="T1" fmla="*/ 0 h 10"/>
                  <a:gd name="T2" fmla="*/ 9 w 10"/>
                  <a:gd name="T3" fmla="*/ 0 h 10"/>
                  <a:gd name="T4" fmla="*/ 10 w 10"/>
                  <a:gd name="T5" fmla="*/ 2 h 10"/>
                  <a:gd name="T6" fmla="*/ 10 w 10"/>
                  <a:gd name="T7" fmla="*/ 7 h 10"/>
                  <a:gd name="T8" fmla="*/ 7 w 10"/>
                  <a:gd name="T9" fmla="*/ 10 h 10"/>
                  <a:gd name="T10" fmla="*/ 4 w 10"/>
                  <a:gd name="T11" fmla="*/ 10 h 10"/>
                  <a:gd name="T12" fmla="*/ 0 w 10"/>
                  <a:gd name="T13" fmla="*/ 7 h 10"/>
                  <a:gd name="T14" fmla="*/ 0 w 10"/>
                  <a:gd name="T15" fmla="*/ 3 h 10"/>
                  <a:gd name="T16" fmla="*/ 4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4" y="0"/>
                    </a:moveTo>
                    <a:lnTo>
                      <a:pt x="9" y="0"/>
                    </a:lnTo>
                    <a:lnTo>
                      <a:pt x="10" y="2"/>
                    </a:lnTo>
                    <a:lnTo>
                      <a:pt x="10"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grpSp>
        <p:grpSp>
          <p:nvGrpSpPr>
            <p:cNvPr id="23" name="Group 1813"/>
            <p:cNvGrpSpPr>
              <a:grpSpLocks/>
            </p:cNvGrpSpPr>
            <p:nvPr/>
          </p:nvGrpSpPr>
          <p:grpSpPr bwMode="auto">
            <a:xfrm>
              <a:off x="2227353" y="1935161"/>
              <a:ext cx="5094494" cy="395288"/>
              <a:chOff x="1403" y="1219"/>
              <a:chExt cx="3209" cy="249"/>
            </a:xfrm>
          </p:grpSpPr>
          <p:sp>
            <p:nvSpPr>
              <p:cNvPr id="78" name="Freeform 1613"/>
              <p:cNvSpPr>
                <a:spLocks/>
              </p:cNvSpPr>
              <p:nvPr/>
            </p:nvSpPr>
            <p:spPr bwMode="auto">
              <a:xfrm>
                <a:off x="4449" y="1458"/>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9" name="Freeform 1614"/>
              <p:cNvSpPr>
                <a:spLocks/>
              </p:cNvSpPr>
              <p:nvPr/>
            </p:nvSpPr>
            <p:spPr bwMode="auto">
              <a:xfrm>
                <a:off x="4467" y="1458"/>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0" name="Freeform 1615"/>
              <p:cNvSpPr>
                <a:spLocks/>
              </p:cNvSpPr>
              <p:nvPr/>
            </p:nvSpPr>
            <p:spPr bwMode="auto">
              <a:xfrm>
                <a:off x="4479" y="1458"/>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1" name="Freeform 1616"/>
              <p:cNvSpPr>
                <a:spLocks/>
              </p:cNvSpPr>
              <p:nvPr/>
            </p:nvSpPr>
            <p:spPr bwMode="auto">
              <a:xfrm>
                <a:off x="4601" y="1458"/>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2" name="Freeform 1617"/>
              <p:cNvSpPr>
                <a:spLocks/>
              </p:cNvSpPr>
              <p:nvPr/>
            </p:nvSpPr>
            <p:spPr bwMode="auto">
              <a:xfrm>
                <a:off x="1403"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3" name="Freeform 1618"/>
              <p:cNvSpPr>
                <a:spLocks/>
              </p:cNvSpPr>
              <p:nvPr/>
            </p:nvSpPr>
            <p:spPr bwMode="auto">
              <a:xfrm>
                <a:off x="1604"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4" name="Freeform 1619"/>
              <p:cNvSpPr>
                <a:spLocks/>
              </p:cNvSpPr>
              <p:nvPr/>
            </p:nvSpPr>
            <p:spPr bwMode="auto">
              <a:xfrm>
                <a:off x="1646" y="141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5" name="Freeform 1620"/>
              <p:cNvSpPr>
                <a:spLocks/>
              </p:cNvSpPr>
              <p:nvPr/>
            </p:nvSpPr>
            <p:spPr bwMode="auto">
              <a:xfrm>
                <a:off x="2168" y="141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6" name="Freeform 1621"/>
              <p:cNvSpPr>
                <a:spLocks/>
              </p:cNvSpPr>
              <p:nvPr/>
            </p:nvSpPr>
            <p:spPr bwMode="auto">
              <a:xfrm>
                <a:off x="2463" y="141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87" name="Freeform 1622"/>
              <p:cNvSpPr>
                <a:spLocks/>
              </p:cNvSpPr>
              <p:nvPr/>
            </p:nvSpPr>
            <p:spPr bwMode="auto">
              <a:xfrm>
                <a:off x="2498" y="141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88" name="Freeform 1623"/>
              <p:cNvSpPr>
                <a:spLocks/>
              </p:cNvSpPr>
              <p:nvPr/>
            </p:nvSpPr>
            <p:spPr bwMode="auto">
              <a:xfrm>
                <a:off x="2508"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89" name="Freeform 1624"/>
              <p:cNvSpPr>
                <a:spLocks/>
              </p:cNvSpPr>
              <p:nvPr/>
            </p:nvSpPr>
            <p:spPr bwMode="auto">
              <a:xfrm>
                <a:off x="2543" y="1419"/>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0" name="Freeform 1625"/>
              <p:cNvSpPr>
                <a:spLocks/>
              </p:cNvSpPr>
              <p:nvPr/>
            </p:nvSpPr>
            <p:spPr bwMode="auto">
              <a:xfrm>
                <a:off x="2592" y="1419"/>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1" name="Freeform 1626"/>
              <p:cNvSpPr>
                <a:spLocks/>
              </p:cNvSpPr>
              <p:nvPr/>
            </p:nvSpPr>
            <p:spPr bwMode="auto">
              <a:xfrm>
                <a:off x="3315" y="141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2" name="Freeform 1627"/>
              <p:cNvSpPr>
                <a:spLocks/>
              </p:cNvSpPr>
              <p:nvPr/>
            </p:nvSpPr>
            <p:spPr bwMode="auto">
              <a:xfrm>
                <a:off x="3322" y="141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93" name="Freeform 1628"/>
              <p:cNvSpPr>
                <a:spLocks/>
              </p:cNvSpPr>
              <p:nvPr/>
            </p:nvSpPr>
            <p:spPr bwMode="auto">
              <a:xfrm>
                <a:off x="3329" y="141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4" name="Freeform 1629"/>
              <p:cNvSpPr>
                <a:spLocks/>
              </p:cNvSpPr>
              <p:nvPr/>
            </p:nvSpPr>
            <p:spPr bwMode="auto">
              <a:xfrm>
                <a:off x="3337" y="1419"/>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95" name="Freeform 1630"/>
              <p:cNvSpPr>
                <a:spLocks/>
              </p:cNvSpPr>
              <p:nvPr/>
            </p:nvSpPr>
            <p:spPr bwMode="auto">
              <a:xfrm>
                <a:off x="3343" y="1419"/>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96" name="Freeform 1631"/>
              <p:cNvSpPr>
                <a:spLocks/>
              </p:cNvSpPr>
              <p:nvPr/>
            </p:nvSpPr>
            <p:spPr bwMode="auto">
              <a:xfrm>
                <a:off x="3517"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7" name="Freeform 1632"/>
              <p:cNvSpPr>
                <a:spLocks/>
              </p:cNvSpPr>
              <p:nvPr/>
            </p:nvSpPr>
            <p:spPr bwMode="auto">
              <a:xfrm>
                <a:off x="3604"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8" name="Freeform 1633"/>
              <p:cNvSpPr>
                <a:spLocks/>
              </p:cNvSpPr>
              <p:nvPr/>
            </p:nvSpPr>
            <p:spPr bwMode="auto">
              <a:xfrm>
                <a:off x="3606"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99" name="Freeform 1634"/>
              <p:cNvSpPr>
                <a:spLocks/>
              </p:cNvSpPr>
              <p:nvPr/>
            </p:nvSpPr>
            <p:spPr bwMode="auto">
              <a:xfrm>
                <a:off x="3615" y="1419"/>
                <a:ext cx="9" cy="9"/>
              </a:xfrm>
              <a:custGeom>
                <a:avLst/>
                <a:gdLst>
                  <a:gd name="T0" fmla="*/ 2 w 9"/>
                  <a:gd name="T1" fmla="*/ 0 h 9"/>
                  <a:gd name="T2" fmla="*/ 5 w 9"/>
                  <a:gd name="T3" fmla="*/ 0 h 9"/>
                  <a:gd name="T4" fmla="*/ 9 w 9"/>
                  <a:gd name="T5" fmla="*/ 4 h 9"/>
                  <a:gd name="T6" fmla="*/ 9 w 9"/>
                  <a:gd name="T7" fmla="*/ 7 h 9"/>
                  <a:gd name="T8" fmla="*/ 7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5" y="0"/>
                    </a:lnTo>
                    <a:lnTo>
                      <a:pt x="9" y="4"/>
                    </a:lnTo>
                    <a:lnTo>
                      <a:pt x="9" y="7"/>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0" name="Freeform 1635"/>
              <p:cNvSpPr>
                <a:spLocks/>
              </p:cNvSpPr>
              <p:nvPr/>
            </p:nvSpPr>
            <p:spPr bwMode="auto">
              <a:xfrm>
                <a:off x="3631" y="1419"/>
                <a:ext cx="8" cy="9"/>
              </a:xfrm>
              <a:custGeom>
                <a:avLst/>
                <a:gdLst>
                  <a:gd name="T0" fmla="*/ 1 w 8"/>
                  <a:gd name="T1" fmla="*/ 0 h 9"/>
                  <a:gd name="T2" fmla="*/ 5 w 8"/>
                  <a:gd name="T3" fmla="*/ 0 h 9"/>
                  <a:gd name="T4" fmla="*/ 8 w 8"/>
                  <a:gd name="T5" fmla="*/ 4 h 9"/>
                  <a:gd name="T6" fmla="*/ 8 w 8"/>
                  <a:gd name="T7" fmla="*/ 7 h 9"/>
                  <a:gd name="T8" fmla="*/ 7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5" y="0"/>
                    </a:lnTo>
                    <a:lnTo>
                      <a:pt x="8" y="4"/>
                    </a:lnTo>
                    <a:lnTo>
                      <a:pt x="8" y="7"/>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1" name="Freeform 1636"/>
              <p:cNvSpPr>
                <a:spLocks/>
              </p:cNvSpPr>
              <p:nvPr/>
            </p:nvSpPr>
            <p:spPr bwMode="auto">
              <a:xfrm>
                <a:off x="3699" y="141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2" name="Freeform 1637"/>
              <p:cNvSpPr>
                <a:spLocks/>
              </p:cNvSpPr>
              <p:nvPr/>
            </p:nvSpPr>
            <p:spPr bwMode="auto">
              <a:xfrm>
                <a:off x="3706" y="1419"/>
                <a:ext cx="10" cy="9"/>
              </a:xfrm>
              <a:custGeom>
                <a:avLst/>
                <a:gdLst>
                  <a:gd name="T0" fmla="*/ 1 w 10"/>
                  <a:gd name="T1" fmla="*/ 0 h 9"/>
                  <a:gd name="T2" fmla="*/ 8 w 10"/>
                  <a:gd name="T3" fmla="*/ 0 h 9"/>
                  <a:gd name="T4" fmla="*/ 10 w 10"/>
                  <a:gd name="T5" fmla="*/ 2 h 9"/>
                  <a:gd name="T6" fmla="*/ 10 w 10"/>
                  <a:gd name="T7" fmla="*/ 7 h 9"/>
                  <a:gd name="T8" fmla="*/ 8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8" y="0"/>
                    </a:lnTo>
                    <a:lnTo>
                      <a:pt x="10" y="2"/>
                    </a:lnTo>
                    <a:lnTo>
                      <a:pt x="10" y="7"/>
                    </a:lnTo>
                    <a:lnTo>
                      <a:pt x="8"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3" name="Freeform 1638"/>
              <p:cNvSpPr>
                <a:spLocks/>
              </p:cNvSpPr>
              <p:nvPr/>
            </p:nvSpPr>
            <p:spPr bwMode="auto">
              <a:xfrm>
                <a:off x="4111" y="1419"/>
                <a:ext cx="8" cy="9"/>
              </a:xfrm>
              <a:custGeom>
                <a:avLst/>
                <a:gdLst>
                  <a:gd name="T0" fmla="*/ 3 w 8"/>
                  <a:gd name="T1" fmla="*/ 0 h 9"/>
                  <a:gd name="T2" fmla="*/ 7 w 8"/>
                  <a:gd name="T3" fmla="*/ 0 h 9"/>
                  <a:gd name="T4" fmla="*/ 8 w 8"/>
                  <a:gd name="T5" fmla="*/ 2 h 9"/>
                  <a:gd name="T6" fmla="*/ 8 w 8"/>
                  <a:gd name="T7" fmla="*/ 7 h 9"/>
                  <a:gd name="T8" fmla="*/ 7 w 8"/>
                  <a:gd name="T9" fmla="*/ 9 h 9"/>
                  <a:gd name="T10" fmla="*/ 1 w 8"/>
                  <a:gd name="T11" fmla="*/ 9 h 9"/>
                  <a:gd name="T12" fmla="*/ 0 w 8"/>
                  <a:gd name="T13" fmla="*/ 7 h 9"/>
                  <a:gd name="T14" fmla="*/ 0 w 8"/>
                  <a:gd name="T15" fmla="*/ 4 h 9"/>
                  <a:gd name="T16" fmla="*/ 3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3" y="0"/>
                    </a:moveTo>
                    <a:lnTo>
                      <a:pt x="7" y="0"/>
                    </a:lnTo>
                    <a:lnTo>
                      <a:pt x="8" y="2"/>
                    </a:lnTo>
                    <a:lnTo>
                      <a:pt x="8" y="7"/>
                    </a:lnTo>
                    <a:lnTo>
                      <a:pt x="7" y="9"/>
                    </a:lnTo>
                    <a:lnTo>
                      <a:pt x="1"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4" name="Freeform 1639"/>
              <p:cNvSpPr>
                <a:spLocks/>
              </p:cNvSpPr>
              <p:nvPr/>
            </p:nvSpPr>
            <p:spPr bwMode="auto">
              <a:xfrm>
                <a:off x="4146" y="141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05" name="Freeform 1640"/>
              <p:cNvSpPr>
                <a:spLocks/>
              </p:cNvSpPr>
              <p:nvPr/>
            </p:nvSpPr>
            <p:spPr bwMode="auto">
              <a:xfrm>
                <a:off x="4205" y="1419"/>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06" name="Freeform 1641"/>
              <p:cNvSpPr>
                <a:spLocks/>
              </p:cNvSpPr>
              <p:nvPr/>
            </p:nvSpPr>
            <p:spPr bwMode="auto">
              <a:xfrm>
                <a:off x="4257" y="1419"/>
                <a:ext cx="11" cy="9"/>
              </a:xfrm>
              <a:custGeom>
                <a:avLst/>
                <a:gdLst>
                  <a:gd name="T0" fmla="*/ 2 w 11"/>
                  <a:gd name="T1" fmla="*/ 0 h 9"/>
                  <a:gd name="T2" fmla="*/ 7 w 11"/>
                  <a:gd name="T3" fmla="*/ 0 h 9"/>
                  <a:gd name="T4" fmla="*/ 11 w 11"/>
                  <a:gd name="T5" fmla="*/ 4 h 9"/>
                  <a:gd name="T6" fmla="*/ 11 w 11"/>
                  <a:gd name="T7" fmla="*/ 6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7" name="Freeform 1642"/>
              <p:cNvSpPr>
                <a:spLocks/>
              </p:cNvSpPr>
              <p:nvPr/>
            </p:nvSpPr>
            <p:spPr bwMode="auto">
              <a:xfrm>
                <a:off x="4266" y="141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08" name="Freeform 1643"/>
              <p:cNvSpPr>
                <a:spLocks/>
              </p:cNvSpPr>
              <p:nvPr/>
            </p:nvSpPr>
            <p:spPr bwMode="auto">
              <a:xfrm>
                <a:off x="4290" y="141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09" name="Freeform 1644"/>
              <p:cNvSpPr>
                <a:spLocks/>
              </p:cNvSpPr>
              <p:nvPr/>
            </p:nvSpPr>
            <p:spPr bwMode="auto">
              <a:xfrm>
                <a:off x="4311" y="1419"/>
                <a:ext cx="9" cy="9"/>
              </a:xfrm>
              <a:custGeom>
                <a:avLst/>
                <a:gdLst>
                  <a:gd name="T0" fmla="*/ 4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4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lnTo>
                      <a:pt x="7" y="0"/>
                    </a:lnTo>
                    <a:lnTo>
                      <a:pt x="9" y="2"/>
                    </a:lnTo>
                    <a:lnTo>
                      <a:pt x="9" y="7"/>
                    </a:lnTo>
                    <a:lnTo>
                      <a:pt x="7" y="9"/>
                    </a:lnTo>
                    <a:lnTo>
                      <a:pt x="2" y="9"/>
                    </a:lnTo>
                    <a:lnTo>
                      <a:pt x="0" y="7"/>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0" name="Freeform 1645"/>
              <p:cNvSpPr>
                <a:spLocks/>
              </p:cNvSpPr>
              <p:nvPr/>
            </p:nvSpPr>
            <p:spPr bwMode="auto">
              <a:xfrm>
                <a:off x="4315" y="1419"/>
                <a:ext cx="10" cy="9"/>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1" name="Freeform 1646"/>
              <p:cNvSpPr>
                <a:spLocks/>
              </p:cNvSpPr>
              <p:nvPr/>
            </p:nvSpPr>
            <p:spPr bwMode="auto">
              <a:xfrm>
                <a:off x="4390" y="1419"/>
                <a:ext cx="9" cy="9"/>
              </a:xfrm>
              <a:custGeom>
                <a:avLst/>
                <a:gdLst>
                  <a:gd name="T0" fmla="*/ 3 w 9"/>
                  <a:gd name="T1" fmla="*/ 0 h 9"/>
                  <a:gd name="T2" fmla="*/ 7 w 9"/>
                  <a:gd name="T3" fmla="*/ 0 h 9"/>
                  <a:gd name="T4" fmla="*/ 9 w 9"/>
                  <a:gd name="T5" fmla="*/ 2 h 9"/>
                  <a:gd name="T6" fmla="*/ 9 w 9"/>
                  <a:gd name="T7" fmla="*/ 7 h 9"/>
                  <a:gd name="T8" fmla="*/ 7 w 9"/>
                  <a:gd name="T9" fmla="*/ 9 h 9"/>
                  <a:gd name="T10" fmla="*/ 2 w 9"/>
                  <a:gd name="T11" fmla="*/ 9 h 9"/>
                  <a:gd name="T12" fmla="*/ 0 w 9"/>
                  <a:gd name="T13" fmla="*/ 7 h 9"/>
                  <a:gd name="T14" fmla="*/ 0 w 9"/>
                  <a:gd name="T15" fmla="*/ 4 h 9"/>
                  <a:gd name="T16" fmla="*/ 3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3" y="0"/>
                    </a:moveTo>
                    <a:lnTo>
                      <a:pt x="7" y="0"/>
                    </a:lnTo>
                    <a:lnTo>
                      <a:pt x="9" y="2"/>
                    </a:lnTo>
                    <a:lnTo>
                      <a:pt x="9" y="7"/>
                    </a:lnTo>
                    <a:lnTo>
                      <a:pt x="7" y="9"/>
                    </a:lnTo>
                    <a:lnTo>
                      <a:pt x="2" y="9"/>
                    </a:lnTo>
                    <a:lnTo>
                      <a:pt x="0" y="7"/>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2" name="Freeform 1647"/>
              <p:cNvSpPr>
                <a:spLocks/>
              </p:cNvSpPr>
              <p:nvPr/>
            </p:nvSpPr>
            <p:spPr bwMode="auto">
              <a:xfrm>
                <a:off x="1560"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3" name="Freeform 1648"/>
              <p:cNvSpPr>
                <a:spLocks/>
              </p:cNvSpPr>
              <p:nvPr/>
            </p:nvSpPr>
            <p:spPr bwMode="auto">
              <a:xfrm>
                <a:off x="1567"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14" name="Freeform 1649"/>
              <p:cNvSpPr>
                <a:spLocks/>
              </p:cNvSpPr>
              <p:nvPr/>
            </p:nvSpPr>
            <p:spPr bwMode="auto">
              <a:xfrm>
                <a:off x="1580"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5" name="Freeform 1650"/>
              <p:cNvSpPr>
                <a:spLocks/>
              </p:cNvSpPr>
              <p:nvPr/>
            </p:nvSpPr>
            <p:spPr bwMode="auto">
              <a:xfrm>
                <a:off x="1581"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6" name="Freeform 1651"/>
              <p:cNvSpPr>
                <a:spLocks/>
              </p:cNvSpPr>
              <p:nvPr/>
            </p:nvSpPr>
            <p:spPr bwMode="auto">
              <a:xfrm>
                <a:off x="1702" y="137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17" name="Freeform 1652"/>
              <p:cNvSpPr>
                <a:spLocks/>
              </p:cNvSpPr>
              <p:nvPr/>
            </p:nvSpPr>
            <p:spPr bwMode="auto">
              <a:xfrm>
                <a:off x="1821"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18" name="Freeform 1653"/>
              <p:cNvSpPr>
                <a:spLocks/>
              </p:cNvSpPr>
              <p:nvPr/>
            </p:nvSpPr>
            <p:spPr bwMode="auto">
              <a:xfrm>
                <a:off x="1833" y="137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19" name="Freeform 1654"/>
              <p:cNvSpPr>
                <a:spLocks/>
              </p:cNvSpPr>
              <p:nvPr/>
            </p:nvSpPr>
            <p:spPr bwMode="auto">
              <a:xfrm>
                <a:off x="1892" y="1379"/>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0" name="Freeform 1655"/>
              <p:cNvSpPr>
                <a:spLocks/>
              </p:cNvSpPr>
              <p:nvPr/>
            </p:nvSpPr>
            <p:spPr bwMode="auto">
              <a:xfrm>
                <a:off x="1908" y="137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1" name="Freeform 1656"/>
              <p:cNvSpPr>
                <a:spLocks/>
              </p:cNvSpPr>
              <p:nvPr/>
            </p:nvSpPr>
            <p:spPr bwMode="auto">
              <a:xfrm>
                <a:off x="1934" y="1379"/>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2" name="Freeform 1657"/>
              <p:cNvSpPr>
                <a:spLocks/>
              </p:cNvSpPr>
              <p:nvPr/>
            </p:nvSpPr>
            <p:spPr bwMode="auto">
              <a:xfrm>
                <a:off x="1958"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3" name="Freeform 1658"/>
              <p:cNvSpPr>
                <a:spLocks/>
              </p:cNvSpPr>
              <p:nvPr/>
            </p:nvSpPr>
            <p:spPr bwMode="auto">
              <a:xfrm>
                <a:off x="1999" y="1379"/>
                <a:ext cx="8" cy="9"/>
              </a:xfrm>
              <a:custGeom>
                <a:avLst/>
                <a:gdLst>
                  <a:gd name="T0" fmla="*/ 1 w 8"/>
                  <a:gd name="T1" fmla="*/ 0 h 9"/>
                  <a:gd name="T2" fmla="*/ 7 w 8"/>
                  <a:gd name="T3" fmla="*/ 0 h 9"/>
                  <a:gd name="T4" fmla="*/ 8 w 8"/>
                  <a:gd name="T5" fmla="*/ 2 h 9"/>
                  <a:gd name="T6" fmla="*/ 8 w 8"/>
                  <a:gd name="T7" fmla="*/ 6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6"/>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4" name="Freeform 1659"/>
              <p:cNvSpPr>
                <a:spLocks/>
              </p:cNvSpPr>
              <p:nvPr/>
            </p:nvSpPr>
            <p:spPr bwMode="auto">
              <a:xfrm>
                <a:off x="2007" y="1379"/>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25" name="Freeform 1660"/>
              <p:cNvSpPr>
                <a:spLocks/>
              </p:cNvSpPr>
              <p:nvPr/>
            </p:nvSpPr>
            <p:spPr bwMode="auto">
              <a:xfrm>
                <a:off x="2040"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26" name="Freeform 1661"/>
              <p:cNvSpPr>
                <a:spLocks/>
              </p:cNvSpPr>
              <p:nvPr/>
            </p:nvSpPr>
            <p:spPr bwMode="auto">
              <a:xfrm>
                <a:off x="2168"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27" name="Freeform 1662"/>
              <p:cNvSpPr>
                <a:spLocks/>
              </p:cNvSpPr>
              <p:nvPr/>
            </p:nvSpPr>
            <p:spPr bwMode="auto">
              <a:xfrm>
                <a:off x="2519" y="137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8" name="Freeform 1663"/>
              <p:cNvSpPr>
                <a:spLocks/>
              </p:cNvSpPr>
              <p:nvPr/>
            </p:nvSpPr>
            <p:spPr bwMode="auto">
              <a:xfrm>
                <a:off x="2568" y="137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29" name="Freeform 1664"/>
              <p:cNvSpPr>
                <a:spLocks/>
              </p:cNvSpPr>
              <p:nvPr/>
            </p:nvSpPr>
            <p:spPr bwMode="auto">
              <a:xfrm>
                <a:off x="2594"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0" name="Freeform 1665"/>
              <p:cNvSpPr>
                <a:spLocks/>
              </p:cNvSpPr>
              <p:nvPr/>
            </p:nvSpPr>
            <p:spPr bwMode="auto">
              <a:xfrm>
                <a:off x="3282" y="1379"/>
                <a:ext cx="10" cy="9"/>
              </a:xfrm>
              <a:custGeom>
                <a:avLst/>
                <a:gdLst>
                  <a:gd name="T0" fmla="*/ 1 w 10"/>
                  <a:gd name="T1" fmla="*/ 0 h 9"/>
                  <a:gd name="T2" fmla="*/ 7 w 10"/>
                  <a:gd name="T3" fmla="*/ 0 h 9"/>
                  <a:gd name="T4" fmla="*/ 10 w 10"/>
                  <a:gd name="T5" fmla="*/ 4 h 9"/>
                  <a:gd name="T6" fmla="*/ 10 w 10"/>
                  <a:gd name="T7" fmla="*/ 6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6"/>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1" name="Freeform 1666"/>
              <p:cNvSpPr>
                <a:spLocks/>
              </p:cNvSpPr>
              <p:nvPr/>
            </p:nvSpPr>
            <p:spPr bwMode="auto">
              <a:xfrm>
                <a:off x="3287" y="1379"/>
                <a:ext cx="8" cy="9"/>
              </a:xfrm>
              <a:custGeom>
                <a:avLst/>
                <a:gdLst>
                  <a:gd name="T0" fmla="*/ 2 w 8"/>
                  <a:gd name="T1" fmla="*/ 0 h 9"/>
                  <a:gd name="T2" fmla="*/ 7 w 8"/>
                  <a:gd name="T3" fmla="*/ 0 h 9"/>
                  <a:gd name="T4" fmla="*/ 8 w 8"/>
                  <a:gd name="T5" fmla="*/ 2 h 9"/>
                  <a:gd name="T6" fmla="*/ 8 w 8"/>
                  <a:gd name="T7" fmla="*/ 6 h 9"/>
                  <a:gd name="T8" fmla="*/ 5 w 8"/>
                  <a:gd name="T9" fmla="*/ 9 h 9"/>
                  <a:gd name="T10" fmla="*/ 2 w 8"/>
                  <a:gd name="T11" fmla="*/ 9 h 9"/>
                  <a:gd name="T12" fmla="*/ 0 w 8"/>
                  <a:gd name="T13" fmla="*/ 7 h 9"/>
                  <a:gd name="T14" fmla="*/ 0 w 8"/>
                  <a:gd name="T15" fmla="*/ 2 h 9"/>
                  <a:gd name="T16" fmla="*/ 2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2" y="0"/>
                    </a:moveTo>
                    <a:lnTo>
                      <a:pt x="7" y="0"/>
                    </a:lnTo>
                    <a:lnTo>
                      <a:pt x="8" y="2"/>
                    </a:lnTo>
                    <a:lnTo>
                      <a:pt x="8"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2" name="Freeform 1667"/>
              <p:cNvSpPr>
                <a:spLocks/>
              </p:cNvSpPr>
              <p:nvPr/>
            </p:nvSpPr>
            <p:spPr bwMode="auto">
              <a:xfrm>
                <a:off x="3294"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3" name="Freeform 1668"/>
              <p:cNvSpPr>
                <a:spLocks/>
              </p:cNvSpPr>
              <p:nvPr/>
            </p:nvSpPr>
            <p:spPr bwMode="auto">
              <a:xfrm>
                <a:off x="3297"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34" name="Freeform 1669"/>
              <p:cNvSpPr>
                <a:spLocks/>
              </p:cNvSpPr>
              <p:nvPr/>
            </p:nvSpPr>
            <p:spPr bwMode="auto">
              <a:xfrm>
                <a:off x="3301"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35" name="Freeform 1670"/>
              <p:cNvSpPr>
                <a:spLocks/>
              </p:cNvSpPr>
              <p:nvPr/>
            </p:nvSpPr>
            <p:spPr bwMode="auto">
              <a:xfrm>
                <a:off x="3302"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6" name="Freeform 1671"/>
              <p:cNvSpPr>
                <a:spLocks/>
              </p:cNvSpPr>
              <p:nvPr/>
            </p:nvSpPr>
            <p:spPr bwMode="auto">
              <a:xfrm>
                <a:off x="3322" y="137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37" name="Freeform 1672"/>
              <p:cNvSpPr>
                <a:spLocks/>
              </p:cNvSpPr>
              <p:nvPr/>
            </p:nvSpPr>
            <p:spPr bwMode="auto">
              <a:xfrm>
                <a:off x="3334" y="137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8" name="Freeform 1673"/>
              <p:cNvSpPr>
                <a:spLocks/>
              </p:cNvSpPr>
              <p:nvPr/>
            </p:nvSpPr>
            <p:spPr bwMode="auto">
              <a:xfrm>
                <a:off x="3510" y="137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6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6"/>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39" name="Freeform 1674"/>
              <p:cNvSpPr>
                <a:spLocks/>
              </p:cNvSpPr>
              <p:nvPr/>
            </p:nvSpPr>
            <p:spPr bwMode="auto">
              <a:xfrm>
                <a:off x="3519" y="1379"/>
                <a:ext cx="9" cy="9"/>
              </a:xfrm>
              <a:custGeom>
                <a:avLst/>
                <a:gdLst>
                  <a:gd name="T0" fmla="*/ 2 w 9"/>
                  <a:gd name="T1" fmla="*/ 0 h 9"/>
                  <a:gd name="T2" fmla="*/ 7 w 9"/>
                  <a:gd name="T3" fmla="*/ 0 h 9"/>
                  <a:gd name="T4" fmla="*/ 9 w 9"/>
                  <a:gd name="T5" fmla="*/ 2 h 9"/>
                  <a:gd name="T6" fmla="*/ 9 w 9"/>
                  <a:gd name="T7" fmla="*/ 6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0" name="Freeform 1675"/>
              <p:cNvSpPr>
                <a:spLocks/>
              </p:cNvSpPr>
              <p:nvPr/>
            </p:nvSpPr>
            <p:spPr bwMode="auto">
              <a:xfrm>
                <a:off x="3522" y="137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6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6"/>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41" name="Freeform 1676"/>
              <p:cNvSpPr>
                <a:spLocks/>
              </p:cNvSpPr>
              <p:nvPr/>
            </p:nvSpPr>
            <p:spPr bwMode="auto">
              <a:xfrm>
                <a:off x="3554" y="137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2" name="Freeform 1677"/>
              <p:cNvSpPr>
                <a:spLocks/>
              </p:cNvSpPr>
              <p:nvPr/>
            </p:nvSpPr>
            <p:spPr bwMode="auto">
              <a:xfrm>
                <a:off x="4112"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3" name="Freeform 1678"/>
              <p:cNvSpPr>
                <a:spLocks/>
              </p:cNvSpPr>
              <p:nvPr/>
            </p:nvSpPr>
            <p:spPr bwMode="auto">
              <a:xfrm>
                <a:off x="4118"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4" name="Freeform 1679"/>
              <p:cNvSpPr>
                <a:spLocks/>
              </p:cNvSpPr>
              <p:nvPr/>
            </p:nvSpPr>
            <p:spPr bwMode="auto">
              <a:xfrm>
                <a:off x="4170"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5" name="Freeform 1680"/>
              <p:cNvSpPr>
                <a:spLocks/>
              </p:cNvSpPr>
              <p:nvPr/>
            </p:nvSpPr>
            <p:spPr bwMode="auto">
              <a:xfrm>
                <a:off x="4179" y="137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6" name="Freeform 1681"/>
              <p:cNvSpPr>
                <a:spLocks/>
              </p:cNvSpPr>
              <p:nvPr/>
            </p:nvSpPr>
            <p:spPr bwMode="auto">
              <a:xfrm>
                <a:off x="4215" y="1379"/>
                <a:ext cx="9" cy="9"/>
              </a:xfrm>
              <a:custGeom>
                <a:avLst/>
                <a:gdLst>
                  <a:gd name="T0" fmla="*/ 2 w 9"/>
                  <a:gd name="T1" fmla="*/ 0 h 9"/>
                  <a:gd name="T2" fmla="*/ 7 w 9"/>
                  <a:gd name="T3" fmla="*/ 0 h 9"/>
                  <a:gd name="T4" fmla="*/ 9 w 9"/>
                  <a:gd name="T5" fmla="*/ 2 h 9"/>
                  <a:gd name="T6" fmla="*/ 9 w 9"/>
                  <a:gd name="T7" fmla="*/ 6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6"/>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47" name="Freeform 1682"/>
              <p:cNvSpPr>
                <a:spLocks/>
              </p:cNvSpPr>
              <p:nvPr/>
            </p:nvSpPr>
            <p:spPr bwMode="auto">
              <a:xfrm>
                <a:off x="4226" y="137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6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6"/>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48" name="Freeform 1683"/>
              <p:cNvSpPr>
                <a:spLocks/>
              </p:cNvSpPr>
              <p:nvPr/>
            </p:nvSpPr>
            <p:spPr bwMode="auto">
              <a:xfrm>
                <a:off x="4261" y="137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6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6"/>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49" name="Freeform 1684"/>
              <p:cNvSpPr>
                <a:spLocks/>
              </p:cNvSpPr>
              <p:nvPr/>
            </p:nvSpPr>
            <p:spPr bwMode="auto">
              <a:xfrm>
                <a:off x="4266" y="1379"/>
                <a:ext cx="10" cy="9"/>
              </a:xfrm>
              <a:custGeom>
                <a:avLst/>
                <a:gdLst>
                  <a:gd name="T0" fmla="*/ 2 w 10"/>
                  <a:gd name="T1" fmla="*/ 0 h 9"/>
                  <a:gd name="T2" fmla="*/ 7 w 10"/>
                  <a:gd name="T3" fmla="*/ 0 h 9"/>
                  <a:gd name="T4" fmla="*/ 10 w 10"/>
                  <a:gd name="T5" fmla="*/ 4 h 9"/>
                  <a:gd name="T6" fmla="*/ 10 w 10"/>
                  <a:gd name="T7" fmla="*/ 6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6"/>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0" name="Freeform 1685"/>
              <p:cNvSpPr>
                <a:spLocks/>
              </p:cNvSpPr>
              <p:nvPr/>
            </p:nvSpPr>
            <p:spPr bwMode="auto">
              <a:xfrm>
                <a:off x="1541"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1" name="Freeform 1686"/>
              <p:cNvSpPr>
                <a:spLocks/>
              </p:cNvSpPr>
              <p:nvPr/>
            </p:nvSpPr>
            <p:spPr bwMode="auto">
              <a:xfrm>
                <a:off x="1543"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2" name="Freeform 1687"/>
              <p:cNvSpPr>
                <a:spLocks/>
              </p:cNvSpPr>
              <p:nvPr/>
            </p:nvSpPr>
            <p:spPr bwMode="auto">
              <a:xfrm>
                <a:off x="1564"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3" name="Freeform 1688"/>
              <p:cNvSpPr>
                <a:spLocks/>
              </p:cNvSpPr>
              <p:nvPr/>
            </p:nvSpPr>
            <p:spPr bwMode="auto">
              <a:xfrm>
                <a:off x="1951" y="1339"/>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4" name="Freeform 1689"/>
              <p:cNvSpPr>
                <a:spLocks/>
              </p:cNvSpPr>
              <p:nvPr/>
            </p:nvSpPr>
            <p:spPr bwMode="auto">
              <a:xfrm>
                <a:off x="1960"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55" name="Freeform 1690"/>
              <p:cNvSpPr>
                <a:spLocks/>
              </p:cNvSpPr>
              <p:nvPr/>
            </p:nvSpPr>
            <p:spPr bwMode="auto">
              <a:xfrm>
                <a:off x="1969"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6" name="Freeform 1691"/>
              <p:cNvSpPr>
                <a:spLocks/>
              </p:cNvSpPr>
              <p:nvPr/>
            </p:nvSpPr>
            <p:spPr bwMode="auto">
              <a:xfrm>
                <a:off x="1974"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7" name="Freeform 1692"/>
              <p:cNvSpPr>
                <a:spLocks/>
              </p:cNvSpPr>
              <p:nvPr/>
            </p:nvSpPr>
            <p:spPr bwMode="auto">
              <a:xfrm>
                <a:off x="1976"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58" name="Freeform 1693"/>
              <p:cNvSpPr>
                <a:spLocks/>
              </p:cNvSpPr>
              <p:nvPr/>
            </p:nvSpPr>
            <p:spPr bwMode="auto">
              <a:xfrm>
                <a:off x="1985" y="133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59" name="Freeform 1694"/>
              <p:cNvSpPr>
                <a:spLocks/>
              </p:cNvSpPr>
              <p:nvPr/>
            </p:nvSpPr>
            <p:spPr bwMode="auto">
              <a:xfrm>
                <a:off x="2007" y="1339"/>
                <a:ext cx="11" cy="9"/>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0" name="Freeform 1695"/>
              <p:cNvSpPr>
                <a:spLocks/>
              </p:cNvSpPr>
              <p:nvPr/>
            </p:nvSpPr>
            <p:spPr bwMode="auto">
              <a:xfrm>
                <a:off x="2477"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1" name="Freeform 1696"/>
              <p:cNvSpPr>
                <a:spLocks/>
              </p:cNvSpPr>
              <p:nvPr/>
            </p:nvSpPr>
            <p:spPr bwMode="auto">
              <a:xfrm>
                <a:off x="2493" y="1339"/>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2" name="Freeform 1697"/>
              <p:cNvSpPr>
                <a:spLocks/>
              </p:cNvSpPr>
              <p:nvPr/>
            </p:nvSpPr>
            <p:spPr bwMode="auto">
              <a:xfrm>
                <a:off x="2498"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63" name="Freeform 1698"/>
              <p:cNvSpPr>
                <a:spLocks/>
              </p:cNvSpPr>
              <p:nvPr/>
            </p:nvSpPr>
            <p:spPr bwMode="auto">
              <a:xfrm>
                <a:off x="2501"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4" name="Freeform 1699"/>
              <p:cNvSpPr>
                <a:spLocks/>
              </p:cNvSpPr>
              <p:nvPr/>
            </p:nvSpPr>
            <p:spPr bwMode="auto">
              <a:xfrm>
                <a:off x="2512"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5" name="Freeform 1700"/>
              <p:cNvSpPr>
                <a:spLocks/>
              </p:cNvSpPr>
              <p:nvPr/>
            </p:nvSpPr>
            <p:spPr bwMode="auto">
              <a:xfrm>
                <a:off x="2533"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6" name="Freeform 1701"/>
              <p:cNvSpPr>
                <a:spLocks/>
              </p:cNvSpPr>
              <p:nvPr/>
            </p:nvSpPr>
            <p:spPr bwMode="auto">
              <a:xfrm>
                <a:off x="2576"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67" name="Freeform 1702"/>
              <p:cNvSpPr>
                <a:spLocks/>
              </p:cNvSpPr>
              <p:nvPr/>
            </p:nvSpPr>
            <p:spPr bwMode="auto">
              <a:xfrm>
                <a:off x="2585"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68" name="Freeform 1703"/>
              <p:cNvSpPr>
                <a:spLocks/>
              </p:cNvSpPr>
              <p:nvPr/>
            </p:nvSpPr>
            <p:spPr bwMode="auto">
              <a:xfrm>
                <a:off x="2589"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69" name="Freeform 1704"/>
              <p:cNvSpPr>
                <a:spLocks/>
              </p:cNvSpPr>
              <p:nvPr/>
            </p:nvSpPr>
            <p:spPr bwMode="auto">
              <a:xfrm>
                <a:off x="2594"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0" name="Freeform 1705"/>
              <p:cNvSpPr>
                <a:spLocks/>
              </p:cNvSpPr>
              <p:nvPr/>
            </p:nvSpPr>
            <p:spPr bwMode="auto">
              <a:xfrm>
                <a:off x="2606"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1" name="Freeform 1706"/>
              <p:cNvSpPr>
                <a:spLocks/>
              </p:cNvSpPr>
              <p:nvPr/>
            </p:nvSpPr>
            <p:spPr bwMode="auto">
              <a:xfrm>
                <a:off x="2608"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2" name="Freeform 1707"/>
              <p:cNvSpPr>
                <a:spLocks/>
              </p:cNvSpPr>
              <p:nvPr/>
            </p:nvSpPr>
            <p:spPr bwMode="auto">
              <a:xfrm>
                <a:off x="2625"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3" name="Freeform 1708"/>
              <p:cNvSpPr>
                <a:spLocks/>
              </p:cNvSpPr>
              <p:nvPr/>
            </p:nvSpPr>
            <p:spPr bwMode="auto">
              <a:xfrm>
                <a:off x="2641"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74" name="Freeform 1709"/>
              <p:cNvSpPr>
                <a:spLocks/>
              </p:cNvSpPr>
              <p:nvPr/>
            </p:nvSpPr>
            <p:spPr bwMode="auto">
              <a:xfrm>
                <a:off x="2653"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5" name="Freeform 1710"/>
              <p:cNvSpPr>
                <a:spLocks/>
              </p:cNvSpPr>
              <p:nvPr/>
            </p:nvSpPr>
            <p:spPr bwMode="auto">
              <a:xfrm>
                <a:off x="3290"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6" name="Freeform 1711"/>
              <p:cNvSpPr>
                <a:spLocks/>
              </p:cNvSpPr>
              <p:nvPr/>
            </p:nvSpPr>
            <p:spPr bwMode="auto">
              <a:xfrm>
                <a:off x="3294"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77" name="Freeform 1712"/>
              <p:cNvSpPr>
                <a:spLocks/>
              </p:cNvSpPr>
              <p:nvPr/>
            </p:nvSpPr>
            <p:spPr bwMode="auto">
              <a:xfrm>
                <a:off x="3297"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78" name="Freeform 1713"/>
              <p:cNvSpPr>
                <a:spLocks/>
              </p:cNvSpPr>
              <p:nvPr/>
            </p:nvSpPr>
            <p:spPr bwMode="auto">
              <a:xfrm>
                <a:off x="3302"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79" name="Freeform 1714"/>
              <p:cNvSpPr>
                <a:spLocks/>
              </p:cNvSpPr>
              <p:nvPr/>
            </p:nvSpPr>
            <p:spPr bwMode="auto">
              <a:xfrm>
                <a:off x="3304"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0" name="Freeform 1715"/>
              <p:cNvSpPr>
                <a:spLocks/>
              </p:cNvSpPr>
              <p:nvPr/>
            </p:nvSpPr>
            <p:spPr bwMode="auto">
              <a:xfrm>
                <a:off x="3313"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1" name="Freeform 1716"/>
              <p:cNvSpPr>
                <a:spLocks/>
              </p:cNvSpPr>
              <p:nvPr/>
            </p:nvSpPr>
            <p:spPr bwMode="auto">
              <a:xfrm>
                <a:off x="3341"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2" name="Freeform 1717"/>
              <p:cNvSpPr>
                <a:spLocks/>
              </p:cNvSpPr>
              <p:nvPr/>
            </p:nvSpPr>
            <p:spPr bwMode="auto">
              <a:xfrm>
                <a:off x="3360"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3" name="Freeform 1718"/>
              <p:cNvSpPr>
                <a:spLocks/>
              </p:cNvSpPr>
              <p:nvPr/>
            </p:nvSpPr>
            <p:spPr bwMode="auto">
              <a:xfrm>
                <a:off x="3367"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4" name="Freeform 1719"/>
              <p:cNvSpPr>
                <a:spLocks/>
              </p:cNvSpPr>
              <p:nvPr/>
            </p:nvSpPr>
            <p:spPr bwMode="auto">
              <a:xfrm>
                <a:off x="3538"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185" name="Freeform 1720"/>
              <p:cNvSpPr>
                <a:spLocks/>
              </p:cNvSpPr>
              <p:nvPr/>
            </p:nvSpPr>
            <p:spPr bwMode="auto">
              <a:xfrm>
                <a:off x="3542" y="1339"/>
                <a:ext cx="8" cy="9"/>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6" name="Freeform 1721"/>
              <p:cNvSpPr>
                <a:spLocks/>
              </p:cNvSpPr>
              <p:nvPr/>
            </p:nvSpPr>
            <p:spPr bwMode="auto">
              <a:xfrm>
                <a:off x="3554"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87" name="Freeform 1722"/>
              <p:cNvSpPr>
                <a:spLocks/>
              </p:cNvSpPr>
              <p:nvPr/>
            </p:nvSpPr>
            <p:spPr bwMode="auto">
              <a:xfrm>
                <a:off x="3577" y="1339"/>
                <a:ext cx="10" cy="9"/>
              </a:xfrm>
              <a:custGeom>
                <a:avLst/>
                <a:gdLst>
                  <a:gd name="T0" fmla="*/ 1 w 10"/>
                  <a:gd name="T1" fmla="*/ 0 h 9"/>
                  <a:gd name="T2" fmla="*/ 6 w 10"/>
                  <a:gd name="T3" fmla="*/ 0 h 9"/>
                  <a:gd name="T4" fmla="*/ 10 w 10"/>
                  <a:gd name="T5" fmla="*/ 4 h 9"/>
                  <a:gd name="T6" fmla="*/ 10 w 10"/>
                  <a:gd name="T7" fmla="*/ 5 h 9"/>
                  <a:gd name="T8" fmla="*/ 6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6" y="0"/>
                    </a:lnTo>
                    <a:lnTo>
                      <a:pt x="10" y="4"/>
                    </a:lnTo>
                    <a:lnTo>
                      <a:pt x="10" y="5"/>
                    </a:lnTo>
                    <a:lnTo>
                      <a:pt x="6"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88" name="Freeform 1723"/>
              <p:cNvSpPr>
                <a:spLocks/>
              </p:cNvSpPr>
              <p:nvPr/>
            </p:nvSpPr>
            <p:spPr bwMode="auto">
              <a:xfrm>
                <a:off x="3594"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89" name="Freeform 1724"/>
              <p:cNvSpPr>
                <a:spLocks/>
              </p:cNvSpPr>
              <p:nvPr/>
            </p:nvSpPr>
            <p:spPr bwMode="auto">
              <a:xfrm>
                <a:off x="3610" y="1339"/>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0" name="Freeform 1725"/>
              <p:cNvSpPr>
                <a:spLocks/>
              </p:cNvSpPr>
              <p:nvPr/>
            </p:nvSpPr>
            <p:spPr bwMode="auto">
              <a:xfrm>
                <a:off x="3613"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1" name="Freeform 1726"/>
              <p:cNvSpPr>
                <a:spLocks/>
              </p:cNvSpPr>
              <p:nvPr/>
            </p:nvSpPr>
            <p:spPr bwMode="auto">
              <a:xfrm>
                <a:off x="4130"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2" name="Freeform 1727"/>
              <p:cNvSpPr>
                <a:spLocks/>
              </p:cNvSpPr>
              <p:nvPr/>
            </p:nvSpPr>
            <p:spPr bwMode="auto">
              <a:xfrm>
                <a:off x="4215" y="1339"/>
                <a:ext cx="9" cy="9"/>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3" name="Freeform 1728"/>
              <p:cNvSpPr>
                <a:spLocks/>
              </p:cNvSpPr>
              <p:nvPr/>
            </p:nvSpPr>
            <p:spPr bwMode="auto">
              <a:xfrm>
                <a:off x="4228" y="1339"/>
                <a:ext cx="10" cy="9"/>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194" name="Freeform 1729"/>
              <p:cNvSpPr>
                <a:spLocks/>
              </p:cNvSpPr>
              <p:nvPr/>
            </p:nvSpPr>
            <p:spPr bwMode="auto">
              <a:xfrm>
                <a:off x="4289" y="1339"/>
                <a:ext cx="8" cy="9"/>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5" name="Freeform 1730"/>
              <p:cNvSpPr>
                <a:spLocks/>
              </p:cNvSpPr>
              <p:nvPr/>
            </p:nvSpPr>
            <p:spPr bwMode="auto">
              <a:xfrm>
                <a:off x="4327"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6" name="Freeform 1731"/>
              <p:cNvSpPr>
                <a:spLocks/>
              </p:cNvSpPr>
              <p:nvPr/>
            </p:nvSpPr>
            <p:spPr bwMode="auto">
              <a:xfrm>
                <a:off x="4383" y="1339"/>
                <a:ext cx="9" cy="9"/>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7" name="Freeform 1732"/>
              <p:cNvSpPr>
                <a:spLocks/>
              </p:cNvSpPr>
              <p:nvPr/>
            </p:nvSpPr>
            <p:spPr bwMode="auto">
              <a:xfrm>
                <a:off x="4409" y="1339"/>
                <a:ext cx="11" cy="9"/>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198" name="Freeform 1733"/>
              <p:cNvSpPr>
                <a:spLocks/>
              </p:cNvSpPr>
              <p:nvPr/>
            </p:nvSpPr>
            <p:spPr bwMode="auto">
              <a:xfrm>
                <a:off x="4427" y="1339"/>
                <a:ext cx="10" cy="9"/>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199" name="Freeform 1734"/>
              <p:cNvSpPr>
                <a:spLocks/>
              </p:cNvSpPr>
              <p:nvPr/>
            </p:nvSpPr>
            <p:spPr bwMode="auto">
              <a:xfrm>
                <a:off x="4432" y="1339"/>
                <a:ext cx="9" cy="9"/>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00" name="Freeform 1735"/>
              <p:cNvSpPr>
                <a:spLocks/>
              </p:cNvSpPr>
              <p:nvPr/>
            </p:nvSpPr>
            <p:spPr bwMode="auto">
              <a:xfrm>
                <a:off x="4435" y="1339"/>
                <a:ext cx="11" cy="9"/>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1" name="Freeform 1736"/>
              <p:cNvSpPr>
                <a:spLocks/>
              </p:cNvSpPr>
              <p:nvPr/>
            </p:nvSpPr>
            <p:spPr bwMode="auto">
              <a:xfrm>
                <a:off x="4500" y="1339"/>
                <a:ext cx="10" cy="9"/>
              </a:xfrm>
              <a:custGeom>
                <a:avLst/>
                <a:gdLst>
                  <a:gd name="T0" fmla="*/ 3 w 10"/>
                  <a:gd name="T1" fmla="*/ 0 h 9"/>
                  <a:gd name="T2" fmla="*/ 9 w 10"/>
                  <a:gd name="T3" fmla="*/ 0 h 9"/>
                  <a:gd name="T4" fmla="*/ 10 w 10"/>
                  <a:gd name="T5" fmla="*/ 2 h 9"/>
                  <a:gd name="T6" fmla="*/ 10 w 10"/>
                  <a:gd name="T7" fmla="*/ 7 h 9"/>
                  <a:gd name="T8" fmla="*/ 9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9" y="0"/>
                    </a:lnTo>
                    <a:lnTo>
                      <a:pt x="10" y="2"/>
                    </a:lnTo>
                    <a:lnTo>
                      <a:pt x="10" y="7"/>
                    </a:lnTo>
                    <a:lnTo>
                      <a:pt x="9"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02" name="Freeform 1737"/>
              <p:cNvSpPr>
                <a:spLocks/>
              </p:cNvSpPr>
              <p:nvPr/>
            </p:nvSpPr>
            <p:spPr bwMode="auto">
              <a:xfrm>
                <a:off x="4521" y="1339"/>
                <a:ext cx="10" cy="9"/>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03" name="Freeform 1738"/>
              <p:cNvSpPr>
                <a:spLocks/>
              </p:cNvSpPr>
              <p:nvPr/>
            </p:nvSpPr>
            <p:spPr bwMode="auto">
              <a:xfrm>
                <a:off x="1993"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04" name="Freeform 1739"/>
              <p:cNvSpPr>
                <a:spLocks/>
              </p:cNvSpPr>
              <p:nvPr/>
            </p:nvSpPr>
            <p:spPr bwMode="auto">
              <a:xfrm>
                <a:off x="2028"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05" name="Freeform 1740"/>
              <p:cNvSpPr>
                <a:spLocks/>
              </p:cNvSpPr>
              <p:nvPr/>
            </p:nvSpPr>
            <p:spPr bwMode="auto">
              <a:xfrm>
                <a:off x="2039" y="129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06" name="Freeform 1741"/>
              <p:cNvSpPr>
                <a:spLocks/>
              </p:cNvSpPr>
              <p:nvPr/>
            </p:nvSpPr>
            <p:spPr bwMode="auto">
              <a:xfrm>
                <a:off x="2077"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07" name="Freeform 1742"/>
              <p:cNvSpPr>
                <a:spLocks/>
              </p:cNvSpPr>
              <p:nvPr/>
            </p:nvSpPr>
            <p:spPr bwMode="auto">
              <a:xfrm>
                <a:off x="2135" y="129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08" name="Freeform 1743"/>
              <p:cNvSpPr>
                <a:spLocks/>
              </p:cNvSpPr>
              <p:nvPr/>
            </p:nvSpPr>
            <p:spPr bwMode="auto">
              <a:xfrm>
                <a:off x="2156" y="1299"/>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09" name="Freeform 1744"/>
              <p:cNvSpPr>
                <a:spLocks/>
              </p:cNvSpPr>
              <p:nvPr/>
            </p:nvSpPr>
            <p:spPr bwMode="auto">
              <a:xfrm>
                <a:off x="2201"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10" name="Freeform 1745"/>
              <p:cNvSpPr>
                <a:spLocks/>
              </p:cNvSpPr>
              <p:nvPr/>
            </p:nvSpPr>
            <p:spPr bwMode="auto">
              <a:xfrm>
                <a:off x="2222"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11" name="Freeform 1746"/>
              <p:cNvSpPr>
                <a:spLocks/>
              </p:cNvSpPr>
              <p:nvPr/>
            </p:nvSpPr>
            <p:spPr bwMode="auto">
              <a:xfrm>
                <a:off x="2238" y="1299"/>
                <a:ext cx="8" cy="10"/>
              </a:xfrm>
              <a:custGeom>
                <a:avLst/>
                <a:gdLst>
                  <a:gd name="T0" fmla="*/ 1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7"/>
                    </a:lnTo>
                    <a:lnTo>
                      <a:pt x="5"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12" name="Freeform 1747"/>
              <p:cNvSpPr>
                <a:spLocks/>
              </p:cNvSpPr>
              <p:nvPr/>
            </p:nvSpPr>
            <p:spPr bwMode="auto">
              <a:xfrm>
                <a:off x="2239"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13" name="Freeform 1748"/>
              <p:cNvSpPr>
                <a:spLocks/>
              </p:cNvSpPr>
              <p:nvPr/>
            </p:nvSpPr>
            <p:spPr bwMode="auto">
              <a:xfrm>
                <a:off x="2253" y="1299"/>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14" name="Freeform 1749"/>
              <p:cNvSpPr>
                <a:spLocks/>
              </p:cNvSpPr>
              <p:nvPr/>
            </p:nvSpPr>
            <p:spPr bwMode="auto">
              <a:xfrm>
                <a:off x="3304"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15" name="Freeform 1750"/>
              <p:cNvSpPr>
                <a:spLocks/>
              </p:cNvSpPr>
              <p:nvPr/>
            </p:nvSpPr>
            <p:spPr bwMode="auto">
              <a:xfrm>
                <a:off x="3306" y="1299"/>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16" name="Freeform 1751"/>
              <p:cNvSpPr>
                <a:spLocks/>
              </p:cNvSpPr>
              <p:nvPr/>
            </p:nvSpPr>
            <p:spPr bwMode="auto">
              <a:xfrm>
                <a:off x="3315" y="1299"/>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17" name="Freeform 1752"/>
              <p:cNvSpPr>
                <a:spLocks/>
              </p:cNvSpPr>
              <p:nvPr/>
            </p:nvSpPr>
            <p:spPr bwMode="auto">
              <a:xfrm>
                <a:off x="3318"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18" name="Freeform 1753"/>
              <p:cNvSpPr>
                <a:spLocks/>
              </p:cNvSpPr>
              <p:nvPr/>
            </p:nvSpPr>
            <p:spPr bwMode="auto">
              <a:xfrm>
                <a:off x="3320" y="129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19" name="Freeform 1754"/>
              <p:cNvSpPr>
                <a:spLocks/>
              </p:cNvSpPr>
              <p:nvPr/>
            </p:nvSpPr>
            <p:spPr bwMode="auto">
              <a:xfrm>
                <a:off x="3336" y="129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3" y="10"/>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20" name="Freeform 1755"/>
              <p:cNvSpPr>
                <a:spLocks/>
              </p:cNvSpPr>
              <p:nvPr/>
            </p:nvSpPr>
            <p:spPr bwMode="auto">
              <a:xfrm>
                <a:off x="3360"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21" name="Freeform 1756"/>
              <p:cNvSpPr>
                <a:spLocks/>
              </p:cNvSpPr>
              <p:nvPr/>
            </p:nvSpPr>
            <p:spPr bwMode="auto">
              <a:xfrm>
                <a:off x="3381"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22" name="Freeform 1757"/>
              <p:cNvSpPr>
                <a:spLocks/>
              </p:cNvSpPr>
              <p:nvPr/>
            </p:nvSpPr>
            <p:spPr bwMode="auto">
              <a:xfrm>
                <a:off x="3529"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23" name="Freeform 1758"/>
              <p:cNvSpPr>
                <a:spLocks/>
              </p:cNvSpPr>
              <p:nvPr/>
            </p:nvSpPr>
            <p:spPr bwMode="auto">
              <a:xfrm>
                <a:off x="3557" y="1299"/>
                <a:ext cx="9" cy="10"/>
              </a:xfrm>
              <a:custGeom>
                <a:avLst/>
                <a:gdLst>
                  <a:gd name="T0" fmla="*/ 2 w 9"/>
                  <a:gd name="T1" fmla="*/ 0 h 10"/>
                  <a:gd name="T2" fmla="*/ 7 w 9"/>
                  <a:gd name="T3" fmla="*/ 0 h 10"/>
                  <a:gd name="T4" fmla="*/ 9 w 9"/>
                  <a:gd name="T5" fmla="*/ 2 h 10"/>
                  <a:gd name="T6" fmla="*/ 9 w 9"/>
                  <a:gd name="T7" fmla="*/ 7 h 10"/>
                  <a:gd name="T8" fmla="*/ 6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6"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24" name="Freeform 1759"/>
              <p:cNvSpPr>
                <a:spLocks/>
              </p:cNvSpPr>
              <p:nvPr/>
            </p:nvSpPr>
            <p:spPr bwMode="auto">
              <a:xfrm>
                <a:off x="3568"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25" name="Freeform 1760"/>
              <p:cNvSpPr>
                <a:spLocks/>
              </p:cNvSpPr>
              <p:nvPr/>
            </p:nvSpPr>
            <p:spPr bwMode="auto">
              <a:xfrm>
                <a:off x="3575" y="1299"/>
                <a:ext cx="8" cy="10"/>
              </a:xfrm>
              <a:custGeom>
                <a:avLst/>
                <a:gdLst>
                  <a:gd name="T0" fmla="*/ 2 w 8"/>
                  <a:gd name="T1" fmla="*/ 0 h 10"/>
                  <a:gd name="T2" fmla="*/ 7 w 8"/>
                  <a:gd name="T3" fmla="*/ 0 h 10"/>
                  <a:gd name="T4" fmla="*/ 8 w 8"/>
                  <a:gd name="T5" fmla="*/ 2 h 10"/>
                  <a:gd name="T6" fmla="*/ 8 w 8"/>
                  <a:gd name="T7" fmla="*/ 7 h 10"/>
                  <a:gd name="T8" fmla="*/ 5 w 8"/>
                  <a:gd name="T9" fmla="*/ 10 h 10"/>
                  <a:gd name="T10" fmla="*/ 3 w 8"/>
                  <a:gd name="T11" fmla="*/ 10 h 10"/>
                  <a:gd name="T12" fmla="*/ 0 w 8"/>
                  <a:gd name="T13" fmla="*/ 7 h 10"/>
                  <a:gd name="T14" fmla="*/ 0 w 8"/>
                  <a:gd name="T15" fmla="*/ 2 h 10"/>
                  <a:gd name="T16" fmla="*/ 2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2" y="0"/>
                    </a:moveTo>
                    <a:lnTo>
                      <a:pt x="7" y="0"/>
                    </a:lnTo>
                    <a:lnTo>
                      <a:pt x="8" y="2"/>
                    </a:lnTo>
                    <a:lnTo>
                      <a:pt x="8"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26" name="Freeform 1761"/>
              <p:cNvSpPr>
                <a:spLocks/>
              </p:cNvSpPr>
              <p:nvPr/>
            </p:nvSpPr>
            <p:spPr bwMode="auto">
              <a:xfrm>
                <a:off x="3592"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27" name="Freeform 1762"/>
              <p:cNvSpPr>
                <a:spLocks/>
              </p:cNvSpPr>
              <p:nvPr/>
            </p:nvSpPr>
            <p:spPr bwMode="auto">
              <a:xfrm>
                <a:off x="3601" y="129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28" name="Freeform 1763"/>
              <p:cNvSpPr>
                <a:spLocks/>
              </p:cNvSpPr>
              <p:nvPr/>
            </p:nvSpPr>
            <p:spPr bwMode="auto">
              <a:xfrm>
                <a:off x="3613"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29" name="Freeform 1764"/>
              <p:cNvSpPr>
                <a:spLocks/>
              </p:cNvSpPr>
              <p:nvPr/>
            </p:nvSpPr>
            <p:spPr bwMode="auto">
              <a:xfrm>
                <a:off x="4228" y="1299"/>
                <a:ext cx="10" cy="10"/>
              </a:xfrm>
              <a:custGeom>
                <a:avLst/>
                <a:gdLst>
                  <a:gd name="T0" fmla="*/ 3 w 10"/>
                  <a:gd name="T1" fmla="*/ 0 h 10"/>
                  <a:gd name="T2" fmla="*/ 8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30" name="Freeform 1765"/>
              <p:cNvSpPr>
                <a:spLocks/>
              </p:cNvSpPr>
              <p:nvPr/>
            </p:nvSpPr>
            <p:spPr bwMode="auto">
              <a:xfrm>
                <a:off x="4355" y="1299"/>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31" name="Freeform 1766"/>
              <p:cNvSpPr>
                <a:spLocks/>
              </p:cNvSpPr>
              <p:nvPr/>
            </p:nvSpPr>
            <p:spPr bwMode="auto">
              <a:xfrm>
                <a:off x="4360"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4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32" name="Freeform 1767"/>
              <p:cNvSpPr>
                <a:spLocks/>
              </p:cNvSpPr>
              <p:nvPr/>
            </p:nvSpPr>
            <p:spPr bwMode="auto">
              <a:xfrm>
                <a:off x="4418" y="129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3 w 10"/>
                  <a:gd name="T11" fmla="*/ 10 h 10"/>
                  <a:gd name="T12" fmla="*/ 0 w 10"/>
                  <a:gd name="T13" fmla="*/ 7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33" name="Freeform 1768"/>
              <p:cNvSpPr>
                <a:spLocks/>
              </p:cNvSpPr>
              <p:nvPr/>
            </p:nvSpPr>
            <p:spPr bwMode="auto">
              <a:xfrm>
                <a:off x="4479"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34" name="Freeform 1769"/>
              <p:cNvSpPr>
                <a:spLocks/>
              </p:cNvSpPr>
              <p:nvPr/>
            </p:nvSpPr>
            <p:spPr bwMode="auto">
              <a:xfrm>
                <a:off x="4482" y="129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4 w 11"/>
                  <a:gd name="T11" fmla="*/ 10 h 10"/>
                  <a:gd name="T12" fmla="*/ 0 w 11"/>
                  <a:gd name="T13" fmla="*/ 7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4"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35" name="Freeform 1770"/>
              <p:cNvSpPr>
                <a:spLocks/>
              </p:cNvSpPr>
              <p:nvPr/>
            </p:nvSpPr>
            <p:spPr bwMode="auto">
              <a:xfrm>
                <a:off x="4498" y="1299"/>
                <a:ext cx="11" cy="10"/>
              </a:xfrm>
              <a:custGeom>
                <a:avLst/>
                <a:gdLst>
                  <a:gd name="T0" fmla="*/ 4 w 11"/>
                  <a:gd name="T1" fmla="*/ 0 h 10"/>
                  <a:gd name="T2" fmla="*/ 9 w 11"/>
                  <a:gd name="T3" fmla="*/ 0 h 10"/>
                  <a:gd name="T4" fmla="*/ 11 w 11"/>
                  <a:gd name="T5" fmla="*/ 2 h 10"/>
                  <a:gd name="T6" fmla="*/ 11 w 11"/>
                  <a:gd name="T7" fmla="*/ 7 h 10"/>
                  <a:gd name="T8" fmla="*/ 7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7"/>
                    </a:lnTo>
                    <a:lnTo>
                      <a:pt x="7"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36" name="Freeform 1771"/>
              <p:cNvSpPr>
                <a:spLocks/>
              </p:cNvSpPr>
              <p:nvPr/>
            </p:nvSpPr>
            <p:spPr bwMode="auto">
              <a:xfrm>
                <a:off x="4507" y="1299"/>
                <a:ext cx="10" cy="10"/>
              </a:xfrm>
              <a:custGeom>
                <a:avLst/>
                <a:gdLst>
                  <a:gd name="T0" fmla="*/ 3 w 10"/>
                  <a:gd name="T1" fmla="*/ 0 h 10"/>
                  <a:gd name="T2" fmla="*/ 9 w 10"/>
                  <a:gd name="T3" fmla="*/ 0 h 10"/>
                  <a:gd name="T4" fmla="*/ 10 w 10"/>
                  <a:gd name="T5" fmla="*/ 2 h 10"/>
                  <a:gd name="T6" fmla="*/ 10 w 10"/>
                  <a:gd name="T7" fmla="*/ 7 h 10"/>
                  <a:gd name="T8" fmla="*/ 7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9" y="0"/>
                    </a:lnTo>
                    <a:lnTo>
                      <a:pt x="10" y="2"/>
                    </a:lnTo>
                    <a:lnTo>
                      <a:pt x="10" y="7"/>
                    </a:lnTo>
                    <a:lnTo>
                      <a:pt x="7"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37" name="Freeform 1772"/>
              <p:cNvSpPr>
                <a:spLocks/>
              </p:cNvSpPr>
              <p:nvPr/>
            </p:nvSpPr>
            <p:spPr bwMode="auto">
              <a:xfrm>
                <a:off x="4535" y="1299"/>
                <a:ext cx="9" cy="10"/>
              </a:xfrm>
              <a:custGeom>
                <a:avLst/>
                <a:gdLst>
                  <a:gd name="T0" fmla="*/ 2 w 9"/>
                  <a:gd name="T1" fmla="*/ 0 h 10"/>
                  <a:gd name="T2" fmla="*/ 7 w 9"/>
                  <a:gd name="T3" fmla="*/ 0 h 10"/>
                  <a:gd name="T4" fmla="*/ 9 w 9"/>
                  <a:gd name="T5" fmla="*/ 2 h 10"/>
                  <a:gd name="T6" fmla="*/ 9 w 9"/>
                  <a:gd name="T7" fmla="*/ 7 h 10"/>
                  <a:gd name="T8" fmla="*/ 5 w 9"/>
                  <a:gd name="T9" fmla="*/ 10 h 10"/>
                  <a:gd name="T10" fmla="*/ 3 w 9"/>
                  <a:gd name="T11" fmla="*/ 10 h 10"/>
                  <a:gd name="T12" fmla="*/ 0 w 9"/>
                  <a:gd name="T13" fmla="*/ 7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7"/>
                    </a:lnTo>
                    <a:lnTo>
                      <a:pt x="5" y="10"/>
                    </a:lnTo>
                    <a:lnTo>
                      <a:pt x="3" y="10"/>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38" name="Freeform 1773"/>
              <p:cNvSpPr>
                <a:spLocks/>
              </p:cNvSpPr>
              <p:nvPr/>
            </p:nvSpPr>
            <p:spPr bwMode="auto">
              <a:xfrm>
                <a:off x="2264" y="125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9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39" name="Freeform 1774"/>
              <p:cNvSpPr>
                <a:spLocks/>
              </p:cNvSpPr>
              <p:nvPr/>
            </p:nvSpPr>
            <p:spPr bwMode="auto">
              <a:xfrm>
                <a:off x="2271"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40" name="Freeform 1775"/>
              <p:cNvSpPr>
                <a:spLocks/>
              </p:cNvSpPr>
              <p:nvPr/>
            </p:nvSpPr>
            <p:spPr bwMode="auto">
              <a:xfrm>
                <a:off x="2431" y="125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41" name="Freeform 1776"/>
              <p:cNvSpPr>
                <a:spLocks/>
              </p:cNvSpPr>
              <p:nvPr/>
            </p:nvSpPr>
            <p:spPr bwMode="auto">
              <a:xfrm>
                <a:off x="2470"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42" name="Freeform 1777"/>
              <p:cNvSpPr>
                <a:spLocks/>
              </p:cNvSpPr>
              <p:nvPr/>
            </p:nvSpPr>
            <p:spPr bwMode="auto">
              <a:xfrm>
                <a:off x="2650" y="1259"/>
                <a:ext cx="10" cy="10"/>
              </a:xfrm>
              <a:custGeom>
                <a:avLst/>
                <a:gdLst>
                  <a:gd name="T0" fmla="*/ 3 w 10"/>
                  <a:gd name="T1" fmla="*/ 0 h 10"/>
                  <a:gd name="T2" fmla="*/ 8 w 10"/>
                  <a:gd name="T3" fmla="*/ 0 h 10"/>
                  <a:gd name="T4" fmla="*/ 10 w 10"/>
                  <a:gd name="T5" fmla="*/ 2 h 10"/>
                  <a:gd name="T6" fmla="*/ 10 w 10"/>
                  <a:gd name="T7" fmla="*/ 9 h 10"/>
                  <a:gd name="T8" fmla="*/ 8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8" y="0"/>
                    </a:lnTo>
                    <a:lnTo>
                      <a:pt x="10" y="2"/>
                    </a:lnTo>
                    <a:lnTo>
                      <a:pt x="10" y="9"/>
                    </a:lnTo>
                    <a:lnTo>
                      <a:pt x="8"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43" name="Freeform 1778"/>
              <p:cNvSpPr>
                <a:spLocks/>
              </p:cNvSpPr>
              <p:nvPr/>
            </p:nvSpPr>
            <p:spPr bwMode="auto">
              <a:xfrm>
                <a:off x="3536" y="125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44" name="Freeform 1779"/>
              <p:cNvSpPr>
                <a:spLocks/>
              </p:cNvSpPr>
              <p:nvPr/>
            </p:nvSpPr>
            <p:spPr bwMode="auto">
              <a:xfrm>
                <a:off x="3538" y="1259"/>
                <a:ext cx="11" cy="10"/>
              </a:xfrm>
              <a:custGeom>
                <a:avLst/>
                <a:gdLst>
                  <a:gd name="T0" fmla="*/ 4 w 11"/>
                  <a:gd name="T1" fmla="*/ 0 h 10"/>
                  <a:gd name="T2" fmla="*/ 9 w 11"/>
                  <a:gd name="T3" fmla="*/ 0 h 10"/>
                  <a:gd name="T4" fmla="*/ 11 w 11"/>
                  <a:gd name="T5" fmla="*/ 2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45" name="Freeform 1780"/>
              <p:cNvSpPr>
                <a:spLocks/>
              </p:cNvSpPr>
              <p:nvPr/>
            </p:nvSpPr>
            <p:spPr bwMode="auto">
              <a:xfrm>
                <a:off x="3542" y="1259"/>
                <a:ext cx="8" cy="10"/>
              </a:xfrm>
              <a:custGeom>
                <a:avLst/>
                <a:gdLst>
                  <a:gd name="T0" fmla="*/ 1 w 8"/>
                  <a:gd name="T1" fmla="*/ 0 h 10"/>
                  <a:gd name="T2" fmla="*/ 7 w 8"/>
                  <a:gd name="T3" fmla="*/ 0 h 10"/>
                  <a:gd name="T4" fmla="*/ 8 w 8"/>
                  <a:gd name="T5" fmla="*/ 2 h 10"/>
                  <a:gd name="T6" fmla="*/ 8 w 8"/>
                  <a:gd name="T7" fmla="*/ 9 h 10"/>
                  <a:gd name="T8" fmla="*/ 7 w 8"/>
                  <a:gd name="T9" fmla="*/ 10 h 10"/>
                  <a:gd name="T10" fmla="*/ 1 w 8"/>
                  <a:gd name="T11" fmla="*/ 10 h 10"/>
                  <a:gd name="T12" fmla="*/ 0 w 8"/>
                  <a:gd name="T13" fmla="*/ 9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9"/>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46" name="Freeform 1781"/>
              <p:cNvSpPr>
                <a:spLocks/>
              </p:cNvSpPr>
              <p:nvPr/>
            </p:nvSpPr>
            <p:spPr bwMode="auto">
              <a:xfrm>
                <a:off x="3583"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47" name="Freeform 1782"/>
              <p:cNvSpPr>
                <a:spLocks/>
              </p:cNvSpPr>
              <p:nvPr/>
            </p:nvSpPr>
            <p:spPr bwMode="auto">
              <a:xfrm>
                <a:off x="3606"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48" name="Freeform 1783"/>
              <p:cNvSpPr>
                <a:spLocks/>
              </p:cNvSpPr>
              <p:nvPr/>
            </p:nvSpPr>
            <p:spPr bwMode="auto">
              <a:xfrm>
                <a:off x="4137" y="125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9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49" name="Freeform 1784"/>
              <p:cNvSpPr>
                <a:spLocks/>
              </p:cNvSpPr>
              <p:nvPr/>
            </p:nvSpPr>
            <p:spPr bwMode="auto">
              <a:xfrm>
                <a:off x="4224"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50" name="Freeform 1785"/>
              <p:cNvSpPr>
                <a:spLocks/>
              </p:cNvSpPr>
              <p:nvPr/>
            </p:nvSpPr>
            <p:spPr bwMode="auto">
              <a:xfrm>
                <a:off x="4250" y="1259"/>
                <a:ext cx="11" cy="10"/>
              </a:xfrm>
              <a:custGeom>
                <a:avLst/>
                <a:gdLst>
                  <a:gd name="T0" fmla="*/ 2 w 11"/>
                  <a:gd name="T1" fmla="*/ 0 h 10"/>
                  <a:gd name="T2" fmla="*/ 9 w 11"/>
                  <a:gd name="T3" fmla="*/ 0 h 10"/>
                  <a:gd name="T4" fmla="*/ 11 w 11"/>
                  <a:gd name="T5" fmla="*/ 2 h 10"/>
                  <a:gd name="T6" fmla="*/ 11 w 11"/>
                  <a:gd name="T7" fmla="*/ 9 h 10"/>
                  <a:gd name="T8" fmla="*/ 9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9" y="0"/>
                    </a:lnTo>
                    <a:lnTo>
                      <a:pt x="11" y="2"/>
                    </a:lnTo>
                    <a:lnTo>
                      <a:pt x="11" y="9"/>
                    </a:lnTo>
                    <a:lnTo>
                      <a:pt x="9"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51" name="Freeform 1786"/>
              <p:cNvSpPr>
                <a:spLocks/>
              </p:cNvSpPr>
              <p:nvPr/>
            </p:nvSpPr>
            <p:spPr bwMode="auto">
              <a:xfrm>
                <a:off x="4289" y="1259"/>
                <a:ext cx="8" cy="10"/>
              </a:xfrm>
              <a:custGeom>
                <a:avLst/>
                <a:gdLst>
                  <a:gd name="T0" fmla="*/ 1 w 8"/>
                  <a:gd name="T1" fmla="*/ 0 h 10"/>
                  <a:gd name="T2" fmla="*/ 7 w 8"/>
                  <a:gd name="T3" fmla="*/ 0 h 10"/>
                  <a:gd name="T4" fmla="*/ 8 w 8"/>
                  <a:gd name="T5" fmla="*/ 2 h 10"/>
                  <a:gd name="T6" fmla="*/ 8 w 8"/>
                  <a:gd name="T7" fmla="*/ 9 h 10"/>
                  <a:gd name="T8" fmla="*/ 7 w 8"/>
                  <a:gd name="T9" fmla="*/ 10 h 10"/>
                  <a:gd name="T10" fmla="*/ 1 w 8"/>
                  <a:gd name="T11" fmla="*/ 10 h 10"/>
                  <a:gd name="T12" fmla="*/ 0 w 8"/>
                  <a:gd name="T13" fmla="*/ 9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9"/>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52" name="Freeform 1787"/>
              <p:cNvSpPr>
                <a:spLocks/>
              </p:cNvSpPr>
              <p:nvPr/>
            </p:nvSpPr>
            <p:spPr bwMode="auto">
              <a:xfrm>
                <a:off x="4296" y="1259"/>
                <a:ext cx="8" cy="10"/>
              </a:xfrm>
              <a:custGeom>
                <a:avLst/>
                <a:gdLst>
                  <a:gd name="T0" fmla="*/ 1 w 8"/>
                  <a:gd name="T1" fmla="*/ 0 h 10"/>
                  <a:gd name="T2" fmla="*/ 7 w 8"/>
                  <a:gd name="T3" fmla="*/ 0 h 10"/>
                  <a:gd name="T4" fmla="*/ 8 w 8"/>
                  <a:gd name="T5" fmla="*/ 2 h 10"/>
                  <a:gd name="T6" fmla="*/ 8 w 8"/>
                  <a:gd name="T7" fmla="*/ 9 h 10"/>
                  <a:gd name="T8" fmla="*/ 7 w 8"/>
                  <a:gd name="T9" fmla="*/ 10 h 10"/>
                  <a:gd name="T10" fmla="*/ 1 w 8"/>
                  <a:gd name="T11" fmla="*/ 10 h 10"/>
                  <a:gd name="T12" fmla="*/ 0 w 8"/>
                  <a:gd name="T13" fmla="*/ 9 h 10"/>
                  <a:gd name="T14" fmla="*/ 0 w 8"/>
                  <a:gd name="T15" fmla="*/ 2 h 10"/>
                  <a:gd name="T16" fmla="*/ 1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1" y="0"/>
                    </a:moveTo>
                    <a:lnTo>
                      <a:pt x="7" y="0"/>
                    </a:lnTo>
                    <a:lnTo>
                      <a:pt x="8" y="2"/>
                    </a:lnTo>
                    <a:lnTo>
                      <a:pt x="8" y="9"/>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53" name="Freeform 1788"/>
              <p:cNvSpPr>
                <a:spLocks/>
              </p:cNvSpPr>
              <p:nvPr/>
            </p:nvSpPr>
            <p:spPr bwMode="auto">
              <a:xfrm>
                <a:off x="4334"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54" name="Freeform 1789"/>
              <p:cNvSpPr>
                <a:spLocks/>
              </p:cNvSpPr>
              <p:nvPr/>
            </p:nvSpPr>
            <p:spPr bwMode="auto">
              <a:xfrm>
                <a:off x="4336"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55" name="Freeform 1790"/>
              <p:cNvSpPr>
                <a:spLocks/>
              </p:cNvSpPr>
              <p:nvPr/>
            </p:nvSpPr>
            <p:spPr bwMode="auto">
              <a:xfrm>
                <a:off x="4353" y="1259"/>
                <a:ext cx="11" cy="10"/>
              </a:xfrm>
              <a:custGeom>
                <a:avLst/>
                <a:gdLst>
                  <a:gd name="T0" fmla="*/ 2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9 h 10"/>
                  <a:gd name="T14" fmla="*/ 0 w 11"/>
                  <a:gd name="T15" fmla="*/ 2 h 10"/>
                  <a:gd name="T16" fmla="*/ 2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2" y="0"/>
                    </a:moveTo>
                    <a:lnTo>
                      <a:pt x="7" y="0"/>
                    </a:lnTo>
                    <a:lnTo>
                      <a:pt x="11" y="3"/>
                    </a:lnTo>
                    <a:lnTo>
                      <a:pt x="11"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56" name="Freeform 1791"/>
              <p:cNvSpPr>
                <a:spLocks/>
              </p:cNvSpPr>
              <p:nvPr/>
            </p:nvSpPr>
            <p:spPr bwMode="auto">
              <a:xfrm>
                <a:off x="4365" y="1259"/>
                <a:ext cx="9" cy="10"/>
              </a:xfrm>
              <a:custGeom>
                <a:avLst/>
                <a:gdLst>
                  <a:gd name="T0" fmla="*/ 2 w 9"/>
                  <a:gd name="T1" fmla="*/ 0 h 10"/>
                  <a:gd name="T2" fmla="*/ 7 w 9"/>
                  <a:gd name="T3" fmla="*/ 0 h 10"/>
                  <a:gd name="T4" fmla="*/ 9 w 9"/>
                  <a:gd name="T5" fmla="*/ 2 h 10"/>
                  <a:gd name="T6" fmla="*/ 9 w 9"/>
                  <a:gd name="T7" fmla="*/ 9 h 10"/>
                  <a:gd name="T8" fmla="*/ 7 w 9"/>
                  <a:gd name="T9" fmla="*/ 10 h 10"/>
                  <a:gd name="T10" fmla="*/ 2 w 9"/>
                  <a:gd name="T11" fmla="*/ 10 h 10"/>
                  <a:gd name="T12" fmla="*/ 0 w 9"/>
                  <a:gd name="T13" fmla="*/ 9 h 10"/>
                  <a:gd name="T14" fmla="*/ 0 w 9"/>
                  <a:gd name="T15" fmla="*/ 2 h 10"/>
                  <a:gd name="T16" fmla="*/ 2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0"/>
                    </a:moveTo>
                    <a:lnTo>
                      <a:pt x="7" y="0"/>
                    </a:lnTo>
                    <a:lnTo>
                      <a:pt x="9" y="2"/>
                    </a:lnTo>
                    <a:lnTo>
                      <a:pt x="9" y="9"/>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57" name="Freeform 1792"/>
              <p:cNvSpPr>
                <a:spLocks/>
              </p:cNvSpPr>
              <p:nvPr/>
            </p:nvSpPr>
            <p:spPr bwMode="auto">
              <a:xfrm>
                <a:off x="4386" y="1259"/>
                <a:ext cx="11" cy="10"/>
              </a:xfrm>
              <a:custGeom>
                <a:avLst/>
                <a:gdLst>
                  <a:gd name="T0" fmla="*/ 4 w 11"/>
                  <a:gd name="T1" fmla="*/ 0 h 10"/>
                  <a:gd name="T2" fmla="*/ 9 w 11"/>
                  <a:gd name="T3" fmla="*/ 0 h 10"/>
                  <a:gd name="T4" fmla="*/ 11 w 11"/>
                  <a:gd name="T5" fmla="*/ 2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58" name="Freeform 1793"/>
              <p:cNvSpPr>
                <a:spLocks/>
              </p:cNvSpPr>
              <p:nvPr/>
            </p:nvSpPr>
            <p:spPr bwMode="auto">
              <a:xfrm>
                <a:off x="4427" y="1259"/>
                <a:ext cx="10" cy="10"/>
              </a:xfrm>
              <a:custGeom>
                <a:avLst/>
                <a:gdLst>
                  <a:gd name="T0" fmla="*/ 1 w 10"/>
                  <a:gd name="T1" fmla="*/ 0 h 10"/>
                  <a:gd name="T2" fmla="*/ 7 w 10"/>
                  <a:gd name="T3" fmla="*/ 0 h 10"/>
                  <a:gd name="T4" fmla="*/ 10 w 10"/>
                  <a:gd name="T5" fmla="*/ 3 h 10"/>
                  <a:gd name="T6" fmla="*/ 10 w 10"/>
                  <a:gd name="T7" fmla="*/ 7 h 10"/>
                  <a:gd name="T8" fmla="*/ 7 w 10"/>
                  <a:gd name="T9" fmla="*/ 10 h 10"/>
                  <a:gd name="T10" fmla="*/ 1 w 10"/>
                  <a:gd name="T11" fmla="*/ 10 h 10"/>
                  <a:gd name="T12" fmla="*/ 0 w 10"/>
                  <a:gd name="T13" fmla="*/ 9 h 10"/>
                  <a:gd name="T14" fmla="*/ 0 w 10"/>
                  <a:gd name="T15" fmla="*/ 2 h 10"/>
                  <a:gd name="T16" fmla="*/ 1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1" y="0"/>
                    </a:moveTo>
                    <a:lnTo>
                      <a:pt x="7" y="0"/>
                    </a:lnTo>
                    <a:lnTo>
                      <a:pt x="10" y="3"/>
                    </a:lnTo>
                    <a:lnTo>
                      <a:pt x="10" y="7"/>
                    </a:lnTo>
                    <a:lnTo>
                      <a:pt x="7" y="10"/>
                    </a:lnTo>
                    <a:lnTo>
                      <a:pt x="1" y="10"/>
                    </a:lnTo>
                    <a:lnTo>
                      <a:pt x="0" y="9"/>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259" name="Freeform 1794"/>
              <p:cNvSpPr>
                <a:spLocks/>
              </p:cNvSpPr>
              <p:nvPr/>
            </p:nvSpPr>
            <p:spPr bwMode="auto">
              <a:xfrm>
                <a:off x="4491" y="1259"/>
                <a:ext cx="11" cy="10"/>
              </a:xfrm>
              <a:custGeom>
                <a:avLst/>
                <a:gdLst>
                  <a:gd name="T0" fmla="*/ 4 w 11"/>
                  <a:gd name="T1" fmla="*/ 0 h 10"/>
                  <a:gd name="T2" fmla="*/ 9 w 11"/>
                  <a:gd name="T3" fmla="*/ 0 h 10"/>
                  <a:gd name="T4" fmla="*/ 11 w 11"/>
                  <a:gd name="T5" fmla="*/ 2 h 10"/>
                  <a:gd name="T6" fmla="*/ 11 w 11"/>
                  <a:gd name="T7" fmla="*/ 9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9" y="0"/>
                    </a:lnTo>
                    <a:lnTo>
                      <a:pt x="11" y="2"/>
                    </a:lnTo>
                    <a:lnTo>
                      <a:pt x="11" y="9"/>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60" name="Freeform 1795"/>
              <p:cNvSpPr>
                <a:spLocks/>
              </p:cNvSpPr>
              <p:nvPr/>
            </p:nvSpPr>
            <p:spPr bwMode="auto">
              <a:xfrm>
                <a:off x="4521" y="1259"/>
                <a:ext cx="10" cy="10"/>
              </a:xfrm>
              <a:custGeom>
                <a:avLst/>
                <a:gdLst>
                  <a:gd name="T0" fmla="*/ 2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9 h 10"/>
                  <a:gd name="T14" fmla="*/ 0 w 10"/>
                  <a:gd name="T15" fmla="*/ 2 h 10"/>
                  <a:gd name="T16" fmla="*/ 2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2" y="0"/>
                    </a:moveTo>
                    <a:lnTo>
                      <a:pt x="7" y="0"/>
                    </a:lnTo>
                    <a:lnTo>
                      <a:pt x="10" y="3"/>
                    </a:lnTo>
                    <a:lnTo>
                      <a:pt x="10" y="7"/>
                    </a:lnTo>
                    <a:lnTo>
                      <a:pt x="7" y="10"/>
                    </a:lnTo>
                    <a:lnTo>
                      <a:pt x="2" y="10"/>
                    </a:lnTo>
                    <a:lnTo>
                      <a:pt x="0" y="9"/>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261" name="Freeform 1796"/>
              <p:cNvSpPr>
                <a:spLocks/>
              </p:cNvSpPr>
              <p:nvPr/>
            </p:nvSpPr>
            <p:spPr bwMode="auto">
              <a:xfrm>
                <a:off x="1679" y="1219"/>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62" name="Freeform 1797"/>
              <p:cNvSpPr>
                <a:spLocks/>
              </p:cNvSpPr>
              <p:nvPr/>
            </p:nvSpPr>
            <p:spPr bwMode="auto">
              <a:xfrm>
                <a:off x="1684" y="1219"/>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63" name="Freeform 1798"/>
              <p:cNvSpPr>
                <a:spLocks/>
              </p:cNvSpPr>
              <p:nvPr/>
            </p:nvSpPr>
            <p:spPr bwMode="auto">
              <a:xfrm>
                <a:off x="1688" y="1219"/>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64" name="Freeform 1799"/>
              <p:cNvSpPr>
                <a:spLocks/>
              </p:cNvSpPr>
              <p:nvPr/>
            </p:nvSpPr>
            <p:spPr bwMode="auto">
              <a:xfrm>
                <a:off x="1756" y="1219"/>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65" name="Freeform 1800"/>
              <p:cNvSpPr>
                <a:spLocks/>
              </p:cNvSpPr>
              <p:nvPr/>
            </p:nvSpPr>
            <p:spPr bwMode="auto">
              <a:xfrm>
                <a:off x="1979" y="1219"/>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66" name="Freeform 1801"/>
              <p:cNvSpPr>
                <a:spLocks/>
              </p:cNvSpPr>
              <p:nvPr/>
            </p:nvSpPr>
            <p:spPr bwMode="auto">
              <a:xfrm>
                <a:off x="1983" y="1219"/>
                <a:ext cx="10" cy="10"/>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67" name="Freeform 1802"/>
              <p:cNvSpPr>
                <a:spLocks/>
              </p:cNvSpPr>
              <p:nvPr/>
            </p:nvSpPr>
            <p:spPr bwMode="auto">
              <a:xfrm>
                <a:off x="2493" y="1219"/>
                <a:ext cx="8" cy="10"/>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68" name="Freeform 1803"/>
              <p:cNvSpPr>
                <a:spLocks/>
              </p:cNvSpPr>
              <p:nvPr/>
            </p:nvSpPr>
            <p:spPr bwMode="auto">
              <a:xfrm>
                <a:off x="3313" y="1219"/>
                <a:ext cx="10" cy="10"/>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69" name="Freeform 1804"/>
              <p:cNvSpPr>
                <a:spLocks/>
              </p:cNvSpPr>
              <p:nvPr/>
            </p:nvSpPr>
            <p:spPr bwMode="auto">
              <a:xfrm>
                <a:off x="3315" y="1219"/>
                <a:ext cx="10" cy="10"/>
              </a:xfrm>
              <a:custGeom>
                <a:avLst/>
                <a:gdLst>
                  <a:gd name="T0" fmla="*/ 3 w 10"/>
                  <a:gd name="T1" fmla="*/ 0 h 10"/>
                  <a:gd name="T2" fmla="*/ 7 w 10"/>
                  <a:gd name="T3" fmla="*/ 0 h 10"/>
                  <a:gd name="T4" fmla="*/ 10 w 10"/>
                  <a:gd name="T5" fmla="*/ 3 h 10"/>
                  <a:gd name="T6" fmla="*/ 10 w 10"/>
                  <a:gd name="T7" fmla="*/ 8 h 10"/>
                  <a:gd name="T8" fmla="*/ 8 w 10"/>
                  <a:gd name="T9" fmla="*/ 10 h 10"/>
                  <a:gd name="T10" fmla="*/ 3 w 10"/>
                  <a:gd name="T11" fmla="*/ 10 h 10"/>
                  <a:gd name="T12" fmla="*/ 0 w 10"/>
                  <a:gd name="T13" fmla="*/ 7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8" y="10"/>
                    </a:lnTo>
                    <a:lnTo>
                      <a:pt x="3" y="10"/>
                    </a:lnTo>
                    <a:lnTo>
                      <a:pt x="0" y="7"/>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70" name="Freeform 1805"/>
              <p:cNvSpPr>
                <a:spLocks/>
              </p:cNvSpPr>
              <p:nvPr/>
            </p:nvSpPr>
            <p:spPr bwMode="auto">
              <a:xfrm>
                <a:off x="3318" y="1219"/>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71" name="Freeform 1806"/>
              <p:cNvSpPr>
                <a:spLocks/>
              </p:cNvSpPr>
              <p:nvPr/>
            </p:nvSpPr>
            <p:spPr bwMode="auto">
              <a:xfrm>
                <a:off x="3334" y="1219"/>
                <a:ext cx="9" cy="10"/>
              </a:xfrm>
              <a:custGeom>
                <a:avLst/>
                <a:gdLst>
                  <a:gd name="T0" fmla="*/ 3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3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3" y="0"/>
                    </a:moveTo>
                    <a:lnTo>
                      <a:pt x="5" y="0"/>
                    </a:lnTo>
                    <a:lnTo>
                      <a:pt x="9" y="3"/>
                    </a:lnTo>
                    <a:lnTo>
                      <a:pt x="9" y="8"/>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72" name="Freeform 1807"/>
              <p:cNvSpPr>
                <a:spLocks/>
              </p:cNvSpPr>
              <p:nvPr/>
            </p:nvSpPr>
            <p:spPr bwMode="auto">
              <a:xfrm>
                <a:off x="3336" y="1219"/>
                <a:ext cx="10" cy="10"/>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1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273" name="Freeform 1808"/>
              <p:cNvSpPr>
                <a:spLocks/>
              </p:cNvSpPr>
              <p:nvPr/>
            </p:nvSpPr>
            <p:spPr bwMode="auto">
              <a:xfrm>
                <a:off x="3503" y="1219"/>
                <a:ext cx="9" cy="10"/>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74" name="Freeform 1809"/>
              <p:cNvSpPr>
                <a:spLocks/>
              </p:cNvSpPr>
              <p:nvPr/>
            </p:nvSpPr>
            <p:spPr bwMode="auto">
              <a:xfrm>
                <a:off x="3531" y="1219"/>
                <a:ext cx="11" cy="10"/>
              </a:xfrm>
              <a:custGeom>
                <a:avLst/>
                <a:gdLst>
                  <a:gd name="T0" fmla="*/ 4 w 11"/>
                  <a:gd name="T1" fmla="*/ 0 h 10"/>
                  <a:gd name="T2" fmla="*/ 7 w 11"/>
                  <a:gd name="T3" fmla="*/ 0 h 10"/>
                  <a:gd name="T4" fmla="*/ 11 w 11"/>
                  <a:gd name="T5" fmla="*/ 3 h 10"/>
                  <a:gd name="T6" fmla="*/ 11 w 11"/>
                  <a:gd name="T7" fmla="*/ 8 h 10"/>
                  <a:gd name="T8" fmla="*/ 9 w 11"/>
                  <a:gd name="T9" fmla="*/ 10 h 10"/>
                  <a:gd name="T10" fmla="*/ 4 w 11"/>
                  <a:gd name="T11" fmla="*/ 10 h 10"/>
                  <a:gd name="T12" fmla="*/ 0 w 11"/>
                  <a:gd name="T13" fmla="*/ 7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8"/>
                    </a:lnTo>
                    <a:lnTo>
                      <a:pt x="9" y="10"/>
                    </a:lnTo>
                    <a:lnTo>
                      <a:pt x="4" y="10"/>
                    </a:lnTo>
                    <a:lnTo>
                      <a:pt x="0" y="7"/>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75" name="Freeform 1810"/>
              <p:cNvSpPr>
                <a:spLocks/>
              </p:cNvSpPr>
              <p:nvPr/>
            </p:nvSpPr>
            <p:spPr bwMode="auto">
              <a:xfrm>
                <a:off x="3543" y="1219"/>
                <a:ext cx="9" cy="10"/>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76" name="Freeform 1811"/>
              <p:cNvSpPr>
                <a:spLocks/>
              </p:cNvSpPr>
              <p:nvPr/>
            </p:nvSpPr>
            <p:spPr bwMode="auto">
              <a:xfrm>
                <a:off x="3545" y="1219"/>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277" name="Freeform 1812"/>
              <p:cNvSpPr>
                <a:spLocks/>
              </p:cNvSpPr>
              <p:nvPr/>
            </p:nvSpPr>
            <p:spPr bwMode="auto">
              <a:xfrm>
                <a:off x="3552" y="1219"/>
                <a:ext cx="11" cy="10"/>
              </a:xfrm>
              <a:custGeom>
                <a:avLst/>
                <a:gdLst>
                  <a:gd name="T0" fmla="*/ 4 w 11"/>
                  <a:gd name="T1" fmla="*/ 0 h 10"/>
                  <a:gd name="T2" fmla="*/ 7 w 11"/>
                  <a:gd name="T3" fmla="*/ 0 h 10"/>
                  <a:gd name="T4" fmla="*/ 11 w 11"/>
                  <a:gd name="T5" fmla="*/ 3 h 10"/>
                  <a:gd name="T6" fmla="*/ 11 w 11"/>
                  <a:gd name="T7" fmla="*/ 7 h 10"/>
                  <a:gd name="T8" fmla="*/ 7 w 11"/>
                  <a:gd name="T9" fmla="*/ 10 h 10"/>
                  <a:gd name="T10" fmla="*/ 2 w 11"/>
                  <a:gd name="T11" fmla="*/ 10 h 10"/>
                  <a:gd name="T12" fmla="*/ 0 w 11"/>
                  <a:gd name="T13" fmla="*/ 8 h 10"/>
                  <a:gd name="T14" fmla="*/ 0 w 11"/>
                  <a:gd name="T15" fmla="*/ 3 h 10"/>
                  <a:gd name="T16" fmla="*/ 4 w 11"/>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10"/>
                  <a:gd name="T29" fmla="*/ 11 w 11"/>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10">
                    <a:moveTo>
                      <a:pt x="4" y="0"/>
                    </a:moveTo>
                    <a:lnTo>
                      <a:pt x="7" y="0"/>
                    </a:lnTo>
                    <a:lnTo>
                      <a:pt x="11" y="3"/>
                    </a:lnTo>
                    <a:lnTo>
                      <a:pt x="11" y="7"/>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grpSp>
        <p:sp>
          <p:nvSpPr>
            <p:cNvPr id="41" name="Freeform 1814"/>
            <p:cNvSpPr>
              <a:spLocks/>
            </p:cNvSpPr>
            <p:nvPr/>
          </p:nvSpPr>
          <p:spPr bwMode="auto">
            <a:xfrm>
              <a:off x="5646738" y="1935163"/>
              <a:ext cx="14288" cy="15875"/>
            </a:xfrm>
            <a:custGeom>
              <a:avLst/>
              <a:gdLst>
                <a:gd name="T0" fmla="*/ 4 w 9"/>
                <a:gd name="T1" fmla="*/ 0 h 10"/>
                <a:gd name="T2" fmla="*/ 6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6"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2" name="Freeform 1815"/>
            <p:cNvSpPr>
              <a:spLocks/>
            </p:cNvSpPr>
            <p:nvPr/>
          </p:nvSpPr>
          <p:spPr bwMode="auto">
            <a:xfrm>
              <a:off x="5713413" y="1935163"/>
              <a:ext cx="14288" cy="15875"/>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3" name="Freeform 1816"/>
            <p:cNvSpPr>
              <a:spLocks/>
            </p:cNvSpPr>
            <p:nvPr/>
          </p:nvSpPr>
          <p:spPr bwMode="auto">
            <a:xfrm>
              <a:off x="5716588" y="1935163"/>
              <a:ext cx="15875" cy="15875"/>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4" name="Freeform 1817"/>
            <p:cNvSpPr>
              <a:spLocks/>
            </p:cNvSpPr>
            <p:nvPr/>
          </p:nvSpPr>
          <p:spPr bwMode="auto">
            <a:xfrm>
              <a:off x="5730875" y="1935163"/>
              <a:ext cx="15875" cy="15875"/>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1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5" name="Freeform 1818"/>
            <p:cNvSpPr>
              <a:spLocks/>
            </p:cNvSpPr>
            <p:nvPr/>
          </p:nvSpPr>
          <p:spPr bwMode="auto">
            <a:xfrm>
              <a:off x="5735638" y="1935163"/>
              <a:ext cx="14288" cy="15875"/>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6" name="Freeform 1819"/>
            <p:cNvSpPr>
              <a:spLocks/>
            </p:cNvSpPr>
            <p:nvPr/>
          </p:nvSpPr>
          <p:spPr bwMode="auto">
            <a:xfrm>
              <a:off x="6592888" y="1935163"/>
              <a:ext cx="15875" cy="15875"/>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1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7" name="Freeform 1820"/>
            <p:cNvSpPr>
              <a:spLocks/>
            </p:cNvSpPr>
            <p:nvPr/>
          </p:nvSpPr>
          <p:spPr bwMode="auto">
            <a:xfrm>
              <a:off x="6716713" y="1935163"/>
              <a:ext cx="14288" cy="15875"/>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48" name="Freeform 1821"/>
            <p:cNvSpPr>
              <a:spLocks/>
            </p:cNvSpPr>
            <p:nvPr/>
          </p:nvSpPr>
          <p:spPr bwMode="auto">
            <a:xfrm>
              <a:off x="6850063" y="1935163"/>
              <a:ext cx="15875" cy="15875"/>
            </a:xfrm>
            <a:custGeom>
              <a:avLst/>
              <a:gdLst>
                <a:gd name="T0" fmla="*/ 3 w 10"/>
                <a:gd name="T1" fmla="*/ 0 h 10"/>
                <a:gd name="T2" fmla="*/ 7 w 10"/>
                <a:gd name="T3" fmla="*/ 0 h 10"/>
                <a:gd name="T4" fmla="*/ 10 w 10"/>
                <a:gd name="T5" fmla="*/ 3 h 10"/>
                <a:gd name="T6" fmla="*/ 10 w 10"/>
                <a:gd name="T7" fmla="*/ 8 h 10"/>
                <a:gd name="T8" fmla="*/ 9 w 10"/>
                <a:gd name="T9" fmla="*/ 10 h 10"/>
                <a:gd name="T10" fmla="*/ 2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8"/>
                  </a:lnTo>
                  <a:lnTo>
                    <a:pt x="9"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49" name="Freeform 1822"/>
            <p:cNvSpPr>
              <a:spLocks/>
            </p:cNvSpPr>
            <p:nvPr/>
          </p:nvSpPr>
          <p:spPr bwMode="auto">
            <a:xfrm>
              <a:off x="6961188" y="1935163"/>
              <a:ext cx="12700" cy="15875"/>
            </a:xfrm>
            <a:custGeom>
              <a:avLst/>
              <a:gdLst>
                <a:gd name="T0" fmla="*/ 3 w 8"/>
                <a:gd name="T1" fmla="*/ 0 h 10"/>
                <a:gd name="T2" fmla="*/ 5 w 8"/>
                <a:gd name="T3" fmla="*/ 0 h 10"/>
                <a:gd name="T4" fmla="*/ 8 w 8"/>
                <a:gd name="T5" fmla="*/ 3 h 10"/>
                <a:gd name="T6" fmla="*/ 8 w 8"/>
                <a:gd name="T7" fmla="*/ 8 h 10"/>
                <a:gd name="T8" fmla="*/ 7 w 8"/>
                <a:gd name="T9" fmla="*/ 10 h 10"/>
                <a:gd name="T10" fmla="*/ 1 w 8"/>
                <a:gd name="T11" fmla="*/ 10 h 10"/>
                <a:gd name="T12" fmla="*/ 0 w 8"/>
                <a:gd name="T13" fmla="*/ 8 h 10"/>
                <a:gd name="T14" fmla="*/ 0 w 8"/>
                <a:gd name="T15" fmla="*/ 3 h 10"/>
                <a:gd name="T16" fmla="*/ 3 w 8"/>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0"/>
                <a:gd name="T29" fmla="*/ 8 w 8"/>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0">
                  <a:moveTo>
                    <a:pt x="3" y="0"/>
                  </a:moveTo>
                  <a:lnTo>
                    <a:pt x="5" y="0"/>
                  </a:lnTo>
                  <a:lnTo>
                    <a:pt x="8" y="3"/>
                  </a:lnTo>
                  <a:lnTo>
                    <a:pt x="8" y="8"/>
                  </a:lnTo>
                  <a:lnTo>
                    <a:pt x="7" y="10"/>
                  </a:lnTo>
                  <a:lnTo>
                    <a:pt x="1"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0" name="Freeform 1823"/>
            <p:cNvSpPr>
              <a:spLocks/>
            </p:cNvSpPr>
            <p:nvPr/>
          </p:nvSpPr>
          <p:spPr bwMode="auto">
            <a:xfrm>
              <a:off x="7085013" y="1935163"/>
              <a:ext cx="14288" cy="15875"/>
            </a:xfrm>
            <a:custGeom>
              <a:avLst/>
              <a:gdLst>
                <a:gd name="T0" fmla="*/ 4 w 9"/>
                <a:gd name="T1" fmla="*/ 0 h 10"/>
                <a:gd name="T2" fmla="*/ 5 w 9"/>
                <a:gd name="T3" fmla="*/ 0 h 10"/>
                <a:gd name="T4" fmla="*/ 9 w 9"/>
                <a:gd name="T5" fmla="*/ 3 h 10"/>
                <a:gd name="T6" fmla="*/ 9 w 9"/>
                <a:gd name="T7" fmla="*/ 8 h 10"/>
                <a:gd name="T8" fmla="*/ 7 w 9"/>
                <a:gd name="T9" fmla="*/ 10 h 10"/>
                <a:gd name="T10" fmla="*/ 2 w 9"/>
                <a:gd name="T11" fmla="*/ 10 h 10"/>
                <a:gd name="T12" fmla="*/ 0 w 9"/>
                <a:gd name="T13" fmla="*/ 8 h 10"/>
                <a:gd name="T14" fmla="*/ 0 w 9"/>
                <a:gd name="T15" fmla="*/ 3 h 10"/>
                <a:gd name="T16" fmla="*/ 4 w 9"/>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4" y="0"/>
                  </a:moveTo>
                  <a:lnTo>
                    <a:pt x="5" y="0"/>
                  </a:lnTo>
                  <a:lnTo>
                    <a:pt x="9" y="3"/>
                  </a:lnTo>
                  <a:lnTo>
                    <a:pt x="9" y="8"/>
                  </a:lnTo>
                  <a:lnTo>
                    <a:pt x="7" y="10"/>
                  </a:lnTo>
                  <a:lnTo>
                    <a:pt x="2" y="10"/>
                  </a:lnTo>
                  <a:lnTo>
                    <a:pt x="0" y="8"/>
                  </a:lnTo>
                  <a:lnTo>
                    <a:pt x="0" y="3"/>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1" name="Freeform 1824"/>
            <p:cNvSpPr>
              <a:spLocks/>
            </p:cNvSpPr>
            <p:nvPr/>
          </p:nvSpPr>
          <p:spPr bwMode="auto">
            <a:xfrm>
              <a:off x="7165975" y="1935163"/>
              <a:ext cx="15875" cy="15875"/>
            </a:xfrm>
            <a:custGeom>
              <a:avLst/>
              <a:gdLst>
                <a:gd name="T0" fmla="*/ 3 w 10"/>
                <a:gd name="T1" fmla="*/ 0 h 10"/>
                <a:gd name="T2" fmla="*/ 7 w 10"/>
                <a:gd name="T3" fmla="*/ 0 h 10"/>
                <a:gd name="T4" fmla="*/ 10 w 10"/>
                <a:gd name="T5" fmla="*/ 3 h 10"/>
                <a:gd name="T6" fmla="*/ 10 w 10"/>
                <a:gd name="T7" fmla="*/ 7 h 10"/>
                <a:gd name="T8" fmla="*/ 7 w 10"/>
                <a:gd name="T9" fmla="*/ 10 h 10"/>
                <a:gd name="T10" fmla="*/ 2 w 10"/>
                <a:gd name="T11" fmla="*/ 10 h 10"/>
                <a:gd name="T12" fmla="*/ 0 w 10"/>
                <a:gd name="T13" fmla="*/ 8 h 10"/>
                <a:gd name="T14" fmla="*/ 0 w 10"/>
                <a:gd name="T15" fmla="*/ 3 h 10"/>
                <a:gd name="T16" fmla="*/ 3 w 10"/>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0"/>
                <a:gd name="T29" fmla="*/ 10 w 10"/>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0">
                  <a:moveTo>
                    <a:pt x="3" y="0"/>
                  </a:moveTo>
                  <a:lnTo>
                    <a:pt x="7" y="0"/>
                  </a:lnTo>
                  <a:lnTo>
                    <a:pt x="10" y="3"/>
                  </a:lnTo>
                  <a:lnTo>
                    <a:pt x="10" y="7"/>
                  </a:lnTo>
                  <a:lnTo>
                    <a:pt x="7" y="10"/>
                  </a:lnTo>
                  <a:lnTo>
                    <a:pt x="2" y="10"/>
                  </a:lnTo>
                  <a:lnTo>
                    <a:pt x="0" y="8"/>
                  </a:lnTo>
                  <a:lnTo>
                    <a:pt x="0" y="3"/>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52" name="Freeform 1825"/>
            <p:cNvSpPr>
              <a:spLocks/>
            </p:cNvSpPr>
            <p:nvPr/>
          </p:nvSpPr>
          <p:spPr bwMode="auto">
            <a:xfrm>
              <a:off x="2411413" y="1873251"/>
              <a:ext cx="15875" cy="14288"/>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3" name="Freeform 1826"/>
            <p:cNvSpPr>
              <a:spLocks/>
            </p:cNvSpPr>
            <p:nvPr/>
          </p:nvSpPr>
          <p:spPr bwMode="auto">
            <a:xfrm>
              <a:off x="2419350" y="1873251"/>
              <a:ext cx="14288" cy="14288"/>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4" name="Freeform 1827"/>
            <p:cNvSpPr>
              <a:spLocks/>
            </p:cNvSpPr>
            <p:nvPr/>
          </p:nvSpPr>
          <p:spPr bwMode="auto">
            <a:xfrm>
              <a:off x="2424113" y="1873251"/>
              <a:ext cx="17463" cy="14288"/>
            </a:xfrm>
            <a:custGeom>
              <a:avLst/>
              <a:gdLst>
                <a:gd name="T0" fmla="*/ 2 w 11"/>
                <a:gd name="T1" fmla="*/ 0 h 9"/>
                <a:gd name="T2" fmla="*/ 9 w 11"/>
                <a:gd name="T3" fmla="*/ 0 h 9"/>
                <a:gd name="T4" fmla="*/ 11 w 11"/>
                <a:gd name="T5" fmla="*/ 2 h 9"/>
                <a:gd name="T6" fmla="*/ 11 w 11"/>
                <a:gd name="T7" fmla="*/ 7 h 9"/>
                <a:gd name="T8" fmla="*/ 9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9" y="0"/>
                  </a:lnTo>
                  <a:lnTo>
                    <a:pt x="11" y="2"/>
                  </a:lnTo>
                  <a:lnTo>
                    <a:pt x="11"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5" name="Freeform 1828"/>
            <p:cNvSpPr>
              <a:spLocks/>
            </p:cNvSpPr>
            <p:nvPr/>
          </p:nvSpPr>
          <p:spPr bwMode="auto">
            <a:xfrm>
              <a:off x="2435225" y="1873251"/>
              <a:ext cx="17463" cy="14288"/>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6" name="Freeform 1829"/>
            <p:cNvSpPr>
              <a:spLocks/>
            </p:cNvSpPr>
            <p:nvPr/>
          </p:nvSpPr>
          <p:spPr bwMode="auto">
            <a:xfrm>
              <a:off x="2444750" y="1873251"/>
              <a:ext cx="12700" cy="14288"/>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57" name="Freeform 1830"/>
            <p:cNvSpPr>
              <a:spLocks/>
            </p:cNvSpPr>
            <p:nvPr/>
          </p:nvSpPr>
          <p:spPr bwMode="auto">
            <a:xfrm>
              <a:off x="2449513" y="1873251"/>
              <a:ext cx="15875" cy="14288"/>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58" name="Freeform 1831"/>
            <p:cNvSpPr>
              <a:spLocks/>
            </p:cNvSpPr>
            <p:nvPr/>
          </p:nvSpPr>
          <p:spPr bwMode="auto">
            <a:xfrm>
              <a:off x="2476500" y="1873251"/>
              <a:ext cx="17463" cy="14288"/>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59" name="Freeform 1832"/>
            <p:cNvSpPr>
              <a:spLocks/>
            </p:cNvSpPr>
            <p:nvPr/>
          </p:nvSpPr>
          <p:spPr bwMode="auto">
            <a:xfrm>
              <a:off x="3884613" y="1873251"/>
              <a:ext cx="17463" cy="14288"/>
            </a:xfrm>
            <a:custGeom>
              <a:avLst/>
              <a:gdLst>
                <a:gd name="T0" fmla="*/ 2 w 11"/>
                <a:gd name="T1" fmla="*/ 0 h 9"/>
                <a:gd name="T2" fmla="*/ 7 w 11"/>
                <a:gd name="T3" fmla="*/ 0 h 9"/>
                <a:gd name="T4" fmla="*/ 11 w 11"/>
                <a:gd name="T5" fmla="*/ 4 h 9"/>
                <a:gd name="T6" fmla="*/ 11 w 11"/>
                <a:gd name="T7" fmla="*/ 5 h 9"/>
                <a:gd name="T8" fmla="*/ 7 w 11"/>
                <a:gd name="T9" fmla="*/ 9 h 9"/>
                <a:gd name="T10" fmla="*/ 2 w 11"/>
                <a:gd name="T11" fmla="*/ 9 h 9"/>
                <a:gd name="T12" fmla="*/ 0 w 11"/>
                <a:gd name="T13" fmla="*/ 7 h 9"/>
                <a:gd name="T14" fmla="*/ 0 w 11"/>
                <a:gd name="T15" fmla="*/ 2 h 9"/>
                <a:gd name="T16" fmla="*/ 2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2" y="0"/>
                  </a:moveTo>
                  <a:lnTo>
                    <a:pt x="7" y="0"/>
                  </a:lnTo>
                  <a:lnTo>
                    <a:pt x="11" y="4"/>
                  </a:lnTo>
                  <a:lnTo>
                    <a:pt x="11"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0" name="Freeform 1833"/>
            <p:cNvSpPr>
              <a:spLocks/>
            </p:cNvSpPr>
            <p:nvPr/>
          </p:nvSpPr>
          <p:spPr bwMode="auto">
            <a:xfrm>
              <a:off x="3932238" y="1873251"/>
              <a:ext cx="14288" cy="14288"/>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1" name="Freeform 1834"/>
            <p:cNvSpPr>
              <a:spLocks/>
            </p:cNvSpPr>
            <p:nvPr/>
          </p:nvSpPr>
          <p:spPr bwMode="auto">
            <a:xfrm>
              <a:off x="3957638" y="1873251"/>
              <a:ext cx="12700" cy="14288"/>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2" name="Freeform 1835"/>
            <p:cNvSpPr>
              <a:spLocks/>
            </p:cNvSpPr>
            <p:nvPr/>
          </p:nvSpPr>
          <p:spPr bwMode="auto">
            <a:xfrm>
              <a:off x="4022725" y="1873251"/>
              <a:ext cx="14288" cy="14288"/>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3" name="Freeform 1836"/>
            <p:cNvSpPr>
              <a:spLocks/>
            </p:cNvSpPr>
            <p:nvPr/>
          </p:nvSpPr>
          <p:spPr bwMode="auto">
            <a:xfrm>
              <a:off x="5578475" y="1873251"/>
              <a:ext cx="15875" cy="14288"/>
            </a:xfrm>
            <a:custGeom>
              <a:avLst/>
              <a:gdLst>
                <a:gd name="T0" fmla="*/ 3 w 10"/>
                <a:gd name="T1" fmla="*/ 0 h 9"/>
                <a:gd name="T2" fmla="*/ 8 w 10"/>
                <a:gd name="T3" fmla="*/ 0 h 9"/>
                <a:gd name="T4" fmla="*/ 10 w 10"/>
                <a:gd name="T5" fmla="*/ 2 h 9"/>
                <a:gd name="T6" fmla="*/ 10 w 10"/>
                <a:gd name="T7" fmla="*/ 7 h 9"/>
                <a:gd name="T8" fmla="*/ 8 w 10"/>
                <a:gd name="T9" fmla="*/ 9 h 9"/>
                <a:gd name="T10" fmla="*/ 3 w 10"/>
                <a:gd name="T11" fmla="*/ 9 h 9"/>
                <a:gd name="T12" fmla="*/ 0 w 10"/>
                <a:gd name="T13" fmla="*/ 5 h 9"/>
                <a:gd name="T14" fmla="*/ 0 w 10"/>
                <a:gd name="T15" fmla="*/ 4 h 9"/>
                <a:gd name="T16" fmla="*/ 3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3" y="0"/>
                  </a:moveTo>
                  <a:lnTo>
                    <a:pt x="8" y="0"/>
                  </a:lnTo>
                  <a:lnTo>
                    <a:pt x="10" y="2"/>
                  </a:lnTo>
                  <a:lnTo>
                    <a:pt x="10" y="7"/>
                  </a:lnTo>
                  <a:lnTo>
                    <a:pt x="8" y="9"/>
                  </a:lnTo>
                  <a:lnTo>
                    <a:pt x="3" y="9"/>
                  </a:lnTo>
                  <a:lnTo>
                    <a:pt x="0" y="5"/>
                  </a:lnTo>
                  <a:lnTo>
                    <a:pt x="0" y="4"/>
                  </a:lnTo>
                  <a:lnTo>
                    <a:pt x="3" y="0"/>
                  </a:lnTo>
                  <a:close/>
                </a:path>
              </a:pathLst>
            </a:custGeom>
            <a:solidFill>
              <a:srgbClr val="000000"/>
            </a:solidFill>
            <a:ln w="0">
              <a:solidFill>
                <a:srgbClr val="000000"/>
              </a:solidFill>
              <a:prstDash val="solid"/>
              <a:round/>
              <a:headEnd/>
              <a:tailEnd/>
            </a:ln>
          </p:spPr>
          <p:txBody>
            <a:bodyPr/>
            <a:lstStyle/>
            <a:p>
              <a:endParaRPr lang="en-US"/>
            </a:p>
          </p:txBody>
        </p:sp>
        <p:sp>
          <p:nvSpPr>
            <p:cNvPr id="64" name="Freeform 1837"/>
            <p:cNvSpPr>
              <a:spLocks/>
            </p:cNvSpPr>
            <p:nvPr/>
          </p:nvSpPr>
          <p:spPr bwMode="auto">
            <a:xfrm>
              <a:off x="5589588" y="1873251"/>
              <a:ext cx="15875" cy="14288"/>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5" name="Freeform 1838"/>
            <p:cNvSpPr>
              <a:spLocks/>
            </p:cNvSpPr>
            <p:nvPr/>
          </p:nvSpPr>
          <p:spPr bwMode="auto">
            <a:xfrm>
              <a:off x="5600700" y="1873251"/>
              <a:ext cx="12700" cy="14288"/>
            </a:xfrm>
            <a:custGeom>
              <a:avLst/>
              <a:gdLst>
                <a:gd name="T0" fmla="*/ 1 w 8"/>
                <a:gd name="T1" fmla="*/ 0 h 9"/>
                <a:gd name="T2" fmla="*/ 7 w 8"/>
                <a:gd name="T3" fmla="*/ 0 h 9"/>
                <a:gd name="T4" fmla="*/ 8 w 8"/>
                <a:gd name="T5" fmla="*/ 2 h 9"/>
                <a:gd name="T6" fmla="*/ 8 w 8"/>
                <a:gd name="T7" fmla="*/ 5 h 9"/>
                <a:gd name="T8" fmla="*/ 5 w 8"/>
                <a:gd name="T9" fmla="*/ 9 h 9"/>
                <a:gd name="T10" fmla="*/ 1 w 8"/>
                <a:gd name="T11" fmla="*/ 9 h 9"/>
                <a:gd name="T12" fmla="*/ 0 w 8"/>
                <a:gd name="T13" fmla="*/ 7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5"/>
                  </a:lnTo>
                  <a:lnTo>
                    <a:pt x="5"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6" name="Freeform 1839"/>
            <p:cNvSpPr>
              <a:spLocks/>
            </p:cNvSpPr>
            <p:nvPr/>
          </p:nvSpPr>
          <p:spPr bwMode="auto">
            <a:xfrm>
              <a:off x="5649913" y="1873251"/>
              <a:ext cx="14288" cy="14288"/>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67" name="Freeform 1840"/>
            <p:cNvSpPr>
              <a:spLocks/>
            </p:cNvSpPr>
            <p:nvPr/>
          </p:nvSpPr>
          <p:spPr bwMode="auto">
            <a:xfrm>
              <a:off x="6646863" y="1873251"/>
              <a:ext cx="17463" cy="14288"/>
            </a:xfrm>
            <a:custGeom>
              <a:avLst/>
              <a:gdLst>
                <a:gd name="T0" fmla="*/ 4 w 11"/>
                <a:gd name="T1" fmla="*/ 0 h 9"/>
                <a:gd name="T2" fmla="*/ 9 w 11"/>
                <a:gd name="T3" fmla="*/ 0 h 9"/>
                <a:gd name="T4" fmla="*/ 11 w 11"/>
                <a:gd name="T5" fmla="*/ 2 h 9"/>
                <a:gd name="T6" fmla="*/ 11 w 11"/>
                <a:gd name="T7" fmla="*/ 7 h 9"/>
                <a:gd name="T8" fmla="*/ 9 w 11"/>
                <a:gd name="T9" fmla="*/ 9 h 9"/>
                <a:gd name="T10" fmla="*/ 4 w 11"/>
                <a:gd name="T11" fmla="*/ 9 h 9"/>
                <a:gd name="T12" fmla="*/ 0 w 11"/>
                <a:gd name="T13" fmla="*/ 5 h 9"/>
                <a:gd name="T14" fmla="*/ 0 w 11"/>
                <a:gd name="T15" fmla="*/ 4 h 9"/>
                <a:gd name="T16" fmla="*/ 4 w 11"/>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
                <a:gd name="T28" fmla="*/ 0 h 9"/>
                <a:gd name="T29" fmla="*/ 11 w 11"/>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 h="9">
                  <a:moveTo>
                    <a:pt x="4" y="0"/>
                  </a:moveTo>
                  <a:lnTo>
                    <a:pt x="9" y="0"/>
                  </a:lnTo>
                  <a:lnTo>
                    <a:pt x="11" y="2"/>
                  </a:lnTo>
                  <a:lnTo>
                    <a:pt x="11" y="7"/>
                  </a:lnTo>
                  <a:lnTo>
                    <a:pt x="9" y="9"/>
                  </a:lnTo>
                  <a:lnTo>
                    <a:pt x="4" y="9"/>
                  </a:lnTo>
                  <a:lnTo>
                    <a:pt x="0" y="5"/>
                  </a:lnTo>
                  <a:lnTo>
                    <a:pt x="0" y="4"/>
                  </a:lnTo>
                  <a:lnTo>
                    <a:pt x="4" y="0"/>
                  </a:lnTo>
                  <a:close/>
                </a:path>
              </a:pathLst>
            </a:custGeom>
            <a:solidFill>
              <a:srgbClr val="000000"/>
            </a:solidFill>
            <a:ln w="0">
              <a:solidFill>
                <a:srgbClr val="000000"/>
              </a:solidFill>
              <a:prstDash val="solid"/>
              <a:round/>
              <a:headEnd/>
              <a:tailEnd/>
            </a:ln>
          </p:spPr>
          <p:txBody>
            <a:bodyPr/>
            <a:lstStyle/>
            <a:p>
              <a:endParaRPr lang="en-US"/>
            </a:p>
          </p:txBody>
        </p:sp>
        <p:sp>
          <p:nvSpPr>
            <p:cNvPr id="68" name="Freeform 1841"/>
            <p:cNvSpPr>
              <a:spLocks/>
            </p:cNvSpPr>
            <p:nvPr/>
          </p:nvSpPr>
          <p:spPr bwMode="auto">
            <a:xfrm>
              <a:off x="6678613" y="1873251"/>
              <a:ext cx="12700" cy="14288"/>
            </a:xfrm>
            <a:custGeom>
              <a:avLst/>
              <a:gdLst>
                <a:gd name="T0" fmla="*/ 1 w 8"/>
                <a:gd name="T1" fmla="*/ 0 h 9"/>
                <a:gd name="T2" fmla="*/ 7 w 8"/>
                <a:gd name="T3" fmla="*/ 0 h 9"/>
                <a:gd name="T4" fmla="*/ 8 w 8"/>
                <a:gd name="T5" fmla="*/ 2 h 9"/>
                <a:gd name="T6" fmla="*/ 8 w 8"/>
                <a:gd name="T7" fmla="*/ 7 h 9"/>
                <a:gd name="T8" fmla="*/ 7 w 8"/>
                <a:gd name="T9" fmla="*/ 9 h 9"/>
                <a:gd name="T10" fmla="*/ 3 w 8"/>
                <a:gd name="T11" fmla="*/ 9 h 9"/>
                <a:gd name="T12" fmla="*/ 0 w 8"/>
                <a:gd name="T13" fmla="*/ 5 h 9"/>
                <a:gd name="T14" fmla="*/ 0 w 8"/>
                <a:gd name="T15" fmla="*/ 2 h 9"/>
                <a:gd name="T16" fmla="*/ 1 w 8"/>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9"/>
                <a:gd name="T29" fmla="*/ 8 w 8"/>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9">
                  <a:moveTo>
                    <a:pt x="1" y="0"/>
                  </a:moveTo>
                  <a:lnTo>
                    <a:pt x="7" y="0"/>
                  </a:lnTo>
                  <a:lnTo>
                    <a:pt x="8" y="2"/>
                  </a:lnTo>
                  <a:lnTo>
                    <a:pt x="8" y="7"/>
                  </a:lnTo>
                  <a:lnTo>
                    <a:pt x="7" y="9"/>
                  </a:lnTo>
                  <a:lnTo>
                    <a:pt x="3" y="9"/>
                  </a:lnTo>
                  <a:lnTo>
                    <a:pt x="0" y="5"/>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69" name="Freeform 1842"/>
            <p:cNvSpPr>
              <a:spLocks/>
            </p:cNvSpPr>
            <p:nvPr/>
          </p:nvSpPr>
          <p:spPr bwMode="auto">
            <a:xfrm>
              <a:off x="6742113" y="1873251"/>
              <a:ext cx="14288" cy="14288"/>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0" name="Freeform 1843"/>
            <p:cNvSpPr>
              <a:spLocks/>
            </p:cNvSpPr>
            <p:nvPr/>
          </p:nvSpPr>
          <p:spPr bwMode="auto">
            <a:xfrm>
              <a:off x="6777038" y="1873251"/>
              <a:ext cx="14288" cy="14288"/>
            </a:xfrm>
            <a:custGeom>
              <a:avLst/>
              <a:gdLst>
                <a:gd name="T0" fmla="*/ 2 w 9"/>
                <a:gd name="T1" fmla="*/ 0 h 9"/>
                <a:gd name="T2" fmla="*/ 7 w 9"/>
                <a:gd name="T3" fmla="*/ 0 h 9"/>
                <a:gd name="T4" fmla="*/ 9 w 9"/>
                <a:gd name="T5" fmla="*/ 2 h 9"/>
                <a:gd name="T6" fmla="*/ 9 w 9"/>
                <a:gd name="T7" fmla="*/ 7 h 9"/>
                <a:gd name="T8" fmla="*/ 7 w 9"/>
                <a:gd name="T9" fmla="*/ 9 h 9"/>
                <a:gd name="T10" fmla="*/ 4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4"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1" name="Freeform 1844"/>
            <p:cNvSpPr>
              <a:spLocks/>
            </p:cNvSpPr>
            <p:nvPr/>
          </p:nvSpPr>
          <p:spPr bwMode="auto">
            <a:xfrm>
              <a:off x="7010400" y="1873251"/>
              <a:ext cx="14288" cy="14288"/>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2" name="Freeform 1845"/>
            <p:cNvSpPr>
              <a:spLocks/>
            </p:cNvSpPr>
            <p:nvPr/>
          </p:nvSpPr>
          <p:spPr bwMode="auto">
            <a:xfrm>
              <a:off x="7046913" y="1873251"/>
              <a:ext cx="14288" cy="14288"/>
            </a:xfrm>
            <a:custGeom>
              <a:avLst/>
              <a:gdLst>
                <a:gd name="T0" fmla="*/ 2 w 9"/>
                <a:gd name="T1" fmla="*/ 0 h 9"/>
                <a:gd name="T2" fmla="*/ 7 w 9"/>
                <a:gd name="T3" fmla="*/ 0 h 9"/>
                <a:gd name="T4" fmla="*/ 9 w 9"/>
                <a:gd name="T5" fmla="*/ 2 h 9"/>
                <a:gd name="T6" fmla="*/ 9 w 9"/>
                <a:gd name="T7" fmla="*/ 7 h 9"/>
                <a:gd name="T8" fmla="*/ 7 w 9"/>
                <a:gd name="T9" fmla="*/ 9 h 9"/>
                <a:gd name="T10" fmla="*/ 3 w 9"/>
                <a:gd name="T11" fmla="*/ 9 h 9"/>
                <a:gd name="T12" fmla="*/ 0 w 9"/>
                <a:gd name="T13" fmla="*/ 5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7"/>
                  </a:lnTo>
                  <a:lnTo>
                    <a:pt x="7" y="9"/>
                  </a:lnTo>
                  <a:lnTo>
                    <a:pt x="3" y="9"/>
                  </a:lnTo>
                  <a:lnTo>
                    <a:pt x="0" y="5"/>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3" name="Freeform 1846"/>
            <p:cNvSpPr>
              <a:spLocks/>
            </p:cNvSpPr>
            <p:nvPr/>
          </p:nvSpPr>
          <p:spPr bwMode="auto">
            <a:xfrm>
              <a:off x="7062788" y="1873251"/>
              <a:ext cx="14288" cy="14288"/>
            </a:xfrm>
            <a:custGeom>
              <a:avLst/>
              <a:gdLst>
                <a:gd name="T0" fmla="*/ 2 w 9"/>
                <a:gd name="T1" fmla="*/ 0 h 9"/>
                <a:gd name="T2" fmla="*/ 7 w 9"/>
                <a:gd name="T3" fmla="*/ 0 h 9"/>
                <a:gd name="T4" fmla="*/ 9 w 9"/>
                <a:gd name="T5" fmla="*/ 2 h 9"/>
                <a:gd name="T6" fmla="*/ 9 w 9"/>
                <a:gd name="T7" fmla="*/ 5 h 9"/>
                <a:gd name="T8" fmla="*/ 6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6"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4" name="Freeform 1847"/>
            <p:cNvSpPr>
              <a:spLocks/>
            </p:cNvSpPr>
            <p:nvPr/>
          </p:nvSpPr>
          <p:spPr bwMode="auto">
            <a:xfrm>
              <a:off x="7077075" y="1873251"/>
              <a:ext cx="15875" cy="14288"/>
            </a:xfrm>
            <a:custGeom>
              <a:avLst/>
              <a:gdLst>
                <a:gd name="T0" fmla="*/ 2 w 10"/>
                <a:gd name="T1" fmla="*/ 0 h 9"/>
                <a:gd name="T2" fmla="*/ 9 w 10"/>
                <a:gd name="T3" fmla="*/ 0 h 9"/>
                <a:gd name="T4" fmla="*/ 10 w 10"/>
                <a:gd name="T5" fmla="*/ 2 h 9"/>
                <a:gd name="T6" fmla="*/ 10 w 10"/>
                <a:gd name="T7" fmla="*/ 7 h 9"/>
                <a:gd name="T8" fmla="*/ 9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9" y="0"/>
                  </a:lnTo>
                  <a:lnTo>
                    <a:pt x="10" y="2"/>
                  </a:lnTo>
                  <a:lnTo>
                    <a:pt x="10" y="7"/>
                  </a:lnTo>
                  <a:lnTo>
                    <a:pt x="9"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5" name="Freeform 1848"/>
            <p:cNvSpPr>
              <a:spLocks/>
            </p:cNvSpPr>
            <p:nvPr/>
          </p:nvSpPr>
          <p:spPr bwMode="auto">
            <a:xfrm>
              <a:off x="7102475" y="1873251"/>
              <a:ext cx="15875" cy="14288"/>
            </a:xfrm>
            <a:custGeom>
              <a:avLst/>
              <a:gdLst>
                <a:gd name="T0" fmla="*/ 1 w 10"/>
                <a:gd name="T1" fmla="*/ 0 h 9"/>
                <a:gd name="T2" fmla="*/ 7 w 10"/>
                <a:gd name="T3" fmla="*/ 0 h 9"/>
                <a:gd name="T4" fmla="*/ 10 w 10"/>
                <a:gd name="T5" fmla="*/ 4 h 9"/>
                <a:gd name="T6" fmla="*/ 10 w 10"/>
                <a:gd name="T7" fmla="*/ 5 h 9"/>
                <a:gd name="T8" fmla="*/ 7 w 10"/>
                <a:gd name="T9" fmla="*/ 9 h 9"/>
                <a:gd name="T10" fmla="*/ 1 w 10"/>
                <a:gd name="T11" fmla="*/ 9 h 9"/>
                <a:gd name="T12" fmla="*/ 0 w 10"/>
                <a:gd name="T13" fmla="*/ 7 h 9"/>
                <a:gd name="T14" fmla="*/ 0 w 10"/>
                <a:gd name="T15" fmla="*/ 2 h 9"/>
                <a:gd name="T16" fmla="*/ 1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1" y="0"/>
                  </a:moveTo>
                  <a:lnTo>
                    <a:pt x="7" y="0"/>
                  </a:lnTo>
                  <a:lnTo>
                    <a:pt x="10" y="4"/>
                  </a:lnTo>
                  <a:lnTo>
                    <a:pt x="10" y="5"/>
                  </a:lnTo>
                  <a:lnTo>
                    <a:pt x="7" y="9"/>
                  </a:lnTo>
                  <a:lnTo>
                    <a:pt x="1" y="9"/>
                  </a:lnTo>
                  <a:lnTo>
                    <a:pt x="0" y="7"/>
                  </a:lnTo>
                  <a:lnTo>
                    <a:pt x="0" y="2"/>
                  </a:lnTo>
                  <a:lnTo>
                    <a:pt x="1" y="0"/>
                  </a:lnTo>
                  <a:close/>
                </a:path>
              </a:pathLst>
            </a:custGeom>
            <a:solidFill>
              <a:srgbClr val="000000"/>
            </a:solidFill>
            <a:ln w="0">
              <a:solidFill>
                <a:srgbClr val="000000"/>
              </a:solidFill>
              <a:prstDash val="solid"/>
              <a:round/>
              <a:headEnd/>
              <a:tailEnd/>
            </a:ln>
          </p:spPr>
          <p:txBody>
            <a:bodyPr/>
            <a:lstStyle/>
            <a:p>
              <a:endParaRPr lang="en-US"/>
            </a:p>
          </p:txBody>
        </p:sp>
        <p:sp>
          <p:nvSpPr>
            <p:cNvPr id="76" name="Freeform 1849"/>
            <p:cNvSpPr>
              <a:spLocks/>
            </p:cNvSpPr>
            <p:nvPr/>
          </p:nvSpPr>
          <p:spPr bwMode="auto">
            <a:xfrm>
              <a:off x="7151688" y="1873251"/>
              <a:ext cx="14288" cy="14288"/>
            </a:xfrm>
            <a:custGeom>
              <a:avLst/>
              <a:gdLst>
                <a:gd name="T0" fmla="*/ 2 w 9"/>
                <a:gd name="T1" fmla="*/ 0 h 9"/>
                <a:gd name="T2" fmla="*/ 7 w 9"/>
                <a:gd name="T3" fmla="*/ 0 h 9"/>
                <a:gd name="T4" fmla="*/ 9 w 9"/>
                <a:gd name="T5" fmla="*/ 2 h 9"/>
                <a:gd name="T6" fmla="*/ 9 w 9"/>
                <a:gd name="T7" fmla="*/ 5 h 9"/>
                <a:gd name="T8" fmla="*/ 5 w 9"/>
                <a:gd name="T9" fmla="*/ 9 h 9"/>
                <a:gd name="T10" fmla="*/ 2 w 9"/>
                <a:gd name="T11" fmla="*/ 9 h 9"/>
                <a:gd name="T12" fmla="*/ 0 w 9"/>
                <a:gd name="T13" fmla="*/ 7 h 9"/>
                <a:gd name="T14" fmla="*/ 0 w 9"/>
                <a:gd name="T15" fmla="*/ 2 h 9"/>
                <a:gd name="T16" fmla="*/ 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2" y="0"/>
                  </a:moveTo>
                  <a:lnTo>
                    <a:pt x="7" y="0"/>
                  </a:lnTo>
                  <a:lnTo>
                    <a:pt x="9" y="2"/>
                  </a:lnTo>
                  <a:lnTo>
                    <a:pt x="9" y="5"/>
                  </a:lnTo>
                  <a:lnTo>
                    <a:pt x="5"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sp>
          <p:nvSpPr>
            <p:cNvPr id="77" name="Freeform 1850"/>
            <p:cNvSpPr>
              <a:spLocks/>
            </p:cNvSpPr>
            <p:nvPr/>
          </p:nvSpPr>
          <p:spPr bwMode="auto">
            <a:xfrm>
              <a:off x="7177088" y="1873251"/>
              <a:ext cx="15875" cy="14288"/>
            </a:xfrm>
            <a:custGeom>
              <a:avLst/>
              <a:gdLst>
                <a:gd name="T0" fmla="*/ 2 w 10"/>
                <a:gd name="T1" fmla="*/ 0 h 9"/>
                <a:gd name="T2" fmla="*/ 7 w 10"/>
                <a:gd name="T3" fmla="*/ 0 h 9"/>
                <a:gd name="T4" fmla="*/ 10 w 10"/>
                <a:gd name="T5" fmla="*/ 4 h 9"/>
                <a:gd name="T6" fmla="*/ 10 w 10"/>
                <a:gd name="T7" fmla="*/ 5 h 9"/>
                <a:gd name="T8" fmla="*/ 7 w 10"/>
                <a:gd name="T9" fmla="*/ 9 h 9"/>
                <a:gd name="T10" fmla="*/ 2 w 10"/>
                <a:gd name="T11" fmla="*/ 9 h 9"/>
                <a:gd name="T12" fmla="*/ 0 w 10"/>
                <a:gd name="T13" fmla="*/ 7 h 9"/>
                <a:gd name="T14" fmla="*/ 0 w 10"/>
                <a:gd name="T15" fmla="*/ 2 h 9"/>
                <a:gd name="T16" fmla="*/ 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2" y="0"/>
                  </a:moveTo>
                  <a:lnTo>
                    <a:pt x="7" y="0"/>
                  </a:lnTo>
                  <a:lnTo>
                    <a:pt x="10" y="4"/>
                  </a:lnTo>
                  <a:lnTo>
                    <a:pt x="10" y="5"/>
                  </a:lnTo>
                  <a:lnTo>
                    <a:pt x="7" y="9"/>
                  </a:lnTo>
                  <a:lnTo>
                    <a:pt x="2" y="9"/>
                  </a:lnTo>
                  <a:lnTo>
                    <a:pt x="0" y="7"/>
                  </a:lnTo>
                  <a:lnTo>
                    <a:pt x="0" y="2"/>
                  </a:lnTo>
                  <a:lnTo>
                    <a:pt x="2" y="0"/>
                  </a:lnTo>
                  <a:close/>
                </a:path>
              </a:pathLst>
            </a:custGeom>
            <a:solidFill>
              <a:srgbClr val="000000"/>
            </a:solidFill>
            <a:ln w="0">
              <a:solidFill>
                <a:srgbClr val="000000"/>
              </a:solidFill>
              <a:prstDash val="solid"/>
              <a:round/>
              <a:headEnd/>
              <a:tailEnd/>
            </a:ln>
          </p:spPr>
          <p:txBody>
            <a:bodyPr/>
            <a:lstStyle/>
            <a:p>
              <a:endParaRPr lang="en-US"/>
            </a:p>
          </p:txBody>
        </p:sp>
      </p:grpSp>
      <p:cxnSp>
        <p:nvCxnSpPr>
          <p:cNvPr id="1683" name="Straight Connector 1682"/>
          <p:cNvCxnSpPr/>
          <p:nvPr/>
        </p:nvCxnSpPr>
        <p:spPr bwMode="auto">
          <a:xfrm>
            <a:off x="7956376" y="4869160"/>
            <a:ext cx="900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684" name="Text Box 77"/>
          <p:cNvSpPr txBox="1">
            <a:spLocks noChangeArrowheads="1"/>
          </p:cNvSpPr>
          <p:nvPr/>
        </p:nvSpPr>
        <p:spPr bwMode="auto">
          <a:xfrm>
            <a:off x="6986860" y="4652963"/>
            <a:ext cx="825500" cy="461962"/>
          </a:xfrm>
          <a:prstGeom prst="rect">
            <a:avLst/>
          </a:prstGeom>
          <a:noFill/>
          <a:ln w="9525">
            <a:noFill/>
            <a:miter lim="800000"/>
            <a:headEnd/>
            <a:tailEnd/>
          </a:ln>
        </p:spPr>
        <p:txBody>
          <a:bodyPr>
            <a:spAutoFit/>
          </a:bodyPr>
          <a:lstStyle/>
          <a:p>
            <a:pPr>
              <a:spcBef>
                <a:spcPct val="50000"/>
              </a:spcBef>
            </a:pPr>
            <a:r>
              <a:rPr lang="en-US" dirty="0" err="1">
                <a:latin typeface="Arial" charset="0"/>
              </a:rPr>
              <a:t>s</a:t>
            </a:r>
            <a:r>
              <a:rPr lang="en-US" baseline="-25000" dirty="0" err="1">
                <a:latin typeface="Arial" charset="0"/>
              </a:rPr>
              <a:t>B</a:t>
            </a:r>
            <a:endParaRPr lang="en-US" dirty="0">
              <a:latin typeface="Arial" charset="0"/>
            </a:endParaRPr>
          </a:p>
        </p:txBody>
      </p:sp>
      <p:sp>
        <p:nvSpPr>
          <p:cNvPr id="1685" name="Text Box 77"/>
          <p:cNvSpPr txBox="1">
            <a:spLocks noChangeArrowheads="1"/>
          </p:cNvSpPr>
          <p:nvPr/>
        </p:nvSpPr>
        <p:spPr bwMode="auto">
          <a:xfrm>
            <a:off x="8028384" y="4890646"/>
            <a:ext cx="1008112" cy="338554"/>
          </a:xfrm>
          <a:prstGeom prst="rect">
            <a:avLst/>
          </a:prstGeom>
          <a:noFill/>
          <a:ln w="9525">
            <a:noFill/>
            <a:miter lim="800000"/>
            <a:headEnd/>
            <a:tailEnd/>
          </a:ln>
        </p:spPr>
        <p:txBody>
          <a:bodyPr wrap="square">
            <a:spAutoFit/>
          </a:bodyPr>
          <a:lstStyle/>
          <a:p>
            <a:pPr>
              <a:spcBef>
                <a:spcPct val="50000"/>
              </a:spcBef>
            </a:pPr>
            <a:r>
              <a:rPr lang="en-US" sz="1600" dirty="0">
                <a:latin typeface="Arial" charset="0"/>
              </a:rPr>
              <a:t>1 sec</a:t>
            </a:r>
          </a:p>
        </p:txBody>
      </p:sp>
      <p:sp>
        <p:nvSpPr>
          <p:cNvPr id="1686" name="TextBox 1685"/>
          <p:cNvSpPr txBox="1"/>
          <p:nvPr/>
        </p:nvSpPr>
        <p:spPr>
          <a:xfrm>
            <a:off x="2699792" y="2204864"/>
            <a:ext cx="553998" cy="1728192"/>
          </a:xfrm>
          <a:prstGeom prst="rect">
            <a:avLst/>
          </a:prstGeom>
          <a:noFill/>
        </p:spPr>
        <p:txBody>
          <a:bodyPr vert="vert270" wrap="square" rtlCol="0">
            <a:spAutoFit/>
          </a:bodyPr>
          <a:lstStyle/>
          <a:p>
            <a:r>
              <a:rPr lang="en-US" dirty="0">
                <a:latin typeface="Arial Black" pitchFamily="34" charset="0"/>
              </a:rPr>
              <a:t>Trials</a:t>
            </a:r>
          </a:p>
        </p:txBody>
      </p:sp>
    </p:spTree>
    <p:extLst>
      <p:ext uri="{BB962C8B-B14F-4D97-AF65-F5344CB8AC3E}">
        <p14:creationId xmlns:p14="http://schemas.microsoft.com/office/powerpoint/2010/main" val="15126321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fast.tif"/>
          <p:cNvPicPr>
            <a:picLocks/>
          </p:cNvPicPr>
          <p:nvPr/>
        </p:nvPicPr>
        <p:blipFill>
          <a:blip r:embed="rId3" cstate="print"/>
          <a:srcRect t="1801"/>
          <a:stretch>
            <a:fillRect/>
          </a:stretch>
        </p:blipFill>
        <p:spPr bwMode="auto">
          <a:xfrm>
            <a:off x="323528" y="620688"/>
            <a:ext cx="5040560" cy="3888432"/>
          </a:xfrm>
          <a:prstGeom prst="rect">
            <a:avLst/>
          </a:prstGeom>
          <a:noFill/>
          <a:ln w="9525">
            <a:noFill/>
            <a:miter lim="800000"/>
            <a:headEnd/>
            <a:tailEnd/>
          </a:ln>
        </p:spPr>
      </p:pic>
      <p:sp>
        <p:nvSpPr>
          <p:cNvPr id="95" name="Rectangle 2"/>
          <p:cNvSpPr txBox="1">
            <a:spLocks noChangeArrowheads="1"/>
          </p:cNvSpPr>
          <p:nvPr/>
        </p:nvSpPr>
        <p:spPr>
          <a:xfrm>
            <a:off x="0" y="44624"/>
            <a:ext cx="9143999" cy="1143000"/>
          </a:xfrm>
          <a:prstGeom prst="rect">
            <a:avLst/>
          </a:prstGeom>
        </p:spPr>
        <p:txBody>
          <a:bodyPr/>
          <a:lstStyle/>
          <a:p>
            <a:pPr algn="just" eaLnBrk="1" hangingPunct="1">
              <a:defRPr/>
            </a:pPr>
            <a:r>
              <a:rPr lang="en-GB" sz="2000" b="1" kern="0" dirty="0">
                <a:solidFill>
                  <a:srgbClr val="FF0000"/>
                </a:solidFill>
                <a:latin typeface="Arial" charset="0"/>
                <a:ea typeface="+mj-ea"/>
                <a:cs typeface="+mj-cs"/>
              </a:rPr>
              <a:t>Ms-scale spike times carry visual information beyond that carried by spike counts</a:t>
            </a:r>
            <a:endParaRPr lang="en-US" sz="2000" b="1" kern="0" dirty="0">
              <a:solidFill>
                <a:srgbClr val="FF0000"/>
              </a:solidFill>
              <a:latin typeface="Arial" charset="0"/>
              <a:ea typeface="+mj-ea"/>
              <a:cs typeface="+mj-cs"/>
            </a:endParaRPr>
          </a:p>
        </p:txBody>
      </p:sp>
      <p:pic>
        <p:nvPicPr>
          <p:cNvPr id="96" name="LSattesa.wmv">
            <a:hlinkClick r:id="" action="ppaction://media"/>
          </p:cNvPr>
          <p:cNvPicPr>
            <a:picLocks noRot="1" noChangeAspect="1"/>
          </p:cNvPicPr>
          <p:nvPr>
            <a:videoFile r:link="rId1"/>
          </p:nvPr>
        </p:nvPicPr>
        <p:blipFill>
          <a:blip r:embed="rId4" cstate="print"/>
          <a:stretch>
            <a:fillRect/>
          </a:stretch>
        </p:blipFill>
        <p:spPr>
          <a:xfrm>
            <a:off x="5796136" y="836712"/>
            <a:ext cx="2640000" cy="1980000"/>
          </a:xfrm>
          <a:prstGeom prst="rect">
            <a:avLst/>
          </a:prstGeom>
        </p:spPr>
      </p:pic>
      <p:pic>
        <p:nvPicPr>
          <p:cNvPr id="100" name="Picture 99" descr="precision3.tif"/>
          <p:cNvPicPr>
            <a:picLocks noChangeAspect="1"/>
          </p:cNvPicPr>
          <p:nvPr/>
        </p:nvPicPr>
        <p:blipFill>
          <a:blip r:embed="rId5" cstate="print"/>
          <a:srcRect r="49603"/>
          <a:stretch>
            <a:fillRect/>
          </a:stretch>
        </p:blipFill>
        <p:spPr>
          <a:xfrm>
            <a:off x="5652120" y="3212975"/>
            <a:ext cx="3240360" cy="3515369"/>
          </a:xfrm>
          <a:prstGeom prst="rect">
            <a:avLst/>
          </a:prstGeom>
        </p:spPr>
      </p:pic>
      <p:pic>
        <p:nvPicPr>
          <p:cNvPr id="99" name="Picture 98" descr="Figure 2"/>
          <p:cNvPicPr/>
          <p:nvPr/>
        </p:nvPicPr>
        <p:blipFill rotWithShape="1">
          <a:blip r:embed="rId6" cstate="print"/>
          <a:srcRect t="1553" b="53052"/>
          <a:stretch/>
        </p:blipFill>
        <p:spPr bwMode="auto">
          <a:xfrm>
            <a:off x="531168" y="4581128"/>
            <a:ext cx="4544888" cy="2187648"/>
          </a:xfrm>
          <a:prstGeom prst="rect">
            <a:avLst/>
          </a:prstGeom>
          <a:noFill/>
          <a:ln w="9525">
            <a:noFill/>
            <a:miter lim="800000"/>
            <a:headEnd/>
            <a:tailEnd/>
          </a:ln>
        </p:spPr>
      </p:pic>
    </p:spTree>
    <p:extLst>
      <p:ext uri="{BB962C8B-B14F-4D97-AF65-F5344CB8AC3E}">
        <p14:creationId xmlns:p14="http://schemas.microsoft.com/office/powerpoint/2010/main" val="216767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133" fill="hold"/>
                                        <p:tgtEl>
                                          <p:spTgt spid="9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6"/>
                                        </p:tgtEl>
                                      </p:cBhvr>
                                    </p:cmd>
                                  </p:childTnLst>
                                </p:cTn>
                              </p:par>
                            </p:childTnLst>
                          </p:cTn>
                        </p:par>
                      </p:childTnLst>
                    </p:cTn>
                  </p:par>
                </p:childTnLst>
              </p:cTn>
              <p:nextCondLst>
                <p:cond evt="onClick" delay="0">
                  <p:tgtEl>
                    <p:spTgt spid="96"/>
                  </p:tgtEl>
                </p:cond>
              </p:nextCondLst>
            </p:seq>
            <p:video>
              <p:cMediaNode>
                <p:cTn id="12" fill="hold" display="0">
                  <p:stCondLst>
                    <p:cond delay="indefinite"/>
                  </p:stCondLst>
                  <p:endCondLst>
                    <p:cond evt="onNext" delay="0">
                      <p:tgtEl>
                        <p:sldTgt/>
                      </p:tgtEl>
                    </p:cond>
                    <p:cond evt="onPrev" delay="0">
                      <p:tgtEl>
                        <p:sldTgt/>
                      </p:tgtEl>
                    </p:cond>
                  </p:endCondLst>
                </p:cTn>
                <p:tgtEl>
                  <p:spTgt spid="96"/>
                </p:tgtEl>
              </p:cMediaNode>
            </p:video>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precision3.tif"/>
          <p:cNvPicPr>
            <a:picLocks noChangeAspect="1"/>
          </p:cNvPicPr>
          <p:nvPr/>
        </p:nvPicPr>
        <p:blipFill>
          <a:blip r:embed="rId2" cstate="print"/>
          <a:stretch>
            <a:fillRect/>
          </a:stretch>
        </p:blipFill>
        <p:spPr>
          <a:xfrm>
            <a:off x="288032" y="1337086"/>
            <a:ext cx="8604448" cy="4468178"/>
          </a:xfrm>
          <a:prstGeom prst="rect">
            <a:avLst/>
          </a:prstGeom>
        </p:spPr>
      </p:pic>
      <p:sp>
        <p:nvSpPr>
          <p:cNvPr id="95" name="Rectangle 2"/>
          <p:cNvSpPr txBox="1">
            <a:spLocks noChangeArrowheads="1"/>
          </p:cNvSpPr>
          <p:nvPr/>
        </p:nvSpPr>
        <p:spPr>
          <a:xfrm>
            <a:off x="-144463" y="44450"/>
            <a:ext cx="9396413" cy="1143000"/>
          </a:xfrm>
          <a:prstGeom prst="rect">
            <a:avLst/>
          </a:prstGeom>
        </p:spPr>
        <p:txBody>
          <a:bodyPr/>
          <a:lstStyle/>
          <a:p>
            <a:pPr algn="ctr" fontAlgn="auto">
              <a:spcBef>
                <a:spcPts val="0"/>
              </a:spcBef>
              <a:spcAft>
                <a:spcPts val="0"/>
              </a:spcAft>
              <a:defRPr/>
            </a:pPr>
            <a:r>
              <a:rPr lang="en-GB" sz="2800" b="1" kern="0" dirty="0">
                <a:solidFill>
                  <a:srgbClr val="FF0000"/>
                </a:solidFill>
                <a:latin typeface="Arial" pitchFamily="34" charset="0"/>
                <a:ea typeface="+mj-ea"/>
                <a:cs typeface="Arial" pitchFamily="34" charset="0"/>
              </a:rPr>
              <a:t>Spike patterns precision is of the order of 10-20 ms</a:t>
            </a:r>
            <a:endParaRPr lang="en-US" sz="2800" b="1" kern="0" dirty="0">
              <a:solidFill>
                <a:srgbClr val="FF0000"/>
              </a:solidFill>
              <a:latin typeface="Arial" pitchFamily="34" charset="0"/>
              <a:ea typeface="+mj-ea"/>
              <a:cs typeface="Arial" pitchFamily="34" charset="0"/>
            </a:endParaRPr>
          </a:p>
        </p:txBody>
      </p:sp>
      <p:pic>
        <p:nvPicPr>
          <p:cNvPr id="40963" name="Picture 3"/>
          <p:cNvPicPr>
            <a:picLocks noChangeAspect="1" noChangeArrowheads="1"/>
          </p:cNvPicPr>
          <p:nvPr/>
        </p:nvPicPr>
        <p:blipFill>
          <a:blip r:embed="rId3" cstate="print"/>
          <a:srcRect/>
          <a:stretch>
            <a:fillRect/>
          </a:stretch>
        </p:blipFill>
        <p:spPr bwMode="auto">
          <a:xfrm>
            <a:off x="1" y="764704"/>
            <a:ext cx="9144000" cy="580274"/>
          </a:xfrm>
          <a:prstGeom prst="rect">
            <a:avLst/>
          </a:prstGeom>
          <a:noFill/>
          <a:ln w="9525">
            <a:noFill/>
            <a:miter lim="800000"/>
            <a:headEnd/>
            <a:tailEnd/>
          </a:ln>
        </p:spPr>
      </p:pic>
      <p:sp>
        <p:nvSpPr>
          <p:cNvPr id="14" name="Down Arrow 13"/>
          <p:cNvSpPr/>
          <p:nvPr/>
        </p:nvSpPr>
        <p:spPr>
          <a:xfrm>
            <a:off x="2123728" y="4869160"/>
            <a:ext cx="144016" cy="36004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0" y="5661248"/>
            <a:ext cx="9144000" cy="1107996"/>
          </a:xfrm>
          <a:prstGeom prst="rect">
            <a:avLst/>
          </a:prstGeom>
          <a:noFill/>
        </p:spPr>
        <p:txBody>
          <a:bodyPr wrap="square" rtlCol="0">
            <a:spAutoFit/>
          </a:bodyPr>
          <a:lstStyle/>
          <a:p>
            <a:r>
              <a:rPr lang="en-US" sz="2200" dirty="0">
                <a:latin typeface="Arial" pitchFamily="34" charset="0"/>
                <a:cs typeface="Arial" pitchFamily="34" charset="0"/>
              </a:rPr>
              <a:t>Many neurons carry information with a precision finer than the fastest timescale in the movie (set by the movie frame rate of 30 Hz).</a:t>
            </a:r>
          </a:p>
          <a:p>
            <a:r>
              <a:rPr lang="en-US" sz="2200" dirty="0">
                <a:latin typeface="Arial" pitchFamily="34" charset="0"/>
                <a:cs typeface="Arial" pitchFamily="34" charset="0"/>
              </a:rPr>
              <a:t>This suggests that spike patterns are a genuine temporal code. </a:t>
            </a:r>
          </a:p>
        </p:txBody>
      </p:sp>
      <p:sp>
        <p:nvSpPr>
          <p:cNvPr id="9" name="Down Arrow 8"/>
          <p:cNvSpPr/>
          <p:nvPr/>
        </p:nvSpPr>
        <p:spPr>
          <a:xfrm>
            <a:off x="6372200" y="4653136"/>
            <a:ext cx="144016" cy="36004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7396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infoloss.tif"/>
          <p:cNvPicPr>
            <a:picLocks noChangeAspect="1"/>
          </p:cNvPicPr>
          <p:nvPr/>
        </p:nvPicPr>
        <p:blipFill>
          <a:blip r:embed="rId6" cstate="print"/>
          <a:srcRect l="4792" r="4193"/>
          <a:stretch>
            <a:fillRect/>
          </a:stretch>
        </p:blipFill>
        <p:spPr>
          <a:xfrm>
            <a:off x="7020272" y="4221088"/>
            <a:ext cx="1990304" cy="2412000"/>
          </a:xfrm>
          <a:prstGeom prst="rect">
            <a:avLst/>
          </a:prstGeom>
        </p:spPr>
      </p:pic>
      <p:pic>
        <p:nvPicPr>
          <p:cNvPr id="9219" name="LSattesa.wmv">
            <a:hlinkClick r:id="" action="ppaction://media"/>
          </p:cNvPr>
          <p:cNvPicPr>
            <a:picLocks noRot="1" noChangeAspect="1"/>
          </p:cNvPicPr>
          <p:nvPr>
            <a:videoFile r:link="rId1"/>
          </p:nvPr>
        </p:nvPicPr>
        <p:blipFill>
          <a:blip r:embed="rId7" cstate="print"/>
          <a:srcRect/>
          <a:stretch>
            <a:fillRect/>
          </a:stretch>
        </p:blipFill>
        <p:spPr bwMode="auto">
          <a:xfrm>
            <a:off x="4164013" y="796925"/>
            <a:ext cx="2640012" cy="1781175"/>
          </a:xfrm>
          <a:prstGeom prst="rect">
            <a:avLst/>
          </a:prstGeom>
          <a:noFill/>
          <a:ln w="9525">
            <a:noFill/>
            <a:miter lim="800000"/>
            <a:headEnd/>
            <a:tailEnd/>
          </a:ln>
        </p:spPr>
      </p:pic>
      <p:pic>
        <p:nvPicPr>
          <p:cNvPr id="9220" name="LSbattle.wmv">
            <a:hlinkClick r:id="" action="ppaction://media"/>
          </p:cNvPr>
          <p:cNvPicPr>
            <a:picLocks noRot="1" noChangeAspect="1"/>
          </p:cNvPicPr>
          <p:nvPr>
            <a:videoFile r:link="rId2"/>
          </p:nvPr>
        </p:nvPicPr>
        <p:blipFill>
          <a:blip r:embed="rId8" cstate="print"/>
          <a:srcRect/>
          <a:stretch>
            <a:fillRect/>
          </a:stretch>
        </p:blipFill>
        <p:spPr bwMode="auto">
          <a:xfrm>
            <a:off x="4164013" y="2740025"/>
            <a:ext cx="2640012" cy="1779588"/>
          </a:xfrm>
          <a:prstGeom prst="rect">
            <a:avLst/>
          </a:prstGeom>
          <a:noFill/>
          <a:ln w="9525">
            <a:noFill/>
            <a:miter lim="800000"/>
            <a:headEnd/>
            <a:tailEnd/>
          </a:ln>
        </p:spPr>
      </p:pic>
      <p:pic>
        <p:nvPicPr>
          <p:cNvPr id="9221" name="Catcam.wmv">
            <a:hlinkClick r:id="" action="ppaction://media"/>
          </p:cNvPr>
          <p:cNvPicPr>
            <a:picLocks noRot="1" noChangeAspect="1"/>
          </p:cNvPicPr>
          <p:nvPr>
            <a:videoFile r:link="rId3"/>
          </p:nvPr>
        </p:nvPicPr>
        <p:blipFill>
          <a:blip r:embed="rId9" cstate="print"/>
          <a:srcRect/>
          <a:stretch>
            <a:fillRect/>
          </a:stretch>
        </p:blipFill>
        <p:spPr bwMode="auto">
          <a:xfrm>
            <a:off x="4164013" y="4843463"/>
            <a:ext cx="2640012" cy="1779587"/>
          </a:xfrm>
          <a:prstGeom prst="rect">
            <a:avLst/>
          </a:prstGeom>
          <a:noFill/>
          <a:ln w="9525">
            <a:noFill/>
            <a:miter lim="800000"/>
            <a:headEnd/>
            <a:tailEnd/>
          </a:ln>
        </p:spPr>
      </p:pic>
      <p:pic>
        <p:nvPicPr>
          <p:cNvPr id="9222" name="Picture 9" descr="slow.tif"/>
          <p:cNvPicPr>
            <a:picLocks/>
          </p:cNvPicPr>
          <p:nvPr/>
        </p:nvPicPr>
        <p:blipFill>
          <a:blip r:embed="rId10" cstate="print"/>
          <a:srcRect/>
          <a:stretch>
            <a:fillRect/>
          </a:stretch>
        </p:blipFill>
        <p:spPr bwMode="auto">
          <a:xfrm>
            <a:off x="144463" y="733425"/>
            <a:ext cx="3779837" cy="2006600"/>
          </a:xfrm>
          <a:prstGeom prst="rect">
            <a:avLst/>
          </a:prstGeom>
          <a:noFill/>
          <a:ln w="9525">
            <a:noFill/>
            <a:miter lim="800000"/>
            <a:headEnd/>
            <a:tailEnd/>
          </a:ln>
        </p:spPr>
      </p:pic>
      <p:pic>
        <p:nvPicPr>
          <p:cNvPr id="9223" name="Picture 10" descr="fast.tif"/>
          <p:cNvPicPr>
            <a:picLocks/>
          </p:cNvPicPr>
          <p:nvPr/>
        </p:nvPicPr>
        <p:blipFill>
          <a:blip r:embed="rId11" cstate="print"/>
          <a:srcRect t="1801"/>
          <a:stretch>
            <a:fillRect/>
          </a:stretch>
        </p:blipFill>
        <p:spPr bwMode="auto">
          <a:xfrm>
            <a:off x="179388" y="2674938"/>
            <a:ext cx="3779837" cy="2006600"/>
          </a:xfrm>
          <a:prstGeom prst="rect">
            <a:avLst/>
          </a:prstGeom>
          <a:noFill/>
          <a:ln w="9525">
            <a:noFill/>
            <a:miter lim="800000"/>
            <a:headEnd/>
            <a:tailEnd/>
          </a:ln>
        </p:spPr>
      </p:pic>
      <p:pic>
        <p:nvPicPr>
          <p:cNvPr id="9224" name="Picture 11" descr="normal.tif"/>
          <p:cNvPicPr>
            <a:picLocks/>
          </p:cNvPicPr>
          <p:nvPr/>
        </p:nvPicPr>
        <p:blipFill>
          <a:blip r:embed="rId12" cstate="print"/>
          <a:srcRect/>
          <a:stretch>
            <a:fillRect/>
          </a:stretch>
        </p:blipFill>
        <p:spPr bwMode="auto">
          <a:xfrm>
            <a:off x="179388" y="4746625"/>
            <a:ext cx="3779837" cy="2006600"/>
          </a:xfrm>
          <a:prstGeom prst="rect">
            <a:avLst/>
          </a:prstGeom>
          <a:noFill/>
          <a:ln w="9525">
            <a:noFill/>
            <a:miter lim="800000"/>
            <a:headEnd/>
            <a:tailEnd/>
          </a:ln>
        </p:spPr>
      </p:pic>
      <p:cxnSp>
        <p:nvCxnSpPr>
          <p:cNvPr id="14" name="Straight Connector 13"/>
          <p:cNvCxnSpPr/>
          <p:nvPr/>
        </p:nvCxnSpPr>
        <p:spPr>
          <a:xfrm rot="5400000">
            <a:off x="3865563" y="3775075"/>
            <a:ext cx="6165850" cy="0"/>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16" name="Rectangle 2"/>
          <p:cNvSpPr txBox="1">
            <a:spLocks noChangeArrowheads="1"/>
          </p:cNvSpPr>
          <p:nvPr/>
        </p:nvSpPr>
        <p:spPr>
          <a:xfrm>
            <a:off x="0" y="44450"/>
            <a:ext cx="9144000" cy="1143000"/>
          </a:xfrm>
          <a:prstGeom prst="rect">
            <a:avLst/>
          </a:prstGeom>
        </p:spPr>
        <p:txBody>
          <a:bodyPr/>
          <a:lstStyle/>
          <a:p>
            <a:pPr algn="ctr" fontAlgn="auto">
              <a:spcBef>
                <a:spcPts val="0"/>
              </a:spcBef>
              <a:spcAft>
                <a:spcPts val="0"/>
              </a:spcAft>
              <a:defRPr/>
            </a:pPr>
            <a:r>
              <a:rPr lang="en-GB" sz="2600" b="1" kern="0" dirty="0">
                <a:solidFill>
                  <a:srgbClr val="FF0000"/>
                </a:solidFill>
                <a:latin typeface="Arial" pitchFamily="34" charset="0"/>
                <a:ea typeface="+mj-ea"/>
                <a:cs typeface="Arial" pitchFamily="34" charset="0"/>
              </a:rPr>
              <a:t>Spike pattern precision depends on stimulus features</a:t>
            </a:r>
            <a:endParaRPr lang="en-US" sz="2600" b="1" kern="0" dirty="0">
              <a:solidFill>
                <a:srgbClr val="FF0000"/>
              </a:solidFill>
              <a:latin typeface="Arial" pitchFamily="34" charset="0"/>
              <a:ea typeface="+mj-ea"/>
              <a:cs typeface="Arial" pitchFamily="34" charset="0"/>
            </a:endParaRPr>
          </a:p>
        </p:txBody>
      </p:sp>
      <p:pic>
        <p:nvPicPr>
          <p:cNvPr id="9227" name="Picture 16" descr="gainsspeed.tif"/>
          <p:cNvPicPr>
            <a:picLocks noChangeAspect="1"/>
          </p:cNvPicPr>
          <p:nvPr/>
        </p:nvPicPr>
        <p:blipFill>
          <a:blip r:embed="rId13" cstate="print"/>
          <a:srcRect l="10632" r="12888"/>
          <a:stretch>
            <a:fillRect/>
          </a:stretch>
        </p:blipFill>
        <p:spPr bwMode="auto">
          <a:xfrm>
            <a:off x="7092950" y="1052513"/>
            <a:ext cx="2051050" cy="2636837"/>
          </a:xfrm>
          <a:prstGeom prst="rect">
            <a:avLst/>
          </a:prstGeom>
          <a:noFill/>
          <a:ln w="9525">
            <a:noFill/>
            <a:miter lim="800000"/>
            <a:headEnd/>
            <a:tailEnd/>
          </a:ln>
        </p:spPr>
      </p:pic>
      <p:sp>
        <p:nvSpPr>
          <p:cNvPr id="13" name="Down Arrow 12"/>
          <p:cNvSpPr/>
          <p:nvPr/>
        </p:nvSpPr>
        <p:spPr>
          <a:xfrm>
            <a:off x="7618413" y="5943600"/>
            <a:ext cx="73025" cy="28733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Down Arrow 14"/>
          <p:cNvSpPr/>
          <p:nvPr/>
        </p:nvSpPr>
        <p:spPr>
          <a:xfrm>
            <a:off x="8051800" y="5943600"/>
            <a:ext cx="73025" cy="287338"/>
          </a:xfrm>
          <a:prstGeom prst="down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8" name="Down Arrow 17"/>
          <p:cNvSpPr/>
          <p:nvPr/>
        </p:nvSpPr>
        <p:spPr>
          <a:xfrm>
            <a:off x="7834313" y="5943600"/>
            <a:ext cx="73025" cy="2889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25446457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ctrTitle"/>
          </p:nvPr>
        </p:nvSpPr>
        <p:spPr>
          <a:xfrm>
            <a:off x="533401" y="37795"/>
            <a:ext cx="8153400" cy="1257605"/>
          </a:xfrm>
        </p:spPr>
        <p:txBody>
          <a:bodyPr>
            <a:normAutofit fontScale="90000"/>
          </a:bodyPr>
          <a:lstStyle/>
          <a:p>
            <a:r>
              <a:rPr lang="en-GB" sz="4000" b="1" dirty="0">
                <a:solidFill>
                  <a:srgbClr val="FF0000"/>
                </a:solidFill>
                <a:latin typeface="Arial" charset="0"/>
                <a:cs typeface="Arial" charset="0"/>
              </a:rPr>
              <a:t>Neural Coding example: oscillations</a:t>
            </a:r>
            <a:endParaRPr lang="en-US" sz="4000" b="1" dirty="0">
              <a:solidFill>
                <a:srgbClr val="FF0000"/>
              </a:solidFill>
              <a:latin typeface="Arial" charset="0"/>
              <a:cs typeface="Arial" charset="0"/>
            </a:endParaRPr>
          </a:p>
        </p:txBody>
      </p:sp>
      <p:pic>
        <p:nvPicPr>
          <p:cNvPr id="39938" name="Picture 2" descr="http://images.pcworld.com/images/article/2012/07/avatar-movie-12-w606-1138196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8236284"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2589570"/>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olo 1"/>
          <p:cNvSpPr>
            <a:spLocks noGrp="1"/>
          </p:cNvSpPr>
          <p:nvPr>
            <p:ph type="title"/>
          </p:nvPr>
        </p:nvSpPr>
        <p:spPr>
          <a:xfrm>
            <a:off x="179512" y="0"/>
            <a:ext cx="8643937" cy="1844824"/>
          </a:xfrm>
        </p:spPr>
        <p:txBody>
          <a:bodyPr/>
          <a:lstStyle/>
          <a:p>
            <a:pPr algn="l"/>
            <a:r>
              <a:rPr lang="it-IT" sz="3200" dirty="0">
                <a:solidFill>
                  <a:srgbClr val="FF0000"/>
                </a:solidFill>
                <a:latin typeface="Arial" charset="0"/>
                <a:cs typeface="Arial" charset="0"/>
              </a:rPr>
              <a:t>Role of fluctuations of cortical activity in sensory information coding</a:t>
            </a:r>
          </a:p>
        </p:txBody>
      </p:sp>
      <p:sp>
        <p:nvSpPr>
          <p:cNvPr id="22531" name="CasellaDiTesto 5"/>
          <p:cNvSpPr txBox="1">
            <a:spLocks noChangeArrowheads="1"/>
          </p:cNvSpPr>
          <p:nvPr/>
        </p:nvSpPr>
        <p:spPr bwMode="auto">
          <a:xfrm>
            <a:off x="357171" y="1628800"/>
            <a:ext cx="8789094" cy="3108543"/>
          </a:xfrm>
          <a:prstGeom prst="rect">
            <a:avLst/>
          </a:prstGeom>
          <a:noFill/>
          <a:ln w="9525">
            <a:noFill/>
            <a:miter lim="800000"/>
            <a:headEnd/>
            <a:tailEnd/>
          </a:ln>
        </p:spPr>
        <p:txBody>
          <a:bodyPr wrap="square">
            <a:spAutoFit/>
          </a:bodyPr>
          <a:lstStyle/>
          <a:p>
            <a:r>
              <a:rPr lang="en-US" sz="2400" b="1" dirty="0">
                <a:latin typeface="Arial" charset="0"/>
                <a:cs typeface="Arial" charset="0"/>
              </a:rPr>
              <a:t>Cortical activity is characterized by wideband oscillations</a:t>
            </a:r>
          </a:p>
          <a:p>
            <a:endParaRPr lang="en-US" sz="2400" b="1" dirty="0">
              <a:latin typeface="Arial" charset="0"/>
              <a:cs typeface="Arial" charset="0"/>
            </a:endParaRPr>
          </a:p>
          <a:p>
            <a:r>
              <a:rPr lang="en-US" sz="2400" b="1" dirty="0">
                <a:latin typeface="Arial" charset="0"/>
                <a:cs typeface="Arial" charset="0"/>
              </a:rPr>
              <a:t>Which frequency bands carry information about sensory variables? </a:t>
            </a:r>
          </a:p>
          <a:p>
            <a:endParaRPr lang="en-US" sz="2400" b="1" dirty="0">
              <a:latin typeface="Arial" charset="0"/>
              <a:cs typeface="Arial" charset="0"/>
            </a:endParaRPr>
          </a:p>
          <a:p>
            <a:r>
              <a:rPr lang="en-US" sz="2400" b="1" dirty="0">
                <a:latin typeface="Arial" charset="0"/>
                <a:cs typeface="Arial" charset="0"/>
              </a:rPr>
              <a:t>Which sensory variables are encoded by each frequency band?</a:t>
            </a:r>
          </a:p>
          <a:p>
            <a:endParaRPr lang="en-US" sz="2800" b="1" dirty="0">
              <a:latin typeface="Arial" charset="0"/>
              <a:cs typeface="Arial" charset="0"/>
            </a:endParaRPr>
          </a:p>
        </p:txBody>
      </p:sp>
      <p:sp>
        <p:nvSpPr>
          <p:cNvPr id="4" name="CasellaDiTesto 5"/>
          <p:cNvSpPr txBox="1">
            <a:spLocks noChangeArrowheads="1"/>
          </p:cNvSpPr>
          <p:nvPr/>
        </p:nvSpPr>
        <p:spPr bwMode="auto">
          <a:xfrm>
            <a:off x="228600" y="4538008"/>
            <a:ext cx="8789094" cy="2308324"/>
          </a:xfrm>
          <a:prstGeom prst="rect">
            <a:avLst/>
          </a:prstGeom>
          <a:noFill/>
          <a:ln w="9525">
            <a:noFill/>
            <a:miter lim="800000"/>
            <a:headEnd/>
            <a:tailEnd/>
          </a:ln>
        </p:spPr>
        <p:txBody>
          <a:bodyPr wrap="square">
            <a:spAutoFit/>
          </a:bodyPr>
          <a:lstStyle/>
          <a:p>
            <a:pPr marL="457200" indent="-457200">
              <a:buFont typeface="Wingdings" pitchFamily="2" charset="2"/>
              <a:buChar char="q"/>
            </a:pPr>
            <a:r>
              <a:rPr lang="en-US" sz="2400" b="1" dirty="0" err="1">
                <a:latin typeface="Arial" charset="0"/>
                <a:cs typeface="Arial" charset="0"/>
              </a:rPr>
              <a:t>Prerequiste</a:t>
            </a:r>
            <a:r>
              <a:rPr lang="en-US" sz="2400" b="1" dirty="0">
                <a:latin typeface="Arial" charset="0"/>
                <a:cs typeface="Arial" charset="0"/>
              </a:rPr>
              <a:t> to understand function of these fluctuations – important to know what to measure and what to model</a:t>
            </a:r>
          </a:p>
          <a:p>
            <a:pPr marL="457200" indent="-457200">
              <a:buFont typeface="Wingdings" pitchFamily="2" charset="2"/>
              <a:buChar char="q"/>
            </a:pPr>
            <a:endParaRPr lang="en-US" sz="2400" b="1" dirty="0">
              <a:latin typeface="Arial" charset="0"/>
              <a:cs typeface="Arial" charset="0"/>
            </a:endParaRPr>
          </a:p>
          <a:p>
            <a:pPr marL="457200" indent="-457200">
              <a:buFont typeface="Wingdings" pitchFamily="2" charset="2"/>
              <a:buChar char="q"/>
            </a:pPr>
            <a:r>
              <a:rPr lang="en-US" sz="2400" b="1" dirty="0">
                <a:latin typeface="Arial" charset="0"/>
                <a:cs typeface="Arial" charset="0"/>
              </a:rPr>
              <a:t>Crucial for clinical developments – Brain Machine Interfaces since is the only activity you can detect </a:t>
            </a:r>
            <a:r>
              <a:rPr lang="en-US" sz="2400" b="1" dirty="0" err="1">
                <a:latin typeface="Arial" charset="0"/>
                <a:cs typeface="Arial" charset="0"/>
              </a:rPr>
              <a:t>extracranially</a:t>
            </a:r>
            <a:endParaRPr lang="en-US" sz="2400" b="1" dirty="0">
              <a:latin typeface="Arial" charset="0"/>
              <a:cs typeface="Arial" charset="0"/>
            </a:endParaRPr>
          </a:p>
        </p:txBody>
      </p:sp>
    </p:spTree>
    <p:extLst>
      <p:ext uri="{BB962C8B-B14F-4D97-AF65-F5344CB8AC3E}">
        <p14:creationId xmlns:p14="http://schemas.microsoft.com/office/powerpoint/2010/main" val="32402711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71438" y="20638"/>
            <a:ext cx="8929687" cy="836612"/>
          </a:xfrm>
        </p:spPr>
        <p:txBody>
          <a:bodyPr>
            <a:normAutofit/>
          </a:bodyPr>
          <a:lstStyle/>
          <a:p>
            <a:r>
              <a:rPr lang="en-US" sz="3200" dirty="0">
                <a:solidFill>
                  <a:srgbClr val="FF0000"/>
                </a:solidFill>
                <a:latin typeface="Arial" charset="0"/>
                <a:cs typeface="Arial" charset="0"/>
              </a:rPr>
              <a:t>Local Field Potentials</a:t>
            </a:r>
          </a:p>
        </p:txBody>
      </p:sp>
      <p:grpSp>
        <p:nvGrpSpPr>
          <p:cNvPr id="2" name="Group 25"/>
          <p:cNvGrpSpPr>
            <a:grpSpLocks/>
          </p:cNvGrpSpPr>
          <p:nvPr/>
        </p:nvGrpSpPr>
        <p:grpSpPr bwMode="auto">
          <a:xfrm>
            <a:off x="3000375" y="2143125"/>
            <a:ext cx="1709738" cy="1643063"/>
            <a:chOff x="847964" y="1939921"/>
            <a:chExt cx="2366714" cy="2274897"/>
          </a:xfrm>
        </p:grpSpPr>
        <p:grpSp>
          <p:nvGrpSpPr>
            <p:cNvPr id="3" name="Group 19"/>
            <p:cNvGrpSpPr>
              <a:grpSpLocks/>
            </p:cNvGrpSpPr>
            <p:nvPr/>
          </p:nvGrpSpPr>
          <p:grpSpPr bwMode="auto">
            <a:xfrm>
              <a:off x="847964" y="1939921"/>
              <a:ext cx="2366714" cy="2274897"/>
              <a:chOff x="2717800" y="1074738"/>
              <a:chExt cx="3478213" cy="3343275"/>
            </a:xfrm>
          </p:grpSpPr>
          <p:sp>
            <p:nvSpPr>
              <p:cNvPr id="7183" name="Freeform 5"/>
              <p:cNvSpPr>
                <a:spLocks noEditPoints="1"/>
              </p:cNvSpPr>
              <p:nvPr/>
            </p:nvSpPr>
            <p:spPr bwMode="auto">
              <a:xfrm>
                <a:off x="2717800" y="1074738"/>
                <a:ext cx="3478213" cy="3343275"/>
              </a:xfrm>
              <a:custGeom>
                <a:avLst/>
                <a:gdLst>
                  <a:gd name="T0" fmla="*/ 2147483647 w 2191"/>
                  <a:gd name="T1" fmla="*/ 2147483647 h 2106"/>
                  <a:gd name="T2" fmla="*/ 2147483647 w 2191"/>
                  <a:gd name="T3" fmla="*/ 2147483647 h 2106"/>
                  <a:gd name="T4" fmla="*/ 2147483647 w 2191"/>
                  <a:gd name="T5" fmla="*/ 2147483647 h 2106"/>
                  <a:gd name="T6" fmla="*/ 2147483647 w 2191"/>
                  <a:gd name="T7" fmla="*/ 2147483647 h 2106"/>
                  <a:gd name="T8" fmla="*/ 2147483647 w 2191"/>
                  <a:gd name="T9" fmla="*/ 2147483647 h 2106"/>
                  <a:gd name="T10" fmla="*/ 2147483647 w 2191"/>
                  <a:gd name="T11" fmla="*/ 2147483647 h 2106"/>
                  <a:gd name="T12" fmla="*/ 2147483647 w 2191"/>
                  <a:gd name="T13" fmla="*/ 2147483647 h 2106"/>
                  <a:gd name="T14" fmla="*/ 2147483647 w 2191"/>
                  <a:gd name="T15" fmla="*/ 2147483647 h 2106"/>
                  <a:gd name="T16" fmla="*/ 2147483647 w 2191"/>
                  <a:gd name="T17" fmla="*/ 2147483647 h 2106"/>
                  <a:gd name="T18" fmla="*/ 2147483647 w 2191"/>
                  <a:gd name="T19" fmla="*/ 2147483647 h 2106"/>
                  <a:gd name="T20" fmla="*/ 2147483647 w 2191"/>
                  <a:gd name="T21" fmla="*/ 2147483647 h 2106"/>
                  <a:gd name="T22" fmla="*/ 2147483647 w 2191"/>
                  <a:gd name="T23" fmla="*/ 2147483647 h 2106"/>
                  <a:gd name="T24" fmla="*/ 2147483647 w 2191"/>
                  <a:gd name="T25" fmla="*/ 2147483647 h 2106"/>
                  <a:gd name="T26" fmla="*/ 2147483647 w 2191"/>
                  <a:gd name="T27" fmla="*/ 2147483647 h 2106"/>
                  <a:gd name="T28" fmla="*/ 2147483647 w 2191"/>
                  <a:gd name="T29" fmla="*/ 2147483647 h 2106"/>
                  <a:gd name="T30" fmla="*/ 2147483647 w 2191"/>
                  <a:gd name="T31" fmla="*/ 2147483647 h 2106"/>
                  <a:gd name="T32" fmla="*/ 2147483647 w 2191"/>
                  <a:gd name="T33" fmla="*/ 2147483647 h 2106"/>
                  <a:gd name="T34" fmla="*/ 2147483647 w 2191"/>
                  <a:gd name="T35" fmla="*/ 2147483647 h 2106"/>
                  <a:gd name="T36" fmla="*/ 2147483647 w 2191"/>
                  <a:gd name="T37" fmla="*/ 2147483647 h 2106"/>
                  <a:gd name="T38" fmla="*/ 2147483647 w 2191"/>
                  <a:gd name="T39" fmla="*/ 2147483647 h 2106"/>
                  <a:gd name="T40" fmla="*/ 2147483647 w 2191"/>
                  <a:gd name="T41" fmla="*/ 2147483647 h 2106"/>
                  <a:gd name="T42" fmla="*/ 2147483647 w 2191"/>
                  <a:gd name="T43" fmla="*/ 2147483647 h 2106"/>
                  <a:gd name="T44" fmla="*/ 2147483647 w 2191"/>
                  <a:gd name="T45" fmla="*/ 2147483647 h 2106"/>
                  <a:gd name="T46" fmla="*/ 2147483647 w 2191"/>
                  <a:gd name="T47" fmla="*/ 2147483647 h 2106"/>
                  <a:gd name="T48" fmla="*/ 2147483647 w 2191"/>
                  <a:gd name="T49" fmla="*/ 2147483647 h 2106"/>
                  <a:gd name="T50" fmla="*/ 2147483647 w 2191"/>
                  <a:gd name="T51" fmla="*/ 2147483647 h 2106"/>
                  <a:gd name="T52" fmla="*/ 2147483647 w 2191"/>
                  <a:gd name="T53" fmla="*/ 2147483647 h 2106"/>
                  <a:gd name="T54" fmla="*/ 2147483647 w 2191"/>
                  <a:gd name="T55" fmla="*/ 2147483647 h 2106"/>
                  <a:gd name="T56" fmla="*/ 2147483647 w 2191"/>
                  <a:gd name="T57" fmla="*/ 2147483647 h 2106"/>
                  <a:gd name="T58" fmla="*/ 2147483647 w 2191"/>
                  <a:gd name="T59" fmla="*/ 2147483647 h 2106"/>
                  <a:gd name="T60" fmla="*/ 2147483647 w 2191"/>
                  <a:gd name="T61" fmla="*/ 2147483647 h 2106"/>
                  <a:gd name="T62" fmla="*/ 2147483647 w 2191"/>
                  <a:gd name="T63" fmla="*/ 2147483647 h 2106"/>
                  <a:gd name="T64" fmla="*/ 2147483647 w 2191"/>
                  <a:gd name="T65" fmla="*/ 2147483647 h 2106"/>
                  <a:gd name="T66" fmla="*/ 2147483647 w 2191"/>
                  <a:gd name="T67" fmla="*/ 2147483647 h 2106"/>
                  <a:gd name="T68" fmla="*/ 2147483647 w 2191"/>
                  <a:gd name="T69" fmla="*/ 2147483647 h 2106"/>
                  <a:gd name="T70" fmla="*/ 2147483647 w 2191"/>
                  <a:gd name="T71" fmla="*/ 2147483647 h 2106"/>
                  <a:gd name="T72" fmla="*/ 2147483647 w 2191"/>
                  <a:gd name="T73" fmla="*/ 2147483647 h 2106"/>
                  <a:gd name="T74" fmla="*/ 2147483647 w 2191"/>
                  <a:gd name="T75" fmla="*/ 2147483647 h 2106"/>
                  <a:gd name="T76" fmla="*/ 2147483647 w 2191"/>
                  <a:gd name="T77" fmla="*/ 2147483647 h 2106"/>
                  <a:gd name="T78" fmla="*/ 2147483647 w 2191"/>
                  <a:gd name="T79" fmla="*/ 2147483647 h 2106"/>
                  <a:gd name="T80" fmla="*/ 2147483647 w 2191"/>
                  <a:gd name="T81" fmla="*/ 2147483647 h 2106"/>
                  <a:gd name="T82" fmla="*/ 2147483647 w 2191"/>
                  <a:gd name="T83" fmla="*/ 2147483647 h 2106"/>
                  <a:gd name="T84" fmla="*/ 2147483647 w 2191"/>
                  <a:gd name="T85" fmla="*/ 2147483647 h 2106"/>
                  <a:gd name="T86" fmla="*/ 2147483647 w 2191"/>
                  <a:gd name="T87" fmla="*/ 2147483647 h 2106"/>
                  <a:gd name="T88" fmla="*/ 2147483647 w 2191"/>
                  <a:gd name="T89" fmla="*/ 2147483647 h 2106"/>
                  <a:gd name="T90" fmla="*/ 2147483647 w 2191"/>
                  <a:gd name="T91" fmla="*/ 2147483647 h 2106"/>
                  <a:gd name="T92" fmla="*/ 2147483647 w 2191"/>
                  <a:gd name="T93" fmla="*/ 2147483647 h 2106"/>
                  <a:gd name="T94" fmla="*/ 2147483647 w 2191"/>
                  <a:gd name="T95" fmla="*/ 2147483647 h 2106"/>
                  <a:gd name="T96" fmla="*/ 2147483647 w 2191"/>
                  <a:gd name="T97" fmla="*/ 2147483647 h 2106"/>
                  <a:gd name="T98" fmla="*/ 2147483647 w 2191"/>
                  <a:gd name="T99" fmla="*/ 2147483647 h 2106"/>
                  <a:gd name="T100" fmla="*/ 2147483647 w 2191"/>
                  <a:gd name="T101" fmla="*/ 2147483647 h 2106"/>
                  <a:gd name="T102" fmla="*/ 2147483647 w 2191"/>
                  <a:gd name="T103" fmla="*/ 2147483647 h 2106"/>
                  <a:gd name="T104" fmla="*/ 2147483647 w 2191"/>
                  <a:gd name="T105" fmla="*/ 2147483647 h 2106"/>
                  <a:gd name="T106" fmla="*/ 2147483647 w 2191"/>
                  <a:gd name="T107" fmla="*/ 2147483647 h 2106"/>
                  <a:gd name="T108" fmla="*/ 2147483647 w 2191"/>
                  <a:gd name="T109" fmla="*/ 2147483647 h 2106"/>
                  <a:gd name="T110" fmla="*/ 2147483647 w 2191"/>
                  <a:gd name="T111" fmla="*/ 2147483647 h 2106"/>
                  <a:gd name="T112" fmla="*/ 2147483647 w 2191"/>
                  <a:gd name="T113" fmla="*/ 2147483647 h 2106"/>
                  <a:gd name="T114" fmla="*/ 2147483647 w 2191"/>
                  <a:gd name="T115" fmla="*/ 2147483647 h 2106"/>
                  <a:gd name="T116" fmla="*/ 2147483647 w 2191"/>
                  <a:gd name="T117" fmla="*/ 2147483647 h 2106"/>
                  <a:gd name="T118" fmla="*/ 2147483647 w 2191"/>
                  <a:gd name="T119" fmla="*/ 2147483647 h 2106"/>
                  <a:gd name="T120" fmla="*/ 2147483647 w 2191"/>
                  <a:gd name="T121" fmla="*/ 2147483647 h 2106"/>
                  <a:gd name="T122" fmla="*/ 2147483647 w 2191"/>
                  <a:gd name="T123" fmla="*/ 2147483647 h 2106"/>
                  <a:gd name="T124" fmla="*/ 2147483647 w 2191"/>
                  <a:gd name="T125" fmla="*/ 2147483647 h 210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191"/>
                  <a:gd name="T190" fmla="*/ 0 h 2106"/>
                  <a:gd name="T191" fmla="*/ 2191 w 2191"/>
                  <a:gd name="T192" fmla="*/ 2106 h 210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191" h="2106">
                    <a:moveTo>
                      <a:pt x="1044" y="747"/>
                    </a:moveTo>
                    <a:lnTo>
                      <a:pt x="1044" y="750"/>
                    </a:lnTo>
                    <a:lnTo>
                      <a:pt x="1046" y="752"/>
                    </a:lnTo>
                    <a:lnTo>
                      <a:pt x="1046" y="754"/>
                    </a:lnTo>
                    <a:lnTo>
                      <a:pt x="1046" y="757"/>
                    </a:lnTo>
                    <a:lnTo>
                      <a:pt x="1047" y="759"/>
                    </a:lnTo>
                    <a:lnTo>
                      <a:pt x="1047" y="762"/>
                    </a:lnTo>
                    <a:lnTo>
                      <a:pt x="1047" y="764"/>
                    </a:lnTo>
                    <a:lnTo>
                      <a:pt x="1049" y="768"/>
                    </a:lnTo>
                    <a:lnTo>
                      <a:pt x="1049" y="769"/>
                    </a:lnTo>
                    <a:lnTo>
                      <a:pt x="1051" y="773"/>
                    </a:lnTo>
                    <a:lnTo>
                      <a:pt x="1051" y="775"/>
                    </a:lnTo>
                    <a:lnTo>
                      <a:pt x="1051" y="778"/>
                    </a:lnTo>
                    <a:lnTo>
                      <a:pt x="1053" y="780"/>
                    </a:lnTo>
                    <a:lnTo>
                      <a:pt x="1053" y="783"/>
                    </a:lnTo>
                    <a:lnTo>
                      <a:pt x="1054" y="785"/>
                    </a:lnTo>
                    <a:lnTo>
                      <a:pt x="1054" y="788"/>
                    </a:lnTo>
                    <a:lnTo>
                      <a:pt x="1054" y="790"/>
                    </a:lnTo>
                    <a:lnTo>
                      <a:pt x="1056" y="794"/>
                    </a:lnTo>
                    <a:lnTo>
                      <a:pt x="1056" y="795"/>
                    </a:lnTo>
                    <a:lnTo>
                      <a:pt x="1056" y="799"/>
                    </a:lnTo>
                    <a:lnTo>
                      <a:pt x="1058" y="801"/>
                    </a:lnTo>
                    <a:lnTo>
                      <a:pt x="1058" y="804"/>
                    </a:lnTo>
                    <a:lnTo>
                      <a:pt x="1060" y="806"/>
                    </a:lnTo>
                    <a:lnTo>
                      <a:pt x="1060" y="809"/>
                    </a:lnTo>
                    <a:lnTo>
                      <a:pt x="1060" y="811"/>
                    </a:lnTo>
                    <a:lnTo>
                      <a:pt x="1061" y="815"/>
                    </a:lnTo>
                    <a:lnTo>
                      <a:pt x="1061" y="816"/>
                    </a:lnTo>
                    <a:lnTo>
                      <a:pt x="1063" y="820"/>
                    </a:lnTo>
                    <a:lnTo>
                      <a:pt x="1063" y="822"/>
                    </a:lnTo>
                    <a:lnTo>
                      <a:pt x="1063" y="825"/>
                    </a:lnTo>
                    <a:lnTo>
                      <a:pt x="1065" y="827"/>
                    </a:lnTo>
                    <a:lnTo>
                      <a:pt x="1065" y="828"/>
                    </a:lnTo>
                    <a:lnTo>
                      <a:pt x="1065" y="832"/>
                    </a:lnTo>
                    <a:lnTo>
                      <a:pt x="1067" y="835"/>
                    </a:lnTo>
                    <a:lnTo>
                      <a:pt x="1067" y="837"/>
                    </a:lnTo>
                    <a:lnTo>
                      <a:pt x="1068" y="841"/>
                    </a:lnTo>
                    <a:lnTo>
                      <a:pt x="1068" y="842"/>
                    </a:lnTo>
                    <a:lnTo>
                      <a:pt x="1068" y="846"/>
                    </a:lnTo>
                    <a:lnTo>
                      <a:pt x="1070" y="848"/>
                    </a:lnTo>
                    <a:lnTo>
                      <a:pt x="1070" y="849"/>
                    </a:lnTo>
                    <a:lnTo>
                      <a:pt x="1070" y="853"/>
                    </a:lnTo>
                    <a:lnTo>
                      <a:pt x="1072" y="855"/>
                    </a:lnTo>
                    <a:lnTo>
                      <a:pt x="1072" y="858"/>
                    </a:lnTo>
                    <a:lnTo>
                      <a:pt x="1072" y="860"/>
                    </a:lnTo>
                    <a:lnTo>
                      <a:pt x="1074" y="863"/>
                    </a:lnTo>
                    <a:lnTo>
                      <a:pt x="1074" y="865"/>
                    </a:lnTo>
                    <a:lnTo>
                      <a:pt x="1074" y="869"/>
                    </a:lnTo>
                    <a:lnTo>
                      <a:pt x="1075" y="870"/>
                    </a:lnTo>
                    <a:lnTo>
                      <a:pt x="1075" y="874"/>
                    </a:lnTo>
                    <a:lnTo>
                      <a:pt x="1077" y="875"/>
                    </a:lnTo>
                    <a:lnTo>
                      <a:pt x="1077" y="879"/>
                    </a:lnTo>
                    <a:lnTo>
                      <a:pt x="1077" y="881"/>
                    </a:lnTo>
                    <a:lnTo>
                      <a:pt x="1077" y="884"/>
                    </a:lnTo>
                    <a:lnTo>
                      <a:pt x="1079" y="886"/>
                    </a:lnTo>
                    <a:lnTo>
                      <a:pt x="1079" y="889"/>
                    </a:lnTo>
                    <a:lnTo>
                      <a:pt x="1079" y="891"/>
                    </a:lnTo>
                    <a:lnTo>
                      <a:pt x="1081" y="895"/>
                    </a:lnTo>
                    <a:lnTo>
                      <a:pt x="1081" y="896"/>
                    </a:lnTo>
                    <a:lnTo>
                      <a:pt x="1081" y="900"/>
                    </a:lnTo>
                    <a:lnTo>
                      <a:pt x="1082" y="902"/>
                    </a:lnTo>
                    <a:lnTo>
                      <a:pt x="1082" y="905"/>
                    </a:lnTo>
                    <a:lnTo>
                      <a:pt x="1082" y="907"/>
                    </a:lnTo>
                    <a:lnTo>
                      <a:pt x="1084" y="910"/>
                    </a:lnTo>
                    <a:lnTo>
                      <a:pt x="1084" y="912"/>
                    </a:lnTo>
                    <a:lnTo>
                      <a:pt x="1084" y="916"/>
                    </a:lnTo>
                    <a:lnTo>
                      <a:pt x="1084" y="917"/>
                    </a:lnTo>
                    <a:lnTo>
                      <a:pt x="1086" y="921"/>
                    </a:lnTo>
                    <a:lnTo>
                      <a:pt x="1086" y="922"/>
                    </a:lnTo>
                    <a:lnTo>
                      <a:pt x="1086" y="926"/>
                    </a:lnTo>
                    <a:lnTo>
                      <a:pt x="1088" y="928"/>
                    </a:lnTo>
                    <a:lnTo>
                      <a:pt x="1088" y="931"/>
                    </a:lnTo>
                    <a:lnTo>
                      <a:pt x="1088" y="933"/>
                    </a:lnTo>
                    <a:lnTo>
                      <a:pt x="1088" y="936"/>
                    </a:lnTo>
                    <a:lnTo>
                      <a:pt x="1089" y="938"/>
                    </a:lnTo>
                    <a:lnTo>
                      <a:pt x="1089" y="942"/>
                    </a:lnTo>
                    <a:lnTo>
                      <a:pt x="1089" y="943"/>
                    </a:lnTo>
                    <a:lnTo>
                      <a:pt x="1091" y="947"/>
                    </a:lnTo>
                    <a:lnTo>
                      <a:pt x="1091" y="949"/>
                    </a:lnTo>
                    <a:lnTo>
                      <a:pt x="1091" y="952"/>
                    </a:lnTo>
                    <a:lnTo>
                      <a:pt x="1091" y="954"/>
                    </a:lnTo>
                    <a:lnTo>
                      <a:pt x="1091" y="957"/>
                    </a:lnTo>
                    <a:lnTo>
                      <a:pt x="1093" y="959"/>
                    </a:lnTo>
                    <a:lnTo>
                      <a:pt x="1093" y="963"/>
                    </a:lnTo>
                    <a:lnTo>
                      <a:pt x="1093" y="964"/>
                    </a:lnTo>
                    <a:lnTo>
                      <a:pt x="1093" y="968"/>
                    </a:lnTo>
                    <a:lnTo>
                      <a:pt x="1093" y="970"/>
                    </a:lnTo>
                    <a:lnTo>
                      <a:pt x="1094" y="973"/>
                    </a:lnTo>
                    <a:lnTo>
                      <a:pt x="1094" y="975"/>
                    </a:lnTo>
                    <a:lnTo>
                      <a:pt x="1094" y="978"/>
                    </a:lnTo>
                    <a:lnTo>
                      <a:pt x="1094" y="980"/>
                    </a:lnTo>
                    <a:lnTo>
                      <a:pt x="1094" y="983"/>
                    </a:lnTo>
                    <a:lnTo>
                      <a:pt x="1096" y="985"/>
                    </a:lnTo>
                    <a:lnTo>
                      <a:pt x="1096" y="989"/>
                    </a:lnTo>
                    <a:lnTo>
                      <a:pt x="1096" y="990"/>
                    </a:lnTo>
                    <a:lnTo>
                      <a:pt x="1096" y="994"/>
                    </a:lnTo>
                    <a:lnTo>
                      <a:pt x="1096" y="996"/>
                    </a:lnTo>
                    <a:lnTo>
                      <a:pt x="1096" y="999"/>
                    </a:lnTo>
                    <a:lnTo>
                      <a:pt x="1098" y="1001"/>
                    </a:lnTo>
                    <a:lnTo>
                      <a:pt x="1098" y="1004"/>
                    </a:lnTo>
                    <a:lnTo>
                      <a:pt x="1098" y="1006"/>
                    </a:lnTo>
                    <a:lnTo>
                      <a:pt x="1098" y="1010"/>
                    </a:lnTo>
                    <a:lnTo>
                      <a:pt x="1098" y="1011"/>
                    </a:lnTo>
                    <a:lnTo>
                      <a:pt x="1098" y="1015"/>
                    </a:lnTo>
                    <a:lnTo>
                      <a:pt x="1098" y="1017"/>
                    </a:lnTo>
                    <a:lnTo>
                      <a:pt x="1098" y="1020"/>
                    </a:lnTo>
                    <a:lnTo>
                      <a:pt x="1098" y="1022"/>
                    </a:lnTo>
                    <a:lnTo>
                      <a:pt x="1100" y="1025"/>
                    </a:lnTo>
                    <a:lnTo>
                      <a:pt x="1100" y="1030"/>
                    </a:lnTo>
                    <a:lnTo>
                      <a:pt x="1100" y="1032"/>
                    </a:lnTo>
                    <a:lnTo>
                      <a:pt x="1100" y="1037"/>
                    </a:lnTo>
                    <a:lnTo>
                      <a:pt x="1100" y="1041"/>
                    </a:lnTo>
                    <a:lnTo>
                      <a:pt x="1100" y="1055"/>
                    </a:lnTo>
                    <a:moveTo>
                      <a:pt x="1049" y="745"/>
                    </a:moveTo>
                    <a:lnTo>
                      <a:pt x="1051" y="747"/>
                    </a:lnTo>
                    <a:lnTo>
                      <a:pt x="1053" y="750"/>
                    </a:lnTo>
                    <a:lnTo>
                      <a:pt x="1054" y="752"/>
                    </a:lnTo>
                    <a:lnTo>
                      <a:pt x="1056" y="754"/>
                    </a:lnTo>
                    <a:lnTo>
                      <a:pt x="1058" y="755"/>
                    </a:lnTo>
                    <a:lnTo>
                      <a:pt x="1060" y="759"/>
                    </a:lnTo>
                    <a:lnTo>
                      <a:pt x="1063" y="761"/>
                    </a:lnTo>
                    <a:lnTo>
                      <a:pt x="1065" y="762"/>
                    </a:lnTo>
                    <a:lnTo>
                      <a:pt x="1067" y="764"/>
                    </a:lnTo>
                    <a:lnTo>
                      <a:pt x="1068" y="768"/>
                    </a:lnTo>
                    <a:lnTo>
                      <a:pt x="1070" y="769"/>
                    </a:lnTo>
                    <a:lnTo>
                      <a:pt x="1072" y="771"/>
                    </a:lnTo>
                    <a:lnTo>
                      <a:pt x="1074" y="773"/>
                    </a:lnTo>
                    <a:lnTo>
                      <a:pt x="1075" y="776"/>
                    </a:lnTo>
                    <a:lnTo>
                      <a:pt x="1077" y="778"/>
                    </a:lnTo>
                    <a:lnTo>
                      <a:pt x="1079" y="780"/>
                    </a:lnTo>
                    <a:lnTo>
                      <a:pt x="1081" y="783"/>
                    </a:lnTo>
                    <a:lnTo>
                      <a:pt x="1082" y="785"/>
                    </a:lnTo>
                    <a:lnTo>
                      <a:pt x="1086" y="787"/>
                    </a:lnTo>
                    <a:lnTo>
                      <a:pt x="1088" y="788"/>
                    </a:lnTo>
                    <a:lnTo>
                      <a:pt x="1089" y="792"/>
                    </a:lnTo>
                    <a:lnTo>
                      <a:pt x="1091" y="794"/>
                    </a:lnTo>
                    <a:lnTo>
                      <a:pt x="1093" y="795"/>
                    </a:lnTo>
                    <a:lnTo>
                      <a:pt x="1094" y="799"/>
                    </a:lnTo>
                    <a:lnTo>
                      <a:pt x="1096" y="801"/>
                    </a:lnTo>
                    <a:lnTo>
                      <a:pt x="1098" y="802"/>
                    </a:lnTo>
                    <a:lnTo>
                      <a:pt x="1100" y="804"/>
                    </a:lnTo>
                    <a:lnTo>
                      <a:pt x="1101" y="806"/>
                    </a:lnTo>
                    <a:lnTo>
                      <a:pt x="1103" y="809"/>
                    </a:lnTo>
                    <a:lnTo>
                      <a:pt x="1105" y="811"/>
                    </a:lnTo>
                    <a:lnTo>
                      <a:pt x="1107" y="813"/>
                    </a:lnTo>
                    <a:lnTo>
                      <a:pt x="1110" y="816"/>
                    </a:lnTo>
                    <a:lnTo>
                      <a:pt x="1112" y="818"/>
                    </a:lnTo>
                    <a:lnTo>
                      <a:pt x="1114" y="820"/>
                    </a:lnTo>
                    <a:lnTo>
                      <a:pt x="1115" y="822"/>
                    </a:lnTo>
                    <a:lnTo>
                      <a:pt x="1117" y="825"/>
                    </a:lnTo>
                    <a:lnTo>
                      <a:pt x="1119" y="827"/>
                    </a:lnTo>
                    <a:lnTo>
                      <a:pt x="1121" y="828"/>
                    </a:lnTo>
                    <a:lnTo>
                      <a:pt x="1122" y="832"/>
                    </a:lnTo>
                    <a:lnTo>
                      <a:pt x="1124" y="834"/>
                    </a:lnTo>
                    <a:lnTo>
                      <a:pt x="1126" y="835"/>
                    </a:lnTo>
                    <a:lnTo>
                      <a:pt x="1128" y="837"/>
                    </a:lnTo>
                    <a:lnTo>
                      <a:pt x="1129" y="841"/>
                    </a:lnTo>
                    <a:lnTo>
                      <a:pt x="1131" y="842"/>
                    </a:lnTo>
                    <a:lnTo>
                      <a:pt x="1133" y="844"/>
                    </a:lnTo>
                    <a:lnTo>
                      <a:pt x="1135" y="848"/>
                    </a:lnTo>
                    <a:lnTo>
                      <a:pt x="1136" y="849"/>
                    </a:lnTo>
                    <a:lnTo>
                      <a:pt x="1138" y="851"/>
                    </a:lnTo>
                    <a:lnTo>
                      <a:pt x="1140" y="855"/>
                    </a:lnTo>
                    <a:lnTo>
                      <a:pt x="1141" y="856"/>
                    </a:lnTo>
                    <a:lnTo>
                      <a:pt x="1143" y="858"/>
                    </a:lnTo>
                    <a:lnTo>
                      <a:pt x="1145" y="860"/>
                    </a:lnTo>
                    <a:lnTo>
                      <a:pt x="1147" y="863"/>
                    </a:lnTo>
                    <a:lnTo>
                      <a:pt x="1148" y="865"/>
                    </a:lnTo>
                    <a:lnTo>
                      <a:pt x="1150" y="867"/>
                    </a:lnTo>
                    <a:lnTo>
                      <a:pt x="1152" y="870"/>
                    </a:lnTo>
                    <a:lnTo>
                      <a:pt x="1154" y="872"/>
                    </a:lnTo>
                    <a:lnTo>
                      <a:pt x="1155" y="874"/>
                    </a:lnTo>
                    <a:lnTo>
                      <a:pt x="1157" y="877"/>
                    </a:lnTo>
                    <a:lnTo>
                      <a:pt x="1159" y="879"/>
                    </a:lnTo>
                    <a:lnTo>
                      <a:pt x="1161" y="881"/>
                    </a:lnTo>
                    <a:lnTo>
                      <a:pt x="1162" y="884"/>
                    </a:lnTo>
                    <a:lnTo>
                      <a:pt x="1164" y="886"/>
                    </a:lnTo>
                    <a:lnTo>
                      <a:pt x="1166" y="888"/>
                    </a:lnTo>
                    <a:lnTo>
                      <a:pt x="1166" y="891"/>
                    </a:lnTo>
                    <a:lnTo>
                      <a:pt x="1168" y="893"/>
                    </a:lnTo>
                    <a:lnTo>
                      <a:pt x="1169" y="896"/>
                    </a:lnTo>
                    <a:lnTo>
                      <a:pt x="1171" y="898"/>
                    </a:lnTo>
                    <a:lnTo>
                      <a:pt x="1173" y="900"/>
                    </a:lnTo>
                    <a:lnTo>
                      <a:pt x="1175" y="902"/>
                    </a:lnTo>
                    <a:lnTo>
                      <a:pt x="1176" y="905"/>
                    </a:lnTo>
                    <a:lnTo>
                      <a:pt x="1178" y="907"/>
                    </a:lnTo>
                    <a:lnTo>
                      <a:pt x="1178" y="910"/>
                    </a:lnTo>
                    <a:lnTo>
                      <a:pt x="1180" y="912"/>
                    </a:lnTo>
                    <a:lnTo>
                      <a:pt x="1182" y="914"/>
                    </a:lnTo>
                    <a:lnTo>
                      <a:pt x="1183" y="917"/>
                    </a:lnTo>
                    <a:lnTo>
                      <a:pt x="1185" y="919"/>
                    </a:lnTo>
                    <a:lnTo>
                      <a:pt x="1187" y="922"/>
                    </a:lnTo>
                    <a:lnTo>
                      <a:pt x="1187" y="924"/>
                    </a:lnTo>
                    <a:lnTo>
                      <a:pt x="1188" y="926"/>
                    </a:lnTo>
                    <a:lnTo>
                      <a:pt x="1190" y="929"/>
                    </a:lnTo>
                    <a:lnTo>
                      <a:pt x="1192" y="931"/>
                    </a:lnTo>
                    <a:lnTo>
                      <a:pt x="1192" y="935"/>
                    </a:lnTo>
                    <a:lnTo>
                      <a:pt x="1194" y="936"/>
                    </a:lnTo>
                    <a:lnTo>
                      <a:pt x="1195" y="938"/>
                    </a:lnTo>
                    <a:lnTo>
                      <a:pt x="1195" y="942"/>
                    </a:lnTo>
                    <a:lnTo>
                      <a:pt x="1197" y="943"/>
                    </a:lnTo>
                    <a:lnTo>
                      <a:pt x="1199" y="947"/>
                    </a:lnTo>
                    <a:lnTo>
                      <a:pt x="1199" y="949"/>
                    </a:lnTo>
                    <a:lnTo>
                      <a:pt x="1201" y="950"/>
                    </a:lnTo>
                    <a:lnTo>
                      <a:pt x="1202" y="954"/>
                    </a:lnTo>
                    <a:lnTo>
                      <a:pt x="1202" y="956"/>
                    </a:lnTo>
                    <a:lnTo>
                      <a:pt x="1204" y="959"/>
                    </a:lnTo>
                    <a:lnTo>
                      <a:pt x="1206" y="961"/>
                    </a:lnTo>
                    <a:lnTo>
                      <a:pt x="1206" y="964"/>
                    </a:lnTo>
                    <a:lnTo>
                      <a:pt x="1208" y="966"/>
                    </a:lnTo>
                    <a:lnTo>
                      <a:pt x="1208" y="970"/>
                    </a:lnTo>
                    <a:lnTo>
                      <a:pt x="1209" y="971"/>
                    </a:lnTo>
                    <a:lnTo>
                      <a:pt x="1209" y="973"/>
                    </a:lnTo>
                    <a:lnTo>
                      <a:pt x="1211" y="976"/>
                    </a:lnTo>
                    <a:lnTo>
                      <a:pt x="1211" y="978"/>
                    </a:lnTo>
                    <a:lnTo>
                      <a:pt x="1213" y="982"/>
                    </a:lnTo>
                    <a:lnTo>
                      <a:pt x="1213" y="983"/>
                    </a:lnTo>
                    <a:lnTo>
                      <a:pt x="1215" y="987"/>
                    </a:lnTo>
                    <a:lnTo>
                      <a:pt x="1215" y="989"/>
                    </a:lnTo>
                    <a:lnTo>
                      <a:pt x="1216" y="992"/>
                    </a:lnTo>
                    <a:lnTo>
                      <a:pt x="1216" y="994"/>
                    </a:lnTo>
                    <a:lnTo>
                      <a:pt x="1216" y="997"/>
                    </a:lnTo>
                    <a:lnTo>
                      <a:pt x="1218" y="999"/>
                    </a:lnTo>
                    <a:lnTo>
                      <a:pt x="1218" y="1003"/>
                    </a:lnTo>
                    <a:lnTo>
                      <a:pt x="1220" y="1004"/>
                    </a:lnTo>
                    <a:lnTo>
                      <a:pt x="1220" y="1008"/>
                    </a:lnTo>
                    <a:lnTo>
                      <a:pt x="1220" y="1010"/>
                    </a:lnTo>
                    <a:lnTo>
                      <a:pt x="1220" y="1013"/>
                    </a:lnTo>
                    <a:lnTo>
                      <a:pt x="1222" y="1015"/>
                    </a:lnTo>
                    <a:lnTo>
                      <a:pt x="1222" y="1018"/>
                    </a:lnTo>
                    <a:lnTo>
                      <a:pt x="1222" y="1020"/>
                    </a:lnTo>
                    <a:lnTo>
                      <a:pt x="1223" y="1023"/>
                    </a:lnTo>
                    <a:lnTo>
                      <a:pt x="1223" y="1025"/>
                    </a:lnTo>
                    <a:lnTo>
                      <a:pt x="1223" y="1029"/>
                    </a:lnTo>
                    <a:lnTo>
                      <a:pt x="1223" y="1030"/>
                    </a:lnTo>
                    <a:lnTo>
                      <a:pt x="1223" y="1034"/>
                    </a:lnTo>
                    <a:lnTo>
                      <a:pt x="1223" y="1036"/>
                    </a:lnTo>
                    <a:lnTo>
                      <a:pt x="1223" y="1039"/>
                    </a:lnTo>
                    <a:lnTo>
                      <a:pt x="1225" y="1041"/>
                    </a:lnTo>
                    <a:lnTo>
                      <a:pt x="1225" y="1046"/>
                    </a:lnTo>
                    <a:lnTo>
                      <a:pt x="1225" y="1050"/>
                    </a:lnTo>
                    <a:lnTo>
                      <a:pt x="1225" y="1055"/>
                    </a:lnTo>
                    <a:moveTo>
                      <a:pt x="1053" y="741"/>
                    </a:moveTo>
                    <a:lnTo>
                      <a:pt x="1056" y="743"/>
                    </a:lnTo>
                    <a:lnTo>
                      <a:pt x="1058" y="745"/>
                    </a:lnTo>
                    <a:lnTo>
                      <a:pt x="1061" y="747"/>
                    </a:lnTo>
                    <a:lnTo>
                      <a:pt x="1065" y="748"/>
                    </a:lnTo>
                    <a:lnTo>
                      <a:pt x="1067" y="750"/>
                    </a:lnTo>
                    <a:lnTo>
                      <a:pt x="1070" y="750"/>
                    </a:lnTo>
                    <a:lnTo>
                      <a:pt x="1074" y="752"/>
                    </a:lnTo>
                    <a:lnTo>
                      <a:pt x="1075" y="754"/>
                    </a:lnTo>
                    <a:lnTo>
                      <a:pt x="1079" y="755"/>
                    </a:lnTo>
                    <a:lnTo>
                      <a:pt x="1081" y="757"/>
                    </a:lnTo>
                    <a:lnTo>
                      <a:pt x="1084" y="759"/>
                    </a:lnTo>
                    <a:lnTo>
                      <a:pt x="1088" y="761"/>
                    </a:lnTo>
                    <a:lnTo>
                      <a:pt x="1089" y="762"/>
                    </a:lnTo>
                    <a:lnTo>
                      <a:pt x="1093" y="762"/>
                    </a:lnTo>
                    <a:lnTo>
                      <a:pt x="1096" y="764"/>
                    </a:lnTo>
                    <a:lnTo>
                      <a:pt x="1098" y="766"/>
                    </a:lnTo>
                    <a:lnTo>
                      <a:pt x="1101" y="768"/>
                    </a:lnTo>
                    <a:lnTo>
                      <a:pt x="1105" y="769"/>
                    </a:lnTo>
                    <a:lnTo>
                      <a:pt x="1107" y="769"/>
                    </a:lnTo>
                    <a:lnTo>
                      <a:pt x="1110" y="771"/>
                    </a:lnTo>
                    <a:lnTo>
                      <a:pt x="1114" y="773"/>
                    </a:lnTo>
                    <a:lnTo>
                      <a:pt x="1115" y="775"/>
                    </a:lnTo>
                    <a:lnTo>
                      <a:pt x="1119" y="776"/>
                    </a:lnTo>
                    <a:lnTo>
                      <a:pt x="1121" y="778"/>
                    </a:lnTo>
                    <a:lnTo>
                      <a:pt x="1124" y="780"/>
                    </a:lnTo>
                    <a:lnTo>
                      <a:pt x="1128" y="781"/>
                    </a:lnTo>
                    <a:lnTo>
                      <a:pt x="1129" y="781"/>
                    </a:lnTo>
                    <a:lnTo>
                      <a:pt x="1133" y="783"/>
                    </a:lnTo>
                    <a:lnTo>
                      <a:pt x="1136" y="785"/>
                    </a:lnTo>
                    <a:lnTo>
                      <a:pt x="1138" y="787"/>
                    </a:lnTo>
                    <a:lnTo>
                      <a:pt x="1141" y="788"/>
                    </a:lnTo>
                    <a:lnTo>
                      <a:pt x="1143" y="790"/>
                    </a:lnTo>
                    <a:lnTo>
                      <a:pt x="1147" y="792"/>
                    </a:lnTo>
                    <a:lnTo>
                      <a:pt x="1150" y="794"/>
                    </a:lnTo>
                    <a:lnTo>
                      <a:pt x="1152" y="795"/>
                    </a:lnTo>
                    <a:lnTo>
                      <a:pt x="1155" y="795"/>
                    </a:lnTo>
                    <a:lnTo>
                      <a:pt x="1157" y="797"/>
                    </a:lnTo>
                    <a:lnTo>
                      <a:pt x="1161" y="799"/>
                    </a:lnTo>
                    <a:lnTo>
                      <a:pt x="1164" y="801"/>
                    </a:lnTo>
                    <a:lnTo>
                      <a:pt x="1166" y="802"/>
                    </a:lnTo>
                    <a:lnTo>
                      <a:pt x="1169" y="804"/>
                    </a:lnTo>
                    <a:lnTo>
                      <a:pt x="1171" y="806"/>
                    </a:lnTo>
                    <a:lnTo>
                      <a:pt x="1175" y="808"/>
                    </a:lnTo>
                    <a:lnTo>
                      <a:pt x="1178" y="809"/>
                    </a:lnTo>
                    <a:lnTo>
                      <a:pt x="1180" y="809"/>
                    </a:lnTo>
                    <a:lnTo>
                      <a:pt x="1183" y="811"/>
                    </a:lnTo>
                    <a:lnTo>
                      <a:pt x="1185" y="813"/>
                    </a:lnTo>
                    <a:lnTo>
                      <a:pt x="1188" y="815"/>
                    </a:lnTo>
                    <a:lnTo>
                      <a:pt x="1190" y="816"/>
                    </a:lnTo>
                    <a:lnTo>
                      <a:pt x="1194" y="818"/>
                    </a:lnTo>
                    <a:lnTo>
                      <a:pt x="1197" y="820"/>
                    </a:lnTo>
                    <a:lnTo>
                      <a:pt x="1199" y="822"/>
                    </a:lnTo>
                    <a:lnTo>
                      <a:pt x="1202" y="823"/>
                    </a:lnTo>
                    <a:lnTo>
                      <a:pt x="1204" y="825"/>
                    </a:lnTo>
                    <a:lnTo>
                      <a:pt x="1208" y="827"/>
                    </a:lnTo>
                    <a:lnTo>
                      <a:pt x="1209" y="828"/>
                    </a:lnTo>
                    <a:lnTo>
                      <a:pt x="1213" y="830"/>
                    </a:lnTo>
                    <a:lnTo>
                      <a:pt x="1215" y="832"/>
                    </a:lnTo>
                    <a:lnTo>
                      <a:pt x="1218" y="834"/>
                    </a:lnTo>
                    <a:lnTo>
                      <a:pt x="1220" y="835"/>
                    </a:lnTo>
                    <a:lnTo>
                      <a:pt x="1223" y="837"/>
                    </a:lnTo>
                    <a:lnTo>
                      <a:pt x="1225" y="839"/>
                    </a:lnTo>
                    <a:lnTo>
                      <a:pt x="1229" y="841"/>
                    </a:lnTo>
                    <a:lnTo>
                      <a:pt x="1230" y="842"/>
                    </a:lnTo>
                    <a:lnTo>
                      <a:pt x="1234" y="844"/>
                    </a:lnTo>
                    <a:lnTo>
                      <a:pt x="1235" y="846"/>
                    </a:lnTo>
                    <a:lnTo>
                      <a:pt x="1239" y="848"/>
                    </a:lnTo>
                    <a:lnTo>
                      <a:pt x="1241" y="849"/>
                    </a:lnTo>
                    <a:lnTo>
                      <a:pt x="1244" y="851"/>
                    </a:lnTo>
                    <a:lnTo>
                      <a:pt x="1246" y="853"/>
                    </a:lnTo>
                    <a:lnTo>
                      <a:pt x="1249" y="855"/>
                    </a:lnTo>
                    <a:lnTo>
                      <a:pt x="1251" y="856"/>
                    </a:lnTo>
                    <a:lnTo>
                      <a:pt x="1253" y="858"/>
                    </a:lnTo>
                    <a:lnTo>
                      <a:pt x="1256" y="860"/>
                    </a:lnTo>
                    <a:lnTo>
                      <a:pt x="1258" y="862"/>
                    </a:lnTo>
                    <a:lnTo>
                      <a:pt x="1262" y="863"/>
                    </a:lnTo>
                    <a:lnTo>
                      <a:pt x="1263" y="865"/>
                    </a:lnTo>
                    <a:lnTo>
                      <a:pt x="1265" y="867"/>
                    </a:lnTo>
                    <a:lnTo>
                      <a:pt x="1269" y="869"/>
                    </a:lnTo>
                    <a:lnTo>
                      <a:pt x="1270" y="872"/>
                    </a:lnTo>
                    <a:lnTo>
                      <a:pt x="1274" y="874"/>
                    </a:lnTo>
                    <a:lnTo>
                      <a:pt x="1275" y="875"/>
                    </a:lnTo>
                    <a:lnTo>
                      <a:pt x="1277" y="877"/>
                    </a:lnTo>
                    <a:lnTo>
                      <a:pt x="1281" y="879"/>
                    </a:lnTo>
                    <a:lnTo>
                      <a:pt x="1282" y="881"/>
                    </a:lnTo>
                    <a:lnTo>
                      <a:pt x="1284" y="882"/>
                    </a:lnTo>
                    <a:lnTo>
                      <a:pt x="1288" y="884"/>
                    </a:lnTo>
                    <a:lnTo>
                      <a:pt x="1289" y="886"/>
                    </a:lnTo>
                    <a:lnTo>
                      <a:pt x="1291" y="889"/>
                    </a:lnTo>
                    <a:lnTo>
                      <a:pt x="1293" y="891"/>
                    </a:lnTo>
                    <a:lnTo>
                      <a:pt x="1296" y="893"/>
                    </a:lnTo>
                    <a:lnTo>
                      <a:pt x="1298" y="895"/>
                    </a:lnTo>
                    <a:lnTo>
                      <a:pt x="1300" y="896"/>
                    </a:lnTo>
                    <a:lnTo>
                      <a:pt x="1302" y="900"/>
                    </a:lnTo>
                    <a:lnTo>
                      <a:pt x="1305" y="902"/>
                    </a:lnTo>
                    <a:lnTo>
                      <a:pt x="1307" y="903"/>
                    </a:lnTo>
                    <a:lnTo>
                      <a:pt x="1309" y="905"/>
                    </a:lnTo>
                    <a:lnTo>
                      <a:pt x="1310" y="907"/>
                    </a:lnTo>
                    <a:lnTo>
                      <a:pt x="1312" y="910"/>
                    </a:lnTo>
                    <a:lnTo>
                      <a:pt x="1316" y="912"/>
                    </a:lnTo>
                    <a:lnTo>
                      <a:pt x="1317" y="914"/>
                    </a:lnTo>
                    <a:lnTo>
                      <a:pt x="1319" y="916"/>
                    </a:lnTo>
                    <a:lnTo>
                      <a:pt x="1321" y="917"/>
                    </a:lnTo>
                    <a:lnTo>
                      <a:pt x="1322" y="921"/>
                    </a:lnTo>
                    <a:lnTo>
                      <a:pt x="1324" y="922"/>
                    </a:lnTo>
                    <a:lnTo>
                      <a:pt x="1326" y="924"/>
                    </a:lnTo>
                    <a:lnTo>
                      <a:pt x="1328" y="928"/>
                    </a:lnTo>
                    <a:lnTo>
                      <a:pt x="1329" y="929"/>
                    </a:lnTo>
                    <a:lnTo>
                      <a:pt x="1331" y="931"/>
                    </a:lnTo>
                    <a:lnTo>
                      <a:pt x="1333" y="933"/>
                    </a:lnTo>
                    <a:lnTo>
                      <a:pt x="1335" y="936"/>
                    </a:lnTo>
                    <a:lnTo>
                      <a:pt x="1336" y="938"/>
                    </a:lnTo>
                    <a:lnTo>
                      <a:pt x="1338" y="940"/>
                    </a:lnTo>
                    <a:lnTo>
                      <a:pt x="1340" y="943"/>
                    </a:lnTo>
                    <a:lnTo>
                      <a:pt x="1342" y="945"/>
                    </a:lnTo>
                    <a:lnTo>
                      <a:pt x="1343" y="947"/>
                    </a:lnTo>
                    <a:lnTo>
                      <a:pt x="1345" y="950"/>
                    </a:lnTo>
                    <a:lnTo>
                      <a:pt x="1347" y="952"/>
                    </a:lnTo>
                    <a:lnTo>
                      <a:pt x="1349" y="954"/>
                    </a:lnTo>
                    <a:lnTo>
                      <a:pt x="1350" y="957"/>
                    </a:lnTo>
                    <a:lnTo>
                      <a:pt x="1352" y="959"/>
                    </a:lnTo>
                    <a:lnTo>
                      <a:pt x="1352" y="961"/>
                    </a:lnTo>
                    <a:lnTo>
                      <a:pt x="1354" y="964"/>
                    </a:lnTo>
                    <a:lnTo>
                      <a:pt x="1356" y="966"/>
                    </a:lnTo>
                    <a:lnTo>
                      <a:pt x="1357" y="970"/>
                    </a:lnTo>
                    <a:lnTo>
                      <a:pt x="1357" y="971"/>
                    </a:lnTo>
                    <a:lnTo>
                      <a:pt x="1359" y="975"/>
                    </a:lnTo>
                    <a:lnTo>
                      <a:pt x="1361" y="976"/>
                    </a:lnTo>
                    <a:lnTo>
                      <a:pt x="1361" y="978"/>
                    </a:lnTo>
                    <a:lnTo>
                      <a:pt x="1363" y="982"/>
                    </a:lnTo>
                    <a:lnTo>
                      <a:pt x="1364" y="983"/>
                    </a:lnTo>
                    <a:lnTo>
                      <a:pt x="1364" y="987"/>
                    </a:lnTo>
                    <a:lnTo>
                      <a:pt x="1366" y="989"/>
                    </a:lnTo>
                    <a:lnTo>
                      <a:pt x="1368" y="992"/>
                    </a:lnTo>
                    <a:lnTo>
                      <a:pt x="1368" y="994"/>
                    </a:lnTo>
                    <a:lnTo>
                      <a:pt x="1369" y="996"/>
                    </a:lnTo>
                    <a:lnTo>
                      <a:pt x="1369" y="999"/>
                    </a:lnTo>
                    <a:lnTo>
                      <a:pt x="1371" y="1001"/>
                    </a:lnTo>
                    <a:lnTo>
                      <a:pt x="1371" y="1004"/>
                    </a:lnTo>
                    <a:lnTo>
                      <a:pt x="1371" y="1006"/>
                    </a:lnTo>
                    <a:lnTo>
                      <a:pt x="1373" y="1010"/>
                    </a:lnTo>
                    <a:lnTo>
                      <a:pt x="1373" y="1011"/>
                    </a:lnTo>
                    <a:lnTo>
                      <a:pt x="1375" y="1015"/>
                    </a:lnTo>
                    <a:lnTo>
                      <a:pt x="1375" y="1017"/>
                    </a:lnTo>
                    <a:lnTo>
                      <a:pt x="1375" y="1020"/>
                    </a:lnTo>
                    <a:lnTo>
                      <a:pt x="1376" y="1022"/>
                    </a:lnTo>
                    <a:lnTo>
                      <a:pt x="1376" y="1025"/>
                    </a:lnTo>
                    <a:lnTo>
                      <a:pt x="1376" y="1027"/>
                    </a:lnTo>
                    <a:lnTo>
                      <a:pt x="1376" y="1030"/>
                    </a:lnTo>
                    <a:lnTo>
                      <a:pt x="1378" y="1032"/>
                    </a:lnTo>
                    <a:lnTo>
                      <a:pt x="1378" y="1036"/>
                    </a:lnTo>
                    <a:lnTo>
                      <a:pt x="1378" y="1037"/>
                    </a:lnTo>
                    <a:lnTo>
                      <a:pt x="1378" y="1041"/>
                    </a:lnTo>
                    <a:lnTo>
                      <a:pt x="1378" y="1043"/>
                    </a:lnTo>
                    <a:lnTo>
                      <a:pt x="1378" y="1046"/>
                    </a:lnTo>
                    <a:lnTo>
                      <a:pt x="1378" y="1053"/>
                    </a:lnTo>
                    <a:moveTo>
                      <a:pt x="1054" y="738"/>
                    </a:moveTo>
                    <a:lnTo>
                      <a:pt x="1058" y="740"/>
                    </a:lnTo>
                    <a:lnTo>
                      <a:pt x="1061" y="740"/>
                    </a:lnTo>
                    <a:lnTo>
                      <a:pt x="1065" y="740"/>
                    </a:lnTo>
                    <a:lnTo>
                      <a:pt x="1068" y="740"/>
                    </a:lnTo>
                    <a:lnTo>
                      <a:pt x="1072" y="741"/>
                    </a:lnTo>
                    <a:lnTo>
                      <a:pt x="1075" y="741"/>
                    </a:lnTo>
                    <a:lnTo>
                      <a:pt x="1079" y="741"/>
                    </a:lnTo>
                    <a:lnTo>
                      <a:pt x="1082" y="743"/>
                    </a:lnTo>
                    <a:lnTo>
                      <a:pt x="1086" y="743"/>
                    </a:lnTo>
                    <a:lnTo>
                      <a:pt x="1089" y="743"/>
                    </a:lnTo>
                    <a:lnTo>
                      <a:pt x="1093" y="745"/>
                    </a:lnTo>
                    <a:lnTo>
                      <a:pt x="1096" y="745"/>
                    </a:lnTo>
                    <a:lnTo>
                      <a:pt x="1098" y="745"/>
                    </a:lnTo>
                    <a:lnTo>
                      <a:pt x="1101" y="745"/>
                    </a:lnTo>
                    <a:lnTo>
                      <a:pt x="1105" y="747"/>
                    </a:lnTo>
                    <a:lnTo>
                      <a:pt x="1108" y="747"/>
                    </a:lnTo>
                    <a:lnTo>
                      <a:pt x="1112" y="747"/>
                    </a:lnTo>
                    <a:lnTo>
                      <a:pt x="1115" y="748"/>
                    </a:lnTo>
                    <a:lnTo>
                      <a:pt x="1119" y="748"/>
                    </a:lnTo>
                    <a:lnTo>
                      <a:pt x="1122" y="748"/>
                    </a:lnTo>
                    <a:lnTo>
                      <a:pt x="1126" y="750"/>
                    </a:lnTo>
                    <a:lnTo>
                      <a:pt x="1129" y="750"/>
                    </a:lnTo>
                    <a:lnTo>
                      <a:pt x="1133" y="750"/>
                    </a:lnTo>
                    <a:lnTo>
                      <a:pt x="1136" y="752"/>
                    </a:lnTo>
                    <a:lnTo>
                      <a:pt x="1140" y="752"/>
                    </a:lnTo>
                    <a:lnTo>
                      <a:pt x="1143" y="752"/>
                    </a:lnTo>
                    <a:lnTo>
                      <a:pt x="1147" y="754"/>
                    </a:lnTo>
                    <a:lnTo>
                      <a:pt x="1150" y="754"/>
                    </a:lnTo>
                    <a:lnTo>
                      <a:pt x="1152" y="754"/>
                    </a:lnTo>
                    <a:lnTo>
                      <a:pt x="1155" y="755"/>
                    </a:lnTo>
                    <a:lnTo>
                      <a:pt x="1159" y="755"/>
                    </a:lnTo>
                    <a:lnTo>
                      <a:pt x="1162" y="755"/>
                    </a:lnTo>
                    <a:lnTo>
                      <a:pt x="1166" y="757"/>
                    </a:lnTo>
                    <a:lnTo>
                      <a:pt x="1169" y="757"/>
                    </a:lnTo>
                    <a:lnTo>
                      <a:pt x="1173" y="757"/>
                    </a:lnTo>
                    <a:lnTo>
                      <a:pt x="1176" y="759"/>
                    </a:lnTo>
                    <a:lnTo>
                      <a:pt x="1180" y="759"/>
                    </a:lnTo>
                    <a:lnTo>
                      <a:pt x="1183" y="759"/>
                    </a:lnTo>
                    <a:lnTo>
                      <a:pt x="1187" y="761"/>
                    </a:lnTo>
                    <a:lnTo>
                      <a:pt x="1190" y="761"/>
                    </a:lnTo>
                    <a:lnTo>
                      <a:pt x="1194" y="762"/>
                    </a:lnTo>
                    <a:lnTo>
                      <a:pt x="1197" y="762"/>
                    </a:lnTo>
                    <a:lnTo>
                      <a:pt x="1201" y="762"/>
                    </a:lnTo>
                    <a:lnTo>
                      <a:pt x="1202" y="764"/>
                    </a:lnTo>
                    <a:lnTo>
                      <a:pt x="1206" y="764"/>
                    </a:lnTo>
                    <a:lnTo>
                      <a:pt x="1209" y="764"/>
                    </a:lnTo>
                    <a:lnTo>
                      <a:pt x="1213" y="766"/>
                    </a:lnTo>
                    <a:lnTo>
                      <a:pt x="1216" y="766"/>
                    </a:lnTo>
                    <a:lnTo>
                      <a:pt x="1220" y="768"/>
                    </a:lnTo>
                    <a:lnTo>
                      <a:pt x="1223" y="768"/>
                    </a:lnTo>
                    <a:lnTo>
                      <a:pt x="1227" y="768"/>
                    </a:lnTo>
                    <a:lnTo>
                      <a:pt x="1230" y="769"/>
                    </a:lnTo>
                    <a:lnTo>
                      <a:pt x="1234" y="769"/>
                    </a:lnTo>
                    <a:lnTo>
                      <a:pt x="1237" y="771"/>
                    </a:lnTo>
                    <a:lnTo>
                      <a:pt x="1239" y="771"/>
                    </a:lnTo>
                    <a:lnTo>
                      <a:pt x="1242" y="773"/>
                    </a:lnTo>
                    <a:lnTo>
                      <a:pt x="1246" y="773"/>
                    </a:lnTo>
                    <a:lnTo>
                      <a:pt x="1249" y="773"/>
                    </a:lnTo>
                    <a:lnTo>
                      <a:pt x="1253" y="775"/>
                    </a:lnTo>
                    <a:lnTo>
                      <a:pt x="1256" y="775"/>
                    </a:lnTo>
                    <a:lnTo>
                      <a:pt x="1260" y="776"/>
                    </a:lnTo>
                    <a:lnTo>
                      <a:pt x="1263" y="776"/>
                    </a:lnTo>
                    <a:lnTo>
                      <a:pt x="1267" y="778"/>
                    </a:lnTo>
                    <a:lnTo>
                      <a:pt x="1270" y="778"/>
                    </a:lnTo>
                    <a:lnTo>
                      <a:pt x="1272" y="780"/>
                    </a:lnTo>
                    <a:lnTo>
                      <a:pt x="1275" y="780"/>
                    </a:lnTo>
                    <a:lnTo>
                      <a:pt x="1279" y="781"/>
                    </a:lnTo>
                    <a:lnTo>
                      <a:pt x="1282" y="781"/>
                    </a:lnTo>
                    <a:lnTo>
                      <a:pt x="1286" y="783"/>
                    </a:lnTo>
                    <a:lnTo>
                      <a:pt x="1289" y="783"/>
                    </a:lnTo>
                    <a:lnTo>
                      <a:pt x="1293" y="785"/>
                    </a:lnTo>
                    <a:lnTo>
                      <a:pt x="1296" y="785"/>
                    </a:lnTo>
                    <a:lnTo>
                      <a:pt x="1298" y="787"/>
                    </a:lnTo>
                    <a:lnTo>
                      <a:pt x="1302" y="787"/>
                    </a:lnTo>
                    <a:lnTo>
                      <a:pt x="1305" y="788"/>
                    </a:lnTo>
                    <a:lnTo>
                      <a:pt x="1309" y="788"/>
                    </a:lnTo>
                    <a:lnTo>
                      <a:pt x="1312" y="790"/>
                    </a:lnTo>
                    <a:lnTo>
                      <a:pt x="1316" y="790"/>
                    </a:lnTo>
                    <a:lnTo>
                      <a:pt x="1319" y="792"/>
                    </a:lnTo>
                    <a:lnTo>
                      <a:pt x="1321" y="792"/>
                    </a:lnTo>
                    <a:lnTo>
                      <a:pt x="1324" y="794"/>
                    </a:lnTo>
                    <a:lnTo>
                      <a:pt x="1328" y="795"/>
                    </a:lnTo>
                    <a:lnTo>
                      <a:pt x="1331" y="795"/>
                    </a:lnTo>
                    <a:lnTo>
                      <a:pt x="1335" y="797"/>
                    </a:lnTo>
                    <a:lnTo>
                      <a:pt x="1338" y="799"/>
                    </a:lnTo>
                    <a:lnTo>
                      <a:pt x="1340" y="799"/>
                    </a:lnTo>
                    <a:lnTo>
                      <a:pt x="1343" y="801"/>
                    </a:lnTo>
                    <a:lnTo>
                      <a:pt x="1347" y="801"/>
                    </a:lnTo>
                    <a:lnTo>
                      <a:pt x="1350" y="802"/>
                    </a:lnTo>
                    <a:lnTo>
                      <a:pt x="1354" y="804"/>
                    </a:lnTo>
                    <a:lnTo>
                      <a:pt x="1356" y="804"/>
                    </a:lnTo>
                    <a:lnTo>
                      <a:pt x="1359" y="806"/>
                    </a:lnTo>
                    <a:lnTo>
                      <a:pt x="1363" y="806"/>
                    </a:lnTo>
                    <a:lnTo>
                      <a:pt x="1366" y="808"/>
                    </a:lnTo>
                    <a:lnTo>
                      <a:pt x="1369" y="809"/>
                    </a:lnTo>
                    <a:lnTo>
                      <a:pt x="1371" y="809"/>
                    </a:lnTo>
                    <a:lnTo>
                      <a:pt x="1375" y="811"/>
                    </a:lnTo>
                    <a:lnTo>
                      <a:pt x="1378" y="813"/>
                    </a:lnTo>
                    <a:lnTo>
                      <a:pt x="1382" y="815"/>
                    </a:lnTo>
                    <a:lnTo>
                      <a:pt x="1383" y="815"/>
                    </a:lnTo>
                    <a:lnTo>
                      <a:pt x="1387" y="816"/>
                    </a:lnTo>
                    <a:lnTo>
                      <a:pt x="1390" y="818"/>
                    </a:lnTo>
                    <a:lnTo>
                      <a:pt x="1394" y="818"/>
                    </a:lnTo>
                    <a:lnTo>
                      <a:pt x="1396" y="820"/>
                    </a:lnTo>
                    <a:lnTo>
                      <a:pt x="1399" y="822"/>
                    </a:lnTo>
                    <a:lnTo>
                      <a:pt x="1403" y="823"/>
                    </a:lnTo>
                    <a:lnTo>
                      <a:pt x="1406" y="823"/>
                    </a:lnTo>
                    <a:lnTo>
                      <a:pt x="1408" y="825"/>
                    </a:lnTo>
                    <a:lnTo>
                      <a:pt x="1411" y="827"/>
                    </a:lnTo>
                    <a:lnTo>
                      <a:pt x="1415" y="828"/>
                    </a:lnTo>
                    <a:lnTo>
                      <a:pt x="1416" y="828"/>
                    </a:lnTo>
                    <a:lnTo>
                      <a:pt x="1420" y="830"/>
                    </a:lnTo>
                    <a:lnTo>
                      <a:pt x="1423" y="832"/>
                    </a:lnTo>
                    <a:lnTo>
                      <a:pt x="1425" y="834"/>
                    </a:lnTo>
                    <a:lnTo>
                      <a:pt x="1429" y="835"/>
                    </a:lnTo>
                    <a:lnTo>
                      <a:pt x="1432" y="837"/>
                    </a:lnTo>
                    <a:lnTo>
                      <a:pt x="1434" y="837"/>
                    </a:lnTo>
                    <a:lnTo>
                      <a:pt x="1437" y="839"/>
                    </a:lnTo>
                    <a:lnTo>
                      <a:pt x="1441" y="841"/>
                    </a:lnTo>
                    <a:lnTo>
                      <a:pt x="1443" y="842"/>
                    </a:lnTo>
                    <a:lnTo>
                      <a:pt x="1446" y="844"/>
                    </a:lnTo>
                    <a:lnTo>
                      <a:pt x="1448" y="846"/>
                    </a:lnTo>
                    <a:lnTo>
                      <a:pt x="1451" y="848"/>
                    </a:lnTo>
                    <a:lnTo>
                      <a:pt x="1455" y="849"/>
                    </a:lnTo>
                    <a:lnTo>
                      <a:pt x="1457" y="851"/>
                    </a:lnTo>
                    <a:lnTo>
                      <a:pt x="1460" y="851"/>
                    </a:lnTo>
                    <a:lnTo>
                      <a:pt x="1462" y="853"/>
                    </a:lnTo>
                    <a:lnTo>
                      <a:pt x="1465" y="855"/>
                    </a:lnTo>
                    <a:lnTo>
                      <a:pt x="1467" y="856"/>
                    </a:lnTo>
                    <a:lnTo>
                      <a:pt x="1470" y="858"/>
                    </a:lnTo>
                    <a:lnTo>
                      <a:pt x="1472" y="860"/>
                    </a:lnTo>
                    <a:lnTo>
                      <a:pt x="1476" y="862"/>
                    </a:lnTo>
                    <a:lnTo>
                      <a:pt x="1479" y="863"/>
                    </a:lnTo>
                    <a:lnTo>
                      <a:pt x="1481" y="865"/>
                    </a:lnTo>
                    <a:lnTo>
                      <a:pt x="1484" y="867"/>
                    </a:lnTo>
                    <a:lnTo>
                      <a:pt x="1486" y="869"/>
                    </a:lnTo>
                    <a:lnTo>
                      <a:pt x="1488" y="870"/>
                    </a:lnTo>
                    <a:lnTo>
                      <a:pt x="1491" y="872"/>
                    </a:lnTo>
                    <a:lnTo>
                      <a:pt x="1493" y="874"/>
                    </a:lnTo>
                    <a:lnTo>
                      <a:pt x="1497" y="875"/>
                    </a:lnTo>
                    <a:lnTo>
                      <a:pt x="1498" y="877"/>
                    </a:lnTo>
                    <a:lnTo>
                      <a:pt x="1502" y="879"/>
                    </a:lnTo>
                    <a:lnTo>
                      <a:pt x="1503" y="882"/>
                    </a:lnTo>
                    <a:lnTo>
                      <a:pt x="1505" y="884"/>
                    </a:lnTo>
                    <a:lnTo>
                      <a:pt x="1509" y="886"/>
                    </a:lnTo>
                    <a:lnTo>
                      <a:pt x="1510" y="888"/>
                    </a:lnTo>
                    <a:lnTo>
                      <a:pt x="1512" y="889"/>
                    </a:lnTo>
                    <a:lnTo>
                      <a:pt x="1516" y="891"/>
                    </a:lnTo>
                    <a:lnTo>
                      <a:pt x="1517" y="893"/>
                    </a:lnTo>
                    <a:lnTo>
                      <a:pt x="1519" y="895"/>
                    </a:lnTo>
                    <a:lnTo>
                      <a:pt x="1523" y="896"/>
                    </a:lnTo>
                    <a:lnTo>
                      <a:pt x="1524" y="900"/>
                    </a:lnTo>
                    <a:lnTo>
                      <a:pt x="1526" y="902"/>
                    </a:lnTo>
                    <a:lnTo>
                      <a:pt x="1530" y="903"/>
                    </a:lnTo>
                    <a:lnTo>
                      <a:pt x="1531" y="905"/>
                    </a:lnTo>
                    <a:lnTo>
                      <a:pt x="1533" y="907"/>
                    </a:lnTo>
                    <a:lnTo>
                      <a:pt x="1535" y="910"/>
                    </a:lnTo>
                    <a:lnTo>
                      <a:pt x="1538" y="912"/>
                    </a:lnTo>
                    <a:lnTo>
                      <a:pt x="1540" y="914"/>
                    </a:lnTo>
                    <a:lnTo>
                      <a:pt x="1542" y="916"/>
                    </a:lnTo>
                    <a:lnTo>
                      <a:pt x="1544" y="917"/>
                    </a:lnTo>
                    <a:lnTo>
                      <a:pt x="1545" y="921"/>
                    </a:lnTo>
                    <a:lnTo>
                      <a:pt x="1547" y="922"/>
                    </a:lnTo>
                    <a:lnTo>
                      <a:pt x="1549" y="924"/>
                    </a:lnTo>
                    <a:lnTo>
                      <a:pt x="1550" y="926"/>
                    </a:lnTo>
                    <a:lnTo>
                      <a:pt x="1552" y="929"/>
                    </a:lnTo>
                    <a:lnTo>
                      <a:pt x="1554" y="931"/>
                    </a:lnTo>
                    <a:lnTo>
                      <a:pt x="1557" y="933"/>
                    </a:lnTo>
                    <a:lnTo>
                      <a:pt x="1559" y="936"/>
                    </a:lnTo>
                    <a:lnTo>
                      <a:pt x="1561" y="938"/>
                    </a:lnTo>
                    <a:lnTo>
                      <a:pt x="1563" y="940"/>
                    </a:lnTo>
                    <a:lnTo>
                      <a:pt x="1563" y="942"/>
                    </a:lnTo>
                    <a:lnTo>
                      <a:pt x="1566" y="945"/>
                    </a:lnTo>
                    <a:lnTo>
                      <a:pt x="1566" y="947"/>
                    </a:lnTo>
                    <a:lnTo>
                      <a:pt x="1568" y="950"/>
                    </a:lnTo>
                    <a:lnTo>
                      <a:pt x="1570" y="952"/>
                    </a:lnTo>
                    <a:lnTo>
                      <a:pt x="1571" y="954"/>
                    </a:lnTo>
                    <a:lnTo>
                      <a:pt x="1573" y="957"/>
                    </a:lnTo>
                    <a:lnTo>
                      <a:pt x="1575" y="959"/>
                    </a:lnTo>
                    <a:lnTo>
                      <a:pt x="1577" y="961"/>
                    </a:lnTo>
                    <a:lnTo>
                      <a:pt x="1577" y="964"/>
                    </a:lnTo>
                    <a:lnTo>
                      <a:pt x="1578" y="966"/>
                    </a:lnTo>
                    <a:lnTo>
                      <a:pt x="1580" y="970"/>
                    </a:lnTo>
                    <a:lnTo>
                      <a:pt x="1582" y="971"/>
                    </a:lnTo>
                    <a:lnTo>
                      <a:pt x="1582" y="973"/>
                    </a:lnTo>
                    <a:lnTo>
                      <a:pt x="1584" y="976"/>
                    </a:lnTo>
                    <a:lnTo>
                      <a:pt x="1585" y="978"/>
                    </a:lnTo>
                    <a:lnTo>
                      <a:pt x="1585" y="982"/>
                    </a:lnTo>
                    <a:lnTo>
                      <a:pt x="1587" y="983"/>
                    </a:lnTo>
                    <a:lnTo>
                      <a:pt x="1589" y="987"/>
                    </a:lnTo>
                    <a:lnTo>
                      <a:pt x="1589" y="989"/>
                    </a:lnTo>
                    <a:lnTo>
                      <a:pt x="1591" y="990"/>
                    </a:lnTo>
                    <a:lnTo>
                      <a:pt x="1591" y="994"/>
                    </a:lnTo>
                    <a:lnTo>
                      <a:pt x="1592" y="996"/>
                    </a:lnTo>
                    <a:lnTo>
                      <a:pt x="1592" y="999"/>
                    </a:lnTo>
                    <a:lnTo>
                      <a:pt x="1594" y="1001"/>
                    </a:lnTo>
                    <a:lnTo>
                      <a:pt x="1594" y="1004"/>
                    </a:lnTo>
                    <a:lnTo>
                      <a:pt x="1596" y="1006"/>
                    </a:lnTo>
                    <a:lnTo>
                      <a:pt x="1596" y="1010"/>
                    </a:lnTo>
                    <a:lnTo>
                      <a:pt x="1597" y="1011"/>
                    </a:lnTo>
                    <a:lnTo>
                      <a:pt x="1597" y="1015"/>
                    </a:lnTo>
                    <a:lnTo>
                      <a:pt x="1597" y="1017"/>
                    </a:lnTo>
                    <a:lnTo>
                      <a:pt x="1599" y="1020"/>
                    </a:lnTo>
                    <a:lnTo>
                      <a:pt x="1599" y="1022"/>
                    </a:lnTo>
                    <a:lnTo>
                      <a:pt x="1599" y="1025"/>
                    </a:lnTo>
                    <a:lnTo>
                      <a:pt x="1599" y="1027"/>
                    </a:lnTo>
                    <a:lnTo>
                      <a:pt x="1601" y="1030"/>
                    </a:lnTo>
                    <a:lnTo>
                      <a:pt x="1601" y="1032"/>
                    </a:lnTo>
                    <a:lnTo>
                      <a:pt x="1601" y="1036"/>
                    </a:lnTo>
                    <a:lnTo>
                      <a:pt x="1601" y="1037"/>
                    </a:lnTo>
                    <a:lnTo>
                      <a:pt x="1601" y="1039"/>
                    </a:lnTo>
                    <a:lnTo>
                      <a:pt x="1601" y="1043"/>
                    </a:lnTo>
                    <a:lnTo>
                      <a:pt x="1603" y="1046"/>
                    </a:lnTo>
                    <a:lnTo>
                      <a:pt x="1603" y="1053"/>
                    </a:lnTo>
                    <a:moveTo>
                      <a:pt x="1190" y="715"/>
                    </a:moveTo>
                    <a:lnTo>
                      <a:pt x="1194" y="715"/>
                    </a:lnTo>
                    <a:lnTo>
                      <a:pt x="1197" y="715"/>
                    </a:lnTo>
                    <a:lnTo>
                      <a:pt x="1201" y="714"/>
                    </a:lnTo>
                    <a:lnTo>
                      <a:pt x="1204" y="714"/>
                    </a:lnTo>
                    <a:lnTo>
                      <a:pt x="1208" y="714"/>
                    </a:lnTo>
                    <a:lnTo>
                      <a:pt x="1211" y="714"/>
                    </a:lnTo>
                    <a:lnTo>
                      <a:pt x="1215" y="714"/>
                    </a:lnTo>
                    <a:lnTo>
                      <a:pt x="1218" y="712"/>
                    </a:lnTo>
                    <a:lnTo>
                      <a:pt x="1222" y="712"/>
                    </a:lnTo>
                    <a:lnTo>
                      <a:pt x="1225" y="712"/>
                    </a:lnTo>
                    <a:lnTo>
                      <a:pt x="1229" y="712"/>
                    </a:lnTo>
                    <a:lnTo>
                      <a:pt x="1232" y="710"/>
                    </a:lnTo>
                    <a:lnTo>
                      <a:pt x="1235" y="710"/>
                    </a:lnTo>
                    <a:lnTo>
                      <a:pt x="1239" y="710"/>
                    </a:lnTo>
                    <a:lnTo>
                      <a:pt x="1242" y="710"/>
                    </a:lnTo>
                    <a:lnTo>
                      <a:pt x="1246" y="710"/>
                    </a:lnTo>
                    <a:lnTo>
                      <a:pt x="1249" y="710"/>
                    </a:lnTo>
                    <a:lnTo>
                      <a:pt x="1253" y="708"/>
                    </a:lnTo>
                    <a:lnTo>
                      <a:pt x="1256" y="708"/>
                    </a:lnTo>
                    <a:lnTo>
                      <a:pt x="1260" y="708"/>
                    </a:lnTo>
                    <a:lnTo>
                      <a:pt x="1263" y="708"/>
                    </a:lnTo>
                    <a:lnTo>
                      <a:pt x="1267" y="708"/>
                    </a:lnTo>
                    <a:lnTo>
                      <a:pt x="1270" y="708"/>
                    </a:lnTo>
                    <a:lnTo>
                      <a:pt x="1274" y="707"/>
                    </a:lnTo>
                    <a:lnTo>
                      <a:pt x="1275" y="707"/>
                    </a:lnTo>
                    <a:lnTo>
                      <a:pt x="1279" y="707"/>
                    </a:lnTo>
                    <a:lnTo>
                      <a:pt x="1282" y="707"/>
                    </a:lnTo>
                    <a:lnTo>
                      <a:pt x="1286" y="707"/>
                    </a:lnTo>
                    <a:lnTo>
                      <a:pt x="1289" y="707"/>
                    </a:lnTo>
                    <a:lnTo>
                      <a:pt x="1293" y="705"/>
                    </a:lnTo>
                    <a:lnTo>
                      <a:pt x="1296" y="705"/>
                    </a:lnTo>
                    <a:lnTo>
                      <a:pt x="1300" y="705"/>
                    </a:lnTo>
                    <a:lnTo>
                      <a:pt x="1303" y="705"/>
                    </a:lnTo>
                    <a:lnTo>
                      <a:pt x="1307" y="705"/>
                    </a:lnTo>
                    <a:lnTo>
                      <a:pt x="1310" y="705"/>
                    </a:lnTo>
                    <a:lnTo>
                      <a:pt x="1314" y="705"/>
                    </a:lnTo>
                    <a:lnTo>
                      <a:pt x="1317" y="705"/>
                    </a:lnTo>
                    <a:lnTo>
                      <a:pt x="1321" y="705"/>
                    </a:lnTo>
                    <a:lnTo>
                      <a:pt x="1324" y="705"/>
                    </a:lnTo>
                    <a:lnTo>
                      <a:pt x="1328" y="703"/>
                    </a:lnTo>
                    <a:lnTo>
                      <a:pt x="1331" y="703"/>
                    </a:lnTo>
                    <a:lnTo>
                      <a:pt x="1335" y="703"/>
                    </a:lnTo>
                    <a:lnTo>
                      <a:pt x="1338" y="703"/>
                    </a:lnTo>
                    <a:lnTo>
                      <a:pt x="1342" y="703"/>
                    </a:lnTo>
                    <a:lnTo>
                      <a:pt x="1345" y="703"/>
                    </a:lnTo>
                    <a:lnTo>
                      <a:pt x="1349" y="703"/>
                    </a:lnTo>
                    <a:lnTo>
                      <a:pt x="1352" y="703"/>
                    </a:lnTo>
                    <a:lnTo>
                      <a:pt x="1356" y="703"/>
                    </a:lnTo>
                    <a:lnTo>
                      <a:pt x="1359" y="703"/>
                    </a:lnTo>
                    <a:lnTo>
                      <a:pt x="1363" y="703"/>
                    </a:lnTo>
                    <a:lnTo>
                      <a:pt x="1366" y="703"/>
                    </a:lnTo>
                    <a:lnTo>
                      <a:pt x="1369" y="703"/>
                    </a:lnTo>
                    <a:lnTo>
                      <a:pt x="1373" y="703"/>
                    </a:lnTo>
                    <a:lnTo>
                      <a:pt x="1376" y="703"/>
                    </a:lnTo>
                    <a:lnTo>
                      <a:pt x="1380" y="703"/>
                    </a:lnTo>
                    <a:lnTo>
                      <a:pt x="1383" y="703"/>
                    </a:lnTo>
                    <a:lnTo>
                      <a:pt x="1387" y="703"/>
                    </a:lnTo>
                    <a:lnTo>
                      <a:pt x="1390" y="703"/>
                    </a:lnTo>
                    <a:lnTo>
                      <a:pt x="1394" y="703"/>
                    </a:lnTo>
                    <a:lnTo>
                      <a:pt x="1397" y="703"/>
                    </a:lnTo>
                    <a:lnTo>
                      <a:pt x="1401" y="703"/>
                    </a:lnTo>
                    <a:lnTo>
                      <a:pt x="1404" y="703"/>
                    </a:lnTo>
                    <a:lnTo>
                      <a:pt x="1408" y="703"/>
                    </a:lnTo>
                    <a:lnTo>
                      <a:pt x="1411" y="703"/>
                    </a:lnTo>
                    <a:lnTo>
                      <a:pt x="1415" y="703"/>
                    </a:lnTo>
                    <a:lnTo>
                      <a:pt x="1418" y="703"/>
                    </a:lnTo>
                    <a:lnTo>
                      <a:pt x="1422" y="703"/>
                    </a:lnTo>
                    <a:lnTo>
                      <a:pt x="1425" y="703"/>
                    </a:lnTo>
                    <a:lnTo>
                      <a:pt x="1429" y="703"/>
                    </a:lnTo>
                    <a:lnTo>
                      <a:pt x="1432" y="703"/>
                    </a:lnTo>
                    <a:lnTo>
                      <a:pt x="1436" y="703"/>
                    </a:lnTo>
                    <a:lnTo>
                      <a:pt x="1439" y="703"/>
                    </a:lnTo>
                    <a:lnTo>
                      <a:pt x="1443" y="703"/>
                    </a:lnTo>
                    <a:lnTo>
                      <a:pt x="1446" y="705"/>
                    </a:lnTo>
                    <a:lnTo>
                      <a:pt x="1450" y="705"/>
                    </a:lnTo>
                    <a:lnTo>
                      <a:pt x="1453" y="705"/>
                    </a:lnTo>
                    <a:lnTo>
                      <a:pt x="1457" y="705"/>
                    </a:lnTo>
                    <a:lnTo>
                      <a:pt x="1460" y="705"/>
                    </a:lnTo>
                    <a:lnTo>
                      <a:pt x="1463" y="705"/>
                    </a:lnTo>
                    <a:lnTo>
                      <a:pt x="1467" y="705"/>
                    </a:lnTo>
                    <a:lnTo>
                      <a:pt x="1470" y="705"/>
                    </a:lnTo>
                    <a:lnTo>
                      <a:pt x="1472" y="705"/>
                    </a:lnTo>
                    <a:lnTo>
                      <a:pt x="1476" y="707"/>
                    </a:lnTo>
                    <a:lnTo>
                      <a:pt x="1479" y="707"/>
                    </a:lnTo>
                    <a:lnTo>
                      <a:pt x="1484" y="707"/>
                    </a:lnTo>
                    <a:lnTo>
                      <a:pt x="1488" y="707"/>
                    </a:lnTo>
                    <a:lnTo>
                      <a:pt x="1490" y="707"/>
                    </a:lnTo>
                    <a:lnTo>
                      <a:pt x="1493" y="707"/>
                    </a:lnTo>
                    <a:lnTo>
                      <a:pt x="1497" y="708"/>
                    </a:lnTo>
                    <a:lnTo>
                      <a:pt x="1500" y="708"/>
                    </a:lnTo>
                    <a:lnTo>
                      <a:pt x="1503" y="708"/>
                    </a:lnTo>
                    <a:lnTo>
                      <a:pt x="1507" y="708"/>
                    </a:lnTo>
                    <a:lnTo>
                      <a:pt x="1510" y="708"/>
                    </a:lnTo>
                    <a:lnTo>
                      <a:pt x="1514" y="710"/>
                    </a:lnTo>
                    <a:lnTo>
                      <a:pt x="1517" y="710"/>
                    </a:lnTo>
                    <a:lnTo>
                      <a:pt x="1521" y="710"/>
                    </a:lnTo>
                    <a:lnTo>
                      <a:pt x="1524" y="710"/>
                    </a:lnTo>
                    <a:lnTo>
                      <a:pt x="1528" y="710"/>
                    </a:lnTo>
                    <a:lnTo>
                      <a:pt x="1531" y="712"/>
                    </a:lnTo>
                    <a:lnTo>
                      <a:pt x="1535" y="712"/>
                    </a:lnTo>
                    <a:lnTo>
                      <a:pt x="1538" y="712"/>
                    </a:lnTo>
                    <a:lnTo>
                      <a:pt x="1542" y="712"/>
                    </a:lnTo>
                    <a:lnTo>
                      <a:pt x="1545" y="714"/>
                    </a:lnTo>
                    <a:lnTo>
                      <a:pt x="1549" y="714"/>
                    </a:lnTo>
                    <a:lnTo>
                      <a:pt x="1552" y="714"/>
                    </a:lnTo>
                    <a:lnTo>
                      <a:pt x="1556" y="715"/>
                    </a:lnTo>
                    <a:lnTo>
                      <a:pt x="1559" y="715"/>
                    </a:lnTo>
                    <a:lnTo>
                      <a:pt x="1563" y="715"/>
                    </a:lnTo>
                    <a:lnTo>
                      <a:pt x="1566" y="717"/>
                    </a:lnTo>
                    <a:lnTo>
                      <a:pt x="1568" y="717"/>
                    </a:lnTo>
                    <a:lnTo>
                      <a:pt x="1571" y="717"/>
                    </a:lnTo>
                    <a:lnTo>
                      <a:pt x="1575" y="717"/>
                    </a:lnTo>
                    <a:lnTo>
                      <a:pt x="1578" y="719"/>
                    </a:lnTo>
                    <a:lnTo>
                      <a:pt x="1582" y="719"/>
                    </a:lnTo>
                    <a:lnTo>
                      <a:pt x="1585" y="719"/>
                    </a:lnTo>
                    <a:lnTo>
                      <a:pt x="1589" y="721"/>
                    </a:lnTo>
                    <a:lnTo>
                      <a:pt x="1592" y="721"/>
                    </a:lnTo>
                    <a:lnTo>
                      <a:pt x="1596" y="722"/>
                    </a:lnTo>
                    <a:lnTo>
                      <a:pt x="1599" y="722"/>
                    </a:lnTo>
                    <a:lnTo>
                      <a:pt x="1603" y="722"/>
                    </a:lnTo>
                    <a:lnTo>
                      <a:pt x="1606" y="724"/>
                    </a:lnTo>
                    <a:lnTo>
                      <a:pt x="1610" y="724"/>
                    </a:lnTo>
                    <a:lnTo>
                      <a:pt x="1613" y="726"/>
                    </a:lnTo>
                    <a:lnTo>
                      <a:pt x="1615" y="726"/>
                    </a:lnTo>
                    <a:lnTo>
                      <a:pt x="1618" y="726"/>
                    </a:lnTo>
                    <a:lnTo>
                      <a:pt x="1622" y="728"/>
                    </a:lnTo>
                    <a:lnTo>
                      <a:pt x="1625" y="728"/>
                    </a:lnTo>
                    <a:lnTo>
                      <a:pt x="1629" y="729"/>
                    </a:lnTo>
                    <a:lnTo>
                      <a:pt x="1632" y="729"/>
                    </a:lnTo>
                    <a:lnTo>
                      <a:pt x="1636" y="731"/>
                    </a:lnTo>
                    <a:lnTo>
                      <a:pt x="1639" y="731"/>
                    </a:lnTo>
                    <a:lnTo>
                      <a:pt x="1643" y="731"/>
                    </a:lnTo>
                    <a:lnTo>
                      <a:pt x="1644" y="733"/>
                    </a:lnTo>
                    <a:lnTo>
                      <a:pt x="1648" y="733"/>
                    </a:lnTo>
                    <a:lnTo>
                      <a:pt x="1651" y="734"/>
                    </a:lnTo>
                    <a:lnTo>
                      <a:pt x="1655" y="734"/>
                    </a:lnTo>
                    <a:lnTo>
                      <a:pt x="1658" y="736"/>
                    </a:lnTo>
                    <a:lnTo>
                      <a:pt x="1662" y="736"/>
                    </a:lnTo>
                    <a:lnTo>
                      <a:pt x="1665" y="738"/>
                    </a:lnTo>
                    <a:lnTo>
                      <a:pt x="1669" y="740"/>
                    </a:lnTo>
                    <a:lnTo>
                      <a:pt x="1671" y="740"/>
                    </a:lnTo>
                    <a:lnTo>
                      <a:pt x="1674" y="741"/>
                    </a:lnTo>
                    <a:lnTo>
                      <a:pt x="1678" y="741"/>
                    </a:lnTo>
                    <a:lnTo>
                      <a:pt x="1681" y="743"/>
                    </a:lnTo>
                    <a:lnTo>
                      <a:pt x="1685" y="743"/>
                    </a:lnTo>
                    <a:lnTo>
                      <a:pt x="1688" y="745"/>
                    </a:lnTo>
                    <a:lnTo>
                      <a:pt x="1691" y="745"/>
                    </a:lnTo>
                    <a:lnTo>
                      <a:pt x="1693" y="747"/>
                    </a:lnTo>
                    <a:lnTo>
                      <a:pt x="1697" y="748"/>
                    </a:lnTo>
                    <a:lnTo>
                      <a:pt x="1700" y="748"/>
                    </a:lnTo>
                    <a:lnTo>
                      <a:pt x="1704" y="750"/>
                    </a:lnTo>
                    <a:lnTo>
                      <a:pt x="1707" y="750"/>
                    </a:lnTo>
                    <a:lnTo>
                      <a:pt x="1709" y="752"/>
                    </a:lnTo>
                    <a:lnTo>
                      <a:pt x="1712" y="754"/>
                    </a:lnTo>
                    <a:lnTo>
                      <a:pt x="1716" y="754"/>
                    </a:lnTo>
                    <a:lnTo>
                      <a:pt x="1719" y="755"/>
                    </a:lnTo>
                    <a:lnTo>
                      <a:pt x="1723" y="757"/>
                    </a:lnTo>
                    <a:lnTo>
                      <a:pt x="1725" y="757"/>
                    </a:lnTo>
                    <a:lnTo>
                      <a:pt x="1728" y="759"/>
                    </a:lnTo>
                    <a:lnTo>
                      <a:pt x="1731" y="761"/>
                    </a:lnTo>
                    <a:lnTo>
                      <a:pt x="1735" y="761"/>
                    </a:lnTo>
                    <a:lnTo>
                      <a:pt x="1737" y="762"/>
                    </a:lnTo>
                    <a:lnTo>
                      <a:pt x="1740" y="764"/>
                    </a:lnTo>
                    <a:lnTo>
                      <a:pt x="1744" y="764"/>
                    </a:lnTo>
                    <a:lnTo>
                      <a:pt x="1747" y="766"/>
                    </a:lnTo>
                    <a:lnTo>
                      <a:pt x="1749" y="768"/>
                    </a:lnTo>
                    <a:lnTo>
                      <a:pt x="1752" y="769"/>
                    </a:lnTo>
                    <a:lnTo>
                      <a:pt x="1756" y="769"/>
                    </a:lnTo>
                    <a:lnTo>
                      <a:pt x="1759" y="771"/>
                    </a:lnTo>
                    <a:lnTo>
                      <a:pt x="1761" y="773"/>
                    </a:lnTo>
                    <a:lnTo>
                      <a:pt x="1765" y="775"/>
                    </a:lnTo>
                    <a:lnTo>
                      <a:pt x="1768" y="776"/>
                    </a:lnTo>
                    <a:lnTo>
                      <a:pt x="1772" y="776"/>
                    </a:lnTo>
                    <a:lnTo>
                      <a:pt x="1773" y="778"/>
                    </a:lnTo>
                    <a:lnTo>
                      <a:pt x="1777" y="780"/>
                    </a:lnTo>
                    <a:lnTo>
                      <a:pt x="1780" y="781"/>
                    </a:lnTo>
                    <a:lnTo>
                      <a:pt x="1782" y="783"/>
                    </a:lnTo>
                    <a:lnTo>
                      <a:pt x="1785" y="783"/>
                    </a:lnTo>
                    <a:lnTo>
                      <a:pt x="1787" y="785"/>
                    </a:lnTo>
                    <a:lnTo>
                      <a:pt x="1791" y="787"/>
                    </a:lnTo>
                    <a:lnTo>
                      <a:pt x="1794" y="788"/>
                    </a:lnTo>
                    <a:lnTo>
                      <a:pt x="1796" y="790"/>
                    </a:lnTo>
                    <a:lnTo>
                      <a:pt x="1799" y="792"/>
                    </a:lnTo>
                    <a:lnTo>
                      <a:pt x="1803" y="792"/>
                    </a:lnTo>
                    <a:lnTo>
                      <a:pt x="1805" y="794"/>
                    </a:lnTo>
                    <a:lnTo>
                      <a:pt x="1808" y="795"/>
                    </a:lnTo>
                    <a:lnTo>
                      <a:pt x="1810" y="797"/>
                    </a:lnTo>
                    <a:lnTo>
                      <a:pt x="1813" y="799"/>
                    </a:lnTo>
                    <a:lnTo>
                      <a:pt x="1817" y="801"/>
                    </a:lnTo>
                    <a:lnTo>
                      <a:pt x="1819" y="802"/>
                    </a:lnTo>
                    <a:lnTo>
                      <a:pt x="1822" y="804"/>
                    </a:lnTo>
                    <a:lnTo>
                      <a:pt x="1824" y="806"/>
                    </a:lnTo>
                    <a:lnTo>
                      <a:pt x="1827" y="808"/>
                    </a:lnTo>
                    <a:lnTo>
                      <a:pt x="1831" y="809"/>
                    </a:lnTo>
                    <a:lnTo>
                      <a:pt x="1832" y="811"/>
                    </a:lnTo>
                    <a:lnTo>
                      <a:pt x="1836" y="813"/>
                    </a:lnTo>
                    <a:lnTo>
                      <a:pt x="1838" y="815"/>
                    </a:lnTo>
                    <a:lnTo>
                      <a:pt x="1841" y="815"/>
                    </a:lnTo>
                    <a:lnTo>
                      <a:pt x="1843" y="818"/>
                    </a:lnTo>
                    <a:lnTo>
                      <a:pt x="1846" y="820"/>
                    </a:lnTo>
                    <a:lnTo>
                      <a:pt x="1848" y="820"/>
                    </a:lnTo>
                    <a:lnTo>
                      <a:pt x="1850" y="823"/>
                    </a:lnTo>
                    <a:lnTo>
                      <a:pt x="1853" y="825"/>
                    </a:lnTo>
                    <a:lnTo>
                      <a:pt x="1855" y="827"/>
                    </a:lnTo>
                    <a:lnTo>
                      <a:pt x="1859" y="828"/>
                    </a:lnTo>
                    <a:lnTo>
                      <a:pt x="1860" y="830"/>
                    </a:lnTo>
                    <a:lnTo>
                      <a:pt x="1864" y="832"/>
                    </a:lnTo>
                    <a:lnTo>
                      <a:pt x="1866" y="834"/>
                    </a:lnTo>
                    <a:lnTo>
                      <a:pt x="1869" y="835"/>
                    </a:lnTo>
                    <a:lnTo>
                      <a:pt x="1871" y="837"/>
                    </a:lnTo>
                    <a:lnTo>
                      <a:pt x="1872" y="839"/>
                    </a:lnTo>
                    <a:lnTo>
                      <a:pt x="1876" y="841"/>
                    </a:lnTo>
                    <a:lnTo>
                      <a:pt x="1878" y="842"/>
                    </a:lnTo>
                    <a:lnTo>
                      <a:pt x="1879" y="844"/>
                    </a:lnTo>
                    <a:lnTo>
                      <a:pt x="1883" y="846"/>
                    </a:lnTo>
                    <a:lnTo>
                      <a:pt x="1885" y="849"/>
                    </a:lnTo>
                    <a:lnTo>
                      <a:pt x="1886" y="851"/>
                    </a:lnTo>
                    <a:lnTo>
                      <a:pt x="1890" y="853"/>
                    </a:lnTo>
                    <a:lnTo>
                      <a:pt x="1892" y="855"/>
                    </a:lnTo>
                    <a:lnTo>
                      <a:pt x="1893" y="856"/>
                    </a:lnTo>
                    <a:lnTo>
                      <a:pt x="1897" y="858"/>
                    </a:lnTo>
                    <a:lnTo>
                      <a:pt x="1899" y="860"/>
                    </a:lnTo>
                    <a:lnTo>
                      <a:pt x="1900" y="863"/>
                    </a:lnTo>
                    <a:lnTo>
                      <a:pt x="1902" y="865"/>
                    </a:lnTo>
                    <a:lnTo>
                      <a:pt x="1906" y="867"/>
                    </a:lnTo>
                    <a:lnTo>
                      <a:pt x="1907" y="869"/>
                    </a:lnTo>
                    <a:lnTo>
                      <a:pt x="1909" y="872"/>
                    </a:lnTo>
                    <a:lnTo>
                      <a:pt x="1911" y="874"/>
                    </a:lnTo>
                    <a:lnTo>
                      <a:pt x="1913" y="875"/>
                    </a:lnTo>
                    <a:lnTo>
                      <a:pt x="1914" y="877"/>
                    </a:lnTo>
                    <a:lnTo>
                      <a:pt x="1918" y="879"/>
                    </a:lnTo>
                    <a:lnTo>
                      <a:pt x="1919" y="882"/>
                    </a:lnTo>
                    <a:lnTo>
                      <a:pt x="1921" y="884"/>
                    </a:lnTo>
                    <a:lnTo>
                      <a:pt x="1923" y="886"/>
                    </a:lnTo>
                    <a:lnTo>
                      <a:pt x="1925" y="888"/>
                    </a:lnTo>
                    <a:lnTo>
                      <a:pt x="1926" y="891"/>
                    </a:lnTo>
                    <a:lnTo>
                      <a:pt x="1928" y="893"/>
                    </a:lnTo>
                    <a:lnTo>
                      <a:pt x="1930" y="895"/>
                    </a:lnTo>
                    <a:lnTo>
                      <a:pt x="1932" y="896"/>
                    </a:lnTo>
                    <a:lnTo>
                      <a:pt x="1933" y="900"/>
                    </a:lnTo>
                    <a:lnTo>
                      <a:pt x="1935" y="902"/>
                    </a:lnTo>
                    <a:lnTo>
                      <a:pt x="1937" y="903"/>
                    </a:lnTo>
                    <a:lnTo>
                      <a:pt x="1939" y="907"/>
                    </a:lnTo>
                    <a:lnTo>
                      <a:pt x="1940" y="909"/>
                    </a:lnTo>
                    <a:lnTo>
                      <a:pt x="1942" y="910"/>
                    </a:lnTo>
                    <a:lnTo>
                      <a:pt x="1944" y="914"/>
                    </a:lnTo>
                    <a:lnTo>
                      <a:pt x="1946" y="916"/>
                    </a:lnTo>
                    <a:lnTo>
                      <a:pt x="1947" y="917"/>
                    </a:lnTo>
                    <a:lnTo>
                      <a:pt x="1949" y="921"/>
                    </a:lnTo>
                    <a:lnTo>
                      <a:pt x="1951" y="922"/>
                    </a:lnTo>
                    <a:lnTo>
                      <a:pt x="1953" y="924"/>
                    </a:lnTo>
                    <a:lnTo>
                      <a:pt x="1954" y="928"/>
                    </a:lnTo>
                    <a:lnTo>
                      <a:pt x="1956" y="929"/>
                    </a:lnTo>
                    <a:lnTo>
                      <a:pt x="1956" y="931"/>
                    </a:lnTo>
                    <a:lnTo>
                      <a:pt x="1958" y="935"/>
                    </a:lnTo>
                    <a:lnTo>
                      <a:pt x="1960" y="936"/>
                    </a:lnTo>
                    <a:lnTo>
                      <a:pt x="1961" y="940"/>
                    </a:lnTo>
                    <a:lnTo>
                      <a:pt x="1963" y="942"/>
                    </a:lnTo>
                    <a:lnTo>
                      <a:pt x="1963" y="943"/>
                    </a:lnTo>
                    <a:lnTo>
                      <a:pt x="1965" y="947"/>
                    </a:lnTo>
                    <a:lnTo>
                      <a:pt x="1966" y="949"/>
                    </a:lnTo>
                    <a:lnTo>
                      <a:pt x="1966" y="952"/>
                    </a:lnTo>
                    <a:lnTo>
                      <a:pt x="1968" y="954"/>
                    </a:lnTo>
                    <a:lnTo>
                      <a:pt x="1970" y="956"/>
                    </a:lnTo>
                    <a:lnTo>
                      <a:pt x="1970" y="959"/>
                    </a:lnTo>
                    <a:lnTo>
                      <a:pt x="1972" y="961"/>
                    </a:lnTo>
                    <a:lnTo>
                      <a:pt x="1973" y="964"/>
                    </a:lnTo>
                    <a:lnTo>
                      <a:pt x="1973" y="966"/>
                    </a:lnTo>
                    <a:lnTo>
                      <a:pt x="1975" y="970"/>
                    </a:lnTo>
                    <a:lnTo>
                      <a:pt x="1977" y="971"/>
                    </a:lnTo>
                    <a:lnTo>
                      <a:pt x="1977" y="975"/>
                    </a:lnTo>
                    <a:lnTo>
                      <a:pt x="1979" y="976"/>
                    </a:lnTo>
                    <a:lnTo>
                      <a:pt x="1979" y="978"/>
                    </a:lnTo>
                    <a:lnTo>
                      <a:pt x="1980" y="982"/>
                    </a:lnTo>
                    <a:lnTo>
                      <a:pt x="1980" y="983"/>
                    </a:lnTo>
                    <a:lnTo>
                      <a:pt x="1982" y="987"/>
                    </a:lnTo>
                    <a:lnTo>
                      <a:pt x="1982" y="989"/>
                    </a:lnTo>
                    <a:lnTo>
                      <a:pt x="1982" y="992"/>
                    </a:lnTo>
                    <a:lnTo>
                      <a:pt x="1984" y="994"/>
                    </a:lnTo>
                    <a:lnTo>
                      <a:pt x="1984" y="997"/>
                    </a:lnTo>
                    <a:lnTo>
                      <a:pt x="1986" y="999"/>
                    </a:lnTo>
                    <a:lnTo>
                      <a:pt x="1986" y="1003"/>
                    </a:lnTo>
                    <a:lnTo>
                      <a:pt x="1986" y="1004"/>
                    </a:lnTo>
                    <a:lnTo>
                      <a:pt x="1987" y="1008"/>
                    </a:lnTo>
                    <a:lnTo>
                      <a:pt x="1987" y="1010"/>
                    </a:lnTo>
                    <a:lnTo>
                      <a:pt x="1987" y="1013"/>
                    </a:lnTo>
                    <a:lnTo>
                      <a:pt x="1987" y="1015"/>
                    </a:lnTo>
                    <a:lnTo>
                      <a:pt x="1989" y="1018"/>
                    </a:lnTo>
                    <a:lnTo>
                      <a:pt x="1989" y="1020"/>
                    </a:lnTo>
                    <a:lnTo>
                      <a:pt x="1989" y="1023"/>
                    </a:lnTo>
                    <a:lnTo>
                      <a:pt x="1991" y="1025"/>
                    </a:lnTo>
                    <a:lnTo>
                      <a:pt x="1991" y="1029"/>
                    </a:lnTo>
                    <a:lnTo>
                      <a:pt x="1991" y="1030"/>
                    </a:lnTo>
                    <a:lnTo>
                      <a:pt x="1991" y="1034"/>
                    </a:lnTo>
                    <a:lnTo>
                      <a:pt x="1991" y="1036"/>
                    </a:lnTo>
                    <a:lnTo>
                      <a:pt x="1991" y="1039"/>
                    </a:lnTo>
                    <a:lnTo>
                      <a:pt x="1991" y="1041"/>
                    </a:lnTo>
                    <a:lnTo>
                      <a:pt x="1991" y="1044"/>
                    </a:lnTo>
                    <a:lnTo>
                      <a:pt x="1991" y="1055"/>
                    </a:lnTo>
                    <a:moveTo>
                      <a:pt x="1054" y="734"/>
                    </a:moveTo>
                    <a:lnTo>
                      <a:pt x="1058" y="734"/>
                    </a:lnTo>
                    <a:lnTo>
                      <a:pt x="1061" y="733"/>
                    </a:lnTo>
                    <a:lnTo>
                      <a:pt x="1065" y="733"/>
                    </a:lnTo>
                    <a:lnTo>
                      <a:pt x="1068" y="733"/>
                    </a:lnTo>
                    <a:lnTo>
                      <a:pt x="1072" y="731"/>
                    </a:lnTo>
                    <a:lnTo>
                      <a:pt x="1075" y="731"/>
                    </a:lnTo>
                    <a:lnTo>
                      <a:pt x="1079" y="731"/>
                    </a:lnTo>
                    <a:lnTo>
                      <a:pt x="1082" y="731"/>
                    </a:lnTo>
                    <a:lnTo>
                      <a:pt x="1086" y="729"/>
                    </a:lnTo>
                    <a:lnTo>
                      <a:pt x="1089" y="729"/>
                    </a:lnTo>
                    <a:lnTo>
                      <a:pt x="1093" y="729"/>
                    </a:lnTo>
                    <a:lnTo>
                      <a:pt x="1096" y="728"/>
                    </a:lnTo>
                    <a:lnTo>
                      <a:pt x="1100" y="728"/>
                    </a:lnTo>
                    <a:lnTo>
                      <a:pt x="1101" y="728"/>
                    </a:lnTo>
                    <a:lnTo>
                      <a:pt x="1105" y="728"/>
                    </a:lnTo>
                    <a:lnTo>
                      <a:pt x="1108" y="726"/>
                    </a:lnTo>
                    <a:lnTo>
                      <a:pt x="1112" y="726"/>
                    </a:lnTo>
                    <a:lnTo>
                      <a:pt x="1115" y="726"/>
                    </a:lnTo>
                    <a:lnTo>
                      <a:pt x="1119" y="726"/>
                    </a:lnTo>
                    <a:lnTo>
                      <a:pt x="1122" y="724"/>
                    </a:lnTo>
                    <a:lnTo>
                      <a:pt x="1126" y="724"/>
                    </a:lnTo>
                    <a:lnTo>
                      <a:pt x="1129" y="724"/>
                    </a:lnTo>
                    <a:lnTo>
                      <a:pt x="1133" y="722"/>
                    </a:lnTo>
                    <a:lnTo>
                      <a:pt x="1136" y="722"/>
                    </a:lnTo>
                    <a:lnTo>
                      <a:pt x="1140" y="722"/>
                    </a:lnTo>
                    <a:lnTo>
                      <a:pt x="1143" y="722"/>
                    </a:lnTo>
                    <a:lnTo>
                      <a:pt x="1147" y="721"/>
                    </a:lnTo>
                    <a:lnTo>
                      <a:pt x="1150" y="721"/>
                    </a:lnTo>
                    <a:lnTo>
                      <a:pt x="1154" y="721"/>
                    </a:lnTo>
                    <a:lnTo>
                      <a:pt x="1157" y="719"/>
                    </a:lnTo>
                    <a:lnTo>
                      <a:pt x="1161" y="719"/>
                    </a:lnTo>
                    <a:lnTo>
                      <a:pt x="1164" y="719"/>
                    </a:lnTo>
                    <a:lnTo>
                      <a:pt x="1166" y="719"/>
                    </a:lnTo>
                    <a:lnTo>
                      <a:pt x="1169" y="717"/>
                    </a:lnTo>
                    <a:lnTo>
                      <a:pt x="1173" y="717"/>
                    </a:lnTo>
                    <a:lnTo>
                      <a:pt x="1176" y="717"/>
                    </a:lnTo>
                    <a:lnTo>
                      <a:pt x="1180" y="717"/>
                    </a:lnTo>
                    <a:lnTo>
                      <a:pt x="1183" y="717"/>
                    </a:lnTo>
                    <a:lnTo>
                      <a:pt x="1187" y="715"/>
                    </a:lnTo>
                    <a:lnTo>
                      <a:pt x="1190" y="715"/>
                    </a:lnTo>
                    <a:moveTo>
                      <a:pt x="1422" y="571"/>
                    </a:moveTo>
                    <a:lnTo>
                      <a:pt x="1425" y="569"/>
                    </a:lnTo>
                    <a:lnTo>
                      <a:pt x="1429" y="569"/>
                    </a:lnTo>
                    <a:lnTo>
                      <a:pt x="1430" y="567"/>
                    </a:lnTo>
                    <a:lnTo>
                      <a:pt x="1434" y="566"/>
                    </a:lnTo>
                    <a:lnTo>
                      <a:pt x="1437" y="566"/>
                    </a:lnTo>
                    <a:lnTo>
                      <a:pt x="1441" y="564"/>
                    </a:lnTo>
                    <a:lnTo>
                      <a:pt x="1444" y="564"/>
                    </a:lnTo>
                    <a:lnTo>
                      <a:pt x="1448" y="562"/>
                    </a:lnTo>
                    <a:lnTo>
                      <a:pt x="1450" y="562"/>
                    </a:lnTo>
                    <a:lnTo>
                      <a:pt x="1453" y="560"/>
                    </a:lnTo>
                    <a:lnTo>
                      <a:pt x="1457" y="559"/>
                    </a:lnTo>
                    <a:lnTo>
                      <a:pt x="1460" y="559"/>
                    </a:lnTo>
                    <a:lnTo>
                      <a:pt x="1463" y="557"/>
                    </a:lnTo>
                    <a:lnTo>
                      <a:pt x="1467" y="557"/>
                    </a:lnTo>
                    <a:lnTo>
                      <a:pt x="1469" y="555"/>
                    </a:lnTo>
                    <a:lnTo>
                      <a:pt x="1472" y="555"/>
                    </a:lnTo>
                    <a:lnTo>
                      <a:pt x="1476" y="553"/>
                    </a:lnTo>
                    <a:lnTo>
                      <a:pt x="1479" y="553"/>
                    </a:lnTo>
                    <a:lnTo>
                      <a:pt x="1483" y="552"/>
                    </a:lnTo>
                    <a:lnTo>
                      <a:pt x="1486" y="550"/>
                    </a:lnTo>
                    <a:lnTo>
                      <a:pt x="1490" y="550"/>
                    </a:lnTo>
                    <a:lnTo>
                      <a:pt x="1491" y="548"/>
                    </a:lnTo>
                    <a:lnTo>
                      <a:pt x="1495" y="548"/>
                    </a:lnTo>
                    <a:lnTo>
                      <a:pt x="1498" y="546"/>
                    </a:lnTo>
                    <a:lnTo>
                      <a:pt x="1502" y="546"/>
                    </a:lnTo>
                    <a:lnTo>
                      <a:pt x="1505" y="545"/>
                    </a:lnTo>
                    <a:lnTo>
                      <a:pt x="1509" y="545"/>
                    </a:lnTo>
                    <a:lnTo>
                      <a:pt x="1512" y="543"/>
                    </a:lnTo>
                    <a:lnTo>
                      <a:pt x="1516" y="543"/>
                    </a:lnTo>
                    <a:lnTo>
                      <a:pt x="1517" y="541"/>
                    </a:lnTo>
                    <a:lnTo>
                      <a:pt x="1521" y="541"/>
                    </a:lnTo>
                    <a:lnTo>
                      <a:pt x="1524" y="539"/>
                    </a:lnTo>
                    <a:lnTo>
                      <a:pt x="1528" y="539"/>
                    </a:lnTo>
                    <a:lnTo>
                      <a:pt x="1531" y="538"/>
                    </a:lnTo>
                    <a:lnTo>
                      <a:pt x="1535" y="538"/>
                    </a:lnTo>
                    <a:lnTo>
                      <a:pt x="1538" y="536"/>
                    </a:lnTo>
                    <a:lnTo>
                      <a:pt x="1540" y="536"/>
                    </a:lnTo>
                    <a:lnTo>
                      <a:pt x="1544" y="534"/>
                    </a:lnTo>
                    <a:lnTo>
                      <a:pt x="1547" y="534"/>
                    </a:lnTo>
                    <a:lnTo>
                      <a:pt x="1550" y="533"/>
                    </a:lnTo>
                    <a:lnTo>
                      <a:pt x="1554" y="533"/>
                    </a:lnTo>
                    <a:lnTo>
                      <a:pt x="1557" y="531"/>
                    </a:lnTo>
                    <a:lnTo>
                      <a:pt x="1561" y="531"/>
                    </a:lnTo>
                    <a:lnTo>
                      <a:pt x="1564" y="529"/>
                    </a:lnTo>
                    <a:lnTo>
                      <a:pt x="1568" y="529"/>
                    </a:lnTo>
                    <a:lnTo>
                      <a:pt x="1570" y="527"/>
                    </a:lnTo>
                    <a:lnTo>
                      <a:pt x="1573" y="527"/>
                    </a:lnTo>
                    <a:lnTo>
                      <a:pt x="1577" y="527"/>
                    </a:lnTo>
                    <a:lnTo>
                      <a:pt x="1580" y="526"/>
                    </a:lnTo>
                    <a:lnTo>
                      <a:pt x="1584" y="526"/>
                    </a:lnTo>
                    <a:lnTo>
                      <a:pt x="1587" y="524"/>
                    </a:lnTo>
                    <a:lnTo>
                      <a:pt x="1591" y="524"/>
                    </a:lnTo>
                    <a:lnTo>
                      <a:pt x="1594" y="522"/>
                    </a:lnTo>
                    <a:lnTo>
                      <a:pt x="1597" y="522"/>
                    </a:lnTo>
                    <a:lnTo>
                      <a:pt x="1601" y="522"/>
                    </a:lnTo>
                    <a:lnTo>
                      <a:pt x="1603" y="520"/>
                    </a:lnTo>
                    <a:lnTo>
                      <a:pt x="1606" y="520"/>
                    </a:lnTo>
                    <a:lnTo>
                      <a:pt x="1610" y="519"/>
                    </a:lnTo>
                    <a:lnTo>
                      <a:pt x="1613" y="519"/>
                    </a:lnTo>
                    <a:lnTo>
                      <a:pt x="1617" y="519"/>
                    </a:lnTo>
                    <a:lnTo>
                      <a:pt x="1620" y="517"/>
                    </a:lnTo>
                    <a:lnTo>
                      <a:pt x="1624" y="517"/>
                    </a:lnTo>
                    <a:lnTo>
                      <a:pt x="1627" y="515"/>
                    </a:lnTo>
                    <a:lnTo>
                      <a:pt x="1631" y="515"/>
                    </a:lnTo>
                    <a:lnTo>
                      <a:pt x="1634" y="515"/>
                    </a:lnTo>
                    <a:lnTo>
                      <a:pt x="1638" y="513"/>
                    </a:lnTo>
                    <a:lnTo>
                      <a:pt x="1641" y="513"/>
                    </a:lnTo>
                    <a:lnTo>
                      <a:pt x="1644" y="512"/>
                    </a:lnTo>
                    <a:lnTo>
                      <a:pt x="1646" y="512"/>
                    </a:lnTo>
                    <a:lnTo>
                      <a:pt x="1650" y="512"/>
                    </a:lnTo>
                    <a:lnTo>
                      <a:pt x="1653" y="510"/>
                    </a:lnTo>
                    <a:lnTo>
                      <a:pt x="1657" y="510"/>
                    </a:lnTo>
                    <a:lnTo>
                      <a:pt x="1660" y="510"/>
                    </a:lnTo>
                    <a:lnTo>
                      <a:pt x="1664" y="508"/>
                    </a:lnTo>
                    <a:lnTo>
                      <a:pt x="1667" y="508"/>
                    </a:lnTo>
                    <a:lnTo>
                      <a:pt x="1671" y="508"/>
                    </a:lnTo>
                    <a:lnTo>
                      <a:pt x="1674" y="506"/>
                    </a:lnTo>
                    <a:lnTo>
                      <a:pt x="1678" y="506"/>
                    </a:lnTo>
                    <a:lnTo>
                      <a:pt x="1681" y="505"/>
                    </a:lnTo>
                    <a:lnTo>
                      <a:pt x="1685" y="505"/>
                    </a:lnTo>
                    <a:lnTo>
                      <a:pt x="1688" y="505"/>
                    </a:lnTo>
                    <a:lnTo>
                      <a:pt x="1691" y="505"/>
                    </a:lnTo>
                    <a:lnTo>
                      <a:pt x="1693" y="503"/>
                    </a:lnTo>
                    <a:lnTo>
                      <a:pt x="1697" y="503"/>
                    </a:lnTo>
                    <a:lnTo>
                      <a:pt x="1700" y="503"/>
                    </a:lnTo>
                    <a:lnTo>
                      <a:pt x="1704" y="501"/>
                    </a:lnTo>
                    <a:lnTo>
                      <a:pt x="1707" y="501"/>
                    </a:lnTo>
                    <a:lnTo>
                      <a:pt x="1711" y="501"/>
                    </a:lnTo>
                    <a:lnTo>
                      <a:pt x="1714" y="499"/>
                    </a:lnTo>
                    <a:lnTo>
                      <a:pt x="1718" y="499"/>
                    </a:lnTo>
                    <a:lnTo>
                      <a:pt x="1721" y="499"/>
                    </a:lnTo>
                    <a:lnTo>
                      <a:pt x="1725" y="499"/>
                    </a:lnTo>
                    <a:lnTo>
                      <a:pt x="1728" y="498"/>
                    </a:lnTo>
                    <a:lnTo>
                      <a:pt x="1731" y="498"/>
                    </a:lnTo>
                    <a:lnTo>
                      <a:pt x="1735" y="498"/>
                    </a:lnTo>
                    <a:lnTo>
                      <a:pt x="1738" y="496"/>
                    </a:lnTo>
                    <a:lnTo>
                      <a:pt x="1742" y="496"/>
                    </a:lnTo>
                    <a:lnTo>
                      <a:pt x="1745" y="496"/>
                    </a:lnTo>
                    <a:lnTo>
                      <a:pt x="1749" y="496"/>
                    </a:lnTo>
                    <a:lnTo>
                      <a:pt x="1752" y="494"/>
                    </a:lnTo>
                    <a:lnTo>
                      <a:pt x="1756" y="494"/>
                    </a:lnTo>
                    <a:lnTo>
                      <a:pt x="1759" y="494"/>
                    </a:lnTo>
                    <a:lnTo>
                      <a:pt x="1763" y="494"/>
                    </a:lnTo>
                    <a:lnTo>
                      <a:pt x="1765" y="492"/>
                    </a:lnTo>
                    <a:lnTo>
                      <a:pt x="1768" y="492"/>
                    </a:lnTo>
                    <a:lnTo>
                      <a:pt x="1772" y="492"/>
                    </a:lnTo>
                    <a:lnTo>
                      <a:pt x="1775" y="492"/>
                    </a:lnTo>
                    <a:lnTo>
                      <a:pt x="1778" y="491"/>
                    </a:lnTo>
                    <a:lnTo>
                      <a:pt x="1782" y="491"/>
                    </a:lnTo>
                    <a:lnTo>
                      <a:pt x="1785" y="491"/>
                    </a:lnTo>
                    <a:lnTo>
                      <a:pt x="1789" y="491"/>
                    </a:lnTo>
                    <a:lnTo>
                      <a:pt x="1792" y="491"/>
                    </a:lnTo>
                    <a:lnTo>
                      <a:pt x="1796" y="489"/>
                    </a:lnTo>
                    <a:lnTo>
                      <a:pt x="1799" y="489"/>
                    </a:lnTo>
                    <a:lnTo>
                      <a:pt x="1803" y="489"/>
                    </a:lnTo>
                    <a:lnTo>
                      <a:pt x="1806" y="489"/>
                    </a:lnTo>
                    <a:lnTo>
                      <a:pt x="1810" y="489"/>
                    </a:lnTo>
                    <a:lnTo>
                      <a:pt x="1813" y="487"/>
                    </a:lnTo>
                    <a:lnTo>
                      <a:pt x="1817" y="487"/>
                    </a:lnTo>
                    <a:lnTo>
                      <a:pt x="1820" y="487"/>
                    </a:lnTo>
                    <a:lnTo>
                      <a:pt x="1824" y="487"/>
                    </a:lnTo>
                    <a:lnTo>
                      <a:pt x="1827" y="487"/>
                    </a:lnTo>
                    <a:lnTo>
                      <a:pt x="1831" y="487"/>
                    </a:lnTo>
                    <a:lnTo>
                      <a:pt x="1834" y="486"/>
                    </a:lnTo>
                    <a:lnTo>
                      <a:pt x="1838" y="486"/>
                    </a:lnTo>
                    <a:lnTo>
                      <a:pt x="1841" y="486"/>
                    </a:lnTo>
                    <a:lnTo>
                      <a:pt x="1845" y="486"/>
                    </a:lnTo>
                    <a:lnTo>
                      <a:pt x="1848" y="486"/>
                    </a:lnTo>
                    <a:lnTo>
                      <a:pt x="1852" y="486"/>
                    </a:lnTo>
                    <a:lnTo>
                      <a:pt x="1855" y="486"/>
                    </a:lnTo>
                    <a:lnTo>
                      <a:pt x="1859" y="484"/>
                    </a:lnTo>
                    <a:lnTo>
                      <a:pt x="1862" y="484"/>
                    </a:lnTo>
                    <a:lnTo>
                      <a:pt x="1866" y="484"/>
                    </a:lnTo>
                    <a:lnTo>
                      <a:pt x="1869" y="484"/>
                    </a:lnTo>
                    <a:lnTo>
                      <a:pt x="1872" y="484"/>
                    </a:lnTo>
                    <a:lnTo>
                      <a:pt x="1876" y="484"/>
                    </a:lnTo>
                    <a:lnTo>
                      <a:pt x="1879" y="484"/>
                    </a:lnTo>
                    <a:lnTo>
                      <a:pt x="1883" y="484"/>
                    </a:lnTo>
                    <a:lnTo>
                      <a:pt x="1886" y="484"/>
                    </a:lnTo>
                    <a:lnTo>
                      <a:pt x="1890" y="482"/>
                    </a:lnTo>
                    <a:lnTo>
                      <a:pt x="1892" y="482"/>
                    </a:lnTo>
                    <a:lnTo>
                      <a:pt x="1895" y="482"/>
                    </a:lnTo>
                    <a:lnTo>
                      <a:pt x="1899" y="482"/>
                    </a:lnTo>
                    <a:lnTo>
                      <a:pt x="1904" y="482"/>
                    </a:lnTo>
                    <a:lnTo>
                      <a:pt x="1906" y="482"/>
                    </a:lnTo>
                    <a:lnTo>
                      <a:pt x="1909" y="482"/>
                    </a:lnTo>
                    <a:lnTo>
                      <a:pt x="1913" y="482"/>
                    </a:lnTo>
                    <a:lnTo>
                      <a:pt x="1916" y="482"/>
                    </a:lnTo>
                    <a:lnTo>
                      <a:pt x="1919" y="482"/>
                    </a:lnTo>
                    <a:lnTo>
                      <a:pt x="1923" y="482"/>
                    </a:lnTo>
                    <a:lnTo>
                      <a:pt x="1926" y="482"/>
                    </a:lnTo>
                    <a:lnTo>
                      <a:pt x="1930" y="482"/>
                    </a:lnTo>
                    <a:lnTo>
                      <a:pt x="1933" y="482"/>
                    </a:lnTo>
                    <a:lnTo>
                      <a:pt x="1937" y="480"/>
                    </a:lnTo>
                    <a:lnTo>
                      <a:pt x="1940" y="480"/>
                    </a:lnTo>
                    <a:lnTo>
                      <a:pt x="1944" y="480"/>
                    </a:lnTo>
                    <a:lnTo>
                      <a:pt x="1947" y="480"/>
                    </a:lnTo>
                    <a:lnTo>
                      <a:pt x="1951" y="480"/>
                    </a:lnTo>
                    <a:lnTo>
                      <a:pt x="1954" y="480"/>
                    </a:lnTo>
                    <a:lnTo>
                      <a:pt x="1958" y="480"/>
                    </a:lnTo>
                    <a:lnTo>
                      <a:pt x="1961" y="480"/>
                    </a:lnTo>
                    <a:lnTo>
                      <a:pt x="1965" y="480"/>
                    </a:lnTo>
                    <a:lnTo>
                      <a:pt x="1968" y="480"/>
                    </a:lnTo>
                    <a:lnTo>
                      <a:pt x="1972" y="480"/>
                    </a:lnTo>
                    <a:lnTo>
                      <a:pt x="1975" y="480"/>
                    </a:lnTo>
                    <a:lnTo>
                      <a:pt x="1979" y="480"/>
                    </a:lnTo>
                    <a:lnTo>
                      <a:pt x="1982" y="480"/>
                    </a:lnTo>
                    <a:lnTo>
                      <a:pt x="1986" y="480"/>
                    </a:lnTo>
                    <a:lnTo>
                      <a:pt x="1989" y="480"/>
                    </a:lnTo>
                    <a:lnTo>
                      <a:pt x="1993" y="480"/>
                    </a:lnTo>
                    <a:lnTo>
                      <a:pt x="1996" y="482"/>
                    </a:lnTo>
                    <a:lnTo>
                      <a:pt x="2000" y="482"/>
                    </a:lnTo>
                    <a:lnTo>
                      <a:pt x="2003" y="482"/>
                    </a:lnTo>
                    <a:lnTo>
                      <a:pt x="2006" y="482"/>
                    </a:lnTo>
                    <a:lnTo>
                      <a:pt x="2010" y="482"/>
                    </a:lnTo>
                    <a:lnTo>
                      <a:pt x="2013" y="482"/>
                    </a:lnTo>
                    <a:lnTo>
                      <a:pt x="2017" y="482"/>
                    </a:lnTo>
                    <a:lnTo>
                      <a:pt x="2020" y="482"/>
                    </a:lnTo>
                    <a:lnTo>
                      <a:pt x="2024" y="482"/>
                    </a:lnTo>
                    <a:lnTo>
                      <a:pt x="2027" y="482"/>
                    </a:lnTo>
                    <a:lnTo>
                      <a:pt x="2031" y="482"/>
                    </a:lnTo>
                    <a:lnTo>
                      <a:pt x="2034" y="482"/>
                    </a:lnTo>
                    <a:lnTo>
                      <a:pt x="2038" y="482"/>
                    </a:lnTo>
                    <a:lnTo>
                      <a:pt x="2041" y="484"/>
                    </a:lnTo>
                    <a:lnTo>
                      <a:pt x="2045" y="484"/>
                    </a:lnTo>
                    <a:lnTo>
                      <a:pt x="2048" y="484"/>
                    </a:lnTo>
                    <a:lnTo>
                      <a:pt x="2052" y="484"/>
                    </a:lnTo>
                    <a:lnTo>
                      <a:pt x="2055" y="484"/>
                    </a:lnTo>
                    <a:lnTo>
                      <a:pt x="2059" y="484"/>
                    </a:lnTo>
                    <a:lnTo>
                      <a:pt x="2062" y="484"/>
                    </a:lnTo>
                    <a:lnTo>
                      <a:pt x="2066" y="484"/>
                    </a:lnTo>
                    <a:lnTo>
                      <a:pt x="2069" y="484"/>
                    </a:lnTo>
                    <a:lnTo>
                      <a:pt x="2073" y="486"/>
                    </a:lnTo>
                    <a:lnTo>
                      <a:pt x="2076" y="486"/>
                    </a:lnTo>
                    <a:lnTo>
                      <a:pt x="2080" y="486"/>
                    </a:lnTo>
                    <a:lnTo>
                      <a:pt x="2083" y="486"/>
                    </a:lnTo>
                    <a:lnTo>
                      <a:pt x="2087" y="486"/>
                    </a:lnTo>
                    <a:lnTo>
                      <a:pt x="2088" y="486"/>
                    </a:lnTo>
                    <a:lnTo>
                      <a:pt x="2092" y="486"/>
                    </a:lnTo>
                    <a:lnTo>
                      <a:pt x="2097" y="487"/>
                    </a:lnTo>
                    <a:lnTo>
                      <a:pt x="2100" y="487"/>
                    </a:lnTo>
                    <a:lnTo>
                      <a:pt x="2102" y="487"/>
                    </a:lnTo>
                    <a:lnTo>
                      <a:pt x="2106" y="487"/>
                    </a:lnTo>
                    <a:lnTo>
                      <a:pt x="2109" y="487"/>
                    </a:lnTo>
                    <a:lnTo>
                      <a:pt x="2113" y="489"/>
                    </a:lnTo>
                    <a:lnTo>
                      <a:pt x="2116" y="489"/>
                    </a:lnTo>
                    <a:lnTo>
                      <a:pt x="2120" y="489"/>
                    </a:lnTo>
                    <a:lnTo>
                      <a:pt x="2123" y="489"/>
                    </a:lnTo>
                    <a:lnTo>
                      <a:pt x="2127" y="489"/>
                    </a:lnTo>
                    <a:lnTo>
                      <a:pt x="2130" y="489"/>
                    </a:lnTo>
                    <a:lnTo>
                      <a:pt x="2134" y="491"/>
                    </a:lnTo>
                    <a:lnTo>
                      <a:pt x="2137" y="491"/>
                    </a:lnTo>
                    <a:lnTo>
                      <a:pt x="2141" y="491"/>
                    </a:lnTo>
                    <a:lnTo>
                      <a:pt x="2144" y="491"/>
                    </a:lnTo>
                    <a:lnTo>
                      <a:pt x="2147" y="492"/>
                    </a:lnTo>
                    <a:lnTo>
                      <a:pt x="2151" y="492"/>
                    </a:lnTo>
                    <a:lnTo>
                      <a:pt x="2154" y="492"/>
                    </a:lnTo>
                    <a:lnTo>
                      <a:pt x="2158" y="492"/>
                    </a:lnTo>
                    <a:lnTo>
                      <a:pt x="2161" y="494"/>
                    </a:lnTo>
                    <a:lnTo>
                      <a:pt x="2165" y="494"/>
                    </a:lnTo>
                    <a:lnTo>
                      <a:pt x="2168" y="494"/>
                    </a:lnTo>
                    <a:lnTo>
                      <a:pt x="2172" y="494"/>
                    </a:lnTo>
                    <a:lnTo>
                      <a:pt x="2175" y="496"/>
                    </a:lnTo>
                    <a:lnTo>
                      <a:pt x="2179" y="496"/>
                    </a:lnTo>
                    <a:lnTo>
                      <a:pt x="2182" y="496"/>
                    </a:lnTo>
                    <a:lnTo>
                      <a:pt x="2184" y="498"/>
                    </a:lnTo>
                    <a:lnTo>
                      <a:pt x="2188" y="498"/>
                    </a:lnTo>
                    <a:lnTo>
                      <a:pt x="2191" y="498"/>
                    </a:lnTo>
                    <a:moveTo>
                      <a:pt x="1053" y="731"/>
                    </a:moveTo>
                    <a:lnTo>
                      <a:pt x="1056" y="729"/>
                    </a:lnTo>
                    <a:lnTo>
                      <a:pt x="1058" y="728"/>
                    </a:lnTo>
                    <a:lnTo>
                      <a:pt x="1061" y="726"/>
                    </a:lnTo>
                    <a:lnTo>
                      <a:pt x="1065" y="724"/>
                    </a:lnTo>
                    <a:lnTo>
                      <a:pt x="1067" y="724"/>
                    </a:lnTo>
                    <a:lnTo>
                      <a:pt x="1070" y="722"/>
                    </a:lnTo>
                    <a:lnTo>
                      <a:pt x="1074" y="721"/>
                    </a:lnTo>
                    <a:lnTo>
                      <a:pt x="1075" y="719"/>
                    </a:lnTo>
                    <a:lnTo>
                      <a:pt x="1079" y="717"/>
                    </a:lnTo>
                    <a:lnTo>
                      <a:pt x="1081" y="715"/>
                    </a:lnTo>
                    <a:lnTo>
                      <a:pt x="1084" y="714"/>
                    </a:lnTo>
                    <a:lnTo>
                      <a:pt x="1088" y="714"/>
                    </a:lnTo>
                    <a:lnTo>
                      <a:pt x="1089" y="712"/>
                    </a:lnTo>
                    <a:lnTo>
                      <a:pt x="1093" y="710"/>
                    </a:lnTo>
                    <a:lnTo>
                      <a:pt x="1096" y="708"/>
                    </a:lnTo>
                    <a:lnTo>
                      <a:pt x="1098" y="707"/>
                    </a:lnTo>
                    <a:lnTo>
                      <a:pt x="1101" y="705"/>
                    </a:lnTo>
                    <a:lnTo>
                      <a:pt x="1105" y="705"/>
                    </a:lnTo>
                    <a:lnTo>
                      <a:pt x="1107" y="703"/>
                    </a:lnTo>
                    <a:lnTo>
                      <a:pt x="1110" y="701"/>
                    </a:lnTo>
                    <a:lnTo>
                      <a:pt x="1114" y="700"/>
                    </a:lnTo>
                    <a:lnTo>
                      <a:pt x="1115" y="698"/>
                    </a:lnTo>
                    <a:lnTo>
                      <a:pt x="1119" y="696"/>
                    </a:lnTo>
                    <a:lnTo>
                      <a:pt x="1122" y="696"/>
                    </a:lnTo>
                    <a:lnTo>
                      <a:pt x="1124" y="694"/>
                    </a:lnTo>
                    <a:lnTo>
                      <a:pt x="1128" y="693"/>
                    </a:lnTo>
                    <a:lnTo>
                      <a:pt x="1131" y="691"/>
                    </a:lnTo>
                    <a:lnTo>
                      <a:pt x="1133" y="689"/>
                    </a:lnTo>
                    <a:lnTo>
                      <a:pt x="1136" y="689"/>
                    </a:lnTo>
                    <a:lnTo>
                      <a:pt x="1140" y="687"/>
                    </a:lnTo>
                    <a:lnTo>
                      <a:pt x="1141" y="686"/>
                    </a:lnTo>
                    <a:lnTo>
                      <a:pt x="1145" y="684"/>
                    </a:lnTo>
                    <a:lnTo>
                      <a:pt x="1148" y="682"/>
                    </a:lnTo>
                    <a:lnTo>
                      <a:pt x="1150" y="682"/>
                    </a:lnTo>
                    <a:lnTo>
                      <a:pt x="1154" y="681"/>
                    </a:lnTo>
                    <a:lnTo>
                      <a:pt x="1157" y="679"/>
                    </a:lnTo>
                    <a:lnTo>
                      <a:pt x="1159" y="677"/>
                    </a:lnTo>
                    <a:lnTo>
                      <a:pt x="1162" y="675"/>
                    </a:lnTo>
                    <a:lnTo>
                      <a:pt x="1166" y="674"/>
                    </a:lnTo>
                    <a:lnTo>
                      <a:pt x="1169" y="674"/>
                    </a:lnTo>
                    <a:lnTo>
                      <a:pt x="1171" y="672"/>
                    </a:lnTo>
                    <a:lnTo>
                      <a:pt x="1175" y="670"/>
                    </a:lnTo>
                    <a:lnTo>
                      <a:pt x="1178" y="668"/>
                    </a:lnTo>
                    <a:lnTo>
                      <a:pt x="1180" y="668"/>
                    </a:lnTo>
                    <a:lnTo>
                      <a:pt x="1183" y="667"/>
                    </a:lnTo>
                    <a:lnTo>
                      <a:pt x="1187" y="665"/>
                    </a:lnTo>
                    <a:lnTo>
                      <a:pt x="1188" y="663"/>
                    </a:lnTo>
                    <a:lnTo>
                      <a:pt x="1192" y="661"/>
                    </a:lnTo>
                    <a:lnTo>
                      <a:pt x="1195" y="661"/>
                    </a:lnTo>
                    <a:lnTo>
                      <a:pt x="1197" y="660"/>
                    </a:lnTo>
                    <a:lnTo>
                      <a:pt x="1201" y="658"/>
                    </a:lnTo>
                    <a:lnTo>
                      <a:pt x="1204" y="656"/>
                    </a:lnTo>
                    <a:lnTo>
                      <a:pt x="1206" y="654"/>
                    </a:lnTo>
                    <a:lnTo>
                      <a:pt x="1209" y="654"/>
                    </a:lnTo>
                    <a:lnTo>
                      <a:pt x="1213" y="653"/>
                    </a:lnTo>
                    <a:lnTo>
                      <a:pt x="1216" y="651"/>
                    </a:lnTo>
                    <a:lnTo>
                      <a:pt x="1218" y="649"/>
                    </a:lnTo>
                    <a:lnTo>
                      <a:pt x="1222" y="649"/>
                    </a:lnTo>
                    <a:lnTo>
                      <a:pt x="1225" y="647"/>
                    </a:lnTo>
                    <a:lnTo>
                      <a:pt x="1229" y="646"/>
                    </a:lnTo>
                    <a:lnTo>
                      <a:pt x="1230" y="644"/>
                    </a:lnTo>
                    <a:lnTo>
                      <a:pt x="1234" y="644"/>
                    </a:lnTo>
                    <a:lnTo>
                      <a:pt x="1237" y="642"/>
                    </a:lnTo>
                    <a:lnTo>
                      <a:pt x="1239" y="640"/>
                    </a:lnTo>
                    <a:lnTo>
                      <a:pt x="1242" y="639"/>
                    </a:lnTo>
                    <a:lnTo>
                      <a:pt x="1246" y="637"/>
                    </a:lnTo>
                    <a:lnTo>
                      <a:pt x="1248" y="637"/>
                    </a:lnTo>
                    <a:lnTo>
                      <a:pt x="1251" y="635"/>
                    </a:lnTo>
                    <a:lnTo>
                      <a:pt x="1255" y="634"/>
                    </a:lnTo>
                    <a:lnTo>
                      <a:pt x="1258" y="632"/>
                    </a:lnTo>
                    <a:lnTo>
                      <a:pt x="1260" y="632"/>
                    </a:lnTo>
                    <a:lnTo>
                      <a:pt x="1263" y="630"/>
                    </a:lnTo>
                    <a:lnTo>
                      <a:pt x="1267" y="628"/>
                    </a:lnTo>
                    <a:lnTo>
                      <a:pt x="1270" y="628"/>
                    </a:lnTo>
                    <a:lnTo>
                      <a:pt x="1272" y="627"/>
                    </a:lnTo>
                    <a:lnTo>
                      <a:pt x="1275" y="625"/>
                    </a:lnTo>
                    <a:lnTo>
                      <a:pt x="1279" y="623"/>
                    </a:lnTo>
                    <a:lnTo>
                      <a:pt x="1282" y="623"/>
                    </a:lnTo>
                    <a:lnTo>
                      <a:pt x="1284" y="621"/>
                    </a:lnTo>
                    <a:lnTo>
                      <a:pt x="1288" y="620"/>
                    </a:lnTo>
                    <a:lnTo>
                      <a:pt x="1291" y="618"/>
                    </a:lnTo>
                    <a:lnTo>
                      <a:pt x="1295" y="618"/>
                    </a:lnTo>
                    <a:lnTo>
                      <a:pt x="1296" y="616"/>
                    </a:lnTo>
                    <a:lnTo>
                      <a:pt x="1300" y="614"/>
                    </a:lnTo>
                    <a:lnTo>
                      <a:pt x="1303" y="614"/>
                    </a:lnTo>
                    <a:lnTo>
                      <a:pt x="1307" y="613"/>
                    </a:lnTo>
                    <a:lnTo>
                      <a:pt x="1309" y="611"/>
                    </a:lnTo>
                    <a:lnTo>
                      <a:pt x="1312" y="611"/>
                    </a:lnTo>
                    <a:lnTo>
                      <a:pt x="1316" y="609"/>
                    </a:lnTo>
                    <a:lnTo>
                      <a:pt x="1319" y="607"/>
                    </a:lnTo>
                    <a:lnTo>
                      <a:pt x="1321" y="607"/>
                    </a:lnTo>
                    <a:lnTo>
                      <a:pt x="1324" y="606"/>
                    </a:lnTo>
                    <a:lnTo>
                      <a:pt x="1328" y="604"/>
                    </a:lnTo>
                    <a:lnTo>
                      <a:pt x="1331" y="602"/>
                    </a:lnTo>
                    <a:lnTo>
                      <a:pt x="1335" y="602"/>
                    </a:lnTo>
                    <a:lnTo>
                      <a:pt x="1336" y="600"/>
                    </a:lnTo>
                    <a:lnTo>
                      <a:pt x="1340" y="599"/>
                    </a:lnTo>
                    <a:lnTo>
                      <a:pt x="1343" y="599"/>
                    </a:lnTo>
                    <a:lnTo>
                      <a:pt x="1347" y="597"/>
                    </a:lnTo>
                    <a:lnTo>
                      <a:pt x="1349" y="595"/>
                    </a:lnTo>
                    <a:lnTo>
                      <a:pt x="1352" y="595"/>
                    </a:lnTo>
                    <a:lnTo>
                      <a:pt x="1356" y="593"/>
                    </a:lnTo>
                    <a:lnTo>
                      <a:pt x="1359" y="592"/>
                    </a:lnTo>
                    <a:lnTo>
                      <a:pt x="1363" y="592"/>
                    </a:lnTo>
                    <a:lnTo>
                      <a:pt x="1364" y="590"/>
                    </a:lnTo>
                    <a:lnTo>
                      <a:pt x="1368" y="588"/>
                    </a:lnTo>
                    <a:lnTo>
                      <a:pt x="1371" y="588"/>
                    </a:lnTo>
                    <a:lnTo>
                      <a:pt x="1375" y="586"/>
                    </a:lnTo>
                    <a:lnTo>
                      <a:pt x="1376" y="586"/>
                    </a:lnTo>
                    <a:lnTo>
                      <a:pt x="1380" y="585"/>
                    </a:lnTo>
                    <a:lnTo>
                      <a:pt x="1383" y="583"/>
                    </a:lnTo>
                    <a:lnTo>
                      <a:pt x="1387" y="583"/>
                    </a:lnTo>
                    <a:lnTo>
                      <a:pt x="1390" y="581"/>
                    </a:lnTo>
                    <a:lnTo>
                      <a:pt x="1394" y="580"/>
                    </a:lnTo>
                    <a:lnTo>
                      <a:pt x="1396" y="580"/>
                    </a:lnTo>
                    <a:lnTo>
                      <a:pt x="1399" y="578"/>
                    </a:lnTo>
                    <a:lnTo>
                      <a:pt x="1403" y="576"/>
                    </a:lnTo>
                    <a:lnTo>
                      <a:pt x="1406" y="576"/>
                    </a:lnTo>
                    <a:lnTo>
                      <a:pt x="1410" y="574"/>
                    </a:lnTo>
                    <a:lnTo>
                      <a:pt x="1411" y="574"/>
                    </a:lnTo>
                    <a:lnTo>
                      <a:pt x="1415" y="573"/>
                    </a:lnTo>
                    <a:lnTo>
                      <a:pt x="1418" y="571"/>
                    </a:lnTo>
                    <a:lnTo>
                      <a:pt x="1422" y="571"/>
                    </a:lnTo>
                    <a:moveTo>
                      <a:pt x="1227" y="536"/>
                    </a:moveTo>
                    <a:lnTo>
                      <a:pt x="1229" y="534"/>
                    </a:lnTo>
                    <a:lnTo>
                      <a:pt x="1230" y="533"/>
                    </a:lnTo>
                    <a:lnTo>
                      <a:pt x="1232" y="531"/>
                    </a:lnTo>
                    <a:lnTo>
                      <a:pt x="1234" y="527"/>
                    </a:lnTo>
                    <a:lnTo>
                      <a:pt x="1237" y="526"/>
                    </a:lnTo>
                    <a:lnTo>
                      <a:pt x="1239" y="524"/>
                    </a:lnTo>
                    <a:lnTo>
                      <a:pt x="1241" y="522"/>
                    </a:lnTo>
                    <a:lnTo>
                      <a:pt x="1242" y="520"/>
                    </a:lnTo>
                    <a:lnTo>
                      <a:pt x="1246" y="517"/>
                    </a:lnTo>
                    <a:lnTo>
                      <a:pt x="1248" y="515"/>
                    </a:lnTo>
                    <a:lnTo>
                      <a:pt x="1249" y="513"/>
                    </a:lnTo>
                    <a:lnTo>
                      <a:pt x="1251" y="512"/>
                    </a:lnTo>
                    <a:lnTo>
                      <a:pt x="1253" y="508"/>
                    </a:lnTo>
                    <a:lnTo>
                      <a:pt x="1256" y="506"/>
                    </a:lnTo>
                    <a:lnTo>
                      <a:pt x="1258" y="505"/>
                    </a:lnTo>
                    <a:lnTo>
                      <a:pt x="1260" y="503"/>
                    </a:lnTo>
                    <a:lnTo>
                      <a:pt x="1262" y="501"/>
                    </a:lnTo>
                    <a:lnTo>
                      <a:pt x="1265" y="499"/>
                    </a:lnTo>
                    <a:lnTo>
                      <a:pt x="1267" y="496"/>
                    </a:lnTo>
                    <a:lnTo>
                      <a:pt x="1269" y="494"/>
                    </a:lnTo>
                    <a:lnTo>
                      <a:pt x="1270" y="492"/>
                    </a:lnTo>
                    <a:lnTo>
                      <a:pt x="1274" y="491"/>
                    </a:lnTo>
                    <a:lnTo>
                      <a:pt x="1275" y="489"/>
                    </a:lnTo>
                    <a:lnTo>
                      <a:pt x="1277" y="486"/>
                    </a:lnTo>
                    <a:lnTo>
                      <a:pt x="1279" y="484"/>
                    </a:lnTo>
                    <a:lnTo>
                      <a:pt x="1282" y="482"/>
                    </a:lnTo>
                    <a:lnTo>
                      <a:pt x="1284" y="480"/>
                    </a:lnTo>
                    <a:lnTo>
                      <a:pt x="1286" y="479"/>
                    </a:lnTo>
                    <a:lnTo>
                      <a:pt x="1288" y="477"/>
                    </a:lnTo>
                    <a:lnTo>
                      <a:pt x="1289" y="475"/>
                    </a:lnTo>
                    <a:lnTo>
                      <a:pt x="1293" y="472"/>
                    </a:lnTo>
                    <a:lnTo>
                      <a:pt x="1295" y="470"/>
                    </a:lnTo>
                    <a:lnTo>
                      <a:pt x="1296" y="468"/>
                    </a:lnTo>
                    <a:lnTo>
                      <a:pt x="1298" y="466"/>
                    </a:lnTo>
                    <a:lnTo>
                      <a:pt x="1302" y="465"/>
                    </a:lnTo>
                    <a:lnTo>
                      <a:pt x="1303" y="461"/>
                    </a:lnTo>
                    <a:lnTo>
                      <a:pt x="1305" y="459"/>
                    </a:lnTo>
                    <a:lnTo>
                      <a:pt x="1307" y="458"/>
                    </a:lnTo>
                    <a:lnTo>
                      <a:pt x="1310" y="456"/>
                    </a:lnTo>
                    <a:lnTo>
                      <a:pt x="1312" y="454"/>
                    </a:lnTo>
                    <a:lnTo>
                      <a:pt x="1314" y="452"/>
                    </a:lnTo>
                    <a:lnTo>
                      <a:pt x="1317" y="449"/>
                    </a:lnTo>
                    <a:lnTo>
                      <a:pt x="1319" y="447"/>
                    </a:lnTo>
                    <a:lnTo>
                      <a:pt x="1321" y="445"/>
                    </a:lnTo>
                    <a:lnTo>
                      <a:pt x="1322" y="444"/>
                    </a:lnTo>
                    <a:lnTo>
                      <a:pt x="1326" y="442"/>
                    </a:lnTo>
                    <a:lnTo>
                      <a:pt x="1328" y="440"/>
                    </a:lnTo>
                    <a:lnTo>
                      <a:pt x="1329" y="439"/>
                    </a:lnTo>
                    <a:lnTo>
                      <a:pt x="1333" y="435"/>
                    </a:lnTo>
                    <a:lnTo>
                      <a:pt x="1335" y="433"/>
                    </a:lnTo>
                    <a:lnTo>
                      <a:pt x="1336" y="432"/>
                    </a:lnTo>
                    <a:lnTo>
                      <a:pt x="1338" y="430"/>
                    </a:lnTo>
                    <a:lnTo>
                      <a:pt x="1342" y="428"/>
                    </a:lnTo>
                    <a:lnTo>
                      <a:pt x="1343" y="426"/>
                    </a:lnTo>
                    <a:lnTo>
                      <a:pt x="1345" y="425"/>
                    </a:lnTo>
                    <a:lnTo>
                      <a:pt x="1349" y="421"/>
                    </a:lnTo>
                    <a:lnTo>
                      <a:pt x="1350" y="419"/>
                    </a:lnTo>
                    <a:lnTo>
                      <a:pt x="1352" y="418"/>
                    </a:lnTo>
                    <a:lnTo>
                      <a:pt x="1356" y="416"/>
                    </a:lnTo>
                    <a:lnTo>
                      <a:pt x="1357" y="414"/>
                    </a:lnTo>
                    <a:lnTo>
                      <a:pt x="1359" y="412"/>
                    </a:lnTo>
                    <a:lnTo>
                      <a:pt x="1361" y="411"/>
                    </a:lnTo>
                    <a:lnTo>
                      <a:pt x="1364" y="407"/>
                    </a:lnTo>
                    <a:lnTo>
                      <a:pt x="1366" y="405"/>
                    </a:lnTo>
                    <a:lnTo>
                      <a:pt x="1368" y="404"/>
                    </a:lnTo>
                    <a:lnTo>
                      <a:pt x="1371" y="402"/>
                    </a:lnTo>
                    <a:lnTo>
                      <a:pt x="1373" y="400"/>
                    </a:lnTo>
                    <a:lnTo>
                      <a:pt x="1375" y="398"/>
                    </a:lnTo>
                    <a:lnTo>
                      <a:pt x="1378" y="395"/>
                    </a:lnTo>
                    <a:lnTo>
                      <a:pt x="1380" y="393"/>
                    </a:lnTo>
                    <a:lnTo>
                      <a:pt x="1382" y="392"/>
                    </a:lnTo>
                    <a:lnTo>
                      <a:pt x="1385" y="390"/>
                    </a:lnTo>
                    <a:lnTo>
                      <a:pt x="1387" y="388"/>
                    </a:lnTo>
                    <a:lnTo>
                      <a:pt x="1389" y="386"/>
                    </a:lnTo>
                    <a:lnTo>
                      <a:pt x="1392" y="385"/>
                    </a:lnTo>
                    <a:lnTo>
                      <a:pt x="1394" y="383"/>
                    </a:lnTo>
                    <a:lnTo>
                      <a:pt x="1396" y="379"/>
                    </a:lnTo>
                    <a:lnTo>
                      <a:pt x="1399" y="378"/>
                    </a:lnTo>
                    <a:lnTo>
                      <a:pt x="1401" y="376"/>
                    </a:lnTo>
                    <a:lnTo>
                      <a:pt x="1403" y="374"/>
                    </a:lnTo>
                    <a:lnTo>
                      <a:pt x="1406" y="372"/>
                    </a:lnTo>
                    <a:lnTo>
                      <a:pt x="1408" y="371"/>
                    </a:lnTo>
                    <a:lnTo>
                      <a:pt x="1410" y="369"/>
                    </a:lnTo>
                    <a:lnTo>
                      <a:pt x="1413" y="367"/>
                    </a:lnTo>
                    <a:lnTo>
                      <a:pt x="1415" y="365"/>
                    </a:lnTo>
                    <a:lnTo>
                      <a:pt x="1416" y="362"/>
                    </a:lnTo>
                    <a:lnTo>
                      <a:pt x="1420" y="360"/>
                    </a:lnTo>
                    <a:lnTo>
                      <a:pt x="1422" y="358"/>
                    </a:lnTo>
                    <a:lnTo>
                      <a:pt x="1423" y="357"/>
                    </a:lnTo>
                    <a:lnTo>
                      <a:pt x="1427" y="355"/>
                    </a:lnTo>
                    <a:lnTo>
                      <a:pt x="1429" y="353"/>
                    </a:lnTo>
                    <a:lnTo>
                      <a:pt x="1430" y="351"/>
                    </a:lnTo>
                    <a:lnTo>
                      <a:pt x="1434" y="350"/>
                    </a:lnTo>
                    <a:lnTo>
                      <a:pt x="1436" y="348"/>
                    </a:lnTo>
                    <a:lnTo>
                      <a:pt x="1437" y="345"/>
                    </a:lnTo>
                    <a:lnTo>
                      <a:pt x="1441" y="343"/>
                    </a:lnTo>
                    <a:lnTo>
                      <a:pt x="1443" y="341"/>
                    </a:lnTo>
                    <a:lnTo>
                      <a:pt x="1444" y="339"/>
                    </a:lnTo>
                    <a:lnTo>
                      <a:pt x="1448" y="338"/>
                    </a:lnTo>
                    <a:lnTo>
                      <a:pt x="1450" y="336"/>
                    </a:lnTo>
                    <a:lnTo>
                      <a:pt x="1453" y="334"/>
                    </a:lnTo>
                    <a:lnTo>
                      <a:pt x="1455" y="332"/>
                    </a:lnTo>
                    <a:lnTo>
                      <a:pt x="1457" y="331"/>
                    </a:lnTo>
                    <a:lnTo>
                      <a:pt x="1460" y="329"/>
                    </a:lnTo>
                    <a:lnTo>
                      <a:pt x="1462" y="325"/>
                    </a:lnTo>
                    <a:lnTo>
                      <a:pt x="1465" y="324"/>
                    </a:lnTo>
                    <a:lnTo>
                      <a:pt x="1467" y="322"/>
                    </a:lnTo>
                    <a:lnTo>
                      <a:pt x="1469" y="320"/>
                    </a:lnTo>
                    <a:lnTo>
                      <a:pt x="1472" y="318"/>
                    </a:lnTo>
                    <a:lnTo>
                      <a:pt x="1474" y="317"/>
                    </a:lnTo>
                    <a:lnTo>
                      <a:pt x="1476" y="315"/>
                    </a:lnTo>
                    <a:lnTo>
                      <a:pt x="1479" y="313"/>
                    </a:lnTo>
                    <a:lnTo>
                      <a:pt x="1481" y="311"/>
                    </a:lnTo>
                    <a:lnTo>
                      <a:pt x="1484" y="310"/>
                    </a:lnTo>
                    <a:lnTo>
                      <a:pt x="1486" y="308"/>
                    </a:lnTo>
                    <a:lnTo>
                      <a:pt x="1488" y="306"/>
                    </a:lnTo>
                    <a:lnTo>
                      <a:pt x="1491" y="303"/>
                    </a:lnTo>
                    <a:lnTo>
                      <a:pt x="1493" y="301"/>
                    </a:lnTo>
                    <a:lnTo>
                      <a:pt x="1495" y="299"/>
                    </a:lnTo>
                    <a:lnTo>
                      <a:pt x="1498" y="298"/>
                    </a:lnTo>
                    <a:lnTo>
                      <a:pt x="1500" y="296"/>
                    </a:lnTo>
                    <a:lnTo>
                      <a:pt x="1503" y="294"/>
                    </a:lnTo>
                    <a:lnTo>
                      <a:pt x="1505" y="292"/>
                    </a:lnTo>
                    <a:lnTo>
                      <a:pt x="1509" y="291"/>
                    </a:lnTo>
                    <a:lnTo>
                      <a:pt x="1510" y="289"/>
                    </a:lnTo>
                    <a:lnTo>
                      <a:pt x="1512" y="287"/>
                    </a:lnTo>
                    <a:lnTo>
                      <a:pt x="1516" y="285"/>
                    </a:lnTo>
                    <a:lnTo>
                      <a:pt x="1517" y="284"/>
                    </a:lnTo>
                    <a:lnTo>
                      <a:pt x="1521" y="282"/>
                    </a:lnTo>
                    <a:lnTo>
                      <a:pt x="1523" y="280"/>
                    </a:lnTo>
                    <a:lnTo>
                      <a:pt x="1524" y="278"/>
                    </a:lnTo>
                    <a:lnTo>
                      <a:pt x="1528" y="275"/>
                    </a:lnTo>
                    <a:lnTo>
                      <a:pt x="1530" y="273"/>
                    </a:lnTo>
                    <a:lnTo>
                      <a:pt x="1533" y="271"/>
                    </a:lnTo>
                    <a:lnTo>
                      <a:pt x="1535" y="270"/>
                    </a:lnTo>
                    <a:lnTo>
                      <a:pt x="1538" y="268"/>
                    </a:lnTo>
                    <a:lnTo>
                      <a:pt x="1540" y="266"/>
                    </a:lnTo>
                    <a:lnTo>
                      <a:pt x="1542" y="264"/>
                    </a:lnTo>
                    <a:lnTo>
                      <a:pt x="1545" y="263"/>
                    </a:lnTo>
                    <a:lnTo>
                      <a:pt x="1547" y="261"/>
                    </a:lnTo>
                    <a:lnTo>
                      <a:pt x="1550" y="259"/>
                    </a:lnTo>
                    <a:lnTo>
                      <a:pt x="1552" y="257"/>
                    </a:lnTo>
                    <a:lnTo>
                      <a:pt x="1554" y="256"/>
                    </a:lnTo>
                    <a:lnTo>
                      <a:pt x="1557" y="254"/>
                    </a:lnTo>
                    <a:lnTo>
                      <a:pt x="1561" y="252"/>
                    </a:lnTo>
                    <a:lnTo>
                      <a:pt x="1563" y="250"/>
                    </a:lnTo>
                    <a:lnTo>
                      <a:pt x="1564" y="249"/>
                    </a:lnTo>
                    <a:lnTo>
                      <a:pt x="1568" y="247"/>
                    </a:lnTo>
                    <a:lnTo>
                      <a:pt x="1570" y="245"/>
                    </a:lnTo>
                    <a:lnTo>
                      <a:pt x="1573" y="244"/>
                    </a:lnTo>
                    <a:lnTo>
                      <a:pt x="1575" y="242"/>
                    </a:lnTo>
                    <a:lnTo>
                      <a:pt x="1577" y="240"/>
                    </a:lnTo>
                    <a:lnTo>
                      <a:pt x="1580" y="238"/>
                    </a:lnTo>
                    <a:lnTo>
                      <a:pt x="1582" y="235"/>
                    </a:lnTo>
                    <a:lnTo>
                      <a:pt x="1585" y="233"/>
                    </a:lnTo>
                    <a:lnTo>
                      <a:pt x="1587" y="233"/>
                    </a:lnTo>
                    <a:lnTo>
                      <a:pt x="1591" y="230"/>
                    </a:lnTo>
                    <a:lnTo>
                      <a:pt x="1592" y="228"/>
                    </a:lnTo>
                    <a:lnTo>
                      <a:pt x="1596" y="226"/>
                    </a:lnTo>
                    <a:lnTo>
                      <a:pt x="1597" y="224"/>
                    </a:lnTo>
                    <a:lnTo>
                      <a:pt x="1601" y="223"/>
                    </a:lnTo>
                    <a:lnTo>
                      <a:pt x="1603" y="221"/>
                    </a:lnTo>
                    <a:lnTo>
                      <a:pt x="1606" y="219"/>
                    </a:lnTo>
                    <a:lnTo>
                      <a:pt x="1608" y="217"/>
                    </a:lnTo>
                    <a:lnTo>
                      <a:pt x="1611" y="216"/>
                    </a:lnTo>
                    <a:lnTo>
                      <a:pt x="1613" y="214"/>
                    </a:lnTo>
                    <a:lnTo>
                      <a:pt x="1617" y="212"/>
                    </a:lnTo>
                    <a:lnTo>
                      <a:pt x="1618" y="210"/>
                    </a:lnTo>
                    <a:lnTo>
                      <a:pt x="1620" y="209"/>
                    </a:lnTo>
                    <a:lnTo>
                      <a:pt x="1624" y="207"/>
                    </a:lnTo>
                    <a:lnTo>
                      <a:pt x="1625" y="205"/>
                    </a:lnTo>
                    <a:lnTo>
                      <a:pt x="1629" y="203"/>
                    </a:lnTo>
                    <a:lnTo>
                      <a:pt x="1631" y="202"/>
                    </a:lnTo>
                    <a:lnTo>
                      <a:pt x="1634" y="200"/>
                    </a:lnTo>
                    <a:lnTo>
                      <a:pt x="1636" y="198"/>
                    </a:lnTo>
                    <a:lnTo>
                      <a:pt x="1639" y="197"/>
                    </a:lnTo>
                    <a:lnTo>
                      <a:pt x="1641" y="195"/>
                    </a:lnTo>
                    <a:lnTo>
                      <a:pt x="1644" y="193"/>
                    </a:lnTo>
                    <a:lnTo>
                      <a:pt x="1646" y="191"/>
                    </a:lnTo>
                    <a:lnTo>
                      <a:pt x="1650" y="190"/>
                    </a:lnTo>
                    <a:lnTo>
                      <a:pt x="1651" y="188"/>
                    </a:lnTo>
                    <a:lnTo>
                      <a:pt x="1655" y="186"/>
                    </a:lnTo>
                    <a:lnTo>
                      <a:pt x="1657" y="184"/>
                    </a:lnTo>
                    <a:lnTo>
                      <a:pt x="1660" y="183"/>
                    </a:lnTo>
                    <a:lnTo>
                      <a:pt x="1662" y="181"/>
                    </a:lnTo>
                    <a:lnTo>
                      <a:pt x="1665" y="179"/>
                    </a:lnTo>
                    <a:lnTo>
                      <a:pt x="1667" y="177"/>
                    </a:lnTo>
                    <a:lnTo>
                      <a:pt x="1671" y="176"/>
                    </a:lnTo>
                    <a:lnTo>
                      <a:pt x="1672" y="174"/>
                    </a:lnTo>
                    <a:lnTo>
                      <a:pt x="1676" y="172"/>
                    </a:lnTo>
                    <a:lnTo>
                      <a:pt x="1678" y="170"/>
                    </a:lnTo>
                    <a:lnTo>
                      <a:pt x="1681" y="169"/>
                    </a:lnTo>
                    <a:lnTo>
                      <a:pt x="1683" y="167"/>
                    </a:lnTo>
                    <a:lnTo>
                      <a:pt x="1686" y="165"/>
                    </a:lnTo>
                    <a:lnTo>
                      <a:pt x="1688" y="163"/>
                    </a:lnTo>
                    <a:lnTo>
                      <a:pt x="1691" y="162"/>
                    </a:lnTo>
                    <a:lnTo>
                      <a:pt x="1693" y="160"/>
                    </a:lnTo>
                    <a:lnTo>
                      <a:pt x="1697" y="158"/>
                    </a:lnTo>
                    <a:lnTo>
                      <a:pt x="1698" y="156"/>
                    </a:lnTo>
                    <a:lnTo>
                      <a:pt x="1702" y="155"/>
                    </a:lnTo>
                    <a:lnTo>
                      <a:pt x="1704" y="153"/>
                    </a:lnTo>
                    <a:lnTo>
                      <a:pt x="1707" y="151"/>
                    </a:lnTo>
                    <a:lnTo>
                      <a:pt x="1709" y="151"/>
                    </a:lnTo>
                    <a:lnTo>
                      <a:pt x="1712" y="148"/>
                    </a:lnTo>
                    <a:lnTo>
                      <a:pt x="1714" y="148"/>
                    </a:lnTo>
                    <a:lnTo>
                      <a:pt x="1718" y="146"/>
                    </a:lnTo>
                    <a:lnTo>
                      <a:pt x="1721" y="144"/>
                    </a:lnTo>
                    <a:lnTo>
                      <a:pt x="1723" y="143"/>
                    </a:lnTo>
                    <a:lnTo>
                      <a:pt x="1726" y="141"/>
                    </a:lnTo>
                    <a:lnTo>
                      <a:pt x="1728" y="139"/>
                    </a:lnTo>
                    <a:lnTo>
                      <a:pt x="1731" y="137"/>
                    </a:lnTo>
                    <a:lnTo>
                      <a:pt x="1733" y="136"/>
                    </a:lnTo>
                    <a:lnTo>
                      <a:pt x="1737" y="134"/>
                    </a:lnTo>
                    <a:lnTo>
                      <a:pt x="1738" y="132"/>
                    </a:lnTo>
                    <a:lnTo>
                      <a:pt x="1742" y="130"/>
                    </a:lnTo>
                    <a:lnTo>
                      <a:pt x="1744" y="129"/>
                    </a:lnTo>
                    <a:lnTo>
                      <a:pt x="1747" y="127"/>
                    </a:lnTo>
                    <a:lnTo>
                      <a:pt x="1749" y="125"/>
                    </a:lnTo>
                    <a:lnTo>
                      <a:pt x="1752" y="123"/>
                    </a:lnTo>
                    <a:lnTo>
                      <a:pt x="1756" y="122"/>
                    </a:lnTo>
                    <a:lnTo>
                      <a:pt x="1758" y="120"/>
                    </a:lnTo>
                    <a:lnTo>
                      <a:pt x="1761" y="118"/>
                    </a:lnTo>
                    <a:lnTo>
                      <a:pt x="1763" y="116"/>
                    </a:lnTo>
                    <a:lnTo>
                      <a:pt x="1766" y="115"/>
                    </a:lnTo>
                    <a:lnTo>
                      <a:pt x="1768" y="115"/>
                    </a:lnTo>
                    <a:lnTo>
                      <a:pt x="1772" y="111"/>
                    </a:lnTo>
                    <a:lnTo>
                      <a:pt x="1773" y="111"/>
                    </a:lnTo>
                    <a:lnTo>
                      <a:pt x="1777" y="109"/>
                    </a:lnTo>
                    <a:lnTo>
                      <a:pt x="1780" y="108"/>
                    </a:lnTo>
                    <a:lnTo>
                      <a:pt x="1782" y="106"/>
                    </a:lnTo>
                    <a:lnTo>
                      <a:pt x="1785" y="104"/>
                    </a:lnTo>
                    <a:lnTo>
                      <a:pt x="1787" y="103"/>
                    </a:lnTo>
                    <a:lnTo>
                      <a:pt x="1791" y="101"/>
                    </a:lnTo>
                    <a:lnTo>
                      <a:pt x="1792" y="99"/>
                    </a:lnTo>
                    <a:lnTo>
                      <a:pt x="1796" y="97"/>
                    </a:lnTo>
                    <a:lnTo>
                      <a:pt x="1799" y="96"/>
                    </a:lnTo>
                    <a:lnTo>
                      <a:pt x="1801" y="94"/>
                    </a:lnTo>
                    <a:lnTo>
                      <a:pt x="1805" y="92"/>
                    </a:lnTo>
                    <a:lnTo>
                      <a:pt x="1806" y="90"/>
                    </a:lnTo>
                    <a:lnTo>
                      <a:pt x="1810" y="89"/>
                    </a:lnTo>
                    <a:lnTo>
                      <a:pt x="1812" y="89"/>
                    </a:lnTo>
                    <a:lnTo>
                      <a:pt x="1815" y="87"/>
                    </a:lnTo>
                    <a:lnTo>
                      <a:pt x="1819" y="85"/>
                    </a:lnTo>
                    <a:lnTo>
                      <a:pt x="1820" y="83"/>
                    </a:lnTo>
                    <a:lnTo>
                      <a:pt x="1824" y="82"/>
                    </a:lnTo>
                    <a:lnTo>
                      <a:pt x="1825" y="80"/>
                    </a:lnTo>
                    <a:lnTo>
                      <a:pt x="1829" y="78"/>
                    </a:lnTo>
                    <a:lnTo>
                      <a:pt x="1831" y="76"/>
                    </a:lnTo>
                    <a:lnTo>
                      <a:pt x="1834" y="75"/>
                    </a:lnTo>
                    <a:lnTo>
                      <a:pt x="1838" y="73"/>
                    </a:lnTo>
                    <a:lnTo>
                      <a:pt x="1839" y="73"/>
                    </a:lnTo>
                    <a:lnTo>
                      <a:pt x="1843" y="71"/>
                    </a:lnTo>
                    <a:lnTo>
                      <a:pt x="1845" y="69"/>
                    </a:lnTo>
                    <a:lnTo>
                      <a:pt x="1848" y="68"/>
                    </a:lnTo>
                    <a:lnTo>
                      <a:pt x="1852" y="66"/>
                    </a:lnTo>
                    <a:lnTo>
                      <a:pt x="1853" y="64"/>
                    </a:lnTo>
                    <a:lnTo>
                      <a:pt x="1857" y="62"/>
                    </a:lnTo>
                    <a:lnTo>
                      <a:pt x="1859" y="61"/>
                    </a:lnTo>
                    <a:lnTo>
                      <a:pt x="1862" y="59"/>
                    </a:lnTo>
                    <a:lnTo>
                      <a:pt x="1866" y="57"/>
                    </a:lnTo>
                    <a:lnTo>
                      <a:pt x="1867" y="56"/>
                    </a:lnTo>
                    <a:lnTo>
                      <a:pt x="1871" y="56"/>
                    </a:lnTo>
                    <a:lnTo>
                      <a:pt x="1872" y="54"/>
                    </a:lnTo>
                    <a:lnTo>
                      <a:pt x="1876" y="52"/>
                    </a:lnTo>
                    <a:lnTo>
                      <a:pt x="1879" y="50"/>
                    </a:lnTo>
                    <a:lnTo>
                      <a:pt x="1881" y="49"/>
                    </a:lnTo>
                    <a:lnTo>
                      <a:pt x="1885" y="47"/>
                    </a:lnTo>
                    <a:lnTo>
                      <a:pt x="1886" y="45"/>
                    </a:lnTo>
                    <a:lnTo>
                      <a:pt x="1890" y="43"/>
                    </a:lnTo>
                    <a:lnTo>
                      <a:pt x="1893" y="42"/>
                    </a:lnTo>
                    <a:lnTo>
                      <a:pt x="1895" y="42"/>
                    </a:lnTo>
                    <a:lnTo>
                      <a:pt x="1899" y="40"/>
                    </a:lnTo>
                    <a:lnTo>
                      <a:pt x="1900" y="38"/>
                    </a:lnTo>
                    <a:lnTo>
                      <a:pt x="1904" y="36"/>
                    </a:lnTo>
                    <a:lnTo>
                      <a:pt x="1907" y="35"/>
                    </a:lnTo>
                    <a:lnTo>
                      <a:pt x="1909" y="33"/>
                    </a:lnTo>
                    <a:lnTo>
                      <a:pt x="1913" y="31"/>
                    </a:lnTo>
                    <a:lnTo>
                      <a:pt x="1916" y="29"/>
                    </a:lnTo>
                    <a:lnTo>
                      <a:pt x="1918" y="29"/>
                    </a:lnTo>
                    <a:lnTo>
                      <a:pt x="1921" y="28"/>
                    </a:lnTo>
                    <a:lnTo>
                      <a:pt x="1923" y="26"/>
                    </a:lnTo>
                    <a:lnTo>
                      <a:pt x="1926" y="24"/>
                    </a:lnTo>
                    <a:lnTo>
                      <a:pt x="1930" y="22"/>
                    </a:lnTo>
                    <a:lnTo>
                      <a:pt x="1932" y="21"/>
                    </a:lnTo>
                    <a:lnTo>
                      <a:pt x="1935" y="19"/>
                    </a:lnTo>
                    <a:lnTo>
                      <a:pt x="1939" y="19"/>
                    </a:lnTo>
                    <a:lnTo>
                      <a:pt x="1940" y="17"/>
                    </a:lnTo>
                    <a:lnTo>
                      <a:pt x="1944" y="15"/>
                    </a:lnTo>
                    <a:lnTo>
                      <a:pt x="1947" y="14"/>
                    </a:lnTo>
                    <a:lnTo>
                      <a:pt x="1949" y="12"/>
                    </a:lnTo>
                    <a:lnTo>
                      <a:pt x="1953" y="10"/>
                    </a:lnTo>
                    <a:lnTo>
                      <a:pt x="1954" y="9"/>
                    </a:lnTo>
                    <a:lnTo>
                      <a:pt x="1958" y="7"/>
                    </a:lnTo>
                    <a:lnTo>
                      <a:pt x="1961" y="7"/>
                    </a:lnTo>
                    <a:lnTo>
                      <a:pt x="1963" y="5"/>
                    </a:lnTo>
                    <a:lnTo>
                      <a:pt x="1966" y="3"/>
                    </a:lnTo>
                    <a:lnTo>
                      <a:pt x="1970" y="2"/>
                    </a:lnTo>
                    <a:lnTo>
                      <a:pt x="1972" y="0"/>
                    </a:lnTo>
                    <a:lnTo>
                      <a:pt x="1975" y="0"/>
                    </a:lnTo>
                    <a:moveTo>
                      <a:pt x="1049" y="728"/>
                    </a:moveTo>
                    <a:lnTo>
                      <a:pt x="1051" y="726"/>
                    </a:lnTo>
                    <a:lnTo>
                      <a:pt x="1053" y="724"/>
                    </a:lnTo>
                    <a:lnTo>
                      <a:pt x="1054" y="721"/>
                    </a:lnTo>
                    <a:lnTo>
                      <a:pt x="1056" y="719"/>
                    </a:lnTo>
                    <a:lnTo>
                      <a:pt x="1058" y="717"/>
                    </a:lnTo>
                    <a:lnTo>
                      <a:pt x="1060" y="714"/>
                    </a:lnTo>
                    <a:lnTo>
                      <a:pt x="1063" y="712"/>
                    </a:lnTo>
                    <a:lnTo>
                      <a:pt x="1065" y="710"/>
                    </a:lnTo>
                    <a:lnTo>
                      <a:pt x="1067" y="708"/>
                    </a:lnTo>
                    <a:lnTo>
                      <a:pt x="1068" y="705"/>
                    </a:lnTo>
                    <a:lnTo>
                      <a:pt x="1070" y="703"/>
                    </a:lnTo>
                    <a:lnTo>
                      <a:pt x="1072" y="701"/>
                    </a:lnTo>
                    <a:lnTo>
                      <a:pt x="1074" y="700"/>
                    </a:lnTo>
                    <a:lnTo>
                      <a:pt x="1075" y="696"/>
                    </a:lnTo>
                    <a:lnTo>
                      <a:pt x="1077" y="694"/>
                    </a:lnTo>
                    <a:lnTo>
                      <a:pt x="1079" y="693"/>
                    </a:lnTo>
                    <a:lnTo>
                      <a:pt x="1082" y="691"/>
                    </a:lnTo>
                    <a:lnTo>
                      <a:pt x="1084" y="687"/>
                    </a:lnTo>
                    <a:lnTo>
                      <a:pt x="1086" y="686"/>
                    </a:lnTo>
                    <a:lnTo>
                      <a:pt x="1088" y="684"/>
                    </a:lnTo>
                    <a:lnTo>
                      <a:pt x="1089" y="682"/>
                    </a:lnTo>
                    <a:lnTo>
                      <a:pt x="1091" y="681"/>
                    </a:lnTo>
                    <a:lnTo>
                      <a:pt x="1093" y="677"/>
                    </a:lnTo>
                    <a:lnTo>
                      <a:pt x="1094" y="675"/>
                    </a:lnTo>
                    <a:lnTo>
                      <a:pt x="1096" y="674"/>
                    </a:lnTo>
                    <a:lnTo>
                      <a:pt x="1100" y="672"/>
                    </a:lnTo>
                    <a:lnTo>
                      <a:pt x="1101" y="668"/>
                    </a:lnTo>
                    <a:lnTo>
                      <a:pt x="1103" y="667"/>
                    </a:lnTo>
                    <a:lnTo>
                      <a:pt x="1105" y="665"/>
                    </a:lnTo>
                    <a:lnTo>
                      <a:pt x="1107" y="663"/>
                    </a:lnTo>
                    <a:lnTo>
                      <a:pt x="1108" y="660"/>
                    </a:lnTo>
                    <a:lnTo>
                      <a:pt x="1110" y="658"/>
                    </a:lnTo>
                    <a:lnTo>
                      <a:pt x="1114" y="656"/>
                    </a:lnTo>
                    <a:lnTo>
                      <a:pt x="1115" y="654"/>
                    </a:lnTo>
                    <a:lnTo>
                      <a:pt x="1117" y="651"/>
                    </a:lnTo>
                    <a:lnTo>
                      <a:pt x="1119" y="649"/>
                    </a:lnTo>
                    <a:lnTo>
                      <a:pt x="1121" y="647"/>
                    </a:lnTo>
                    <a:lnTo>
                      <a:pt x="1122" y="646"/>
                    </a:lnTo>
                    <a:lnTo>
                      <a:pt x="1124" y="642"/>
                    </a:lnTo>
                    <a:lnTo>
                      <a:pt x="1126" y="640"/>
                    </a:lnTo>
                    <a:lnTo>
                      <a:pt x="1128" y="639"/>
                    </a:lnTo>
                    <a:lnTo>
                      <a:pt x="1131" y="637"/>
                    </a:lnTo>
                    <a:lnTo>
                      <a:pt x="1133" y="634"/>
                    </a:lnTo>
                    <a:lnTo>
                      <a:pt x="1135" y="632"/>
                    </a:lnTo>
                    <a:lnTo>
                      <a:pt x="1136" y="630"/>
                    </a:lnTo>
                    <a:lnTo>
                      <a:pt x="1138" y="628"/>
                    </a:lnTo>
                    <a:lnTo>
                      <a:pt x="1140" y="625"/>
                    </a:lnTo>
                    <a:lnTo>
                      <a:pt x="1141" y="623"/>
                    </a:lnTo>
                    <a:lnTo>
                      <a:pt x="1145" y="621"/>
                    </a:lnTo>
                    <a:lnTo>
                      <a:pt x="1147" y="620"/>
                    </a:lnTo>
                    <a:lnTo>
                      <a:pt x="1148" y="616"/>
                    </a:lnTo>
                    <a:lnTo>
                      <a:pt x="1150" y="614"/>
                    </a:lnTo>
                    <a:lnTo>
                      <a:pt x="1152" y="613"/>
                    </a:lnTo>
                    <a:lnTo>
                      <a:pt x="1154" y="611"/>
                    </a:lnTo>
                    <a:lnTo>
                      <a:pt x="1155" y="607"/>
                    </a:lnTo>
                    <a:lnTo>
                      <a:pt x="1159" y="606"/>
                    </a:lnTo>
                    <a:lnTo>
                      <a:pt x="1161" y="604"/>
                    </a:lnTo>
                    <a:lnTo>
                      <a:pt x="1162" y="602"/>
                    </a:lnTo>
                    <a:lnTo>
                      <a:pt x="1164" y="600"/>
                    </a:lnTo>
                    <a:lnTo>
                      <a:pt x="1166" y="597"/>
                    </a:lnTo>
                    <a:lnTo>
                      <a:pt x="1168" y="595"/>
                    </a:lnTo>
                    <a:lnTo>
                      <a:pt x="1171" y="593"/>
                    </a:lnTo>
                    <a:lnTo>
                      <a:pt x="1173" y="592"/>
                    </a:lnTo>
                    <a:lnTo>
                      <a:pt x="1175" y="588"/>
                    </a:lnTo>
                    <a:lnTo>
                      <a:pt x="1176" y="586"/>
                    </a:lnTo>
                    <a:lnTo>
                      <a:pt x="1178" y="585"/>
                    </a:lnTo>
                    <a:lnTo>
                      <a:pt x="1180" y="583"/>
                    </a:lnTo>
                    <a:lnTo>
                      <a:pt x="1183" y="581"/>
                    </a:lnTo>
                    <a:lnTo>
                      <a:pt x="1185" y="578"/>
                    </a:lnTo>
                    <a:lnTo>
                      <a:pt x="1187" y="576"/>
                    </a:lnTo>
                    <a:lnTo>
                      <a:pt x="1188" y="574"/>
                    </a:lnTo>
                    <a:lnTo>
                      <a:pt x="1190" y="573"/>
                    </a:lnTo>
                    <a:lnTo>
                      <a:pt x="1192" y="571"/>
                    </a:lnTo>
                    <a:lnTo>
                      <a:pt x="1195" y="567"/>
                    </a:lnTo>
                    <a:lnTo>
                      <a:pt x="1197" y="566"/>
                    </a:lnTo>
                    <a:lnTo>
                      <a:pt x="1199" y="564"/>
                    </a:lnTo>
                    <a:lnTo>
                      <a:pt x="1201" y="562"/>
                    </a:lnTo>
                    <a:lnTo>
                      <a:pt x="1202" y="559"/>
                    </a:lnTo>
                    <a:lnTo>
                      <a:pt x="1206" y="557"/>
                    </a:lnTo>
                    <a:lnTo>
                      <a:pt x="1208" y="555"/>
                    </a:lnTo>
                    <a:lnTo>
                      <a:pt x="1209" y="553"/>
                    </a:lnTo>
                    <a:lnTo>
                      <a:pt x="1211" y="550"/>
                    </a:lnTo>
                    <a:lnTo>
                      <a:pt x="1213" y="548"/>
                    </a:lnTo>
                    <a:lnTo>
                      <a:pt x="1216" y="546"/>
                    </a:lnTo>
                    <a:lnTo>
                      <a:pt x="1218" y="545"/>
                    </a:lnTo>
                    <a:lnTo>
                      <a:pt x="1220" y="543"/>
                    </a:lnTo>
                    <a:lnTo>
                      <a:pt x="1222" y="539"/>
                    </a:lnTo>
                    <a:lnTo>
                      <a:pt x="1223" y="538"/>
                    </a:lnTo>
                    <a:lnTo>
                      <a:pt x="1227" y="536"/>
                    </a:lnTo>
                    <a:moveTo>
                      <a:pt x="1044" y="726"/>
                    </a:moveTo>
                    <a:lnTo>
                      <a:pt x="1044" y="724"/>
                    </a:lnTo>
                    <a:lnTo>
                      <a:pt x="1046" y="721"/>
                    </a:lnTo>
                    <a:lnTo>
                      <a:pt x="1046" y="719"/>
                    </a:lnTo>
                    <a:lnTo>
                      <a:pt x="1046" y="715"/>
                    </a:lnTo>
                    <a:lnTo>
                      <a:pt x="1047" y="714"/>
                    </a:lnTo>
                    <a:lnTo>
                      <a:pt x="1047" y="710"/>
                    </a:lnTo>
                    <a:lnTo>
                      <a:pt x="1047" y="708"/>
                    </a:lnTo>
                    <a:lnTo>
                      <a:pt x="1049" y="705"/>
                    </a:lnTo>
                    <a:lnTo>
                      <a:pt x="1049" y="703"/>
                    </a:lnTo>
                    <a:lnTo>
                      <a:pt x="1051" y="700"/>
                    </a:lnTo>
                    <a:lnTo>
                      <a:pt x="1051" y="698"/>
                    </a:lnTo>
                    <a:lnTo>
                      <a:pt x="1051" y="694"/>
                    </a:lnTo>
                    <a:lnTo>
                      <a:pt x="1053" y="693"/>
                    </a:lnTo>
                    <a:lnTo>
                      <a:pt x="1053" y="689"/>
                    </a:lnTo>
                    <a:lnTo>
                      <a:pt x="1054" y="687"/>
                    </a:lnTo>
                    <a:lnTo>
                      <a:pt x="1054" y="684"/>
                    </a:lnTo>
                    <a:lnTo>
                      <a:pt x="1054" y="682"/>
                    </a:lnTo>
                    <a:lnTo>
                      <a:pt x="1056" y="681"/>
                    </a:lnTo>
                    <a:lnTo>
                      <a:pt x="1056" y="677"/>
                    </a:lnTo>
                    <a:lnTo>
                      <a:pt x="1058" y="674"/>
                    </a:lnTo>
                    <a:lnTo>
                      <a:pt x="1058" y="672"/>
                    </a:lnTo>
                    <a:lnTo>
                      <a:pt x="1058" y="668"/>
                    </a:lnTo>
                    <a:lnTo>
                      <a:pt x="1060" y="667"/>
                    </a:lnTo>
                    <a:lnTo>
                      <a:pt x="1060" y="665"/>
                    </a:lnTo>
                    <a:lnTo>
                      <a:pt x="1061" y="661"/>
                    </a:lnTo>
                    <a:lnTo>
                      <a:pt x="1061" y="660"/>
                    </a:lnTo>
                    <a:lnTo>
                      <a:pt x="1061" y="656"/>
                    </a:lnTo>
                    <a:lnTo>
                      <a:pt x="1063" y="654"/>
                    </a:lnTo>
                    <a:lnTo>
                      <a:pt x="1063" y="651"/>
                    </a:lnTo>
                    <a:lnTo>
                      <a:pt x="1065" y="649"/>
                    </a:lnTo>
                    <a:lnTo>
                      <a:pt x="1065" y="646"/>
                    </a:lnTo>
                    <a:lnTo>
                      <a:pt x="1065" y="644"/>
                    </a:lnTo>
                    <a:lnTo>
                      <a:pt x="1067" y="640"/>
                    </a:lnTo>
                    <a:lnTo>
                      <a:pt x="1067" y="639"/>
                    </a:lnTo>
                    <a:lnTo>
                      <a:pt x="1068" y="635"/>
                    </a:lnTo>
                    <a:lnTo>
                      <a:pt x="1068" y="634"/>
                    </a:lnTo>
                    <a:lnTo>
                      <a:pt x="1068" y="630"/>
                    </a:lnTo>
                    <a:lnTo>
                      <a:pt x="1070" y="628"/>
                    </a:lnTo>
                    <a:lnTo>
                      <a:pt x="1070" y="625"/>
                    </a:lnTo>
                    <a:lnTo>
                      <a:pt x="1070" y="623"/>
                    </a:lnTo>
                    <a:lnTo>
                      <a:pt x="1072" y="620"/>
                    </a:lnTo>
                    <a:lnTo>
                      <a:pt x="1072" y="618"/>
                    </a:lnTo>
                    <a:lnTo>
                      <a:pt x="1074" y="614"/>
                    </a:lnTo>
                    <a:lnTo>
                      <a:pt x="1074" y="613"/>
                    </a:lnTo>
                    <a:lnTo>
                      <a:pt x="1075" y="609"/>
                    </a:lnTo>
                    <a:lnTo>
                      <a:pt x="1075" y="607"/>
                    </a:lnTo>
                    <a:lnTo>
                      <a:pt x="1075" y="604"/>
                    </a:lnTo>
                    <a:lnTo>
                      <a:pt x="1077" y="602"/>
                    </a:lnTo>
                    <a:lnTo>
                      <a:pt x="1077" y="600"/>
                    </a:lnTo>
                    <a:lnTo>
                      <a:pt x="1079" y="597"/>
                    </a:lnTo>
                    <a:lnTo>
                      <a:pt x="1079" y="595"/>
                    </a:lnTo>
                    <a:lnTo>
                      <a:pt x="1079" y="592"/>
                    </a:lnTo>
                    <a:lnTo>
                      <a:pt x="1081" y="590"/>
                    </a:lnTo>
                    <a:lnTo>
                      <a:pt x="1081" y="586"/>
                    </a:lnTo>
                    <a:lnTo>
                      <a:pt x="1082" y="585"/>
                    </a:lnTo>
                    <a:lnTo>
                      <a:pt x="1082" y="581"/>
                    </a:lnTo>
                    <a:lnTo>
                      <a:pt x="1082" y="580"/>
                    </a:lnTo>
                    <a:lnTo>
                      <a:pt x="1084" y="576"/>
                    </a:lnTo>
                    <a:lnTo>
                      <a:pt x="1084" y="574"/>
                    </a:lnTo>
                    <a:lnTo>
                      <a:pt x="1086" y="571"/>
                    </a:lnTo>
                    <a:lnTo>
                      <a:pt x="1086" y="569"/>
                    </a:lnTo>
                    <a:lnTo>
                      <a:pt x="1086" y="566"/>
                    </a:lnTo>
                    <a:lnTo>
                      <a:pt x="1088" y="564"/>
                    </a:lnTo>
                    <a:lnTo>
                      <a:pt x="1088" y="560"/>
                    </a:lnTo>
                    <a:lnTo>
                      <a:pt x="1089" y="559"/>
                    </a:lnTo>
                    <a:lnTo>
                      <a:pt x="1089" y="555"/>
                    </a:lnTo>
                    <a:lnTo>
                      <a:pt x="1091" y="553"/>
                    </a:lnTo>
                    <a:lnTo>
                      <a:pt x="1091" y="550"/>
                    </a:lnTo>
                    <a:lnTo>
                      <a:pt x="1091" y="548"/>
                    </a:lnTo>
                    <a:lnTo>
                      <a:pt x="1093" y="545"/>
                    </a:lnTo>
                    <a:lnTo>
                      <a:pt x="1093" y="543"/>
                    </a:lnTo>
                    <a:lnTo>
                      <a:pt x="1094" y="539"/>
                    </a:lnTo>
                    <a:lnTo>
                      <a:pt x="1094" y="538"/>
                    </a:lnTo>
                    <a:lnTo>
                      <a:pt x="1094" y="536"/>
                    </a:lnTo>
                    <a:lnTo>
                      <a:pt x="1096" y="533"/>
                    </a:lnTo>
                    <a:lnTo>
                      <a:pt x="1096" y="531"/>
                    </a:lnTo>
                    <a:lnTo>
                      <a:pt x="1098" y="527"/>
                    </a:lnTo>
                    <a:lnTo>
                      <a:pt x="1098" y="526"/>
                    </a:lnTo>
                    <a:lnTo>
                      <a:pt x="1100" y="522"/>
                    </a:lnTo>
                    <a:lnTo>
                      <a:pt x="1100" y="520"/>
                    </a:lnTo>
                    <a:lnTo>
                      <a:pt x="1100" y="517"/>
                    </a:lnTo>
                    <a:lnTo>
                      <a:pt x="1101" y="515"/>
                    </a:lnTo>
                    <a:lnTo>
                      <a:pt x="1101" y="512"/>
                    </a:lnTo>
                    <a:lnTo>
                      <a:pt x="1103" y="510"/>
                    </a:lnTo>
                    <a:lnTo>
                      <a:pt x="1103" y="506"/>
                    </a:lnTo>
                    <a:lnTo>
                      <a:pt x="1105" y="505"/>
                    </a:lnTo>
                    <a:lnTo>
                      <a:pt x="1105" y="501"/>
                    </a:lnTo>
                    <a:lnTo>
                      <a:pt x="1105" y="499"/>
                    </a:lnTo>
                    <a:lnTo>
                      <a:pt x="1107" y="496"/>
                    </a:lnTo>
                    <a:lnTo>
                      <a:pt x="1107" y="494"/>
                    </a:lnTo>
                    <a:lnTo>
                      <a:pt x="1108" y="491"/>
                    </a:lnTo>
                    <a:lnTo>
                      <a:pt x="1108" y="489"/>
                    </a:lnTo>
                    <a:lnTo>
                      <a:pt x="1110" y="486"/>
                    </a:lnTo>
                    <a:lnTo>
                      <a:pt x="1110" y="484"/>
                    </a:lnTo>
                    <a:lnTo>
                      <a:pt x="1110" y="480"/>
                    </a:lnTo>
                    <a:lnTo>
                      <a:pt x="1112" y="479"/>
                    </a:lnTo>
                    <a:lnTo>
                      <a:pt x="1112" y="477"/>
                    </a:lnTo>
                    <a:lnTo>
                      <a:pt x="1114" y="473"/>
                    </a:lnTo>
                    <a:lnTo>
                      <a:pt x="1114" y="472"/>
                    </a:lnTo>
                    <a:lnTo>
                      <a:pt x="1115" y="468"/>
                    </a:lnTo>
                    <a:lnTo>
                      <a:pt x="1115" y="466"/>
                    </a:lnTo>
                    <a:lnTo>
                      <a:pt x="1115" y="463"/>
                    </a:lnTo>
                    <a:lnTo>
                      <a:pt x="1117" y="461"/>
                    </a:lnTo>
                    <a:lnTo>
                      <a:pt x="1117" y="458"/>
                    </a:lnTo>
                    <a:lnTo>
                      <a:pt x="1119" y="456"/>
                    </a:lnTo>
                    <a:lnTo>
                      <a:pt x="1119" y="452"/>
                    </a:lnTo>
                    <a:lnTo>
                      <a:pt x="1121" y="451"/>
                    </a:lnTo>
                    <a:lnTo>
                      <a:pt x="1121" y="447"/>
                    </a:lnTo>
                    <a:lnTo>
                      <a:pt x="1121" y="445"/>
                    </a:lnTo>
                    <a:lnTo>
                      <a:pt x="1122" y="442"/>
                    </a:lnTo>
                    <a:lnTo>
                      <a:pt x="1122" y="440"/>
                    </a:lnTo>
                    <a:lnTo>
                      <a:pt x="1124" y="437"/>
                    </a:lnTo>
                    <a:lnTo>
                      <a:pt x="1124" y="435"/>
                    </a:lnTo>
                    <a:lnTo>
                      <a:pt x="1126" y="432"/>
                    </a:lnTo>
                    <a:lnTo>
                      <a:pt x="1126" y="430"/>
                    </a:lnTo>
                    <a:lnTo>
                      <a:pt x="1128" y="426"/>
                    </a:lnTo>
                    <a:lnTo>
                      <a:pt x="1128" y="425"/>
                    </a:lnTo>
                    <a:lnTo>
                      <a:pt x="1128" y="423"/>
                    </a:lnTo>
                    <a:lnTo>
                      <a:pt x="1129" y="419"/>
                    </a:lnTo>
                    <a:lnTo>
                      <a:pt x="1129" y="418"/>
                    </a:lnTo>
                    <a:lnTo>
                      <a:pt x="1131" y="414"/>
                    </a:lnTo>
                    <a:lnTo>
                      <a:pt x="1131" y="412"/>
                    </a:lnTo>
                    <a:lnTo>
                      <a:pt x="1133" y="409"/>
                    </a:lnTo>
                    <a:lnTo>
                      <a:pt x="1133" y="407"/>
                    </a:lnTo>
                    <a:lnTo>
                      <a:pt x="1135" y="404"/>
                    </a:lnTo>
                    <a:lnTo>
                      <a:pt x="1135" y="402"/>
                    </a:lnTo>
                    <a:lnTo>
                      <a:pt x="1136" y="398"/>
                    </a:lnTo>
                    <a:lnTo>
                      <a:pt x="1136" y="397"/>
                    </a:lnTo>
                    <a:lnTo>
                      <a:pt x="1136" y="393"/>
                    </a:lnTo>
                    <a:lnTo>
                      <a:pt x="1138" y="392"/>
                    </a:lnTo>
                    <a:lnTo>
                      <a:pt x="1138" y="388"/>
                    </a:lnTo>
                    <a:lnTo>
                      <a:pt x="1140" y="386"/>
                    </a:lnTo>
                    <a:lnTo>
                      <a:pt x="1140" y="385"/>
                    </a:lnTo>
                    <a:lnTo>
                      <a:pt x="1141" y="381"/>
                    </a:lnTo>
                    <a:lnTo>
                      <a:pt x="1141" y="379"/>
                    </a:lnTo>
                    <a:lnTo>
                      <a:pt x="1143" y="376"/>
                    </a:lnTo>
                    <a:lnTo>
                      <a:pt x="1143" y="374"/>
                    </a:lnTo>
                    <a:lnTo>
                      <a:pt x="1143" y="371"/>
                    </a:lnTo>
                    <a:lnTo>
                      <a:pt x="1145" y="369"/>
                    </a:lnTo>
                    <a:lnTo>
                      <a:pt x="1145" y="365"/>
                    </a:lnTo>
                    <a:lnTo>
                      <a:pt x="1147" y="364"/>
                    </a:lnTo>
                    <a:lnTo>
                      <a:pt x="1147" y="360"/>
                    </a:lnTo>
                    <a:lnTo>
                      <a:pt x="1148" y="358"/>
                    </a:lnTo>
                    <a:lnTo>
                      <a:pt x="1148" y="355"/>
                    </a:lnTo>
                    <a:lnTo>
                      <a:pt x="1150" y="353"/>
                    </a:lnTo>
                    <a:lnTo>
                      <a:pt x="1150" y="350"/>
                    </a:lnTo>
                    <a:lnTo>
                      <a:pt x="1152" y="348"/>
                    </a:lnTo>
                    <a:lnTo>
                      <a:pt x="1152" y="345"/>
                    </a:lnTo>
                    <a:lnTo>
                      <a:pt x="1152" y="343"/>
                    </a:lnTo>
                    <a:lnTo>
                      <a:pt x="1154" y="339"/>
                    </a:lnTo>
                    <a:lnTo>
                      <a:pt x="1154" y="338"/>
                    </a:lnTo>
                    <a:lnTo>
                      <a:pt x="1155" y="336"/>
                    </a:lnTo>
                    <a:lnTo>
                      <a:pt x="1155" y="332"/>
                    </a:lnTo>
                    <a:lnTo>
                      <a:pt x="1157" y="331"/>
                    </a:lnTo>
                    <a:lnTo>
                      <a:pt x="1157" y="327"/>
                    </a:lnTo>
                    <a:lnTo>
                      <a:pt x="1159" y="325"/>
                    </a:lnTo>
                    <a:lnTo>
                      <a:pt x="1159" y="322"/>
                    </a:lnTo>
                    <a:lnTo>
                      <a:pt x="1161" y="320"/>
                    </a:lnTo>
                    <a:lnTo>
                      <a:pt x="1161" y="317"/>
                    </a:lnTo>
                    <a:lnTo>
                      <a:pt x="1162" y="315"/>
                    </a:lnTo>
                    <a:lnTo>
                      <a:pt x="1162" y="311"/>
                    </a:lnTo>
                    <a:lnTo>
                      <a:pt x="1164" y="310"/>
                    </a:lnTo>
                    <a:lnTo>
                      <a:pt x="1164" y="306"/>
                    </a:lnTo>
                    <a:lnTo>
                      <a:pt x="1166" y="304"/>
                    </a:lnTo>
                    <a:lnTo>
                      <a:pt x="1166" y="301"/>
                    </a:lnTo>
                    <a:lnTo>
                      <a:pt x="1166" y="299"/>
                    </a:lnTo>
                    <a:lnTo>
                      <a:pt x="1168" y="298"/>
                    </a:lnTo>
                    <a:lnTo>
                      <a:pt x="1168" y="294"/>
                    </a:lnTo>
                    <a:lnTo>
                      <a:pt x="1169" y="292"/>
                    </a:lnTo>
                    <a:lnTo>
                      <a:pt x="1169" y="289"/>
                    </a:lnTo>
                    <a:lnTo>
                      <a:pt x="1171" y="287"/>
                    </a:lnTo>
                    <a:lnTo>
                      <a:pt x="1171" y="284"/>
                    </a:lnTo>
                    <a:lnTo>
                      <a:pt x="1173" y="282"/>
                    </a:lnTo>
                    <a:lnTo>
                      <a:pt x="1173" y="278"/>
                    </a:lnTo>
                    <a:lnTo>
                      <a:pt x="1175" y="277"/>
                    </a:lnTo>
                    <a:lnTo>
                      <a:pt x="1175" y="273"/>
                    </a:lnTo>
                    <a:lnTo>
                      <a:pt x="1176" y="271"/>
                    </a:lnTo>
                    <a:lnTo>
                      <a:pt x="1176" y="268"/>
                    </a:lnTo>
                    <a:lnTo>
                      <a:pt x="1178" y="266"/>
                    </a:lnTo>
                    <a:lnTo>
                      <a:pt x="1178" y="263"/>
                    </a:lnTo>
                    <a:lnTo>
                      <a:pt x="1180" y="261"/>
                    </a:lnTo>
                    <a:lnTo>
                      <a:pt x="1180" y="257"/>
                    </a:lnTo>
                    <a:lnTo>
                      <a:pt x="1182" y="256"/>
                    </a:lnTo>
                    <a:lnTo>
                      <a:pt x="1182" y="252"/>
                    </a:lnTo>
                    <a:lnTo>
                      <a:pt x="1183" y="250"/>
                    </a:lnTo>
                    <a:lnTo>
                      <a:pt x="1183" y="249"/>
                    </a:lnTo>
                    <a:lnTo>
                      <a:pt x="1185" y="245"/>
                    </a:lnTo>
                    <a:lnTo>
                      <a:pt x="1185" y="244"/>
                    </a:lnTo>
                    <a:lnTo>
                      <a:pt x="1187" y="240"/>
                    </a:lnTo>
                    <a:lnTo>
                      <a:pt x="1187" y="238"/>
                    </a:lnTo>
                    <a:lnTo>
                      <a:pt x="1188" y="235"/>
                    </a:lnTo>
                    <a:lnTo>
                      <a:pt x="1188" y="233"/>
                    </a:lnTo>
                    <a:lnTo>
                      <a:pt x="1190" y="230"/>
                    </a:lnTo>
                    <a:lnTo>
                      <a:pt x="1190" y="228"/>
                    </a:lnTo>
                    <a:lnTo>
                      <a:pt x="1192" y="224"/>
                    </a:lnTo>
                    <a:lnTo>
                      <a:pt x="1192" y="223"/>
                    </a:lnTo>
                    <a:lnTo>
                      <a:pt x="1194" y="219"/>
                    </a:lnTo>
                    <a:lnTo>
                      <a:pt x="1194" y="217"/>
                    </a:lnTo>
                    <a:lnTo>
                      <a:pt x="1194" y="216"/>
                    </a:lnTo>
                    <a:lnTo>
                      <a:pt x="1195" y="212"/>
                    </a:lnTo>
                    <a:lnTo>
                      <a:pt x="1197" y="210"/>
                    </a:lnTo>
                    <a:lnTo>
                      <a:pt x="1197" y="207"/>
                    </a:lnTo>
                    <a:lnTo>
                      <a:pt x="1197" y="205"/>
                    </a:lnTo>
                    <a:lnTo>
                      <a:pt x="1199" y="202"/>
                    </a:lnTo>
                    <a:lnTo>
                      <a:pt x="1201" y="200"/>
                    </a:lnTo>
                    <a:lnTo>
                      <a:pt x="1201" y="197"/>
                    </a:lnTo>
                    <a:lnTo>
                      <a:pt x="1202" y="195"/>
                    </a:lnTo>
                    <a:lnTo>
                      <a:pt x="1202" y="191"/>
                    </a:lnTo>
                    <a:lnTo>
                      <a:pt x="1202" y="190"/>
                    </a:lnTo>
                    <a:lnTo>
                      <a:pt x="1204" y="188"/>
                    </a:lnTo>
                    <a:lnTo>
                      <a:pt x="1206" y="184"/>
                    </a:lnTo>
                    <a:lnTo>
                      <a:pt x="1206" y="183"/>
                    </a:lnTo>
                    <a:lnTo>
                      <a:pt x="1208" y="179"/>
                    </a:lnTo>
                    <a:lnTo>
                      <a:pt x="1208" y="177"/>
                    </a:lnTo>
                    <a:lnTo>
                      <a:pt x="1209" y="174"/>
                    </a:lnTo>
                    <a:lnTo>
                      <a:pt x="1209" y="172"/>
                    </a:lnTo>
                    <a:lnTo>
                      <a:pt x="1211" y="169"/>
                    </a:lnTo>
                    <a:lnTo>
                      <a:pt x="1211" y="167"/>
                    </a:lnTo>
                    <a:lnTo>
                      <a:pt x="1213" y="163"/>
                    </a:lnTo>
                    <a:lnTo>
                      <a:pt x="1213" y="162"/>
                    </a:lnTo>
                    <a:lnTo>
                      <a:pt x="1215" y="158"/>
                    </a:lnTo>
                    <a:lnTo>
                      <a:pt x="1215" y="156"/>
                    </a:lnTo>
                    <a:lnTo>
                      <a:pt x="1216" y="153"/>
                    </a:lnTo>
                    <a:lnTo>
                      <a:pt x="1216" y="151"/>
                    </a:lnTo>
                    <a:lnTo>
                      <a:pt x="1218" y="148"/>
                    </a:lnTo>
                    <a:lnTo>
                      <a:pt x="1218" y="146"/>
                    </a:lnTo>
                    <a:lnTo>
                      <a:pt x="1220" y="144"/>
                    </a:lnTo>
                    <a:lnTo>
                      <a:pt x="1220" y="141"/>
                    </a:lnTo>
                    <a:lnTo>
                      <a:pt x="1222" y="139"/>
                    </a:lnTo>
                    <a:lnTo>
                      <a:pt x="1222" y="136"/>
                    </a:lnTo>
                    <a:lnTo>
                      <a:pt x="1223" y="134"/>
                    </a:lnTo>
                    <a:lnTo>
                      <a:pt x="1223" y="130"/>
                    </a:lnTo>
                    <a:lnTo>
                      <a:pt x="1225" y="129"/>
                    </a:lnTo>
                    <a:lnTo>
                      <a:pt x="1225" y="125"/>
                    </a:lnTo>
                    <a:lnTo>
                      <a:pt x="1227" y="123"/>
                    </a:lnTo>
                    <a:lnTo>
                      <a:pt x="1227" y="120"/>
                    </a:lnTo>
                    <a:lnTo>
                      <a:pt x="1229" y="118"/>
                    </a:lnTo>
                    <a:lnTo>
                      <a:pt x="1229" y="116"/>
                    </a:lnTo>
                    <a:lnTo>
                      <a:pt x="1230" y="113"/>
                    </a:lnTo>
                    <a:lnTo>
                      <a:pt x="1230" y="111"/>
                    </a:lnTo>
                    <a:lnTo>
                      <a:pt x="1232" y="108"/>
                    </a:lnTo>
                    <a:lnTo>
                      <a:pt x="1232" y="106"/>
                    </a:lnTo>
                    <a:lnTo>
                      <a:pt x="1234" y="103"/>
                    </a:lnTo>
                    <a:lnTo>
                      <a:pt x="1234" y="101"/>
                    </a:lnTo>
                    <a:lnTo>
                      <a:pt x="1235" y="97"/>
                    </a:lnTo>
                    <a:lnTo>
                      <a:pt x="1237" y="96"/>
                    </a:lnTo>
                    <a:lnTo>
                      <a:pt x="1237" y="92"/>
                    </a:lnTo>
                    <a:lnTo>
                      <a:pt x="1239" y="90"/>
                    </a:lnTo>
                    <a:lnTo>
                      <a:pt x="1239" y="87"/>
                    </a:lnTo>
                    <a:lnTo>
                      <a:pt x="1241" y="85"/>
                    </a:lnTo>
                    <a:lnTo>
                      <a:pt x="1241" y="83"/>
                    </a:lnTo>
                    <a:lnTo>
                      <a:pt x="1242" y="80"/>
                    </a:lnTo>
                    <a:lnTo>
                      <a:pt x="1242" y="78"/>
                    </a:lnTo>
                    <a:lnTo>
                      <a:pt x="1244" y="75"/>
                    </a:lnTo>
                    <a:lnTo>
                      <a:pt x="1244" y="73"/>
                    </a:lnTo>
                    <a:lnTo>
                      <a:pt x="1246" y="69"/>
                    </a:lnTo>
                    <a:lnTo>
                      <a:pt x="1246" y="68"/>
                    </a:lnTo>
                    <a:lnTo>
                      <a:pt x="1248" y="64"/>
                    </a:lnTo>
                    <a:lnTo>
                      <a:pt x="1248" y="62"/>
                    </a:lnTo>
                    <a:lnTo>
                      <a:pt x="1249" y="59"/>
                    </a:lnTo>
                    <a:lnTo>
                      <a:pt x="1251" y="57"/>
                    </a:lnTo>
                    <a:lnTo>
                      <a:pt x="1251" y="56"/>
                    </a:lnTo>
                    <a:lnTo>
                      <a:pt x="1253" y="52"/>
                    </a:lnTo>
                    <a:lnTo>
                      <a:pt x="1253" y="50"/>
                    </a:lnTo>
                    <a:lnTo>
                      <a:pt x="1255" y="47"/>
                    </a:lnTo>
                    <a:lnTo>
                      <a:pt x="1255" y="45"/>
                    </a:lnTo>
                    <a:lnTo>
                      <a:pt x="1256" y="42"/>
                    </a:lnTo>
                    <a:lnTo>
                      <a:pt x="1256" y="40"/>
                    </a:lnTo>
                    <a:lnTo>
                      <a:pt x="1258" y="36"/>
                    </a:lnTo>
                    <a:lnTo>
                      <a:pt x="1258" y="35"/>
                    </a:lnTo>
                    <a:lnTo>
                      <a:pt x="1260" y="31"/>
                    </a:lnTo>
                    <a:lnTo>
                      <a:pt x="1260" y="29"/>
                    </a:lnTo>
                    <a:lnTo>
                      <a:pt x="1262" y="28"/>
                    </a:lnTo>
                    <a:lnTo>
                      <a:pt x="1262" y="24"/>
                    </a:lnTo>
                    <a:lnTo>
                      <a:pt x="1263" y="22"/>
                    </a:lnTo>
                    <a:lnTo>
                      <a:pt x="1265" y="19"/>
                    </a:lnTo>
                    <a:lnTo>
                      <a:pt x="1265" y="17"/>
                    </a:lnTo>
                    <a:lnTo>
                      <a:pt x="1267" y="14"/>
                    </a:lnTo>
                    <a:lnTo>
                      <a:pt x="1267" y="12"/>
                    </a:lnTo>
                    <a:lnTo>
                      <a:pt x="1269" y="9"/>
                    </a:lnTo>
                    <a:lnTo>
                      <a:pt x="1269" y="7"/>
                    </a:lnTo>
                    <a:lnTo>
                      <a:pt x="1270" y="3"/>
                    </a:lnTo>
                    <a:lnTo>
                      <a:pt x="1270" y="2"/>
                    </a:lnTo>
                    <a:lnTo>
                      <a:pt x="1272" y="0"/>
                    </a:lnTo>
                    <a:moveTo>
                      <a:pt x="1039" y="726"/>
                    </a:moveTo>
                    <a:lnTo>
                      <a:pt x="1037" y="724"/>
                    </a:lnTo>
                    <a:lnTo>
                      <a:pt x="1037" y="721"/>
                    </a:lnTo>
                    <a:lnTo>
                      <a:pt x="1037" y="719"/>
                    </a:lnTo>
                    <a:lnTo>
                      <a:pt x="1035" y="715"/>
                    </a:lnTo>
                    <a:lnTo>
                      <a:pt x="1035" y="714"/>
                    </a:lnTo>
                    <a:lnTo>
                      <a:pt x="1034" y="710"/>
                    </a:lnTo>
                    <a:lnTo>
                      <a:pt x="1034" y="708"/>
                    </a:lnTo>
                    <a:lnTo>
                      <a:pt x="1034" y="705"/>
                    </a:lnTo>
                    <a:lnTo>
                      <a:pt x="1032" y="703"/>
                    </a:lnTo>
                    <a:lnTo>
                      <a:pt x="1032" y="700"/>
                    </a:lnTo>
                    <a:lnTo>
                      <a:pt x="1032" y="698"/>
                    </a:lnTo>
                    <a:lnTo>
                      <a:pt x="1030" y="694"/>
                    </a:lnTo>
                    <a:lnTo>
                      <a:pt x="1030" y="693"/>
                    </a:lnTo>
                    <a:lnTo>
                      <a:pt x="1028" y="689"/>
                    </a:lnTo>
                    <a:lnTo>
                      <a:pt x="1028" y="687"/>
                    </a:lnTo>
                    <a:lnTo>
                      <a:pt x="1028" y="684"/>
                    </a:lnTo>
                    <a:lnTo>
                      <a:pt x="1027" y="682"/>
                    </a:lnTo>
                    <a:lnTo>
                      <a:pt x="1027" y="681"/>
                    </a:lnTo>
                    <a:lnTo>
                      <a:pt x="1025" y="677"/>
                    </a:lnTo>
                    <a:lnTo>
                      <a:pt x="1025" y="674"/>
                    </a:lnTo>
                    <a:lnTo>
                      <a:pt x="1025" y="672"/>
                    </a:lnTo>
                    <a:lnTo>
                      <a:pt x="1023" y="668"/>
                    </a:lnTo>
                    <a:lnTo>
                      <a:pt x="1023" y="667"/>
                    </a:lnTo>
                    <a:lnTo>
                      <a:pt x="1021" y="665"/>
                    </a:lnTo>
                    <a:lnTo>
                      <a:pt x="1021" y="661"/>
                    </a:lnTo>
                    <a:lnTo>
                      <a:pt x="1021" y="660"/>
                    </a:lnTo>
                    <a:lnTo>
                      <a:pt x="1020" y="656"/>
                    </a:lnTo>
                    <a:lnTo>
                      <a:pt x="1020" y="654"/>
                    </a:lnTo>
                    <a:lnTo>
                      <a:pt x="1018" y="651"/>
                    </a:lnTo>
                    <a:lnTo>
                      <a:pt x="1018" y="649"/>
                    </a:lnTo>
                    <a:lnTo>
                      <a:pt x="1018" y="646"/>
                    </a:lnTo>
                    <a:lnTo>
                      <a:pt x="1016" y="644"/>
                    </a:lnTo>
                    <a:lnTo>
                      <a:pt x="1016" y="640"/>
                    </a:lnTo>
                    <a:lnTo>
                      <a:pt x="1014" y="639"/>
                    </a:lnTo>
                    <a:lnTo>
                      <a:pt x="1014" y="635"/>
                    </a:lnTo>
                    <a:lnTo>
                      <a:pt x="1014" y="634"/>
                    </a:lnTo>
                    <a:lnTo>
                      <a:pt x="1013" y="630"/>
                    </a:lnTo>
                    <a:lnTo>
                      <a:pt x="1013" y="628"/>
                    </a:lnTo>
                    <a:lnTo>
                      <a:pt x="1011" y="625"/>
                    </a:lnTo>
                    <a:lnTo>
                      <a:pt x="1011" y="623"/>
                    </a:lnTo>
                    <a:lnTo>
                      <a:pt x="1011" y="620"/>
                    </a:lnTo>
                    <a:lnTo>
                      <a:pt x="1009" y="618"/>
                    </a:lnTo>
                    <a:lnTo>
                      <a:pt x="1009" y="614"/>
                    </a:lnTo>
                    <a:lnTo>
                      <a:pt x="1009" y="613"/>
                    </a:lnTo>
                    <a:lnTo>
                      <a:pt x="1007" y="609"/>
                    </a:lnTo>
                    <a:lnTo>
                      <a:pt x="1007" y="607"/>
                    </a:lnTo>
                    <a:lnTo>
                      <a:pt x="1006" y="604"/>
                    </a:lnTo>
                    <a:lnTo>
                      <a:pt x="1006" y="602"/>
                    </a:lnTo>
                    <a:lnTo>
                      <a:pt x="1004" y="600"/>
                    </a:lnTo>
                    <a:lnTo>
                      <a:pt x="1004" y="597"/>
                    </a:lnTo>
                    <a:lnTo>
                      <a:pt x="1004" y="595"/>
                    </a:lnTo>
                    <a:lnTo>
                      <a:pt x="1002" y="592"/>
                    </a:lnTo>
                    <a:lnTo>
                      <a:pt x="1002" y="590"/>
                    </a:lnTo>
                    <a:lnTo>
                      <a:pt x="1000" y="586"/>
                    </a:lnTo>
                    <a:lnTo>
                      <a:pt x="1000" y="585"/>
                    </a:lnTo>
                    <a:lnTo>
                      <a:pt x="1000" y="581"/>
                    </a:lnTo>
                    <a:lnTo>
                      <a:pt x="999" y="580"/>
                    </a:lnTo>
                    <a:lnTo>
                      <a:pt x="999" y="576"/>
                    </a:lnTo>
                    <a:lnTo>
                      <a:pt x="997" y="574"/>
                    </a:lnTo>
                    <a:lnTo>
                      <a:pt x="997" y="571"/>
                    </a:lnTo>
                    <a:lnTo>
                      <a:pt x="997" y="569"/>
                    </a:lnTo>
                    <a:lnTo>
                      <a:pt x="995" y="566"/>
                    </a:lnTo>
                    <a:lnTo>
                      <a:pt x="995" y="564"/>
                    </a:lnTo>
                    <a:lnTo>
                      <a:pt x="994" y="560"/>
                    </a:lnTo>
                    <a:lnTo>
                      <a:pt x="994" y="559"/>
                    </a:lnTo>
                    <a:lnTo>
                      <a:pt x="992" y="555"/>
                    </a:lnTo>
                    <a:lnTo>
                      <a:pt x="992" y="553"/>
                    </a:lnTo>
                    <a:lnTo>
                      <a:pt x="992" y="550"/>
                    </a:lnTo>
                    <a:lnTo>
                      <a:pt x="990" y="548"/>
                    </a:lnTo>
                    <a:lnTo>
                      <a:pt x="990" y="545"/>
                    </a:lnTo>
                    <a:lnTo>
                      <a:pt x="988" y="543"/>
                    </a:lnTo>
                    <a:lnTo>
                      <a:pt x="988" y="539"/>
                    </a:lnTo>
                    <a:lnTo>
                      <a:pt x="988" y="538"/>
                    </a:lnTo>
                    <a:lnTo>
                      <a:pt x="987" y="536"/>
                    </a:lnTo>
                    <a:lnTo>
                      <a:pt x="987" y="533"/>
                    </a:lnTo>
                    <a:lnTo>
                      <a:pt x="985" y="531"/>
                    </a:lnTo>
                    <a:lnTo>
                      <a:pt x="985" y="527"/>
                    </a:lnTo>
                    <a:lnTo>
                      <a:pt x="983" y="526"/>
                    </a:lnTo>
                    <a:lnTo>
                      <a:pt x="983" y="522"/>
                    </a:lnTo>
                    <a:lnTo>
                      <a:pt x="983" y="520"/>
                    </a:lnTo>
                    <a:lnTo>
                      <a:pt x="981" y="517"/>
                    </a:lnTo>
                    <a:lnTo>
                      <a:pt x="981" y="515"/>
                    </a:lnTo>
                    <a:lnTo>
                      <a:pt x="980" y="512"/>
                    </a:lnTo>
                    <a:lnTo>
                      <a:pt x="980" y="510"/>
                    </a:lnTo>
                    <a:lnTo>
                      <a:pt x="980" y="506"/>
                    </a:lnTo>
                    <a:lnTo>
                      <a:pt x="978" y="505"/>
                    </a:lnTo>
                    <a:lnTo>
                      <a:pt x="978" y="501"/>
                    </a:lnTo>
                    <a:lnTo>
                      <a:pt x="976" y="499"/>
                    </a:lnTo>
                    <a:lnTo>
                      <a:pt x="976" y="496"/>
                    </a:lnTo>
                    <a:lnTo>
                      <a:pt x="974" y="494"/>
                    </a:lnTo>
                    <a:lnTo>
                      <a:pt x="974" y="491"/>
                    </a:lnTo>
                    <a:lnTo>
                      <a:pt x="974" y="489"/>
                    </a:lnTo>
                    <a:lnTo>
                      <a:pt x="973" y="486"/>
                    </a:lnTo>
                    <a:lnTo>
                      <a:pt x="973" y="484"/>
                    </a:lnTo>
                    <a:lnTo>
                      <a:pt x="971" y="480"/>
                    </a:lnTo>
                    <a:lnTo>
                      <a:pt x="971" y="479"/>
                    </a:lnTo>
                    <a:lnTo>
                      <a:pt x="969" y="477"/>
                    </a:lnTo>
                    <a:lnTo>
                      <a:pt x="969" y="473"/>
                    </a:lnTo>
                    <a:lnTo>
                      <a:pt x="969" y="472"/>
                    </a:lnTo>
                    <a:lnTo>
                      <a:pt x="967" y="468"/>
                    </a:lnTo>
                    <a:lnTo>
                      <a:pt x="967" y="466"/>
                    </a:lnTo>
                    <a:lnTo>
                      <a:pt x="966" y="463"/>
                    </a:lnTo>
                    <a:lnTo>
                      <a:pt x="966" y="461"/>
                    </a:lnTo>
                    <a:lnTo>
                      <a:pt x="964" y="458"/>
                    </a:lnTo>
                    <a:lnTo>
                      <a:pt x="964" y="456"/>
                    </a:lnTo>
                    <a:lnTo>
                      <a:pt x="964" y="452"/>
                    </a:lnTo>
                    <a:lnTo>
                      <a:pt x="962" y="451"/>
                    </a:lnTo>
                    <a:lnTo>
                      <a:pt x="962" y="447"/>
                    </a:lnTo>
                    <a:lnTo>
                      <a:pt x="960" y="445"/>
                    </a:lnTo>
                    <a:lnTo>
                      <a:pt x="960" y="442"/>
                    </a:lnTo>
                    <a:lnTo>
                      <a:pt x="959" y="440"/>
                    </a:lnTo>
                    <a:lnTo>
                      <a:pt x="959" y="437"/>
                    </a:lnTo>
                    <a:lnTo>
                      <a:pt x="957" y="435"/>
                    </a:lnTo>
                    <a:lnTo>
                      <a:pt x="957" y="432"/>
                    </a:lnTo>
                    <a:lnTo>
                      <a:pt x="955" y="430"/>
                    </a:lnTo>
                    <a:lnTo>
                      <a:pt x="955" y="426"/>
                    </a:lnTo>
                    <a:lnTo>
                      <a:pt x="955" y="425"/>
                    </a:lnTo>
                    <a:lnTo>
                      <a:pt x="954" y="423"/>
                    </a:lnTo>
                    <a:lnTo>
                      <a:pt x="954" y="419"/>
                    </a:lnTo>
                    <a:lnTo>
                      <a:pt x="952" y="418"/>
                    </a:lnTo>
                    <a:lnTo>
                      <a:pt x="952" y="414"/>
                    </a:lnTo>
                    <a:lnTo>
                      <a:pt x="950" y="412"/>
                    </a:lnTo>
                    <a:lnTo>
                      <a:pt x="950" y="409"/>
                    </a:lnTo>
                    <a:lnTo>
                      <a:pt x="950" y="407"/>
                    </a:lnTo>
                    <a:lnTo>
                      <a:pt x="948" y="404"/>
                    </a:lnTo>
                    <a:lnTo>
                      <a:pt x="948" y="402"/>
                    </a:lnTo>
                    <a:lnTo>
                      <a:pt x="947" y="398"/>
                    </a:lnTo>
                    <a:lnTo>
                      <a:pt x="947" y="397"/>
                    </a:lnTo>
                    <a:lnTo>
                      <a:pt x="945" y="393"/>
                    </a:lnTo>
                    <a:lnTo>
                      <a:pt x="945" y="392"/>
                    </a:lnTo>
                    <a:lnTo>
                      <a:pt x="943" y="388"/>
                    </a:lnTo>
                    <a:lnTo>
                      <a:pt x="943" y="386"/>
                    </a:lnTo>
                    <a:lnTo>
                      <a:pt x="941" y="385"/>
                    </a:lnTo>
                    <a:lnTo>
                      <a:pt x="941" y="381"/>
                    </a:lnTo>
                    <a:lnTo>
                      <a:pt x="941" y="379"/>
                    </a:lnTo>
                    <a:lnTo>
                      <a:pt x="940" y="376"/>
                    </a:lnTo>
                    <a:lnTo>
                      <a:pt x="940" y="374"/>
                    </a:lnTo>
                    <a:lnTo>
                      <a:pt x="938" y="371"/>
                    </a:lnTo>
                    <a:lnTo>
                      <a:pt x="938" y="369"/>
                    </a:lnTo>
                    <a:lnTo>
                      <a:pt x="936" y="365"/>
                    </a:lnTo>
                    <a:lnTo>
                      <a:pt x="936" y="364"/>
                    </a:lnTo>
                    <a:lnTo>
                      <a:pt x="934" y="360"/>
                    </a:lnTo>
                    <a:lnTo>
                      <a:pt x="934" y="358"/>
                    </a:lnTo>
                    <a:lnTo>
                      <a:pt x="933" y="355"/>
                    </a:lnTo>
                    <a:lnTo>
                      <a:pt x="933" y="353"/>
                    </a:lnTo>
                    <a:lnTo>
                      <a:pt x="933" y="350"/>
                    </a:lnTo>
                    <a:lnTo>
                      <a:pt x="931" y="348"/>
                    </a:lnTo>
                    <a:lnTo>
                      <a:pt x="931" y="345"/>
                    </a:lnTo>
                    <a:lnTo>
                      <a:pt x="929" y="343"/>
                    </a:lnTo>
                    <a:lnTo>
                      <a:pt x="929" y="339"/>
                    </a:lnTo>
                    <a:lnTo>
                      <a:pt x="927" y="338"/>
                    </a:lnTo>
                    <a:lnTo>
                      <a:pt x="927" y="336"/>
                    </a:lnTo>
                    <a:lnTo>
                      <a:pt x="926" y="332"/>
                    </a:lnTo>
                    <a:lnTo>
                      <a:pt x="926" y="331"/>
                    </a:lnTo>
                    <a:lnTo>
                      <a:pt x="924" y="327"/>
                    </a:lnTo>
                    <a:lnTo>
                      <a:pt x="924" y="325"/>
                    </a:lnTo>
                    <a:lnTo>
                      <a:pt x="922" y="322"/>
                    </a:lnTo>
                    <a:lnTo>
                      <a:pt x="922" y="320"/>
                    </a:lnTo>
                    <a:lnTo>
                      <a:pt x="920" y="317"/>
                    </a:lnTo>
                    <a:lnTo>
                      <a:pt x="920" y="315"/>
                    </a:lnTo>
                    <a:lnTo>
                      <a:pt x="919" y="311"/>
                    </a:lnTo>
                    <a:lnTo>
                      <a:pt x="919" y="310"/>
                    </a:lnTo>
                    <a:lnTo>
                      <a:pt x="919" y="306"/>
                    </a:lnTo>
                    <a:lnTo>
                      <a:pt x="917" y="304"/>
                    </a:lnTo>
                    <a:lnTo>
                      <a:pt x="917" y="301"/>
                    </a:lnTo>
                    <a:lnTo>
                      <a:pt x="915" y="299"/>
                    </a:lnTo>
                    <a:lnTo>
                      <a:pt x="915" y="298"/>
                    </a:lnTo>
                    <a:lnTo>
                      <a:pt x="913" y="294"/>
                    </a:lnTo>
                    <a:lnTo>
                      <a:pt x="913" y="292"/>
                    </a:lnTo>
                    <a:lnTo>
                      <a:pt x="912" y="289"/>
                    </a:lnTo>
                    <a:lnTo>
                      <a:pt x="912" y="287"/>
                    </a:lnTo>
                    <a:lnTo>
                      <a:pt x="910" y="284"/>
                    </a:lnTo>
                    <a:lnTo>
                      <a:pt x="910" y="282"/>
                    </a:lnTo>
                    <a:lnTo>
                      <a:pt x="908" y="278"/>
                    </a:lnTo>
                    <a:lnTo>
                      <a:pt x="908" y="277"/>
                    </a:lnTo>
                    <a:lnTo>
                      <a:pt x="907" y="273"/>
                    </a:lnTo>
                    <a:lnTo>
                      <a:pt x="907" y="271"/>
                    </a:lnTo>
                    <a:lnTo>
                      <a:pt x="905" y="268"/>
                    </a:lnTo>
                    <a:lnTo>
                      <a:pt x="905" y="266"/>
                    </a:lnTo>
                    <a:lnTo>
                      <a:pt x="903" y="263"/>
                    </a:lnTo>
                    <a:lnTo>
                      <a:pt x="903" y="261"/>
                    </a:lnTo>
                    <a:lnTo>
                      <a:pt x="901" y="257"/>
                    </a:lnTo>
                    <a:lnTo>
                      <a:pt x="901" y="256"/>
                    </a:lnTo>
                    <a:lnTo>
                      <a:pt x="900" y="252"/>
                    </a:lnTo>
                    <a:lnTo>
                      <a:pt x="900" y="250"/>
                    </a:lnTo>
                    <a:lnTo>
                      <a:pt x="900" y="249"/>
                    </a:lnTo>
                    <a:lnTo>
                      <a:pt x="898" y="245"/>
                    </a:lnTo>
                    <a:lnTo>
                      <a:pt x="896" y="244"/>
                    </a:lnTo>
                    <a:lnTo>
                      <a:pt x="896" y="240"/>
                    </a:lnTo>
                    <a:lnTo>
                      <a:pt x="896" y="238"/>
                    </a:lnTo>
                    <a:lnTo>
                      <a:pt x="894" y="235"/>
                    </a:lnTo>
                    <a:lnTo>
                      <a:pt x="894" y="233"/>
                    </a:lnTo>
                    <a:lnTo>
                      <a:pt x="893" y="230"/>
                    </a:lnTo>
                    <a:lnTo>
                      <a:pt x="893" y="228"/>
                    </a:lnTo>
                    <a:lnTo>
                      <a:pt x="891" y="224"/>
                    </a:lnTo>
                    <a:lnTo>
                      <a:pt x="891" y="223"/>
                    </a:lnTo>
                    <a:lnTo>
                      <a:pt x="889" y="219"/>
                    </a:lnTo>
                    <a:lnTo>
                      <a:pt x="889" y="217"/>
                    </a:lnTo>
                    <a:lnTo>
                      <a:pt x="887" y="216"/>
                    </a:lnTo>
                    <a:lnTo>
                      <a:pt x="887" y="212"/>
                    </a:lnTo>
                    <a:lnTo>
                      <a:pt x="886" y="210"/>
                    </a:lnTo>
                    <a:lnTo>
                      <a:pt x="886" y="207"/>
                    </a:lnTo>
                    <a:lnTo>
                      <a:pt x="884" y="205"/>
                    </a:lnTo>
                    <a:lnTo>
                      <a:pt x="884" y="202"/>
                    </a:lnTo>
                    <a:lnTo>
                      <a:pt x="882" y="200"/>
                    </a:lnTo>
                    <a:lnTo>
                      <a:pt x="882" y="197"/>
                    </a:lnTo>
                    <a:lnTo>
                      <a:pt x="880" y="195"/>
                    </a:lnTo>
                    <a:lnTo>
                      <a:pt x="880" y="191"/>
                    </a:lnTo>
                    <a:lnTo>
                      <a:pt x="879" y="190"/>
                    </a:lnTo>
                    <a:lnTo>
                      <a:pt x="879" y="188"/>
                    </a:lnTo>
                    <a:lnTo>
                      <a:pt x="877" y="184"/>
                    </a:lnTo>
                    <a:lnTo>
                      <a:pt x="877" y="183"/>
                    </a:lnTo>
                    <a:lnTo>
                      <a:pt x="875" y="179"/>
                    </a:lnTo>
                    <a:lnTo>
                      <a:pt x="875" y="177"/>
                    </a:lnTo>
                    <a:lnTo>
                      <a:pt x="873" y="174"/>
                    </a:lnTo>
                    <a:lnTo>
                      <a:pt x="873" y="172"/>
                    </a:lnTo>
                    <a:lnTo>
                      <a:pt x="872" y="169"/>
                    </a:lnTo>
                    <a:lnTo>
                      <a:pt x="872" y="167"/>
                    </a:lnTo>
                    <a:lnTo>
                      <a:pt x="870" y="163"/>
                    </a:lnTo>
                    <a:lnTo>
                      <a:pt x="868" y="162"/>
                    </a:lnTo>
                    <a:lnTo>
                      <a:pt x="868" y="158"/>
                    </a:lnTo>
                    <a:lnTo>
                      <a:pt x="868" y="156"/>
                    </a:lnTo>
                    <a:lnTo>
                      <a:pt x="866" y="153"/>
                    </a:lnTo>
                    <a:lnTo>
                      <a:pt x="865" y="151"/>
                    </a:lnTo>
                    <a:lnTo>
                      <a:pt x="865" y="148"/>
                    </a:lnTo>
                    <a:lnTo>
                      <a:pt x="863" y="146"/>
                    </a:lnTo>
                    <a:lnTo>
                      <a:pt x="863" y="144"/>
                    </a:lnTo>
                    <a:lnTo>
                      <a:pt x="861" y="141"/>
                    </a:lnTo>
                    <a:lnTo>
                      <a:pt x="861" y="139"/>
                    </a:lnTo>
                    <a:lnTo>
                      <a:pt x="860" y="136"/>
                    </a:lnTo>
                    <a:lnTo>
                      <a:pt x="860" y="134"/>
                    </a:lnTo>
                    <a:lnTo>
                      <a:pt x="858" y="130"/>
                    </a:lnTo>
                    <a:lnTo>
                      <a:pt x="858" y="129"/>
                    </a:lnTo>
                    <a:lnTo>
                      <a:pt x="856" y="125"/>
                    </a:lnTo>
                    <a:lnTo>
                      <a:pt x="856" y="123"/>
                    </a:lnTo>
                    <a:lnTo>
                      <a:pt x="854" y="120"/>
                    </a:lnTo>
                    <a:lnTo>
                      <a:pt x="854" y="118"/>
                    </a:lnTo>
                    <a:lnTo>
                      <a:pt x="853" y="116"/>
                    </a:lnTo>
                    <a:lnTo>
                      <a:pt x="853" y="113"/>
                    </a:lnTo>
                    <a:lnTo>
                      <a:pt x="851" y="111"/>
                    </a:lnTo>
                    <a:lnTo>
                      <a:pt x="851" y="108"/>
                    </a:lnTo>
                    <a:lnTo>
                      <a:pt x="849" y="106"/>
                    </a:lnTo>
                    <a:lnTo>
                      <a:pt x="849" y="103"/>
                    </a:lnTo>
                    <a:lnTo>
                      <a:pt x="847" y="101"/>
                    </a:lnTo>
                    <a:lnTo>
                      <a:pt x="847" y="97"/>
                    </a:lnTo>
                    <a:lnTo>
                      <a:pt x="846" y="96"/>
                    </a:lnTo>
                    <a:lnTo>
                      <a:pt x="846" y="92"/>
                    </a:lnTo>
                    <a:lnTo>
                      <a:pt x="844" y="90"/>
                    </a:lnTo>
                    <a:lnTo>
                      <a:pt x="842" y="87"/>
                    </a:lnTo>
                    <a:lnTo>
                      <a:pt x="842" y="85"/>
                    </a:lnTo>
                    <a:lnTo>
                      <a:pt x="840" y="83"/>
                    </a:lnTo>
                    <a:lnTo>
                      <a:pt x="840" y="80"/>
                    </a:lnTo>
                    <a:lnTo>
                      <a:pt x="839" y="78"/>
                    </a:lnTo>
                    <a:lnTo>
                      <a:pt x="839" y="75"/>
                    </a:lnTo>
                    <a:lnTo>
                      <a:pt x="837" y="73"/>
                    </a:lnTo>
                    <a:lnTo>
                      <a:pt x="837" y="69"/>
                    </a:lnTo>
                    <a:lnTo>
                      <a:pt x="835" y="68"/>
                    </a:lnTo>
                    <a:lnTo>
                      <a:pt x="835" y="64"/>
                    </a:lnTo>
                    <a:lnTo>
                      <a:pt x="833" y="62"/>
                    </a:lnTo>
                    <a:lnTo>
                      <a:pt x="833" y="59"/>
                    </a:lnTo>
                    <a:lnTo>
                      <a:pt x="832" y="57"/>
                    </a:lnTo>
                    <a:lnTo>
                      <a:pt x="832" y="56"/>
                    </a:lnTo>
                    <a:lnTo>
                      <a:pt x="830" y="52"/>
                    </a:lnTo>
                    <a:lnTo>
                      <a:pt x="828" y="50"/>
                    </a:lnTo>
                    <a:lnTo>
                      <a:pt x="828" y="47"/>
                    </a:lnTo>
                    <a:lnTo>
                      <a:pt x="826" y="45"/>
                    </a:lnTo>
                    <a:lnTo>
                      <a:pt x="826" y="42"/>
                    </a:lnTo>
                    <a:lnTo>
                      <a:pt x="825" y="40"/>
                    </a:lnTo>
                    <a:lnTo>
                      <a:pt x="825" y="36"/>
                    </a:lnTo>
                    <a:lnTo>
                      <a:pt x="823" y="35"/>
                    </a:lnTo>
                    <a:lnTo>
                      <a:pt x="823" y="31"/>
                    </a:lnTo>
                    <a:lnTo>
                      <a:pt x="821" y="29"/>
                    </a:lnTo>
                    <a:lnTo>
                      <a:pt x="821" y="28"/>
                    </a:lnTo>
                    <a:lnTo>
                      <a:pt x="819" y="24"/>
                    </a:lnTo>
                    <a:lnTo>
                      <a:pt x="819" y="22"/>
                    </a:lnTo>
                    <a:lnTo>
                      <a:pt x="818" y="19"/>
                    </a:lnTo>
                    <a:lnTo>
                      <a:pt x="818" y="17"/>
                    </a:lnTo>
                    <a:lnTo>
                      <a:pt x="816" y="14"/>
                    </a:lnTo>
                    <a:lnTo>
                      <a:pt x="814" y="12"/>
                    </a:lnTo>
                    <a:lnTo>
                      <a:pt x="814" y="9"/>
                    </a:lnTo>
                    <a:lnTo>
                      <a:pt x="813" y="7"/>
                    </a:lnTo>
                    <a:lnTo>
                      <a:pt x="813" y="3"/>
                    </a:lnTo>
                    <a:lnTo>
                      <a:pt x="811" y="2"/>
                    </a:lnTo>
                    <a:lnTo>
                      <a:pt x="811" y="0"/>
                    </a:lnTo>
                    <a:moveTo>
                      <a:pt x="856" y="536"/>
                    </a:moveTo>
                    <a:lnTo>
                      <a:pt x="854" y="534"/>
                    </a:lnTo>
                    <a:lnTo>
                      <a:pt x="853" y="533"/>
                    </a:lnTo>
                    <a:lnTo>
                      <a:pt x="849" y="531"/>
                    </a:lnTo>
                    <a:lnTo>
                      <a:pt x="847" y="527"/>
                    </a:lnTo>
                    <a:lnTo>
                      <a:pt x="846" y="526"/>
                    </a:lnTo>
                    <a:lnTo>
                      <a:pt x="844" y="524"/>
                    </a:lnTo>
                    <a:lnTo>
                      <a:pt x="842" y="522"/>
                    </a:lnTo>
                    <a:lnTo>
                      <a:pt x="839" y="520"/>
                    </a:lnTo>
                    <a:lnTo>
                      <a:pt x="837" y="517"/>
                    </a:lnTo>
                    <a:lnTo>
                      <a:pt x="835" y="515"/>
                    </a:lnTo>
                    <a:lnTo>
                      <a:pt x="833" y="513"/>
                    </a:lnTo>
                    <a:lnTo>
                      <a:pt x="832" y="512"/>
                    </a:lnTo>
                    <a:lnTo>
                      <a:pt x="828" y="508"/>
                    </a:lnTo>
                    <a:lnTo>
                      <a:pt x="826" y="506"/>
                    </a:lnTo>
                    <a:lnTo>
                      <a:pt x="825" y="505"/>
                    </a:lnTo>
                    <a:lnTo>
                      <a:pt x="823" y="503"/>
                    </a:lnTo>
                    <a:lnTo>
                      <a:pt x="819" y="501"/>
                    </a:lnTo>
                    <a:lnTo>
                      <a:pt x="818" y="499"/>
                    </a:lnTo>
                    <a:lnTo>
                      <a:pt x="816" y="496"/>
                    </a:lnTo>
                    <a:lnTo>
                      <a:pt x="814" y="494"/>
                    </a:lnTo>
                    <a:lnTo>
                      <a:pt x="811" y="492"/>
                    </a:lnTo>
                    <a:lnTo>
                      <a:pt x="809" y="491"/>
                    </a:lnTo>
                    <a:lnTo>
                      <a:pt x="807" y="489"/>
                    </a:lnTo>
                    <a:lnTo>
                      <a:pt x="806" y="486"/>
                    </a:lnTo>
                    <a:lnTo>
                      <a:pt x="802" y="484"/>
                    </a:lnTo>
                    <a:lnTo>
                      <a:pt x="800" y="482"/>
                    </a:lnTo>
                    <a:lnTo>
                      <a:pt x="799" y="480"/>
                    </a:lnTo>
                    <a:lnTo>
                      <a:pt x="797" y="479"/>
                    </a:lnTo>
                    <a:lnTo>
                      <a:pt x="793" y="477"/>
                    </a:lnTo>
                    <a:lnTo>
                      <a:pt x="792" y="475"/>
                    </a:lnTo>
                    <a:lnTo>
                      <a:pt x="790" y="472"/>
                    </a:lnTo>
                    <a:lnTo>
                      <a:pt x="788" y="470"/>
                    </a:lnTo>
                    <a:lnTo>
                      <a:pt x="785" y="468"/>
                    </a:lnTo>
                    <a:lnTo>
                      <a:pt x="783" y="466"/>
                    </a:lnTo>
                    <a:lnTo>
                      <a:pt x="781" y="465"/>
                    </a:lnTo>
                    <a:lnTo>
                      <a:pt x="779" y="461"/>
                    </a:lnTo>
                    <a:lnTo>
                      <a:pt x="776" y="459"/>
                    </a:lnTo>
                    <a:lnTo>
                      <a:pt x="774" y="458"/>
                    </a:lnTo>
                    <a:lnTo>
                      <a:pt x="772" y="456"/>
                    </a:lnTo>
                    <a:lnTo>
                      <a:pt x="769" y="454"/>
                    </a:lnTo>
                    <a:lnTo>
                      <a:pt x="767" y="452"/>
                    </a:lnTo>
                    <a:lnTo>
                      <a:pt x="766" y="449"/>
                    </a:lnTo>
                    <a:lnTo>
                      <a:pt x="764" y="447"/>
                    </a:lnTo>
                    <a:lnTo>
                      <a:pt x="762" y="445"/>
                    </a:lnTo>
                    <a:lnTo>
                      <a:pt x="759" y="444"/>
                    </a:lnTo>
                    <a:lnTo>
                      <a:pt x="757" y="442"/>
                    </a:lnTo>
                    <a:lnTo>
                      <a:pt x="755" y="440"/>
                    </a:lnTo>
                    <a:lnTo>
                      <a:pt x="752" y="439"/>
                    </a:lnTo>
                    <a:lnTo>
                      <a:pt x="750" y="435"/>
                    </a:lnTo>
                    <a:lnTo>
                      <a:pt x="748" y="433"/>
                    </a:lnTo>
                    <a:lnTo>
                      <a:pt x="745" y="432"/>
                    </a:lnTo>
                    <a:lnTo>
                      <a:pt x="743" y="430"/>
                    </a:lnTo>
                    <a:lnTo>
                      <a:pt x="741" y="428"/>
                    </a:lnTo>
                    <a:lnTo>
                      <a:pt x="739" y="426"/>
                    </a:lnTo>
                    <a:lnTo>
                      <a:pt x="736" y="425"/>
                    </a:lnTo>
                    <a:lnTo>
                      <a:pt x="734" y="421"/>
                    </a:lnTo>
                    <a:lnTo>
                      <a:pt x="732" y="419"/>
                    </a:lnTo>
                    <a:lnTo>
                      <a:pt x="729" y="418"/>
                    </a:lnTo>
                    <a:lnTo>
                      <a:pt x="727" y="416"/>
                    </a:lnTo>
                    <a:lnTo>
                      <a:pt x="726" y="414"/>
                    </a:lnTo>
                    <a:lnTo>
                      <a:pt x="722" y="412"/>
                    </a:lnTo>
                    <a:lnTo>
                      <a:pt x="720" y="411"/>
                    </a:lnTo>
                    <a:lnTo>
                      <a:pt x="719" y="407"/>
                    </a:lnTo>
                    <a:lnTo>
                      <a:pt x="717" y="405"/>
                    </a:lnTo>
                    <a:lnTo>
                      <a:pt x="713" y="404"/>
                    </a:lnTo>
                    <a:lnTo>
                      <a:pt x="712" y="402"/>
                    </a:lnTo>
                    <a:lnTo>
                      <a:pt x="710" y="400"/>
                    </a:lnTo>
                    <a:lnTo>
                      <a:pt x="706" y="398"/>
                    </a:lnTo>
                    <a:lnTo>
                      <a:pt x="705" y="395"/>
                    </a:lnTo>
                    <a:lnTo>
                      <a:pt x="703" y="393"/>
                    </a:lnTo>
                    <a:lnTo>
                      <a:pt x="699" y="392"/>
                    </a:lnTo>
                    <a:lnTo>
                      <a:pt x="698" y="390"/>
                    </a:lnTo>
                    <a:lnTo>
                      <a:pt x="696" y="388"/>
                    </a:lnTo>
                    <a:lnTo>
                      <a:pt x="692" y="386"/>
                    </a:lnTo>
                    <a:lnTo>
                      <a:pt x="691" y="385"/>
                    </a:lnTo>
                    <a:lnTo>
                      <a:pt x="689" y="383"/>
                    </a:lnTo>
                    <a:lnTo>
                      <a:pt x="685" y="379"/>
                    </a:lnTo>
                    <a:lnTo>
                      <a:pt x="684" y="378"/>
                    </a:lnTo>
                    <a:lnTo>
                      <a:pt x="682" y="376"/>
                    </a:lnTo>
                    <a:lnTo>
                      <a:pt x="679" y="374"/>
                    </a:lnTo>
                    <a:lnTo>
                      <a:pt x="677" y="372"/>
                    </a:lnTo>
                    <a:lnTo>
                      <a:pt x="675" y="371"/>
                    </a:lnTo>
                    <a:lnTo>
                      <a:pt x="672" y="369"/>
                    </a:lnTo>
                    <a:lnTo>
                      <a:pt x="670" y="367"/>
                    </a:lnTo>
                    <a:lnTo>
                      <a:pt x="668" y="365"/>
                    </a:lnTo>
                    <a:lnTo>
                      <a:pt x="665" y="362"/>
                    </a:lnTo>
                    <a:lnTo>
                      <a:pt x="663" y="360"/>
                    </a:lnTo>
                    <a:lnTo>
                      <a:pt x="661" y="358"/>
                    </a:lnTo>
                    <a:lnTo>
                      <a:pt x="658" y="357"/>
                    </a:lnTo>
                    <a:lnTo>
                      <a:pt x="656" y="355"/>
                    </a:lnTo>
                    <a:lnTo>
                      <a:pt x="654" y="353"/>
                    </a:lnTo>
                    <a:lnTo>
                      <a:pt x="651" y="351"/>
                    </a:lnTo>
                    <a:lnTo>
                      <a:pt x="649" y="350"/>
                    </a:lnTo>
                    <a:lnTo>
                      <a:pt x="645" y="348"/>
                    </a:lnTo>
                    <a:lnTo>
                      <a:pt x="644" y="345"/>
                    </a:lnTo>
                    <a:lnTo>
                      <a:pt x="642" y="343"/>
                    </a:lnTo>
                    <a:lnTo>
                      <a:pt x="640" y="341"/>
                    </a:lnTo>
                    <a:lnTo>
                      <a:pt x="637" y="339"/>
                    </a:lnTo>
                    <a:lnTo>
                      <a:pt x="635" y="338"/>
                    </a:lnTo>
                    <a:lnTo>
                      <a:pt x="632" y="336"/>
                    </a:lnTo>
                    <a:lnTo>
                      <a:pt x="630" y="334"/>
                    </a:lnTo>
                    <a:lnTo>
                      <a:pt x="628" y="332"/>
                    </a:lnTo>
                    <a:lnTo>
                      <a:pt x="625" y="331"/>
                    </a:lnTo>
                    <a:lnTo>
                      <a:pt x="623" y="329"/>
                    </a:lnTo>
                    <a:lnTo>
                      <a:pt x="621" y="325"/>
                    </a:lnTo>
                    <a:lnTo>
                      <a:pt x="618" y="324"/>
                    </a:lnTo>
                    <a:lnTo>
                      <a:pt x="616" y="322"/>
                    </a:lnTo>
                    <a:lnTo>
                      <a:pt x="612" y="320"/>
                    </a:lnTo>
                    <a:lnTo>
                      <a:pt x="611" y="318"/>
                    </a:lnTo>
                    <a:lnTo>
                      <a:pt x="609" y="317"/>
                    </a:lnTo>
                    <a:lnTo>
                      <a:pt x="605" y="315"/>
                    </a:lnTo>
                    <a:lnTo>
                      <a:pt x="604" y="313"/>
                    </a:lnTo>
                    <a:lnTo>
                      <a:pt x="600" y="311"/>
                    </a:lnTo>
                    <a:lnTo>
                      <a:pt x="598" y="310"/>
                    </a:lnTo>
                    <a:lnTo>
                      <a:pt x="597" y="308"/>
                    </a:lnTo>
                    <a:lnTo>
                      <a:pt x="593" y="306"/>
                    </a:lnTo>
                    <a:lnTo>
                      <a:pt x="591" y="303"/>
                    </a:lnTo>
                    <a:lnTo>
                      <a:pt x="590" y="301"/>
                    </a:lnTo>
                    <a:lnTo>
                      <a:pt x="586" y="299"/>
                    </a:lnTo>
                    <a:lnTo>
                      <a:pt x="585" y="298"/>
                    </a:lnTo>
                    <a:lnTo>
                      <a:pt x="581" y="296"/>
                    </a:lnTo>
                    <a:lnTo>
                      <a:pt x="579" y="294"/>
                    </a:lnTo>
                    <a:lnTo>
                      <a:pt x="576" y="292"/>
                    </a:lnTo>
                    <a:lnTo>
                      <a:pt x="574" y="291"/>
                    </a:lnTo>
                    <a:lnTo>
                      <a:pt x="572" y="289"/>
                    </a:lnTo>
                    <a:lnTo>
                      <a:pt x="569" y="287"/>
                    </a:lnTo>
                    <a:lnTo>
                      <a:pt x="567" y="285"/>
                    </a:lnTo>
                    <a:lnTo>
                      <a:pt x="564" y="284"/>
                    </a:lnTo>
                    <a:lnTo>
                      <a:pt x="562" y="282"/>
                    </a:lnTo>
                    <a:lnTo>
                      <a:pt x="560" y="280"/>
                    </a:lnTo>
                    <a:lnTo>
                      <a:pt x="557" y="278"/>
                    </a:lnTo>
                    <a:lnTo>
                      <a:pt x="555" y="275"/>
                    </a:lnTo>
                    <a:lnTo>
                      <a:pt x="551" y="273"/>
                    </a:lnTo>
                    <a:lnTo>
                      <a:pt x="550" y="271"/>
                    </a:lnTo>
                    <a:lnTo>
                      <a:pt x="548" y="270"/>
                    </a:lnTo>
                    <a:lnTo>
                      <a:pt x="544" y="268"/>
                    </a:lnTo>
                    <a:lnTo>
                      <a:pt x="543" y="266"/>
                    </a:lnTo>
                    <a:lnTo>
                      <a:pt x="539" y="264"/>
                    </a:lnTo>
                    <a:lnTo>
                      <a:pt x="538" y="263"/>
                    </a:lnTo>
                    <a:lnTo>
                      <a:pt x="534" y="261"/>
                    </a:lnTo>
                    <a:lnTo>
                      <a:pt x="532" y="259"/>
                    </a:lnTo>
                    <a:lnTo>
                      <a:pt x="531" y="257"/>
                    </a:lnTo>
                    <a:lnTo>
                      <a:pt x="527" y="256"/>
                    </a:lnTo>
                    <a:lnTo>
                      <a:pt x="525" y="254"/>
                    </a:lnTo>
                    <a:lnTo>
                      <a:pt x="522" y="252"/>
                    </a:lnTo>
                    <a:lnTo>
                      <a:pt x="520" y="250"/>
                    </a:lnTo>
                    <a:lnTo>
                      <a:pt x="517" y="249"/>
                    </a:lnTo>
                    <a:lnTo>
                      <a:pt x="515" y="247"/>
                    </a:lnTo>
                    <a:lnTo>
                      <a:pt x="511" y="245"/>
                    </a:lnTo>
                    <a:lnTo>
                      <a:pt x="510" y="244"/>
                    </a:lnTo>
                    <a:lnTo>
                      <a:pt x="508" y="242"/>
                    </a:lnTo>
                    <a:lnTo>
                      <a:pt x="504" y="240"/>
                    </a:lnTo>
                    <a:lnTo>
                      <a:pt x="503" y="238"/>
                    </a:lnTo>
                    <a:lnTo>
                      <a:pt x="499" y="235"/>
                    </a:lnTo>
                    <a:lnTo>
                      <a:pt x="498" y="233"/>
                    </a:lnTo>
                    <a:lnTo>
                      <a:pt x="494" y="233"/>
                    </a:lnTo>
                    <a:lnTo>
                      <a:pt x="492" y="230"/>
                    </a:lnTo>
                    <a:lnTo>
                      <a:pt x="489" y="228"/>
                    </a:lnTo>
                    <a:lnTo>
                      <a:pt x="487" y="226"/>
                    </a:lnTo>
                    <a:lnTo>
                      <a:pt x="484" y="224"/>
                    </a:lnTo>
                    <a:lnTo>
                      <a:pt x="482" y="223"/>
                    </a:lnTo>
                    <a:lnTo>
                      <a:pt x="480" y="221"/>
                    </a:lnTo>
                    <a:lnTo>
                      <a:pt x="477" y="219"/>
                    </a:lnTo>
                    <a:lnTo>
                      <a:pt x="475" y="217"/>
                    </a:lnTo>
                    <a:lnTo>
                      <a:pt x="471" y="216"/>
                    </a:lnTo>
                    <a:lnTo>
                      <a:pt x="470" y="214"/>
                    </a:lnTo>
                    <a:lnTo>
                      <a:pt x="466" y="212"/>
                    </a:lnTo>
                    <a:lnTo>
                      <a:pt x="464" y="210"/>
                    </a:lnTo>
                    <a:lnTo>
                      <a:pt x="461" y="209"/>
                    </a:lnTo>
                    <a:lnTo>
                      <a:pt x="459" y="207"/>
                    </a:lnTo>
                    <a:lnTo>
                      <a:pt x="456" y="205"/>
                    </a:lnTo>
                    <a:lnTo>
                      <a:pt x="454" y="203"/>
                    </a:lnTo>
                    <a:lnTo>
                      <a:pt x="451" y="202"/>
                    </a:lnTo>
                    <a:lnTo>
                      <a:pt x="449" y="200"/>
                    </a:lnTo>
                    <a:lnTo>
                      <a:pt x="445" y="198"/>
                    </a:lnTo>
                    <a:lnTo>
                      <a:pt x="444" y="197"/>
                    </a:lnTo>
                    <a:lnTo>
                      <a:pt x="440" y="195"/>
                    </a:lnTo>
                    <a:lnTo>
                      <a:pt x="438" y="193"/>
                    </a:lnTo>
                    <a:lnTo>
                      <a:pt x="435" y="191"/>
                    </a:lnTo>
                    <a:lnTo>
                      <a:pt x="433" y="190"/>
                    </a:lnTo>
                    <a:lnTo>
                      <a:pt x="430" y="188"/>
                    </a:lnTo>
                    <a:lnTo>
                      <a:pt x="428" y="186"/>
                    </a:lnTo>
                    <a:lnTo>
                      <a:pt x="424" y="184"/>
                    </a:lnTo>
                    <a:lnTo>
                      <a:pt x="423" y="183"/>
                    </a:lnTo>
                    <a:lnTo>
                      <a:pt x="419" y="181"/>
                    </a:lnTo>
                    <a:lnTo>
                      <a:pt x="417" y="179"/>
                    </a:lnTo>
                    <a:lnTo>
                      <a:pt x="414" y="177"/>
                    </a:lnTo>
                    <a:lnTo>
                      <a:pt x="412" y="176"/>
                    </a:lnTo>
                    <a:lnTo>
                      <a:pt x="409" y="174"/>
                    </a:lnTo>
                    <a:lnTo>
                      <a:pt x="407" y="172"/>
                    </a:lnTo>
                    <a:lnTo>
                      <a:pt x="404" y="170"/>
                    </a:lnTo>
                    <a:lnTo>
                      <a:pt x="402" y="169"/>
                    </a:lnTo>
                    <a:lnTo>
                      <a:pt x="398" y="167"/>
                    </a:lnTo>
                    <a:lnTo>
                      <a:pt x="397" y="165"/>
                    </a:lnTo>
                    <a:lnTo>
                      <a:pt x="393" y="163"/>
                    </a:lnTo>
                    <a:lnTo>
                      <a:pt x="391" y="162"/>
                    </a:lnTo>
                    <a:lnTo>
                      <a:pt x="388" y="160"/>
                    </a:lnTo>
                    <a:lnTo>
                      <a:pt x="386" y="158"/>
                    </a:lnTo>
                    <a:lnTo>
                      <a:pt x="383" y="156"/>
                    </a:lnTo>
                    <a:lnTo>
                      <a:pt x="381" y="155"/>
                    </a:lnTo>
                    <a:lnTo>
                      <a:pt x="377" y="153"/>
                    </a:lnTo>
                    <a:lnTo>
                      <a:pt x="376" y="151"/>
                    </a:lnTo>
                    <a:lnTo>
                      <a:pt x="372" y="151"/>
                    </a:lnTo>
                    <a:lnTo>
                      <a:pt x="370" y="148"/>
                    </a:lnTo>
                    <a:lnTo>
                      <a:pt x="367" y="148"/>
                    </a:lnTo>
                    <a:lnTo>
                      <a:pt x="365" y="146"/>
                    </a:lnTo>
                    <a:lnTo>
                      <a:pt x="362" y="144"/>
                    </a:lnTo>
                    <a:lnTo>
                      <a:pt x="358" y="143"/>
                    </a:lnTo>
                    <a:lnTo>
                      <a:pt x="357" y="141"/>
                    </a:lnTo>
                    <a:lnTo>
                      <a:pt x="353" y="139"/>
                    </a:lnTo>
                    <a:lnTo>
                      <a:pt x="351" y="137"/>
                    </a:lnTo>
                    <a:lnTo>
                      <a:pt x="348" y="136"/>
                    </a:lnTo>
                    <a:lnTo>
                      <a:pt x="346" y="134"/>
                    </a:lnTo>
                    <a:lnTo>
                      <a:pt x="343" y="132"/>
                    </a:lnTo>
                    <a:lnTo>
                      <a:pt x="341" y="130"/>
                    </a:lnTo>
                    <a:lnTo>
                      <a:pt x="337" y="129"/>
                    </a:lnTo>
                    <a:lnTo>
                      <a:pt x="336" y="127"/>
                    </a:lnTo>
                    <a:lnTo>
                      <a:pt x="332" y="125"/>
                    </a:lnTo>
                    <a:lnTo>
                      <a:pt x="330" y="123"/>
                    </a:lnTo>
                    <a:lnTo>
                      <a:pt x="327" y="122"/>
                    </a:lnTo>
                    <a:lnTo>
                      <a:pt x="325" y="120"/>
                    </a:lnTo>
                    <a:lnTo>
                      <a:pt x="322" y="118"/>
                    </a:lnTo>
                    <a:lnTo>
                      <a:pt x="318" y="116"/>
                    </a:lnTo>
                    <a:lnTo>
                      <a:pt x="316" y="115"/>
                    </a:lnTo>
                    <a:lnTo>
                      <a:pt x="313" y="115"/>
                    </a:lnTo>
                    <a:lnTo>
                      <a:pt x="311" y="111"/>
                    </a:lnTo>
                    <a:lnTo>
                      <a:pt x="308" y="111"/>
                    </a:lnTo>
                    <a:lnTo>
                      <a:pt x="306" y="109"/>
                    </a:lnTo>
                    <a:lnTo>
                      <a:pt x="303" y="108"/>
                    </a:lnTo>
                    <a:lnTo>
                      <a:pt x="301" y="106"/>
                    </a:lnTo>
                    <a:lnTo>
                      <a:pt x="297" y="104"/>
                    </a:lnTo>
                    <a:lnTo>
                      <a:pt x="294" y="103"/>
                    </a:lnTo>
                    <a:lnTo>
                      <a:pt x="292" y="101"/>
                    </a:lnTo>
                    <a:lnTo>
                      <a:pt x="289" y="99"/>
                    </a:lnTo>
                    <a:lnTo>
                      <a:pt x="287" y="97"/>
                    </a:lnTo>
                    <a:lnTo>
                      <a:pt x="283" y="96"/>
                    </a:lnTo>
                    <a:lnTo>
                      <a:pt x="280" y="94"/>
                    </a:lnTo>
                    <a:lnTo>
                      <a:pt x="278" y="92"/>
                    </a:lnTo>
                    <a:lnTo>
                      <a:pt x="275" y="90"/>
                    </a:lnTo>
                    <a:lnTo>
                      <a:pt x="273" y="89"/>
                    </a:lnTo>
                    <a:lnTo>
                      <a:pt x="269" y="89"/>
                    </a:lnTo>
                    <a:lnTo>
                      <a:pt x="268" y="87"/>
                    </a:lnTo>
                    <a:lnTo>
                      <a:pt x="264" y="85"/>
                    </a:lnTo>
                    <a:lnTo>
                      <a:pt x="263" y="83"/>
                    </a:lnTo>
                    <a:lnTo>
                      <a:pt x="259" y="82"/>
                    </a:lnTo>
                    <a:lnTo>
                      <a:pt x="256" y="80"/>
                    </a:lnTo>
                    <a:lnTo>
                      <a:pt x="254" y="78"/>
                    </a:lnTo>
                    <a:lnTo>
                      <a:pt x="250" y="76"/>
                    </a:lnTo>
                    <a:lnTo>
                      <a:pt x="249" y="75"/>
                    </a:lnTo>
                    <a:lnTo>
                      <a:pt x="245" y="73"/>
                    </a:lnTo>
                    <a:lnTo>
                      <a:pt x="242" y="73"/>
                    </a:lnTo>
                    <a:lnTo>
                      <a:pt x="240" y="71"/>
                    </a:lnTo>
                    <a:lnTo>
                      <a:pt x="236" y="69"/>
                    </a:lnTo>
                    <a:lnTo>
                      <a:pt x="235" y="68"/>
                    </a:lnTo>
                    <a:lnTo>
                      <a:pt x="231" y="66"/>
                    </a:lnTo>
                    <a:lnTo>
                      <a:pt x="228" y="64"/>
                    </a:lnTo>
                    <a:lnTo>
                      <a:pt x="226" y="62"/>
                    </a:lnTo>
                    <a:lnTo>
                      <a:pt x="223" y="61"/>
                    </a:lnTo>
                    <a:lnTo>
                      <a:pt x="221" y="59"/>
                    </a:lnTo>
                    <a:lnTo>
                      <a:pt x="217" y="57"/>
                    </a:lnTo>
                    <a:lnTo>
                      <a:pt x="214" y="56"/>
                    </a:lnTo>
                    <a:lnTo>
                      <a:pt x="212" y="56"/>
                    </a:lnTo>
                    <a:lnTo>
                      <a:pt x="209" y="54"/>
                    </a:lnTo>
                    <a:lnTo>
                      <a:pt x="207" y="52"/>
                    </a:lnTo>
                    <a:lnTo>
                      <a:pt x="203" y="50"/>
                    </a:lnTo>
                    <a:lnTo>
                      <a:pt x="200" y="49"/>
                    </a:lnTo>
                    <a:lnTo>
                      <a:pt x="198" y="47"/>
                    </a:lnTo>
                    <a:lnTo>
                      <a:pt x="195" y="45"/>
                    </a:lnTo>
                    <a:lnTo>
                      <a:pt x="193" y="43"/>
                    </a:lnTo>
                    <a:lnTo>
                      <a:pt x="189" y="42"/>
                    </a:lnTo>
                    <a:lnTo>
                      <a:pt x="186" y="42"/>
                    </a:lnTo>
                    <a:lnTo>
                      <a:pt x="184" y="40"/>
                    </a:lnTo>
                    <a:lnTo>
                      <a:pt x="181" y="38"/>
                    </a:lnTo>
                    <a:lnTo>
                      <a:pt x="179" y="36"/>
                    </a:lnTo>
                    <a:lnTo>
                      <a:pt x="176" y="35"/>
                    </a:lnTo>
                    <a:lnTo>
                      <a:pt x="172" y="33"/>
                    </a:lnTo>
                    <a:lnTo>
                      <a:pt x="170" y="31"/>
                    </a:lnTo>
                    <a:lnTo>
                      <a:pt x="167" y="29"/>
                    </a:lnTo>
                    <a:lnTo>
                      <a:pt x="163" y="29"/>
                    </a:lnTo>
                    <a:lnTo>
                      <a:pt x="162" y="28"/>
                    </a:lnTo>
                    <a:lnTo>
                      <a:pt x="158" y="26"/>
                    </a:lnTo>
                    <a:lnTo>
                      <a:pt x="156" y="24"/>
                    </a:lnTo>
                    <a:lnTo>
                      <a:pt x="153" y="22"/>
                    </a:lnTo>
                    <a:lnTo>
                      <a:pt x="149" y="21"/>
                    </a:lnTo>
                    <a:lnTo>
                      <a:pt x="148" y="19"/>
                    </a:lnTo>
                    <a:lnTo>
                      <a:pt x="144" y="19"/>
                    </a:lnTo>
                    <a:lnTo>
                      <a:pt x="141" y="17"/>
                    </a:lnTo>
                    <a:lnTo>
                      <a:pt x="139" y="15"/>
                    </a:lnTo>
                    <a:lnTo>
                      <a:pt x="135" y="14"/>
                    </a:lnTo>
                    <a:lnTo>
                      <a:pt x="132" y="12"/>
                    </a:lnTo>
                    <a:lnTo>
                      <a:pt x="130" y="10"/>
                    </a:lnTo>
                    <a:lnTo>
                      <a:pt x="127" y="9"/>
                    </a:lnTo>
                    <a:lnTo>
                      <a:pt x="125" y="7"/>
                    </a:lnTo>
                    <a:lnTo>
                      <a:pt x="122" y="7"/>
                    </a:lnTo>
                    <a:lnTo>
                      <a:pt x="118" y="5"/>
                    </a:lnTo>
                    <a:lnTo>
                      <a:pt x="116" y="3"/>
                    </a:lnTo>
                    <a:lnTo>
                      <a:pt x="113" y="2"/>
                    </a:lnTo>
                    <a:lnTo>
                      <a:pt x="109" y="0"/>
                    </a:lnTo>
                    <a:lnTo>
                      <a:pt x="108" y="0"/>
                    </a:lnTo>
                    <a:moveTo>
                      <a:pt x="1034" y="728"/>
                    </a:moveTo>
                    <a:lnTo>
                      <a:pt x="1032" y="726"/>
                    </a:lnTo>
                    <a:lnTo>
                      <a:pt x="1030" y="724"/>
                    </a:lnTo>
                    <a:lnTo>
                      <a:pt x="1028" y="721"/>
                    </a:lnTo>
                    <a:lnTo>
                      <a:pt x="1025" y="719"/>
                    </a:lnTo>
                    <a:lnTo>
                      <a:pt x="1023" y="717"/>
                    </a:lnTo>
                    <a:lnTo>
                      <a:pt x="1021" y="714"/>
                    </a:lnTo>
                    <a:lnTo>
                      <a:pt x="1020" y="712"/>
                    </a:lnTo>
                    <a:lnTo>
                      <a:pt x="1018" y="710"/>
                    </a:lnTo>
                    <a:lnTo>
                      <a:pt x="1016" y="708"/>
                    </a:lnTo>
                    <a:lnTo>
                      <a:pt x="1014" y="705"/>
                    </a:lnTo>
                    <a:lnTo>
                      <a:pt x="1013" y="703"/>
                    </a:lnTo>
                    <a:lnTo>
                      <a:pt x="1011" y="701"/>
                    </a:lnTo>
                    <a:lnTo>
                      <a:pt x="1009" y="700"/>
                    </a:lnTo>
                    <a:lnTo>
                      <a:pt x="1006" y="696"/>
                    </a:lnTo>
                    <a:lnTo>
                      <a:pt x="1004" y="694"/>
                    </a:lnTo>
                    <a:lnTo>
                      <a:pt x="1002" y="693"/>
                    </a:lnTo>
                    <a:lnTo>
                      <a:pt x="1000" y="691"/>
                    </a:lnTo>
                    <a:lnTo>
                      <a:pt x="999" y="687"/>
                    </a:lnTo>
                    <a:lnTo>
                      <a:pt x="997" y="686"/>
                    </a:lnTo>
                    <a:lnTo>
                      <a:pt x="995" y="684"/>
                    </a:lnTo>
                    <a:lnTo>
                      <a:pt x="994" y="682"/>
                    </a:lnTo>
                    <a:lnTo>
                      <a:pt x="992" y="681"/>
                    </a:lnTo>
                    <a:lnTo>
                      <a:pt x="988" y="677"/>
                    </a:lnTo>
                    <a:lnTo>
                      <a:pt x="987" y="675"/>
                    </a:lnTo>
                    <a:lnTo>
                      <a:pt x="985" y="674"/>
                    </a:lnTo>
                    <a:lnTo>
                      <a:pt x="983" y="672"/>
                    </a:lnTo>
                    <a:lnTo>
                      <a:pt x="981" y="668"/>
                    </a:lnTo>
                    <a:lnTo>
                      <a:pt x="980" y="667"/>
                    </a:lnTo>
                    <a:lnTo>
                      <a:pt x="978" y="665"/>
                    </a:lnTo>
                    <a:lnTo>
                      <a:pt x="974" y="663"/>
                    </a:lnTo>
                    <a:lnTo>
                      <a:pt x="973" y="660"/>
                    </a:lnTo>
                    <a:lnTo>
                      <a:pt x="971" y="658"/>
                    </a:lnTo>
                    <a:lnTo>
                      <a:pt x="969" y="656"/>
                    </a:lnTo>
                    <a:lnTo>
                      <a:pt x="967" y="654"/>
                    </a:lnTo>
                    <a:lnTo>
                      <a:pt x="966" y="651"/>
                    </a:lnTo>
                    <a:lnTo>
                      <a:pt x="964" y="649"/>
                    </a:lnTo>
                    <a:lnTo>
                      <a:pt x="962" y="647"/>
                    </a:lnTo>
                    <a:lnTo>
                      <a:pt x="960" y="646"/>
                    </a:lnTo>
                    <a:lnTo>
                      <a:pt x="957" y="642"/>
                    </a:lnTo>
                    <a:lnTo>
                      <a:pt x="955" y="640"/>
                    </a:lnTo>
                    <a:lnTo>
                      <a:pt x="954" y="639"/>
                    </a:lnTo>
                    <a:lnTo>
                      <a:pt x="952" y="637"/>
                    </a:lnTo>
                    <a:lnTo>
                      <a:pt x="950" y="634"/>
                    </a:lnTo>
                    <a:lnTo>
                      <a:pt x="948" y="632"/>
                    </a:lnTo>
                    <a:lnTo>
                      <a:pt x="947" y="630"/>
                    </a:lnTo>
                    <a:lnTo>
                      <a:pt x="945" y="628"/>
                    </a:lnTo>
                    <a:lnTo>
                      <a:pt x="941" y="625"/>
                    </a:lnTo>
                    <a:lnTo>
                      <a:pt x="940" y="623"/>
                    </a:lnTo>
                    <a:lnTo>
                      <a:pt x="938" y="621"/>
                    </a:lnTo>
                    <a:lnTo>
                      <a:pt x="936" y="620"/>
                    </a:lnTo>
                    <a:lnTo>
                      <a:pt x="934" y="616"/>
                    </a:lnTo>
                    <a:lnTo>
                      <a:pt x="933" y="614"/>
                    </a:lnTo>
                    <a:lnTo>
                      <a:pt x="931" y="613"/>
                    </a:lnTo>
                    <a:lnTo>
                      <a:pt x="927" y="611"/>
                    </a:lnTo>
                    <a:lnTo>
                      <a:pt x="926" y="607"/>
                    </a:lnTo>
                    <a:lnTo>
                      <a:pt x="924" y="606"/>
                    </a:lnTo>
                    <a:lnTo>
                      <a:pt x="922" y="604"/>
                    </a:lnTo>
                    <a:lnTo>
                      <a:pt x="920" y="602"/>
                    </a:lnTo>
                    <a:lnTo>
                      <a:pt x="919" y="600"/>
                    </a:lnTo>
                    <a:lnTo>
                      <a:pt x="915" y="597"/>
                    </a:lnTo>
                    <a:lnTo>
                      <a:pt x="913" y="595"/>
                    </a:lnTo>
                    <a:lnTo>
                      <a:pt x="912" y="593"/>
                    </a:lnTo>
                    <a:lnTo>
                      <a:pt x="910" y="592"/>
                    </a:lnTo>
                    <a:lnTo>
                      <a:pt x="908" y="588"/>
                    </a:lnTo>
                    <a:lnTo>
                      <a:pt x="905" y="586"/>
                    </a:lnTo>
                    <a:lnTo>
                      <a:pt x="903" y="585"/>
                    </a:lnTo>
                    <a:lnTo>
                      <a:pt x="901" y="583"/>
                    </a:lnTo>
                    <a:lnTo>
                      <a:pt x="900" y="581"/>
                    </a:lnTo>
                    <a:lnTo>
                      <a:pt x="898" y="578"/>
                    </a:lnTo>
                    <a:lnTo>
                      <a:pt x="896" y="576"/>
                    </a:lnTo>
                    <a:lnTo>
                      <a:pt x="894" y="574"/>
                    </a:lnTo>
                    <a:lnTo>
                      <a:pt x="891" y="573"/>
                    </a:lnTo>
                    <a:lnTo>
                      <a:pt x="889" y="571"/>
                    </a:lnTo>
                    <a:lnTo>
                      <a:pt x="887" y="567"/>
                    </a:lnTo>
                    <a:lnTo>
                      <a:pt x="886" y="566"/>
                    </a:lnTo>
                    <a:lnTo>
                      <a:pt x="884" y="564"/>
                    </a:lnTo>
                    <a:lnTo>
                      <a:pt x="880" y="562"/>
                    </a:lnTo>
                    <a:lnTo>
                      <a:pt x="879" y="559"/>
                    </a:lnTo>
                    <a:lnTo>
                      <a:pt x="877" y="557"/>
                    </a:lnTo>
                    <a:lnTo>
                      <a:pt x="875" y="555"/>
                    </a:lnTo>
                    <a:lnTo>
                      <a:pt x="873" y="553"/>
                    </a:lnTo>
                    <a:lnTo>
                      <a:pt x="872" y="550"/>
                    </a:lnTo>
                    <a:lnTo>
                      <a:pt x="868" y="548"/>
                    </a:lnTo>
                    <a:lnTo>
                      <a:pt x="866" y="546"/>
                    </a:lnTo>
                    <a:lnTo>
                      <a:pt x="865" y="545"/>
                    </a:lnTo>
                    <a:lnTo>
                      <a:pt x="863" y="543"/>
                    </a:lnTo>
                    <a:lnTo>
                      <a:pt x="860" y="539"/>
                    </a:lnTo>
                    <a:lnTo>
                      <a:pt x="858" y="538"/>
                    </a:lnTo>
                    <a:lnTo>
                      <a:pt x="856" y="536"/>
                    </a:lnTo>
                    <a:moveTo>
                      <a:pt x="661" y="571"/>
                    </a:moveTo>
                    <a:lnTo>
                      <a:pt x="658" y="569"/>
                    </a:lnTo>
                    <a:lnTo>
                      <a:pt x="654" y="569"/>
                    </a:lnTo>
                    <a:lnTo>
                      <a:pt x="651" y="567"/>
                    </a:lnTo>
                    <a:lnTo>
                      <a:pt x="647" y="566"/>
                    </a:lnTo>
                    <a:lnTo>
                      <a:pt x="645" y="566"/>
                    </a:lnTo>
                    <a:lnTo>
                      <a:pt x="642" y="564"/>
                    </a:lnTo>
                    <a:lnTo>
                      <a:pt x="638" y="564"/>
                    </a:lnTo>
                    <a:lnTo>
                      <a:pt x="635" y="562"/>
                    </a:lnTo>
                    <a:lnTo>
                      <a:pt x="632" y="562"/>
                    </a:lnTo>
                    <a:lnTo>
                      <a:pt x="630" y="560"/>
                    </a:lnTo>
                    <a:lnTo>
                      <a:pt x="626" y="559"/>
                    </a:lnTo>
                    <a:lnTo>
                      <a:pt x="623" y="559"/>
                    </a:lnTo>
                    <a:lnTo>
                      <a:pt x="619" y="557"/>
                    </a:lnTo>
                    <a:lnTo>
                      <a:pt x="616" y="557"/>
                    </a:lnTo>
                    <a:lnTo>
                      <a:pt x="612" y="555"/>
                    </a:lnTo>
                    <a:lnTo>
                      <a:pt x="609" y="555"/>
                    </a:lnTo>
                    <a:lnTo>
                      <a:pt x="607" y="553"/>
                    </a:lnTo>
                    <a:lnTo>
                      <a:pt x="604" y="553"/>
                    </a:lnTo>
                    <a:lnTo>
                      <a:pt x="600" y="552"/>
                    </a:lnTo>
                    <a:lnTo>
                      <a:pt x="597" y="550"/>
                    </a:lnTo>
                    <a:lnTo>
                      <a:pt x="593" y="550"/>
                    </a:lnTo>
                    <a:lnTo>
                      <a:pt x="590" y="548"/>
                    </a:lnTo>
                    <a:lnTo>
                      <a:pt x="586" y="548"/>
                    </a:lnTo>
                    <a:lnTo>
                      <a:pt x="585" y="546"/>
                    </a:lnTo>
                    <a:lnTo>
                      <a:pt x="581" y="546"/>
                    </a:lnTo>
                    <a:lnTo>
                      <a:pt x="578" y="545"/>
                    </a:lnTo>
                    <a:lnTo>
                      <a:pt x="574" y="545"/>
                    </a:lnTo>
                    <a:lnTo>
                      <a:pt x="571" y="543"/>
                    </a:lnTo>
                    <a:lnTo>
                      <a:pt x="567" y="543"/>
                    </a:lnTo>
                    <a:lnTo>
                      <a:pt x="564" y="541"/>
                    </a:lnTo>
                    <a:lnTo>
                      <a:pt x="560" y="541"/>
                    </a:lnTo>
                    <a:lnTo>
                      <a:pt x="558" y="539"/>
                    </a:lnTo>
                    <a:lnTo>
                      <a:pt x="555" y="539"/>
                    </a:lnTo>
                    <a:lnTo>
                      <a:pt x="551" y="538"/>
                    </a:lnTo>
                    <a:lnTo>
                      <a:pt x="548" y="538"/>
                    </a:lnTo>
                    <a:lnTo>
                      <a:pt x="544" y="536"/>
                    </a:lnTo>
                    <a:lnTo>
                      <a:pt x="541" y="536"/>
                    </a:lnTo>
                    <a:lnTo>
                      <a:pt x="538" y="534"/>
                    </a:lnTo>
                    <a:lnTo>
                      <a:pt x="534" y="534"/>
                    </a:lnTo>
                    <a:lnTo>
                      <a:pt x="531" y="533"/>
                    </a:lnTo>
                    <a:lnTo>
                      <a:pt x="529" y="533"/>
                    </a:lnTo>
                    <a:lnTo>
                      <a:pt x="525" y="531"/>
                    </a:lnTo>
                    <a:lnTo>
                      <a:pt x="522" y="531"/>
                    </a:lnTo>
                    <a:lnTo>
                      <a:pt x="518" y="529"/>
                    </a:lnTo>
                    <a:lnTo>
                      <a:pt x="515" y="529"/>
                    </a:lnTo>
                    <a:lnTo>
                      <a:pt x="511" y="527"/>
                    </a:lnTo>
                    <a:lnTo>
                      <a:pt x="508" y="527"/>
                    </a:lnTo>
                    <a:lnTo>
                      <a:pt x="504" y="527"/>
                    </a:lnTo>
                    <a:lnTo>
                      <a:pt x="503" y="526"/>
                    </a:lnTo>
                    <a:lnTo>
                      <a:pt x="499" y="526"/>
                    </a:lnTo>
                    <a:lnTo>
                      <a:pt x="496" y="524"/>
                    </a:lnTo>
                    <a:lnTo>
                      <a:pt x="492" y="524"/>
                    </a:lnTo>
                    <a:lnTo>
                      <a:pt x="489" y="522"/>
                    </a:lnTo>
                    <a:lnTo>
                      <a:pt x="485" y="522"/>
                    </a:lnTo>
                    <a:lnTo>
                      <a:pt x="482" y="522"/>
                    </a:lnTo>
                    <a:lnTo>
                      <a:pt x="478" y="520"/>
                    </a:lnTo>
                    <a:lnTo>
                      <a:pt x="475" y="520"/>
                    </a:lnTo>
                    <a:lnTo>
                      <a:pt x="471" y="519"/>
                    </a:lnTo>
                    <a:lnTo>
                      <a:pt x="468" y="519"/>
                    </a:lnTo>
                    <a:lnTo>
                      <a:pt x="466" y="519"/>
                    </a:lnTo>
                    <a:lnTo>
                      <a:pt x="463" y="517"/>
                    </a:lnTo>
                    <a:lnTo>
                      <a:pt x="459" y="517"/>
                    </a:lnTo>
                    <a:lnTo>
                      <a:pt x="456" y="515"/>
                    </a:lnTo>
                    <a:lnTo>
                      <a:pt x="452" y="515"/>
                    </a:lnTo>
                    <a:lnTo>
                      <a:pt x="449" y="515"/>
                    </a:lnTo>
                    <a:lnTo>
                      <a:pt x="445" y="513"/>
                    </a:lnTo>
                    <a:lnTo>
                      <a:pt x="442" y="513"/>
                    </a:lnTo>
                    <a:lnTo>
                      <a:pt x="438" y="512"/>
                    </a:lnTo>
                    <a:lnTo>
                      <a:pt x="435" y="512"/>
                    </a:lnTo>
                    <a:lnTo>
                      <a:pt x="431" y="512"/>
                    </a:lnTo>
                    <a:lnTo>
                      <a:pt x="428" y="510"/>
                    </a:lnTo>
                    <a:lnTo>
                      <a:pt x="424" y="510"/>
                    </a:lnTo>
                    <a:lnTo>
                      <a:pt x="421" y="510"/>
                    </a:lnTo>
                    <a:lnTo>
                      <a:pt x="417" y="508"/>
                    </a:lnTo>
                    <a:lnTo>
                      <a:pt x="416" y="508"/>
                    </a:lnTo>
                    <a:lnTo>
                      <a:pt x="412" y="508"/>
                    </a:lnTo>
                    <a:lnTo>
                      <a:pt x="409" y="506"/>
                    </a:lnTo>
                    <a:lnTo>
                      <a:pt x="405" y="506"/>
                    </a:lnTo>
                    <a:lnTo>
                      <a:pt x="402" y="505"/>
                    </a:lnTo>
                    <a:lnTo>
                      <a:pt x="398" y="505"/>
                    </a:lnTo>
                    <a:lnTo>
                      <a:pt x="395" y="505"/>
                    </a:lnTo>
                    <a:lnTo>
                      <a:pt x="391" y="505"/>
                    </a:lnTo>
                    <a:lnTo>
                      <a:pt x="388" y="503"/>
                    </a:lnTo>
                    <a:lnTo>
                      <a:pt x="384" y="503"/>
                    </a:lnTo>
                    <a:lnTo>
                      <a:pt x="381" y="503"/>
                    </a:lnTo>
                    <a:lnTo>
                      <a:pt x="377" y="501"/>
                    </a:lnTo>
                    <a:lnTo>
                      <a:pt x="374" y="501"/>
                    </a:lnTo>
                    <a:lnTo>
                      <a:pt x="370" y="501"/>
                    </a:lnTo>
                    <a:lnTo>
                      <a:pt x="367" y="499"/>
                    </a:lnTo>
                    <a:lnTo>
                      <a:pt x="365" y="499"/>
                    </a:lnTo>
                    <a:lnTo>
                      <a:pt x="362" y="499"/>
                    </a:lnTo>
                    <a:lnTo>
                      <a:pt x="358" y="499"/>
                    </a:lnTo>
                    <a:lnTo>
                      <a:pt x="355" y="498"/>
                    </a:lnTo>
                    <a:lnTo>
                      <a:pt x="351" y="498"/>
                    </a:lnTo>
                    <a:lnTo>
                      <a:pt x="348" y="498"/>
                    </a:lnTo>
                    <a:lnTo>
                      <a:pt x="344" y="496"/>
                    </a:lnTo>
                    <a:lnTo>
                      <a:pt x="341" y="496"/>
                    </a:lnTo>
                    <a:lnTo>
                      <a:pt x="337" y="496"/>
                    </a:lnTo>
                    <a:lnTo>
                      <a:pt x="334" y="496"/>
                    </a:lnTo>
                    <a:lnTo>
                      <a:pt x="330" y="494"/>
                    </a:lnTo>
                    <a:lnTo>
                      <a:pt x="327" y="494"/>
                    </a:lnTo>
                    <a:lnTo>
                      <a:pt x="323" y="494"/>
                    </a:lnTo>
                    <a:lnTo>
                      <a:pt x="320" y="494"/>
                    </a:lnTo>
                    <a:lnTo>
                      <a:pt x="316" y="492"/>
                    </a:lnTo>
                    <a:lnTo>
                      <a:pt x="313" y="492"/>
                    </a:lnTo>
                    <a:lnTo>
                      <a:pt x="310" y="492"/>
                    </a:lnTo>
                    <a:lnTo>
                      <a:pt x="306" y="492"/>
                    </a:lnTo>
                    <a:lnTo>
                      <a:pt x="303" y="491"/>
                    </a:lnTo>
                    <a:lnTo>
                      <a:pt x="299" y="491"/>
                    </a:lnTo>
                    <a:lnTo>
                      <a:pt x="296" y="491"/>
                    </a:lnTo>
                    <a:lnTo>
                      <a:pt x="292" y="491"/>
                    </a:lnTo>
                    <a:lnTo>
                      <a:pt x="289" y="491"/>
                    </a:lnTo>
                    <a:lnTo>
                      <a:pt x="287" y="489"/>
                    </a:lnTo>
                    <a:lnTo>
                      <a:pt x="283" y="489"/>
                    </a:lnTo>
                    <a:lnTo>
                      <a:pt x="280" y="489"/>
                    </a:lnTo>
                    <a:lnTo>
                      <a:pt x="276" y="489"/>
                    </a:lnTo>
                    <a:lnTo>
                      <a:pt x="273" y="489"/>
                    </a:lnTo>
                    <a:lnTo>
                      <a:pt x="269" y="487"/>
                    </a:lnTo>
                    <a:lnTo>
                      <a:pt x="266" y="487"/>
                    </a:lnTo>
                    <a:lnTo>
                      <a:pt x="263" y="487"/>
                    </a:lnTo>
                    <a:lnTo>
                      <a:pt x="259" y="487"/>
                    </a:lnTo>
                    <a:lnTo>
                      <a:pt x="256" y="487"/>
                    </a:lnTo>
                    <a:lnTo>
                      <a:pt x="252" y="487"/>
                    </a:lnTo>
                    <a:lnTo>
                      <a:pt x="249" y="486"/>
                    </a:lnTo>
                    <a:lnTo>
                      <a:pt x="245" y="486"/>
                    </a:lnTo>
                    <a:lnTo>
                      <a:pt x="242" y="486"/>
                    </a:lnTo>
                    <a:lnTo>
                      <a:pt x="238" y="486"/>
                    </a:lnTo>
                    <a:lnTo>
                      <a:pt x="235" y="486"/>
                    </a:lnTo>
                    <a:lnTo>
                      <a:pt x="231" y="486"/>
                    </a:lnTo>
                    <a:lnTo>
                      <a:pt x="228" y="486"/>
                    </a:lnTo>
                    <a:lnTo>
                      <a:pt x="224" y="484"/>
                    </a:lnTo>
                    <a:lnTo>
                      <a:pt x="221" y="484"/>
                    </a:lnTo>
                    <a:lnTo>
                      <a:pt x="217" y="484"/>
                    </a:lnTo>
                    <a:lnTo>
                      <a:pt x="214" y="484"/>
                    </a:lnTo>
                    <a:lnTo>
                      <a:pt x="210" y="484"/>
                    </a:lnTo>
                    <a:lnTo>
                      <a:pt x="207" y="484"/>
                    </a:lnTo>
                    <a:lnTo>
                      <a:pt x="203" y="484"/>
                    </a:lnTo>
                    <a:lnTo>
                      <a:pt x="200" y="484"/>
                    </a:lnTo>
                    <a:lnTo>
                      <a:pt x="196" y="484"/>
                    </a:lnTo>
                    <a:lnTo>
                      <a:pt x="193" y="482"/>
                    </a:lnTo>
                    <a:lnTo>
                      <a:pt x="189" y="482"/>
                    </a:lnTo>
                    <a:lnTo>
                      <a:pt x="186" y="482"/>
                    </a:lnTo>
                    <a:lnTo>
                      <a:pt x="182" y="482"/>
                    </a:lnTo>
                    <a:lnTo>
                      <a:pt x="179" y="482"/>
                    </a:lnTo>
                    <a:lnTo>
                      <a:pt x="176" y="482"/>
                    </a:lnTo>
                    <a:lnTo>
                      <a:pt x="172" y="482"/>
                    </a:lnTo>
                    <a:lnTo>
                      <a:pt x="169" y="482"/>
                    </a:lnTo>
                    <a:lnTo>
                      <a:pt x="165" y="482"/>
                    </a:lnTo>
                    <a:lnTo>
                      <a:pt x="162" y="482"/>
                    </a:lnTo>
                    <a:lnTo>
                      <a:pt x="158" y="482"/>
                    </a:lnTo>
                    <a:lnTo>
                      <a:pt x="155" y="482"/>
                    </a:lnTo>
                    <a:lnTo>
                      <a:pt x="151" y="482"/>
                    </a:lnTo>
                    <a:lnTo>
                      <a:pt x="148" y="482"/>
                    </a:lnTo>
                    <a:lnTo>
                      <a:pt x="144" y="480"/>
                    </a:lnTo>
                    <a:lnTo>
                      <a:pt x="141" y="480"/>
                    </a:lnTo>
                    <a:lnTo>
                      <a:pt x="137" y="480"/>
                    </a:lnTo>
                    <a:lnTo>
                      <a:pt x="134" y="480"/>
                    </a:lnTo>
                    <a:lnTo>
                      <a:pt x="130" y="480"/>
                    </a:lnTo>
                    <a:lnTo>
                      <a:pt x="127" y="480"/>
                    </a:lnTo>
                    <a:lnTo>
                      <a:pt x="123" y="480"/>
                    </a:lnTo>
                    <a:lnTo>
                      <a:pt x="120" y="480"/>
                    </a:lnTo>
                    <a:lnTo>
                      <a:pt x="118" y="480"/>
                    </a:lnTo>
                    <a:lnTo>
                      <a:pt x="115" y="480"/>
                    </a:lnTo>
                    <a:lnTo>
                      <a:pt x="109" y="480"/>
                    </a:lnTo>
                    <a:lnTo>
                      <a:pt x="106" y="480"/>
                    </a:lnTo>
                    <a:lnTo>
                      <a:pt x="102" y="480"/>
                    </a:lnTo>
                    <a:lnTo>
                      <a:pt x="101" y="480"/>
                    </a:lnTo>
                    <a:lnTo>
                      <a:pt x="97" y="480"/>
                    </a:lnTo>
                    <a:lnTo>
                      <a:pt x="94" y="480"/>
                    </a:lnTo>
                    <a:lnTo>
                      <a:pt x="88" y="480"/>
                    </a:lnTo>
                    <a:lnTo>
                      <a:pt x="87" y="482"/>
                    </a:lnTo>
                    <a:lnTo>
                      <a:pt x="83" y="482"/>
                    </a:lnTo>
                    <a:lnTo>
                      <a:pt x="80" y="482"/>
                    </a:lnTo>
                    <a:lnTo>
                      <a:pt x="76" y="482"/>
                    </a:lnTo>
                    <a:lnTo>
                      <a:pt x="73" y="482"/>
                    </a:lnTo>
                    <a:lnTo>
                      <a:pt x="69" y="482"/>
                    </a:lnTo>
                    <a:lnTo>
                      <a:pt x="66" y="482"/>
                    </a:lnTo>
                    <a:lnTo>
                      <a:pt x="62" y="482"/>
                    </a:lnTo>
                    <a:lnTo>
                      <a:pt x="59" y="482"/>
                    </a:lnTo>
                    <a:lnTo>
                      <a:pt x="55" y="482"/>
                    </a:lnTo>
                    <a:lnTo>
                      <a:pt x="52" y="482"/>
                    </a:lnTo>
                    <a:lnTo>
                      <a:pt x="48" y="482"/>
                    </a:lnTo>
                    <a:lnTo>
                      <a:pt x="45" y="482"/>
                    </a:lnTo>
                    <a:lnTo>
                      <a:pt x="41" y="484"/>
                    </a:lnTo>
                    <a:lnTo>
                      <a:pt x="38" y="484"/>
                    </a:lnTo>
                    <a:lnTo>
                      <a:pt x="35" y="484"/>
                    </a:lnTo>
                    <a:lnTo>
                      <a:pt x="31" y="484"/>
                    </a:lnTo>
                    <a:lnTo>
                      <a:pt x="28" y="484"/>
                    </a:lnTo>
                    <a:lnTo>
                      <a:pt x="24" y="484"/>
                    </a:lnTo>
                    <a:lnTo>
                      <a:pt x="21" y="484"/>
                    </a:lnTo>
                    <a:lnTo>
                      <a:pt x="17" y="484"/>
                    </a:lnTo>
                    <a:lnTo>
                      <a:pt x="14" y="484"/>
                    </a:lnTo>
                    <a:lnTo>
                      <a:pt x="10" y="486"/>
                    </a:lnTo>
                    <a:lnTo>
                      <a:pt x="7" y="486"/>
                    </a:lnTo>
                    <a:lnTo>
                      <a:pt x="3" y="486"/>
                    </a:lnTo>
                    <a:lnTo>
                      <a:pt x="0" y="486"/>
                    </a:lnTo>
                    <a:moveTo>
                      <a:pt x="1030" y="731"/>
                    </a:moveTo>
                    <a:lnTo>
                      <a:pt x="1027" y="729"/>
                    </a:lnTo>
                    <a:lnTo>
                      <a:pt x="1023" y="728"/>
                    </a:lnTo>
                    <a:lnTo>
                      <a:pt x="1021" y="726"/>
                    </a:lnTo>
                    <a:lnTo>
                      <a:pt x="1018" y="724"/>
                    </a:lnTo>
                    <a:lnTo>
                      <a:pt x="1014" y="724"/>
                    </a:lnTo>
                    <a:lnTo>
                      <a:pt x="1013" y="722"/>
                    </a:lnTo>
                    <a:lnTo>
                      <a:pt x="1009" y="721"/>
                    </a:lnTo>
                    <a:lnTo>
                      <a:pt x="1006" y="719"/>
                    </a:lnTo>
                    <a:lnTo>
                      <a:pt x="1004" y="717"/>
                    </a:lnTo>
                    <a:lnTo>
                      <a:pt x="1000" y="715"/>
                    </a:lnTo>
                    <a:lnTo>
                      <a:pt x="997" y="714"/>
                    </a:lnTo>
                    <a:lnTo>
                      <a:pt x="995" y="714"/>
                    </a:lnTo>
                    <a:lnTo>
                      <a:pt x="992" y="712"/>
                    </a:lnTo>
                    <a:lnTo>
                      <a:pt x="988" y="710"/>
                    </a:lnTo>
                    <a:lnTo>
                      <a:pt x="987" y="708"/>
                    </a:lnTo>
                    <a:lnTo>
                      <a:pt x="983" y="707"/>
                    </a:lnTo>
                    <a:lnTo>
                      <a:pt x="981" y="705"/>
                    </a:lnTo>
                    <a:lnTo>
                      <a:pt x="978" y="705"/>
                    </a:lnTo>
                    <a:lnTo>
                      <a:pt x="974" y="703"/>
                    </a:lnTo>
                    <a:lnTo>
                      <a:pt x="973" y="701"/>
                    </a:lnTo>
                    <a:lnTo>
                      <a:pt x="969" y="700"/>
                    </a:lnTo>
                    <a:lnTo>
                      <a:pt x="966" y="698"/>
                    </a:lnTo>
                    <a:lnTo>
                      <a:pt x="964" y="696"/>
                    </a:lnTo>
                    <a:lnTo>
                      <a:pt x="960" y="696"/>
                    </a:lnTo>
                    <a:lnTo>
                      <a:pt x="957" y="694"/>
                    </a:lnTo>
                    <a:lnTo>
                      <a:pt x="955" y="693"/>
                    </a:lnTo>
                    <a:lnTo>
                      <a:pt x="952" y="691"/>
                    </a:lnTo>
                    <a:lnTo>
                      <a:pt x="948" y="689"/>
                    </a:lnTo>
                    <a:lnTo>
                      <a:pt x="947" y="689"/>
                    </a:lnTo>
                    <a:lnTo>
                      <a:pt x="943" y="687"/>
                    </a:lnTo>
                    <a:lnTo>
                      <a:pt x="940" y="686"/>
                    </a:lnTo>
                    <a:lnTo>
                      <a:pt x="938" y="684"/>
                    </a:lnTo>
                    <a:lnTo>
                      <a:pt x="934" y="682"/>
                    </a:lnTo>
                    <a:lnTo>
                      <a:pt x="931" y="682"/>
                    </a:lnTo>
                    <a:lnTo>
                      <a:pt x="929" y="681"/>
                    </a:lnTo>
                    <a:lnTo>
                      <a:pt x="926" y="679"/>
                    </a:lnTo>
                    <a:lnTo>
                      <a:pt x="922" y="677"/>
                    </a:lnTo>
                    <a:lnTo>
                      <a:pt x="919" y="675"/>
                    </a:lnTo>
                    <a:lnTo>
                      <a:pt x="917" y="674"/>
                    </a:lnTo>
                    <a:lnTo>
                      <a:pt x="913" y="674"/>
                    </a:lnTo>
                    <a:lnTo>
                      <a:pt x="910" y="672"/>
                    </a:lnTo>
                    <a:lnTo>
                      <a:pt x="908" y="670"/>
                    </a:lnTo>
                    <a:lnTo>
                      <a:pt x="905" y="668"/>
                    </a:lnTo>
                    <a:lnTo>
                      <a:pt x="901" y="668"/>
                    </a:lnTo>
                    <a:lnTo>
                      <a:pt x="900" y="667"/>
                    </a:lnTo>
                    <a:lnTo>
                      <a:pt x="896" y="665"/>
                    </a:lnTo>
                    <a:lnTo>
                      <a:pt x="893" y="663"/>
                    </a:lnTo>
                    <a:lnTo>
                      <a:pt x="891" y="661"/>
                    </a:lnTo>
                    <a:lnTo>
                      <a:pt x="887" y="661"/>
                    </a:lnTo>
                    <a:lnTo>
                      <a:pt x="884" y="660"/>
                    </a:lnTo>
                    <a:lnTo>
                      <a:pt x="882" y="658"/>
                    </a:lnTo>
                    <a:lnTo>
                      <a:pt x="879" y="656"/>
                    </a:lnTo>
                    <a:lnTo>
                      <a:pt x="875" y="654"/>
                    </a:lnTo>
                    <a:lnTo>
                      <a:pt x="872" y="654"/>
                    </a:lnTo>
                    <a:lnTo>
                      <a:pt x="870" y="653"/>
                    </a:lnTo>
                    <a:lnTo>
                      <a:pt x="866" y="651"/>
                    </a:lnTo>
                    <a:lnTo>
                      <a:pt x="863" y="649"/>
                    </a:lnTo>
                    <a:lnTo>
                      <a:pt x="861" y="649"/>
                    </a:lnTo>
                    <a:lnTo>
                      <a:pt x="858" y="647"/>
                    </a:lnTo>
                    <a:lnTo>
                      <a:pt x="854" y="646"/>
                    </a:lnTo>
                    <a:lnTo>
                      <a:pt x="851" y="644"/>
                    </a:lnTo>
                    <a:lnTo>
                      <a:pt x="849" y="644"/>
                    </a:lnTo>
                    <a:lnTo>
                      <a:pt x="846" y="642"/>
                    </a:lnTo>
                    <a:lnTo>
                      <a:pt x="842" y="640"/>
                    </a:lnTo>
                    <a:lnTo>
                      <a:pt x="840" y="639"/>
                    </a:lnTo>
                    <a:lnTo>
                      <a:pt x="837" y="637"/>
                    </a:lnTo>
                    <a:lnTo>
                      <a:pt x="833" y="637"/>
                    </a:lnTo>
                    <a:lnTo>
                      <a:pt x="830" y="635"/>
                    </a:lnTo>
                    <a:lnTo>
                      <a:pt x="828" y="634"/>
                    </a:lnTo>
                    <a:lnTo>
                      <a:pt x="825" y="632"/>
                    </a:lnTo>
                    <a:lnTo>
                      <a:pt x="821" y="632"/>
                    </a:lnTo>
                    <a:lnTo>
                      <a:pt x="818" y="630"/>
                    </a:lnTo>
                    <a:lnTo>
                      <a:pt x="816" y="628"/>
                    </a:lnTo>
                    <a:lnTo>
                      <a:pt x="813" y="628"/>
                    </a:lnTo>
                    <a:lnTo>
                      <a:pt x="809" y="627"/>
                    </a:lnTo>
                    <a:lnTo>
                      <a:pt x="806" y="625"/>
                    </a:lnTo>
                    <a:lnTo>
                      <a:pt x="804" y="623"/>
                    </a:lnTo>
                    <a:lnTo>
                      <a:pt x="800" y="623"/>
                    </a:lnTo>
                    <a:lnTo>
                      <a:pt x="797" y="621"/>
                    </a:lnTo>
                    <a:lnTo>
                      <a:pt x="795" y="620"/>
                    </a:lnTo>
                    <a:lnTo>
                      <a:pt x="792" y="618"/>
                    </a:lnTo>
                    <a:lnTo>
                      <a:pt x="788" y="618"/>
                    </a:lnTo>
                    <a:lnTo>
                      <a:pt x="785" y="616"/>
                    </a:lnTo>
                    <a:lnTo>
                      <a:pt x="781" y="614"/>
                    </a:lnTo>
                    <a:lnTo>
                      <a:pt x="779" y="614"/>
                    </a:lnTo>
                    <a:lnTo>
                      <a:pt x="776" y="613"/>
                    </a:lnTo>
                    <a:lnTo>
                      <a:pt x="772" y="611"/>
                    </a:lnTo>
                    <a:lnTo>
                      <a:pt x="769" y="611"/>
                    </a:lnTo>
                    <a:lnTo>
                      <a:pt x="767" y="609"/>
                    </a:lnTo>
                    <a:lnTo>
                      <a:pt x="764" y="607"/>
                    </a:lnTo>
                    <a:lnTo>
                      <a:pt x="760" y="607"/>
                    </a:lnTo>
                    <a:lnTo>
                      <a:pt x="757" y="606"/>
                    </a:lnTo>
                    <a:lnTo>
                      <a:pt x="755" y="604"/>
                    </a:lnTo>
                    <a:lnTo>
                      <a:pt x="752" y="602"/>
                    </a:lnTo>
                    <a:lnTo>
                      <a:pt x="748" y="602"/>
                    </a:lnTo>
                    <a:lnTo>
                      <a:pt x="745" y="600"/>
                    </a:lnTo>
                    <a:lnTo>
                      <a:pt x="741" y="599"/>
                    </a:lnTo>
                    <a:lnTo>
                      <a:pt x="739" y="599"/>
                    </a:lnTo>
                    <a:lnTo>
                      <a:pt x="736" y="597"/>
                    </a:lnTo>
                    <a:lnTo>
                      <a:pt x="732" y="595"/>
                    </a:lnTo>
                    <a:lnTo>
                      <a:pt x="729" y="595"/>
                    </a:lnTo>
                    <a:lnTo>
                      <a:pt x="727" y="593"/>
                    </a:lnTo>
                    <a:lnTo>
                      <a:pt x="724" y="592"/>
                    </a:lnTo>
                    <a:lnTo>
                      <a:pt x="720" y="592"/>
                    </a:lnTo>
                    <a:lnTo>
                      <a:pt x="717" y="590"/>
                    </a:lnTo>
                    <a:lnTo>
                      <a:pt x="713" y="588"/>
                    </a:lnTo>
                    <a:lnTo>
                      <a:pt x="712" y="588"/>
                    </a:lnTo>
                    <a:lnTo>
                      <a:pt x="708" y="586"/>
                    </a:lnTo>
                    <a:lnTo>
                      <a:pt x="705" y="586"/>
                    </a:lnTo>
                    <a:lnTo>
                      <a:pt x="701" y="585"/>
                    </a:lnTo>
                    <a:lnTo>
                      <a:pt x="699" y="583"/>
                    </a:lnTo>
                    <a:lnTo>
                      <a:pt x="696" y="583"/>
                    </a:lnTo>
                    <a:lnTo>
                      <a:pt x="692" y="581"/>
                    </a:lnTo>
                    <a:lnTo>
                      <a:pt x="689" y="580"/>
                    </a:lnTo>
                    <a:lnTo>
                      <a:pt x="685" y="580"/>
                    </a:lnTo>
                    <a:lnTo>
                      <a:pt x="682" y="578"/>
                    </a:lnTo>
                    <a:lnTo>
                      <a:pt x="680" y="576"/>
                    </a:lnTo>
                    <a:lnTo>
                      <a:pt x="677" y="576"/>
                    </a:lnTo>
                    <a:lnTo>
                      <a:pt x="673" y="574"/>
                    </a:lnTo>
                    <a:lnTo>
                      <a:pt x="670" y="574"/>
                    </a:lnTo>
                    <a:lnTo>
                      <a:pt x="666" y="573"/>
                    </a:lnTo>
                    <a:lnTo>
                      <a:pt x="665" y="571"/>
                    </a:lnTo>
                    <a:lnTo>
                      <a:pt x="661" y="571"/>
                    </a:lnTo>
                    <a:moveTo>
                      <a:pt x="891" y="715"/>
                    </a:moveTo>
                    <a:lnTo>
                      <a:pt x="887" y="715"/>
                    </a:lnTo>
                    <a:lnTo>
                      <a:pt x="886" y="715"/>
                    </a:lnTo>
                    <a:lnTo>
                      <a:pt x="882" y="714"/>
                    </a:lnTo>
                    <a:lnTo>
                      <a:pt x="877" y="714"/>
                    </a:lnTo>
                    <a:lnTo>
                      <a:pt x="873" y="714"/>
                    </a:lnTo>
                    <a:lnTo>
                      <a:pt x="872" y="714"/>
                    </a:lnTo>
                    <a:lnTo>
                      <a:pt x="868" y="714"/>
                    </a:lnTo>
                    <a:lnTo>
                      <a:pt x="865" y="712"/>
                    </a:lnTo>
                    <a:lnTo>
                      <a:pt x="861" y="712"/>
                    </a:lnTo>
                    <a:lnTo>
                      <a:pt x="858" y="712"/>
                    </a:lnTo>
                    <a:lnTo>
                      <a:pt x="854" y="712"/>
                    </a:lnTo>
                    <a:lnTo>
                      <a:pt x="851" y="710"/>
                    </a:lnTo>
                    <a:lnTo>
                      <a:pt x="847" y="710"/>
                    </a:lnTo>
                    <a:lnTo>
                      <a:pt x="844" y="710"/>
                    </a:lnTo>
                    <a:lnTo>
                      <a:pt x="840" y="710"/>
                    </a:lnTo>
                    <a:lnTo>
                      <a:pt x="837" y="710"/>
                    </a:lnTo>
                    <a:lnTo>
                      <a:pt x="833" y="710"/>
                    </a:lnTo>
                    <a:lnTo>
                      <a:pt x="830" y="708"/>
                    </a:lnTo>
                    <a:lnTo>
                      <a:pt x="826" y="708"/>
                    </a:lnTo>
                    <a:lnTo>
                      <a:pt x="823" y="708"/>
                    </a:lnTo>
                    <a:lnTo>
                      <a:pt x="819" y="708"/>
                    </a:lnTo>
                    <a:lnTo>
                      <a:pt x="816" y="708"/>
                    </a:lnTo>
                    <a:lnTo>
                      <a:pt x="813" y="708"/>
                    </a:lnTo>
                    <a:lnTo>
                      <a:pt x="809" y="707"/>
                    </a:lnTo>
                    <a:lnTo>
                      <a:pt x="806" y="707"/>
                    </a:lnTo>
                    <a:lnTo>
                      <a:pt x="802" y="707"/>
                    </a:lnTo>
                    <a:lnTo>
                      <a:pt x="799" y="707"/>
                    </a:lnTo>
                    <a:lnTo>
                      <a:pt x="795" y="707"/>
                    </a:lnTo>
                    <a:lnTo>
                      <a:pt x="792" y="707"/>
                    </a:lnTo>
                    <a:lnTo>
                      <a:pt x="788" y="705"/>
                    </a:lnTo>
                    <a:lnTo>
                      <a:pt x="785" y="705"/>
                    </a:lnTo>
                    <a:lnTo>
                      <a:pt x="781" y="705"/>
                    </a:lnTo>
                    <a:lnTo>
                      <a:pt x="778" y="705"/>
                    </a:lnTo>
                    <a:lnTo>
                      <a:pt x="774" y="705"/>
                    </a:lnTo>
                    <a:lnTo>
                      <a:pt x="771" y="705"/>
                    </a:lnTo>
                    <a:lnTo>
                      <a:pt x="767" y="705"/>
                    </a:lnTo>
                    <a:lnTo>
                      <a:pt x="764" y="705"/>
                    </a:lnTo>
                    <a:lnTo>
                      <a:pt x="760" y="705"/>
                    </a:lnTo>
                    <a:lnTo>
                      <a:pt x="757" y="705"/>
                    </a:lnTo>
                    <a:lnTo>
                      <a:pt x="753" y="703"/>
                    </a:lnTo>
                    <a:lnTo>
                      <a:pt x="750" y="703"/>
                    </a:lnTo>
                    <a:lnTo>
                      <a:pt x="748" y="703"/>
                    </a:lnTo>
                    <a:lnTo>
                      <a:pt x="745" y="703"/>
                    </a:lnTo>
                    <a:lnTo>
                      <a:pt x="739" y="703"/>
                    </a:lnTo>
                    <a:lnTo>
                      <a:pt x="736" y="703"/>
                    </a:lnTo>
                    <a:lnTo>
                      <a:pt x="732" y="703"/>
                    </a:lnTo>
                    <a:lnTo>
                      <a:pt x="731" y="703"/>
                    </a:lnTo>
                    <a:lnTo>
                      <a:pt x="727" y="703"/>
                    </a:lnTo>
                    <a:lnTo>
                      <a:pt x="724" y="703"/>
                    </a:lnTo>
                    <a:lnTo>
                      <a:pt x="720" y="703"/>
                    </a:lnTo>
                    <a:lnTo>
                      <a:pt x="717" y="703"/>
                    </a:lnTo>
                    <a:lnTo>
                      <a:pt x="713" y="703"/>
                    </a:lnTo>
                    <a:lnTo>
                      <a:pt x="710" y="703"/>
                    </a:lnTo>
                    <a:lnTo>
                      <a:pt x="706" y="703"/>
                    </a:lnTo>
                    <a:lnTo>
                      <a:pt x="703" y="703"/>
                    </a:lnTo>
                    <a:lnTo>
                      <a:pt x="699" y="703"/>
                    </a:lnTo>
                    <a:lnTo>
                      <a:pt x="696" y="703"/>
                    </a:lnTo>
                    <a:lnTo>
                      <a:pt x="692" y="703"/>
                    </a:lnTo>
                    <a:lnTo>
                      <a:pt x="689" y="703"/>
                    </a:lnTo>
                    <a:lnTo>
                      <a:pt x="685" y="703"/>
                    </a:lnTo>
                    <a:lnTo>
                      <a:pt x="682" y="703"/>
                    </a:lnTo>
                    <a:lnTo>
                      <a:pt x="679" y="703"/>
                    </a:lnTo>
                    <a:lnTo>
                      <a:pt x="675" y="703"/>
                    </a:lnTo>
                    <a:lnTo>
                      <a:pt x="672" y="703"/>
                    </a:lnTo>
                    <a:lnTo>
                      <a:pt x="668" y="703"/>
                    </a:lnTo>
                    <a:lnTo>
                      <a:pt x="665" y="703"/>
                    </a:lnTo>
                    <a:lnTo>
                      <a:pt x="661" y="703"/>
                    </a:lnTo>
                    <a:lnTo>
                      <a:pt x="658" y="703"/>
                    </a:lnTo>
                    <a:lnTo>
                      <a:pt x="654" y="703"/>
                    </a:lnTo>
                    <a:lnTo>
                      <a:pt x="651" y="703"/>
                    </a:lnTo>
                    <a:lnTo>
                      <a:pt x="647" y="703"/>
                    </a:lnTo>
                    <a:lnTo>
                      <a:pt x="644" y="703"/>
                    </a:lnTo>
                    <a:lnTo>
                      <a:pt x="640" y="703"/>
                    </a:lnTo>
                    <a:lnTo>
                      <a:pt x="637" y="705"/>
                    </a:lnTo>
                    <a:lnTo>
                      <a:pt x="633" y="705"/>
                    </a:lnTo>
                    <a:lnTo>
                      <a:pt x="630" y="705"/>
                    </a:lnTo>
                    <a:lnTo>
                      <a:pt x="626" y="705"/>
                    </a:lnTo>
                    <a:lnTo>
                      <a:pt x="623" y="705"/>
                    </a:lnTo>
                    <a:lnTo>
                      <a:pt x="619" y="705"/>
                    </a:lnTo>
                    <a:lnTo>
                      <a:pt x="616" y="705"/>
                    </a:lnTo>
                    <a:lnTo>
                      <a:pt x="612" y="705"/>
                    </a:lnTo>
                    <a:lnTo>
                      <a:pt x="609" y="705"/>
                    </a:lnTo>
                    <a:lnTo>
                      <a:pt x="605" y="707"/>
                    </a:lnTo>
                    <a:lnTo>
                      <a:pt x="602" y="707"/>
                    </a:lnTo>
                    <a:lnTo>
                      <a:pt x="598" y="707"/>
                    </a:lnTo>
                    <a:lnTo>
                      <a:pt x="595" y="707"/>
                    </a:lnTo>
                    <a:lnTo>
                      <a:pt x="591" y="707"/>
                    </a:lnTo>
                    <a:lnTo>
                      <a:pt x="588" y="707"/>
                    </a:lnTo>
                    <a:lnTo>
                      <a:pt x="585" y="708"/>
                    </a:lnTo>
                    <a:lnTo>
                      <a:pt x="581" y="708"/>
                    </a:lnTo>
                    <a:lnTo>
                      <a:pt x="578" y="708"/>
                    </a:lnTo>
                    <a:lnTo>
                      <a:pt x="574" y="708"/>
                    </a:lnTo>
                    <a:lnTo>
                      <a:pt x="571" y="708"/>
                    </a:lnTo>
                    <a:lnTo>
                      <a:pt x="567" y="710"/>
                    </a:lnTo>
                    <a:lnTo>
                      <a:pt x="564" y="710"/>
                    </a:lnTo>
                    <a:lnTo>
                      <a:pt x="562" y="710"/>
                    </a:lnTo>
                    <a:lnTo>
                      <a:pt x="558" y="710"/>
                    </a:lnTo>
                    <a:lnTo>
                      <a:pt x="555" y="710"/>
                    </a:lnTo>
                    <a:lnTo>
                      <a:pt x="551" y="712"/>
                    </a:lnTo>
                    <a:lnTo>
                      <a:pt x="548" y="712"/>
                    </a:lnTo>
                    <a:lnTo>
                      <a:pt x="544" y="712"/>
                    </a:lnTo>
                    <a:lnTo>
                      <a:pt x="541" y="712"/>
                    </a:lnTo>
                    <a:lnTo>
                      <a:pt x="538" y="714"/>
                    </a:lnTo>
                    <a:lnTo>
                      <a:pt x="534" y="714"/>
                    </a:lnTo>
                    <a:lnTo>
                      <a:pt x="531" y="714"/>
                    </a:lnTo>
                    <a:lnTo>
                      <a:pt x="527" y="715"/>
                    </a:lnTo>
                    <a:lnTo>
                      <a:pt x="524" y="715"/>
                    </a:lnTo>
                    <a:lnTo>
                      <a:pt x="520" y="715"/>
                    </a:lnTo>
                    <a:lnTo>
                      <a:pt x="517" y="717"/>
                    </a:lnTo>
                    <a:lnTo>
                      <a:pt x="513" y="717"/>
                    </a:lnTo>
                    <a:lnTo>
                      <a:pt x="510" y="717"/>
                    </a:lnTo>
                    <a:lnTo>
                      <a:pt x="506" y="717"/>
                    </a:lnTo>
                    <a:lnTo>
                      <a:pt x="503" y="719"/>
                    </a:lnTo>
                    <a:lnTo>
                      <a:pt x="499" y="719"/>
                    </a:lnTo>
                    <a:lnTo>
                      <a:pt x="498" y="719"/>
                    </a:lnTo>
                    <a:lnTo>
                      <a:pt x="494" y="721"/>
                    </a:lnTo>
                    <a:lnTo>
                      <a:pt x="491" y="721"/>
                    </a:lnTo>
                    <a:lnTo>
                      <a:pt x="487" y="722"/>
                    </a:lnTo>
                    <a:lnTo>
                      <a:pt x="484" y="722"/>
                    </a:lnTo>
                    <a:lnTo>
                      <a:pt x="480" y="722"/>
                    </a:lnTo>
                    <a:lnTo>
                      <a:pt x="477" y="724"/>
                    </a:lnTo>
                    <a:lnTo>
                      <a:pt x="473" y="724"/>
                    </a:lnTo>
                    <a:lnTo>
                      <a:pt x="470" y="726"/>
                    </a:lnTo>
                    <a:lnTo>
                      <a:pt x="466" y="726"/>
                    </a:lnTo>
                    <a:lnTo>
                      <a:pt x="463" y="726"/>
                    </a:lnTo>
                    <a:lnTo>
                      <a:pt x="459" y="728"/>
                    </a:lnTo>
                    <a:lnTo>
                      <a:pt x="456" y="728"/>
                    </a:lnTo>
                    <a:lnTo>
                      <a:pt x="454" y="729"/>
                    </a:lnTo>
                    <a:lnTo>
                      <a:pt x="451" y="729"/>
                    </a:lnTo>
                    <a:lnTo>
                      <a:pt x="447" y="731"/>
                    </a:lnTo>
                    <a:lnTo>
                      <a:pt x="444" y="731"/>
                    </a:lnTo>
                    <a:lnTo>
                      <a:pt x="440" y="731"/>
                    </a:lnTo>
                    <a:lnTo>
                      <a:pt x="437" y="733"/>
                    </a:lnTo>
                    <a:lnTo>
                      <a:pt x="433" y="733"/>
                    </a:lnTo>
                    <a:lnTo>
                      <a:pt x="430" y="734"/>
                    </a:lnTo>
                    <a:lnTo>
                      <a:pt x="426" y="734"/>
                    </a:lnTo>
                    <a:lnTo>
                      <a:pt x="424" y="736"/>
                    </a:lnTo>
                    <a:lnTo>
                      <a:pt x="421" y="736"/>
                    </a:lnTo>
                    <a:lnTo>
                      <a:pt x="417" y="738"/>
                    </a:lnTo>
                    <a:lnTo>
                      <a:pt x="414" y="740"/>
                    </a:lnTo>
                    <a:lnTo>
                      <a:pt x="410" y="740"/>
                    </a:lnTo>
                    <a:lnTo>
                      <a:pt x="407" y="741"/>
                    </a:lnTo>
                    <a:lnTo>
                      <a:pt x="404" y="741"/>
                    </a:lnTo>
                    <a:lnTo>
                      <a:pt x="402" y="743"/>
                    </a:lnTo>
                    <a:lnTo>
                      <a:pt x="398" y="743"/>
                    </a:lnTo>
                    <a:lnTo>
                      <a:pt x="395" y="745"/>
                    </a:lnTo>
                    <a:lnTo>
                      <a:pt x="391" y="745"/>
                    </a:lnTo>
                    <a:lnTo>
                      <a:pt x="388" y="747"/>
                    </a:lnTo>
                    <a:lnTo>
                      <a:pt x="384" y="748"/>
                    </a:lnTo>
                    <a:lnTo>
                      <a:pt x="383" y="748"/>
                    </a:lnTo>
                    <a:lnTo>
                      <a:pt x="379" y="750"/>
                    </a:lnTo>
                    <a:lnTo>
                      <a:pt x="376" y="750"/>
                    </a:lnTo>
                    <a:lnTo>
                      <a:pt x="372" y="752"/>
                    </a:lnTo>
                    <a:lnTo>
                      <a:pt x="369" y="754"/>
                    </a:lnTo>
                    <a:lnTo>
                      <a:pt x="367" y="754"/>
                    </a:lnTo>
                    <a:lnTo>
                      <a:pt x="363" y="755"/>
                    </a:lnTo>
                    <a:lnTo>
                      <a:pt x="360" y="757"/>
                    </a:lnTo>
                    <a:lnTo>
                      <a:pt x="357" y="757"/>
                    </a:lnTo>
                    <a:lnTo>
                      <a:pt x="353" y="759"/>
                    </a:lnTo>
                    <a:lnTo>
                      <a:pt x="351" y="761"/>
                    </a:lnTo>
                    <a:lnTo>
                      <a:pt x="348" y="761"/>
                    </a:lnTo>
                    <a:lnTo>
                      <a:pt x="344" y="762"/>
                    </a:lnTo>
                    <a:lnTo>
                      <a:pt x="341" y="764"/>
                    </a:lnTo>
                    <a:lnTo>
                      <a:pt x="339" y="764"/>
                    </a:lnTo>
                    <a:lnTo>
                      <a:pt x="336" y="766"/>
                    </a:lnTo>
                    <a:lnTo>
                      <a:pt x="332" y="768"/>
                    </a:lnTo>
                    <a:lnTo>
                      <a:pt x="329" y="769"/>
                    </a:lnTo>
                    <a:lnTo>
                      <a:pt x="327" y="769"/>
                    </a:lnTo>
                    <a:lnTo>
                      <a:pt x="323" y="771"/>
                    </a:lnTo>
                    <a:lnTo>
                      <a:pt x="320" y="773"/>
                    </a:lnTo>
                    <a:lnTo>
                      <a:pt x="316" y="775"/>
                    </a:lnTo>
                    <a:lnTo>
                      <a:pt x="315" y="776"/>
                    </a:lnTo>
                    <a:lnTo>
                      <a:pt x="311" y="776"/>
                    </a:lnTo>
                    <a:lnTo>
                      <a:pt x="308" y="778"/>
                    </a:lnTo>
                    <a:lnTo>
                      <a:pt x="306" y="780"/>
                    </a:lnTo>
                    <a:lnTo>
                      <a:pt x="303" y="781"/>
                    </a:lnTo>
                    <a:lnTo>
                      <a:pt x="301" y="783"/>
                    </a:lnTo>
                    <a:lnTo>
                      <a:pt x="297" y="783"/>
                    </a:lnTo>
                    <a:lnTo>
                      <a:pt x="294" y="785"/>
                    </a:lnTo>
                    <a:lnTo>
                      <a:pt x="292" y="787"/>
                    </a:lnTo>
                    <a:lnTo>
                      <a:pt x="289" y="788"/>
                    </a:lnTo>
                    <a:lnTo>
                      <a:pt x="285" y="790"/>
                    </a:lnTo>
                    <a:lnTo>
                      <a:pt x="283" y="792"/>
                    </a:lnTo>
                    <a:lnTo>
                      <a:pt x="280" y="792"/>
                    </a:lnTo>
                    <a:lnTo>
                      <a:pt x="276" y="794"/>
                    </a:lnTo>
                    <a:lnTo>
                      <a:pt x="275" y="795"/>
                    </a:lnTo>
                    <a:lnTo>
                      <a:pt x="271" y="797"/>
                    </a:lnTo>
                    <a:lnTo>
                      <a:pt x="269" y="799"/>
                    </a:lnTo>
                    <a:lnTo>
                      <a:pt x="266" y="801"/>
                    </a:lnTo>
                    <a:lnTo>
                      <a:pt x="263" y="802"/>
                    </a:lnTo>
                    <a:lnTo>
                      <a:pt x="261" y="804"/>
                    </a:lnTo>
                    <a:lnTo>
                      <a:pt x="257" y="806"/>
                    </a:lnTo>
                    <a:lnTo>
                      <a:pt x="256" y="808"/>
                    </a:lnTo>
                    <a:lnTo>
                      <a:pt x="252" y="809"/>
                    </a:lnTo>
                    <a:lnTo>
                      <a:pt x="250" y="811"/>
                    </a:lnTo>
                    <a:lnTo>
                      <a:pt x="247" y="813"/>
                    </a:lnTo>
                    <a:lnTo>
                      <a:pt x="243" y="815"/>
                    </a:lnTo>
                    <a:lnTo>
                      <a:pt x="242" y="815"/>
                    </a:lnTo>
                    <a:lnTo>
                      <a:pt x="240" y="818"/>
                    </a:lnTo>
                    <a:lnTo>
                      <a:pt x="236" y="820"/>
                    </a:lnTo>
                    <a:lnTo>
                      <a:pt x="235" y="820"/>
                    </a:lnTo>
                    <a:lnTo>
                      <a:pt x="231" y="823"/>
                    </a:lnTo>
                    <a:lnTo>
                      <a:pt x="229" y="825"/>
                    </a:lnTo>
                    <a:lnTo>
                      <a:pt x="226" y="827"/>
                    </a:lnTo>
                    <a:lnTo>
                      <a:pt x="224" y="828"/>
                    </a:lnTo>
                    <a:lnTo>
                      <a:pt x="221" y="830"/>
                    </a:lnTo>
                    <a:lnTo>
                      <a:pt x="219" y="832"/>
                    </a:lnTo>
                    <a:lnTo>
                      <a:pt x="216" y="834"/>
                    </a:lnTo>
                    <a:lnTo>
                      <a:pt x="214" y="835"/>
                    </a:lnTo>
                    <a:lnTo>
                      <a:pt x="212" y="837"/>
                    </a:lnTo>
                    <a:lnTo>
                      <a:pt x="209" y="839"/>
                    </a:lnTo>
                    <a:lnTo>
                      <a:pt x="207" y="841"/>
                    </a:lnTo>
                    <a:lnTo>
                      <a:pt x="205" y="842"/>
                    </a:lnTo>
                    <a:lnTo>
                      <a:pt x="202" y="844"/>
                    </a:lnTo>
                    <a:lnTo>
                      <a:pt x="200" y="846"/>
                    </a:lnTo>
                    <a:lnTo>
                      <a:pt x="198" y="849"/>
                    </a:lnTo>
                    <a:lnTo>
                      <a:pt x="195" y="851"/>
                    </a:lnTo>
                    <a:lnTo>
                      <a:pt x="193" y="853"/>
                    </a:lnTo>
                    <a:lnTo>
                      <a:pt x="191" y="855"/>
                    </a:lnTo>
                    <a:lnTo>
                      <a:pt x="188" y="856"/>
                    </a:lnTo>
                    <a:lnTo>
                      <a:pt x="186" y="858"/>
                    </a:lnTo>
                    <a:lnTo>
                      <a:pt x="184" y="860"/>
                    </a:lnTo>
                    <a:lnTo>
                      <a:pt x="182" y="863"/>
                    </a:lnTo>
                    <a:lnTo>
                      <a:pt x="179" y="865"/>
                    </a:lnTo>
                    <a:lnTo>
                      <a:pt x="177" y="867"/>
                    </a:lnTo>
                    <a:lnTo>
                      <a:pt x="176" y="869"/>
                    </a:lnTo>
                    <a:lnTo>
                      <a:pt x="174" y="872"/>
                    </a:lnTo>
                    <a:lnTo>
                      <a:pt x="170" y="874"/>
                    </a:lnTo>
                    <a:lnTo>
                      <a:pt x="169" y="875"/>
                    </a:lnTo>
                    <a:lnTo>
                      <a:pt x="167" y="877"/>
                    </a:lnTo>
                    <a:lnTo>
                      <a:pt x="165" y="879"/>
                    </a:lnTo>
                    <a:lnTo>
                      <a:pt x="163" y="882"/>
                    </a:lnTo>
                    <a:lnTo>
                      <a:pt x="162" y="884"/>
                    </a:lnTo>
                    <a:lnTo>
                      <a:pt x="160" y="886"/>
                    </a:lnTo>
                    <a:lnTo>
                      <a:pt x="156" y="888"/>
                    </a:lnTo>
                    <a:lnTo>
                      <a:pt x="155" y="891"/>
                    </a:lnTo>
                    <a:lnTo>
                      <a:pt x="153" y="893"/>
                    </a:lnTo>
                    <a:lnTo>
                      <a:pt x="151" y="895"/>
                    </a:lnTo>
                    <a:lnTo>
                      <a:pt x="149" y="896"/>
                    </a:lnTo>
                    <a:lnTo>
                      <a:pt x="148" y="900"/>
                    </a:lnTo>
                    <a:lnTo>
                      <a:pt x="146" y="902"/>
                    </a:lnTo>
                    <a:lnTo>
                      <a:pt x="144" y="903"/>
                    </a:lnTo>
                    <a:lnTo>
                      <a:pt x="142" y="907"/>
                    </a:lnTo>
                    <a:lnTo>
                      <a:pt x="141" y="909"/>
                    </a:lnTo>
                    <a:lnTo>
                      <a:pt x="139" y="910"/>
                    </a:lnTo>
                    <a:lnTo>
                      <a:pt x="137" y="914"/>
                    </a:lnTo>
                    <a:lnTo>
                      <a:pt x="135" y="916"/>
                    </a:lnTo>
                    <a:lnTo>
                      <a:pt x="134" y="917"/>
                    </a:lnTo>
                    <a:lnTo>
                      <a:pt x="134" y="921"/>
                    </a:lnTo>
                    <a:lnTo>
                      <a:pt x="132" y="922"/>
                    </a:lnTo>
                    <a:lnTo>
                      <a:pt x="130" y="924"/>
                    </a:lnTo>
                    <a:lnTo>
                      <a:pt x="129" y="928"/>
                    </a:lnTo>
                    <a:lnTo>
                      <a:pt x="127" y="929"/>
                    </a:lnTo>
                    <a:lnTo>
                      <a:pt x="125" y="931"/>
                    </a:lnTo>
                    <a:lnTo>
                      <a:pt x="123" y="935"/>
                    </a:lnTo>
                    <a:lnTo>
                      <a:pt x="123" y="936"/>
                    </a:lnTo>
                    <a:lnTo>
                      <a:pt x="122" y="940"/>
                    </a:lnTo>
                    <a:lnTo>
                      <a:pt x="120" y="942"/>
                    </a:lnTo>
                    <a:lnTo>
                      <a:pt x="118" y="943"/>
                    </a:lnTo>
                    <a:lnTo>
                      <a:pt x="118" y="947"/>
                    </a:lnTo>
                    <a:lnTo>
                      <a:pt x="116" y="949"/>
                    </a:lnTo>
                    <a:lnTo>
                      <a:pt x="115" y="952"/>
                    </a:lnTo>
                    <a:lnTo>
                      <a:pt x="115" y="954"/>
                    </a:lnTo>
                    <a:lnTo>
                      <a:pt x="113" y="956"/>
                    </a:lnTo>
                    <a:lnTo>
                      <a:pt x="111" y="959"/>
                    </a:lnTo>
                    <a:lnTo>
                      <a:pt x="111" y="961"/>
                    </a:lnTo>
                    <a:lnTo>
                      <a:pt x="109" y="964"/>
                    </a:lnTo>
                    <a:lnTo>
                      <a:pt x="108" y="966"/>
                    </a:lnTo>
                    <a:lnTo>
                      <a:pt x="108" y="970"/>
                    </a:lnTo>
                    <a:lnTo>
                      <a:pt x="106" y="971"/>
                    </a:lnTo>
                    <a:lnTo>
                      <a:pt x="106" y="975"/>
                    </a:lnTo>
                    <a:lnTo>
                      <a:pt x="104" y="976"/>
                    </a:lnTo>
                    <a:lnTo>
                      <a:pt x="102" y="978"/>
                    </a:lnTo>
                    <a:lnTo>
                      <a:pt x="102" y="982"/>
                    </a:lnTo>
                    <a:lnTo>
                      <a:pt x="102" y="983"/>
                    </a:lnTo>
                    <a:lnTo>
                      <a:pt x="101" y="987"/>
                    </a:lnTo>
                    <a:lnTo>
                      <a:pt x="101" y="989"/>
                    </a:lnTo>
                    <a:lnTo>
                      <a:pt x="99" y="992"/>
                    </a:lnTo>
                    <a:lnTo>
                      <a:pt x="99" y="994"/>
                    </a:lnTo>
                    <a:lnTo>
                      <a:pt x="97" y="997"/>
                    </a:lnTo>
                    <a:lnTo>
                      <a:pt x="97" y="999"/>
                    </a:lnTo>
                    <a:lnTo>
                      <a:pt x="97" y="1003"/>
                    </a:lnTo>
                    <a:lnTo>
                      <a:pt x="95" y="1004"/>
                    </a:lnTo>
                    <a:lnTo>
                      <a:pt x="95" y="1008"/>
                    </a:lnTo>
                    <a:lnTo>
                      <a:pt x="95" y="1010"/>
                    </a:lnTo>
                    <a:lnTo>
                      <a:pt x="94" y="1013"/>
                    </a:lnTo>
                    <a:lnTo>
                      <a:pt x="94" y="1015"/>
                    </a:lnTo>
                    <a:lnTo>
                      <a:pt x="94" y="1018"/>
                    </a:lnTo>
                    <a:lnTo>
                      <a:pt x="94" y="1020"/>
                    </a:lnTo>
                    <a:lnTo>
                      <a:pt x="92" y="1023"/>
                    </a:lnTo>
                    <a:lnTo>
                      <a:pt x="92" y="1025"/>
                    </a:lnTo>
                    <a:lnTo>
                      <a:pt x="92" y="1029"/>
                    </a:lnTo>
                    <a:lnTo>
                      <a:pt x="92" y="1030"/>
                    </a:lnTo>
                    <a:lnTo>
                      <a:pt x="92" y="1034"/>
                    </a:lnTo>
                    <a:lnTo>
                      <a:pt x="92" y="1036"/>
                    </a:lnTo>
                    <a:lnTo>
                      <a:pt x="90" y="1039"/>
                    </a:lnTo>
                    <a:lnTo>
                      <a:pt x="90" y="1041"/>
                    </a:lnTo>
                    <a:lnTo>
                      <a:pt x="90" y="1044"/>
                    </a:lnTo>
                    <a:lnTo>
                      <a:pt x="90" y="1055"/>
                    </a:lnTo>
                    <a:moveTo>
                      <a:pt x="1028" y="734"/>
                    </a:moveTo>
                    <a:lnTo>
                      <a:pt x="1025" y="734"/>
                    </a:lnTo>
                    <a:lnTo>
                      <a:pt x="1021" y="733"/>
                    </a:lnTo>
                    <a:lnTo>
                      <a:pt x="1018" y="733"/>
                    </a:lnTo>
                    <a:lnTo>
                      <a:pt x="1014" y="733"/>
                    </a:lnTo>
                    <a:lnTo>
                      <a:pt x="1011" y="731"/>
                    </a:lnTo>
                    <a:lnTo>
                      <a:pt x="1007" y="731"/>
                    </a:lnTo>
                    <a:lnTo>
                      <a:pt x="1004" y="731"/>
                    </a:lnTo>
                    <a:lnTo>
                      <a:pt x="1000" y="731"/>
                    </a:lnTo>
                    <a:lnTo>
                      <a:pt x="997" y="729"/>
                    </a:lnTo>
                    <a:lnTo>
                      <a:pt x="994" y="729"/>
                    </a:lnTo>
                    <a:lnTo>
                      <a:pt x="990" y="729"/>
                    </a:lnTo>
                    <a:lnTo>
                      <a:pt x="987" y="728"/>
                    </a:lnTo>
                    <a:lnTo>
                      <a:pt x="983" y="728"/>
                    </a:lnTo>
                    <a:lnTo>
                      <a:pt x="980" y="728"/>
                    </a:lnTo>
                    <a:lnTo>
                      <a:pt x="976" y="728"/>
                    </a:lnTo>
                    <a:lnTo>
                      <a:pt x="973" y="726"/>
                    </a:lnTo>
                    <a:lnTo>
                      <a:pt x="969" y="726"/>
                    </a:lnTo>
                    <a:lnTo>
                      <a:pt x="967" y="726"/>
                    </a:lnTo>
                    <a:lnTo>
                      <a:pt x="964" y="726"/>
                    </a:lnTo>
                    <a:lnTo>
                      <a:pt x="960" y="724"/>
                    </a:lnTo>
                    <a:lnTo>
                      <a:pt x="957" y="724"/>
                    </a:lnTo>
                    <a:lnTo>
                      <a:pt x="954" y="724"/>
                    </a:lnTo>
                    <a:lnTo>
                      <a:pt x="950" y="722"/>
                    </a:lnTo>
                    <a:lnTo>
                      <a:pt x="947" y="722"/>
                    </a:lnTo>
                    <a:lnTo>
                      <a:pt x="943" y="722"/>
                    </a:lnTo>
                    <a:lnTo>
                      <a:pt x="940" y="722"/>
                    </a:lnTo>
                    <a:lnTo>
                      <a:pt x="936" y="721"/>
                    </a:lnTo>
                    <a:lnTo>
                      <a:pt x="933" y="721"/>
                    </a:lnTo>
                    <a:lnTo>
                      <a:pt x="929" y="721"/>
                    </a:lnTo>
                    <a:lnTo>
                      <a:pt x="926" y="719"/>
                    </a:lnTo>
                    <a:lnTo>
                      <a:pt x="922" y="719"/>
                    </a:lnTo>
                    <a:lnTo>
                      <a:pt x="919" y="719"/>
                    </a:lnTo>
                    <a:lnTo>
                      <a:pt x="915" y="719"/>
                    </a:lnTo>
                    <a:lnTo>
                      <a:pt x="912" y="717"/>
                    </a:lnTo>
                    <a:lnTo>
                      <a:pt x="908" y="717"/>
                    </a:lnTo>
                    <a:lnTo>
                      <a:pt x="905" y="717"/>
                    </a:lnTo>
                    <a:lnTo>
                      <a:pt x="901" y="717"/>
                    </a:lnTo>
                    <a:lnTo>
                      <a:pt x="898" y="717"/>
                    </a:lnTo>
                    <a:lnTo>
                      <a:pt x="894" y="715"/>
                    </a:lnTo>
                    <a:lnTo>
                      <a:pt x="891" y="715"/>
                    </a:lnTo>
                    <a:moveTo>
                      <a:pt x="1028" y="738"/>
                    </a:moveTo>
                    <a:lnTo>
                      <a:pt x="1025" y="740"/>
                    </a:lnTo>
                    <a:lnTo>
                      <a:pt x="1021" y="740"/>
                    </a:lnTo>
                    <a:lnTo>
                      <a:pt x="1018" y="740"/>
                    </a:lnTo>
                    <a:lnTo>
                      <a:pt x="1014" y="740"/>
                    </a:lnTo>
                    <a:lnTo>
                      <a:pt x="1011" y="741"/>
                    </a:lnTo>
                    <a:lnTo>
                      <a:pt x="1007" y="741"/>
                    </a:lnTo>
                    <a:lnTo>
                      <a:pt x="1004" y="741"/>
                    </a:lnTo>
                    <a:lnTo>
                      <a:pt x="1000" y="743"/>
                    </a:lnTo>
                    <a:lnTo>
                      <a:pt x="997" y="743"/>
                    </a:lnTo>
                    <a:lnTo>
                      <a:pt x="994" y="743"/>
                    </a:lnTo>
                    <a:lnTo>
                      <a:pt x="990" y="745"/>
                    </a:lnTo>
                    <a:lnTo>
                      <a:pt x="987" y="745"/>
                    </a:lnTo>
                    <a:lnTo>
                      <a:pt x="983" y="745"/>
                    </a:lnTo>
                    <a:lnTo>
                      <a:pt x="980" y="745"/>
                    </a:lnTo>
                    <a:lnTo>
                      <a:pt x="976" y="747"/>
                    </a:lnTo>
                    <a:lnTo>
                      <a:pt x="973" y="747"/>
                    </a:lnTo>
                    <a:lnTo>
                      <a:pt x="969" y="747"/>
                    </a:lnTo>
                    <a:lnTo>
                      <a:pt x="967" y="748"/>
                    </a:lnTo>
                    <a:lnTo>
                      <a:pt x="964" y="748"/>
                    </a:lnTo>
                    <a:lnTo>
                      <a:pt x="960" y="748"/>
                    </a:lnTo>
                    <a:lnTo>
                      <a:pt x="957" y="750"/>
                    </a:lnTo>
                    <a:lnTo>
                      <a:pt x="954" y="750"/>
                    </a:lnTo>
                    <a:lnTo>
                      <a:pt x="950" y="750"/>
                    </a:lnTo>
                    <a:lnTo>
                      <a:pt x="947" y="752"/>
                    </a:lnTo>
                    <a:lnTo>
                      <a:pt x="943" y="752"/>
                    </a:lnTo>
                    <a:lnTo>
                      <a:pt x="940" y="752"/>
                    </a:lnTo>
                    <a:lnTo>
                      <a:pt x="936" y="754"/>
                    </a:lnTo>
                    <a:lnTo>
                      <a:pt x="933" y="754"/>
                    </a:lnTo>
                    <a:lnTo>
                      <a:pt x="929" y="754"/>
                    </a:lnTo>
                    <a:lnTo>
                      <a:pt x="926" y="755"/>
                    </a:lnTo>
                    <a:lnTo>
                      <a:pt x="922" y="755"/>
                    </a:lnTo>
                    <a:lnTo>
                      <a:pt x="919" y="755"/>
                    </a:lnTo>
                    <a:lnTo>
                      <a:pt x="915" y="757"/>
                    </a:lnTo>
                    <a:lnTo>
                      <a:pt x="913" y="757"/>
                    </a:lnTo>
                    <a:lnTo>
                      <a:pt x="910" y="757"/>
                    </a:lnTo>
                    <a:lnTo>
                      <a:pt x="907" y="759"/>
                    </a:lnTo>
                    <a:lnTo>
                      <a:pt x="903" y="759"/>
                    </a:lnTo>
                    <a:lnTo>
                      <a:pt x="900" y="759"/>
                    </a:lnTo>
                    <a:lnTo>
                      <a:pt x="896" y="761"/>
                    </a:lnTo>
                    <a:lnTo>
                      <a:pt x="893" y="761"/>
                    </a:lnTo>
                    <a:lnTo>
                      <a:pt x="889" y="762"/>
                    </a:lnTo>
                    <a:lnTo>
                      <a:pt x="886" y="762"/>
                    </a:lnTo>
                    <a:lnTo>
                      <a:pt x="882" y="762"/>
                    </a:lnTo>
                    <a:lnTo>
                      <a:pt x="879" y="764"/>
                    </a:lnTo>
                    <a:lnTo>
                      <a:pt x="875" y="764"/>
                    </a:lnTo>
                    <a:lnTo>
                      <a:pt x="872" y="764"/>
                    </a:lnTo>
                    <a:lnTo>
                      <a:pt x="868" y="766"/>
                    </a:lnTo>
                    <a:lnTo>
                      <a:pt x="865" y="766"/>
                    </a:lnTo>
                    <a:lnTo>
                      <a:pt x="863" y="768"/>
                    </a:lnTo>
                    <a:lnTo>
                      <a:pt x="860" y="768"/>
                    </a:lnTo>
                    <a:lnTo>
                      <a:pt x="856" y="768"/>
                    </a:lnTo>
                    <a:lnTo>
                      <a:pt x="853" y="769"/>
                    </a:lnTo>
                    <a:lnTo>
                      <a:pt x="849" y="769"/>
                    </a:lnTo>
                    <a:lnTo>
                      <a:pt x="846" y="771"/>
                    </a:lnTo>
                    <a:lnTo>
                      <a:pt x="842" y="771"/>
                    </a:lnTo>
                    <a:lnTo>
                      <a:pt x="839" y="773"/>
                    </a:lnTo>
                    <a:lnTo>
                      <a:pt x="835" y="773"/>
                    </a:lnTo>
                    <a:lnTo>
                      <a:pt x="832" y="773"/>
                    </a:lnTo>
                    <a:lnTo>
                      <a:pt x="828" y="775"/>
                    </a:lnTo>
                    <a:lnTo>
                      <a:pt x="826" y="775"/>
                    </a:lnTo>
                    <a:lnTo>
                      <a:pt x="823" y="776"/>
                    </a:lnTo>
                    <a:lnTo>
                      <a:pt x="819" y="776"/>
                    </a:lnTo>
                    <a:lnTo>
                      <a:pt x="816" y="778"/>
                    </a:lnTo>
                    <a:lnTo>
                      <a:pt x="813" y="778"/>
                    </a:lnTo>
                    <a:lnTo>
                      <a:pt x="809" y="780"/>
                    </a:lnTo>
                    <a:lnTo>
                      <a:pt x="806" y="780"/>
                    </a:lnTo>
                    <a:lnTo>
                      <a:pt x="802" y="781"/>
                    </a:lnTo>
                    <a:lnTo>
                      <a:pt x="800" y="781"/>
                    </a:lnTo>
                    <a:lnTo>
                      <a:pt x="797" y="783"/>
                    </a:lnTo>
                    <a:lnTo>
                      <a:pt x="793" y="783"/>
                    </a:lnTo>
                    <a:lnTo>
                      <a:pt x="790" y="785"/>
                    </a:lnTo>
                    <a:lnTo>
                      <a:pt x="786" y="785"/>
                    </a:lnTo>
                    <a:lnTo>
                      <a:pt x="783" y="787"/>
                    </a:lnTo>
                    <a:lnTo>
                      <a:pt x="779" y="787"/>
                    </a:lnTo>
                    <a:lnTo>
                      <a:pt x="778" y="788"/>
                    </a:lnTo>
                    <a:lnTo>
                      <a:pt x="774" y="788"/>
                    </a:lnTo>
                    <a:lnTo>
                      <a:pt x="771" y="790"/>
                    </a:lnTo>
                    <a:lnTo>
                      <a:pt x="767" y="790"/>
                    </a:lnTo>
                    <a:lnTo>
                      <a:pt x="764" y="792"/>
                    </a:lnTo>
                    <a:lnTo>
                      <a:pt x="760" y="792"/>
                    </a:lnTo>
                    <a:lnTo>
                      <a:pt x="757" y="794"/>
                    </a:lnTo>
                    <a:lnTo>
                      <a:pt x="755" y="795"/>
                    </a:lnTo>
                    <a:lnTo>
                      <a:pt x="752" y="795"/>
                    </a:lnTo>
                    <a:lnTo>
                      <a:pt x="748" y="797"/>
                    </a:lnTo>
                    <a:lnTo>
                      <a:pt x="745" y="799"/>
                    </a:lnTo>
                    <a:lnTo>
                      <a:pt x="741" y="799"/>
                    </a:lnTo>
                    <a:lnTo>
                      <a:pt x="739" y="801"/>
                    </a:lnTo>
                    <a:lnTo>
                      <a:pt x="736" y="801"/>
                    </a:lnTo>
                    <a:lnTo>
                      <a:pt x="732" y="802"/>
                    </a:lnTo>
                    <a:lnTo>
                      <a:pt x="729" y="804"/>
                    </a:lnTo>
                    <a:lnTo>
                      <a:pt x="726" y="804"/>
                    </a:lnTo>
                    <a:lnTo>
                      <a:pt x="722" y="806"/>
                    </a:lnTo>
                    <a:lnTo>
                      <a:pt x="720" y="806"/>
                    </a:lnTo>
                    <a:lnTo>
                      <a:pt x="717" y="808"/>
                    </a:lnTo>
                    <a:lnTo>
                      <a:pt x="713" y="809"/>
                    </a:lnTo>
                    <a:lnTo>
                      <a:pt x="710" y="809"/>
                    </a:lnTo>
                    <a:lnTo>
                      <a:pt x="708" y="811"/>
                    </a:lnTo>
                    <a:lnTo>
                      <a:pt x="705" y="813"/>
                    </a:lnTo>
                    <a:lnTo>
                      <a:pt x="701" y="815"/>
                    </a:lnTo>
                    <a:lnTo>
                      <a:pt x="698" y="815"/>
                    </a:lnTo>
                    <a:lnTo>
                      <a:pt x="694" y="816"/>
                    </a:lnTo>
                    <a:lnTo>
                      <a:pt x="692" y="818"/>
                    </a:lnTo>
                    <a:lnTo>
                      <a:pt x="689" y="818"/>
                    </a:lnTo>
                    <a:lnTo>
                      <a:pt x="685" y="820"/>
                    </a:lnTo>
                    <a:lnTo>
                      <a:pt x="682" y="822"/>
                    </a:lnTo>
                    <a:lnTo>
                      <a:pt x="680" y="823"/>
                    </a:lnTo>
                    <a:lnTo>
                      <a:pt x="677" y="823"/>
                    </a:lnTo>
                    <a:lnTo>
                      <a:pt x="673" y="825"/>
                    </a:lnTo>
                    <a:lnTo>
                      <a:pt x="672" y="827"/>
                    </a:lnTo>
                    <a:lnTo>
                      <a:pt x="668" y="828"/>
                    </a:lnTo>
                    <a:lnTo>
                      <a:pt x="665" y="828"/>
                    </a:lnTo>
                    <a:lnTo>
                      <a:pt x="663" y="830"/>
                    </a:lnTo>
                    <a:lnTo>
                      <a:pt x="659" y="832"/>
                    </a:lnTo>
                    <a:lnTo>
                      <a:pt x="656" y="834"/>
                    </a:lnTo>
                    <a:lnTo>
                      <a:pt x="654" y="835"/>
                    </a:lnTo>
                    <a:lnTo>
                      <a:pt x="651" y="837"/>
                    </a:lnTo>
                    <a:lnTo>
                      <a:pt x="647" y="837"/>
                    </a:lnTo>
                    <a:lnTo>
                      <a:pt x="645" y="839"/>
                    </a:lnTo>
                    <a:lnTo>
                      <a:pt x="642" y="841"/>
                    </a:lnTo>
                    <a:lnTo>
                      <a:pt x="638" y="842"/>
                    </a:lnTo>
                    <a:lnTo>
                      <a:pt x="637" y="844"/>
                    </a:lnTo>
                    <a:lnTo>
                      <a:pt x="633" y="846"/>
                    </a:lnTo>
                    <a:lnTo>
                      <a:pt x="632" y="848"/>
                    </a:lnTo>
                    <a:lnTo>
                      <a:pt x="628" y="849"/>
                    </a:lnTo>
                    <a:lnTo>
                      <a:pt x="625" y="851"/>
                    </a:lnTo>
                    <a:lnTo>
                      <a:pt x="623" y="851"/>
                    </a:lnTo>
                    <a:lnTo>
                      <a:pt x="619" y="853"/>
                    </a:lnTo>
                    <a:lnTo>
                      <a:pt x="618" y="855"/>
                    </a:lnTo>
                    <a:lnTo>
                      <a:pt x="614" y="856"/>
                    </a:lnTo>
                    <a:lnTo>
                      <a:pt x="612" y="858"/>
                    </a:lnTo>
                    <a:lnTo>
                      <a:pt x="609" y="860"/>
                    </a:lnTo>
                    <a:lnTo>
                      <a:pt x="607" y="862"/>
                    </a:lnTo>
                    <a:lnTo>
                      <a:pt x="604" y="863"/>
                    </a:lnTo>
                    <a:lnTo>
                      <a:pt x="602" y="865"/>
                    </a:lnTo>
                    <a:lnTo>
                      <a:pt x="598" y="867"/>
                    </a:lnTo>
                    <a:lnTo>
                      <a:pt x="597" y="869"/>
                    </a:lnTo>
                    <a:lnTo>
                      <a:pt x="593" y="870"/>
                    </a:lnTo>
                    <a:lnTo>
                      <a:pt x="591" y="872"/>
                    </a:lnTo>
                    <a:lnTo>
                      <a:pt x="588" y="874"/>
                    </a:lnTo>
                    <a:lnTo>
                      <a:pt x="586" y="875"/>
                    </a:lnTo>
                    <a:lnTo>
                      <a:pt x="583" y="877"/>
                    </a:lnTo>
                    <a:lnTo>
                      <a:pt x="581" y="879"/>
                    </a:lnTo>
                    <a:lnTo>
                      <a:pt x="579" y="882"/>
                    </a:lnTo>
                    <a:lnTo>
                      <a:pt x="576" y="884"/>
                    </a:lnTo>
                    <a:lnTo>
                      <a:pt x="574" y="886"/>
                    </a:lnTo>
                    <a:lnTo>
                      <a:pt x="571" y="888"/>
                    </a:lnTo>
                    <a:lnTo>
                      <a:pt x="569" y="889"/>
                    </a:lnTo>
                    <a:lnTo>
                      <a:pt x="567" y="891"/>
                    </a:lnTo>
                    <a:lnTo>
                      <a:pt x="564" y="893"/>
                    </a:lnTo>
                    <a:lnTo>
                      <a:pt x="562" y="895"/>
                    </a:lnTo>
                    <a:lnTo>
                      <a:pt x="560" y="896"/>
                    </a:lnTo>
                    <a:lnTo>
                      <a:pt x="558" y="900"/>
                    </a:lnTo>
                    <a:lnTo>
                      <a:pt x="555" y="902"/>
                    </a:lnTo>
                    <a:lnTo>
                      <a:pt x="553" y="903"/>
                    </a:lnTo>
                    <a:lnTo>
                      <a:pt x="551" y="905"/>
                    </a:lnTo>
                    <a:lnTo>
                      <a:pt x="550" y="907"/>
                    </a:lnTo>
                    <a:lnTo>
                      <a:pt x="546" y="910"/>
                    </a:lnTo>
                    <a:lnTo>
                      <a:pt x="544" y="912"/>
                    </a:lnTo>
                    <a:lnTo>
                      <a:pt x="543" y="914"/>
                    </a:lnTo>
                    <a:lnTo>
                      <a:pt x="541" y="916"/>
                    </a:lnTo>
                    <a:lnTo>
                      <a:pt x="539" y="917"/>
                    </a:lnTo>
                    <a:lnTo>
                      <a:pt x="536" y="921"/>
                    </a:lnTo>
                    <a:lnTo>
                      <a:pt x="534" y="922"/>
                    </a:lnTo>
                    <a:lnTo>
                      <a:pt x="532" y="924"/>
                    </a:lnTo>
                    <a:lnTo>
                      <a:pt x="531" y="926"/>
                    </a:lnTo>
                    <a:lnTo>
                      <a:pt x="529" y="929"/>
                    </a:lnTo>
                    <a:lnTo>
                      <a:pt x="527" y="931"/>
                    </a:lnTo>
                    <a:lnTo>
                      <a:pt x="525" y="933"/>
                    </a:lnTo>
                    <a:lnTo>
                      <a:pt x="524" y="936"/>
                    </a:lnTo>
                    <a:lnTo>
                      <a:pt x="522" y="938"/>
                    </a:lnTo>
                    <a:lnTo>
                      <a:pt x="520" y="940"/>
                    </a:lnTo>
                    <a:lnTo>
                      <a:pt x="518" y="942"/>
                    </a:lnTo>
                    <a:lnTo>
                      <a:pt x="517" y="945"/>
                    </a:lnTo>
                    <a:lnTo>
                      <a:pt x="515" y="947"/>
                    </a:lnTo>
                    <a:lnTo>
                      <a:pt x="513" y="950"/>
                    </a:lnTo>
                    <a:lnTo>
                      <a:pt x="511" y="952"/>
                    </a:lnTo>
                    <a:lnTo>
                      <a:pt x="511" y="954"/>
                    </a:lnTo>
                    <a:lnTo>
                      <a:pt x="510" y="957"/>
                    </a:lnTo>
                    <a:lnTo>
                      <a:pt x="508" y="959"/>
                    </a:lnTo>
                    <a:lnTo>
                      <a:pt x="506" y="961"/>
                    </a:lnTo>
                    <a:lnTo>
                      <a:pt x="504" y="964"/>
                    </a:lnTo>
                    <a:lnTo>
                      <a:pt x="503" y="966"/>
                    </a:lnTo>
                    <a:lnTo>
                      <a:pt x="503" y="970"/>
                    </a:lnTo>
                    <a:lnTo>
                      <a:pt x="501" y="971"/>
                    </a:lnTo>
                    <a:lnTo>
                      <a:pt x="499" y="973"/>
                    </a:lnTo>
                    <a:lnTo>
                      <a:pt x="499" y="976"/>
                    </a:lnTo>
                    <a:lnTo>
                      <a:pt x="498" y="978"/>
                    </a:lnTo>
                    <a:lnTo>
                      <a:pt x="496" y="982"/>
                    </a:lnTo>
                    <a:lnTo>
                      <a:pt x="496" y="983"/>
                    </a:lnTo>
                    <a:lnTo>
                      <a:pt x="494" y="987"/>
                    </a:lnTo>
                    <a:lnTo>
                      <a:pt x="492" y="989"/>
                    </a:lnTo>
                    <a:lnTo>
                      <a:pt x="492" y="990"/>
                    </a:lnTo>
                    <a:lnTo>
                      <a:pt x="491" y="994"/>
                    </a:lnTo>
                    <a:lnTo>
                      <a:pt x="491" y="996"/>
                    </a:lnTo>
                    <a:lnTo>
                      <a:pt x="489" y="999"/>
                    </a:lnTo>
                    <a:lnTo>
                      <a:pt x="489" y="1001"/>
                    </a:lnTo>
                    <a:lnTo>
                      <a:pt x="487" y="1004"/>
                    </a:lnTo>
                    <a:lnTo>
                      <a:pt x="487" y="1006"/>
                    </a:lnTo>
                    <a:lnTo>
                      <a:pt x="485" y="1010"/>
                    </a:lnTo>
                    <a:lnTo>
                      <a:pt x="485" y="1011"/>
                    </a:lnTo>
                    <a:lnTo>
                      <a:pt x="485" y="1015"/>
                    </a:lnTo>
                    <a:lnTo>
                      <a:pt x="484" y="1017"/>
                    </a:lnTo>
                    <a:lnTo>
                      <a:pt x="484" y="1020"/>
                    </a:lnTo>
                    <a:lnTo>
                      <a:pt x="484" y="1022"/>
                    </a:lnTo>
                    <a:lnTo>
                      <a:pt x="484" y="1025"/>
                    </a:lnTo>
                    <a:lnTo>
                      <a:pt x="482" y="1027"/>
                    </a:lnTo>
                    <a:lnTo>
                      <a:pt x="482" y="1030"/>
                    </a:lnTo>
                    <a:lnTo>
                      <a:pt x="482" y="1032"/>
                    </a:lnTo>
                    <a:lnTo>
                      <a:pt x="482" y="1036"/>
                    </a:lnTo>
                    <a:lnTo>
                      <a:pt x="480" y="1037"/>
                    </a:lnTo>
                    <a:lnTo>
                      <a:pt x="480" y="1039"/>
                    </a:lnTo>
                    <a:lnTo>
                      <a:pt x="480" y="1043"/>
                    </a:lnTo>
                    <a:lnTo>
                      <a:pt x="480" y="1046"/>
                    </a:lnTo>
                    <a:lnTo>
                      <a:pt x="480" y="1053"/>
                    </a:lnTo>
                    <a:moveTo>
                      <a:pt x="1030" y="741"/>
                    </a:moveTo>
                    <a:lnTo>
                      <a:pt x="1027" y="743"/>
                    </a:lnTo>
                    <a:lnTo>
                      <a:pt x="1023" y="745"/>
                    </a:lnTo>
                    <a:lnTo>
                      <a:pt x="1021" y="747"/>
                    </a:lnTo>
                    <a:lnTo>
                      <a:pt x="1018" y="748"/>
                    </a:lnTo>
                    <a:lnTo>
                      <a:pt x="1014" y="750"/>
                    </a:lnTo>
                    <a:lnTo>
                      <a:pt x="1013" y="750"/>
                    </a:lnTo>
                    <a:lnTo>
                      <a:pt x="1009" y="752"/>
                    </a:lnTo>
                    <a:lnTo>
                      <a:pt x="1006" y="754"/>
                    </a:lnTo>
                    <a:lnTo>
                      <a:pt x="1004" y="755"/>
                    </a:lnTo>
                    <a:lnTo>
                      <a:pt x="1000" y="757"/>
                    </a:lnTo>
                    <a:lnTo>
                      <a:pt x="997" y="759"/>
                    </a:lnTo>
                    <a:lnTo>
                      <a:pt x="995" y="761"/>
                    </a:lnTo>
                    <a:lnTo>
                      <a:pt x="992" y="762"/>
                    </a:lnTo>
                    <a:lnTo>
                      <a:pt x="990" y="762"/>
                    </a:lnTo>
                    <a:lnTo>
                      <a:pt x="987" y="764"/>
                    </a:lnTo>
                    <a:lnTo>
                      <a:pt x="983" y="766"/>
                    </a:lnTo>
                    <a:lnTo>
                      <a:pt x="981" y="768"/>
                    </a:lnTo>
                    <a:lnTo>
                      <a:pt x="978" y="769"/>
                    </a:lnTo>
                    <a:lnTo>
                      <a:pt x="974" y="769"/>
                    </a:lnTo>
                    <a:lnTo>
                      <a:pt x="973" y="771"/>
                    </a:lnTo>
                    <a:lnTo>
                      <a:pt x="969" y="773"/>
                    </a:lnTo>
                    <a:lnTo>
                      <a:pt x="967" y="775"/>
                    </a:lnTo>
                    <a:lnTo>
                      <a:pt x="964" y="776"/>
                    </a:lnTo>
                    <a:lnTo>
                      <a:pt x="960" y="778"/>
                    </a:lnTo>
                    <a:lnTo>
                      <a:pt x="959" y="780"/>
                    </a:lnTo>
                    <a:lnTo>
                      <a:pt x="955" y="781"/>
                    </a:lnTo>
                    <a:lnTo>
                      <a:pt x="952" y="781"/>
                    </a:lnTo>
                    <a:lnTo>
                      <a:pt x="950" y="783"/>
                    </a:lnTo>
                    <a:lnTo>
                      <a:pt x="947" y="785"/>
                    </a:lnTo>
                    <a:lnTo>
                      <a:pt x="945" y="787"/>
                    </a:lnTo>
                    <a:lnTo>
                      <a:pt x="941" y="788"/>
                    </a:lnTo>
                    <a:lnTo>
                      <a:pt x="938" y="790"/>
                    </a:lnTo>
                    <a:lnTo>
                      <a:pt x="936" y="792"/>
                    </a:lnTo>
                    <a:lnTo>
                      <a:pt x="933" y="794"/>
                    </a:lnTo>
                    <a:lnTo>
                      <a:pt x="931" y="795"/>
                    </a:lnTo>
                    <a:lnTo>
                      <a:pt x="927" y="795"/>
                    </a:lnTo>
                    <a:lnTo>
                      <a:pt x="924" y="797"/>
                    </a:lnTo>
                    <a:lnTo>
                      <a:pt x="922" y="799"/>
                    </a:lnTo>
                    <a:lnTo>
                      <a:pt x="919" y="801"/>
                    </a:lnTo>
                    <a:lnTo>
                      <a:pt x="915" y="802"/>
                    </a:lnTo>
                    <a:lnTo>
                      <a:pt x="913" y="804"/>
                    </a:lnTo>
                    <a:lnTo>
                      <a:pt x="910" y="806"/>
                    </a:lnTo>
                    <a:lnTo>
                      <a:pt x="908" y="808"/>
                    </a:lnTo>
                    <a:lnTo>
                      <a:pt x="905" y="809"/>
                    </a:lnTo>
                    <a:lnTo>
                      <a:pt x="901" y="809"/>
                    </a:lnTo>
                    <a:lnTo>
                      <a:pt x="900" y="811"/>
                    </a:lnTo>
                    <a:lnTo>
                      <a:pt x="896" y="813"/>
                    </a:lnTo>
                    <a:lnTo>
                      <a:pt x="894" y="815"/>
                    </a:lnTo>
                    <a:lnTo>
                      <a:pt x="891" y="816"/>
                    </a:lnTo>
                    <a:lnTo>
                      <a:pt x="889" y="818"/>
                    </a:lnTo>
                    <a:lnTo>
                      <a:pt x="886" y="820"/>
                    </a:lnTo>
                    <a:lnTo>
                      <a:pt x="884" y="822"/>
                    </a:lnTo>
                    <a:lnTo>
                      <a:pt x="880" y="823"/>
                    </a:lnTo>
                    <a:lnTo>
                      <a:pt x="877" y="825"/>
                    </a:lnTo>
                    <a:lnTo>
                      <a:pt x="875" y="827"/>
                    </a:lnTo>
                    <a:lnTo>
                      <a:pt x="872" y="828"/>
                    </a:lnTo>
                    <a:lnTo>
                      <a:pt x="870" y="830"/>
                    </a:lnTo>
                    <a:lnTo>
                      <a:pt x="866" y="832"/>
                    </a:lnTo>
                    <a:lnTo>
                      <a:pt x="865" y="834"/>
                    </a:lnTo>
                    <a:lnTo>
                      <a:pt x="861" y="835"/>
                    </a:lnTo>
                    <a:lnTo>
                      <a:pt x="860" y="837"/>
                    </a:lnTo>
                    <a:lnTo>
                      <a:pt x="856" y="839"/>
                    </a:lnTo>
                    <a:lnTo>
                      <a:pt x="854" y="841"/>
                    </a:lnTo>
                    <a:lnTo>
                      <a:pt x="851" y="842"/>
                    </a:lnTo>
                    <a:lnTo>
                      <a:pt x="849" y="844"/>
                    </a:lnTo>
                    <a:lnTo>
                      <a:pt x="846" y="846"/>
                    </a:lnTo>
                    <a:lnTo>
                      <a:pt x="844" y="848"/>
                    </a:lnTo>
                    <a:lnTo>
                      <a:pt x="840" y="849"/>
                    </a:lnTo>
                    <a:lnTo>
                      <a:pt x="839" y="851"/>
                    </a:lnTo>
                    <a:lnTo>
                      <a:pt x="837" y="853"/>
                    </a:lnTo>
                    <a:lnTo>
                      <a:pt x="833" y="855"/>
                    </a:lnTo>
                    <a:lnTo>
                      <a:pt x="832" y="856"/>
                    </a:lnTo>
                    <a:lnTo>
                      <a:pt x="828" y="858"/>
                    </a:lnTo>
                    <a:lnTo>
                      <a:pt x="826" y="860"/>
                    </a:lnTo>
                    <a:lnTo>
                      <a:pt x="823" y="862"/>
                    </a:lnTo>
                    <a:lnTo>
                      <a:pt x="821" y="863"/>
                    </a:lnTo>
                    <a:lnTo>
                      <a:pt x="819" y="865"/>
                    </a:lnTo>
                    <a:lnTo>
                      <a:pt x="816" y="867"/>
                    </a:lnTo>
                    <a:lnTo>
                      <a:pt x="814" y="869"/>
                    </a:lnTo>
                    <a:lnTo>
                      <a:pt x="811" y="872"/>
                    </a:lnTo>
                    <a:lnTo>
                      <a:pt x="809" y="874"/>
                    </a:lnTo>
                    <a:lnTo>
                      <a:pt x="807" y="875"/>
                    </a:lnTo>
                    <a:lnTo>
                      <a:pt x="804" y="877"/>
                    </a:lnTo>
                    <a:lnTo>
                      <a:pt x="802" y="879"/>
                    </a:lnTo>
                    <a:lnTo>
                      <a:pt x="800" y="881"/>
                    </a:lnTo>
                    <a:lnTo>
                      <a:pt x="797" y="882"/>
                    </a:lnTo>
                    <a:lnTo>
                      <a:pt x="795" y="884"/>
                    </a:lnTo>
                    <a:lnTo>
                      <a:pt x="793" y="886"/>
                    </a:lnTo>
                    <a:lnTo>
                      <a:pt x="790" y="889"/>
                    </a:lnTo>
                    <a:lnTo>
                      <a:pt x="788" y="891"/>
                    </a:lnTo>
                    <a:lnTo>
                      <a:pt x="786" y="893"/>
                    </a:lnTo>
                    <a:lnTo>
                      <a:pt x="785" y="895"/>
                    </a:lnTo>
                    <a:lnTo>
                      <a:pt x="781" y="896"/>
                    </a:lnTo>
                    <a:lnTo>
                      <a:pt x="779" y="900"/>
                    </a:lnTo>
                    <a:lnTo>
                      <a:pt x="778" y="902"/>
                    </a:lnTo>
                    <a:lnTo>
                      <a:pt x="776" y="903"/>
                    </a:lnTo>
                    <a:lnTo>
                      <a:pt x="774" y="905"/>
                    </a:lnTo>
                    <a:lnTo>
                      <a:pt x="771" y="907"/>
                    </a:lnTo>
                    <a:lnTo>
                      <a:pt x="769" y="910"/>
                    </a:lnTo>
                    <a:lnTo>
                      <a:pt x="767" y="912"/>
                    </a:lnTo>
                    <a:lnTo>
                      <a:pt x="766" y="914"/>
                    </a:lnTo>
                    <a:lnTo>
                      <a:pt x="764" y="916"/>
                    </a:lnTo>
                    <a:lnTo>
                      <a:pt x="762" y="917"/>
                    </a:lnTo>
                    <a:lnTo>
                      <a:pt x="759" y="921"/>
                    </a:lnTo>
                    <a:lnTo>
                      <a:pt x="757" y="922"/>
                    </a:lnTo>
                    <a:lnTo>
                      <a:pt x="755" y="924"/>
                    </a:lnTo>
                    <a:lnTo>
                      <a:pt x="753" y="928"/>
                    </a:lnTo>
                    <a:lnTo>
                      <a:pt x="752" y="929"/>
                    </a:lnTo>
                    <a:lnTo>
                      <a:pt x="750" y="931"/>
                    </a:lnTo>
                    <a:lnTo>
                      <a:pt x="748" y="933"/>
                    </a:lnTo>
                    <a:lnTo>
                      <a:pt x="746" y="936"/>
                    </a:lnTo>
                    <a:lnTo>
                      <a:pt x="745" y="938"/>
                    </a:lnTo>
                    <a:lnTo>
                      <a:pt x="743" y="940"/>
                    </a:lnTo>
                    <a:lnTo>
                      <a:pt x="741" y="943"/>
                    </a:lnTo>
                    <a:lnTo>
                      <a:pt x="739" y="945"/>
                    </a:lnTo>
                    <a:lnTo>
                      <a:pt x="738" y="947"/>
                    </a:lnTo>
                    <a:lnTo>
                      <a:pt x="736" y="950"/>
                    </a:lnTo>
                    <a:lnTo>
                      <a:pt x="736" y="952"/>
                    </a:lnTo>
                    <a:lnTo>
                      <a:pt x="734" y="954"/>
                    </a:lnTo>
                    <a:lnTo>
                      <a:pt x="732" y="957"/>
                    </a:lnTo>
                    <a:lnTo>
                      <a:pt x="731" y="959"/>
                    </a:lnTo>
                    <a:lnTo>
                      <a:pt x="729" y="961"/>
                    </a:lnTo>
                    <a:lnTo>
                      <a:pt x="727" y="964"/>
                    </a:lnTo>
                    <a:lnTo>
                      <a:pt x="727" y="966"/>
                    </a:lnTo>
                    <a:lnTo>
                      <a:pt x="726" y="970"/>
                    </a:lnTo>
                    <a:lnTo>
                      <a:pt x="724" y="971"/>
                    </a:lnTo>
                    <a:lnTo>
                      <a:pt x="722" y="975"/>
                    </a:lnTo>
                    <a:lnTo>
                      <a:pt x="722" y="976"/>
                    </a:lnTo>
                    <a:lnTo>
                      <a:pt x="720" y="978"/>
                    </a:lnTo>
                    <a:lnTo>
                      <a:pt x="719" y="982"/>
                    </a:lnTo>
                    <a:lnTo>
                      <a:pt x="719" y="983"/>
                    </a:lnTo>
                    <a:lnTo>
                      <a:pt x="717" y="987"/>
                    </a:lnTo>
                    <a:lnTo>
                      <a:pt x="717" y="989"/>
                    </a:lnTo>
                    <a:lnTo>
                      <a:pt x="715" y="992"/>
                    </a:lnTo>
                    <a:lnTo>
                      <a:pt x="713" y="994"/>
                    </a:lnTo>
                    <a:lnTo>
                      <a:pt x="713" y="996"/>
                    </a:lnTo>
                    <a:lnTo>
                      <a:pt x="712" y="999"/>
                    </a:lnTo>
                    <a:lnTo>
                      <a:pt x="712" y="1001"/>
                    </a:lnTo>
                    <a:lnTo>
                      <a:pt x="712" y="1004"/>
                    </a:lnTo>
                    <a:lnTo>
                      <a:pt x="710" y="1006"/>
                    </a:lnTo>
                    <a:lnTo>
                      <a:pt x="710" y="1010"/>
                    </a:lnTo>
                    <a:lnTo>
                      <a:pt x="708" y="1011"/>
                    </a:lnTo>
                    <a:lnTo>
                      <a:pt x="708" y="1015"/>
                    </a:lnTo>
                    <a:lnTo>
                      <a:pt x="708" y="1017"/>
                    </a:lnTo>
                    <a:lnTo>
                      <a:pt x="706" y="1020"/>
                    </a:lnTo>
                    <a:lnTo>
                      <a:pt x="706" y="1022"/>
                    </a:lnTo>
                    <a:lnTo>
                      <a:pt x="706" y="1025"/>
                    </a:lnTo>
                    <a:lnTo>
                      <a:pt x="705" y="1027"/>
                    </a:lnTo>
                    <a:lnTo>
                      <a:pt x="705" y="1030"/>
                    </a:lnTo>
                    <a:lnTo>
                      <a:pt x="705" y="1032"/>
                    </a:lnTo>
                    <a:lnTo>
                      <a:pt x="705" y="1036"/>
                    </a:lnTo>
                    <a:lnTo>
                      <a:pt x="705" y="1037"/>
                    </a:lnTo>
                    <a:lnTo>
                      <a:pt x="703" y="1041"/>
                    </a:lnTo>
                    <a:lnTo>
                      <a:pt x="703" y="1043"/>
                    </a:lnTo>
                    <a:lnTo>
                      <a:pt x="703" y="1046"/>
                    </a:lnTo>
                    <a:lnTo>
                      <a:pt x="703" y="1053"/>
                    </a:lnTo>
                    <a:moveTo>
                      <a:pt x="1034" y="745"/>
                    </a:moveTo>
                    <a:lnTo>
                      <a:pt x="1032" y="747"/>
                    </a:lnTo>
                    <a:lnTo>
                      <a:pt x="1030" y="750"/>
                    </a:lnTo>
                    <a:lnTo>
                      <a:pt x="1028" y="752"/>
                    </a:lnTo>
                    <a:lnTo>
                      <a:pt x="1025" y="754"/>
                    </a:lnTo>
                    <a:lnTo>
                      <a:pt x="1023" y="755"/>
                    </a:lnTo>
                    <a:lnTo>
                      <a:pt x="1021" y="759"/>
                    </a:lnTo>
                    <a:lnTo>
                      <a:pt x="1020" y="761"/>
                    </a:lnTo>
                    <a:lnTo>
                      <a:pt x="1018" y="762"/>
                    </a:lnTo>
                    <a:lnTo>
                      <a:pt x="1016" y="764"/>
                    </a:lnTo>
                    <a:lnTo>
                      <a:pt x="1014" y="768"/>
                    </a:lnTo>
                    <a:lnTo>
                      <a:pt x="1013" y="769"/>
                    </a:lnTo>
                    <a:lnTo>
                      <a:pt x="1011" y="771"/>
                    </a:lnTo>
                    <a:lnTo>
                      <a:pt x="1009" y="773"/>
                    </a:lnTo>
                    <a:lnTo>
                      <a:pt x="1006" y="776"/>
                    </a:lnTo>
                    <a:lnTo>
                      <a:pt x="1004" y="778"/>
                    </a:lnTo>
                    <a:lnTo>
                      <a:pt x="1002" y="780"/>
                    </a:lnTo>
                    <a:lnTo>
                      <a:pt x="1000" y="783"/>
                    </a:lnTo>
                    <a:lnTo>
                      <a:pt x="999" y="785"/>
                    </a:lnTo>
                    <a:lnTo>
                      <a:pt x="997" y="787"/>
                    </a:lnTo>
                    <a:lnTo>
                      <a:pt x="995" y="788"/>
                    </a:lnTo>
                    <a:lnTo>
                      <a:pt x="994" y="792"/>
                    </a:lnTo>
                    <a:lnTo>
                      <a:pt x="992" y="794"/>
                    </a:lnTo>
                    <a:lnTo>
                      <a:pt x="990" y="795"/>
                    </a:lnTo>
                    <a:lnTo>
                      <a:pt x="988" y="799"/>
                    </a:lnTo>
                    <a:lnTo>
                      <a:pt x="987" y="801"/>
                    </a:lnTo>
                    <a:lnTo>
                      <a:pt x="983" y="802"/>
                    </a:lnTo>
                    <a:lnTo>
                      <a:pt x="981" y="804"/>
                    </a:lnTo>
                    <a:lnTo>
                      <a:pt x="980" y="806"/>
                    </a:lnTo>
                    <a:lnTo>
                      <a:pt x="978" y="809"/>
                    </a:lnTo>
                    <a:lnTo>
                      <a:pt x="976" y="811"/>
                    </a:lnTo>
                    <a:lnTo>
                      <a:pt x="974" y="813"/>
                    </a:lnTo>
                    <a:lnTo>
                      <a:pt x="973" y="816"/>
                    </a:lnTo>
                    <a:lnTo>
                      <a:pt x="971" y="818"/>
                    </a:lnTo>
                    <a:lnTo>
                      <a:pt x="969" y="820"/>
                    </a:lnTo>
                    <a:lnTo>
                      <a:pt x="967" y="822"/>
                    </a:lnTo>
                    <a:lnTo>
                      <a:pt x="966" y="825"/>
                    </a:lnTo>
                    <a:lnTo>
                      <a:pt x="964" y="827"/>
                    </a:lnTo>
                    <a:lnTo>
                      <a:pt x="962" y="828"/>
                    </a:lnTo>
                    <a:lnTo>
                      <a:pt x="960" y="832"/>
                    </a:lnTo>
                    <a:lnTo>
                      <a:pt x="959" y="834"/>
                    </a:lnTo>
                    <a:lnTo>
                      <a:pt x="957" y="835"/>
                    </a:lnTo>
                    <a:lnTo>
                      <a:pt x="955" y="837"/>
                    </a:lnTo>
                    <a:lnTo>
                      <a:pt x="952" y="841"/>
                    </a:lnTo>
                    <a:lnTo>
                      <a:pt x="950" y="842"/>
                    </a:lnTo>
                    <a:lnTo>
                      <a:pt x="950" y="844"/>
                    </a:lnTo>
                    <a:lnTo>
                      <a:pt x="947" y="848"/>
                    </a:lnTo>
                    <a:lnTo>
                      <a:pt x="945" y="849"/>
                    </a:lnTo>
                    <a:lnTo>
                      <a:pt x="945" y="851"/>
                    </a:lnTo>
                    <a:lnTo>
                      <a:pt x="941" y="855"/>
                    </a:lnTo>
                    <a:lnTo>
                      <a:pt x="940" y="856"/>
                    </a:lnTo>
                    <a:lnTo>
                      <a:pt x="938" y="858"/>
                    </a:lnTo>
                    <a:lnTo>
                      <a:pt x="936" y="860"/>
                    </a:lnTo>
                    <a:lnTo>
                      <a:pt x="936" y="863"/>
                    </a:lnTo>
                    <a:lnTo>
                      <a:pt x="933" y="865"/>
                    </a:lnTo>
                    <a:lnTo>
                      <a:pt x="933" y="867"/>
                    </a:lnTo>
                    <a:lnTo>
                      <a:pt x="931" y="870"/>
                    </a:lnTo>
                    <a:lnTo>
                      <a:pt x="929" y="872"/>
                    </a:lnTo>
                    <a:lnTo>
                      <a:pt x="927" y="874"/>
                    </a:lnTo>
                    <a:lnTo>
                      <a:pt x="926" y="877"/>
                    </a:lnTo>
                    <a:lnTo>
                      <a:pt x="924" y="879"/>
                    </a:lnTo>
                    <a:lnTo>
                      <a:pt x="922" y="881"/>
                    </a:lnTo>
                    <a:lnTo>
                      <a:pt x="920" y="884"/>
                    </a:lnTo>
                    <a:lnTo>
                      <a:pt x="919" y="886"/>
                    </a:lnTo>
                    <a:lnTo>
                      <a:pt x="917" y="888"/>
                    </a:lnTo>
                    <a:lnTo>
                      <a:pt x="915" y="891"/>
                    </a:lnTo>
                    <a:lnTo>
                      <a:pt x="913" y="893"/>
                    </a:lnTo>
                    <a:lnTo>
                      <a:pt x="912" y="896"/>
                    </a:lnTo>
                    <a:lnTo>
                      <a:pt x="910" y="898"/>
                    </a:lnTo>
                    <a:lnTo>
                      <a:pt x="910" y="900"/>
                    </a:lnTo>
                    <a:lnTo>
                      <a:pt x="908" y="902"/>
                    </a:lnTo>
                    <a:lnTo>
                      <a:pt x="907" y="905"/>
                    </a:lnTo>
                    <a:lnTo>
                      <a:pt x="905" y="907"/>
                    </a:lnTo>
                    <a:lnTo>
                      <a:pt x="903" y="910"/>
                    </a:lnTo>
                    <a:lnTo>
                      <a:pt x="901" y="912"/>
                    </a:lnTo>
                    <a:lnTo>
                      <a:pt x="901" y="914"/>
                    </a:lnTo>
                    <a:lnTo>
                      <a:pt x="900" y="917"/>
                    </a:lnTo>
                    <a:lnTo>
                      <a:pt x="898" y="919"/>
                    </a:lnTo>
                    <a:lnTo>
                      <a:pt x="896" y="922"/>
                    </a:lnTo>
                    <a:lnTo>
                      <a:pt x="894" y="924"/>
                    </a:lnTo>
                    <a:lnTo>
                      <a:pt x="894" y="926"/>
                    </a:lnTo>
                    <a:lnTo>
                      <a:pt x="893" y="929"/>
                    </a:lnTo>
                    <a:lnTo>
                      <a:pt x="891" y="931"/>
                    </a:lnTo>
                    <a:lnTo>
                      <a:pt x="889" y="935"/>
                    </a:lnTo>
                    <a:lnTo>
                      <a:pt x="889" y="936"/>
                    </a:lnTo>
                    <a:lnTo>
                      <a:pt x="887" y="938"/>
                    </a:lnTo>
                    <a:lnTo>
                      <a:pt x="886" y="942"/>
                    </a:lnTo>
                    <a:lnTo>
                      <a:pt x="886" y="943"/>
                    </a:lnTo>
                    <a:lnTo>
                      <a:pt x="884" y="947"/>
                    </a:lnTo>
                    <a:lnTo>
                      <a:pt x="882" y="949"/>
                    </a:lnTo>
                    <a:lnTo>
                      <a:pt x="882" y="950"/>
                    </a:lnTo>
                    <a:lnTo>
                      <a:pt x="880" y="954"/>
                    </a:lnTo>
                    <a:lnTo>
                      <a:pt x="879" y="956"/>
                    </a:lnTo>
                    <a:lnTo>
                      <a:pt x="879" y="959"/>
                    </a:lnTo>
                    <a:lnTo>
                      <a:pt x="877" y="961"/>
                    </a:lnTo>
                    <a:lnTo>
                      <a:pt x="877" y="964"/>
                    </a:lnTo>
                    <a:lnTo>
                      <a:pt x="875" y="966"/>
                    </a:lnTo>
                    <a:lnTo>
                      <a:pt x="873" y="970"/>
                    </a:lnTo>
                    <a:lnTo>
                      <a:pt x="873" y="971"/>
                    </a:lnTo>
                    <a:lnTo>
                      <a:pt x="872" y="973"/>
                    </a:lnTo>
                    <a:lnTo>
                      <a:pt x="872" y="976"/>
                    </a:lnTo>
                    <a:lnTo>
                      <a:pt x="870" y="978"/>
                    </a:lnTo>
                    <a:lnTo>
                      <a:pt x="870" y="982"/>
                    </a:lnTo>
                    <a:lnTo>
                      <a:pt x="868" y="983"/>
                    </a:lnTo>
                    <a:lnTo>
                      <a:pt x="868" y="987"/>
                    </a:lnTo>
                    <a:lnTo>
                      <a:pt x="866" y="989"/>
                    </a:lnTo>
                    <a:lnTo>
                      <a:pt x="866" y="992"/>
                    </a:lnTo>
                    <a:lnTo>
                      <a:pt x="865" y="994"/>
                    </a:lnTo>
                    <a:lnTo>
                      <a:pt x="865" y="997"/>
                    </a:lnTo>
                    <a:lnTo>
                      <a:pt x="865" y="999"/>
                    </a:lnTo>
                    <a:lnTo>
                      <a:pt x="863" y="1003"/>
                    </a:lnTo>
                    <a:lnTo>
                      <a:pt x="863" y="1004"/>
                    </a:lnTo>
                    <a:lnTo>
                      <a:pt x="863" y="1008"/>
                    </a:lnTo>
                    <a:lnTo>
                      <a:pt x="861" y="1010"/>
                    </a:lnTo>
                    <a:lnTo>
                      <a:pt x="861" y="1013"/>
                    </a:lnTo>
                    <a:lnTo>
                      <a:pt x="861" y="1015"/>
                    </a:lnTo>
                    <a:lnTo>
                      <a:pt x="861" y="1018"/>
                    </a:lnTo>
                    <a:lnTo>
                      <a:pt x="860" y="1020"/>
                    </a:lnTo>
                    <a:lnTo>
                      <a:pt x="860" y="1023"/>
                    </a:lnTo>
                    <a:lnTo>
                      <a:pt x="860" y="1025"/>
                    </a:lnTo>
                    <a:lnTo>
                      <a:pt x="860" y="1029"/>
                    </a:lnTo>
                    <a:lnTo>
                      <a:pt x="860" y="1030"/>
                    </a:lnTo>
                    <a:lnTo>
                      <a:pt x="858" y="1034"/>
                    </a:lnTo>
                    <a:lnTo>
                      <a:pt x="858" y="1036"/>
                    </a:lnTo>
                    <a:lnTo>
                      <a:pt x="858" y="1039"/>
                    </a:lnTo>
                    <a:lnTo>
                      <a:pt x="858" y="1041"/>
                    </a:lnTo>
                    <a:lnTo>
                      <a:pt x="858" y="1046"/>
                    </a:lnTo>
                    <a:lnTo>
                      <a:pt x="858" y="1050"/>
                    </a:lnTo>
                    <a:lnTo>
                      <a:pt x="858" y="1055"/>
                    </a:lnTo>
                    <a:moveTo>
                      <a:pt x="1039" y="747"/>
                    </a:moveTo>
                    <a:lnTo>
                      <a:pt x="1037" y="750"/>
                    </a:lnTo>
                    <a:lnTo>
                      <a:pt x="1037" y="752"/>
                    </a:lnTo>
                    <a:lnTo>
                      <a:pt x="1037" y="754"/>
                    </a:lnTo>
                    <a:lnTo>
                      <a:pt x="1035" y="757"/>
                    </a:lnTo>
                    <a:lnTo>
                      <a:pt x="1035" y="759"/>
                    </a:lnTo>
                    <a:lnTo>
                      <a:pt x="1034" y="762"/>
                    </a:lnTo>
                    <a:lnTo>
                      <a:pt x="1034" y="764"/>
                    </a:lnTo>
                    <a:lnTo>
                      <a:pt x="1034" y="768"/>
                    </a:lnTo>
                    <a:lnTo>
                      <a:pt x="1032" y="769"/>
                    </a:lnTo>
                    <a:lnTo>
                      <a:pt x="1032" y="773"/>
                    </a:lnTo>
                    <a:lnTo>
                      <a:pt x="1032" y="775"/>
                    </a:lnTo>
                    <a:lnTo>
                      <a:pt x="1030" y="778"/>
                    </a:lnTo>
                    <a:lnTo>
                      <a:pt x="1030" y="780"/>
                    </a:lnTo>
                    <a:lnTo>
                      <a:pt x="1028" y="783"/>
                    </a:lnTo>
                    <a:lnTo>
                      <a:pt x="1028" y="785"/>
                    </a:lnTo>
                    <a:lnTo>
                      <a:pt x="1028" y="788"/>
                    </a:lnTo>
                    <a:lnTo>
                      <a:pt x="1027" y="790"/>
                    </a:lnTo>
                    <a:lnTo>
                      <a:pt x="1027" y="794"/>
                    </a:lnTo>
                    <a:lnTo>
                      <a:pt x="1025" y="795"/>
                    </a:lnTo>
                    <a:lnTo>
                      <a:pt x="1025" y="799"/>
                    </a:lnTo>
                    <a:lnTo>
                      <a:pt x="1025" y="801"/>
                    </a:lnTo>
                    <a:lnTo>
                      <a:pt x="1023" y="804"/>
                    </a:lnTo>
                    <a:lnTo>
                      <a:pt x="1023" y="806"/>
                    </a:lnTo>
                    <a:lnTo>
                      <a:pt x="1023" y="809"/>
                    </a:lnTo>
                    <a:lnTo>
                      <a:pt x="1021" y="811"/>
                    </a:lnTo>
                    <a:lnTo>
                      <a:pt x="1021" y="815"/>
                    </a:lnTo>
                    <a:lnTo>
                      <a:pt x="1020" y="816"/>
                    </a:lnTo>
                    <a:lnTo>
                      <a:pt x="1020" y="820"/>
                    </a:lnTo>
                    <a:lnTo>
                      <a:pt x="1020" y="822"/>
                    </a:lnTo>
                    <a:lnTo>
                      <a:pt x="1018" y="825"/>
                    </a:lnTo>
                    <a:lnTo>
                      <a:pt x="1018" y="827"/>
                    </a:lnTo>
                    <a:lnTo>
                      <a:pt x="1018" y="828"/>
                    </a:lnTo>
                    <a:lnTo>
                      <a:pt x="1016" y="832"/>
                    </a:lnTo>
                    <a:lnTo>
                      <a:pt x="1016" y="835"/>
                    </a:lnTo>
                    <a:lnTo>
                      <a:pt x="1014" y="837"/>
                    </a:lnTo>
                    <a:lnTo>
                      <a:pt x="1014" y="841"/>
                    </a:lnTo>
                    <a:lnTo>
                      <a:pt x="1014" y="842"/>
                    </a:lnTo>
                    <a:lnTo>
                      <a:pt x="1013" y="846"/>
                    </a:lnTo>
                    <a:lnTo>
                      <a:pt x="1013" y="848"/>
                    </a:lnTo>
                    <a:lnTo>
                      <a:pt x="1013" y="849"/>
                    </a:lnTo>
                    <a:lnTo>
                      <a:pt x="1011" y="853"/>
                    </a:lnTo>
                    <a:lnTo>
                      <a:pt x="1011" y="855"/>
                    </a:lnTo>
                    <a:lnTo>
                      <a:pt x="1011" y="858"/>
                    </a:lnTo>
                    <a:lnTo>
                      <a:pt x="1009" y="860"/>
                    </a:lnTo>
                    <a:lnTo>
                      <a:pt x="1009" y="863"/>
                    </a:lnTo>
                    <a:lnTo>
                      <a:pt x="1009" y="865"/>
                    </a:lnTo>
                    <a:lnTo>
                      <a:pt x="1007" y="869"/>
                    </a:lnTo>
                    <a:lnTo>
                      <a:pt x="1007" y="870"/>
                    </a:lnTo>
                    <a:lnTo>
                      <a:pt x="1006" y="874"/>
                    </a:lnTo>
                    <a:lnTo>
                      <a:pt x="1006" y="875"/>
                    </a:lnTo>
                    <a:lnTo>
                      <a:pt x="1006" y="879"/>
                    </a:lnTo>
                    <a:lnTo>
                      <a:pt x="1004" y="881"/>
                    </a:lnTo>
                    <a:lnTo>
                      <a:pt x="1004" y="884"/>
                    </a:lnTo>
                    <a:lnTo>
                      <a:pt x="1004" y="886"/>
                    </a:lnTo>
                    <a:lnTo>
                      <a:pt x="1004" y="889"/>
                    </a:lnTo>
                    <a:lnTo>
                      <a:pt x="1002" y="891"/>
                    </a:lnTo>
                    <a:lnTo>
                      <a:pt x="1002" y="895"/>
                    </a:lnTo>
                    <a:lnTo>
                      <a:pt x="1000" y="896"/>
                    </a:lnTo>
                    <a:lnTo>
                      <a:pt x="1000" y="900"/>
                    </a:lnTo>
                    <a:lnTo>
                      <a:pt x="1000" y="902"/>
                    </a:lnTo>
                    <a:lnTo>
                      <a:pt x="1000" y="905"/>
                    </a:lnTo>
                    <a:lnTo>
                      <a:pt x="999" y="907"/>
                    </a:lnTo>
                    <a:lnTo>
                      <a:pt x="999" y="910"/>
                    </a:lnTo>
                    <a:lnTo>
                      <a:pt x="999" y="912"/>
                    </a:lnTo>
                    <a:lnTo>
                      <a:pt x="997" y="916"/>
                    </a:lnTo>
                    <a:lnTo>
                      <a:pt x="997" y="917"/>
                    </a:lnTo>
                    <a:lnTo>
                      <a:pt x="997" y="921"/>
                    </a:lnTo>
                    <a:lnTo>
                      <a:pt x="997" y="922"/>
                    </a:lnTo>
                    <a:lnTo>
                      <a:pt x="995" y="926"/>
                    </a:lnTo>
                    <a:lnTo>
                      <a:pt x="995" y="928"/>
                    </a:lnTo>
                    <a:lnTo>
                      <a:pt x="995" y="931"/>
                    </a:lnTo>
                    <a:lnTo>
                      <a:pt x="994" y="933"/>
                    </a:lnTo>
                    <a:lnTo>
                      <a:pt x="994" y="936"/>
                    </a:lnTo>
                    <a:lnTo>
                      <a:pt x="994" y="938"/>
                    </a:lnTo>
                    <a:lnTo>
                      <a:pt x="994" y="942"/>
                    </a:lnTo>
                    <a:lnTo>
                      <a:pt x="992" y="943"/>
                    </a:lnTo>
                    <a:lnTo>
                      <a:pt x="992" y="947"/>
                    </a:lnTo>
                    <a:lnTo>
                      <a:pt x="992" y="949"/>
                    </a:lnTo>
                    <a:lnTo>
                      <a:pt x="992" y="952"/>
                    </a:lnTo>
                    <a:lnTo>
                      <a:pt x="990" y="954"/>
                    </a:lnTo>
                    <a:lnTo>
                      <a:pt x="990" y="957"/>
                    </a:lnTo>
                    <a:lnTo>
                      <a:pt x="990" y="959"/>
                    </a:lnTo>
                    <a:lnTo>
                      <a:pt x="990" y="963"/>
                    </a:lnTo>
                    <a:lnTo>
                      <a:pt x="988" y="964"/>
                    </a:lnTo>
                    <a:lnTo>
                      <a:pt x="988" y="968"/>
                    </a:lnTo>
                    <a:lnTo>
                      <a:pt x="988" y="970"/>
                    </a:lnTo>
                    <a:lnTo>
                      <a:pt x="988" y="973"/>
                    </a:lnTo>
                    <a:lnTo>
                      <a:pt x="988" y="975"/>
                    </a:lnTo>
                    <a:lnTo>
                      <a:pt x="988" y="978"/>
                    </a:lnTo>
                    <a:lnTo>
                      <a:pt x="987" y="980"/>
                    </a:lnTo>
                    <a:lnTo>
                      <a:pt x="987" y="983"/>
                    </a:lnTo>
                    <a:lnTo>
                      <a:pt x="987" y="985"/>
                    </a:lnTo>
                    <a:lnTo>
                      <a:pt x="987" y="989"/>
                    </a:lnTo>
                    <a:lnTo>
                      <a:pt x="987" y="990"/>
                    </a:lnTo>
                    <a:lnTo>
                      <a:pt x="987" y="994"/>
                    </a:lnTo>
                    <a:lnTo>
                      <a:pt x="985" y="996"/>
                    </a:lnTo>
                    <a:lnTo>
                      <a:pt x="985" y="999"/>
                    </a:lnTo>
                    <a:lnTo>
                      <a:pt x="985" y="1001"/>
                    </a:lnTo>
                    <a:lnTo>
                      <a:pt x="985" y="1004"/>
                    </a:lnTo>
                    <a:lnTo>
                      <a:pt x="985" y="1006"/>
                    </a:lnTo>
                    <a:lnTo>
                      <a:pt x="985" y="1010"/>
                    </a:lnTo>
                    <a:lnTo>
                      <a:pt x="985" y="1011"/>
                    </a:lnTo>
                    <a:lnTo>
                      <a:pt x="983" y="1015"/>
                    </a:lnTo>
                    <a:lnTo>
                      <a:pt x="983" y="1017"/>
                    </a:lnTo>
                    <a:lnTo>
                      <a:pt x="983" y="1020"/>
                    </a:lnTo>
                    <a:lnTo>
                      <a:pt x="983" y="1022"/>
                    </a:lnTo>
                    <a:lnTo>
                      <a:pt x="983" y="1025"/>
                    </a:lnTo>
                    <a:lnTo>
                      <a:pt x="983" y="1030"/>
                    </a:lnTo>
                    <a:lnTo>
                      <a:pt x="983" y="1032"/>
                    </a:lnTo>
                    <a:lnTo>
                      <a:pt x="983" y="1037"/>
                    </a:lnTo>
                    <a:lnTo>
                      <a:pt x="983" y="1041"/>
                    </a:lnTo>
                    <a:lnTo>
                      <a:pt x="983" y="1055"/>
                    </a:lnTo>
                    <a:moveTo>
                      <a:pt x="1044" y="1358"/>
                    </a:moveTo>
                    <a:lnTo>
                      <a:pt x="1044" y="1356"/>
                    </a:lnTo>
                    <a:lnTo>
                      <a:pt x="1046" y="1353"/>
                    </a:lnTo>
                    <a:lnTo>
                      <a:pt x="1046" y="1351"/>
                    </a:lnTo>
                    <a:lnTo>
                      <a:pt x="1046" y="1347"/>
                    </a:lnTo>
                    <a:lnTo>
                      <a:pt x="1047" y="1346"/>
                    </a:lnTo>
                    <a:lnTo>
                      <a:pt x="1047" y="1342"/>
                    </a:lnTo>
                    <a:lnTo>
                      <a:pt x="1047" y="1340"/>
                    </a:lnTo>
                    <a:lnTo>
                      <a:pt x="1049" y="1337"/>
                    </a:lnTo>
                    <a:lnTo>
                      <a:pt x="1049" y="1335"/>
                    </a:lnTo>
                    <a:lnTo>
                      <a:pt x="1051" y="1332"/>
                    </a:lnTo>
                    <a:lnTo>
                      <a:pt x="1051" y="1330"/>
                    </a:lnTo>
                    <a:lnTo>
                      <a:pt x="1051" y="1326"/>
                    </a:lnTo>
                    <a:lnTo>
                      <a:pt x="1053" y="1325"/>
                    </a:lnTo>
                    <a:lnTo>
                      <a:pt x="1053" y="1321"/>
                    </a:lnTo>
                    <a:lnTo>
                      <a:pt x="1054" y="1319"/>
                    </a:lnTo>
                    <a:lnTo>
                      <a:pt x="1054" y="1316"/>
                    </a:lnTo>
                    <a:lnTo>
                      <a:pt x="1054" y="1314"/>
                    </a:lnTo>
                    <a:lnTo>
                      <a:pt x="1056" y="1311"/>
                    </a:lnTo>
                    <a:lnTo>
                      <a:pt x="1056" y="1309"/>
                    </a:lnTo>
                    <a:lnTo>
                      <a:pt x="1056" y="1307"/>
                    </a:lnTo>
                    <a:lnTo>
                      <a:pt x="1058" y="1304"/>
                    </a:lnTo>
                    <a:lnTo>
                      <a:pt x="1058" y="1302"/>
                    </a:lnTo>
                    <a:lnTo>
                      <a:pt x="1060" y="1299"/>
                    </a:lnTo>
                    <a:lnTo>
                      <a:pt x="1060" y="1297"/>
                    </a:lnTo>
                    <a:lnTo>
                      <a:pt x="1060" y="1293"/>
                    </a:lnTo>
                    <a:lnTo>
                      <a:pt x="1061" y="1292"/>
                    </a:lnTo>
                    <a:lnTo>
                      <a:pt x="1061" y="1288"/>
                    </a:lnTo>
                    <a:lnTo>
                      <a:pt x="1063" y="1286"/>
                    </a:lnTo>
                    <a:lnTo>
                      <a:pt x="1063" y="1283"/>
                    </a:lnTo>
                    <a:lnTo>
                      <a:pt x="1063" y="1281"/>
                    </a:lnTo>
                    <a:lnTo>
                      <a:pt x="1065" y="1278"/>
                    </a:lnTo>
                    <a:lnTo>
                      <a:pt x="1065" y="1276"/>
                    </a:lnTo>
                    <a:lnTo>
                      <a:pt x="1065" y="1272"/>
                    </a:lnTo>
                    <a:lnTo>
                      <a:pt x="1067" y="1271"/>
                    </a:lnTo>
                    <a:lnTo>
                      <a:pt x="1067" y="1267"/>
                    </a:lnTo>
                    <a:lnTo>
                      <a:pt x="1068" y="1265"/>
                    </a:lnTo>
                    <a:lnTo>
                      <a:pt x="1068" y="1262"/>
                    </a:lnTo>
                    <a:lnTo>
                      <a:pt x="1068" y="1260"/>
                    </a:lnTo>
                    <a:lnTo>
                      <a:pt x="1070" y="1257"/>
                    </a:lnTo>
                    <a:lnTo>
                      <a:pt x="1070" y="1255"/>
                    </a:lnTo>
                    <a:lnTo>
                      <a:pt x="1070" y="1252"/>
                    </a:lnTo>
                    <a:lnTo>
                      <a:pt x="1072" y="1250"/>
                    </a:lnTo>
                    <a:lnTo>
                      <a:pt x="1072" y="1246"/>
                    </a:lnTo>
                    <a:lnTo>
                      <a:pt x="1072" y="1245"/>
                    </a:lnTo>
                    <a:lnTo>
                      <a:pt x="1074" y="1241"/>
                    </a:lnTo>
                    <a:lnTo>
                      <a:pt x="1074" y="1239"/>
                    </a:lnTo>
                    <a:lnTo>
                      <a:pt x="1074" y="1236"/>
                    </a:lnTo>
                    <a:lnTo>
                      <a:pt x="1075" y="1234"/>
                    </a:lnTo>
                    <a:lnTo>
                      <a:pt x="1075" y="1231"/>
                    </a:lnTo>
                    <a:lnTo>
                      <a:pt x="1077" y="1229"/>
                    </a:lnTo>
                    <a:lnTo>
                      <a:pt x="1077" y="1225"/>
                    </a:lnTo>
                    <a:lnTo>
                      <a:pt x="1077" y="1224"/>
                    </a:lnTo>
                    <a:lnTo>
                      <a:pt x="1077" y="1220"/>
                    </a:lnTo>
                    <a:lnTo>
                      <a:pt x="1079" y="1218"/>
                    </a:lnTo>
                    <a:lnTo>
                      <a:pt x="1079" y="1215"/>
                    </a:lnTo>
                    <a:lnTo>
                      <a:pt x="1079" y="1213"/>
                    </a:lnTo>
                    <a:lnTo>
                      <a:pt x="1081" y="1210"/>
                    </a:lnTo>
                    <a:lnTo>
                      <a:pt x="1081" y="1208"/>
                    </a:lnTo>
                    <a:lnTo>
                      <a:pt x="1081" y="1206"/>
                    </a:lnTo>
                    <a:lnTo>
                      <a:pt x="1082" y="1203"/>
                    </a:lnTo>
                    <a:lnTo>
                      <a:pt x="1082" y="1201"/>
                    </a:lnTo>
                    <a:lnTo>
                      <a:pt x="1082" y="1198"/>
                    </a:lnTo>
                    <a:lnTo>
                      <a:pt x="1084" y="1194"/>
                    </a:lnTo>
                    <a:lnTo>
                      <a:pt x="1084" y="1192"/>
                    </a:lnTo>
                    <a:lnTo>
                      <a:pt x="1084" y="1189"/>
                    </a:lnTo>
                    <a:lnTo>
                      <a:pt x="1084" y="1187"/>
                    </a:lnTo>
                    <a:lnTo>
                      <a:pt x="1086" y="1184"/>
                    </a:lnTo>
                    <a:lnTo>
                      <a:pt x="1086" y="1182"/>
                    </a:lnTo>
                    <a:lnTo>
                      <a:pt x="1086" y="1180"/>
                    </a:lnTo>
                    <a:lnTo>
                      <a:pt x="1088" y="1177"/>
                    </a:lnTo>
                    <a:lnTo>
                      <a:pt x="1088" y="1175"/>
                    </a:lnTo>
                    <a:lnTo>
                      <a:pt x="1088" y="1171"/>
                    </a:lnTo>
                    <a:lnTo>
                      <a:pt x="1088" y="1170"/>
                    </a:lnTo>
                    <a:lnTo>
                      <a:pt x="1089" y="1166"/>
                    </a:lnTo>
                    <a:lnTo>
                      <a:pt x="1089" y="1164"/>
                    </a:lnTo>
                    <a:lnTo>
                      <a:pt x="1089" y="1161"/>
                    </a:lnTo>
                    <a:lnTo>
                      <a:pt x="1091" y="1158"/>
                    </a:lnTo>
                    <a:lnTo>
                      <a:pt x="1091" y="1156"/>
                    </a:lnTo>
                    <a:lnTo>
                      <a:pt x="1091" y="1152"/>
                    </a:lnTo>
                    <a:lnTo>
                      <a:pt x="1091" y="1151"/>
                    </a:lnTo>
                    <a:lnTo>
                      <a:pt x="1091" y="1147"/>
                    </a:lnTo>
                    <a:lnTo>
                      <a:pt x="1093" y="1145"/>
                    </a:lnTo>
                    <a:lnTo>
                      <a:pt x="1093" y="1144"/>
                    </a:lnTo>
                    <a:lnTo>
                      <a:pt x="1093" y="1140"/>
                    </a:lnTo>
                    <a:lnTo>
                      <a:pt x="1093" y="1138"/>
                    </a:lnTo>
                    <a:lnTo>
                      <a:pt x="1093" y="1135"/>
                    </a:lnTo>
                    <a:lnTo>
                      <a:pt x="1094" y="1133"/>
                    </a:lnTo>
                    <a:lnTo>
                      <a:pt x="1094" y="1130"/>
                    </a:lnTo>
                    <a:lnTo>
                      <a:pt x="1094" y="1128"/>
                    </a:lnTo>
                    <a:lnTo>
                      <a:pt x="1094" y="1124"/>
                    </a:lnTo>
                    <a:lnTo>
                      <a:pt x="1094" y="1121"/>
                    </a:lnTo>
                    <a:lnTo>
                      <a:pt x="1096" y="1119"/>
                    </a:lnTo>
                    <a:lnTo>
                      <a:pt x="1096" y="1116"/>
                    </a:lnTo>
                    <a:lnTo>
                      <a:pt x="1096" y="1114"/>
                    </a:lnTo>
                    <a:lnTo>
                      <a:pt x="1096" y="1111"/>
                    </a:lnTo>
                    <a:lnTo>
                      <a:pt x="1096" y="1109"/>
                    </a:lnTo>
                    <a:lnTo>
                      <a:pt x="1096" y="1105"/>
                    </a:lnTo>
                    <a:lnTo>
                      <a:pt x="1098" y="1104"/>
                    </a:lnTo>
                    <a:lnTo>
                      <a:pt x="1098" y="1100"/>
                    </a:lnTo>
                    <a:lnTo>
                      <a:pt x="1098" y="1098"/>
                    </a:lnTo>
                    <a:lnTo>
                      <a:pt x="1098" y="1095"/>
                    </a:lnTo>
                    <a:lnTo>
                      <a:pt x="1098" y="1093"/>
                    </a:lnTo>
                    <a:lnTo>
                      <a:pt x="1098" y="1090"/>
                    </a:lnTo>
                    <a:lnTo>
                      <a:pt x="1098" y="1088"/>
                    </a:lnTo>
                    <a:lnTo>
                      <a:pt x="1098" y="1084"/>
                    </a:lnTo>
                    <a:lnTo>
                      <a:pt x="1098" y="1083"/>
                    </a:lnTo>
                    <a:lnTo>
                      <a:pt x="1100" y="1079"/>
                    </a:lnTo>
                    <a:lnTo>
                      <a:pt x="1100" y="1074"/>
                    </a:lnTo>
                    <a:lnTo>
                      <a:pt x="1100" y="1072"/>
                    </a:lnTo>
                    <a:lnTo>
                      <a:pt x="1100" y="1067"/>
                    </a:lnTo>
                    <a:lnTo>
                      <a:pt x="1100" y="1064"/>
                    </a:lnTo>
                    <a:lnTo>
                      <a:pt x="1100" y="1051"/>
                    </a:lnTo>
                    <a:moveTo>
                      <a:pt x="1049" y="1359"/>
                    </a:moveTo>
                    <a:lnTo>
                      <a:pt x="1051" y="1358"/>
                    </a:lnTo>
                    <a:lnTo>
                      <a:pt x="1053" y="1354"/>
                    </a:lnTo>
                    <a:lnTo>
                      <a:pt x="1054" y="1353"/>
                    </a:lnTo>
                    <a:lnTo>
                      <a:pt x="1056" y="1351"/>
                    </a:lnTo>
                    <a:lnTo>
                      <a:pt x="1058" y="1349"/>
                    </a:lnTo>
                    <a:lnTo>
                      <a:pt x="1060" y="1347"/>
                    </a:lnTo>
                    <a:lnTo>
                      <a:pt x="1063" y="1344"/>
                    </a:lnTo>
                    <a:lnTo>
                      <a:pt x="1065" y="1342"/>
                    </a:lnTo>
                    <a:lnTo>
                      <a:pt x="1067" y="1340"/>
                    </a:lnTo>
                    <a:lnTo>
                      <a:pt x="1068" y="1339"/>
                    </a:lnTo>
                    <a:lnTo>
                      <a:pt x="1070" y="1335"/>
                    </a:lnTo>
                    <a:lnTo>
                      <a:pt x="1072" y="1333"/>
                    </a:lnTo>
                    <a:lnTo>
                      <a:pt x="1074" y="1332"/>
                    </a:lnTo>
                    <a:lnTo>
                      <a:pt x="1075" y="1330"/>
                    </a:lnTo>
                    <a:lnTo>
                      <a:pt x="1077" y="1326"/>
                    </a:lnTo>
                    <a:lnTo>
                      <a:pt x="1079" y="1325"/>
                    </a:lnTo>
                    <a:lnTo>
                      <a:pt x="1081" y="1323"/>
                    </a:lnTo>
                    <a:lnTo>
                      <a:pt x="1082" y="1319"/>
                    </a:lnTo>
                    <a:lnTo>
                      <a:pt x="1086" y="1318"/>
                    </a:lnTo>
                    <a:lnTo>
                      <a:pt x="1088" y="1316"/>
                    </a:lnTo>
                    <a:lnTo>
                      <a:pt x="1089" y="1314"/>
                    </a:lnTo>
                    <a:lnTo>
                      <a:pt x="1091" y="1311"/>
                    </a:lnTo>
                    <a:lnTo>
                      <a:pt x="1093" y="1309"/>
                    </a:lnTo>
                    <a:lnTo>
                      <a:pt x="1094" y="1307"/>
                    </a:lnTo>
                    <a:lnTo>
                      <a:pt x="1096" y="1304"/>
                    </a:lnTo>
                    <a:lnTo>
                      <a:pt x="1098" y="1302"/>
                    </a:lnTo>
                    <a:lnTo>
                      <a:pt x="1100" y="1300"/>
                    </a:lnTo>
                    <a:lnTo>
                      <a:pt x="1101" y="1299"/>
                    </a:lnTo>
                    <a:lnTo>
                      <a:pt x="1103" y="1297"/>
                    </a:lnTo>
                    <a:lnTo>
                      <a:pt x="1105" y="1293"/>
                    </a:lnTo>
                    <a:lnTo>
                      <a:pt x="1107" y="1292"/>
                    </a:lnTo>
                    <a:lnTo>
                      <a:pt x="1110" y="1290"/>
                    </a:lnTo>
                    <a:lnTo>
                      <a:pt x="1112" y="1286"/>
                    </a:lnTo>
                    <a:lnTo>
                      <a:pt x="1114" y="1285"/>
                    </a:lnTo>
                    <a:lnTo>
                      <a:pt x="1115" y="1283"/>
                    </a:lnTo>
                    <a:lnTo>
                      <a:pt x="1117" y="1279"/>
                    </a:lnTo>
                    <a:lnTo>
                      <a:pt x="1119" y="1278"/>
                    </a:lnTo>
                    <a:lnTo>
                      <a:pt x="1121" y="1276"/>
                    </a:lnTo>
                    <a:lnTo>
                      <a:pt x="1122" y="1274"/>
                    </a:lnTo>
                    <a:lnTo>
                      <a:pt x="1124" y="1271"/>
                    </a:lnTo>
                    <a:lnTo>
                      <a:pt x="1126" y="1269"/>
                    </a:lnTo>
                    <a:lnTo>
                      <a:pt x="1128" y="1267"/>
                    </a:lnTo>
                    <a:lnTo>
                      <a:pt x="1129" y="1265"/>
                    </a:lnTo>
                    <a:lnTo>
                      <a:pt x="1131" y="1262"/>
                    </a:lnTo>
                    <a:lnTo>
                      <a:pt x="1133" y="1260"/>
                    </a:lnTo>
                    <a:lnTo>
                      <a:pt x="1135" y="1258"/>
                    </a:lnTo>
                    <a:lnTo>
                      <a:pt x="1136" y="1255"/>
                    </a:lnTo>
                    <a:lnTo>
                      <a:pt x="1138" y="1253"/>
                    </a:lnTo>
                    <a:lnTo>
                      <a:pt x="1140" y="1252"/>
                    </a:lnTo>
                    <a:lnTo>
                      <a:pt x="1141" y="1248"/>
                    </a:lnTo>
                    <a:lnTo>
                      <a:pt x="1143" y="1246"/>
                    </a:lnTo>
                    <a:lnTo>
                      <a:pt x="1145" y="1245"/>
                    </a:lnTo>
                    <a:lnTo>
                      <a:pt x="1147" y="1241"/>
                    </a:lnTo>
                    <a:lnTo>
                      <a:pt x="1148" y="1239"/>
                    </a:lnTo>
                    <a:lnTo>
                      <a:pt x="1150" y="1238"/>
                    </a:lnTo>
                    <a:lnTo>
                      <a:pt x="1152" y="1234"/>
                    </a:lnTo>
                    <a:lnTo>
                      <a:pt x="1154" y="1232"/>
                    </a:lnTo>
                    <a:lnTo>
                      <a:pt x="1155" y="1231"/>
                    </a:lnTo>
                    <a:lnTo>
                      <a:pt x="1157" y="1229"/>
                    </a:lnTo>
                    <a:lnTo>
                      <a:pt x="1159" y="1225"/>
                    </a:lnTo>
                    <a:lnTo>
                      <a:pt x="1161" y="1224"/>
                    </a:lnTo>
                    <a:lnTo>
                      <a:pt x="1162" y="1220"/>
                    </a:lnTo>
                    <a:lnTo>
                      <a:pt x="1164" y="1218"/>
                    </a:lnTo>
                    <a:lnTo>
                      <a:pt x="1166" y="1217"/>
                    </a:lnTo>
                    <a:lnTo>
                      <a:pt x="1166" y="1215"/>
                    </a:lnTo>
                    <a:lnTo>
                      <a:pt x="1168" y="1211"/>
                    </a:lnTo>
                    <a:lnTo>
                      <a:pt x="1169" y="1210"/>
                    </a:lnTo>
                    <a:lnTo>
                      <a:pt x="1171" y="1206"/>
                    </a:lnTo>
                    <a:lnTo>
                      <a:pt x="1173" y="1205"/>
                    </a:lnTo>
                    <a:lnTo>
                      <a:pt x="1175" y="1203"/>
                    </a:lnTo>
                    <a:lnTo>
                      <a:pt x="1176" y="1199"/>
                    </a:lnTo>
                    <a:lnTo>
                      <a:pt x="1178" y="1198"/>
                    </a:lnTo>
                    <a:lnTo>
                      <a:pt x="1178" y="1196"/>
                    </a:lnTo>
                    <a:lnTo>
                      <a:pt x="1180" y="1192"/>
                    </a:lnTo>
                    <a:lnTo>
                      <a:pt x="1182" y="1191"/>
                    </a:lnTo>
                    <a:lnTo>
                      <a:pt x="1183" y="1187"/>
                    </a:lnTo>
                    <a:lnTo>
                      <a:pt x="1185" y="1185"/>
                    </a:lnTo>
                    <a:lnTo>
                      <a:pt x="1187" y="1184"/>
                    </a:lnTo>
                    <a:lnTo>
                      <a:pt x="1187" y="1180"/>
                    </a:lnTo>
                    <a:lnTo>
                      <a:pt x="1188" y="1178"/>
                    </a:lnTo>
                    <a:lnTo>
                      <a:pt x="1190" y="1175"/>
                    </a:lnTo>
                    <a:lnTo>
                      <a:pt x="1192" y="1173"/>
                    </a:lnTo>
                    <a:lnTo>
                      <a:pt x="1192" y="1171"/>
                    </a:lnTo>
                    <a:lnTo>
                      <a:pt x="1194" y="1168"/>
                    </a:lnTo>
                    <a:lnTo>
                      <a:pt x="1195" y="1166"/>
                    </a:lnTo>
                    <a:lnTo>
                      <a:pt x="1195" y="1164"/>
                    </a:lnTo>
                    <a:lnTo>
                      <a:pt x="1197" y="1161"/>
                    </a:lnTo>
                    <a:lnTo>
                      <a:pt x="1199" y="1159"/>
                    </a:lnTo>
                    <a:lnTo>
                      <a:pt x="1199" y="1156"/>
                    </a:lnTo>
                    <a:lnTo>
                      <a:pt x="1201" y="1154"/>
                    </a:lnTo>
                    <a:lnTo>
                      <a:pt x="1202" y="1151"/>
                    </a:lnTo>
                    <a:lnTo>
                      <a:pt x="1202" y="1149"/>
                    </a:lnTo>
                    <a:lnTo>
                      <a:pt x="1204" y="1147"/>
                    </a:lnTo>
                    <a:lnTo>
                      <a:pt x="1206" y="1144"/>
                    </a:lnTo>
                    <a:lnTo>
                      <a:pt x="1206" y="1142"/>
                    </a:lnTo>
                    <a:lnTo>
                      <a:pt x="1208" y="1138"/>
                    </a:lnTo>
                    <a:lnTo>
                      <a:pt x="1208" y="1137"/>
                    </a:lnTo>
                    <a:lnTo>
                      <a:pt x="1209" y="1133"/>
                    </a:lnTo>
                    <a:lnTo>
                      <a:pt x="1209" y="1131"/>
                    </a:lnTo>
                    <a:lnTo>
                      <a:pt x="1211" y="1128"/>
                    </a:lnTo>
                    <a:lnTo>
                      <a:pt x="1211" y="1126"/>
                    </a:lnTo>
                    <a:lnTo>
                      <a:pt x="1213" y="1123"/>
                    </a:lnTo>
                    <a:lnTo>
                      <a:pt x="1213" y="1121"/>
                    </a:lnTo>
                    <a:lnTo>
                      <a:pt x="1215" y="1117"/>
                    </a:lnTo>
                    <a:lnTo>
                      <a:pt x="1215" y="1116"/>
                    </a:lnTo>
                    <a:lnTo>
                      <a:pt x="1216" y="1112"/>
                    </a:lnTo>
                    <a:lnTo>
                      <a:pt x="1216" y="1111"/>
                    </a:lnTo>
                    <a:lnTo>
                      <a:pt x="1216" y="1107"/>
                    </a:lnTo>
                    <a:lnTo>
                      <a:pt x="1218" y="1105"/>
                    </a:lnTo>
                    <a:lnTo>
                      <a:pt x="1218" y="1102"/>
                    </a:lnTo>
                    <a:lnTo>
                      <a:pt x="1220" y="1100"/>
                    </a:lnTo>
                    <a:lnTo>
                      <a:pt x="1220" y="1098"/>
                    </a:lnTo>
                    <a:lnTo>
                      <a:pt x="1220" y="1095"/>
                    </a:lnTo>
                    <a:lnTo>
                      <a:pt x="1220" y="1093"/>
                    </a:lnTo>
                    <a:lnTo>
                      <a:pt x="1222" y="1090"/>
                    </a:lnTo>
                    <a:lnTo>
                      <a:pt x="1222" y="1088"/>
                    </a:lnTo>
                    <a:lnTo>
                      <a:pt x="1222" y="1084"/>
                    </a:lnTo>
                    <a:lnTo>
                      <a:pt x="1223" y="1083"/>
                    </a:lnTo>
                    <a:lnTo>
                      <a:pt x="1223" y="1079"/>
                    </a:lnTo>
                    <a:lnTo>
                      <a:pt x="1223" y="1076"/>
                    </a:lnTo>
                    <a:lnTo>
                      <a:pt x="1223" y="1074"/>
                    </a:lnTo>
                    <a:lnTo>
                      <a:pt x="1223" y="1070"/>
                    </a:lnTo>
                    <a:lnTo>
                      <a:pt x="1223" y="1069"/>
                    </a:lnTo>
                    <a:lnTo>
                      <a:pt x="1223" y="1065"/>
                    </a:lnTo>
                    <a:lnTo>
                      <a:pt x="1225" y="1064"/>
                    </a:lnTo>
                    <a:lnTo>
                      <a:pt x="1225" y="1058"/>
                    </a:lnTo>
                    <a:lnTo>
                      <a:pt x="1225" y="1055"/>
                    </a:lnTo>
                    <a:lnTo>
                      <a:pt x="1225" y="1050"/>
                    </a:lnTo>
                    <a:moveTo>
                      <a:pt x="1053" y="1363"/>
                    </a:moveTo>
                    <a:lnTo>
                      <a:pt x="1056" y="1361"/>
                    </a:lnTo>
                    <a:lnTo>
                      <a:pt x="1058" y="1359"/>
                    </a:lnTo>
                    <a:lnTo>
                      <a:pt x="1061" y="1358"/>
                    </a:lnTo>
                    <a:lnTo>
                      <a:pt x="1065" y="1356"/>
                    </a:lnTo>
                    <a:lnTo>
                      <a:pt x="1067" y="1354"/>
                    </a:lnTo>
                    <a:lnTo>
                      <a:pt x="1070" y="1354"/>
                    </a:lnTo>
                    <a:lnTo>
                      <a:pt x="1074" y="1353"/>
                    </a:lnTo>
                    <a:lnTo>
                      <a:pt x="1075" y="1351"/>
                    </a:lnTo>
                    <a:lnTo>
                      <a:pt x="1079" y="1349"/>
                    </a:lnTo>
                    <a:lnTo>
                      <a:pt x="1081" y="1347"/>
                    </a:lnTo>
                    <a:lnTo>
                      <a:pt x="1084" y="1347"/>
                    </a:lnTo>
                    <a:lnTo>
                      <a:pt x="1088" y="1346"/>
                    </a:lnTo>
                    <a:lnTo>
                      <a:pt x="1089" y="1344"/>
                    </a:lnTo>
                    <a:lnTo>
                      <a:pt x="1093" y="1342"/>
                    </a:lnTo>
                    <a:lnTo>
                      <a:pt x="1096" y="1340"/>
                    </a:lnTo>
                    <a:lnTo>
                      <a:pt x="1098" y="1339"/>
                    </a:lnTo>
                    <a:lnTo>
                      <a:pt x="1101" y="1337"/>
                    </a:lnTo>
                    <a:lnTo>
                      <a:pt x="1105" y="1335"/>
                    </a:lnTo>
                    <a:lnTo>
                      <a:pt x="1107" y="1335"/>
                    </a:lnTo>
                    <a:lnTo>
                      <a:pt x="1110" y="1333"/>
                    </a:lnTo>
                    <a:lnTo>
                      <a:pt x="1114" y="1332"/>
                    </a:lnTo>
                    <a:lnTo>
                      <a:pt x="1115" y="1330"/>
                    </a:lnTo>
                    <a:lnTo>
                      <a:pt x="1119" y="1328"/>
                    </a:lnTo>
                    <a:lnTo>
                      <a:pt x="1121" y="1326"/>
                    </a:lnTo>
                    <a:lnTo>
                      <a:pt x="1124" y="1326"/>
                    </a:lnTo>
                    <a:lnTo>
                      <a:pt x="1128" y="1325"/>
                    </a:lnTo>
                    <a:lnTo>
                      <a:pt x="1129" y="1323"/>
                    </a:lnTo>
                    <a:lnTo>
                      <a:pt x="1133" y="1321"/>
                    </a:lnTo>
                    <a:lnTo>
                      <a:pt x="1136" y="1319"/>
                    </a:lnTo>
                    <a:lnTo>
                      <a:pt x="1138" y="1318"/>
                    </a:lnTo>
                    <a:lnTo>
                      <a:pt x="1141" y="1316"/>
                    </a:lnTo>
                    <a:lnTo>
                      <a:pt x="1143" y="1314"/>
                    </a:lnTo>
                    <a:lnTo>
                      <a:pt x="1147" y="1312"/>
                    </a:lnTo>
                    <a:lnTo>
                      <a:pt x="1150" y="1312"/>
                    </a:lnTo>
                    <a:lnTo>
                      <a:pt x="1152" y="1311"/>
                    </a:lnTo>
                    <a:lnTo>
                      <a:pt x="1155" y="1309"/>
                    </a:lnTo>
                    <a:lnTo>
                      <a:pt x="1157" y="1307"/>
                    </a:lnTo>
                    <a:lnTo>
                      <a:pt x="1161" y="1305"/>
                    </a:lnTo>
                    <a:lnTo>
                      <a:pt x="1164" y="1304"/>
                    </a:lnTo>
                    <a:lnTo>
                      <a:pt x="1166" y="1302"/>
                    </a:lnTo>
                    <a:lnTo>
                      <a:pt x="1169" y="1300"/>
                    </a:lnTo>
                    <a:lnTo>
                      <a:pt x="1171" y="1299"/>
                    </a:lnTo>
                    <a:lnTo>
                      <a:pt x="1175" y="1299"/>
                    </a:lnTo>
                    <a:lnTo>
                      <a:pt x="1178" y="1297"/>
                    </a:lnTo>
                    <a:lnTo>
                      <a:pt x="1180" y="1295"/>
                    </a:lnTo>
                    <a:lnTo>
                      <a:pt x="1183" y="1293"/>
                    </a:lnTo>
                    <a:lnTo>
                      <a:pt x="1185" y="1292"/>
                    </a:lnTo>
                    <a:lnTo>
                      <a:pt x="1188" y="1290"/>
                    </a:lnTo>
                    <a:lnTo>
                      <a:pt x="1190" y="1288"/>
                    </a:lnTo>
                    <a:lnTo>
                      <a:pt x="1194" y="1286"/>
                    </a:lnTo>
                    <a:lnTo>
                      <a:pt x="1197" y="1285"/>
                    </a:lnTo>
                    <a:lnTo>
                      <a:pt x="1199" y="1283"/>
                    </a:lnTo>
                    <a:lnTo>
                      <a:pt x="1202" y="1281"/>
                    </a:lnTo>
                    <a:lnTo>
                      <a:pt x="1204" y="1279"/>
                    </a:lnTo>
                    <a:lnTo>
                      <a:pt x="1208" y="1278"/>
                    </a:lnTo>
                    <a:lnTo>
                      <a:pt x="1209" y="1276"/>
                    </a:lnTo>
                    <a:lnTo>
                      <a:pt x="1213" y="1274"/>
                    </a:lnTo>
                    <a:lnTo>
                      <a:pt x="1215" y="1274"/>
                    </a:lnTo>
                    <a:lnTo>
                      <a:pt x="1218" y="1271"/>
                    </a:lnTo>
                    <a:lnTo>
                      <a:pt x="1220" y="1271"/>
                    </a:lnTo>
                    <a:lnTo>
                      <a:pt x="1223" y="1267"/>
                    </a:lnTo>
                    <a:lnTo>
                      <a:pt x="1225" y="1267"/>
                    </a:lnTo>
                    <a:lnTo>
                      <a:pt x="1229" y="1265"/>
                    </a:lnTo>
                    <a:lnTo>
                      <a:pt x="1230" y="1262"/>
                    </a:lnTo>
                    <a:lnTo>
                      <a:pt x="1234" y="1262"/>
                    </a:lnTo>
                    <a:lnTo>
                      <a:pt x="1235" y="1260"/>
                    </a:lnTo>
                    <a:lnTo>
                      <a:pt x="1239" y="1257"/>
                    </a:lnTo>
                    <a:lnTo>
                      <a:pt x="1241" y="1257"/>
                    </a:lnTo>
                    <a:lnTo>
                      <a:pt x="1244" y="1253"/>
                    </a:lnTo>
                    <a:lnTo>
                      <a:pt x="1246" y="1252"/>
                    </a:lnTo>
                    <a:lnTo>
                      <a:pt x="1249" y="1250"/>
                    </a:lnTo>
                    <a:lnTo>
                      <a:pt x="1251" y="1248"/>
                    </a:lnTo>
                    <a:lnTo>
                      <a:pt x="1253" y="1246"/>
                    </a:lnTo>
                    <a:lnTo>
                      <a:pt x="1256" y="1245"/>
                    </a:lnTo>
                    <a:lnTo>
                      <a:pt x="1258" y="1243"/>
                    </a:lnTo>
                    <a:lnTo>
                      <a:pt x="1262" y="1241"/>
                    </a:lnTo>
                    <a:lnTo>
                      <a:pt x="1263" y="1239"/>
                    </a:lnTo>
                    <a:lnTo>
                      <a:pt x="1265" y="1238"/>
                    </a:lnTo>
                    <a:lnTo>
                      <a:pt x="1269" y="1236"/>
                    </a:lnTo>
                    <a:lnTo>
                      <a:pt x="1270" y="1234"/>
                    </a:lnTo>
                    <a:lnTo>
                      <a:pt x="1274" y="1232"/>
                    </a:lnTo>
                    <a:lnTo>
                      <a:pt x="1275" y="1231"/>
                    </a:lnTo>
                    <a:lnTo>
                      <a:pt x="1277" y="1229"/>
                    </a:lnTo>
                    <a:lnTo>
                      <a:pt x="1281" y="1225"/>
                    </a:lnTo>
                    <a:lnTo>
                      <a:pt x="1282" y="1224"/>
                    </a:lnTo>
                    <a:lnTo>
                      <a:pt x="1284" y="1222"/>
                    </a:lnTo>
                    <a:lnTo>
                      <a:pt x="1288" y="1220"/>
                    </a:lnTo>
                    <a:lnTo>
                      <a:pt x="1289" y="1218"/>
                    </a:lnTo>
                    <a:lnTo>
                      <a:pt x="1291" y="1217"/>
                    </a:lnTo>
                    <a:lnTo>
                      <a:pt x="1293" y="1215"/>
                    </a:lnTo>
                    <a:lnTo>
                      <a:pt x="1296" y="1211"/>
                    </a:lnTo>
                    <a:lnTo>
                      <a:pt x="1298" y="1210"/>
                    </a:lnTo>
                    <a:lnTo>
                      <a:pt x="1300" y="1208"/>
                    </a:lnTo>
                    <a:lnTo>
                      <a:pt x="1302" y="1206"/>
                    </a:lnTo>
                    <a:lnTo>
                      <a:pt x="1305" y="1205"/>
                    </a:lnTo>
                    <a:lnTo>
                      <a:pt x="1307" y="1201"/>
                    </a:lnTo>
                    <a:lnTo>
                      <a:pt x="1309" y="1199"/>
                    </a:lnTo>
                    <a:lnTo>
                      <a:pt x="1310" y="1198"/>
                    </a:lnTo>
                    <a:lnTo>
                      <a:pt x="1312" y="1196"/>
                    </a:lnTo>
                    <a:lnTo>
                      <a:pt x="1316" y="1194"/>
                    </a:lnTo>
                    <a:lnTo>
                      <a:pt x="1317" y="1191"/>
                    </a:lnTo>
                    <a:lnTo>
                      <a:pt x="1319" y="1189"/>
                    </a:lnTo>
                    <a:lnTo>
                      <a:pt x="1321" y="1187"/>
                    </a:lnTo>
                    <a:lnTo>
                      <a:pt x="1322" y="1185"/>
                    </a:lnTo>
                    <a:lnTo>
                      <a:pt x="1324" y="1182"/>
                    </a:lnTo>
                    <a:lnTo>
                      <a:pt x="1326" y="1180"/>
                    </a:lnTo>
                    <a:lnTo>
                      <a:pt x="1328" y="1178"/>
                    </a:lnTo>
                    <a:lnTo>
                      <a:pt x="1329" y="1175"/>
                    </a:lnTo>
                    <a:lnTo>
                      <a:pt x="1331" y="1173"/>
                    </a:lnTo>
                    <a:lnTo>
                      <a:pt x="1333" y="1171"/>
                    </a:lnTo>
                    <a:lnTo>
                      <a:pt x="1335" y="1170"/>
                    </a:lnTo>
                    <a:lnTo>
                      <a:pt x="1336" y="1166"/>
                    </a:lnTo>
                    <a:lnTo>
                      <a:pt x="1338" y="1164"/>
                    </a:lnTo>
                    <a:lnTo>
                      <a:pt x="1340" y="1163"/>
                    </a:lnTo>
                    <a:lnTo>
                      <a:pt x="1342" y="1159"/>
                    </a:lnTo>
                    <a:lnTo>
                      <a:pt x="1343" y="1158"/>
                    </a:lnTo>
                    <a:lnTo>
                      <a:pt x="1345" y="1156"/>
                    </a:lnTo>
                    <a:lnTo>
                      <a:pt x="1347" y="1152"/>
                    </a:lnTo>
                    <a:lnTo>
                      <a:pt x="1349" y="1151"/>
                    </a:lnTo>
                    <a:lnTo>
                      <a:pt x="1350" y="1147"/>
                    </a:lnTo>
                    <a:lnTo>
                      <a:pt x="1352" y="1145"/>
                    </a:lnTo>
                    <a:lnTo>
                      <a:pt x="1352" y="1144"/>
                    </a:lnTo>
                    <a:lnTo>
                      <a:pt x="1354" y="1140"/>
                    </a:lnTo>
                    <a:lnTo>
                      <a:pt x="1356" y="1138"/>
                    </a:lnTo>
                    <a:lnTo>
                      <a:pt x="1357" y="1135"/>
                    </a:lnTo>
                    <a:lnTo>
                      <a:pt x="1357" y="1133"/>
                    </a:lnTo>
                    <a:lnTo>
                      <a:pt x="1359" y="1131"/>
                    </a:lnTo>
                    <a:lnTo>
                      <a:pt x="1361" y="1128"/>
                    </a:lnTo>
                    <a:lnTo>
                      <a:pt x="1361" y="1126"/>
                    </a:lnTo>
                    <a:lnTo>
                      <a:pt x="1363" y="1124"/>
                    </a:lnTo>
                    <a:lnTo>
                      <a:pt x="1364" y="1121"/>
                    </a:lnTo>
                    <a:lnTo>
                      <a:pt x="1364" y="1119"/>
                    </a:lnTo>
                    <a:lnTo>
                      <a:pt x="1366" y="1116"/>
                    </a:lnTo>
                    <a:lnTo>
                      <a:pt x="1368" y="1114"/>
                    </a:lnTo>
                    <a:lnTo>
                      <a:pt x="1368" y="1111"/>
                    </a:lnTo>
                    <a:lnTo>
                      <a:pt x="1369" y="1109"/>
                    </a:lnTo>
                    <a:lnTo>
                      <a:pt x="1369" y="1105"/>
                    </a:lnTo>
                    <a:lnTo>
                      <a:pt x="1371" y="1104"/>
                    </a:lnTo>
                    <a:lnTo>
                      <a:pt x="1371" y="1100"/>
                    </a:lnTo>
                    <a:lnTo>
                      <a:pt x="1371" y="1098"/>
                    </a:lnTo>
                    <a:lnTo>
                      <a:pt x="1373" y="1095"/>
                    </a:lnTo>
                    <a:lnTo>
                      <a:pt x="1373" y="1093"/>
                    </a:lnTo>
                    <a:lnTo>
                      <a:pt x="1375" y="1091"/>
                    </a:lnTo>
                    <a:lnTo>
                      <a:pt x="1375" y="1088"/>
                    </a:lnTo>
                    <a:lnTo>
                      <a:pt x="1375" y="1084"/>
                    </a:lnTo>
                    <a:lnTo>
                      <a:pt x="1376" y="1083"/>
                    </a:lnTo>
                    <a:lnTo>
                      <a:pt x="1376" y="1079"/>
                    </a:lnTo>
                    <a:lnTo>
                      <a:pt x="1376" y="1077"/>
                    </a:lnTo>
                    <a:lnTo>
                      <a:pt x="1376" y="1074"/>
                    </a:lnTo>
                    <a:lnTo>
                      <a:pt x="1378" y="1072"/>
                    </a:lnTo>
                    <a:lnTo>
                      <a:pt x="1378" y="1069"/>
                    </a:lnTo>
                    <a:lnTo>
                      <a:pt x="1378" y="1067"/>
                    </a:lnTo>
                    <a:lnTo>
                      <a:pt x="1378" y="1064"/>
                    </a:lnTo>
                    <a:lnTo>
                      <a:pt x="1378" y="1062"/>
                    </a:lnTo>
                    <a:lnTo>
                      <a:pt x="1378" y="1058"/>
                    </a:lnTo>
                    <a:lnTo>
                      <a:pt x="1378" y="1051"/>
                    </a:lnTo>
                    <a:moveTo>
                      <a:pt x="1054" y="1366"/>
                    </a:moveTo>
                    <a:lnTo>
                      <a:pt x="1058" y="1366"/>
                    </a:lnTo>
                    <a:lnTo>
                      <a:pt x="1061" y="1365"/>
                    </a:lnTo>
                    <a:lnTo>
                      <a:pt x="1065" y="1365"/>
                    </a:lnTo>
                    <a:lnTo>
                      <a:pt x="1068" y="1365"/>
                    </a:lnTo>
                    <a:lnTo>
                      <a:pt x="1072" y="1363"/>
                    </a:lnTo>
                    <a:lnTo>
                      <a:pt x="1075" y="1363"/>
                    </a:lnTo>
                    <a:lnTo>
                      <a:pt x="1079" y="1363"/>
                    </a:lnTo>
                    <a:lnTo>
                      <a:pt x="1082" y="1363"/>
                    </a:lnTo>
                    <a:lnTo>
                      <a:pt x="1086" y="1361"/>
                    </a:lnTo>
                    <a:lnTo>
                      <a:pt x="1089" y="1361"/>
                    </a:lnTo>
                    <a:lnTo>
                      <a:pt x="1093" y="1361"/>
                    </a:lnTo>
                    <a:lnTo>
                      <a:pt x="1096" y="1359"/>
                    </a:lnTo>
                    <a:lnTo>
                      <a:pt x="1098" y="1359"/>
                    </a:lnTo>
                    <a:lnTo>
                      <a:pt x="1101" y="1359"/>
                    </a:lnTo>
                    <a:lnTo>
                      <a:pt x="1105" y="1358"/>
                    </a:lnTo>
                    <a:lnTo>
                      <a:pt x="1108" y="1358"/>
                    </a:lnTo>
                    <a:lnTo>
                      <a:pt x="1112" y="1358"/>
                    </a:lnTo>
                    <a:lnTo>
                      <a:pt x="1115" y="1358"/>
                    </a:lnTo>
                    <a:lnTo>
                      <a:pt x="1119" y="1356"/>
                    </a:lnTo>
                    <a:lnTo>
                      <a:pt x="1122" y="1356"/>
                    </a:lnTo>
                    <a:lnTo>
                      <a:pt x="1126" y="1354"/>
                    </a:lnTo>
                    <a:lnTo>
                      <a:pt x="1129" y="1354"/>
                    </a:lnTo>
                    <a:lnTo>
                      <a:pt x="1133" y="1354"/>
                    </a:lnTo>
                    <a:lnTo>
                      <a:pt x="1136" y="1354"/>
                    </a:lnTo>
                    <a:lnTo>
                      <a:pt x="1140" y="1353"/>
                    </a:lnTo>
                    <a:lnTo>
                      <a:pt x="1143" y="1353"/>
                    </a:lnTo>
                    <a:lnTo>
                      <a:pt x="1147" y="1353"/>
                    </a:lnTo>
                    <a:lnTo>
                      <a:pt x="1150" y="1351"/>
                    </a:lnTo>
                    <a:lnTo>
                      <a:pt x="1152" y="1351"/>
                    </a:lnTo>
                    <a:lnTo>
                      <a:pt x="1155" y="1351"/>
                    </a:lnTo>
                    <a:lnTo>
                      <a:pt x="1159" y="1349"/>
                    </a:lnTo>
                    <a:lnTo>
                      <a:pt x="1162" y="1349"/>
                    </a:lnTo>
                    <a:lnTo>
                      <a:pt x="1166" y="1349"/>
                    </a:lnTo>
                    <a:lnTo>
                      <a:pt x="1169" y="1347"/>
                    </a:lnTo>
                    <a:lnTo>
                      <a:pt x="1173" y="1347"/>
                    </a:lnTo>
                    <a:lnTo>
                      <a:pt x="1176" y="1347"/>
                    </a:lnTo>
                    <a:lnTo>
                      <a:pt x="1180" y="1346"/>
                    </a:lnTo>
                    <a:lnTo>
                      <a:pt x="1183" y="1346"/>
                    </a:lnTo>
                    <a:lnTo>
                      <a:pt x="1187" y="1344"/>
                    </a:lnTo>
                    <a:lnTo>
                      <a:pt x="1190" y="1344"/>
                    </a:lnTo>
                    <a:lnTo>
                      <a:pt x="1194" y="1344"/>
                    </a:lnTo>
                    <a:lnTo>
                      <a:pt x="1197" y="1342"/>
                    </a:lnTo>
                    <a:lnTo>
                      <a:pt x="1201" y="1342"/>
                    </a:lnTo>
                    <a:lnTo>
                      <a:pt x="1202" y="1342"/>
                    </a:lnTo>
                    <a:lnTo>
                      <a:pt x="1206" y="1340"/>
                    </a:lnTo>
                    <a:lnTo>
                      <a:pt x="1209" y="1340"/>
                    </a:lnTo>
                    <a:lnTo>
                      <a:pt x="1213" y="1339"/>
                    </a:lnTo>
                    <a:lnTo>
                      <a:pt x="1216" y="1339"/>
                    </a:lnTo>
                    <a:lnTo>
                      <a:pt x="1220" y="1339"/>
                    </a:lnTo>
                    <a:lnTo>
                      <a:pt x="1223" y="1337"/>
                    </a:lnTo>
                    <a:lnTo>
                      <a:pt x="1227" y="1337"/>
                    </a:lnTo>
                    <a:lnTo>
                      <a:pt x="1230" y="1335"/>
                    </a:lnTo>
                    <a:lnTo>
                      <a:pt x="1234" y="1335"/>
                    </a:lnTo>
                    <a:lnTo>
                      <a:pt x="1237" y="1335"/>
                    </a:lnTo>
                    <a:lnTo>
                      <a:pt x="1239" y="1333"/>
                    </a:lnTo>
                    <a:lnTo>
                      <a:pt x="1242" y="1333"/>
                    </a:lnTo>
                    <a:lnTo>
                      <a:pt x="1246" y="1332"/>
                    </a:lnTo>
                    <a:lnTo>
                      <a:pt x="1249" y="1332"/>
                    </a:lnTo>
                    <a:lnTo>
                      <a:pt x="1253" y="1330"/>
                    </a:lnTo>
                    <a:lnTo>
                      <a:pt x="1256" y="1330"/>
                    </a:lnTo>
                    <a:lnTo>
                      <a:pt x="1260" y="1330"/>
                    </a:lnTo>
                    <a:lnTo>
                      <a:pt x="1263" y="1328"/>
                    </a:lnTo>
                    <a:lnTo>
                      <a:pt x="1267" y="1326"/>
                    </a:lnTo>
                    <a:lnTo>
                      <a:pt x="1270" y="1326"/>
                    </a:lnTo>
                    <a:lnTo>
                      <a:pt x="1272" y="1326"/>
                    </a:lnTo>
                    <a:lnTo>
                      <a:pt x="1275" y="1325"/>
                    </a:lnTo>
                    <a:lnTo>
                      <a:pt x="1279" y="1325"/>
                    </a:lnTo>
                    <a:lnTo>
                      <a:pt x="1282" y="1323"/>
                    </a:lnTo>
                    <a:lnTo>
                      <a:pt x="1286" y="1323"/>
                    </a:lnTo>
                    <a:lnTo>
                      <a:pt x="1289" y="1321"/>
                    </a:lnTo>
                    <a:lnTo>
                      <a:pt x="1293" y="1321"/>
                    </a:lnTo>
                    <a:lnTo>
                      <a:pt x="1296" y="1319"/>
                    </a:lnTo>
                    <a:lnTo>
                      <a:pt x="1298" y="1318"/>
                    </a:lnTo>
                    <a:lnTo>
                      <a:pt x="1302" y="1318"/>
                    </a:lnTo>
                    <a:lnTo>
                      <a:pt x="1305" y="1316"/>
                    </a:lnTo>
                    <a:lnTo>
                      <a:pt x="1309" y="1316"/>
                    </a:lnTo>
                    <a:lnTo>
                      <a:pt x="1312" y="1314"/>
                    </a:lnTo>
                    <a:lnTo>
                      <a:pt x="1316" y="1314"/>
                    </a:lnTo>
                    <a:lnTo>
                      <a:pt x="1319" y="1312"/>
                    </a:lnTo>
                    <a:lnTo>
                      <a:pt x="1321" y="1312"/>
                    </a:lnTo>
                    <a:lnTo>
                      <a:pt x="1324" y="1311"/>
                    </a:lnTo>
                    <a:lnTo>
                      <a:pt x="1328" y="1311"/>
                    </a:lnTo>
                    <a:lnTo>
                      <a:pt x="1331" y="1309"/>
                    </a:lnTo>
                    <a:lnTo>
                      <a:pt x="1335" y="1307"/>
                    </a:lnTo>
                    <a:lnTo>
                      <a:pt x="1338" y="1307"/>
                    </a:lnTo>
                    <a:lnTo>
                      <a:pt x="1340" y="1305"/>
                    </a:lnTo>
                    <a:lnTo>
                      <a:pt x="1343" y="1305"/>
                    </a:lnTo>
                    <a:lnTo>
                      <a:pt x="1347" y="1304"/>
                    </a:lnTo>
                    <a:lnTo>
                      <a:pt x="1350" y="1302"/>
                    </a:lnTo>
                    <a:lnTo>
                      <a:pt x="1354" y="1302"/>
                    </a:lnTo>
                    <a:lnTo>
                      <a:pt x="1356" y="1300"/>
                    </a:lnTo>
                    <a:lnTo>
                      <a:pt x="1359" y="1299"/>
                    </a:lnTo>
                    <a:lnTo>
                      <a:pt x="1363" y="1299"/>
                    </a:lnTo>
                    <a:lnTo>
                      <a:pt x="1366" y="1297"/>
                    </a:lnTo>
                    <a:lnTo>
                      <a:pt x="1369" y="1297"/>
                    </a:lnTo>
                    <a:lnTo>
                      <a:pt x="1371" y="1295"/>
                    </a:lnTo>
                    <a:lnTo>
                      <a:pt x="1375" y="1293"/>
                    </a:lnTo>
                    <a:lnTo>
                      <a:pt x="1378" y="1292"/>
                    </a:lnTo>
                    <a:lnTo>
                      <a:pt x="1382" y="1292"/>
                    </a:lnTo>
                    <a:lnTo>
                      <a:pt x="1383" y="1290"/>
                    </a:lnTo>
                    <a:lnTo>
                      <a:pt x="1387" y="1288"/>
                    </a:lnTo>
                    <a:lnTo>
                      <a:pt x="1390" y="1288"/>
                    </a:lnTo>
                    <a:lnTo>
                      <a:pt x="1394" y="1286"/>
                    </a:lnTo>
                    <a:lnTo>
                      <a:pt x="1396" y="1285"/>
                    </a:lnTo>
                    <a:lnTo>
                      <a:pt x="1399" y="1283"/>
                    </a:lnTo>
                    <a:lnTo>
                      <a:pt x="1403" y="1281"/>
                    </a:lnTo>
                    <a:lnTo>
                      <a:pt x="1406" y="1281"/>
                    </a:lnTo>
                    <a:lnTo>
                      <a:pt x="1408" y="1279"/>
                    </a:lnTo>
                    <a:lnTo>
                      <a:pt x="1411" y="1278"/>
                    </a:lnTo>
                    <a:lnTo>
                      <a:pt x="1415" y="1276"/>
                    </a:lnTo>
                    <a:lnTo>
                      <a:pt x="1416" y="1276"/>
                    </a:lnTo>
                    <a:lnTo>
                      <a:pt x="1420" y="1274"/>
                    </a:lnTo>
                    <a:lnTo>
                      <a:pt x="1423" y="1272"/>
                    </a:lnTo>
                    <a:lnTo>
                      <a:pt x="1425" y="1271"/>
                    </a:lnTo>
                    <a:lnTo>
                      <a:pt x="1429" y="1269"/>
                    </a:lnTo>
                    <a:lnTo>
                      <a:pt x="1432" y="1269"/>
                    </a:lnTo>
                    <a:lnTo>
                      <a:pt x="1434" y="1267"/>
                    </a:lnTo>
                    <a:lnTo>
                      <a:pt x="1437" y="1265"/>
                    </a:lnTo>
                    <a:lnTo>
                      <a:pt x="1441" y="1264"/>
                    </a:lnTo>
                    <a:lnTo>
                      <a:pt x="1443" y="1262"/>
                    </a:lnTo>
                    <a:lnTo>
                      <a:pt x="1446" y="1260"/>
                    </a:lnTo>
                    <a:lnTo>
                      <a:pt x="1448" y="1258"/>
                    </a:lnTo>
                    <a:lnTo>
                      <a:pt x="1451" y="1257"/>
                    </a:lnTo>
                    <a:lnTo>
                      <a:pt x="1455" y="1257"/>
                    </a:lnTo>
                    <a:lnTo>
                      <a:pt x="1457" y="1255"/>
                    </a:lnTo>
                    <a:lnTo>
                      <a:pt x="1460" y="1253"/>
                    </a:lnTo>
                    <a:lnTo>
                      <a:pt x="1462" y="1252"/>
                    </a:lnTo>
                    <a:lnTo>
                      <a:pt x="1465" y="1250"/>
                    </a:lnTo>
                    <a:lnTo>
                      <a:pt x="1467" y="1248"/>
                    </a:lnTo>
                    <a:lnTo>
                      <a:pt x="1470" y="1246"/>
                    </a:lnTo>
                    <a:lnTo>
                      <a:pt x="1472" y="1245"/>
                    </a:lnTo>
                    <a:lnTo>
                      <a:pt x="1476" y="1243"/>
                    </a:lnTo>
                    <a:lnTo>
                      <a:pt x="1479" y="1241"/>
                    </a:lnTo>
                    <a:lnTo>
                      <a:pt x="1481" y="1239"/>
                    </a:lnTo>
                    <a:lnTo>
                      <a:pt x="1484" y="1238"/>
                    </a:lnTo>
                    <a:lnTo>
                      <a:pt x="1486" y="1236"/>
                    </a:lnTo>
                    <a:lnTo>
                      <a:pt x="1488" y="1234"/>
                    </a:lnTo>
                    <a:lnTo>
                      <a:pt x="1491" y="1232"/>
                    </a:lnTo>
                    <a:lnTo>
                      <a:pt x="1493" y="1231"/>
                    </a:lnTo>
                    <a:lnTo>
                      <a:pt x="1497" y="1229"/>
                    </a:lnTo>
                    <a:lnTo>
                      <a:pt x="1498" y="1227"/>
                    </a:lnTo>
                    <a:lnTo>
                      <a:pt x="1502" y="1225"/>
                    </a:lnTo>
                    <a:lnTo>
                      <a:pt x="1503" y="1224"/>
                    </a:lnTo>
                    <a:lnTo>
                      <a:pt x="1505" y="1222"/>
                    </a:lnTo>
                    <a:lnTo>
                      <a:pt x="1509" y="1220"/>
                    </a:lnTo>
                    <a:lnTo>
                      <a:pt x="1510" y="1217"/>
                    </a:lnTo>
                    <a:lnTo>
                      <a:pt x="1512" y="1215"/>
                    </a:lnTo>
                    <a:lnTo>
                      <a:pt x="1516" y="1213"/>
                    </a:lnTo>
                    <a:lnTo>
                      <a:pt x="1517" y="1211"/>
                    </a:lnTo>
                    <a:lnTo>
                      <a:pt x="1519" y="1210"/>
                    </a:lnTo>
                    <a:lnTo>
                      <a:pt x="1523" y="1208"/>
                    </a:lnTo>
                    <a:lnTo>
                      <a:pt x="1524" y="1206"/>
                    </a:lnTo>
                    <a:lnTo>
                      <a:pt x="1526" y="1203"/>
                    </a:lnTo>
                    <a:lnTo>
                      <a:pt x="1530" y="1201"/>
                    </a:lnTo>
                    <a:lnTo>
                      <a:pt x="1531" y="1199"/>
                    </a:lnTo>
                    <a:lnTo>
                      <a:pt x="1533" y="1198"/>
                    </a:lnTo>
                    <a:lnTo>
                      <a:pt x="1535" y="1196"/>
                    </a:lnTo>
                    <a:lnTo>
                      <a:pt x="1538" y="1194"/>
                    </a:lnTo>
                    <a:lnTo>
                      <a:pt x="1540" y="1191"/>
                    </a:lnTo>
                    <a:lnTo>
                      <a:pt x="1542" y="1189"/>
                    </a:lnTo>
                    <a:lnTo>
                      <a:pt x="1544" y="1187"/>
                    </a:lnTo>
                    <a:lnTo>
                      <a:pt x="1545" y="1185"/>
                    </a:lnTo>
                    <a:lnTo>
                      <a:pt x="1547" y="1182"/>
                    </a:lnTo>
                    <a:lnTo>
                      <a:pt x="1549" y="1180"/>
                    </a:lnTo>
                    <a:lnTo>
                      <a:pt x="1550" y="1178"/>
                    </a:lnTo>
                    <a:lnTo>
                      <a:pt x="1552" y="1177"/>
                    </a:lnTo>
                    <a:lnTo>
                      <a:pt x="1554" y="1173"/>
                    </a:lnTo>
                    <a:lnTo>
                      <a:pt x="1557" y="1171"/>
                    </a:lnTo>
                    <a:lnTo>
                      <a:pt x="1559" y="1170"/>
                    </a:lnTo>
                    <a:lnTo>
                      <a:pt x="1561" y="1166"/>
                    </a:lnTo>
                    <a:lnTo>
                      <a:pt x="1563" y="1164"/>
                    </a:lnTo>
                    <a:lnTo>
                      <a:pt x="1563" y="1163"/>
                    </a:lnTo>
                    <a:lnTo>
                      <a:pt x="1566" y="1159"/>
                    </a:lnTo>
                    <a:lnTo>
                      <a:pt x="1566" y="1158"/>
                    </a:lnTo>
                    <a:lnTo>
                      <a:pt x="1568" y="1156"/>
                    </a:lnTo>
                    <a:lnTo>
                      <a:pt x="1570" y="1152"/>
                    </a:lnTo>
                    <a:lnTo>
                      <a:pt x="1571" y="1151"/>
                    </a:lnTo>
                    <a:lnTo>
                      <a:pt x="1573" y="1149"/>
                    </a:lnTo>
                    <a:lnTo>
                      <a:pt x="1575" y="1145"/>
                    </a:lnTo>
                    <a:lnTo>
                      <a:pt x="1577" y="1144"/>
                    </a:lnTo>
                    <a:lnTo>
                      <a:pt x="1577" y="1142"/>
                    </a:lnTo>
                    <a:lnTo>
                      <a:pt x="1578" y="1138"/>
                    </a:lnTo>
                    <a:lnTo>
                      <a:pt x="1580" y="1137"/>
                    </a:lnTo>
                    <a:lnTo>
                      <a:pt x="1582" y="1133"/>
                    </a:lnTo>
                    <a:lnTo>
                      <a:pt x="1582" y="1131"/>
                    </a:lnTo>
                    <a:lnTo>
                      <a:pt x="1584" y="1130"/>
                    </a:lnTo>
                    <a:lnTo>
                      <a:pt x="1585" y="1126"/>
                    </a:lnTo>
                    <a:lnTo>
                      <a:pt x="1585" y="1124"/>
                    </a:lnTo>
                    <a:lnTo>
                      <a:pt x="1587" y="1121"/>
                    </a:lnTo>
                    <a:lnTo>
                      <a:pt x="1589" y="1119"/>
                    </a:lnTo>
                    <a:lnTo>
                      <a:pt x="1589" y="1116"/>
                    </a:lnTo>
                    <a:lnTo>
                      <a:pt x="1591" y="1114"/>
                    </a:lnTo>
                    <a:lnTo>
                      <a:pt x="1591" y="1111"/>
                    </a:lnTo>
                    <a:lnTo>
                      <a:pt x="1592" y="1109"/>
                    </a:lnTo>
                    <a:lnTo>
                      <a:pt x="1592" y="1107"/>
                    </a:lnTo>
                    <a:lnTo>
                      <a:pt x="1594" y="1104"/>
                    </a:lnTo>
                    <a:lnTo>
                      <a:pt x="1594" y="1102"/>
                    </a:lnTo>
                    <a:lnTo>
                      <a:pt x="1596" y="1098"/>
                    </a:lnTo>
                    <a:lnTo>
                      <a:pt x="1596" y="1097"/>
                    </a:lnTo>
                    <a:lnTo>
                      <a:pt x="1597" y="1093"/>
                    </a:lnTo>
                    <a:lnTo>
                      <a:pt x="1597" y="1091"/>
                    </a:lnTo>
                    <a:lnTo>
                      <a:pt x="1597" y="1088"/>
                    </a:lnTo>
                    <a:lnTo>
                      <a:pt x="1599" y="1086"/>
                    </a:lnTo>
                    <a:lnTo>
                      <a:pt x="1599" y="1083"/>
                    </a:lnTo>
                    <a:lnTo>
                      <a:pt x="1599" y="1081"/>
                    </a:lnTo>
                    <a:lnTo>
                      <a:pt x="1599" y="1077"/>
                    </a:lnTo>
                    <a:lnTo>
                      <a:pt x="1601" y="1076"/>
                    </a:lnTo>
                    <a:lnTo>
                      <a:pt x="1601" y="1072"/>
                    </a:lnTo>
                    <a:lnTo>
                      <a:pt x="1601" y="1070"/>
                    </a:lnTo>
                    <a:lnTo>
                      <a:pt x="1601" y="1067"/>
                    </a:lnTo>
                    <a:lnTo>
                      <a:pt x="1601" y="1065"/>
                    </a:lnTo>
                    <a:lnTo>
                      <a:pt x="1601" y="1062"/>
                    </a:lnTo>
                    <a:lnTo>
                      <a:pt x="1603" y="1060"/>
                    </a:lnTo>
                    <a:lnTo>
                      <a:pt x="1603" y="1051"/>
                    </a:lnTo>
                    <a:moveTo>
                      <a:pt x="1190" y="1389"/>
                    </a:moveTo>
                    <a:lnTo>
                      <a:pt x="1194" y="1389"/>
                    </a:lnTo>
                    <a:lnTo>
                      <a:pt x="1197" y="1391"/>
                    </a:lnTo>
                    <a:lnTo>
                      <a:pt x="1201" y="1391"/>
                    </a:lnTo>
                    <a:lnTo>
                      <a:pt x="1204" y="1391"/>
                    </a:lnTo>
                    <a:lnTo>
                      <a:pt x="1208" y="1391"/>
                    </a:lnTo>
                    <a:lnTo>
                      <a:pt x="1211" y="1391"/>
                    </a:lnTo>
                    <a:lnTo>
                      <a:pt x="1215" y="1393"/>
                    </a:lnTo>
                    <a:lnTo>
                      <a:pt x="1218" y="1393"/>
                    </a:lnTo>
                    <a:lnTo>
                      <a:pt x="1222" y="1393"/>
                    </a:lnTo>
                    <a:lnTo>
                      <a:pt x="1225" y="1393"/>
                    </a:lnTo>
                    <a:lnTo>
                      <a:pt x="1229" y="1394"/>
                    </a:lnTo>
                    <a:lnTo>
                      <a:pt x="1232" y="1394"/>
                    </a:lnTo>
                    <a:lnTo>
                      <a:pt x="1235" y="1394"/>
                    </a:lnTo>
                    <a:lnTo>
                      <a:pt x="1239" y="1394"/>
                    </a:lnTo>
                    <a:lnTo>
                      <a:pt x="1242" y="1394"/>
                    </a:lnTo>
                    <a:lnTo>
                      <a:pt x="1246" y="1394"/>
                    </a:lnTo>
                    <a:lnTo>
                      <a:pt x="1249" y="1396"/>
                    </a:lnTo>
                    <a:lnTo>
                      <a:pt x="1253" y="1396"/>
                    </a:lnTo>
                    <a:lnTo>
                      <a:pt x="1256" y="1396"/>
                    </a:lnTo>
                    <a:lnTo>
                      <a:pt x="1260" y="1396"/>
                    </a:lnTo>
                    <a:lnTo>
                      <a:pt x="1263" y="1396"/>
                    </a:lnTo>
                    <a:lnTo>
                      <a:pt x="1267" y="1398"/>
                    </a:lnTo>
                    <a:lnTo>
                      <a:pt x="1270" y="1398"/>
                    </a:lnTo>
                    <a:lnTo>
                      <a:pt x="1274" y="1398"/>
                    </a:lnTo>
                    <a:lnTo>
                      <a:pt x="1275" y="1398"/>
                    </a:lnTo>
                    <a:lnTo>
                      <a:pt x="1279" y="1398"/>
                    </a:lnTo>
                    <a:lnTo>
                      <a:pt x="1282" y="1398"/>
                    </a:lnTo>
                    <a:lnTo>
                      <a:pt x="1286" y="1398"/>
                    </a:lnTo>
                    <a:lnTo>
                      <a:pt x="1289" y="1400"/>
                    </a:lnTo>
                    <a:lnTo>
                      <a:pt x="1293" y="1400"/>
                    </a:lnTo>
                    <a:lnTo>
                      <a:pt x="1296" y="1400"/>
                    </a:lnTo>
                    <a:lnTo>
                      <a:pt x="1300" y="1400"/>
                    </a:lnTo>
                    <a:lnTo>
                      <a:pt x="1303" y="1400"/>
                    </a:lnTo>
                    <a:lnTo>
                      <a:pt x="1307" y="1400"/>
                    </a:lnTo>
                    <a:lnTo>
                      <a:pt x="1310" y="1400"/>
                    </a:lnTo>
                    <a:lnTo>
                      <a:pt x="1314" y="1400"/>
                    </a:lnTo>
                    <a:lnTo>
                      <a:pt x="1317" y="1400"/>
                    </a:lnTo>
                    <a:lnTo>
                      <a:pt x="1321" y="1401"/>
                    </a:lnTo>
                    <a:lnTo>
                      <a:pt x="1324" y="1401"/>
                    </a:lnTo>
                    <a:lnTo>
                      <a:pt x="1328" y="1401"/>
                    </a:lnTo>
                    <a:lnTo>
                      <a:pt x="1331" y="1401"/>
                    </a:lnTo>
                    <a:lnTo>
                      <a:pt x="1335" y="1401"/>
                    </a:lnTo>
                    <a:lnTo>
                      <a:pt x="1338" y="1401"/>
                    </a:lnTo>
                    <a:lnTo>
                      <a:pt x="1342" y="1401"/>
                    </a:lnTo>
                    <a:lnTo>
                      <a:pt x="1345" y="1401"/>
                    </a:lnTo>
                    <a:lnTo>
                      <a:pt x="1349" y="1401"/>
                    </a:lnTo>
                    <a:lnTo>
                      <a:pt x="1352" y="1401"/>
                    </a:lnTo>
                    <a:lnTo>
                      <a:pt x="1356" y="1401"/>
                    </a:lnTo>
                    <a:lnTo>
                      <a:pt x="1359" y="1401"/>
                    </a:lnTo>
                    <a:lnTo>
                      <a:pt x="1363" y="1401"/>
                    </a:lnTo>
                    <a:lnTo>
                      <a:pt x="1366" y="1401"/>
                    </a:lnTo>
                    <a:lnTo>
                      <a:pt x="1369" y="1401"/>
                    </a:lnTo>
                    <a:lnTo>
                      <a:pt x="1373" y="1401"/>
                    </a:lnTo>
                    <a:lnTo>
                      <a:pt x="1376" y="1403"/>
                    </a:lnTo>
                    <a:lnTo>
                      <a:pt x="1380" y="1403"/>
                    </a:lnTo>
                    <a:lnTo>
                      <a:pt x="1383" y="1403"/>
                    </a:lnTo>
                    <a:lnTo>
                      <a:pt x="1387" y="1403"/>
                    </a:lnTo>
                    <a:lnTo>
                      <a:pt x="1390" y="1403"/>
                    </a:lnTo>
                    <a:lnTo>
                      <a:pt x="1394" y="1403"/>
                    </a:lnTo>
                    <a:lnTo>
                      <a:pt x="1397" y="1403"/>
                    </a:lnTo>
                    <a:lnTo>
                      <a:pt x="1401" y="1401"/>
                    </a:lnTo>
                    <a:lnTo>
                      <a:pt x="1404" y="1401"/>
                    </a:lnTo>
                    <a:lnTo>
                      <a:pt x="1408" y="1401"/>
                    </a:lnTo>
                    <a:lnTo>
                      <a:pt x="1411" y="1401"/>
                    </a:lnTo>
                    <a:lnTo>
                      <a:pt x="1415" y="1401"/>
                    </a:lnTo>
                    <a:lnTo>
                      <a:pt x="1418" y="1401"/>
                    </a:lnTo>
                    <a:lnTo>
                      <a:pt x="1422" y="1401"/>
                    </a:lnTo>
                    <a:lnTo>
                      <a:pt x="1425" y="1401"/>
                    </a:lnTo>
                    <a:lnTo>
                      <a:pt x="1429" y="1401"/>
                    </a:lnTo>
                    <a:lnTo>
                      <a:pt x="1432" y="1401"/>
                    </a:lnTo>
                    <a:lnTo>
                      <a:pt x="1436" y="1401"/>
                    </a:lnTo>
                    <a:lnTo>
                      <a:pt x="1439" y="1401"/>
                    </a:lnTo>
                    <a:lnTo>
                      <a:pt x="1443" y="1401"/>
                    </a:lnTo>
                    <a:lnTo>
                      <a:pt x="1446" y="1401"/>
                    </a:lnTo>
                    <a:lnTo>
                      <a:pt x="1450" y="1401"/>
                    </a:lnTo>
                    <a:lnTo>
                      <a:pt x="1453" y="1400"/>
                    </a:lnTo>
                    <a:lnTo>
                      <a:pt x="1457" y="1400"/>
                    </a:lnTo>
                    <a:lnTo>
                      <a:pt x="1460" y="1400"/>
                    </a:lnTo>
                    <a:lnTo>
                      <a:pt x="1463" y="1400"/>
                    </a:lnTo>
                    <a:lnTo>
                      <a:pt x="1467" y="1400"/>
                    </a:lnTo>
                    <a:lnTo>
                      <a:pt x="1470" y="1400"/>
                    </a:lnTo>
                    <a:lnTo>
                      <a:pt x="1472" y="1400"/>
                    </a:lnTo>
                    <a:lnTo>
                      <a:pt x="1476" y="1400"/>
                    </a:lnTo>
                    <a:lnTo>
                      <a:pt x="1479" y="1400"/>
                    </a:lnTo>
                    <a:lnTo>
                      <a:pt x="1484" y="1398"/>
                    </a:lnTo>
                    <a:lnTo>
                      <a:pt x="1488" y="1398"/>
                    </a:lnTo>
                    <a:lnTo>
                      <a:pt x="1490" y="1398"/>
                    </a:lnTo>
                    <a:lnTo>
                      <a:pt x="1493" y="1398"/>
                    </a:lnTo>
                    <a:lnTo>
                      <a:pt x="1497" y="1398"/>
                    </a:lnTo>
                    <a:lnTo>
                      <a:pt x="1500" y="1398"/>
                    </a:lnTo>
                    <a:lnTo>
                      <a:pt x="1503" y="1396"/>
                    </a:lnTo>
                    <a:lnTo>
                      <a:pt x="1507" y="1396"/>
                    </a:lnTo>
                    <a:lnTo>
                      <a:pt x="1510" y="1396"/>
                    </a:lnTo>
                    <a:lnTo>
                      <a:pt x="1514" y="1396"/>
                    </a:lnTo>
                    <a:lnTo>
                      <a:pt x="1517" y="1394"/>
                    </a:lnTo>
                    <a:lnTo>
                      <a:pt x="1521" y="1394"/>
                    </a:lnTo>
                    <a:lnTo>
                      <a:pt x="1524" y="1394"/>
                    </a:lnTo>
                    <a:lnTo>
                      <a:pt x="1528" y="1394"/>
                    </a:lnTo>
                    <a:lnTo>
                      <a:pt x="1531" y="1394"/>
                    </a:lnTo>
                    <a:lnTo>
                      <a:pt x="1535" y="1393"/>
                    </a:lnTo>
                    <a:lnTo>
                      <a:pt x="1538" y="1393"/>
                    </a:lnTo>
                    <a:lnTo>
                      <a:pt x="1542" y="1393"/>
                    </a:lnTo>
                    <a:lnTo>
                      <a:pt x="1545" y="1391"/>
                    </a:lnTo>
                    <a:lnTo>
                      <a:pt x="1549" y="1391"/>
                    </a:lnTo>
                    <a:lnTo>
                      <a:pt x="1552" y="1391"/>
                    </a:lnTo>
                    <a:lnTo>
                      <a:pt x="1556" y="1391"/>
                    </a:lnTo>
                    <a:lnTo>
                      <a:pt x="1559" y="1389"/>
                    </a:lnTo>
                    <a:lnTo>
                      <a:pt x="1563" y="1389"/>
                    </a:lnTo>
                    <a:lnTo>
                      <a:pt x="1566" y="1389"/>
                    </a:lnTo>
                    <a:lnTo>
                      <a:pt x="1568" y="1389"/>
                    </a:lnTo>
                    <a:lnTo>
                      <a:pt x="1571" y="1387"/>
                    </a:lnTo>
                    <a:lnTo>
                      <a:pt x="1575" y="1387"/>
                    </a:lnTo>
                    <a:lnTo>
                      <a:pt x="1578" y="1386"/>
                    </a:lnTo>
                    <a:lnTo>
                      <a:pt x="1582" y="1386"/>
                    </a:lnTo>
                    <a:lnTo>
                      <a:pt x="1585" y="1386"/>
                    </a:lnTo>
                    <a:lnTo>
                      <a:pt x="1589" y="1384"/>
                    </a:lnTo>
                    <a:lnTo>
                      <a:pt x="1592" y="1384"/>
                    </a:lnTo>
                    <a:lnTo>
                      <a:pt x="1596" y="1384"/>
                    </a:lnTo>
                    <a:lnTo>
                      <a:pt x="1599" y="1382"/>
                    </a:lnTo>
                    <a:lnTo>
                      <a:pt x="1603" y="1382"/>
                    </a:lnTo>
                    <a:lnTo>
                      <a:pt x="1606" y="1382"/>
                    </a:lnTo>
                    <a:lnTo>
                      <a:pt x="1610" y="1380"/>
                    </a:lnTo>
                    <a:lnTo>
                      <a:pt x="1613" y="1380"/>
                    </a:lnTo>
                    <a:lnTo>
                      <a:pt x="1615" y="1379"/>
                    </a:lnTo>
                    <a:lnTo>
                      <a:pt x="1618" y="1379"/>
                    </a:lnTo>
                    <a:lnTo>
                      <a:pt x="1622" y="1377"/>
                    </a:lnTo>
                    <a:lnTo>
                      <a:pt x="1625" y="1377"/>
                    </a:lnTo>
                    <a:lnTo>
                      <a:pt x="1629" y="1377"/>
                    </a:lnTo>
                    <a:lnTo>
                      <a:pt x="1632" y="1375"/>
                    </a:lnTo>
                    <a:lnTo>
                      <a:pt x="1636" y="1375"/>
                    </a:lnTo>
                    <a:lnTo>
                      <a:pt x="1639" y="1373"/>
                    </a:lnTo>
                    <a:lnTo>
                      <a:pt x="1643" y="1373"/>
                    </a:lnTo>
                    <a:lnTo>
                      <a:pt x="1644" y="1372"/>
                    </a:lnTo>
                    <a:lnTo>
                      <a:pt x="1648" y="1372"/>
                    </a:lnTo>
                    <a:lnTo>
                      <a:pt x="1651" y="1370"/>
                    </a:lnTo>
                    <a:lnTo>
                      <a:pt x="1655" y="1370"/>
                    </a:lnTo>
                    <a:lnTo>
                      <a:pt x="1658" y="1368"/>
                    </a:lnTo>
                    <a:lnTo>
                      <a:pt x="1662" y="1368"/>
                    </a:lnTo>
                    <a:lnTo>
                      <a:pt x="1665" y="1366"/>
                    </a:lnTo>
                    <a:lnTo>
                      <a:pt x="1669" y="1366"/>
                    </a:lnTo>
                    <a:lnTo>
                      <a:pt x="1671" y="1365"/>
                    </a:lnTo>
                    <a:lnTo>
                      <a:pt x="1674" y="1365"/>
                    </a:lnTo>
                    <a:lnTo>
                      <a:pt x="1678" y="1363"/>
                    </a:lnTo>
                    <a:lnTo>
                      <a:pt x="1681" y="1363"/>
                    </a:lnTo>
                    <a:lnTo>
                      <a:pt x="1685" y="1361"/>
                    </a:lnTo>
                    <a:lnTo>
                      <a:pt x="1688" y="1359"/>
                    </a:lnTo>
                    <a:lnTo>
                      <a:pt x="1691" y="1359"/>
                    </a:lnTo>
                    <a:lnTo>
                      <a:pt x="1693" y="1358"/>
                    </a:lnTo>
                    <a:lnTo>
                      <a:pt x="1697" y="1358"/>
                    </a:lnTo>
                    <a:lnTo>
                      <a:pt x="1700" y="1356"/>
                    </a:lnTo>
                    <a:lnTo>
                      <a:pt x="1704" y="1354"/>
                    </a:lnTo>
                    <a:lnTo>
                      <a:pt x="1707" y="1354"/>
                    </a:lnTo>
                    <a:lnTo>
                      <a:pt x="1709" y="1353"/>
                    </a:lnTo>
                    <a:lnTo>
                      <a:pt x="1712" y="1353"/>
                    </a:lnTo>
                    <a:lnTo>
                      <a:pt x="1716" y="1351"/>
                    </a:lnTo>
                    <a:lnTo>
                      <a:pt x="1719" y="1349"/>
                    </a:lnTo>
                    <a:lnTo>
                      <a:pt x="1723" y="1349"/>
                    </a:lnTo>
                    <a:lnTo>
                      <a:pt x="1725" y="1347"/>
                    </a:lnTo>
                    <a:lnTo>
                      <a:pt x="1728" y="1346"/>
                    </a:lnTo>
                    <a:lnTo>
                      <a:pt x="1731" y="1344"/>
                    </a:lnTo>
                    <a:lnTo>
                      <a:pt x="1735" y="1344"/>
                    </a:lnTo>
                    <a:lnTo>
                      <a:pt x="1737" y="1342"/>
                    </a:lnTo>
                    <a:lnTo>
                      <a:pt x="1740" y="1340"/>
                    </a:lnTo>
                    <a:lnTo>
                      <a:pt x="1744" y="1340"/>
                    </a:lnTo>
                    <a:lnTo>
                      <a:pt x="1747" y="1339"/>
                    </a:lnTo>
                    <a:lnTo>
                      <a:pt x="1749" y="1337"/>
                    </a:lnTo>
                    <a:lnTo>
                      <a:pt x="1752" y="1335"/>
                    </a:lnTo>
                    <a:lnTo>
                      <a:pt x="1756" y="1335"/>
                    </a:lnTo>
                    <a:lnTo>
                      <a:pt x="1759" y="1333"/>
                    </a:lnTo>
                    <a:lnTo>
                      <a:pt x="1761" y="1332"/>
                    </a:lnTo>
                    <a:lnTo>
                      <a:pt x="1765" y="1330"/>
                    </a:lnTo>
                    <a:lnTo>
                      <a:pt x="1768" y="1330"/>
                    </a:lnTo>
                    <a:lnTo>
                      <a:pt x="1772" y="1328"/>
                    </a:lnTo>
                    <a:lnTo>
                      <a:pt x="1773" y="1326"/>
                    </a:lnTo>
                    <a:lnTo>
                      <a:pt x="1777" y="1325"/>
                    </a:lnTo>
                    <a:lnTo>
                      <a:pt x="1780" y="1325"/>
                    </a:lnTo>
                    <a:lnTo>
                      <a:pt x="1782" y="1323"/>
                    </a:lnTo>
                    <a:lnTo>
                      <a:pt x="1785" y="1321"/>
                    </a:lnTo>
                    <a:lnTo>
                      <a:pt x="1787" y="1319"/>
                    </a:lnTo>
                    <a:lnTo>
                      <a:pt x="1791" y="1318"/>
                    </a:lnTo>
                    <a:lnTo>
                      <a:pt x="1794" y="1316"/>
                    </a:lnTo>
                    <a:lnTo>
                      <a:pt x="1796" y="1316"/>
                    </a:lnTo>
                    <a:lnTo>
                      <a:pt x="1799" y="1314"/>
                    </a:lnTo>
                    <a:lnTo>
                      <a:pt x="1803" y="1312"/>
                    </a:lnTo>
                    <a:lnTo>
                      <a:pt x="1805" y="1311"/>
                    </a:lnTo>
                    <a:lnTo>
                      <a:pt x="1808" y="1309"/>
                    </a:lnTo>
                    <a:lnTo>
                      <a:pt x="1810" y="1307"/>
                    </a:lnTo>
                    <a:lnTo>
                      <a:pt x="1813" y="1305"/>
                    </a:lnTo>
                    <a:lnTo>
                      <a:pt x="1817" y="1304"/>
                    </a:lnTo>
                    <a:lnTo>
                      <a:pt x="1819" y="1302"/>
                    </a:lnTo>
                    <a:lnTo>
                      <a:pt x="1822" y="1300"/>
                    </a:lnTo>
                    <a:lnTo>
                      <a:pt x="1824" y="1299"/>
                    </a:lnTo>
                    <a:lnTo>
                      <a:pt x="1827" y="1299"/>
                    </a:lnTo>
                    <a:lnTo>
                      <a:pt x="1831" y="1297"/>
                    </a:lnTo>
                    <a:lnTo>
                      <a:pt x="1832" y="1295"/>
                    </a:lnTo>
                    <a:lnTo>
                      <a:pt x="1836" y="1293"/>
                    </a:lnTo>
                    <a:lnTo>
                      <a:pt x="1838" y="1292"/>
                    </a:lnTo>
                    <a:lnTo>
                      <a:pt x="1841" y="1290"/>
                    </a:lnTo>
                    <a:lnTo>
                      <a:pt x="1843" y="1288"/>
                    </a:lnTo>
                    <a:lnTo>
                      <a:pt x="1846" y="1286"/>
                    </a:lnTo>
                    <a:lnTo>
                      <a:pt x="1848" y="1285"/>
                    </a:lnTo>
                    <a:lnTo>
                      <a:pt x="1850" y="1283"/>
                    </a:lnTo>
                    <a:lnTo>
                      <a:pt x="1853" y="1281"/>
                    </a:lnTo>
                    <a:lnTo>
                      <a:pt x="1855" y="1279"/>
                    </a:lnTo>
                    <a:lnTo>
                      <a:pt x="1859" y="1278"/>
                    </a:lnTo>
                    <a:lnTo>
                      <a:pt x="1860" y="1276"/>
                    </a:lnTo>
                    <a:lnTo>
                      <a:pt x="1864" y="1274"/>
                    </a:lnTo>
                    <a:lnTo>
                      <a:pt x="1866" y="1271"/>
                    </a:lnTo>
                    <a:lnTo>
                      <a:pt x="1869" y="1269"/>
                    </a:lnTo>
                    <a:lnTo>
                      <a:pt x="1871" y="1267"/>
                    </a:lnTo>
                    <a:lnTo>
                      <a:pt x="1872" y="1265"/>
                    </a:lnTo>
                    <a:lnTo>
                      <a:pt x="1876" y="1264"/>
                    </a:lnTo>
                    <a:lnTo>
                      <a:pt x="1878" y="1262"/>
                    </a:lnTo>
                    <a:lnTo>
                      <a:pt x="1879" y="1260"/>
                    </a:lnTo>
                    <a:lnTo>
                      <a:pt x="1883" y="1258"/>
                    </a:lnTo>
                    <a:lnTo>
                      <a:pt x="1885" y="1257"/>
                    </a:lnTo>
                    <a:lnTo>
                      <a:pt x="1886" y="1253"/>
                    </a:lnTo>
                    <a:lnTo>
                      <a:pt x="1890" y="1252"/>
                    </a:lnTo>
                    <a:lnTo>
                      <a:pt x="1892" y="1250"/>
                    </a:lnTo>
                    <a:lnTo>
                      <a:pt x="1893" y="1248"/>
                    </a:lnTo>
                    <a:lnTo>
                      <a:pt x="1897" y="1246"/>
                    </a:lnTo>
                    <a:lnTo>
                      <a:pt x="1899" y="1245"/>
                    </a:lnTo>
                    <a:lnTo>
                      <a:pt x="1900" y="1243"/>
                    </a:lnTo>
                    <a:lnTo>
                      <a:pt x="1902" y="1239"/>
                    </a:lnTo>
                    <a:lnTo>
                      <a:pt x="1906" y="1238"/>
                    </a:lnTo>
                    <a:lnTo>
                      <a:pt x="1907" y="1236"/>
                    </a:lnTo>
                    <a:lnTo>
                      <a:pt x="1909" y="1234"/>
                    </a:lnTo>
                    <a:lnTo>
                      <a:pt x="1911" y="1232"/>
                    </a:lnTo>
                    <a:lnTo>
                      <a:pt x="1913" y="1229"/>
                    </a:lnTo>
                    <a:lnTo>
                      <a:pt x="1914" y="1227"/>
                    </a:lnTo>
                    <a:lnTo>
                      <a:pt x="1918" y="1225"/>
                    </a:lnTo>
                    <a:lnTo>
                      <a:pt x="1919" y="1224"/>
                    </a:lnTo>
                    <a:lnTo>
                      <a:pt x="1921" y="1220"/>
                    </a:lnTo>
                    <a:lnTo>
                      <a:pt x="1923" y="1218"/>
                    </a:lnTo>
                    <a:lnTo>
                      <a:pt x="1925" y="1217"/>
                    </a:lnTo>
                    <a:lnTo>
                      <a:pt x="1926" y="1215"/>
                    </a:lnTo>
                    <a:lnTo>
                      <a:pt x="1928" y="1211"/>
                    </a:lnTo>
                    <a:lnTo>
                      <a:pt x="1930" y="1210"/>
                    </a:lnTo>
                    <a:lnTo>
                      <a:pt x="1932" y="1208"/>
                    </a:lnTo>
                    <a:lnTo>
                      <a:pt x="1933" y="1206"/>
                    </a:lnTo>
                    <a:lnTo>
                      <a:pt x="1935" y="1203"/>
                    </a:lnTo>
                    <a:lnTo>
                      <a:pt x="1937" y="1201"/>
                    </a:lnTo>
                    <a:lnTo>
                      <a:pt x="1939" y="1199"/>
                    </a:lnTo>
                    <a:lnTo>
                      <a:pt x="1940" y="1196"/>
                    </a:lnTo>
                    <a:lnTo>
                      <a:pt x="1942" y="1194"/>
                    </a:lnTo>
                    <a:lnTo>
                      <a:pt x="1944" y="1192"/>
                    </a:lnTo>
                    <a:lnTo>
                      <a:pt x="1946" y="1189"/>
                    </a:lnTo>
                    <a:lnTo>
                      <a:pt x="1947" y="1187"/>
                    </a:lnTo>
                    <a:lnTo>
                      <a:pt x="1949" y="1185"/>
                    </a:lnTo>
                    <a:lnTo>
                      <a:pt x="1951" y="1182"/>
                    </a:lnTo>
                    <a:lnTo>
                      <a:pt x="1953" y="1180"/>
                    </a:lnTo>
                    <a:lnTo>
                      <a:pt x="1954" y="1178"/>
                    </a:lnTo>
                    <a:lnTo>
                      <a:pt x="1956" y="1175"/>
                    </a:lnTo>
                    <a:lnTo>
                      <a:pt x="1956" y="1173"/>
                    </a:lnTo>
                    <a:lnTo>
                      <a:pt x="1958" y="1170"/>
                    </a:lnTo>
                    <a:lnTo>
                      <a:pt x="1960" y="1168"/>
                    </a:lnTo>
                    <a:lnTo>
                      <a:pt x="1961" y="1166"/>
                    </a:lnTo>
                    <a:lnTo>
                      <a:pt x="1963" y="1163"/>
                    </a:lnTo>
                    <a:lnTo>
                      <a:pt x="1963" y="1161"/>
                    </a:lnTo>
                    <a:lnTo>
                      <a:pt x="1965" y="1158"/>
                    </a:lnTo>
                    <a:lnTo>
                      <a:pt x="1966" y="1156"/>
                    </a:lnTo>
                    <a:lnTo>
                      <a:pt x="1966" y="1154"/>
                    </a:lnTo>
                    <a:lnTo>
                      <a:pt x="1968" y="1151"/>
                    </a:lnTo>
                    <a:lnTo>
                      <a:pt x="1970" y="1149"/>
                    </a:lnTo>
                    <a:lnTo>
                      <a:pt x="1970" y="1145"/>
                    </a:lnTo>
                    <a:lnTo>
                      <a:pt x="1972" y="1144"/>
                    </a:lnTo>
                    <a:lnTo>
                      <a:pt x="1973" y="1142"/>
                    </a:lnTo>
                    <a:lnTo>
                      <a:pt x="1973" y="1138"/>
                    </a:lnTo>
                    <a:lnTo>
                      <a:pt x="1975" y="1137"/>
                    </a:lnTo>
                    <a:lnTo>
                      <a:pt x="1977" y="1133"/>
                    </a:lnTo>
                    <a:lnTo>
                      <a:pt x="1977" y="1131"/>
                    </a:lnTo>
                    <a:lnTo>
                      <a:pt x="1979" y="1128"/>
                    </a:lnTo>
                    <a:lnTo>
                      <a:pt x="1979" y="1126"/>
                    </a:lnTo>
                    <a:lnTo>
                      <a:pt x="1980" y="1123"/>
                    </a:lnTo>
                    <a:lnTo>
                      <a:pt x="1980" y="1121"/>
                    </a:lnTo>
                    <a:lnTo>
                      <a:pt x="1982" y="1117"/>
                    </a:lnTo>
                    <a:lnTo>
                      <a:pt x="1982" y="1116"/>
                    </a:lnTo>
                    <a:lnTo>
                      <a:pt x="1982" y="1112"/>
                    </a:lnTo>
                    <a:lnTo>
                      <a:pt x="1984" y="1111"/>
                    </a:lnTo>
                    <a:lnTo>
                      <a:pt x="1984" y="1107"/>
                    </a:lnTo>
                    <a:lnTo>
                      <a:pt x="1986" y="1105"/>
                    </a:lnTo>
                    <a:lnTo>
                      <a:pt x="1986" y="1102"/>
                    </a:lnTo>
                    <a:lnTo>
                      <a:pt x="1986" y="1100"/>
                    </a:lnTo>
                    <a:lnTo>
                      <a:pt x="1987" y="1098"/>
                    </a:lnTo>
                    <a:lnTo>
                      <a:pt x="1987" y="1095"/>
                    </a:lnTo>
                    <a:lnTo>
                      <a:pt x="1987" y="1093"/>
                    </a:lnTo>
                    <a:lnTo>
                      <a:pt x="1987" y="1090"/>
                    </a:lnTo>
                    <a:lnTo>
                      <a:pt x="1989" y="1088"/>
                    </a:lnTo>
                    <a:lnTo>
                      <a:pt x="1989" y="1084"/>
                    </a:lnTo>
                    <a:lnTo>
                      <a:pt x="1989" y="1083"/>
                    </a:lnTo>
                    <a:lnTo>
                      <a:pt x="1991" y="1079"/>
                    </a:lnTo>
                    <a:lnTo>
                      <a:pt x="1991" y="1076"/>
                    </a:lnTo>
                    <a:lnTo>
                      <a:pt x="1991" y="1074"/>
                    </a:lnTo>
                    <a:lnTo>
                      <a:pt x="1991" y="1070"/>
                    </a:lnTo>
                    <a:lnTo>
                      <a:pt x="1991" y="1069"/>
                    </a:lnTo>
                    <a:lnTo>
                      <a:pt x="1991" y="1065"/>
                    </a:lnTo>
                    <a:lnTo>
                      <a:pt x="1991" y="1064"/>
                    </a:lnTo>
                    <a:lnTo>
                      <a:pt x="1991" y="1060"/>
                    </a:lnTo>
                    <a:lnTo>
                      <a:pt x="1991" y="1050"/>
                    </a:lnTo>
                    <a:moveTo>
                      <a:pt x="1054" y="1370"/>
                    </a:moveTo>
                    <a:lnTo>
                      <a:pt x="1058" y="1372"/>
                    </a:lnTo>
                    <a:lnTo>
                      <a:pt x="1061" y="1372"/>
                    </a:lnTo>
                    <a:lnTo>
                      <a:pt x="1065" y="1372"/>
                    </a:lnTo>
                    <a:lnTo>
                      <a:pt x="1068" y="1372"/>
                    </a:lnTo>
                    <a:lnTo>
                      <a:pt x="1072" y="1373"/>
                    </a:lnTo>
                    <a:lnTo>
                      <a:pt x="1075" y="1373"/>
                    </a:lnTo>
                    <a:lnTo>
                      <a:pt x="1079" y="1373"/>
                    </a:lnTo>
                    <a:lnTo>
                      <a:pt x="1082" y="1375"/>
                    </a:lnTo>
                    <a:lnTo>
                      <a:pt x="1086" y="1375"/>
                    </a:lnTo>
                    <a:lnTo>
                      <a:pt x="1089" y="1375"/>
                    </a:lnTo>
                    <a:lnTo>
                      <a:pt x="1093" y="1377"/>
                    </a:lnTo>
                    <a:lnTo>
                      <a:pt x="1096" y="1377"/>
                    </a:lnTo>
                    <a:lnTo>
                      <a:pt x="1100" y="1377"/>
                    </a:lnTo>
                    <a:lnTo>
                      <a:pt x="1101" y="1377"/>
                    </a:lnTo>
                    <a:lnTo>
                      <a:pt x="1105" y="1379"/>
                    </a:lnTo>
                    <a:lnTo>
                      <a:pt x="1108" y="1379"/>
                    </a:lnTo>
                    <a:lnTo>
                      <a:pt x="1112" y="1379"/>
                    </a:lnTo>
                    <a:lnTo>
                      <a:pt x="1115" y="1380"/>
                    </a:lnTo>
                    <a:lnTo>
                      <a:pt x="1119" y="1380"/>
                    </a:lnTo>
                    <a:lnTo>
                      <a:pt x="1122" y="1380"/>
                    </a:lnTo>
                    <a:lnTo>
                      <a:pt x="1126" y="1380"/>
                    </a:lnTo>
                    <a:lnTo>
                      <a:pt x="1129" y="1382"/>
                    </a:lnTo>
                    <a:lnTo>
                      <a:pt x="1133" y="1382"/>
                    </a:lnTo>
                    <a:lnTo>
                      <a:pt x="1136" y="1382"/>
                    </a:lnTo>
                    <a:lnTo>
                      <a:pt x="1140" y="1382"/>
                    </a:lnTo>
                    <a:lnTo>
                      <a:pt x="1143" y="1384"/>
                    </a:lnTo>
                    <a:lnTo>
                      <a:pt x="1147" y="1384"/>
                    </a:lnTo>
                    <a:lnTo>
                      <a:pt x="1150" y="1384"/>
                    </a:lnTo>
                    <a:lnTo>
                      <a:pt x="1154" y="1384"/>
                    </a:lnTo>
                    <a:lnTo>
                      <a:pt x="1157" y="1386"/>
                    </a:lnTo>
                    <a:lnTo>
                      <a:pt x="1161" y="1386"/>
                    </a:lnTo>
                    <a:lnTo>
                      <a:pt x="1164" y="1386"/>
                    </a:lnTo>
                    <a:lnTo>
                      <a:pt x="1166" y="1386"/>
                    </a:lnTo>
                    <a:lnTo>
                      <a:pt x="1169" y="1387"/>
                    </a:lnTo>
                    <a:lnTo>
                      <a:pt x="1173" y="1387"/>
                    </a:lnTo>
                    <a:lnTo>
                      <a:pt x="1176" y="1387"/>
                    </a:lnTo>
                    <a:lnTo>
                      <a:pt x="1180" y="1389"/>
                    </a:lnTo>
                    <a:lnTo>
                      <a:pt x="1183" y="1389"/>
                    </a:lnTo>
                    <a:lnTo>
                      <a:pt x="1187" y="1389"/>
                    </a:lnTo>
                    <a:lnTo>
                      <a:pt x="1190" y="1389"/>
                    </a:lnTo>
                    <a:moveTo>
                      <a:pt x="1422" y="1534"/>
                    </a:moveTo>
                    <a:lnTo>
                      <a:pt x="1425" y="1535"/>
                    </a:lnTo>
                    <a:lnTo>
                      <a:pt x="1429" y="1537"/>
                    </a:lnTo>
                    <a:lnTo>
                      <a:pt x="1430" y="1537"/>
                    </a:lnTo>
                    <a:lnTo>
                      <a:pt x="1434" y="1539"/>
                    </a:lnTo>
                    <a:lnTo>
                      <a:pt x="1437" y="1539"/>
                    </a:lnTo>
                    <a:lnTo>
                      <a:pt x="1441" y="1541"/>
                    </a:lnTo>
                    <a:lnTo>
                      <a:pt x="1444" y="1542"/>
                    </a:lnTo>
                    <a:lnTo>
                      <a:pt x="1448" y="1542"/>
                    </a:lnTo>
                    <a:lnTo>
                      <a:pt x="1450" y="1544"/>
                    </a:lnTo>
                    <a:lnTo>
                      <a:pt x="1453" y="1544"/>
                    </a:lnTo>
                    <a:lnTo>
                      <a:pt x="1457" y="1546"/>
                    </a:lnTo>
                    <a:lnTo>
                      <a:pt x="1460" y="1546"/>
                    </a:lnTo>
                    <a:lnTo>
                      <a:pt x="1463" y="1547"/>
                    </a:lnTo>
                    <a:lnTo>
                      <a:pt x="1467" y="1549"/>
                    </a:lnTo>
                    <a:lnTo>
                      <a:pt x="1469" y="1549"/>
                    </a:lnTo>
                    <a:lnTo>
                      <a:pt x="1472" y="1551"/>
                    </a:lnTo>
                    <a:lnTo>
                      <a:pt x="1476" y="1551"/>
                    </a:lnTo>
                    <a:lnTo>
                      <a:pt x="1479" y="1553"/>
                    </a:lnTo>
                    <a:lnTo>
                      <a:pt x="1483" y="1553"/>
                    </a:lnTo>
                    <a:lnTo>
                      <a:pt x="1486" y="1554"/>
                    </a:lnTo>
                    <a:lnTo>
                      <a:pt x="1490" y="1554"/>
                    </a:lnTo>
                    <a:lnTo>
                      <a:pt x="1491" y="1556"/>
                    </a:lnTo>
                    <a:lnTo>
                      <a:pt x="1495" y="1556"/>
                    </a:lnTo>
                    <a:lnTo>
                      <a:pt x="1498" y="1558"/>
                    </a:lnTo>
                    <a:lnTo>
                      <a:pt x="1502" y="1558"/>
                    </a:lnTo>
                    <a:lnTo>
                      <a:pt x="1505" y="1560"/>
                    </a:lnTo>
                    <a:lnTo>
                      <a:pt x="1509" y="1560"/>
                    </a:lnTo>
                    <a:lnTo>
                      <a:pt x="1512" y="1561"/>
                    </a:lnTo>
                    <a:lnTo>
                      <a:pt x="1516" y="1563"/>
                    </a:lnTo>
                    <a:lnTo>
                      <a:pt x="1517" y="1563"/>
                    </a:lnTo>
                    <a:lnTo>
                      <a:pt x="1521" y="1565"/>
                    </a:lnTo>
                    <a:lnTo>
                      <a:pt x="1524" y="1565"/>
                    </a:lnTo>
                    <a:lnTo>
                      <a:pt x="1528" y="1567"/>
                    </a:lnTo>
                    <a:lnTo>
                      <a:pt x="1531" y="1567"/>
                    </a:lnTo>
                    <a:lnTo>
                      <a:pt x="1535" y="1568"/>
                    </a:lnTo>
                    <a:lnTo>
                      <a:pt x="1538" y="1568"/>
                    </a:lnTo>
                    <a:lnTo>
                      <a:pt x="1540" y="1568"/>
                    </a:lnTo>
                    <a:lnTo>
                      <a:pt x="1544" y="1570"/>
                    </a:lnTo>
                    <a:lnTo>
                      <a:pt x="1547" y="1572"/>
                    </a:lnTo>
                    <a:lnTo>
                      <a:pt x="1550" y="1572"/>
                    </a:lnTo>
                    <a:lnTo>
                      <a:pt x="1554" y="1572"/>
                    </a:lnTo>
                    <a:lnTo>
                      <a:pt x="1557" y="1574"/>
                    </a:lnTo>
                    <a:lnTo>
                      <a:pt x="1561" y="1574"/>
                    </a:lnTo>
                    <a:lnTo>
                      <a:pt x="1564" y="1575"/>
                    </a:lnTo>
                    <a:lnTo>
                      <a:pt x="1568" y="1575"/>
                    </a:lnTo>
                    <a:lnTo>
                      <a:pt x="1570" y="1577"/>
                    </a:lnTo>
                    <a:lnTo>
                      <a:pt x="1573" y="1577"/>
                    </a:lnTo>
                    <a:lnTo>
                      <a:pt x="1577" y="1579"/>
                    </a:lnTo>
                    <a:lnTo>
                      <a:pt x="1580" y="1579"/>
                    </a:lnTo>
                    <a:lnTo>
                      <a:pt x="1584" y="1581"/>
                    </a:lnTo>
                    <a:lnTo>
                      <a:pt x="1587" y="1581"/>
                    </a:lnTo>
                    <a:lnTo>
                      <a:pt x="1591" y="1581"/>
                    </a:lnTo>
                    <a:lnTo>
                      <a:pt x="1594" y="1582"/>
                    </a:lnTo>
                    <a:lnTo>
                      <a:pt x="1597" y="1582"/>
                    </a:lnTo>
                    <a:lnTo>
                      <a:pt x="1601" y="1584"/>
                    </a:lnTo>
                    <a:lnTo>
                      <a:pt x="1603" y="1584"/>
                    </a:lnTo>
                    <a:lnTo>
                      <a:pt x="1606" y="1586"/>
                    </a:lnTo>
                    <a:lnTo>
                      <a:pt x="1610" y="1586"/>
                    </a:lnTo>
                    <a:lnTo>
                      <a:pt x="1613" y="1586"/>
                    </a:lnTo>
                    <a:lnTo>
                      <a:pt x="1617" y="1588"/>
                    </a:lnTo>
                    <a:lnTo>
                      <a:pt x="1620" y="1588"/>
                    </a:lnTo>
                    <a:lnTo>
                      <a:pt x="1624" y="1589"/>
                    </a:lnTo>
                    <a:lnTo>
                      <a:pt x="1627" y="1589"/>
                    </a:lnTo>
                    <a:lnTo>
                      <a:pt x="1631" y="1589"/>
                    </a:lnTo>
                    <a:lnTo>
                      <a:pt x="1634" y="1591"/>
                    </a:lnTo>
                    <a:lnTo>
                      <a:pt x="1638" y="1591"/>
                    </a:lnTo>
                    <a:lnTo>
                      <a:pt x="1641" y="1591"/>
                    </a:lnTo>
                    <a:lnTo>
                      <a:pt x="1644" y="1593"/>
                    </a:lnTo>
                    <a:lnTo>
                      <a:pt x="1646" y="1593"/>
                    </a:lnTo>
                    <a:lnTo>
                      <a:pt x="1650" y="1594"/>
                    </a:lnTo>
                    <a:lnTo>
                      <a:pt x="1653" y="1594"/>
                    </a:lnTo>
                    <a:lnTo>
                      <a:pt x="1657" y="1594"/>
                    </a:lnTo>
                    <a:lnTo>
                      <a:pt x="1660" y="1596"/>
                    </a:lnTo>
                    <a:lnTo>
                      <a:pt x="1664" y="1596"/>
                    </a:lnTo>
                    <a:lnTo>
                      <a:pt x="1667" y="1596"/>
                    </a:lnTo>
                    <a:lnTo>
                      <a:pt x="1671" y="1598"/>
                    </a:lnTo>
                    <a:lnTo>
                      <a:pt x="1674" y="1598"/>
                    </a:lnTo>
                    <a:lnTo>
                      <a:pt x="1678" y="1598"/>
                    </a:lnTo>
                    <a:lnTo>
                      <a:pt x="1681" y="1600"/>
                    </a:lnTo>
                    <a:lnTo>
                      <a:pt x="1685" y="1600"/>
                    </a:lnTo>
                    <a:lnTo>
                      <a:pt x="1688" y="1600"/>
                    </a:lnTo>
                    <a:lnTo>
                      <a:pt x="1691" y="1601"/>
                    </a:lnTo>
                    <a:lnTo>
                      <a:pt x="1693" y="1601"/>
                    </a:lnTo>
                    <a:lnTo>
                      <a:pt x="1697" y="1601"/>
                    </a:lnTo>
                    <a:lnTo>
                      <a:pt x="1700" y="1603"/>
                    </a:lnTo>
                    <a:lnTo>
                      <a:pt x="1704" y="1603"/>
                    </a:lnTo>
                    <a:lnTo>
                      <a:pt x="1707" y="1603"/>
                    </a:lnTo>
                    <a:lnTo>
                      <a:pt x="1711" y="1605"/>
                    </a:lnTo>
                    <a:lnTo>
                      <a:pt x="1714" y="1605"/>
                    </a:lnTo>
                    <a:lnTo>
                      <a:pt x="1718" y="1605"/>
                    </a:lnTo>
                    <a:lnTo>
                      <a:pt x="1721" y="1605"/>
                    </a:lnTo>
                    <a:lnTo>
                      <a:pt x="1725" y="1607"/>
                    </a:lnTo>
                    <a:lnTo>
                      <a:pt x="1728" y="1607"/>
                    </a:lnTo>
                    <a:lnTo>
                      <a:pt x="1731" y="1607"/>
                    </a:lnTo>
                    <a:lnTo>
                      <a:pt x="1735" y="1608"/>
                    </a:lnTo>
                    <a:lnTo>
                      <a:pt x="1738" y="1608"/>
                    </a:lnTo>
                    <a:lnTo>
                      <a:pt x="1742" y="1608"/>
                    </a:lnTo>
                    <a:lnTo>
                      <a:pt x="1745" y="1608"/>
                    </a:lnTo>
                    <a:lnTo>
                      <a:pt x="1749" y="1610"/>
                    </a:lnTo>
                    <a:lnTo>
                      <a:pt x="1752" y="1610"/>
                    </a:lnTo>
                    <a:lnTo>
                      <a:pt x="1756" y="1610"/>
                    </a:lnTo>
                    <a:lnTo>
                      <a:pt x="1759" y="1610"/>
                    </a:lnTo>
                    <a:lnTo>
                      <a:pt x="1763" y="1612"/>
                    </a:lnTo>
                    <a:lnTo>
                      <a:pt x="1765" y="1612"/>
                    </a:lnTo>
                    <a:lnTo>
                      <a:pt x="1768" y="1612"/>
                    </a:lnTo>
                    <a:lnTo>
                      <a:pt x="1772" y="1612"/>
                    </a:lnTo>
                    <a:lnTo>
                      <a:pt x="1775" y="1614"/>
                    </a:lnTo>
                    <a:lnTo>
                      <a:pt x="1778" y="1614"/>
                    </a:lnTo>
                    <a:lnTo>
                      <a:pt x="1782" y="1614"/>
                    </a:lnTo>
                    <a:lnTo>
                      <a:pt x="1785" y="1614"/>
                    </a:lnTo>
                    <a:lnTo>
                      <a:pt x="1789" y="1614"/>
                    </a:lnTo>
                    <a:lnTo>
                      <a:pt x="1792" y="1615"/>
                    </a:lnTo>
                    <a:lnTo>
                      <a:pt x="1796" y="1615"/>
                    </a:lnTo>
                    <a:lnTo>
                      <a:pt x="1799" y="1615"/>
                    </a:lnTo>
                    <a:lnTo>
                      <a:pt x="1803" y="1615"/>
                    </a:lnTo>
                    <a:lnTo>
                      <a:pt x="1806" y="1615"/>
                    </a:lnTo>
                    <a:lnTo>
                      <a:pt x="1810" y="1617"/>
                    </a:lnTo>
                    <a:lnTo>
                      <a:pt x="1813" y="1617"/>
                    </a:lnTo>
                    <a:lnTo>
                      <a:pt x="1817" y="1617"/>
                    </a:lnTo>
                    <a:lnTo>
                      <a:pt x="1820" y="1617"/>
                    </a:lnTo>
                    <a:lnTo>
                      <a:pt x="1824" y="1617"/>
                    </a:lnTo>
                    <a:lnTo>
                      <a:pt x="1827" y="1617"/>
                    </a:lnTo>
                    <a:lnTo>
                      <a:pt x="1831" y="1619"/>
                    </a:lnTo>
                    <a:lnTo>
                      <a:pt x="1834" y="1619"/>
                    </a:lnTo>
                    <a:lnTo>
                      <a:pt x="1838" y="1619"/>
                    </a:lnTo>
                    <a:lnTo>
                      <a:pt x="1841" y="1619"/>
                    </a:lnTo>
                    <a:lnTo>
                      <a:pt x="1845" y="1619"/>
                    </a:lnTo>
                    <a:lnTo>
                      <a:pt x="1848" y="1619"/>
                    </a:lnTo>
                    <a:lnTo>
                      <a:pt x="1852" y="1619"/>
                    </a:lnTo>
                    <a:lnTo>
                      <a:pt x="1855" y="1621"/>
                    </a:lnTo>
                    <a:lnTo>
                      <a:pt x="1859" y="1621"/>
                    </a:lnTo>
                    <a:lnTo>
                      <a:pt x="1862" y="1621"/>
                    </a:lnTo>
                    <a:lnTo>
                      <a:pt x="1866" y="1621"/>
                    </a:lnTo>
                    <a:lnTo>
                      <a:pt x="1869" y="1621"/>
                    </a:lnTo>
                    <a:lnTo>
                      <a:pt x="1872" y="1621"/>
                    </a:lnTo>
                    <a:lnTo>
                      <a:pt x="1876" y="1621"/>
                    </a:lnTo>
                    <a:lnTo>
                      <a:pt x="1879" y="1622"/>
                    </a:lnTo>
                    <a:lnTo>
                      <a:pt x="1883" y="1622"/>
                    </a:lnTo>
                    <a:lnTo>
                      <a:pt x="1886" y="1622"/>
                    </a:lnTo>
                    <a:lnTo>
                      <a:pt x="1890" y="1622"/>
                    </a:lnTo>
                    <a:lnTo>
                      <a:pt x="1892" y="1622"/>
                    </a:lnTo>
                    <a:lnTo>
                      <a:pt x="1895" y="1622"/>
                    </a:lnTo>
                    <a:lnTo>
                      <a:pt x="1899" y="1622"/>
                    </a:lnTo>
                    <a:lnTo>
                      <a:pt x="1904" y="1622"/>
                    </a:lnTo>
                    <a:lnTo>
                      <a:pt x="1906" y="1622"/>
                    </a:lnTo>
                    <a:lnTo>
                      <a:pt x="1909" y="1622"/>
                    </a:lnTo>
                    <a:lnTo>
                      <a:pt x="1913" y="1622"/>
                    </a:lnTo>
                    <a:lnTo>
                      <a:pt x="1916" y="1622"/>
                    </a:lnTo>
                    <a:lnTo>
                      <a:pt x="1919" y="1622"/>
                    </a:lnTo>
                    <a:lnTo>
                      <a:pt x="1923" y="1624"/>
                    </a:lnTo>
                    <a:lnTo>
                      <a:pt x="1926" y="1624"/>
                    </a:lnTo>
                    <a:lnTo>
                      <a:pt x="1930" y="1624"/>
                    </a:lnTo>
                    <a:lnTo>
                      <a:pt x="1933" y="1624"/>
                    </a:lnTo>
                    <a:lnTo>
                      <a:pt x="1937" y="1624"/>
                    </a:lnTo>
                    <a:lnTo>
                      <a:pt x="1940" y="1624"/>
                    </a:lnTo>
                    <a:lnTo>
                      <a:pt x="1944" y="1624"/>
                    </a:lnTo>
                    <a:lnTo>
                      <a:pt x="1947" y="1624"/>
                    </a:lnTo>
                    <a:lnTo>
                      <a:pt x="1951" y="1624"/>
                    </a:lnTo>
                    <a:lnTo>
                      <a:pt x="1954" y="1624"/>
                    </a:lnTo>
                    <a:lnTo>
                      <a:pt x="1958" y="1624"/>
                    </a:lnTo>
                    <a:lnTo>
                      <a:pt x="1961" y="1624"/>
                    </a:lnTo>
                    <a:lnTo>
                      <a:pt x="1965" y="1624"/>
                    </a:lnTo>
                    <a:lnTo>
                      <a:pt x="1968" y="1624"/>
                    </a:lnTo>
                    <a:lnTo>
                      <a:pt x="1972" y="1624"/>
                    </a:lnTo>
                    <a:lnTo>
                      <a:pt x="1975" y="1624"/>
                    </a:lnTo>
                    <a:lnTo>
                      <a:pt x="1979" y="1624"/>
                    </a:lnTo>
                    <a:lnTo>
                      <a:pt x="1982" y="1624"/>
                    </a:lnTo>
                    <a:lnTo>
                      <a:pt x="1986" y="1624"/>
                    </a:lnTo>
                    <a:lnTo>
                      <a:pt x="1989" y="1624"/>
                    </a:lnTo>
                    <a:lnTo>
                      <a:pt x="1993" y="1624"/>
                    </a:lnTo>
                    <a:lnTo>
                      <a:pt x="1996" y="1624"/>
                    </a:lnTo>
                    <a:lnTo>
                      <a:pt x="2000" y="1624"/>
                    </a:lnTo>
                    <a:lnTo>
                      <a:pt x="2003" y="1624"/>
                    </a:lnTo>
                    <a:lnTo>
                      <a:pt x="2006" y="1624"/>
                    </a:lnTo>
                    <a:lnTo>
                      <a:pt x="2010" y="1622"/>
                    </a:lnTo>
                    <a:lnTo>
                      <a:pt x="2013" y="1622"/>
                    </a:lnTo>
                    <a:lnTo>
                      <a:pt x="2017" y="1622"/>
                    </a:lnTo>
                    <a:lnTo>
                      <a:pt x="2020" y="1622"/>
                    </a:lnTo>
                    <a:lnTo>
                      <a:pt x="2024" y="1622"/>
                    </a:lnTo>
                    <a:lnTo>
                      <a:pt x="2027" y="1622"/>
                    </a:lnTo>
                    <a:lnTo>
                      <a:pt x="2031" y="1622"/>
                    </a:lnTo>
                    <a:lnTo>
                      <a:pt x="2034" y="1622"/>
                    </a:lnTo>
                    <a:lnTo>
                      <a:pt x="2038" y="1622"/>
                    </a:lnTo>
                    <a:lnTo>
                      <a:pt x="2041" y="1622"/>
                    </a:lnTo>
                    <a:lnTo>
                      <a:pt x="2045" y="1622"/>
                    </a:lnTo>
                    <a:lnTo>
                      <a:pt x="2048" y="1622"/>
                    </a:lnTo>
                    <a:lnTo>
                      <a:pt x="2052" y="1622"/>
                    </a:lnTo>
                    <a:lnTo>
                      <a:pt x="2055" y="1621"/>
                    </a:lnTo>
                    <a:lnTo>
                      <a:pt x="2059" y="1621"/>
                    </a:lnTo>
                    <a:lnTo>
                      <a:pt x="2062" y="1621"/>
                    </a:lnTo>
                    <a:lnTo>
                      <a:pt x="2066" y="1621"/>
                    </a:lnTo>
                    <a:lnTo>
                      <a:pt x="2069" y="1621"/>
                    </a:lnTo>
                    <a:lnTo>
                      <a:pt x="2073" y="1621"/>
                    </a:lnTo>
                    <a:lnTo>
                      <a:pt x="2076" y="1621"/>
                    </a:lnTo>
                    <a:lnTo>
                      <a:pt x="2080" y="1619"/>
                    </a:lnTo>
                    <a:lnTo>
                      <a:pt x="2083" y="1619"/>
                    </a:lnTo>
                    <a:lnTo>
                      <a:pt x="2087" y="1619"/>
                    </a:lnTo>
                    <a:lnTo>
                      <a:pt x="2088" y="1619"/>
                    </a:lnTo>
                    <a:lnTo>
                      <a:pt x="2092" y="1619"/>
                    </a:lnTo>
                    <a:lnTo>
                      <a:pt x="2097" y="1619"/>
                    </a:lnTo>
                    <a:lnTo>
                      <a:pt x="2100" y="1617"/>
                    </a:lnTo>
                    <a:lnTo>
                      <a:pt x="2102" y="1617"/>
                    </a:lnTo>
                    <a:lnTo>
                      <a:pt x="2106" y="1617"/>
                    </a:lnTo>
                    <a:lnTo>
                      <a:pt x="2109" y="1617"/>
                    </a:lnTo>
                    <a:lnTo>
                      <a:pt x="2113" y="1617"/>
                    </a:lnTo>
                    <a:lnTo>
                      <a:pt x="2116" y="1617"/>
                    </a:lnTo>
                    <a:lnTo>
                      <a:pt x="2120" y="1615"/>
                    </a:lnTo>
                    <a:lnTo>
                      <a:pt x="2123" y="1615"/>
                    </a:lnTo>
                    <a:lnTo>
                      <a:pt x="2127" y="1615"/>
                    </a:lnTo>
                    <a:lnTo>
                      <a:pt x="2130" y="1615"/>
                    </a:lnTo>
                    <a:lnTo>
                      <a:pt x="2134" y="1614"/>
                    </a:lnTo>
                    <a:lnTo>
                      <a:pt x="2137" y="1614"/>
                    </a:lnTo>
                    <a:lnTo>
                      <a:pt x="2141" y="1614"/>
                    </a:lnTo>
                    <a:lnTo>
                      <a:pt x="2144" y="1614"/>
                    </a:lnTo>
                    <a:lnTo>
                      <a:pt x="2147" y="1614"/>
                    </a:lnTo>
                    <a:lnTo>
                      <a:pt x="2151" y="1612"/>
                    </a:lnTo>
                    <a:lnTo>
                      <a:pt x="2154" y="1612"/>
                    </a:lnTo>
                    <a:lnTo>
                      <a:pt x="2158" y="1612"/>
                    </a:lnTo>
                    <a:lnTo>
                      <a:pt x="2161" y="1612"/>
                    </a:lnTo>
                    <a:lnTo>
                      <a:pt x="2165" y="1610"/>
                    </a:lnTo>
                    <a:lnTo>
                      <a:pt x="2168" y="1610"/>
                    </a:lnTo>
                    <a:lnTo>
                      <a:pt x="2172" y="1610"/>
                    </a:lnTo>
                    <a:lnTo>
                      <a:pt x="2175" y="1610"/>
                    </a:lnTo>
                    <a:lnTo>
                      <a:pt x="2179" y="1608"/>
                    </a:lnTo>
                    <a:lnTo>
                      <a:pt x="2182" y="1608"/>
                    </a:lnTo>
                    <a:lnTo>
                      <a:pt x="2184" y="1608"/>
                    </a:lnTo>
                    <a:lnTo>
                      <a:pt x="2188" y="1607"/>
                    </a:lnTo>
                    <a:lnTo>
                      <a:pt x="2191" y="1607"/>
                    </a:lnTo>
                    <a:moveTo>
                      <a:pt x="1053" y="1375"/>
                    </a:moveTo>
                    <a:lnTo>
                      <a:pt x="1056" y="1375"/>
                    </a:lnTo>
                    <a:lnTo>
                      <a:pt x="1058" y="1377"/>
                    </a:lnTo>
                    <a:lnTo>
                      <a:pt x="1061" y="1379"/>
                    </a:lnTo>
                    <a:lnTo>
                      <a:pt x="1065" y="1380"/>
                    </a:lnTo>
                    <a:lnTo>
                      <a:pt x="1067" y="1382"/>
                    </a:lnTo>
                    <a:lnTo>
                      <a:pt x="1070" y="1384"/>
                    </a:lnTo>
                    <a:lnTo>
                      <a:pt x="1074" y="1384"/>
                    </a:lnTo>
                    <a:lnTo>
                      <a:pt x="1075" y="1386"/>
                    </a:lnTo>
                    <a:lnTo>
                      <a:pt x="1079" y="1387"/>
                    </a:lnTo>
                    <a:lnTo>
                      <a:pt x="1081" y="1389"/>
                    </a:lnTo>
                    <a:lnTo>
                      <a:pt x="1084" y="1391"/>
                    </a:lnTo>
                    <a:lnTo>
                      <a:pt x="1088" y="1391"/>
                    </a:lnTo>
                    <a:lnTo>
                      <a:pt x="1089" y="1393"/>
                    </a:lnTo>
                    <a:lnTo>
                      <a:pt x="1093" y="1394"/>
                    </a:lnTo>
                    <a:lnTo>
                      <a:pt x="1096" y="1396"/>
                    </a:lnTo>
                    <a:lnTo>
                      <a:pt x="1098" y="1398"/>
                    </a:lnTo>
                    <a:lnTo>
                      <a:pt x="1101" y="1400"/>
                    </a:lnTo>
                    <a:lnTo>
                      <a:pt x="1105" y="1400"/>
                    </a:lnTo>
                    <a:lnTo>
                      <a:pt x="1107" y="1401"/>
                    </a:lnTo>
                    <a:lnTo>
                      <a:pt x="1110" y="1403"/>
                    </a:lnTo>
                    <a:lnTo>
                      <a:pt x="1114" y="1405"/>
                    </a:lnTo>
                    <a:lnTo>
                      <a:pt x="1115" y="1406"/>
                    </a:lnTo>
                    <a:lnTo>
                      <a:pt x="1119" y="1408"/>
                    </a:lnTo>
                    <a:lnTo>
                      <a:pt x="1122" y="1408"/>
                    </a:lnTo>
                    <a:lnTo>
                      <a:pt x="1124" y="1410"/>
                    </a:lnTo>
                    <a:lnTo>
                      <a:pt x="1128" y="1412"/>
                    </a:lnTo>
                    <a:lnTo>
                      <a:pt x="1131" y="1413"/>
                    </a:lnTo>
                    <a:lnTo>
                      <a:pt x="1133" y="1415"/>
                    </a:lnTo>
                    <a:lnTo>
                      <a:pt x="1136" y="1417"/>
                    </a:lnTo>
                    <a:lnTo>
                      <a:pt x="1140" y="1417"/>
                    </a:lnTo>
                    <a:lnTo>
                      <a:pt x="1141" y="1419"/>
                    </a:lnTo>
                    <a:lnTo>
                      <a:pt x="1145" y="1420"/>
                    </a:lnTo>
                    <a:lnTo>
                      <a:pt x="1148" y="1422"/>
                    </a:lnTo>
                    <a:lnTo>
                      <a:pt x="1150" y="1424"/>
                    </a:lnTo>
                    <a:lnTo>
                      <a:pt x="1154" y="1426"/>
                    </a:lnTo>
                    <a:lnTo>
                      <a:pt x="1157" y="1426"/>
                    </a:lnTo>
                    <a:lnTo>
                      <a:pt x="1159" y="1427"/>
                    </a:lnTo>
                    <a:lnTo>
                      <a:pt x="1162" y="1429"/>
                    </a:lnTo>
                    <a:lnTo>
                      <a:pt x="1166" y="1431"/>
                    </a:lnTo>
                    <a:lnTo>
                      <a:pt x="1169" y="1431"/>
                    </a:lnTo>
                    <a:lnTo>
                      <a:pt x="1171" y="1433"/>
                    </a:lnTo>
                    <a:lnTo>
                      <a:pt x="1175" y="1434"/>
                    </a:lnTo>
                    <a:lnTo>
                      <a:pt x="1178" y="1436"/>
                    </a:lnTo>
                    <a:lnTo>
                      <a:pt x="1180" y="1438"/>
                    </a:lnTo>
                    <a:lnTo>
                      <a:pt x="1183" y="1440"/>
                    </a:lnTo>
                    <a:lnTo>
                      <a:pt x="1187" y="1440"/>
                    </a:lnTo>
                    <a:lnTo>
                      <a:pt x="1188" y="1441"/>
                    </a:lnTo>
                    <a:lnTo>
                      <a:pt x="1192" y="1443"/>
                    </a:lnTo>
                    <a:lnTo>
                      <a:pt x="1195" y="1445"/>
                    </a:lnTo>
                    <a:lnTo>
                      <a:pt x="1197" y="1445"/>
                    </a:lnTo>
                    <a:lnTo>
                      <a:pt x="1201" y="1447"/>
                    </a:lnTo>
                    <a:lnTo>
                      <a:pt x="1204" y="1448"/>
                    </a:lnTo>
                    <a:lnTo>
                      <a:pt x="1206" y="1450"/>
                    </a:lnTo>
                    <a:lnTo>
                      <a:pt x="1209" y="1450"/>
                    </a:lnTo>
                    <a:lnTo>
                      <a:pt x="1213" y="1452"/>
                    </a:lnTo>
                    <a:lnTo>
                      <a:pt x="1216" y="1453"/>
                    </a:lnTo>
                    <a:lnTo>
                      <a:pt x="1218" y="1455"/>
                    </a:lnTo>
                    <a:lnTo>
                      <a:pt x="1222" y="1457"/>
                    </a:lnTo>
                    <a:lnTo>
                      <a:pt x="1225" y="1457"/>
                    </a:lnTo>
                    <a:lnTo>
                      <a:pt x="1229" y="1459"/>
                    </a:lnTo>
                    <a:lnTo>
                      <a:pt x="1230" y="1460"/>
                    </a:lnTo>
                    <a:lnTo>
                      <a:pt x="1234" y="1462"/>
                    </a:lnTo>
                    <a:lnTo>
                      <a:pt x="1237" y="1462"/>
                    </a:lnTo>
                    <a:lnTo>
                      <a:pt x="1239" y="1464"/>
                    </a:lnTo>
                    <a:lnTo>
                      <a:pt x="1242" y="1466"/>
                    </a:lnTo>
                    <a:lnTo>
                      <a:pt x="1246" y="1467"/>
                    </a:lnTo>
                    <a:lnTo>
                      <a:pt x="1248" y="1467"/>
                    </a:lnTo>
                    <a:lnTo>
                      <a:pt x="1251" y="1469"/>
                    </a:lnTo>
                    <a:lnTo>
                      <a:pt x="1255" y="1471"/>
                    </a:lnTo>
                    <a:lnTo>
                      <a:pt x="1258" y="1473"/>
                    </a:lnTo>
                    <a:lnTo>
                      <a:pt x="1260" y="1473"/>
                    </a:lnTo>
                    <a:lnTo>
                      <a:pt x="1263" y="1474"/>
                    </a:lnTo>
                    <a:lnTo>
                      <a:pt x="1267" y="1476"/>
                    </a:lnTo>
                    <a:lnTo>
                      <a:pt x="1270" y="1478"/>
                    </a:lnTo>
                    <a:lnTo>
                      <a:pt x="1272" y="1478"/>
                    </a:lnTo>
                    <a:lnTo>
                      <a:pt x="1275" y="1480"/>
                    </a:lnTo>
                    <a:lnTo>
                      <a:pt x="1279" y="1481"/>
                    </a:lnTo>
                    <a:lnTo>
                      <a:pt x="1282" y="1481"/>
                    </a:lnTo>
                    <a:lnTo>
                      <a:pt x="1284" y="1483"/>
                    </a:lnTo>
                    <a:lnTo>
                      <a:pt x="1288" y="1485"/>
                    </a:lnTo>
                    <a:lnTo>
                      <a:pt x="1291" y="1487"/>
                    </a:lnTo>
                    <a:lnTo>
                      <a:pt x="1295" y="1487"/>
                    </a:lnTo>
                    <a:lnTo>
                      <a:pt x="1296" y="1488"/>
                    </a:lnTo>
                    <a:lnTo>
                      <a:pt x="1300" y="1490"/>
                    </a:lnTo>
                    <a:lnTo>
                      <a:pt x="1303" y="1492"/>
                    </a:lnTo>
                    <a:lnTo>
                      <a:pt x="1307" y="1492"/>
                    </a:lnTo>
                    <a:lnTo>
                      <a:pt x="1309" y="1494"/>
                    </a:lnTo>
                    <a:lnTo>
                      <a:pt x="1312" y="1495"/>
                    </a:lnTo>
                    <a:lnTo>
                      <a:pt x="1316" y="1495"/>
                    </a:lnTo>
                    <a:lnTo>
                      <a:pt x="1319" y="1497"/>
                    </a:lnTo>
                    <a:lnTo>
                      <a:pt x="1321" y="1499"/>
                    </a:lnTo>
                    <a:lnTo>
                      <a:pt x="1324" y="1499"/>
                    </a:lnTo>
                    <a:lnTo>
                      <a:pt x="1328" y="1500"/>
                    </a:lnTo>
                    <a:lnTo>
                      <a:pt x="1331" y="1502"/>
                    </a:lnTo>
                    <a:lnTo>
                      <a:pt x="1335" y="1504"/>
                    </a:lnTo>
                    <a:lnTo>
                      <a:pt x="1336" y="1504"/>
                    </a:lnTo>
                    <a:lnTo>
                      <a:pt x="1340" y="1506"/>
                    </a:lnTo>
                    <a:lnTo>
                      <a:pt x="1343" y="1507"/>
                    </a:lnTo>
                    <a:lnTo>
                      <a:pt x="1347" y="1507"/>
                    </a:lnTo>
                    <a:lnTo>
                      <a:pt x="1349" y="1509"/>
                    </a:lnTo>
                    <a:lnTo>
                      <a:pt x="1352" y="1509"/>
                    </a:lnTo>
                    <a:lnTo>
                      <a:pt x="1356" y="1511"/>
                    </a:lnTo>
                    <a:lnTo>
                      <a:pt x="1359" y="1513"/>
                    </a:lnTo>
                    <a:lnTo>
                      <a:pt x="1363" y="1513"/>
                    </a:lnTo>
                    <a:lnTo>
                      <a:pt x="1364" y="1514"/>
                    </a:lnTo>
                    <a:lnTo>
                      <a:pt x="1368" y="1516"/>
                    </a:lnTo>
                    <a:lnTo>
                      <a:pt x="1371" y="1516"/>
                    </a:lnTo>
                    <a:lnTo>
                      <a:pt x="1375" y="1518"/>
                    </a:lnTo>
                    <a:lnTo>
                      <a:pt x="1376" y="1520"/>
                    </a:lnTo>
                    <a:lnTo>
                      <a:pt x="1380" y="1520"/>
                    </a:lnTo>
                    <a:lnTo>
                      <a:pt x="1383" y="1521"/>
                    </a:lnTo>
                    <a:lnTo>
                      <a:pt x="1387" y="1523"/>
                    </a:lnTo>
                    <a:lnTo>
                      <a:pt x="1390" y="1523"/>
                    </a:lnTo>
                    <a:lnTo>
                      <a:pt x="1394" y="1525"/>
                    </a:lnTo>
                    <a:lnTo>
                      <a:pt x="1396" y="1527"/>
                    </a:lnTo>
                    <a:lnTo>
                      <a:pt x="1399" y="1527"/>
                    </a:lnTo>
                    <a:lnTo>
                      <a:pt x="1403" y="1528"/>
                    </a:lnTo>
                    <a:lnTo>
                      <a:pt x="1406" y="1528"/>
                    </a:lnTo>
                    <a:lnTo>
                      <a:pt x="1410" y="1530"/>
                    </a:lnTo>
                    <a:lnTo>
                      <a:pt x="1411" y="1532"/>
                    </a:lnTo>
                    <a:lnTo>
                      <a:pt x="1415" y="1532"/>
                    </a:lnTo>
                    <a:lnTo>
                      <a:pt x="1418" y="1534"/>
                    </a:lnTo>
                    <a:lnTo>
                      <a:pt x="1422" y="1534"/>
                    </a:lnTo>
                    <a:moveTo>
                      <a:pt x="1229" y="1570"/>
                    </a:moveTo>
                    <a:lnTo>
                      <a:pt x="1230" y="1574"/>
                    </a:lnTo>
                    <a:lnTo>
                      <a:pt x="1232" y="1575"/>
                    </a:lnTo>
                    <a:lnTo>
                      <a:pt x="1234" y="1577"/>
                    </a:lnTo>
                    <a:lnTo>
                      <a:pt x="1237" y="1579"/>
                    </a:lnTo>
                    <a:lnTo>
                      <a:pt x="1239" y="1581"/>
                    </a:lnTo>
                    <a:lnTo>
                      <a:pt x="1241" y="1582"/>
                    </a:lnTo>
                    <a:lnTo>
                      <a:pt x="1242" y="1586"/>
                    </a:lnTo>
                    <a:lnTo>
                      <a:pt x="1246" y="1588"/>
                    </a:lnTo>
                    <a:lnTo>
                      <a:pt x="1248" y="1589"/>
                    </a:lnTo>
                    <a:lnTo>
                      <a:pt x="1249" y="1591"/>
                    </a:lnTo>
                    <a:lnTo>
                      <a:pt x="1251" y="1594"/>
                    </a:lnTo>
                    <a:lnTo>
                      <a:pt x="1253" y="1596"/>
                    </a:lnTo>
                    <a:lnTo>
                      <a:pt x="1256" y="1598"/>
                    </a:lnTo>
                    <a:lnTo>
                      <a:pt x="1258" y="1600"/>
                    </a:lnTo>
                    <a:lnTo>
                      <a:pt x="1260" y="1601"/>
                    </a:lnTo>
                    <a:lnTo>
                      <a:pt x="1262" y="1603"/>
                    </a:lnTo>
                    <a:lnTo>
                      <a:pt x="1265" y="1607"/>
                    </a:lnTo>
                    <a:lnTo>
                      <a:pt x="1267" y="1608"/>
                    </a:lnTo>
                    <a:lnTo>
                      <a:pt x="1269" y="1610"/>
                    </a:lnTo>
                    <a:lnTo>
                      <a:pt x="1270" y="1612"/>
                    </a:lnTo>
                    <a:lnTo>
                      <a:pt x="1274" y="1614"/>
                    </a:lnTo>
                    <a:lnTo>
                      <a:pt x="1275" y="1617"/>
                    </a:lnTo>
                    <a:lnTo>
                      <a:pt x="1277" y="1619"/>
                    </a:lnTo>
                    <a:lnTo>
                      <a:pt x="1279" y="1621"/>
                    </a:lnTo>
                    <a:lnTo>
                      <a:pt x="1282" y="1622"/>
                    </a:lnTo>
                    <a:lnTo>
                      <a:pt x="1284" y="1624"/>
                    </a:lnTo>
                    <a:lnTo>
                      <a:pt x="1286" y="1626"/>
                    </a:lnTo>
                    <a:lnTo>
                      <a:pt x="1288" y="1629"/>
                    </a:lnTo>
                    <a:lnTo>
                      <a:pt x="1289" y="1631"/>
                    </a:lnTo>
                    <a:lnTo>
                      <a:pt x="1293" y="1633"/>
                    </a:lnTo>
                    <a:lnTo>
                      <a:pt x="1295" y="1635"/>
                    </a:lnTo>
                    <a:lnTo>
                      <a:pt x="1296" y="1636"/>
                    </a:lnTo>
                    <a:lnTo>
                      <a:pt x="1298" y="1640"/>
                    </a:lnTo>
                    <a:lnTo>
                      <a:pt x="1302" y="1641"/>
                    </a:lnTo>
                    <a:lnTo>
                      <a:pt x="1303" y="1643"/>
                    </a:lnTo>
                    <a:lnTo>
                      <a:pt x="1305" y="1645"/>
                    </a:lnTo>
                    <a:lnTo>
                      <a:pt x="1307" y="1647"/>
                    </a:lnTo>
                    <a:lnTo>
                      <a:pt x="1310" y="1648"/>
                    </a:lnTo>
                    <a:lnTo>
                      <a:pt x="1312" y="1650"/>
                    </a:lnTo>
                    <a:lnTo>
                      <a:pt x="1314" y="1654"/>
                    </a:lnTo>
                    <a:lnTo>
                      <a:pt x="1317" y="1655"/>
                    </a:lnTo>
                    <a:lnTo>
                      <a:pt x="1319" y="1657"/>
                    </a:lnTo>
                    <a:lnTo>
                      <a:pt x="1321" y="1659"/>
                    </a:lnTo>
                    <a:lnTo>
                      <a:pt x="1322" y="1661"/>
                    </a:lnTo>
                    <a:lnTo>
                      <a:pt x="1326" y="1662"/>
                    </a:lnTo>
                    <a:lnTo>
                      <a:pt x="1328" y="1666"/>
                    </a:lnTo>
                    <a:lnTo>
                      <a:pt x="1329" y="1668"/>
                    </a:lnTo>
                    <a:lnTo>
                      <a:pt x="1333" y="1669"/>
                    </a:lnTo>
                    <a:lnTo>
                      <a:pt x="1335" y="1671"/>
                    </a:lnTo>
                    <a:lnTo>
                      <a:pt x="1336" y="1673"/>
                    </a:lnTo>
                    <a:lnTo>
                      <a:pt x="1338" y="1675"/>
                    </a:lnTo>
                    <a:lnTo>
                      <a:pt x="1342" y="1678"/>
                    </a:lnTo>
                    <a:lnTo>
                      <a:pt x="1343" y="1680"/>
                    </a:lnTo>
                    <a:lnTo>
                      <a:pt x="1345" y="1682"/>
                    </a:lnTo>
                    <a:lnTo>
                      <a:pt x="1349" y="1683"/>
                    </a:lnTo>
                    <a:lnTo>
                      <a:pt x="1350" y="1685"/>
                    </a:lnTo>
                    <a:lnTo>
                      <a:pt x="1352" y="1687"/>
                    </a:lnTo>
                    <a:lnTo>
                      <a:pt x="1356" y="1689"/>
                    </a:lnTo>
                    <a:lnTo>
                      <a:pt x="1357" y="1692"/>
                    </a:lnTo>
                    <a:lnTo>
                      <a:pt x="1359" y="1694"/>
                    </a:lnTo>
                    <a:lnTo>
                      <a:pt x="1361" y="1695"/>
                    </a:lnTo>
                    <a:lnTo>
                      <a:pt x="1364" y="1697"/>
                    </a:lnTo>
                    <a:lnTo>
                      <a:pt x="1366" y="1699"/>
                    </a:lnTo>
                    <a:lnTo>
                      <a:pt x="1368" y="1701"/>
                    </a:lnTo>
                    <a:lnTo>
                      <a:pt x="1371" y="1702"/>
                    </a:lnTo>
                    <a:lnTo>
                      <a:pt x="1373" y="1704"/>
                    </a:lnTo>
                    <a:lnTo>
                      <a:pt x="1375" y="1708"/>
                    </a:lnTo>
                    <a:lnTo>
                      <a:pt x="1378" y="1709"/>
                    </a:lnTo>
                    <a:lnTo>
                      <a:pt x="1380" y="1711"/>
                    </a:lnTo>
                    <a:lnTo>
                      <a:pt x="1382" y="1713"/>
                    </a:lnTo>
                    <a:lnTo>
                      <a:pt x="1385" y="1715"/>
                    </a:lnTo>
                    <a:lnTo>
                      <a:pt x="1387" y="1716"/>
                    </a:lnTo>
                    <a:lnTo>
                      <a:pt x="1389" y="1718"/>
                    </a:lnTo>
                    <a:lnTo>
                      <a:pt x="1392" y="1722"/>
                    </a:lnTo>
                    <a:lnTo>
                      <a:pt x="1394" y="1723"/>
                    </a:lnTo>
                    <a:lnTo>
                      <a:pt x="1396" y="1725"/>
                    </a:lnTo>
                    <a:lnTo>
                      <a:pt x="1399" y="1727"/>
                    </a:lnTo>
                    <a:lnTo>
                      <a:pt x="1401" y="1729"/>
                    </a:lnTo>
                    <a:lnTo>
                      <a:pt x="1403" y="1730"/>
                    </a:lnTo>
                    <a:lnTo>
                      <a:pt x="1406" y="1732"/>
                    </a:lnTo>
                    <a:lnTo>
                      <a:pt x="1408" y="1734"/>
                    </a:lnTo>
                    <a:lnTo>
                      <a:pt x="1410" y="1736"/>
                    </a:lnTo>
                    <a:lnTo>
                      <a:pt x="1413" y="1739"/>
                    </a:lnTo>
                    <a:lnTo>
                      <a:pt x="1415" y="1741"/>
                    </a:lnTo>
                    <a:lnTo>
                      <a:pt x="1416" y="1742"/>
                    </a:lnTo>
                    <a:lnTo>
                      <a:pt x="1420" y="1744"/>
                    </a:lnTo>
                    <a:lnTo>
                      <a:pt x="1422" y="1746"/>
                    </a:lnTo>
                    <a:lnTo>
                      <a:pt x="1423" y="1748"/>
                    </a:lnTo>
                    <a:lnTo>
                      <a:pt x="1427" y="1749"/>
                    </a:lnTo>
                    <a:lnTo>
                      <a:pt x="1429" y="1751"/>
                    </a:lnTo>
                    <a:lnTo>
                      <a:pt x="1430" y="1755"/>
                    </a:lnTo>
                    <a:lnTo>
                      <a:pt x="1434" y="1756"/>
                    </a:lnTo>
                    <a:lnTo>
                      <a:pt x="1436" y="1758"/>
                    </a:lnTo>
                    <a:lnTo>
                      <a:pt x="1437" y="1760"/>
                    </a:lnTo>
                    <a:lnTo>
                      <a:pt x="1441" y="1762"/>
                    </a:lnTo>
                    <a:lnTo>
                      <a:pt x="1443" y="1763"/>
                    </a:lnTo>
                    <a:lnTo>
                      <a:pt x="1444" y="1765"/>
                    </a:lnTo>
                    <a:lnTo>
                      <a:pt x="1448" y="1767"/>
                    </a:lnTo>
                    <a:lnTo>
                      <a:pt x="1450" y="1769"/>
                    </a:lnTo>
                    <a:lnTo>
                      <a:pt x="1453" y="1770"/>
                    </a:lnTo>
                    <a:lnTo>
                      <a:pt x="1455" y="1772"/>
                    </a:lnTo>
                    <a:lnTo>
                      <a:pt x="1457" y="1774"/>
                    </a:lnTo>
                    <a:lnTo>
                      <a:pt x="1460" y="1777"/>
                    </a:lnTo>
                    <a:lnTo>
                      <a:pt x="1462" y="1779"/>
                    </a:lnTo>
                    <a:lnTo>
                      <a:pt x="1465" y="1781"/>
                    </a:lnTo>
                    <a:lnTo>
                      <a:pt x="1467" y="1783"/>
                    </a:lnTo>
                    <a:lnTo>
                      <a:pt x="1469" y="1784"/>
                    </a:lnTo>
                    <a:lnTo>
                      <a:pt x="1472" y="1786"/>
                    </a:lnTo>
                    <a:lnTo>
                      <a:pt x="1474" y="1788"/>
                    </a:lnTo>
                    <a:lnTo>
                      <a:pt x="1476" y="1789"/>
                    </a:lnTo>
                    <a:lnTo>
                      <a:pt x="1479" y="1791"/>
                    </a:lnTo>
                    <a:lnTo>
                      <a:pt x="1481" y="1795"/>
                    </a:lnTo>
                    <a:lnTo>
                      <a:pt x="1484" y="1796"/>
                    </a:lnTo>
                    <a:lnTo>
                      <a:pt x="1486" y="1798"/>
                    </a:lnTo>
                    <a:lnTo>
                      <a:pt x="1488" y="1800"/>
                    </a:lnTo>
                    <a:lnTo>
                      <a:pt x="1491" y="1802"/>
                    </a:lnTo>
                    <a:lnTo>
                      <a:pt x="1493" y="1803"/>
                    </a:lnTo>
                    <a:lnTo>
                      <a:pt x="1495" y="1805"/>
                    </a:lnTo>
                    <a:lnTo>
                      <a:pt x="1498" y="1807"/>
                    </a:lnTo>
                    <a:lnTo>
                      <a:pt x="1500" y="1809"/>
                    </a:lnTo>
                    <a:lnTo>
                      <a:pt x="1503" y="1810"/>
                    </a:lnTo>
                    <a:lnTo>
                      <a:pt x="1505" y="1812"/>
                    </a:lnTo>
                    <a:lnTo>
                      <a:pt x="1509" y="1814"/>
                    </a:lnTo>
                    <a:lnTo>
                      <a:pt x="1510" y="1816"/>
                    </a:lnTo>
                    <a:lnTo>
                      <a:pt x="1512" y="1817"/>
                    </a:lnTo>
                    <a:lnTo>
                      <a:pt x="1516" y="1819"/>
                    </a:lnTo>
                    <a:lnTo>
                      <a:pt x="1517" y="1823"/>
                    </a:lnTo>
                    <a:lnTo>
                      <a:pt x="1521" y="1824"/>
                    </a:lnTo>
                    <a:lnTo>
                      <a:pt x="1523" y="1826"/>
                    </a:lnTo>
                    <a:lnTo>
                      <a:pt x="1524" y="1828"/>
                    </a:lnTo>
                    <a:lnTo>
                      <a:pt x="1528" y="1830"/>
                    </a:lnTo>
                    <a:lnTo>
                      <a:pt x="1530" y="1831"/>
                    </a:lnTo>
                    <a:lnTo>
                      <a:pt x="1533" y="1833"/>
                    </a:lnTo>
                    <a:lnTo>
                      <a:pt x="1535" y="1835"/>
                    </a:lnTo>
                    <a:lnTo>
                      <a:pt x="1538" y="1836"/>
                    </a:lnTo>
                    <a:lnTo>
                      <a:pt x="1540" y="1838"/>
                    </a:lnTo>
                    <a:lnTo>
                      <a:pt x="1542" y="1840"/>
                    </a:lnTo>
                    <a:lnTo>
                      <a:pt x="1545" y="1842"/>
                    </a:lnTo>
                    <a:lnTo>
                      <a:pt x="1547" y="1843"/>
                    </a:lnTo>
                    <a:lnTo>
                      <a:pt x="1550" y="1845"/>
                    </a:lnTo>
                    <a:lnTo>
                      <a:pt x="1552" y="1847"/>
                    </a:lnTo>
                    <a:lnTo>
                      <a:pt x="1554" y="1849"/>
                    </a:lnTo>
                    <a:lnTo>
                      <a:pt x="1557" y="1850"/>
                    </a:lnTo>
                    <a:lnTo>
                      <a:pt x="1561" y="1852"/>
                    </a:lnTo>
                    <a:lnTo>
                      <a:pt x="1563" y="1854"/>
                    </a:lnTo>
                    <a:lnTo>
                      <a:pt x="1564" y="1856"/>
                    </a:lnTo>
                    <a:lnTo>
                      <a:pt x="1568" y="1859"/>
                    </a:lnTo>
                    <a:lnTo>
                      <a:pt x="1570" y="1861"/>
                    </a:lnTo>
                    <a:lnTo>
                      <a:pt x="1573" y="1863"/>
                    </a:lnTo>
                    <a:lnTo>
                      <a:pt x="1575" y="1864"/>
                    </a:lnTo>
                    <a:lnTo>
                      <a:pt x="1577" y="1866"/>
                    </a:lnTo>
                    <a:lnTo>
                      <a:pt x="1580" y="1868"/>
                    </a:lnTo>
                    <a:lnTo>
                      <a:pt x="1582" y="1870"/>
                    </a:lnTo>
                    <a:lnTo>
                      <a:pt x="1585" y="1871"/>
                    </a:lnTo>
                    <a:lnTo>
                      <a:pt x="1587" y="1873"/>
                    </a:lnTo>
                    <a:lnTo>
                      <a:pt x="1591" y="1875"/>
                    </a:lnTo>
                    <a:lnTo>
                      <a:pt x="1592" y="1877"/>
                    </a:lnTo>
                    <a:lnTo>
                      <a:pt x="1596" y="1878"/>
                    </a:lnTo>
                    <a:lnTo>
                      <a:pt x="1597" y="1880"/>
                    </a:lnTo>
                    <a:lnTo>
                      <a:pt x="1601" y="1882"/>
                    </a:lnTo>
                    <a:lnTo>
                      <a:pt x="1603" y="1883"/>
                    </a:lnTo>
                    <a:lnTo>
                      <a:pt x="1606" y="1885"/>
                    </a:lnTo>
                    <a:lnTo>
                      <a:pt x="1608" y="1887"/>
                    </a:lnTo>
                    <a:lnTo>
                      <a:pt x="1611" y="1889"/>
                    </a:lnTo>
                    <a:lnTo>
                      <a:pt x="1613" y="1890"/>
                    </a:lnTo>
                    <a:lnTo>
                      <a:pt x="1617" y="1892"/>
                    </a:lnTo>
                    <a:lnTo>
                      <a:pt x="1618" y="1894"/>
                    </a:lnTo>
                    <a:lnTo>
                      <a:pt x="1620" y="1896"/>
                    </a:lnTo>
                    <a:lnTo>
                      <a:pt x="1624" y="1897"/>
                    </a:lnTo>
                    <a:lnTo>
                      <a:pt x="1625" y="1899"/>
                    </a:lnTo>
                    <a:lnTo>
                      <a:pt x="1629" y="1901"/>
                    </a:lnTo>
                    <a:lnTo>
                      <a:pt x="1631" y="1903"/>
                    </a:lnTo>
                    <a:lnTo>
                      <a:pt x="1634" y="1904"/>
                    </a:lnTo>
                    <a:lnTo>
                      <a:pt x="1636" y="1906"/>
                    </a:lnTo>
                    <a:lnTo>
                      <a:pt x="1639" y="1908"/>
                    </a:lnTo>
                    <a:lnTo>
                      <a:pt x="1641" y="1910"/>
                    </a:lnTo>
                    <a:lnTo>
                      <a:pt x="1644" y="1911"/>
                    </a:lnTo>
                    <a:lnTo>
                      <a:pt x="1646" y="1913"/>
                    </a:lnTo>
                    <a:lnTo>
                      <a:pt x="1650" y="1915"/>
                    </a:lnTo>
                    <a:lnTo>
                      <a:pt x="1651" y="1917"/>
                    </a:lnTo>
                    <a:lnTo>
                      <a:pt x="1655" y="1918"/>
                    </a:lnTo>
                    <a:lnTo>
                      <a:pt x="1657" y="1920"/>
                    </a:lnTo>
                    <a:lnTo>
                      <a:pt x="1660" y="1922"/>
                    </a:lnTo>
                    <a:lnTo>
                      <a:pt x="1662" y="1924"/>
                    </a:lnTo>
                    <a:lnTo>
                      <a:pt x="1665" y="1925"/>
                    </a:lnTo>
                    <a:lnTo>
                      <a:pt x="1667" y="1927"/>
                    </a:lnTo>
                    <a:lnTo>
                      <a:pt x="1671" y="1929"/>
                    </a:lnTo>
                    <a:lnTo>
                      <a:pt x="1672" y="1930"/>
                    </a:lnTo>
                    <a:lnTo>
                      <a:pt x="1676" y="1932"/>
                    </a:lnTo>
                    <a:lnTo>
                      <a:pt x="1678" y="1934"/>
                    </a:lnTo>
                    <a:lnTo>
                      <a:pt x="1681" y="1936"/>
                    </a:lnTo>
                    <a:lnTo>
                      <a:pt x="1683" y="1937"/>
                    </a:lnTo>
                    <a:lnTo>
                      <a:pt x="1686" y="1939"/>
                    </a:lnTo>
                    <a:lnTo>
                      <a:pt x="1688" y="1941"/>
                    </a:lnTo>
                    <a:lnTo>
                      <a:pt x="1691" y="1943"/>
                    </a:lnTo>
                    <a:lnTo>
                      <a:pt x="1693" y="1944"/>
                    </a:lnTo>
                    <a:lnTo>
                      <a:pt x="1697" y="1946"/>
                    </a:lnTo>
                    <a:lnTo>
                      <a:pt x="1698" y="1948"/>
                    </a:lnTo>
                    <a:lnTo>
                      <a:pt x="1702" y="1950"/>
                    </a:lnTo>
                    <a:lnTo>
                      <a:pt x="1704" y="1951"/>
                    </a:lnTo>
                    <a:lnTo>
                      <a:pt x="1707" y="1953"/>
                    </a:lnTo>
                    <a:lnTo>
                      <a:pt x="1709" y="1955"/>
                    </a:lnTo>
                    <a:lnTo>
                      <a:pt x="1712" y="1957"/>
                    </a:lnTo>
                    <a:lnTo>
                      <a:pt x="1714" y="1958"/>
                    </a:lnTo>
                    <a:lnTo>
                      <a:pt x="1718" y="1960"/>
                    </a:lnTo>
                    <a:lnTo>
                      <a:pt x="1721" y="1962"/>
                    </a:lnTo>
                    <a:lnTo>
                      <a:pt x="1723" y="1964"/>
                    </a:lnTo>
                    <a:lnTo>
                      <a:pt x="1726" y="1965"/>
                    </a:lnTo>
                    <a:lnTo>
                      <a:pt x="1728" y="1965"/>
                    </a:lnTo>
                    <a:lnTo>
                      <a:pt x="1731" y="1969"/>
                    </a:lnTo>
                    <a:lnTo>
                      <a:pt x="1733" y="1969"/>
                    </a:lnTo>
                    <a:lnTo>
                      <a:pt x="1737" y="1971"/>
                    </a:lnTo>
                    <a:lnTo>
                      <a:pt x="1738" y="1972"/>
                    </a:lnTo>
                    <a:lnTo>
                      <a:pt x="1742" y="1974"/>
                    </a:lnTo>
                    <a:lnTo>
                      <a:pt x="1744" y="1976"/>
                    </a:lnTo>
                    <a:lnTo>
                      <a:pt x="1747" y="1977"/>
                    </a:lnTo>
                    <a:lnTo>
                      <a:pt x="1749" y="1979"/>
                    </a:lnTo>
                    <a:lnTo>
                      <a:pt x="1752" y="1981"/>
                    </a:lnTo>
                    <a:lnTo>
                      <a:pt x="1756" y="1983"/>
                    </a:lnTo>
                    <a:lnTo>
                      <a:pt x="1758" y="1984"/>
                    </a:lnTo>
                    <a:lnTo>
                      <a:pt x="1761" y="1986"/>
                    </a:lnTo>
                    <a:lnTo>
                      <a:pt x="1763" y="1988"/>
                    </a:lnTo>
                    <a:lnTo>
                      <a:pt x="1766" y="1990"/>
                    </a:lnTo>
                    <a:lnTo>
                      <a:pt x="1768" y="1991"/>
                    </a:lnTo>
                    <a:lnTo>
                      <a:pt x="1772" y="1993"/>
                    </a:lnTo>
                    <a:lnTo>
                      <a:pt x="1773" y="1995"/>
                    </a:lnTo>
                    <a:lnTo>
                      <a:pt x="1777" y="1997"/>
                    </a:lnTo>
                    <a:lnTo>
                      <a:pt x="1780" y="1998"/>
                    </a:lnTo>
                    <a:lnTo>
                      <a:pt x="1782" y="2000"/>
                    </a:lnTo>
                    <a:lnTo>
                      <a:pt x="1785" y="2000"/>
                    </a:lnTo>
                    <a:lnTo>
                      <a:pt x="1787" y="2002"/>
                    </a:lnTo>
                    <a:lnTo>
                      <a:pt x="1791" y="2004"/>
                    </a:lnTo>
                    <a:lnTo>
                      <a:pt x="1792" y="2005"/>
                    </a:lnTo>
                    <a:lnTo>
                      <a:pt x="1796" y="2007"/>
                    </a:lnTo>
                    <a:lnTo>
                      <a:pt x="1799" y="2009"/>
                    </a:lnTo>
                    <a:lnTo>
                      <a:pt x="1801" y="2011"/>
                    </a:lnTo>
                    <a:lnTo>
                      <a:pt x="1805" y="2012"/>
                    </a:lnTo>
                    <a:lnTo>
                      <a:pt x="1806" y="2014"/>
                    </a:lnTo>
                    <a:lnTo>
                      <a:pt x="1810" y="2016"/>
                    </a:lnTo>
                    <a:lnTo>
                      <a:pt x="1812" y="2018"/>
                    </a:lnTo>
                    <a:lnTo>
                      <a:pt x="1815" y="2019"/>
                    </a:lnTo>
                    <a:lnTo>
                      <a:pt x="1819" y="2019"/>
                    </a:lnTo>
                    <a:lnTo>
                      <a:pt x="1820" y="2021"/>
                    </a:lnTo>
                    <a:lnTo>
                      <a:pt x="1824" y="2023"/>
                    </a:lnTo>
                    <a:lnTo>
                      <a:pt x="1825" y="2025"/>
                    </a:lnTo>
                    <a:lnTo>
                      <a:pt x="1829" y="2026"/>
                    </a:lnTo>
                    <a:lnTo>
                      <a:pt x="1831" y="2028"/>
                    </a:lnTo>
                    <a:lnTo>
                      <a:pt x="1834" y="2030"/>
                    </a:lnTo>
                    <a:lnTo>
                      <a:pt x="1838" y="2031"/>
                    </a:lnTo>
                    <a:lnTo>
                      <a:pt x="1839" y="2033"/>
                    </a:lnTo>
                    <a:lnTo>
                      <a:pt x="1843" y="2035"/>
                    </a:lnTo>
                    <a:lnTo>
                      <a:pt x="1845" y="2037"/>
                    </a:lnTo>
                    <a:lnTo>
                      <a:pt x="1848" y="2038"/>
                    </a:lnTo>
                    <a:lnTo>
                      <a:pt x="1852" y="2038"/>
                    </a:lnTo>
                    <a:lnTo>
                      <a:pt x="1853" y="2040"/>
                    </a:lnTo>
                    <a:lnTo>
                      <a:pt x="1857" y="2042"/>
                    </a:lnTo>
                    <a:lnTo>
                      <a:pt x="1859" y="2044"/>
                    </a:lnTo>
                    <a:lnTo>
                      <a:pt x="1862" y="2045"/>
                    </a:lnTo>
                    <a:lnTo>
                      <a:pt x="1866" y="2047"/>
                    </a:lnTo>
                    <a:lnTo>
                      <a:pt x="1867" y="2049"/>
                    </a:lnTo>
                    <a:lnTo>
                      <a:pt x="1871" y="2051"/>
                    </a:lnTo>
                    <a:lnTo>
                      <a:pt x="1872" y="2052"/>
                    </a:lnTo>
                    <a:lnTo>
                      <a:pt x="1876" y="2052"/>
                    </a:lnTo>
                    <a:lnTo>
                      <a:pt x="1879" y="2054"/>
                    </a:lnTo>
                    <a:lnTo>
                      <a:pt x="1881" y="2056"/>
                    </a:lnTo>
                    <a:lnTo>
                      <a:pt x="1885" y="2058"/>
                    </a:lnTo>
                    <a:lnTo>
                      <a:pt x="1886" y="2059"/>
                    </a:lnTo>
                    <a:lnTo>
                      <a:pt x="1890" y="2061"/>
                    </a:lnTo>
                    <a:lnTo>
                      <a:pt x="1893" y="2063"/>
                    </a:lnTo>
                    <a:lnTo>
                      <a:pt x="1895" y="2065"/>
                    </a:lnTo>
                    <a:lnTo>
                      <a:pt x="1899" y="2066"/>
                    </a:lnTo>
                    <a:lnTo>
                      <a:pt x="1900" y="2066"/>
                    </a:lnTo>
                    <a:lnTo>
                      <a:pt x="1904" y="2068"/>
                    </a:lnTo>
                    <a:lnTo>
                      <a:pt x="1907" y="2070"/>
                    </a:lnTo>
                    <a:lnTo>
                      <a:pt x="1909" y="2072"/>
                    </a:lnTo>
                    <a:lnTo>
                      <a:pt x="1913" y="2073"/>
                    </a:lnTo>
                    <a:lnTo>
                      <a:pt x="1916" y="2075"/>
                    </a:lnTo>
                    <a:lnTo>
                      <a:pt x="1918" y="2077"/>
                    </a:lnTo>
                    <a:lnTo>
                      <a:pt x="1921" y="2078"/>
                    </a:lnTo>
                    <a:lnTo>
                      <a:pt x="1923" y="2078"/>
                    </a:lnTo>
                    <a:lnTo>
                      <a:pt x="1926" y="2080"/>
                    </a:lnTo>
                    <a:lnTo>
                      <a:pt x="1930" y="2082"/>
                    </a:lnTo>
                    <a:lnTo>
                      <a:pt x="1932" y="2084"/>
                    </a:lnTo>
                    <a:lnTo>
                      <a:pt x="1935" y="2085"/>
                    </a:lnTo>
                    <a:lnTo>
                      <a:pt x="1939" y="2087"/>
                    </a:lnTo>
                    <a:lnTo>
                      <a:pt x="1940" y="2089"/>
                    </a:lnTo>
                    <a:lnTo>
                      <a:pt x="1944" y="2089"/>
                    </a:lnTo>
                    <a:lnTo>
                      <a:pt x="1947" y="2091"/>
                    </a:lnTo>
                    <a:lnTo>
                      <a:pt x="1949" y="2092"/>
                    </a:lnTo>
                    <a:lnTo>
                      <a:pt x="1953" y="2094"/>
                    </a:lnTo>
                    <a:lnTo>
                      <a:pt x="1954" y="2096"/>
                    </a:lnTo>
                    <a:lnTo>
                      <a:pt x="1958" y="2098"/>
                    </a:lnTo>
                    <a:lnTo>
                      <a:pt x="1961" y="2098"/>
                    </a:lnTo>
                    <a:lnTo>
                      <a:pt x="1963" y="2099"/>
                    </a:lnTo>
                    <a:lnTo>
                      <a:pt x="1966" y="2101"/>
                    </a:lnTo>
                    <a:lnTo>
                      <a:pt x="1970" y="2103"/>
                    </a:lnTo>
                    <a:lnTo>
                      <a:pt x="1972" y="2105"/>
                    </a:lnTo>
                    <a:lnTo>
                      <a:pt x="1975" y="2106"/>
                    </a:lnTo>
                    <a:moveTo>
                      <a:pt x="1049" y="1377"/>
                    </a:moveTo>
                    <a:lnTo>
                      <a:pt x="1051" y="1379"/>
                    </a:lnTo>
                    <a:lnTo>
                      <a:pt x="1053" y="1382"/>
                    </a:lnTo>
                    <a:lnTo>
                      <a:pt x="1054" y="1384"/>
                    </a:lnTo>
                    <a:lnTo>
                      <a:pt x="1056" y="1386"/>
                    </a:lnTo>
                    <a:lnTo>
                      <a:pt x="1058" y="1387"/>
                    </a:lnTo>
                    <a:lnTo>
                      <a:pt x="1060" y="1391"/>
                    </a:lnTo>
                    <a:lnTo>
                      <a:pt x="1063" y="1393"/>
                    </a:lnTo>
                    <a:lnTo>
                      <a:pt x="1065" y="1394"/>
                    </a:lnTo>
                    <a:lnTo>
                      <a:pt x="1067" y="1398"/>
                    </a:lnTo>
                    <a:lnTo>
                      <a:pt x="1068" y="1400"/>
                    </a:lnTo>
                    <a:lnTo>
                      <a:pt x="1070" y="1401"/>
                    </a:lnTo>
                    <a:lnTo>
                      <a:pt x="1072" y="1403"/>
                    </a:lnTo>
                    <a:lnTo>
                      <a:pt x="1074" y="1406"/>
                    </a:lnTo>
                    <a:lnTo>
                      <a:pt x="1075" y="1408"/>
                    </a:lnTo>
                    <a:lnTo>
                      <a:pt x="1077" y="1410"/>
                    </a:lnTo>
                    <a:lnTo>
                      <a:pt x="1079" y="1412"/>
                    </a:lnTo>
                    <a:lnTo>
                      <a:pt x="1082" y="1413"/>
                    </a:lnTo>
                    <a:lnTo>
                      <a:pt x="1084" y="1417"/>
                    </a:lnTo>
                    <a:lnTo>
                      <a:pt x="1086" y="1419"/>
                    </a:lnTo>
                    <a:lnTo>
                      <a:pt x="1088" y="1420"/>
                    </a:lnTo>
                    <a:lnTo>
                      <a:pt x="1089" y="1422"/>
                    </a:lnTo>
                    <a:lnTo>
                      <a:pt x="1091" y="1426"/>
                    </a:lnTo>
                    <a:lnTo>
                      <a:pt x="1093" y="1427"/>
                    </a:lnTo>
                    <a:lnTo>
                      <a:pt x="1094" y="1429"/>
                    </a:lnTo>
                    <a:lnTo>
                      <a:pt x="1096" y="1431"/>
                    </a:lnTo>
                    <a:lnTo>
                      <a:pt x="1100" y="1434"/>
                    </a:lnTo>
                    <a:lnTo>
                      <a:pt x="1101" y="1436"/>
                    </a:lnTo>
                    <a:lnTo>
                      <a:pt x="1103" y="1438"/>
                    </a:lnTo>
                    <a:lnTo>
                      <a:pt x="1105" y="1440"/>
                    </a:lnTo>
                    <a:lnTo>
                      <a:pt x="1107" y="1443"/>
                    </a:lnTo>
                    <a:lnTo>
                      <a:pt x="1108" y="1445"/>
                    </a:lnTo>
                    <a:lnTo>
                      <a:pt x="1110" y="1447"/>
                    </a:lnTo>
                    <a:lnTo>
                      <a:pt x="1114" y="1448"/>
                    </a:lnTo>
                    <a:lnTo>
                      <a:pt x="1115" y="1452"/>
                    </a:lnTo>
                    <a:lnTo>
                      <a:pt x="1117" y="1453"/>
                    </a:lnTo>
                    <a:lnTo>
                      <a:pt x="1119" y="1455"/>
                    </a:lnTo>
                    <a:lnTo>
                      <a:pt x="1121" y="1457"/>
                    </a:lnTo>
                    <a:lnTo>
                      <a:pt x="1122" y="1460"/>
                    </a:lnTo>
                    <a:lnTo>
                      <a:pt x="1124" y="1462"/>
                    </a:lnTo>
                    <a:lnTo>
                      <a:pt x="1126" y="1464"/>
                    </a:lnTo>
                    <a:lnTo>
                      <a:pt x="1128" y="1466"/>
                    </a:lnTo>
                    <a:lnTo>
                      <a:pt x="1131" y="1469"/>
                    </a:lnTo>
                    <a:lnTo>
                      <a:pt x="1133" y="1471"/>
                    </a:lnTo>
                    <a:lnTo>
                      <a:pt x="1135" y="1473"/>
                    </a:lnTo>
                    <a:lnTo>
                      <a:pt x="1136" y="1474"/>
                    </a:lnTo>
                    <a:lnTo>
                      <a:pt x="1138" y="1478"/>
                    </a:lnTo>
                    <a:lnTo>
                      <a:pt x="1140" y="1480"/>
                    </a:lnTo>
                    <a:lnTo>
                      <a:pt x="1141" y="1481"/>
                    </a:lnTo>
                    <a:lnTo>
                      <a:pt x="1145" y="1483"/>
                    </a:lnTo>
                    <a:lnTo>
                      <a:pt x="1147" y="1487"/>
                    </a:lnTo>
                    <a:lnTo>
                      <a:pt x="1148" y="1488"/>
                    </a:lnTo>
                    <a:lnTo>
                      <a:pt x="1150" y="1490"/>
                    </a:lnTo>
                    <a:lnTo>
                      <a:pt x="1152" y="1492"/>
                    </a:lnTo>
                    <a:lnTo>
                      <a:pt x="1154" y="1495"/>
                    </a:lnTo>
                    <a:lnTo>
                      <a:pt x="1155" y="1497"/>
                    </a:lnTo>
                    <a:lnTo>
                      <a:pt x="1159" y="1499"/>
                    </a:lnTo>
                    <a:lnTo>
                      <a:pt x="1161" y="1500"/>
                    </a:lnTo>
                    <a:lnTo>
                      <a:pt x="1162" y="1502"/>
                    </a:lnTo>
                    <a:lnTo>
                      <a:pt x="1164" y="1506"/>
                    </a:lnTo>
                    <a:lnTo>
                      <a:pt x="1166" y="1507"/>
                    </a:lnTo>
                    <a:lnTo>
                      <a:pt x="1168" y="1509"/>
                    </a:lnTo>
                    <a:lnTo>
                      <a:pt x="1171" y="1511"/>
                    </a:lnTo>
                    <a:lnTo>
                      <a:pt x="1173" y="1514"/>
                    </a:lnTo>
                    <a:lnTo>
                      <a:pt x="1175" y="1516"/>
                    </a:lnTo>
                    <a:lnTo>
                      <a:pt x="1176" y="1518"/>
                    </a:lnTo>
                    <a:lnTo>
                      <a:pt x="1178" y="1520"/>
                    </a:lnTo>
                    <a:lnTo>
                      <a:pt x="1180" y="1521"/>
                    </a:lnTo>
                    <a:lnTo>
                      <a:pt x="1183" y="1525"/>
                    </a:lnTo>
                    <a:lnTo>
                      <a:pt x="1185" y="1527"/>
                    </a:lnTo>
                    <a:lnTo>
                      <a:pt x="1187" y="1528"/>
                    </a:lnTo>
                    <a:lnTo>
                      <a:pt x="1188" y="1530"/>
                    </a:lnTo>
                    <a:lnTo>
                      <a:pt x="1190" y="1534"/>
                    </a:lnTo>
                    <a:lnTo>
                      <a:pt x="1192" y="1535"/>
                    </a:lnTo>
                    <a:lnTo>
                      <a:pt x="1195" y="1537"/>
                    </a:lnTo>
                    <a:lnTo>
                      <a:pt x="1197" y="1539"/>
                    </a:lnTo>
                    <a:lnTo>
                      <a:pt x="1199" y="1541"/>
                    </a:lnTo>
                    <a:lnTo>
                      <a:pt x="1201" y="1544"/>
                    </a:lnTo>
                    <a:lnTo>
                      <a:pt x="1202" y="1546"/>
                    </a:lnTo>
                    <a:lnTo>
                      <a:pt x="1206" y="1547"/>
                    </a:lnTo>
                    <a:lnTo>
                      <a:pt x="1208" y="1549"/>
                    </a:lnTo>
                    <a:lnTo>
                      <a:pt x="1209" y="1553"/>
                    </a:lnTo>
                    <a:lnTo>
                      <a:pt x="1211" y="1554"/>
                    </a:lnTo>
                    <a:lnTo>
                      <a:pt x="1213" y="1556"/>
                    </a:lnTo>
                    <a:lnTo>
                      <a:pt x="1216" y="1558"/>
                    </a:lnTo>
                    <a:lnTo>
                      <a:pt x="1218" y="1560"/>
                    </a:lnTo>
                    <a:lnTo>
                      <a:pt x="1220" y="1563"/>
                    </a:lnTo>
                    <a:lnTo>
                      <a:pt x="1222" y="1565"/>
                    </a:lnTo>
                    <a:lnTo>
                      <a:pt x="1223" y="1567"/>
                    </a:lnTo>
                    <a:lnTo>
                      <a:pt x="1227" y="1568"/>
                    </a:lnTo>
                    <a:lnTo>
                      <a:pt x="1229" y="1570"/>
                    </a:lnTo>
                    <a:moveTo>
                      <a:pt x="1044" y="1379"/>
                    </a:moveTo>
                    <a:lnTo>
                      <a:pt x="1044" y="1382"/>
                    </a:lnTo>
                    <a:lnTo>
                      <a:pt x="1046" y="1384"/>
                    </a:lnTo>
                    <a:lnTo>
                      <a:pt x="1046" y="1386"/>
                    </a:lnTo>
                    <a:lnTo>
                      <a:pt x="1046" y="1389"/>
                    </a:lnTo>
                    <a:lnTo>
                      <a:pt x="1047" y="1391"/>
                    </a:lnTo>
                    <a:lnTo>
                      <a:pt x="1047" y="1394"/>
                    </a:lnTo>
                    <a:lnTo>
                      <a:pt x="1047" y="1398"/>
                    </a:lnTo>
                    <a:lnTo>
                      <a:pt x="1049" y="1400"/>
                    </a:lnTo>
                    <a:lnTo>
                      <a:pt x="1049" y="1401"/>
                    </a:lnTo>
                    <a:lnTo>
                      <a:pt x="1051" y="1405"/>
                    </a:lnTo>
                    <a:lnTo>
                      <a:pt x="1051" y="1406"/>
                    </a:lnTo>
                    <a:lnTo>
                      <a:pt x="1051" y="1410"/>
                    </a:lnTo>
                    <a:lnTo>
                      <a:pt x="1053" y="1412"/>
                    </a:lnTo>
                    <a:lnTo>
                      <a:pt x="1053" y="1415"/>
                    </a:lnTo>
                    <a:lnTo>
                      <a:pt x="1054" y="1417"/>
                    </a:lnTo>
                    <a:lnTo>
                      <a:pt x="1054" y="1420"/>
                    </a:lnTo>
                    <a:lnTo>
                      <a:pt x="1054" y="1422"/>
                    </a:lnTo>
                    <a:lnTo>
                      <a:pt x="1056" y="1426"/>
                    </a:lnTo>
                    <a:lnTo>
                      <a:pt x="1056" y="1427"/>
                    </a:lnTo>
                    <a:lnTo>
                      <a:pt x="1058" y="1431"/>
                    </a:lnTo>
                    <a:lnTo>
                      <a:pt x="1058" y="1433"/>
                    </a:lnTo>
                    <a:lnTo>
                      <a:pt x="1058" y="1436"/>
                    </a:lnTo>
                    <a:lnTo>
                      <a:pt x="1060" y="1438"/>
                    </a:lnTo>
                    <a:lnTo>
                      <a:pt x="1060" y="1441"/>
                    </a:lnTo>
                    <a:lnTo>
                      <a:pt x="1061" y="1443"/>
                    </a:lnTo>
                    <a:lnTo>
                      <a:pt x="1061" y="1447"/>
                    </a:lnTo>
                    <a:lnTo>
                      <a:pt x="1061" y="1448"/>
                    </a:lnTo>
                    <a:lnTo>
                      <a:pt x="1063" y="1452"/>
                    </a:lnTo>
                    <a:lnTo>
                      <a:pt x="1063" y="1453"/>
                    </a:lnTo>
                    <a:lnTo>
                      <a:pt x="1065" y="1457"/>
                    </a:lnTo>
                    <a:lnTo>
                      <a:pt x="1065" y="1459"/>
                    </a:lnTo>
                    <a:lnTo>
                      <a:pt x="1065" y="1462"/>
                    </a:lnTo>
                    <a:lnTo>
                      <a:pt x="1067" y="1464"/>
                    </a:lnTo>
                    <a:lnTo>
                      <a:pt x="1067" y="1466"/>
                    </a:lnTo>
                    <a:lnTo>
                      <a:pt x="1068" y="1469"/>
                    </a:lnTo>
                    <a:lnTo>
                      <a:pt x="1068" y="1471"/>
                    </a:lnTo>
                    <a:lnTo>
                      <a:pt x="1068" y="1474"/>
                    </a:lnTo>
                    <a:lnTo>
                      <a:pt x="1070" y="1476"/>
                    </a:lnTo>
                    <a:lnTo>
                      <a:pt x="1070" y="1480"/>
                    </a:lnTo>
                    <a:lnTo>
                      <a:pt x="1070" y="1481"/>
                    </a:lnTo>
                    <a:lnTo>
                      <a:pt x="1072" y="1485"/>
                    </a:lnTo>
                    <a:lnTo>
                      <a:pt x="1072" y="1487"/>
                    </a:lnTo>
                    <a:lnTo>
                      <a:pt x="1074" y="1490"/>
                    </a:lnTo>
                    <a:lnTo>
                      <a:pt x="1074" y="1492"/>
                    </a:lnTo>
                    <a:lnTo>
                      <a:pt x="1075" y="1495"/>
                    </a:lnTo>
                    <a:lnTo>
                      <a:pt x="1075" y="1497"/>
                    </a:lnTo>
                    <a:lnTo>
                      <a:pt x="1075" y="1500"/>
                    </a:lnTo>
                    <a:lnTo>
                      <a:pt x="1077" y="1502"/>
                    </a:lnTo>
                    <a:lnTo>
                      <a:pt x="1077" y="1506"/>
                    </a:lnTo>
                    <a:lnTo>
                      <a:pt x="1079" y="1507"/>
                    </a:lnTo>
                    <a:lnTo>
                      <a:pt x="1079" y="1511"/>
                    </a:lnTo>
                    <a:lnTo>
                      <a:pt x="1079" y="1513"/>
                    </a:lnTo>
                    <a:lnTo>
                      <a:pt x="1081" y="1516"/>
                    </a:lnTo>
                    <a:lnTo>
                      <a:pt x="1081" y="1518"/>
                    </a:lnTo>
                    <a:lnTo>
                      <a:pt x="1082" y="1521"/>
                    </a:lnTo>
                    <a:lnTo>
                      <a:pt x="1082" y="1523"/>
                    </a:lnTo>
                    <a:lnTo>
                      <a:pt x="1082" y="1527"/>
                    </a:lnTo>
                    <a:lnTo>
                      <a:pt x="1084" y="1528"/>
                    </a:lnTo>
                    <a:lnTo>
                      <a:pt x="1084" y="1532"/>
                    </a:lnTo>
                    <a:lnTo>
                      <a:pt x="1086" y="1534"/>
                    </a:lnTo>
                    <a:lnTo>
                      <a:pt x="1086" y="1535"/>
                    </a:lnTo>
                    <a:lnTo>
                      <a:pt x="1086" y="1539"/>
                    </a:lnTo>
                    <a:lnTo>
                      <a:pt x="1088" y="1541"/>
                    </a:lnTo>
                    <a:lnTo>
                      <a:pt x="1088" y="1544"/>
                    </a:lnTo>
                    <a:lnTo>
                      <a:pt x="1089" y="1546"/>
                    </a:lnTo>
                    <a:lnTo>
                      <a:pt x="1089" y="1549"/>
                    </a:lnTo>
                    <a:lnTo>
                      <a:pt x="1091" y="1551"/>
                    </a:lnTo>
                    <a:lnTo>
                      <a:pt x="1091" y="1554"/>
                    </a:lnTo>
                    <a:lnTo>
                      <a:pt x="1091" y="1556"/>
                    </a:lnTo>
                    <a:lnTo>
                      <a:pt x="1093" y="1560"/>
                    </a:lnTo>
                    <a:lnTo>
                      <a:pt x="1093" y="1561"/>
                    </a:lnTo>
                    <a:lnTo>
                      <a:pt x="1094" y="1565"/>
                    </a:lnTo>
                    <a:lnTo>
                      <a:pt x="1094" y="1567"/>
                    </a:lnTo>
                    <a:lnTo>
                      <a:pt x="1094" y="1570"/>
                    </a:lnTo>
                    <a:lnTo>
                      <a:pt x="1096" y="1572"/>
                    </a:lnTo>
                    <a:lnTo>
                      <a:pt x="1096" y="1575"/>
                    </a:lnTo>
                    <a:lnTo>
                      <a:pt x="1098" y="1577"/>
                    </a:lnTo>
                    <a:lnTo>
                      <a:pt x="1098" y="1581"/>
                    </a:lnTo>
                    <a:lnTo>
                      <a:pt x="1100" y="1582"/>
                    </a:lnTo>
                    <a:lnTo>
                      <a:pt x="1100" y="1586"/>
                    </a:lnTo>
                    <a:lnTo>
                      <a:pt x="1100" y="1588"/>
                    </a:lnTo>
                    <a:lnTo>
                      <a:pt x="1101" y="1591"/>
                    </a:lnTo>
                    <a:lnTo>
                      <a:pt x="1101" y="1593"/>
                    </a:lnTo>
                    <a:lnTo>
                      <a:pt x="1103" y="1594"/>
                    </a:lnTo>
                    <a:lnTo>
                      <a:pt x="1103" y="1598"/>
                    </a:lnTo>
                    <a:lnTo>
                      <a:pt x="1105" y="1600"/>
                    </a:lnTo>
                    <a:lnTo>
                      <a:pt x="1105" y="1603"/>
                    </a:lnTo>
                    <a:lnTo>
                      <a:pt x="1105" y="1605"/>
                    </a:lnTo>
                    <a:lnTo>
                      <a:pt x="1107" y="1608"/>
                    </a:lnTo>
                    <a:lnTo>
                      <a:pt x="1107" y="1610"/>
                    </a:lnTo>
                    <a:lnTo>
                      <a:pt x="1108" y="1614"/>
                    </a:lnTo>
                    <a:lnTo>
                      <a:pt x="1108" y="1615"/>
                    </a:lnTo>
                    <a:lnTo>
                      <a:pt x="1110" y="1619"/>
                    </a:lnTo>
                    <a:lnTo>
                      <a:pt x="1110" y="1621"/>
                    </a:lnTo>
                    <a:lnTo>
                      <a:pt x="1110" y="1624"/>
                    </a:lnTo>
                    <a:lnTo>
                      <a:pt x="1112" y="1626"/>
                    </a:lnTo>
                    <a:lnTo>
                      <a:pt x="1112" y="1629"/>
                    </a:lnTo>
                    <a:lnTo>
                      <a:pt x="1114" y="1631"/>
                    </a:lnTo>
                    <a:lnTo>
                      <a:pt x="1114" y="1635"/>
                    </a:lnTo>
                    <a:lnTo>
                      <a:pt x="1115" y="1636"/>
                    </a:lnTo>
                    <a:lnTo>
                      <a:pt x="1115" y="1640"/>
                    </a:lnTo>
                    <a:lnTo>
                      <a:pt x="1115" y="1641"/>
                    </a:lnTo>
                    <a:lnTo>
                      <a:pt x="1117" y="1645"/>
                    </a:lnTo>
                    <a:lnTo>
                      <a:pt x="1117" y="1647"/>
                    </a:lnTo>
                    <a:lnTo>
                      <a:pt x="1119" y="1650"/>
                    </a:lnTo>
                    <a:lnTo>
                      <a:pt x="1119" y="1652"/>
                    </a:lnTo>
                    <a:lnTo>
                      <a:pt x="1121" y="1654"/>
                    </a:lnTo>
                    <a:lnTo>
                      <a:pt x="1121" y="1657"/>
                    </a:lnTo>
                    <a:lnTo>
                      <a:pt x="1121" y="1659"/>
                    </a:lnTo>
                    <a:lnTo>
                      <a:pt x="1122" y="1662"/>
                    </a:lnTo>
                    <a:lnTo>
                      <a:pt x="1122" y="1664"/>
                    </a:lnTo>
                    <a:lnTo>
                      <a:pt x="1124" y="1668"/>
                    </a:lnTo>
                    <a:lnTo>
                      <a:pt x="1124" y="1669"/>
                    </a:lnTo>
                    <a:lnTo>
                      <a:pt x="1126" y="1673"/>
                    </a:lnTo>
                    <a:lnTo>
                      <a:pt x="1126" y="1675"/>
                    </a:lnTo>
                    <a:lnTo>
                      <a:pt x="1128" y="1678"/>
                    </a:lnTo>
                    <a:lnTo>
                      <a:pt x="1128" y="1680"/>
                    </a:lnTo>
                    <a:lnTo>
                      <a:pt x="1128" y="1683"/>
                    </a:lnTo>
                    <a:lnTo>
                      <a:pt x="1129" y="1685"/>
                    </a:lnTo>
                    <a:lnTo>
                      <a:pt x="1129" y="1689"/>
                    </a:lnTo>
                    <a:lnTo>
                      <a:pt x="1131" y="1690"/>
                    </a:lnTo>
                    <a:lnTo>
                      <a:pt x="1131" y="1692"/>
                    </a:lnTo>
                    <a:lnTo>
                      <a:pt x="1133" y="1695"/>
                    </a:lnTo>
                    <a:lnTo>
                      <a:pt x="1133" y="1699"/>
                    </a:lnTo>
                    <a:lnTo>
                      <a:pt x="1135" y="1701"/>
                    </a:lnTo>
                    <a:lnTo>
                      <a:pt x="1135" y="1702"/>
                    </a:lnTo>
                    <a:lnTo>
                      <a:pt x="1136" y="1706"/>
                    </a:lnTo>
                    <a:lnTo>
                      <a:pt x="1136" y="1708"/>
                    </a:lnTo>
                    <a:lnTo>
                      <a:pt x="1136" y="1711"/>
                    </a:lnTo>
                    <a:lnTo>
                      <a:pt x="1138" y="1713"/>
                    </a:lnTo>
                    <a:lnTo>
                      <a:pt x="1138" y="1716"/>
                    </a:lnTo>
                    <a:lnTo>
                      <a:pt x="1140" y="1718"/>
                    </a:lnTo>
                    <a:lnTo>
                      <a:pt x="1140" y="1722"/>
                    </a:lnTo>
                    <a:lnTo>
                      <a:pt x="1141" y="1723"/>
                    </a:lnTo>
                    <a:lnTo>
                      <a:pt x="1141" y="1727"/>
                    </a:lnTo>
                    <a:lnTo>
                      <a:pt x="1143" y="1729"/>
                    </a:lnTo>
                    <a:lnTo>
                      <a:pt x="1143" y="1732"/>
                    </a:lnTo>
                    <a:lnTo>
                      <a:pt x="1143" y="1734"/>
                    </a:lnTo>
                    <a:lnTo>
                      <a:pt x="1145" y="1737"/>
                    </a:lnTo>
                    <a:lnTo>
                      <a:pt x="1145" y="1739"/>
                    </a:lnTo>
                    <a:lnTo>
                      <a:pt x="1147" y="1742"/>
                    </a:lnTo>
                    <a:lnTo>
                      <a:pt x="1147" y="1744"/>
                    </a:lnTo>
                    <a:lnTo>
                      <a:pt x="1148" y="1746"/>
                    </a:lnTo>
                    <a:lnTo>
                      <a:pt x="1148" y="1749"/>
                    </a:lnTo>
                    <a:lnTo>
                      <a:pt x="1150" y="1751"/>
                    </a:lnTo>
                    <a:lnTo>
                      <a:pt x="1150" y="1755"/>
                    </a:lnTo>
                    <a:lnTo>
                      <a:pt x="1152" y="1756"/>
                    </a:lnTo>
                    <a:lnTo>
                      <a:pt x="1152" y="1760"/>
                    </a:lnTo>
                    <a:lnTo>
                      <a:pt x="1152" y="1762"/>
                    </a:lnTo>
                    <a:lnTo>
                      <a:pt x="1154" y="1765"/>
                    </a:lnTo>
                    <a:lnTo>
                      <a:pt x="1154" y="1767"/>
                    </a:lnTo>
                    <a:lnTo>
                      <a:pt x="1155" y="1770"/>
                    </a:lnTo>
                    <a:lnTo>
                      <a:pt x="1155" y="1772"/>
                    </a:lnTo>
                    <a:lnTo>
                      <a:pt x="1157" y="1776"/>
                    </a:lnTo>
                    <a:lnTo>
                      <a:pt x="1157" y="1777"/>
                    </a:lnTo>
                    <a:lnTo>
                      <a:pt x="1159" y="1781"/>
                    </a:lnTo>
                    <a:lnTo>
                      <a:pt x="1159" y="1783"/>
                    </a:lnTo>
                    <a:lnTo>
                      <a:pt x="1161" y="1786"/>
                    </a:lnTo>
                    <a:lnTo>
                      <a:pt x="1161" y="1788"/>
                    </a:lnTo>
                    <a:lnTo>
                      <a:pt x="1162" y="1791"/>
                    </a:lnTo>
                    <a:lnTo>
                      <a:pt x="1162" y="1793"/>
                    </a:lnTo>
                    <a:lnTo>
                      <a:pt x="1164" y="1795"/>
                    </a:lnTo>
                    <a:lnTo>
                      <a:pt x="1164" y="1798"/>
                    </a:lnTo>
                    <a:lnTo>
                      <a:pt x="1166" y="1800"/>
                    </a:lnTo>
                    <a:lnTo>
                      <a:pt x="1166" y="1803"/>
                    </a:lnTo>
                    <a:lnTo>
                      <a:pt x="1166" y="1805"/>
                    </a:lnTo>
                    <a:lnTo>
                      <a:pt x="1168" y="1809"/>
                    </a:lnTo>
                    <a:lnTo>
                      <a:pt x="1168" y="1810"/>
                    </a:lnTo>
                    <a:lnTo>
                      <a:pt x="1169" y="1814"/>
                    </a:lnTo>
                    <a:lnTo>
                      <a:pt x="1169" y="1816"/>
                    </a:lnTo>
                    <a:lnTo>
                      <a:pt x="1171" y="1819"/>
                    </a:lnTo>
                    <a:lnTo>
                      <a:pt x="1171" y="1821"/>
                    </a:lnTo>
                    <a:lnTo>
                      <a:pt x="1173" y="1824"/>
                    </a:lnTo>
                    <a:lnTo>
                      <a:pt x="1173" y="1826"/>
                    </a:lnTo>
                    <a:lnTo>
                      <a:pt x="1175" y="1828"/>
                    </a:lnTo>
                    <a:lnTo>
                      <a:pt x="1175" y="1831"/>
                    </a:lnTo>
                    <a:lnTo>
                      <a:pt x="1176" y="1833"/>
                    </a:lnTo>
                    <a:lnTo>
                      <a:pt x="1176" y="1836"/>
                    </a:lnTo>
                    <a:lnTo>
                      <a:pt x="1178" y="1838"/>
                    </a:lnTo>
                    <a:lnTo>
                      <a:pt x="1178" y="1842"/>
                    </a:lnTo>
                    <a:lnTo>
                      <a:pt x="1180" y="1843"/>
                    </a:lnTo>
                    <a:lnTo>
                      <a:pt x="1180" y="1847"/>
                    </a:lnTo>
                    <a:lnTo>
                      <a:pt x="1182" y="1849"/>
                    </a:lnTo>
                    <a:lnTo>
                      <a:pt x="1182" y="1852"/>
                    </a:lnTo>
                    <a:lnTo>
                      <a:pt x="1183" y="1854"/>
                    </a:lnTo>
                    <a:lnTo>
                      <a:pt x="1183" y="1857"/>
                    </a:lnTo>
                    <a:lnTo>
                      <a:pt x="1185" y="1859"/>
                    </a:lnTo>
                    <a:lnTo>
                      <a:pt x="1185" y="1861"/>
                    </a:lnTo>
                    <a:lnTo>
                      <a:pt x="1187" y="1864"/>
                    </a:lnTo>
                    <a:lnTo>
                      <a:pt x="1187" y="1868"/>
                    </a:lnTo>
                    <a:lnTo>
                      <a:pt x="1188" y="1870"/>
                    </a:lnTo>
                    <a:lnTo>
                      <a:pt x="1188" y="1871"/>
                    </a:lnTo>
                    <a:lnTo>
                      <a:pt x="1190" y="1875"/>
                    </a:lnTo>
                    <a:lnTo>
                      <a:pt x="1190" y="1877"/>
                    </a:lnTo>
                    <a:lnTo>
                      <a:pt x="1192" y="1880"/>
                    </a:lnTo>
                    <a:lnTo>
                      <a:pt x="1192" y="1882"/>
                    </a:lnTo>
                    <a:lnTo>
                      <a:pt x="1194" y="1885"/>
                    </a:lnTo>
                    <a:lnTo>
                      <a:pt x="1194" y="1887"/>
                    </a:lnTo>
                    <a:lnTo>
                      <a:pt x="1194" y="1890"/>
                    </a:lnTo>
                    <a:lnTo>
                      <a:pt x="1195" y="1892"/>
                    </a:lnTo>
                    <a:lnTo>
                      <a:pt x="1197" y="1896"/>
                    </a:lnTo>
                    <a:lnTo>
                      <a:pt x="1197" y="1897"/>
                    </a:lnTo>
                    <a:lnTo>
                      <a:pt x="1197" y="1901"/>
                    </a:lnTo>
                    <a:lnTo>
                      <a:pt x="1199" y="1903"/>
                    </a:lnTo>
                    <a:lnTo>
                      <a:pt x="1201" y="1904"/>
                    </a:lnTo>
                    <a:lnTo>
                      <a:pt x="1201" y="1908"/>
                    </a:lnTo>
                    <a:lnTo>
                      <a:pt x="1202" y="1910"/>
                    </a:lnTo>
                    <a:lnTo>
                      <a:pt x="1202" y="1913"/>
                    </a:lnTo>
                    <a:lnTo>
                      <a:pt x="1202" y="1915"/>
                    </a:lnTo>
                    <a:lnTo>
                      <a:pt x="1204" y="1918"/>
                    </a:lnTo>
                    <a:lnTo>
                      <a:pt x="1206" y="1920"/>
                    </a:lnTo>
                    <a:lnTo>
                      <a:pt x="1206" y="1924"/>
                    </a:lnTo>
                    <a:lnTo>
                      <a:pt x="1208" y="1925"/>
                    </a:lnTo>
                    <a:lnTo>
                      <a:pt x="1208" y="1929"/>
                    </a:lnTo>
                    <a:lnTo>
                      <a:pt x="1209" y="1930"/>
                    </a:lnTo>
                    <a:lnTo>
                      <a:pt x="1209" y="1934"/>
                    </a:lnTo>
                    <a:lnTo>
                      <a:pt x="1211" y="1936"/>
                    </a:lnTo>
                    <a:lnTo>
                      <a:pt x="1211" y="1937"/>
                    </a:lnTo>
                    <a:lnTo>
                      <a:pt x="1213" y="1941"/>
                    </a:lnTo>
                    <a:lnTo>
                      <a:pt x="1213" y="1943"/>
                    </a:lnTo>
                    <a:lnTo>
                      <a:pt x="1215" y="1946"/>
                    </a:lnTo>
                    <a:lnTo>
                      <a:pt x="1215" y="1948"/>
                    </a:lnTo>
                    <a:lnTo>
                      <a:pt x="1216" y="1951"/>
                    </a:lnTo>
                    <a:lnTo>
                      <a:pt x="1216" y="1953"/>
                    </a:lnTo>
                    <a:lnTo>
                      <a:pt x="1218" y="1957"/>
                    </a:lnTo>
                    <a:lnTo>
                      <a:pt x="1218" y="1958"/>
                    </a:lnTo>
                    <a:lnTo>
                      <a:pt x="1220" y="1962"/>
                    </a:lnTo>
                    <a:lnTo>
                      <a:pt x="1220" y="1964"/>
                    </a:lnTo>
                    <a:lnTo>
                      <a:pt x="1222" y="1967"/>
                    </a:lnTo>
                    <a:lnTo>
                      <a:pt x="1222" y="1969"/>
                    </a:lnTo>
                    <a:lnTo>
                      <a:pt x="1223" y="1971"/>
                    </a:lnTo>
                    <a:lnTo>
                      <a:pt x="1223" y="1974"/>
                    </a:lnTo>
                    <a:lnTo>
                      <a:pt x="1225" y="1976"/>
                    </a:lnTo>
                    <a:lnTo>
                      <a:pt x="1225" y="1979"/>
                    </a:lnTo>
                    <a:lnTo>
                      <a:pt x="1227" y="1981"/>
                    </a:lnTo>
                    <a:lnTo>
                      <a:pt x="1227" y="1984"/>
                    </a:lnTo>
                    <a:lnTo>
                      <a:pt x="1229" y="1986"/>
                    </a:lnTo>
                    <a:lnTo>
                      <a:pt x="1229" y="1990"/>
                    </a:lnTo>
                    <a:lnTo>
                      <a:pt x="1230" y="1991"/>
                    </a:lnTo>
                    <a:lnTo>
                      <a:pt x="1230" y="1995"/>
                    </a:lnTo>
                    <a:lnTo>
                      <a:pt x="1232" y="1997"/>
                    </a:lnTo>
                    <a:lnTo>
                      <a:pt x="1232" y="2000"/>
                    </a:lnTo>
                    <a:lnTo>
                      <a:pt x="1234" y="2002"/>
                    </a:lnTo>
                    <a:lnTo>
                      <a:pt x="1234" y="2005"/>
                    </a:lnTo>
                    <a:lnTo>
                      <a:pt x="1235" y="2007"/>
                    </a:lnTo>
                    <a:lnTo>
                      <a:pt x="1237" y="2009"/>
                    </a:lnTo>
                    <a:lnTo>
                      <a:pt x="1237" y="2012"/>
                    </a:lnTo>
                    <a:lnTo>
                      <a:pt x="1239" y="2014"/>
                    </a:lnTo>
                    <a:lnTo>
                      <a:pt x="1239" y="2018"/>
                    </a:lnTo>
                    <a:lnTo>
                      <a:pt x="1241" y="2019"/>
                    </a:lnTo>
                    <a:lnTo>
                      <a:pt x="1241" y="2023"/>
                    </a:lnTo>
                    <a:lnTo>
                      <a:pt x="1242" y="2025"/>
                    </a:lnTo>
                    <a:lnTo>
                      <a:pt x="1242" y="2028"/>
                    </a:lnTo>
                    <a:lnTo>
                      <a:pt x="1244" y="2030"/>
                    </a:lnTo>
                    <a:lnTo>
                      <a:pt x="1244" y="2033"/>
                    </a:lnTo>
                    <a:lnTo>
                      <a:pt x="1246" y="2035"/>
                    </a:lnTo>
                    <a:lnTo>
                      <a:pt x="1246" y="2037"/>
                    </a:lnTo>
                    <a:lnTo>
                      <a:pt x="1248" y="2040"/>
                    </a:lnTo>
                    <a:lnTo>
                      <a:pt x="1248" y="2042"/>
                    </a:lnTo>
                    <a:lnTo>
                      <a:pt x="1249" y="2045"/>
                    </a:lnTo>
                    <a:lnTo>
                      <a:pt x="1251" y="2047"/>
                    </a:lnTo>
                    <a:lnTo>
                      <a:pt x="1251" y="2051"/>
                    </a:lnTo>
                    <a:lnTo>
                      <a:pt x="1253" y="2052"/>
                    </a:lnTo>
                    <a:lnTo>
                      <a:pt x="1253" y="2056"/>
                    </a:lnTo>
                    <a:lnTo>
                      <a:pt x="1255" y="2058"/>
                    </a:lnTo>
                    <a:lnTo>
                      <a:pt x="1255" y="2061"/>
                    </a:lnTo>
                    <a:lnTo>
                      <a:pt x="1256" y="2063"/>
                    </a:lnTo>
                    <a:lnTo>
                      <a:pt x="1256" y="2065"/>
                    </a:lnTo>
                    <a:lnTo>
                      <a:pt x="1258" y="2068"/>
                    </a:lnTo>
                    <a:lnTo>
                      <a:pt x="1258" y="2070"/>
                    </a:lnTo>
                    <a:lnTo>
                      <a:pt x="1260" y="2073"/>
                    </a:lnTo>
                    <a:lnTo>
                      <a:pt x="1260" y="2075"/>
                    </a:lnTo>
                    <a:lnTo>
                      <a:pt x="1262" y="2078"/>
                    </a:lnTo>
                    <a:lnTo>
                      <a:pt x="1262" y="2080"/>
                    </a:lnTo>
                    <a:lnTo>
                      <a:pt x="1263" y="2084"/>
                    </a:lnTo>
                    <a:lnTo>
                      <a:pt x="1265" y="2085"/>
                    </a:lnTo>
                    <a:lnTo>
                      <a:pt x="1265" y="2089"/>
                    </a:lnTo>
                    <a:lnTo>
                      <a:pt x="1267" y="2091"/>
                    </a:lnTo>
                    <a:lnTo>
                      <a:pt x="1267" y="2092"/>
                    </a:lnTo>
                    <a:lnTo>
                      <a:pt x="1269" y="2096"/>
                    </a:lnTo>
                    <a:lnTo>
                      <a:pt x="1269" y="2098"/>
                    </a:lnTo>
                    <a:lnTo>
                      <a:pt x="1270" y="2101"/>
                    </a:lnTo>
                    <a:lnTo>
                      <a:pt x="1270" y="2103"/>
                    </a:lnTo>
                    <a:lnTo>
                      <a:pt x="1272" y="2106"/>
                    </a:lnTo>
                    <a:moveTo>
                      <a:pt x="1039" y="1379"/>
                    </a:moveTo>
                    <a:lnTo>
                      <a:pt x="1037" y="1382"/>
                    </a:lnTo>
                    <a:lnTo>
                      <a:pt x="1037" y="1384"/>
                    </a:lnTo>
                    <a:lnTo>
                      <a:pt x="1037" y="1386"/>
                    </a:lnTo>
                    <a:lnTo>
                      <a:pt x="1035" y="1389"/>
                    </a:lnTo>
                    <a:lnTo>
                      <a:pt x="1035" y="1391"/>
                    </a:lnTo>
                    <a:lnTo>
                      <a:pt x="1034" y="1394"/>
                    </a:lnTo>
                    <a:lnTo>
                      <a:pt x="1034" y="1398"/>
                    </a:lnTo>
                    <a:lnTo>
                      <a:pt x="1034" y="1400"/>
                    </a:lnTo>
                    <a:lnTo>
                      <a:pt x="1032" y="1401"/>
                    </a:lnTo>
                    <a:lnTo>
                      <a:pt x="1032" y="1405"/>
                    </a:lnTo>
                    <a:lnTo>
                      <a:pt x="1032" y="1406"/>
                    </a:lnTo>
                    <a:lnTo>
                      <a:pt x="1030" y="1410"/>
                    </a:lnTo>
                    <a:lnTo>
                      <a:pt x="1030" y="1412"/>
                    </a:lnTo>
                    <a:lnTo>
                      <a:pt x="1028" y="1415"/>
                    </a:lnTo>
                    <a:lnTo>
                      <a:pt x="1028" y="1417"/>
                    </a:lnTo>
                    <a:lnTo>
                      <a:pt x="1028" y="1420"/>
                    </a:lnTo>
                    <a:lnTo>
                      <a:pt x="1027" y="1422"/>
                    </a:lnTo>
                    <a:lnTo>
                      <a:pt x="1027" y="1426"/>
                    </a:lnTo>
                    <a:lnTo>
                      <a:pt x="1025" y="1427"/>
                    </a:lnTo>
                    <a:lnTo>
                      <a:pt x="1025" y="1431"/>
                    </a:lnTo>
                    <a:lnTo>
                      <a:pt x="1025" y="1433"/>
                    </a:lnTo>
                    <a:lnTo>
                      <a:pt x="1023" y="1436"/>
                    </a:lnTo>
                    <a:lnTo>
                      <a:pt x="1023" y="1438"/>
                    </a:lnTo>
                    <a:lnTo>
                      <a:pt x="1021" y="1441"/>
                    </a:lnTo>
                    <a:lnTo>
                      <a:pt x="1021" y="1443"/>
                    </a:lnTo>
                    <a:lnTo>
                      <a:pt x="1021" y="1447"/>
                    </a:lnTo>
                    <a:lnTo>
                      <a:pt x="1020" y="1448"/>
                    </a:lnTo>
                    <a:lnTo>
                      <a:pt x="1020" y="1452"/>
                    </a:lnTo>
                    <a:lnTo>
                      <a:pt x="1018" y="1453"/>
                    </a:lnTo>
                    <a:lnTo>
                      <a:pt x="1018" y="1457"/>
                    </a:lnTo>
                    <a:lnTo>
                      <a:pt x="1018" y="1459"/>
                    </a:lnTo>
                    <a:lnTo>
                      <a:pt x="1016" y="1462"/>
                    </a:lnTo>
                    <a:lnTo>
                      <a:pt x="1016" y="1464"/>
                    </a:lnTo>
                    <a:lnTo>
                      <a:pt x="1014" y="1466"/>
                    </a:lnTo>
                    <a:lnTo>
                      <a:pt x="1014" y="1469"/>
                    </a:lnTo>
                    <a:lnTo>
                      <a:pt x="1014" y="1471"/>
                    </a:lnTo>
                    <a:lnTo>
                      <a:pt x="1013" y="1474"/>
                    </a:lnTo>
                    <a:lnTo>
                      <a:pt x="1013" y="1476"/>
                    </a:lnTo>
                    <a:lnTo>
                      <a:pt x="1011" y="1480"/>
                    </a:lnTo>
                    <a:lnTo>
                      <a:pt x="1011" y="1481"/>
                    </a:lnTo>
                    <a:lnTo>
                      <a:pt x="1011" y="1485"/>
                    </a:lnTo>
                    <a:lnTo>
                      <a:pt x="1009" y="1487"/>
                    </a:lnTo>
                    <a:lnTo>
                      <a:pt x="1009" y="1490"/>
                    </a:lnTo>
                    <a:lnTo>
                      <a:pt x="1009" y="1492"/>
                    </a:lnTo>
                    <a:lnTo>
                      <a:pt x="1007" y="1495"/>
                    </a:lnTo>
                    <a:lnTo>
                      <a:pt x="1007" y="1497"/>
                    </a:lnTo>
                    <a:lnTo>
                      <a:pt x="1006" y="1500"/>
                    </a:lnTo>
                    <a:lnTo>
                      <a:pt x="1006" y="1502"/>
                    </a:lnTo>
                    <a:lnTo>
                      <a:pt x="1004" y="1506"/>
                    </a:lnTo>
                    <a:lnTo>
                      <a:pt x="1004" y="1507"/>
                    </a:lnTo>
                    <a:lnTo>
                      <a:pt x="1004" y="1511"/>
                    </a:lnTo>
                    <a:lnTo>
                      <a:pt x="1002" y="1513"/>
                    </a:lnTo>
                    <a:lnTo>
                      <a:pt x="1002" y="1516"/>
                    </a:lnTo>
                    <a:lnTo>
                      <a:pt x="1000" y="1518"/>
                    </a:lnTo>
                    <a:lnTo>
                      <a:pt x="1000" y="1521"/>
                    </a:lnTo>
                    <a:lnTo>
                      <a:pt x="1000" y="1523"/>
                    </a:lnTo>
                    <a:lnTo>
                      <a:pt x="999" y="1527"/>
                    </a:lnTo>
                    <a:lnTo>
                      <a:pt x="999" y="1528"/>
                    </a:lnTo>
                    <a:lnTo>
                      <a:pt x="997" y="1532"/>
                    </a:lnTo>
                    <a:lnTo>
                      <a:pt x="997" y="1534"/>
                    </a:lnTo>
                    <a:lnTo>
                      <a:pt x="997" y="1535"/>
                    </a:lnTo>
                    <a:lnTo>
                      <a:pt x="995" y="1539"/>
                    </a:lnTo>
                    <a:lnTo>
                      <a:pt x="995" y="1541"/>
                    </a:lnTo>
                    <a:lnTo>
                      <a:pt x="994" y="1544"/>
                    </a:lnTo>
                    <a:lnTo>
                      <a:pt x="994" y="1546"/>
                    </a:lnTo>
                    <a:lnTo>
                      <a:pt x="992" y="1549"/>
                    </a:lnTo>
                    <a:lnTo>
                      <a:pt x="992" y="1551"/>
                    </a:lnTo>
                    <a:lnTo>
                      <a:pt x="992" y="1554"/>
                    </a:lnTo>
                    <a:lnTo>
                      <a:pt x="990" y="1556"/>
                    </a:lnTo>
                    <a:lnTo>
                      <a:pt x="990" y="1560"/>
                    </a:lnTo>
                    <a:lnTo>
                      <a:pt x="988" y="1561"/>
                    </a:lnTo>
                    <a:lnTo>
                      <a:pt x="988" y="1565"/>
                    </a:lnTo>
                    <a:lnTo>
                      <a:pt x="988" y="1567"/>
                    </a:lnTo>
                    <a:lnTo>
                      <a:pt x="987" y="1570"/>
                    </a:lnTo>
                    <a:lnTo>
                      <a:pt x="987" y="1572"/>
                    </a:lnTo>
                    <a:lnTo>
                      <a:pt x="985" y="1575"/>
                    </a:lnTo>
                    <a:lnTo>
                      <a:pt x="985" y="1577"/>
                    </a:lnTo>
                    <a:lnTo>
                      <a:pt x="983" y="1581"/>
                    </a:lnTo>
                    <a:lnTo>
                      <a:pt x="983" y="1582"/>
                    </a:lnTo>
                    <a:lnTo>
                      <a:pt x="983" y="1586"/>
                    </a:lnTo>
                    <a:lnTo>
                      <a:pt x="981" y="1588"/>
                    </a:lnTo>
                    <a:lnTo>
                      <a:pt x="981" y="1591"/>
                    </a:lnTo>
                    <a:lnTo>
                      <a:pt x="980" y="1593"/>
                    </a:lnTo>
                    <a:lnTo>
                      <a:pt x="980" y="1594"/>
                    </a:lnTo>
                    <a:lnTo>
                      <a:pt x="980" y="1598"/>
                    </a:lnTo>
                    <a:lnTo>
                      <a:pt x="978" y="1600"/>
                    </a:lnTo>
                    <a:lnTo>
                      <a:pt x="978" y="1603"/>
                    </a:lnTo>
                    <a:lnTo>
                      <a:pt x="976" y="1605"/>
                    </a:lnTo>
                    <a:lnTo>
                      <a:pt x="976" y="1608"/>
                    </a:lnTo>
                    <a:lnTo>
                      <a:pt x="974" y="1610"/>
                    </a:lnTo>
                    <a:lnTo>
                      <a:pt x="974" y="1614"/>
                    </a:lnTo>
                    <a:lnTo>
                      <a:pt x="974" y="1615"/>
                    </a:lnTo>
                    <a:lnTo>
                      <a:pt x="973" y="1619"/>
                    </a:lnTo>
                    <a:lnTo>
                      <a:pt x="973" y="1621"/>
                    </a:lnTo>
                    <a:lnTo>
                      <a:pt x="971" y="1624"/>
                    </a:lnTo>
                    <a:lnTo>
                      <a:pt x="971" y="1626"/>
                    </a:lnTo>
                    <a:lnTo>
                      <a:pt x="969" y="1629"/>
                    </a:lnTo>
                    <a:lnTo>
                      <a:pt x="969" y="1631"/>
                    </a:lnTo>
                    <a:lnTo>
                      <a:pt x="969" y="1635"/>
                    </a:lnTo>
                    <a:lnTo>
                      <a:pt x="967" y="1636"/>
                    </a:lnTo>
                    <a:lnTo>
                      <a:pt x="967" y="1640"/>
                    </a:lnTo>
                    <a:lnTo>
                      <a:pt x="966" y="1641"/>
                    </a:lnTo>
                    <a:lnTo>
                      <a:pt x="966" y="1645"/>
                    </a:lnTo>
                    <a:lnTo>
                      <a:pt x="964" y="1647"/>
                    </a:lnTo>
                    <a:lnTo>
                      <a:pt x="964" y="1650"/>
                    </a:lnTo>
                    <a:lnTo>
                      <a:pt x="964" y="1652"/>
                    </a:lnTo>
                    <a:lnTo>
                      <a:pt x="962" y="1654"/>
                    </a:lnTo>
                    <a:lnTo>
                      <a:pt x="962" y="1657"/>
                    </a:lnTo>
                    <a:lnTo>
                      <a:pt x="960" y="1659"/>
                    </a:lnTo>
                    <a:lnTo>
                      <a:pt x="960" y="1662"/>
                    </a:lnTo>
                    <a:lnTo>
                      <a:pt x="959" y="1664"/>
                    </a:lnTo>
                    <a:lnTo>
                      <a:pt x="959" y="1668"/>
                    </a:lnTo>
                    <a:lnTo>
                      <a:pt x="957" y="1669"/>
                    </a:lnTo>
                    <a:lnTo>
                      <a:pt x="957" y="1673"/>
                    </a:lnTo>
                    <a:lnTo>
                      <a:pt x="955" y="1675"/>
                    </a:lnTo>
                    <a:lnTo>
                      <a:pt x="955" y="1678"/>
                    </a:lnTo>
                    <a:lnTo>
                      <a:pt x="955" y="1680"/>
                    </a:lnTo>
                    <a:lnTo>
                      <a:pt x="954" y="1683"/>
                    </a:lnTo>
                    <a:lnTo>
                      <a:pt x="954" y="1685"/>
                    </a:lnTo>
                    <a:lnTo>
                      <a:pt x="952" y="1689"/>
                    </a:lnTo>
                    <a:lnTo>
                      <a:pt x="952" y="1690"/>
                    </a:lnTo>
                    <a:lnTo>
                      <a:pt x="950" y="1692"/>
                    </a:lnTo>
                    <a:lnTo>
                      <a:pt x="950" y="1695"/>
                    </a:lnTo>
                    <a:lnTo>
                      <a:pt x="950" y="1699"/>
                    </a:lnTo>
                    <a:lnTo>
                      <a:pt x="948" y="1701"/>
                    </a:lnTo>
                    <a:lnTo>
                      <a:pt x="948" y="1702"/>
                    </a:lnTo>
                    <a:lnTo>
                      <a:pt x="947" y="1706"/>
                    </a:lnTo>
                    <a:lnTo>
                      <a:pt x="947" y="1708"/>
                    </a:lnTo>
                    <a:lnTo>
                      <a:pt x="945" y="1711"/>
                    </a:lnTo>
                    <a:lnTo>
                      <a:pt x="945" y="1713"/>
                    </a:lnTo>
                    <a:lnTo>
                      <a:pt x="943" y="1716"/>
                    </a:lnTo>
                    <a:lnTo>
                      <a:pt x="943" y="1718"/>
                    </a:lnTo>
                    <a:lnTo>
                      <a:pt x="941" y="1722"/>
                    </a:lnTo>
                    <a:lnTo>
                      <a:pt x="941" y="1723"/>
                    </a:lnTo>
                    <a:lnTo>
                      <a:pt x="941" y="1727"/>
                    </a:lnTo>
                    <a:lnTo>
                      <a:pt x="940" y="1729"/>
                    </a:lnTo>
                    <a:lnTo>
                      <a:pt x="940" y="1732"/>
                    </a:lnTo>
                    <a:lnTo>
                      <a:pt x="938" y="1734"/>
                    </a:lnTo>
                    <a:lnTo>
                      <a:pt x="938" y="1737"/>
                    </a:lnTo>
                    <a:lnTo>
                      <a:pt x="936" y="1739"/>
                    </a:lnTo>
                    <a:lnTo>
                      <a:pt x="936" y="1742"/>
                    </a:lnTo>
                    <a:lnTo>
                      <a:pt x="934" y="1744"/>
                    </a:lnTo>
                    <a:lnTo>
                      <a:pt x="934" y="1746"/>
                    </a:lnTo>
                    <a:lnTo>
                      <a:pt x="933" y="1749"/>
                    </a:lnTo>
                    <a:lnTo>
                      <a:pt x="933" y="1751"/>
                    </a:lnTo>
                    <a:lnTo>
                      <a:pt x="933" y="1755"/>
                    </a:lnTo>
                    <a:lnTo>
                      <a:pt x="931" y="1756"/>
                    </a:lnTo>
                    <a:lnTo>
                      <a:pt x="931" y="1760"/>
                    </a:lnTo>
                    <a:lnTo>
                      <a:pt x="929" y="1762"/>
                    </a:lnTo>
                    <a:lnTo>
                      <a:pt x="929" y="1765"/>
                    </a:lnTo>
                    <a:lnTo>
                      <a:pt x="927" y="1767"/>
                    </a:lnTo>
                    <a:lnTo>
                      <a:pt x="927" y="1770"/>
                    </a:lnTo>
                    <a:lnTo>
                      <a:pt x="926" y="1772"/>
                    </a:lnTo>
                    <a:lnTo>
                      <a:pt x="926" y="1776"/>
                    </a:lnTo>
                    <a:lnTo>
                      <a:pt x="924" y="1777"/>
                    </a:lnTo>
                    <a:lnTo>
                      <a:pt x="924" y="1781"/>
                    </a:lnTo>
                    <a:lnTo>
                      <a:pt x="922" y="1783"/>
                    </a:lnTo>
                    <a:lnTo>
                      <a:pt x="922" y="1786"/>
                    </a:lnTo>
                    <a:lnTo>
                      <a:pt x="920" y="1788"/>
                    </a:lnTo>
                    <a:lnTo>
                      <a:pt x="920" y="1791"/>
                    </a:lnTo>
                    <a:lnTo>
                      <a:pt x="919" y="1793"/>
                    </a:lnTo>
                    <a:lnTo>
                      <a:pt x="919" y="1795"/>
                    </a:lnTo>
                    <a:lnTo>
                      <a:pt x="919" y="1798"/>
                    </a:lnTo>
                    <a:lnTo>
                      <a:pt x="917" y="1800"/>
                    </a:lnTo>
                    <a:lnTo>
                      <a:pt x="917" y="1803"/>
                    </a:lnTo>
                    <a:lnTo>
                      <a:pt x="915" y="1805"/>
                    </a:lnTo>
                    <a:lnTo>
                      <a:pt x="915" y="1809"/>
                    </a:lnTo>
                    <a:lnTo>
                      <a:pt x="913" y="1810"/>
                    </a:lnTo>
                    <a:lnTo>
                      <a:pt x="913" y="1814"/>
                    </a:lnTo>
                    <a:lnTo>
                      <a:pt x="912" y="1816"/>
                    </a:lnTo>
                    <a:lnTo>
                      <a:pt x="912" y="1819"/>
                    </a:lnTo>
                    <a:lnTo>
                      <a:pt x="910" y="1821"/>
                    </a:lnTo>
                    <a:lnTo>
                      <a:pt x="910" y="1824"/>
                    </a:lnTo>
                    <a:lnTo>
                      <a:pt x="908" y="1826"/>
                    </a:lnTo>
                    <a:lnTo>
                      <a:pt x="908" y="1828"/>
                    </a:lnTo>
                    <a:lnTo>
                      <a:pt x="907" y="1831"/>
                    </a:lnTo>
                    <a:lnTo>
                      <a:pt x="907" y="1833"/>
                    </a:lnTo>
                    <a:lnTo>
                      <a:pt x="905" y="1836"/>
                    </a:lnTo>
                    <a:lnTo>
                      <a:pt x="905" y="1838"/>
                    </a:lnTo>
                    <a:lnTo>
                      <a:pt x="903" y="1842"/>
                    </a:lnTo>
                    <a:lnTo>
                      <a:pt x="903" y="1843"/>
                    </a:lnTo>
                    <a:lnTo>
                      <a:pt x="901" y="1847"/>
                    </a:lnTo>
                    <a:lnTo>
                      <a:pt x="901" y="1849"/>
                    </a:lnTo>
                    <a:lnTo>
                      <a:pt x="900" y="1852"/>
                    </a:lnTo>
                    <a:lnTo>
                      <a:pt x="900" y="1854"/>
                    </a:lnTo>
                    <a:lnTo>
                      <a:pt x="900" y="1857"/>
                    </a:lnTo>
                    <a:lnTo>
                      <a:pt x="898" y="1859"/>
                    </a:lnTo>
                    <a:lnTo>
                      <a:pt x="896" y="1861"/>
                    </a:lnTo>
                    <a:lnTo>
                      <a:pt x="896" y="1864"/>
                    </a:lnTo>
                    <a:lnTo>
                      <a:pt x="896" y="1868"/>
                    </a:lnTo>
                    <a:lnTo>
                      <a:pt x="894" y="1870"/>
                    </a:lnTo>
                    <a:lnTo>
                      <a:pt x="894" y="1871"/>
                    </a:lnTo>
                    <a:lnTo>
                      <a:pt x="893" y="1875"/>
                    </a:lnTo>
                    <a:lnTo>
                      <a:pt x="893" y="1877"/>
                    </a:lnTo>
                    <a:lnTo>
                      <a:pt x="891" y="1880"/>
                    </a:lnTo>
                    <a:lnTo>
                      <a:pt x="891" y="1882"/>
                    </a:lnTo>
                    <a:lnTo>
                      <a:pt x="889" y="1885"/>
                    </a:lnTo>
                    <a:lnTo>
                      <a:pt x="889" y="1887"/>
                    </a:lnTo>
                    <a:lnTo>
                      <a:pt x="887" y="1890"/>
                    </a:lnTo>
                    <a:lnTo>
                      <a:pt x="887" y="1892"/>
                    </a:lnTo>
                    <a:lnTo>
                      <a:pt x="886" y="1896"/>
                    </a:lnTo>
                    <a:lnTo>
                      <a:pt x="886" y="1897"/>
                    </a:lnTo>
                    <a:lnTo>
                      <a:pt x="884" y="1901"/>
                    </a:lnTo>
                    <a:lnTo>
                      <a:pt x="884" y="1903"/>
                    </a:lnTo>
                    <a:lnTo>
                      <a:pt x="882" y="1904"/>
                    </a:lnTo>
                    <a:lnTo>
                      <a:pt x="882" y="1908"/>
                    </a:lnTo>
                    <a:lnTo>
                      <a:pt x="880" y="1910"/>
                    </a:lnTo>
                    <a:lnTo>
                      <a:pt x="880" y="1913"/>
                    </a:lnTo>
                    <a:lnTo>
                      <a:pt x="879" y="1915"/>
                    </a:lnTo>
                    <a:lnTo>
                      <a:pt x="879" y="1918"/>
                    </a:lnTo>
                    <a:lnTo>
                      <a:pt x="877" y="1920"/>
                    </a:lnTo>
                    <a:lnTo>
                      <a:pt x="877" y="1924"/>
                    </a:lnTo>
                    <a:lnTo>
                      <a:pt x="875" y="1925"/>
                    </a:lnTo>
                    <a:lnTo>
                      <a:pt x="875" y="1929"/>
                    </a:lnTo>
                    <a:lnTo>
                      <a:pt x="873" y="1930"/>
                    </a:lnTo>
                    <a:lnTo>
                      <a:pt x="873" y="1934"/>
                    </a:lnTo>
                    <a:lnTo>
                      <a:pt x="872" y="1936"/>
                    </a:lnTo>
                    <a:lnTo>
                      <a:pt x="872" y="1937"/>
                    </a:lnTo>
                    <a:lnTo>
                      <a:pt x="870" y="1941"/>
                    </a:lnTo>
                    <a:lnTo>
                      <a:pt x="868" y="1943"/>
                    </a:lnTo>
                    <a:lnTo>
                      <a:pt x="868" y="1946"/>
                    </a:lnTo>
                    <a:lnTo>
                      <a:pt x="868" y="1948"/>
                    </a:lnTo>
                    <a:lnTo>
                      <a:pt x="866" y="1951"/>
                    </a:lnTo>
                    <a:lnTo>
                      <a:pt x="865" y="1953"/>
                    </a:lnTo>
                    <a:lnTo>
                      <a:pt x="865" y="1957"/>
                    </a:lnTo>
                    <a:lnTo>
                      <a:pt x="863" y="1958"/>
                    </a:lnTo>
                    <a:lnTo>
                      <a:pt x="863" y="1962"/>
                    </a:lnTo>
                    <a:lnTo>
                      <a:pt x="861" y="1964"/>
                    </a:lnTo>
                    <a:lnTo>
                      <a:pt x="861" y="1967"/>
                    </a:lnTo>
                    <a:lnTo>
                      <a:pt x="860" y="1969"/>
                    </a:lnTo>
                    <a:lnTo>
                      <a:pt x="860" y="1971"/>
                    </a:lnTo>
                    <a:lnTo>
                      <a:pt x="858" y="1974"/>
                    </a:lnTo>
                    <a:lnTo>
                      <a:pt x="858" y="1976"/>
                    </a:lnTo>
                    <a:lnTo>
                      <a:pt x="856" y="1979"/>
                    </a:lnTo>
                    <a:lnTo>
                      <a:pt x="856" y="1981"/>
                    </a:lnTo>
                    <a:lnTo>
                      <a:pt x="854" y="1984"/>
                    </a:lnTo>
                    <a:lnTo>
                      <a:pt x="854" y="1986"/>
                    </a:lnTo>
                    <a:lnTo>
                      <a:pt x="853" y="1990"/>
                    </a:lnTo>
                    <a:lnTo>
                      <a:pt x="853" y="1991"/>
                    </a:lnTo>
                    <a:lnTo>
                      <a:pt x="851" y="1995"/>
                    </a:lnTo>
                    <a:lnTo>
                      <a:pt x="851" y="1997"/>
                    </a:lnTo>
                    <a:lnTo>
                      <a:pt x="849" y="2000"/>
                    </a:lnTo>
                    <a:lnTo>
                      <a:pt x="849" y="2002"/>
                    </a:lnTo>
                    <a:lnTo>
                      <a:pt x="847" y="2005"/>
                    </a:lnTo>
                    <a:lnTo>
                      <a:pt x="847" y="2007"/>
                    </a:lnTo>
                    <a:lnTo>
                      <a:pt x="846" y="2009"/>
                    </a:lnTo>
                    <a:lnTo>
                      <a:pt x="846" y="2012"/>
                    </a:lnTo>
                    <a:lnTo>
                      <a:pt x="844" y="2014"/>
                    </a:lnTo>
                    <a:lnTo>
                      <a:pt x="842" y="2018"/>
                    </a:lnTo>
                    <a:lnTo>
                      <a:pt x="842" y="2019"/>
                    </a:lnTo>
                    <a:lnTo>
                      <a:pt x="840" y="2023"/>
                    </a:lnTo>
                    <a:lnTo>
                      <a:pt x="840" y="2025"/>
                    </a:lnTo>
                    <a:lnTo>
                      <a:pt x="839" y="2028"/>
                    </a:lnTo>
                    <a:lnTo>
                      <a:pt x="839" y="2030"/>
                    </a:lnTo>
                    <a:lnTo>
                      <a:pt x="837" y="2033"/>
                    </a:lnTo>
                    <a:lnTo>
                      <a:pt x="837" y="2035"/>
                    </a:lnTo>
                    <a:lnTo>
                      <a:pt x="835" y="2037"/>
                    </a:lnTo>
                    <a:lnTo>
                      <a:pt x="835" y="2040"/>
                    </a:lnTo>
                    <a:lnTo>
                      <a:pt x="833" y="2042"/>
                    </a:lnTo>
                    <a:lnTo>
                      <a:pt x="833" y="2045"/>
                    </a:lnTo>
                    <a:lnTo>
                      <a:pt x="832" y="2047"/>
                    </a:lnTo>
                    <a:lnTo>
                      <a:pt x="832" y="2051"/>
                    </a:lnTo>
                    <a:lnTo>
                      <a:pt x="830" y="2052"/>
                    </a:lnTo>
                    <a:lnTo>
                      <a:pt x="828" y="2056"/>
                    </a:lnTo>
                    <a:lnTo>
                      <a:pt x="828" y="2058"/>
                    </a:lnTo>
                    <a:lnTo>
                      <a:pt x="826" y="2061"/>
                    </a:lnTo>
                    <a:lnTo>
                      <a:pt x="826" y="2063"/>
                    </a:lnTo>
                    <a:lnTo>
                      <a:pt x="825" y="2065"/>
                    </a:lnTo>
                    <a:lnTo>
                      <a:pt x="825" y="2068"/>
                    </a:lnTo>
                    <a:lnTo>
                      <a:pt x="823" y="2070"/>
                    </a:lnTo>
                    <a:lnTo>
                      <a:pt x="823" y="2073"/>
                    </a:lnTo>
                    <a:lnTo>
                      <a:pt x="821" y="2075"/>
                    </a:lnTo>
                    <a:lnTo>
                      <a:pt x="821" y="2078"/>
                    </a:lnTo>
                    <a:lnTo>
                      <a:pt x="819" y="2080"/>
                    </a:lnTo>
                    <a:lnTo>
                      <a:pt x="819" y="2084"/>
                    </a:lnTo>
                    <a:lnTo>
                      <a:pt x="818" y="2085"/>
                    </a:lnTo>
                    <a:lnTo>
                      <a:pt x="818" y="2089"/>
                    </a:lnTo>
                    <a:lnTo>
                      <a:pt x="816" y="2091"/>
                    </a:lnTo>
                    <a:lnTo>
                      <a:pt x="814" y="2092"/>
                    </a:lnTo>
                    <a:lnTo>
                      <a:pt x="814" y="2096"/>
                    </a:lnTo>
                    <a:lnTo>
                      <a:pt x="813" y="2098"/>
                    </a:lnTo>
                    <a:lnTo>
                      <a:pt x="813" y="2101"/>
                    </a:lnTo>
                    <a:lnTo>
                      <a:pt x="811" y="2103"/>
                    </a:lnTo>
                    <a:lnTo>
                      <a:pt x="811" y="2106"/>
                    </a:lnTo>
                    <a:moveTo>
                      <a:pt x="854" y="1570"/>
                    </a:moveTo>
                    <a:lnTo>
                      <a:pt x="853" y="1574"/>
                    </a:lnTo>
                    <a:lnTo>
                      <a:pt x="849" y="1575"/>
                    </a:lnTo>
                    <a:lnTo>
                      <a:pt x="847" y="1577"/>
                    </a:lnTo>
                    <a:lnTo>
                      <a:pt x="846" y="1579"/>
                    </a:lnTo>
                    <a:lnTo>
                      <a:pt x="844" y="1581"/>
                    </a:lnTo>
                    <a:lnTo>
                      <a:pt x="842" y="1582"/>
                    </a:lnTo>
                    <a:lnTo>
                      <a:pt x="839" y="1586"/>
                    </a:lnTo>
                    <a:lnTo>
                      <a:pt x="837" y="1588"/>
                    </a:lnTo>
                    <a:lnTo>
                      <a:pt x="835" y="1589"/>
                    </a:lnTo>
                    <a:lnTo>
                      <a:pt x="833" y="1591"/>
                    </a:lnTo>
                    <a:lnTo>
                      <a:pt x="832" y="1594"/>
                    </a:lnTo>
                    <a:lnTo>
                      <a:pt x="828" y="1596"/>
                    </a:lnTo>
                    <a:lnTo>
                      <a:pt x="826" y="1598"/>
                    </a:lnTo>
                    <a:lnTo>
                      <a:pt x="825" y="1600"/>
                    </a:lnTo>
                    <a:lnTo>
                      <a:pt x="823" y="1601"/>
                    </a:lnTo>
                    <a:lnTo>
                      <a:pt x="819" y="1603"/>
                    </a:lnTo>
                    <a:lnTo>
                      <a:pt x="818" y="1607"/>
                    </a:lnTo>
                    <a:lnTo>
                      <a:pt x="816" y="1608"/>
                    </a:lnTo>
                    <a:lnTo>
                      <a:pt x="814" y="1610"/>
                    </a:lnTo>
                    <a:lnTo>
                      <a:pt x="811" y="1612"/>
                    </a:lnTo>
                    <a:lnTo>
                      <a:pt x="809" y="1614"/>
                    </a:lnTo>
                    <a:lnTo>
                      <a:pt x="807" y="1617"/>
                    </a:lnTo>
                    <a:lnTo>
                      <a:pt x="806" y="1619"/>
                    </a:lnTo>
                    <a:lnTo>
                      <a:pt x="802" y="1621"/>
                    </a:lnTo>
                    <a:lnTo>
                      <a:pt x="800" y="1622"/>
                    </a:lnTo>
                    <a:lnTo>
                      <a:pt x="799" y="1624"/>
                    </a:lnTo>
                    <a:lnTo>
                      <a:pt x="797" y="1626"/>
                    </a:lnTo>
                    <a:lnTo>
                      <a:pt x="793" y="1629"/>
                    </a:lnTo>
                    <a:lnTo>
                      <a:pt x="792" y="1631"/>
                    </a:lnTo>
                    <a:lnTo>
                      <a:pt x="790" y="1633"/>
                    </a:lnTo>
                    <a:lnTo>
                      <a:pt x="788" y="1635"/>
                    </a:lnTo>
                    <a:lnTo>
                      <a:pt x="785" y="1636"/>
                    </a:lnTo>
                    <a:lnTo>
                      <a:pt x="783" y="1640"/>
                    </a:lnTo>
                    <a:lnTo>
                      <a:pt x="781" y="1641"/>
                    </a:lnTo>
                    <a:lnTo>
                      <a:pt x="779" y="1643"/>
                    </a:lnTo>
                    <a:lnTo>
                      <a:pt x="776" y="1645"/>
                    </a:lnTo>
                    <a:lnTo>
                      <a:pt x="774" y="1647"/>
                    </a:lnTo>
                    <a:lnTo>
                      <a:pt x="772" y="1648"/>
                    </a:lnTo>
                    <a:lnTo>
                      <a:pt x="769" y="1650"/>
                    </a:lnTo>
                    <a:lnTo>
                      <a:pt x="767" y="1654"/>
                    </a:lnTo>
                    <a:lnTo>
                      <a:pt x="766" y="1655"/>
                    </a:lnTo>
                    <a:lnTo>
                      <a:pt x="764" y="1657"/>
                    </a:lnTo>
                    <a:lnTo>
                      <a:pt x="762" y="1659"/>
                    </a:lnTo>
                    <a:lnTo>
                      <a:pt x="759" y="1661"/>
                    </a:lnTo>
                    <a:lnTo>
                      <a:pt x="757" y="1662"/>
                    </a:lnTo>
                    <a:lnTo>
                      <a:pt x="755" y="1666"/>
                    </a:lnTo>
                    <a:lnTo>
                      <a:pt x="752" y="1668"/>
                    </a:lnTo>
                    <a:lnTo>
                      <a:pt x="750" y="1669"/>
                    </a:lnTo>
                    <a:lnTo>
                      <a:pt x="748" y="1671"/>
                    </a:lnTo>
                    <a:lnTo>
                      <a:pt x="745" y="1673"/>
                    </a:lnTo>
                    <a:lnTo>
                      <a:pt x="743" y="1675"/>
                    </a:lnTo>
                    <a:lnTo>
                      <a:pt x="741" y="1678"/>
                    </a:lnTo>
                    <a:lnTo>
                      <a:pt x="739" y="1680"/>
                    </a:lnTo>
                    <a:lnTo>
                      <a:pt x="736" y="1682"/>
                    </a:lnTo>
                    <a:lnTo>
                      <a:pt x="734" y="1683"/>
                    </a:lnTo>
                    <a:lnTo>
                      <a:pt x="732" y="1685"/>
                    </a:lnTo>
                    <a:lnTo>
                      <a:pt x="729" y="1687"/>
                    </a:lnTo>
                    <a:lnTo>
                      <a:pt x="727" y="1689"/>
                    </a:lnTo>
                    <a:lnTo>
                      <a:pt x="726" y="1692"/>
                    </a:lnTo>
                    <a:lnTo>
                      <a:pt x="722" y="1694"/>
                    </a:lnTo>
                    <a:lnTo>
                      <a:pt x="720" y="1695"/>
                    </a:lnTo>
                    <a:lnTo>
                      <a:pt x="719" y="1697"/>
                    </a:lnTo>
                    <a:lnTo>
                      <a:pt x="717" y="1699"/>
                    </a:lnTo>
                    <a:lnTo>
                      <a:pt x="713" y="1701"/>
                    </a:lnTo>
                    <a:lnTo>
                      <a:pt x="712" y="1702"/>
                    </a:lnTo>
                    <a:lnTo>
                      <a:pt x="710" y="1704"/>
                    </a:lnTo>
                    <a:lnTo>
                      <a:pt x="706" y="1708"/>
                    </a:lnTo>
                    <a:lnTo>
                      <a:pt x="705" y="1709"/>
                    </a:lnTo>
                    <a:lnTo>
                      <a:pt x="703" y="1711"/>
                    </a:lnTo>
                    <a:lnTo>
                      <a:pt x="699" y="1713"/>
                    </a:lnTo>
                    <a:lnTo>
                      <a:pt x="698" y="1715"/>
                    </a:lnTo>
                    <a:lnTo>
                      <a:pt x="696" y="1716"/>
                    </a:lnTo>
                    <a:lnTo>
                      <a:pt x="692" y="1718"/>
                    </a:lnTo>
                    <a:lnTo>
                      <a:pt x="691" y="1722"/>
                    </a:lnTo>
                    <a:lnTo>
                      <a:pt x="689" y="1723"/>
                    </a:lnTo>
                    <a:lnTo>
                      <a:pt x="685" y="1725"/>
                    </a:lnTo>
                    <a:lnTo>
                      <a:pt x="684" y="1727"/>
                    </a:lnTo>
                    <a:lnTo>
                      <a:pt x="682" y="1729"/>
                    </a:lnTo>
                    <a:lnTo>
                      <a:pt x="679" y="1730"/>
                    </a:lnTo>
                    <a:lnTo>
                      <a:pt x="677" y="1732"/>
                    </a:lnTo>
                    <a:lnTo>
                      <a:pt x="675" y="1734"/>
                    </a:lnTo>
                    <a:lnTo>
                      <a:pt x="672" y="1736"/>
                    </a:lnTo>
                    <a:lnTo>
                      <a:pt x="670" y="1739"/>
                    </a:lnTo>
                    <a:lnTo>
                      <a:pt x="668" y="1741"/>
                    </a:lnTo>
                    <a:lnTo>
                      <a:pt x="665" y="1742"/>
                    </a:lnTo>
                    <a:lnTo>
                      <a:pt x="663" y="1744"/>
                    </a:lnTo>
                    <a:lnTo>
                      <a:pt x="661" y="1746"/>
                    </a:lnTo>
                    <a:lnTo>
                      <a:pt x="658" y="1748"/>
                    </a:lnTo>
                    <a:lnTo>
                      <a:pt x="656" y="1749"/>
                    </a:lnTo>
                    <a:lnTo>
                      <a:pt x="654" y="1751"/>
                    </a:lnTo>
                    <a:lnTo>
                      <a:pt x="651" y="1755"/>
                    </a:lnTo>
                    <a:lnTo>
                      <a:pt x="649" y="1756"/>
                    </a:lnTo>
                    <a:lnTo>
                      <a:pt x="645" y="1758"/>
                    </a:lnTo>
                    <a:lnTo>
                      <a:pt x="644" y="1760"/>
                    </a:lnTo>
                    <a:lnTo>
                      <a:pt x="642" y="1762"/>
                    </a:lnTo>
                    <a:lnTo>
                      <a:pt x="640" y="1763"/>
                    </a:lnTo>
                    <a:lnTo>
                      <a:pt x="637" y="1765"/>
                    </a:lnTo>
                    <a:lnTo>
                      <a:pt x="635" y="1767"/>
                    </a:lnTo>
                    <a:lnTo>
                      <a:pt x="632" y="1769"/>
                    </a:lnTo>
                    <a:lnTo>
                      <a:pt x="630" y="1770"/>
                    </a:lnTo>
                    <a:lnTo>
                      <a:pt x="628" y="1772"/>
                    </a:lnTo>
                    <a:lnTo>
                      <a:pt x="625" y="1774"/>
                    </a:lnTo>
                    <a:lnTo>
                      <a:pt x="623" y="1777"/>
                    </a:lnTo>
                    <a:lnTo>
                      <a:pt x="621" y="1779"/>
                    </a:lnTo>
                    <a:lnTo>
                      <a:pt x="618" y="1781"/>
                    </a:lnTo>
                    <a:lnTo>
                      <a:pt x="616" y="1783"/>
                    </a:lnTo>
                    <a:lnTo>
                      <a:pt x="612" y="1784"/>
                    </a:lnTo>
                    <a:lnTo>
                      <a:pt x="611" y="1786"/>
                    </a:lnTo>
                    <a:lnTo>
                      <a:pt x="609" y="1788"/>
                    </a:lnTo>
                    <a:lnTo>
                      <a:pt x="605" y="1789"/>
                    </a:lnTo>
                    <a:lnTo>
                      <a:pt x="604" y="1791"/>
                    </a:lnTo>
                    <a:lnTo>
                      <a:pt x="600" y="1795"/>
                    </a:lnTo>
                    <a:lnTo>
                      <a:pt x="598" y="1796"/>
                    </a:lnTo>
                    <a:lnTo>
                      <a:pt x="597" y="1798"/>
                    </a:lnTo>
                    <a:lnTo>
                      <a:pt x="593" y="1800"/>
                    </a:lnTo>
                    <a:lnTo>
                      <a:pt x="591" y="1802"/>
                    </a:lnTo>
                    <a:lnTo>
                      <a:pt x="590" y="1803"/>
                    </a:lnTo>
                    <a:lnTo>
                      <a:pt x="586" y="1805"/>
                    </a:lnTo>
                    <a:lnTo>
                      <a:pt x="585" y="1807"/>
                    </a:lnTo>
                    <a:lnTo>
                      <a:pt x="581" y="1809"/>
                    </a:lnTo>
                    <a:lnTo>
                      <a:pt x="579" y="1810"/>
                    </a:lnTo>
                    <a:lnTo>
                      <a:pt x="576" y="1812"/>
                    </a:lnTo>
                    <a:lnTo>
                      <a:pt x="574" y="1814"/>
                    </a:lnTo>
                    <a:lnTo>
                      <a:pt x="572" y="1816"/>
                    </a:lnTo>
                    <a:lnTo>
                      <a:pt x="569" y="1817"/>
                    </a:lnTo>
                    <a:lnTo>
                      <a:pt x="567" y="1819"/>
                    </a:lnTo>
                    <a:lnTo>
                      <a:pt x="564" y="1823"/>
                    </a:lnTo>
                    <a:lnTo>
                      <a:pt x="562" y="1824"/>
                    </a:lnTo>
                    <a:lnTo>
                      <a:pt x="560" y="1826"/>
                    </a:lnTo>
                    <a:lnTo>
                      <a:pt x="557" y="1828"/>
                    </a:lnTo>
                    <a:lnTo>
                      <a:pt x="555" y="1830"/>
                    </a:lnTo>
                    <a:lnTo>
                      <a:pt x="551" y="1831"/>
                    </a:lnTo>
                    <a:lnTo>
                      <a:pt x="550" y="1833"/>
                    </a:lnTo>
                    <a:lnTo>
                      <a:pt x="548" y="1835"/>
                    </a:lnTo>
                    <a:lnTo>
                      <a:pt x="544" y="1836"/>
                    </a:lnTo>
                    <a:lnTo>
                      <a:pt x="543" y="1838"/>
                    </a:lnTo>
                    <a:lnTo>
                      <a:pt x="539" y="1840"/>
                    </a:lnTo>
                    <a:lnTo>
                      <a:pt x="538" y="1842"/>
                    </a:lnTo>
                    <a:lnTo>
                      <a:pt x="534" y="1843"/>
                    </a:lnTo>
                    <a:lnTo>
                      <a:pt x="532" y="1845"/>
                    </a:lnTo>
                    <a:lnTo>
                      <a:pt x="531" y="1847"/>
                    </a:lnTo>
                    <a:lnTo>
                      <a:pt x="527" y="1849"/>
                    </a:lnTo>
                    <a:lnTo>
                      <a:pt x="525" y="1850"/>
                    </a:lnTo>
                    <a:lnTo>
                      <a:pt x="522" y="1852"/>
                    </a:lnTo>
                    <a:lnTo>
                      <a:pt x="520" y="1854"/>
                    </a:lnTo>
                    <a:lnTo>
                      <a:pt x="517" y="1856"/>
                    </a:lnTo>
                    <a:lnTo>
                      <a:pt x="515" y="1859"/>
                    </a:lnTo>
                    <a:lnTo>
                      <a:pt x="511" y="1861"/>
                    </a:lnTo>
                    <a:lnTo>
                      <a:pt x="510" y="1863"/>
                    </a:lnTo>
                    <a:lnTo>
                      <a:pt x="508" y="1864"/>
                    </a:lnTo>
                    <a:lnTo>
                      <a:pt x="504" y="1866"/>
                    </a:lnTo>
                    <a:lnTo>
                      <a:pt x="503" y="1868"/>
                    </a:lnTo>
                    <a:lnTo>
                      <a:pt x="499" y="1870"/>
                    </a:lnTo>
                    <a:lnTo>
                      <a:pt x="498" y="1871"/>
                    </a:lnTo>
                    <a:lnTo>
                      <a:pt x="494" y="1873"/>
                    </a:lnTo>
                    <a:lnTo>
                      <a:pt x="492" y="1875"/>
                    </a:lnTo>
                    <a:lnTo>
                      <a:pt x="489" y="1877"/>
                    </a:lnTo>
                    <a:lnTo>
                      <a:pt x="487" y="1878"/>
                    </a:lnTo>
                    <a:lnTo>
                      <a:pt x="484" y="1880"/>
                    </a:lnTo>
                    <a:lnTo>
                      <a:pt x="482" y="1882"/>
                    </a:lnTo>
                    <a:lnTo>
                      <a:pt x="480" y="1883"/>
                    </a:lnTo>
                    <a:lnTo>
                      <a:pt x="477" y="1885"/>
                    </a:lnTo>
                    <a:lnTo>
                      <a:pt x="475" y="1887"/>
                    </a:lnTo>
                    <a:lnTo>
                      <a:pt x="471" y="1889"/>
                    </a:lnTo>
                    <a:lnTo>
                      <a:pt x="470" y="1890"/>
                    </a:lnTo>
                    <a:lnTo>
                      <a:pt x="466" y="1892"/>
                    </a:lnTo>
                    <a:lnTo>
                      <a:pt x="464" y="1894"/>
                    </a:lnTo>
                    <a:lnTo>
                      <a:pt x="461" y="1896"/>
                    </a:lnTo>
                    <a:lnTo>
                      <a:pt x="459" y="1897"/>
                    </a:lnTo>
                    <a:lnTo>
                      <a:pt x="456" y="1899"/>
                    </a:lnTo>
                    <a:lnTo>
                      <a:pt x="454" y="1901"/>
                    </a:lnTo>
                    <a:lnTo>
                      <a:pt x="451" y="1903"/>
                    </a:lnTo>
                    <a:lnTo>
                      <a:pt x="449" y="1904"/>
                    </a:lnTo>
                    <a:lnTo>
                      <a:pt x="445" y="1906"/>
                    </a:lnTo>
                    <a:lnTo>
                      <a:pt x="444" y="1908"/>
                    </a:lnTo>
                    <a:lnTo>
                      <a:pt x="440" y="1910"/>
                    </a:lnTo>
                    <a:lnTo>
                      <a:pt x="438" y="1911"/>
                    </a:lnTo>
                    <a:lnTo>
                      <a:pt x="435" y="1913"/>
                    </a:lnTo>
                    <a:lnTo>
                      <a:pt x="433" y="1915"/>
                    </a:lnTo>
                    <a:lnTo>
                      <a:pt x="430" y="1917"/>
                    </a:lnTo>
                    <a:lnTo>
                      <a:pt x="428" y="1918"/>
                    </a:lnTo>
                    <a:lnTo>
                      <a:pt x="424" y="1920"/>
                    </a:lnTo>
                    <a:lnTo>
                      <a:pt x="423" y="1922"/>
                    </a:lnTo>
                    <a:lnTo>
                      <a:pt x="419" y="1924"/>
                    </a:lnTo>
                    <a:lnTo>
                      <a:pt x="417" y="1925"/>
                    </a:lnTo>
                    <a:lnTo>
                      <a:pt x="414" y="1927"/>
                    </a:lnTo>
                    <a:lnTo>
                      <a:pt x="412" y="1929"/>
                    </a:lnTo>
                    <a:lnTo>
                      <a:pt x="409" y="1930"/>
                    </a:lnTo>
                    <a:lnTo>
                      <a:pt x="407" y="1932"/>
                    </a:lnTo>
                    <a:lnTo>
                      <a:pt x="404" y="1934"/>
                    </a:lnTo>
                    <a:lnTo>
                      <a:pt x="402" y="1936"/>
                    </a:lnTo>
                    <a:lnTo>
                      <a:pt x="398" y="1937"/>
                    </a:lnTo>
                    <a:lnTo>
                      <a:pt x="397" y="1939"/>
                    </a:lnTo>
                    <a:lnTo>
                      <a:pt x="393" y="1941"/>
                    </a:lnTo>
                    <a:lnTo>
                      <a:pt x="391" y="1943"/>
                    </a:lnTo>
                    <a:lnTo>
                      <a:pt x="388" y="1944"/>
                    </a:lnTo>
                    <a:lnTo>
                      <a:pt x="386" y="1946"/>
                    </a:lnTo>
                    <a:lnTo>
                      <a:pt x="383" y="1948"/>
                    </a:lnTo>
                    <a:lnTo>
                      <a:pt x="381" y="1950"/>
                    </a:lnTo>
                    <a:lnTo>
                      <a:pt x="377" y="1951"/>
                    </a:lnTo>
                    <a:lnTo>
                      <a:pt x="376" y="1953"/>
                    </a:lnTo>
                    <a:lnTo>
                      <a:pt x="372" y="1955"/>
                    </a:lnTo>
                    <a:lnTo>
                      <a:pt x="370" y="1957"/>
                    </a:lnTo>
                    <a:lnTo>
                      <a:pt x="367" y="1958"/>
                    </a:lnTo>
                    <a:lnTo>
                      <a:pt x="365" y="1960"/>
                    </a:lnTo>
                    <a:lnTo>
                      <a:pt x="362" y="1962"/>
                    </a:lnTo>
                    <a:lnTo>
                      <a:pt x="358" y="1964"/>
                    </a:lnTo>
                    <a:lnTo>
                      <a:pt x="357" y="1965"/>
                    </a:lnTo>
                    <a:lnTo>
                      <a:pt x="353" y="1965"/>
                    </a:lnTo>
                    <a:lnTo>
                      <a:pt x="351" y="1969"/>
                    </a:lnTo>
                    <a:lnTo>
                      <a:pt x="348" y="1969"/>
                    </a:lnTo>
                    <a:lnTo>
                      <a:pt x="346" y="1971"/>
                    </a:lnTo>
                    <a:lnTo>
                      <a:pt x="343" y="1972"/>
                    </a:lnTo>
                    <a:lnTo>
                      <a:pt x="341" y="1974"/>
                    </a:lnTo>
                    <a:lnTo>
                      <a:pt x="337" y="1976"/>
                    </a:lnTo>
                    <a:lnTo>
                      <a:pt x="336" y="1977"/>
                    </a:lnTo>
                    <a:lnTo>
                      <a:pt x="332" y="1979"/>
                    </a:lnTo>
                    <a:lnTo>
                      <a:pt x="330" y="1981"/>
                    </a:lnTo>
                    <a:lnTo>
                      <a:pt x="327" y="1983"/>
                    </a:lnTo>
                    <a:lnTo>
                      <a:pt x="325" y="1984"/>
                    </a:lnTo>
                    <a:lnTo>
                      <a:pt x="322" y="1986"/>
                    </a:lnTo>
                    <a:lnTo>
                      <a:pt x="318" y="1988"/>
                    </a:lnTo>
                    <a:lnTo>
                      <a:pt x="316" y="1990"/>
                    </a:lnTo>
                    <a:lnTo>
                      <a:pt x="313" y="1991"/>
                    </a:lnTo>
                    <a:lnTo>
                      <a:pt x="311" y="1993"/>
                    </a:lnTo>
                    <a:lnTo>
                      <a:pt x="308" y="1995"/>
                    </a:lnTo>
                    <a:lnTo>
                      <a:pt x="306" y="1997"/>
                    </a:lnTo>
                    <a:lnTo>
                      <a:pt x="303" y="1998"/>
                    </a:lnTo>
                    <a:lnTo>
                      <a:pt x="301" y="2000"/>
                    </a:lnTo>
                    <a:lnTo>
                      <a:pt x="297" y="2000"/>
                    </a:lnTo>
                    <a:lnTo>
                      <a:pt x="294" y="2002"/>
                    </a:lnTo>
                    <a:lnTo>
                      <a:pt x="292" y="2004"/>
                    </a:lnTo>
                    <a:lnTo>
                      <a:pt x="289" y="2005"/>
                    </a:lnTo>
                    <a:lnTo>
                      <a:pt x="287" y="2007"/>
                    </a:lnTo>
                    <a:lnTo>
                      <a:pt x="283" y="2009"/>
                    </a:lnTo>
                    <a:lnTo>
                      <a:pt x="280" y="2011"/>
                    </a:lnTo>
                    <a:lnTo>
                      <a:pt x="278" y="2012"/>
                    </a:lnTo>
                    <a:lnTo>
                      <a:pt x="275" y="2014"/>
                    </a:lnTo>
                    <a:lnTo>
                      <a:pt x="273" y="2016"/>
                    </a:lnTo>
                    <a:lnTo>
                      <a:pt x="269" y="2018"/>
                    </a:lnTo>
                    <a:lnTo>
                      <a:pt x="268" y="2019"/>
                    </a:lnTo>
                    <a:lnTo>
                      <a:pt x="264" y="2019"/>
                    </a:lnTo>
                    <a:lnTo>
                      <a:pt x="263" y="2021"/>
                    </a:lnTo>
                    <a:lnTo>
                      <a:pt x="259" y="2023"/>
                    </a:lnTo>
                    <a:lnTo>
                      <a:pt x="256" y="2025"/>
                    </a:lnTo>
                    <a:lnTo>
                      <a:pt x="254" y="2026"/>
                    </a:lnTo>
                    <a:lnTo>
                      <a:pt x="250" y="2028"/>
                    </a:lnTo>
                    <a:lnTo>
                      <a:pt x="249" y="2030"/>
                    </a:lnTo>
                    <a:lnTo>
                      <a:pt x="245" y="2031"/>
                    </a:lnTo>
                    <a:lnTo>
                      <a:pt x="242" y="2033"/>
                    </a:lnTo>
                    <a:lnTo>
                      <a:pt x="240" y="2035"/>
                    </a:lnTo>
                    <a:lnTo>
                      <a:pt x="236" y="2037"/>
                    </a:lnTo>
                    <a:lnTo>
                      <a:pt x="235" y="2038"/>
                    </a:lnTo>
                    <a:lnTo>
                      <a:pt x="231" y="2038"/>
                    </a:lnTo>
                    <a:lnTo>
                      <a:pt x="228" y="2040"/>
                    </a:lnTo>
                    <a:lnTo>
                      <a:pt x="226" y="2042"/>
                    </a:lnTo>
                    <a:lnTo>
                      <a:pt x="223" y="2044"/>
                    </a:lnTo>
                    <a:lnTo>
                      <a:pt x="221" y="2045"/>
                    </a:lnTo>
                    <a:lnTo>
                      <a:pt x="217" y="2047"/>
                    </a:lnTo>
                    <a:lnTo>
                      <a:pt x="214" y="2049"/>
                    </a:lnTo>
                    <a:lnTo>
                      <a:pt x="212" y="2051"/>
                    </a:lnTo>
                    <a:lnTo>
                      <a:pt x="209" y="2052"/>
                    </a:lnTo>
                    <a:lnTo>
                      <a:pt x="207" y="2052"/>
                    </a:lnTo>
                    <a:lnTo>
                      <a:pt x="203" y="2054"/>
                    </a:lnTo>
                    <a:lnTo>
                      <a:pt x="200" y="2056"/>
                    </a:lnTo>
                    <a:lnTo>
                      <a:pt x="198" y="2058"/>
                    </a:lnTo>
                    <a:lnTo>
                      <a:pt x="195" y="2059"/>
                    </a:lnTo>
                    <a:lnTo>
                      <a:pt x="193" y="2061"/>
                    </a:lnTo>
                    <a:lnTo>
                      <a:pt x="189" y="2063"/>
                    </a:lnTo>
                    <a:lnTo>
                      <a:pt x="186" y="2065"/>
                    </a:lnTo>
                    <a:lnTo>
                      <a:pt x="184" y="2066"/>
                    </a:lnTo>
                    <a:lnTo>
                      <a:pt x="181" y="2066"/>
                    </a:lnTo>
                    <a:lnTo>
                      <a:pt x="179" y="2068"/>
                    </a:lnTo>
                    <a:lnTo>
                      <a:pt x="176" y="2070"/>
                    </a:lnTo>
                    <a:lnTo>
                      <a:pt x="172" y="2072"/>
                    </a:lnTo>
                    <a:lnTo>
                      <a:pt x="170" y="2073"/>
                    </a:lnTo>
                    <a:lnTo>
                      <a:pt x="167" y="2075"/>
                    </a:lnTo>
                    <a:lnTo>
                      <a:pt x="163" y="2077"/>
                    </a:lnTo>
                    <a:lnTo>
                      <a:pt x="162" y="2078"/>
                    </a:lnTo>
                    <a:lnTo>
                      <a:pt x="158" y="2078"/>
                    </a:lnTo>
                    <a:lnTo>
                      <a:pt x="156" y="2080"/>
                    </a:lnTo>
                    <a:lnTo>
                      <a:pt x="153" y="2082"/>
                    </a:lnTo>
                    <a:lnTo>
                      <a:pt x="149" y="2084"/>
                    </a:lnTo>
                    <a:lnTo>
                      <a:pt x="148" y="2085"/>
                    </a:lnTo>
                    <a:lnTo>
                      <a:pt x="144" y="2087"/>
                    </a:lnTo>
                    <a:lnTo>
                      <a:pt x="141" y="2089"/>
                    </a:lnTo>
                    <a:lnTo>
                      <a:pt x="139" y="2089"/>
                    </a:lnTo>
                    <a:lnTo>
                      <a:pt x="135" y="2091"/>
                    </a:lnTo>
                    <a:lnTo>
                      <a:pt x="132" y="2092"/>
                    </a:lnTo>
                    <a:lnTo>
                      <a:pt x="130" y="2094"/>
                    </a:lnTo>
                    <a:lnTo>
                      <a:pt x="127" y="2096"/>
                    </a:lnTo>
                    <a:lnTo>
                      <a:pt x="125" y="2098"/>
                    </a:lnTo>
                    <a:lnTo>
                      <a:pt x="122" y="2098"/>
                    </a:lnTo>
                    <a:lnTo>
                      <a:pt x="118" y="2099"/>
                    </a:lnTo>
                    <a:lnTo>
                      <a:pt x="116" y="2101"/>
                    </a:lnTo>
                    <a:lnTo>
                      <a:pt x="113" y="2103"/>
                    </a:lnTo>
                    <a:lnTo>
                      <a:pt x="109" y="2105"/>
                    </a:lnTo>
                    <a:lnTo>
                      <a:pt x="108" y="2106"/>
                    </a:lnTo>
                    <a:lnTo>
                      <a:pt x="106" y="2106"/>
                    </a:lnTo>
                    <a:moveTo>
                      <a:pt x="1034" y="1377"/>
                    </a:moveTo>
                    <a:lnTo>
                      <a:pt x="1032" y="1379"/>
                    </a:lnTo>
                    <a:lnTo>
                      <a:pt x="1030" y="1382"/>
                    </a:lnTo>
                    <a:lnTo>
                      <a:pt x="1028" y="1384"/>
                    </a:lnTo>
                    <a:lnTo>
                      <a:pt x="1025" y="1386"/>
                    </a:lnTo>
                    <a:lnTo>
                      <a:pt x="1023" y="1387"/>
                    </a:lnTo>
                    <a:lnTo>
                      <a:pt x="1021" y="1391"/>
                    </a:lnTo>
                    <a:lnTo>
                      <a:pt x="1020" y="1393"/>
                    </a:lnTo>
                    <a:lnTo>
                      <a:pt x="1018" y="1394"/>
                    </a:lnTo>
                    <a:lnTo>
                      <a:pt x="1016" y="1398"/>
                    </a:lnTo>
                    <a:lnTo>
                      <a:pt x="1014" y="1400"/>
                    </a:lnTo>
                    <a:lnTo>
                      <a:pt x="1013" y="1401"/>
                    </a:lnTo>
                    <a:lnTo>
                      <a:pt x="1011" y="1403"/>
                    </a:lnTo>
                    <a:lnTo>
                      <a:pt x="1009" y="1406"/>
                    </a:lnTo>
                    <a:lnTo>
                      <a:pt x="1006" y="1408"/>
                    </a:lnTo>
                    <a:lnTo>
                      <a:pt x="1004" y="1410"/>
                    </a:lnTo>
                    <a:lnTo>
                      <a:pt x="1002" y="1412"/>
                    </a:lnTo>
                    <a:lnTo>
                      <a:pt x="1000" y="1413"/>
                    </a:lnTo>
                    <a:lnTo>
                      <a:pt x="999" y="1417"/>
                    </a:lnTo>
                    <a:lnTo>
                      <a:pt x="997" y="1419"/>
                    </a:lnTo>
                    <a:lnTo>
                      <a:pt x="995" y="1420"/>
                    </a:lnTo>
                    <a:lnTo>
                      <a:pt x="994" y="1422"/>
                    </a:lnTo>
                    <a:lnTo>
                      <a:pt x="992" y="1426"/>
                    </a:lnTo>
                    <a:lnTo>
                      <a:pt x="988" y="1427"/>
                    </a:lnTo>
                    <a:lnTo>
                      <a:pt x="987" y="1429"/>
                    </a:lnTo>
                    <a:lnTo>
                      <a:pt x="985" y="1431"/>
                    </a:lnTo>
                    <a:lnTo>
                      <a:pt x="983" y="1434"/>
                    </a:lnTo>
                    <a:lnTo>
                      <a:pt x="981" y="1436"/>
                    </a:lnTo>
                    <a:lnTo>
                      <a:pt x="980" y="1438"/>
                    </a:lnTo>
                    <a:lnTo>
                      <a:pt x="978" y="1440"/>
                    </a:lnTo>
                    <a:lnTo>
                      <a:pt x="974" y="1443"/>
                    </a:lnTo>
                    <a:lnTo>
                      <a:pt x="973" y="1445"/>
                    </a:lnTo>
                    <a:lnTo>
                      <a:pt x="971" y="1447"/>
                    </a:lnTo>
                    <a:lnTo>
                      <a:pt x="969" y="1448"/>
                    </a:lnTo>
                    <a:lnTo>
                      <a:pt x="967" y="1452"/>
                    </a:lnTo>
                    <a:lnTo>
                      <a:pt x="966" y="1453"/>
                    </a:lnTo>
                    <a:lnTo>
                      <a:pt x="964" y="1455"/>
                    </a:lnTo>
                    <a:lnTo>
                      <a:pt x="962" y="1457"/>
                    </a:lnTo>
                    <a:lnTo>
                      <a:pt x="960" y="1460"/>
                    </a:lnTo>
                    <a:lnTo>
                      <a:pt x="957" y="1462"/>
                    </a:lnTo>
                    <a:lnTo>
                      <a:pt x="955" y="1464"/>
                    </a:lnTo>
                    <a:lnTo>
                      <a:pt x="954" y="1466"/>
                    </a:lnTo>
                    <a:lnTo>
                      <a:pt x="952" y="1469"/>
                    </a:lnTo>
                    <a:lnTo>
                      <a:pt x="950" y="1471"/>
                    </a:lnTo>
                    <a:lnTo>
                      <a:pt x="948" y="1473"/>
                    </a:lnTo>
                    <a:lnTo>
                      <a:pt x="947" y="1474"/>
                    </a:lnTo>
                    <a:lnTo>
                      <a:pt x="945" y="1478"/>
                    </a:lnTo>
                    <a:lnTo>
                      <a:pt x="941" y="1480"/>
                    </a:lnTo>
                    <a:lnTo>
                      <a:pt x="940" y="1481"/>
                    </a:lnTo>
                    <a:lnTo>
                      <a:pt x="938" y="1483"/>
                    </a:lnTo>
                    <a:lnTo>
                      <a:pt x="936" y="1487"/>
                    </a:lnTo>
                    <a:lnTo>
                      <a:pt x="934" y="1488"/>
                    </a:lnTo>
                    <a:lnTo>
                      <a:pt x="933" y="1490"/>
                    </a:lnTo>
                    <a:lnTo>
                      <a:pt x="931" y="1492"/>
                    </a:lnTo>
                    <a:lnTo>
                      <a:pt x="927" y="1495"/>
                    </a:lnTo>
                    <a:lnTo>
                      <a:pt x="926" y="1497"/>
                    </a:lnTo>
                    <a:lnTo>
                      <a:pt x="924" y="1499"/>
                    </a:lnTo>
                    <a:lnTo>
                      <a:pt x="922" y="1500"/>
                    </a:lnTo>
                    <a:lnTo>
                      <a:pt x="920" y="1502"/>
                    </a:lnTo>
                    <a:lnTo>
                      <a:pt x="919" y="1506"/>
                    </a:lnTo>
                    <a:lnTo>
                      <a:pt x="915" y="1507"/>
                    </a:lnTo>
                    <a:lnTo>
                      <a:pt x="913" y="1509"/>
                    </a:lnTo>
                    <a:lnTo>
                      <a:pt x="912" y="1511"/>
                    </a:lnTo>
                    <a:lnTo>
                      <a:pt x="910" y="1514"/>
                    </a:lnTo>
                    <a:lnTo>
                      <a:pt x="908" y="1516"/>
                    </a:lnTo>
                    <a:lnTo>
                      <a:pt x="905" y="1518"/>
                    </a:lnTo>
                    <a:lnTo>
                      <a:pt x="903" y="1520"/>
                    </a:lnTo>
                    <a:lnTo>
                      <a:pt x="901" y="1521"/>
                    </a:lnTo>
                    <a:lnTo>
                      <a:pt x="900" y="1525"/>
                    </a:lnTo>
                    <a:lnTo>
                      <a:pt x="898" y="1527"/>
                    </a:lnTo>
                    <a:lnTo>
                      <a:pt x="896" y="1528"/>
                    </a:lnTo>
                    <a:lnTo>
                      <a:pt x="894" y="1530"/>
                    </a:lnTo>
                    <a:lnTo>
                      <a:pt x="891" y="1534"/>
                    </a:lnTo>
                    <a:lnTo>
                      <a:pt x="889" y="1535"/>
                    </a:lnTo>
                    <a:lnTo>
                      <a:pt x="887" y="1537"/>
                    </a:lnTo>
                    <a:lnTo>
                      <a:pt x="886" y="1539"/>
                    </a:lnTo>
                    <a:lnTo>
                      <a:pt x="884" y="1541"/>
                    </a:lnTo>
                    <a:lnTo>
                      <a:pt x="880" y="1544"/>
                    </a:lnTo>
                    <a:lnTo>
                      <a:pt x="879" y="1546"/>
                    </a:lnTo>
                    <a:lnTo>
                      <a:pt x="877" y="1547"/>
                    </a:lnTo>
                    <a:lnTo>
                      <a:pt x="875" y="1549"/>
                    </a:lnTo>
                    <a:lnTo>
                      <a:pt x="873" y="1553"/>
                    </a:lnTo>
                    <a:lnTo>
                      <a:pt x="872" y="1554"/>
                    </a:lnTo>
                    <a:lnTo>
                      <a:pt x="868" y="1556"/>
                    </a:lnTo>
                    <a:lnTo>
                      <a:pt x="866" y="1558"/>
                    </a:lnTo>
                    <a:lnTo>
                      <a:pt x="865" y="1560"/>
                    </a:lnTo>
                    <a:lnTo>
                      <a:pt x="863" y="1563"/>
                    </a:lnTo>
                    <a:lnTo>
                      <a:pt x="860" y="1565"/>
                    </a:lnTo>
                    <a:lnTo>
                      <a:pt x="858" y="1567"/>
                    </a:lnTo>
                    <a:lnTo>
                      <a:pt x="856" y="1568"/>
                    </a:lnTo>
                    <a:lnTo>
                      <a:pt x="854" y="1570"/>
                    </a:lnTo>
                    <a:moveTo>
                      <a:pt x="661" y="1534"/>
                    </a:moveTo>
                    <a:lnTo>
                      <a:pt x="658" y="1535"/>
                    </a:lnTo>
                    <a:lnTo>
                      <a:pt x="654" y="1537"/>
                    </a:lnTo>
                    <a:lnTo>
                      <a:pt x="651" y="1537"/>
                    </a:lnTo>
                    <a:lnTo>
                      <a:pt x="647" y="1539"/>
                    </a:lnTo>
                    <a:lnTo>
                      <a:pt x="645" y="1539"/>
                    </a:lnTo>
                    <a:lnTo>
                      <a:pt x="642" y="1541"/>
                    </a:lnTo>
                    <a:lnTo>
                      <a:pt x="638" y="1542"/>
                    </a:lnTo>
                    <a:lnTo>
                      <a:pt x="635" y="1542"/>
                    </a:lnTo>
                    <a:lnTo>
                      <a:pt x="632" y="1544"/>
                    </a:lnTo>
                    <a:lnTo>
                      <a:pt x="630" y="1544"/>
                    </a:lnTo>
                    <a:lnTo>
                      <a:pt x="626" y="1546"/>
                    </a:lnTo>
                    <a:lnTo>
                      <a:pt x="623" y="1546"/>
                    </a:lnTo>
                    <a:lnTo>
                      <a:pt x="619" y="1547"/>
                    </a:lnTo>
                    <a:lnTo>
                      <a:pt x="616" y="1549"/>
                    </a:lnTo>
                    <a:lnTo>
                      <a:pt x="612" y="1549"/>
                    </a:lnTo>
                    <a:lnTo>
                      <a:pt x="609" y="1551"/>
                    </a:lnTo>
                    <a:lnTo>
                      <a:pt x="607" y="1551"/>
                    </a:lnTo>
                    <a:lnTo>
                      <a:pt x="604" y="1553"/>
                    </a:lnTo>
                    <a:lnTo>
                      <a:pt x="600" y="1553"/>
                    </a:lnTo>
                    <a:lnTo>
                      <a:pt x="597" y="1554"/>
                    </a:lnTo>
                    <a:lnTo>
                      <a:pt x="593" y="1554"/>
                    </a:lnTo>
                    <a:lnTo>
                      <a:pt x="590" y="1556"/>
                    </a:lnTo>
                    <a:lnTo>
                      <a:pt x="586" y="1556"/>
                    </a:lnTo>
                    <a:lnTo>
                      <a:pt x="585" y="1558"/>
                    </a:lnTo>
                    <a:lnTo>
                      <a:pt x="581" y="1558"/>
                    </a:lnTo>
                    <a:lnTo>
                      <a:pt x="578" y="1560"/>
                    </a:lnTo>
                    <a:lnTo>
                      <a:pt x="574" y="1560"/>
                    </a:lnTo>
                    <a:lnTo>
                      <a:pt x="571" y="1561"/>
                    </a:lnTo>
                    <a:lnTo>
                      <a:pt x="567" y="1563"/>
                    </a:lnTo>
                    <a:lnTo>
                      <a:pt x="564" y="1563"/>
                    </a:lnTo>
                    <a:lnTo>
                      <a:pt x="560" y="1565"/>
                    </a:lnTo>
                    <a:lnTo>
                      <a:pt x="558" y="1565"/>
                    </a:lnTo>
                    <a:lnTo>
                      <a:pt x="555" y="1567"/>
                    </a:lnTo>
                    <a:lnTo>
                      <a:pt x="551" y="1567"/>
                    </a:lnTo>
                    <a:lnTo>
                      <a:pt x="548" y="1568"/>
                    </a:lnTo>
                    <a:lnTo>
                      <a:pt x="544" y="1568"/>
                    </a:lnTo>
                    <a:lnTo>
                      <a:pt x="541" y="1568"/>
                    </a:lnTo>
                    <a:lnTo>
                      <a:pt x="538" y="1570"/>
                    </a:lnTo>
                    <a:lnTo>
                      <a:pt x="534" y="1572"/>
                    </a:lnTo>
                    <a:lnTo>
                      <a:pt x="531" y="1572"/>
                    </a:lnTo>
                    <a:lnTo>
                      <a:pt x="529" y="1572"/>
                    </a:lnTo>
                    <a:lnTo>
                      <a:pt x="525" y="1574"/>
                    </a:lnTo>
                    <a:lnTo>
                      <a:pt x="522" y="1574"/>
                    </a:lnTo>
                    <a:lnTo>
                      <a:pt x="518" y="1575"/>
                    </a:lnTo>
                    <a:lnTo>
                      <a:pt x="515" y="1575"/>
                    </a:lnTo>
                    <a:lnTo>
                      <a:pt x="511" y="1577"/>
                    </a:lnTo>
                    <a:lnTo>
                      <a:pt x="508" y="1577"/>
                    </a:lnTo>
                    <a:lnTo>
                      <a:pt x="504" y="1579"/>
                    </a:lnTo>
                    <a:lnTo>
                      <a:pt x="503" y="1579"/>
                    </a:lnTo>
                    <a:lnTo>
                      <a:pt x="499" y="1581"/>
                    </a:lnTo>
                    <a:lnTo>
                      <a:pt x="496" y="1581"/>
                    </a:lnTo>
                    <a:lnTo>
                      <a:pt x="492" y="1581"/>
                    </a:lnTo>
                    <a:lnTo>
                      <a:pt x="489" y="1582"/>
                    </a:lnTo>
                    <a:lnTo>
                      <a:pt x="485" y="1582"/>
                    </a:lnTo>
                    <a:lnTo>
                      <a:pt x="482" y="1584"/>
                    </a:lnTo>
                    <a:lnTo>
                      <a:pt x="478" y="1584"/>
                    </a:lnTo>
                    <a:lnTo>
                      <a:pt x="475" y="1586"/>
                    </a:lnTo>
                    <a:lnTo>
                      <a:pt x="471" y="1586"/>
                    </a:lnTo>
                    <a:lnTo>
                      <a:pt x="468" y="1586"/>
                    </a:lnTo>
                    <a:lnTo>
                      <a:pt x="466" y="1588"/>
                    </a:lnTo>
                    <a:lnTo>
                      <a:pt x="463" y="1588"/>
                    </a:lnTo>
                    <a:lnTo>
                      <a:pt x="459" y="1589"/>
                    </a:lnTo>
                    <a:lnTo>
                      <a:pt x="456" y="1589"/>
                    </a:lnTo>
                    <a:lnTo>
                      <a:pt x="452" y="1589"/>
                    </a:lnTo>
                    <a:lnTo>
                      <a:pt x="449" y="1591"/>
                    </a:lnTo>
                    <a:lnTo>
                      <a:pt x="445" y="1591"/>
                    </a:lnTo>
                    <a:lnTo>
                      <a:pt x="442" y="1591"/>
                    </a:lnTo>
                    <a:lnTo>
                      <a:pt x="438" y="1593"/>
                    </a:lnTo>
                    <a:lnTo>
                      <a:pt x="435" y="1593"/>
                    </a:lnTo>
                    <a:lnTo>
                      <a:pt x="431" y="1594"/>
                    </a:lnTo>
                    <a:lnTo>
                      <a:pt x="428" y="1594"/>
                    </a:lnTo>
                    <a:lnTo>
                      <a:pt x="424" y="1594"/>
                    </a:lnTo>
                    <a:lnTo>
                      <a:pt x="421" y="1596"/>
                    </a:lnTo>
                    <a:lnTo>
                      <a:pt x="417" y="1596"/>
                    </a:lnTo>
                    <a:lnTo>
                      <a:pt x="416" y="1596"/>
                    </a:lnTo>
                    <a:lnTo>
                      <a:pt x="412" y="1598"/>
                    </a:lnTo>
                    <a:lnTo>
                      <a:pt x="409" y="1598"/>
                    </a:lnTo>
                    <a:lnTo>
                      <a:pt x="405" y="1598"/>
                    </a:lnTo>
                    <a:lnTo>
                      <a:pt x="402" y="1600"/>
                    </a:lnTo>
                    <a:lnTo>
                      <a:pt x="398" y="1600"/>
                    </a:lnTo>
                    <a:lnTo>
                      <a:pt x="395" y="1600"/>
                    </a:lnTo>
                    <a:lnTo>
                      <a:pt x="391" y="1601"/>
                    </a:lnTo>
                    <a:lnTo>
                      <a:pt x="388" y="1601"/>
                    </a:lnTo>
                    <a:lnTo>
                      <a:pt x="384" y="1601"/>
                    </a:lnTo>
                    <a:lnTo>
                      <a:pt x="381" y="1603"/>
                    </a:lnTo>
                    <a:lnTo>
                      <a:pt x="377" y="1603"/>
                    </a:lnTo>
                    <a:lnTo>
                      <a:pt x="374" y="1603"/>
                    </a:lnTo>
                    <a:lnTo>
                      <a:pt x="370" y="1605"/>
                    </a:lnTo>
                    <a:lnTo>
                      <a:pt x="367" y="1605"/>
                    </a:lnTo>
                    <a:lnTo>
                      <a:pt x="365" y="1605"/>
                    </a:lnTo>
                    <a:lnTo>
                      <a:pt x="362" y="1605"/>
                    </a:lnTo>
                    <a:lnTo>
                      <a:pt x="358" y="1607"/>
                    </a:lnTo>
                    <a:lnTo>
                      <a:pt x="355" y="1607"/>
                    </a:lnTo>
                    <a:lnTo>
                      <a:pt x="351" y="1607"/>
                    </a:lnTo>
                    <a:lnTo>
                      <a:pt x="348" y="1608"/>
                    </a:lnTo>
                    <a:lnTo>
                      <a:pt x="344" y="1608"/>
                    </a:lnTo>
                    <a:lnTo>
                      <a:pt x="341" y="1608"/>
                    </a:lnTo>
                    <a:lnTo>
                      <a:pt x="337" y="1608"/>
                    </a:lnTo>
                    <a:lnTo>
                      <a:pt x="334" y="1610"/>
                    </a:lnTo>
                    <a:lnTo>
                      <a:pt x="330" y="1610"/>
                    </a:lnTo>
                    <a:lnTo>
                      <a:pt x="327" y="1610"/>
                    </a:lnTo>
                    <a:lnTo>
                      <a:pt x="323" y="1610"/>
                    </a:lnTo>
                    <a:lnTo>
                      <a:pt x="320" y="1612"/>
                    </a:lnTo>
                    <a:lnTo>
                      <a:pt x="316" y="1612"/>
                    </a:lnTo>
                    <a:lnTo>
                      <a:pt x="313" y="1612"/>
                    </a:lnTo>
                    <a:lnTo>
                      <a:pt x="310" y="1612"/>
                    </a:lnTo>
                    <a:lnTo>
                      <a:pt x="306" y="1614"/>
                    </a:lnTo>
                    <a:lnTo>
                      <a:pt x="303" y="1614"/>
                    </a:lnTo>
                    <a:lnTo>
                      <a:pt x="299" y="1614"/>
                    </a:lnTo>
                    <a:lnTo>
                      <a:pt x="296" y="1614"/>
                    </a:lnTo>
                    <a:lnTo>
                      <a:pt x="292" y="1614"/>
                    </a:lnTo>
                    <a:lnTo>
                      <a:pt x="289" y="1615"/>
                    </a:lnTo>
                    <a:lnTo>
                      <a:pt x="287" y="1615"/>
                    </a:lnTo>
                    <a:lnTo>
                      <a:pt x="283" y="1615"/>
                    </a:lnTo>
                    <a:lnTo>
                      <a:pt x="280" y="1615"/>
                    </a:lnTo>
                    <a:lnTo>
                      <a:pt x="276" y="1615"/>
                    </a:lnTo>
                    <a:lnTo>
                      <a:pt x="273" y="1617"/>
                    </a:lnTo>
                    <a:lnTo>
                      <a:pt x="269" y="1617"/>
                    </a:lnTo>
                    <a:lnTo>
                      <a:pt x="266" y="1617"/>
                    </a:lnTo>
                    <a:lnTo>
                      <a:pt x="263" y="1617"/>
                    </a:lnTo>
                    <a:lnTo>
                      <a:pt x="259" y="1617"/>
                    </a:lnTo>
                    <a:lnTo>
                      <a:pt x="256" y="1617"/>
                    </a:lnTo>
                    <a:lnTo>
                      <a:pt x="252" y="1619"/>
                    </a:lnTo>
                    <a:lnTo>
                      <a:pt x="249" y="1619"/>
                    </a:lnTo>
                    <a:lnTo>
                      <a:pt x="245" y="1619"/>
                    </a:lnTo>
                    <a:lnTo>
                      <a:pt x="242" y="1619"/>
                    </a:lnTo>
                    <a:lnTo>
                      <a:pt x="238" y="1619"/>
                    </a:lnTo>
                    <a:lnTo>
                      <a:pt x="235" y="1619"/>
                    </a:lnTo>
                    <a:lnTo>
                      <a:pt x="231" y="1619"/>
                    </a:lnTo>
                    <a:lnTo>
                      <a:pt x="228" y="1621"/>
                    </a:lnTo>
                    <a:lnTo>
                      <a:pt x="224" y="1621"/>
                    </a:lnTo>
                    <a:lnTo>
                      <a:pt x="221" y="1621"/>
                    </a:lnTo>
                    <a:lnTo>
                      <a:pt x="217" y="1621"/>
                    </a:lnTo>
                    <a:lnTo>
                      <a:pt x="214" y="1621"/>
                    </a:lnTo>
                    <a:lnTo>
                      <a:pt x="210" y="1621"/>
                    </a:lnTo>
                    <a:lnTo>
                      <a:pt x="207" y="1621"/>
                    </a:lnTo>
                    <a:lnTo>
                      <a:pt x="203" y="1622"/>
                    </a:lnTo>
                    <a:lnTo>
                      <a:pt x="200" y="1622"/>
                    </a:lnTo>
                    <a:lnTo>
                      <a:pt x="196" y="1622"/>
                    </a:lnTo>
                    <a:lnTo>
                      <a:pt x="193" y="1622"/>
                    </a:lnTo>
                    <a:lnTo>
                      <a:pt x="189" y="1622"/>
                    </a:lnTo>
                    <a:lnTo>
                      <a:pt x="186" y="1622"/>
                    </a:lnTo>
                    <a:lnTo>
                      <a:pt x="182" y="1622"/>
                    </a:lnTo>
                    <a:lnTo>
                      <a:pt x="179" y="1622"/>
                    </a:lnTo>
                    <a:lnTo>
                      <a:pt x="176" y="1622"/>
                    </a:lnTo>
                    <a:lnTo>
                      <a:pt x="172" y="1622"/>
                    </a:lnTo>
                    <a:lnTo>
                      <a:pt x="169" y="1622"/>
                    </a:lnTo>
                    <a:lnTo>
                      <a:pt x="165" y="1622"/>
                    </a:lnTo>
                    <a:lnTo>
                      <a:pt x="162" y="1622"/>
                    </a:lnTo>
                    <a:lnTo>
                      <a:pt x="158" y="1624"/>
                    </a:lnTo>
                    <a:lnTo>
                      <a:pt x="155" y="1624"/>
                    </a:lnTo>
                    <a:lnTo>
                      <a:pt x="151" y="1624"/>
                    </a:lnTo>
                    <a:lnTo>
                      <a:pt x="148" y="1624"/>
                    </a:lnTo>
                    <a:lnTo>
                      <a:pt x="144" y="1624"/>
                    </a:lnTo>
                    <a:lnTo>
                      <a:pt x="141" y="1624"/>
                    </a:lnTo>
                    <a:lnTo>
                      <a:pt x="137" y="1624"/>
                    </a:lnTo>
                    <a:lnTo>
                      <a:pt x="134" y="1624"/>
                    </a:lnTo>
                    <a:lnTo>
                      <a:pt x="130" y="1624"/>
                    </a:lnTo>
                    <a:lnTo>
                      <a:pt x="127" y="1624"/>
                    </a:lnTo>
                    <a:lnTo>
                      <a:pt x="123" y="1624"/>
                    </a:lnTo>
                    <a:lnTo>
                      <a:pt x="120" y="1624"/>
                    </a:lnTo>
                    <a:lnTo>
                      <a:pt x="118" y="1624"/>
                    </a:lnTo>
                    <a:lnTo>
                      <a:pt x="115" y="1624"/>
                    </a:lnTo>
                    <a:lnTo>
                      <a:pt x="109" y="1624"/>
                    </a:lnTo>
                    <a:lnTo>
                      <a:pt x="106" y="1624"/>
                    </a:lnTo>
                    <a:lnTo>
                      <a:pt x="102" y="1624"/>
                    </a:lnTo>
                    <a:lnTo>
                      <a:pt x="101" y="1624"/>
                    </a:lnTo>
                    <a:lnTo>
                      <a:pt x="97" y="1624"/>
                    </a:lnTo>
                    <a:lnTo>
                      <a:pt x="94" y="1624"/>
                    </a:lnTo>
                    <a:lnTo>
                      <a:pt x="88" y="1624"/>
                    </a:lnTo>
                    <a:lnTo>
                      <a:pt x="87" y="1624"/>
                    </a:lnTo>
                    <a:lnTo>
                      <a:pt x="83" y="1624"/>
                    </a:lnTo>
                    <a:lnTo>
                      <a:pt x="80" y="1624"/>
                    </a:lnTo>
                    <a:lnTo>
                      <a:pt x="76" y="1624"/>
                    </a:lnTo>
                    <a:lnTo>
                      <a:pt x="73" y="1622"/>
                    </a:lnTo>
                    <a:lnTo>
                      <a:pt x="69" y="1622"/>
                    </a:lnTo>
                    <a:lnTo>
                      <a:pt x="66" y="1622"/>
                    </a:lnTo>
                    <a:lnTo>
                      <a:pt x="62" y="1622"/>
                    </a:lnTo>
                    <a:lnTo>
                      <a:pt x="59" y="1622"/>
                    </a:lnTo>
                    <a:lnTo>
                      <a:pt x="55" y="1622"/>
                    </a:lnTo>
                    <a:lnTo>
                      <a:pt x="52" y="1622"/>
                    </a:lnTo>
                    <a:lnTo>
                      <a:pt x="48" y="1622"/>
                    </a:lnTo>
                    <a:lnTo>
                      <a:pt x="45" y="1622"/>
                    </a:lnTo>
                    <a:lnTo>
                      <a:pt x="41" y="1622"/>
                    </a:lnTo>
                    <a:lnTo>
                      <a:pt x="38" y="1622"/>
                    </a:lnTo>
                    <a:lnTo>
                      <a:pt x="35" y="1622"/>
                    </a:lnTo>
                    <a:lnTo>
                      <a:pt x="31" y="1622"/>
                    </a:lnTo>
                    <a:lnTo>
                      <a:pt x="28" y="1621"/>
                    </a:lnTo>
                    <a:lnTo>
                      <a:pt x="24" y="1621"/>
                    </a:lnTo>
                    <a:lnTo>
                      <a:pt x="21" y="1621"/>
                    </a:lnTo>
                    <a:lnTo>
                      <a:pt x="17" y="1621"/>
                    </a:lnTo>
                    <a:lnTo>
                      <a:pt x="14" y="1621"/>
                    </a:lnTo>
                    <a:lnTo>
                      <a:pt x="10" y="1621"/>
                    </a:lnTo>
                    <a:lnTo>
                      <a:pt x="7" y="1621"/>
                    </a:lnTo>
                    <a:lnTo>
                      <a:pt x="3" y="1619"/>
                    </a:lnTo>
                    <a:lnTo>
                      <a:pt x="0" y="1619"/>
                    </a:lnTo>
                    <a:moveTo>
                      <a:pt x="1030" y="1375"/>
                    </a:moveTo>
                    <a:lnTo>
                      <a:pt x="1027" y="1375"/>
                    </a:lnTo>
                    <a:lnTo>
                      <a:pt x="1023" y="1377"/>
                    </a:lnTo>
                    <a:lnTo>
                      <a:pt x="1021" y="1379"/>
                    </a:lnTo>
                    <a:lnTo>
                      <a:pt x="1018" y="1380"/>
                    </a:lnTo>
                    <a:lnTo>
                      <a:pt x="1014" y="1382"/>
                    </a:lnTo>
                    <a:lnTo>
                      <a:pt x="1013" y="1384"/>
                    </a:lnTo>
                    <a:lnTo>
                      <a:pt x="1009" y="1384"/>
                    </a:lnTo>
                    <a:lnTo>
                      <a:pt x="1006" y="1386"/>
                    </a:lnTo>
                    <a:lnTo>
                      <a:pt x="1004" y="1387"/>
                    </a:lnTo>
                    <a:lnTo>
                      <a:pt x="1000" y="1389"/>
                    </a:lnTo>
                    <a:lnTo>
                      <a:pt x="997" y="1391"/>
                    </a:lnTo>
                    <a:lnTo>
                      <a:pt x="995" y="1391"/>
                    </a:lnTo>
                    <a:lnTo>
                      <a:pt x="992" y="1393"/>
                    </a:lnTo>
                    <a:lnTo>
                      <a:pt x="988" y="1394"/>
                    </a:lnTo>
                    <a:lnTo>
                      <a:pt x="987" y="1396"/>
                    </a:lnTo>
                    <a:lnTo>
                      <a:pt x="983" y="1398"/>
                    </a:lnTo>
                    <a:lnTo>
                      <a:pt x="981" y="1400"/>
                    </a:lnTo>
                    <a:lnTo>
                      <a:pt x="978" y="1400"/>
                    </a:lnTo>
                    <a:lnTo>
                      <a:pt x="974" y="1401"/>
                    </a:lnTo>
                    <a:lnTo>
                      <a:pt x="973" y="1403"/>
                    </a:lnTo>
                    <a:lnTo>
                      <a:pt x="969" y="1405"/>
                    </a:lnTo>
                    <a:lnTo>
                      <a:pt x="966" y="1406"/>
                    </a:lnTo>
                    <a:lnTo>
                      <a:pt x="964" y="1408"/>
                    </a:lnTo>
                    <a:lnTo>
                      <a:pt x="960" y="1408"/>
                    </a:lnTo>
                    <a:lnTo>
                      <a:pt x="957" y="1410"/>
                    </a:lnTo>
                    <a:lnTo>
                      <a:pt x="955" y="1412"/>
                    </a:lnTo>
                    <a:lnTo>
                      <a:pt x="952" y="1413"/>
                    </a:lnTo>
                    <a:lnTo>
                      <a:pt x="948" y="1415"/>
                    </a:lnTo>
                    <a:lnTo>
                      <a:pt x="947" y="1417"/>
                    </a:lnTo>
                    <a:lnTo>
                      <a:pt x="943" y="1417"/>
                    </a:lnTo>
                    <a:lnTo>
                      <a:pt x="940" y="1419"/>
                    </a:lnTo>
                    <a:lnTo>
                      <a:pt x="938" y="1420"/>
                    </a:lnTo>
                    <a:lnTo>
                      <a:pt x="934" y="1422"/>
                    </a:lnTo>
                    <a:lnTo>
                      <a:pt x="931" y="1424"/>
                    </a:lnTo>
                    <a:lnTo>
                      <a:pt x="929" y="1426"/>
                    </a:lnTo>
                    <a:lnTo>
                      <a:pt x="926" y="1426"/>
                    </a:lnTo>
                    <a:lnTo>
                      <a:pt x="922" y="1427"/>
                    </a:lnTo>
                    <a:lnTo>
                      <a:pt x="919" y="1429"/>
                    </a:lnTo>
                    <a:lnTo>
                      <a:pt x="917" y="1431"/>
                    </a:lnTo>
                    <a:lnTo>
                      <a:pt x="913" y="1431"/>
                    </a:lnTo>
                    <a:lnTo>
                      <a:pt x="910" y="1433"/>
                    </a:lnTo>
                    <a:lnTo>
                      <a:pt x="908" y="1434"/>
                    </a:lnTo>
                    <a:lnTo>
                      <a:pt x="905" y="1436"/>
                    </a:lnTo>
                    <a:lnTo>
                      <a:pt x="901" y="1438"/>
                    </a:lnTo>
                    <a:lnTo>
                      <a:pt x="900" y="1440"/>
                    </a:lnTo>
                    <a:lnTo>
                      <a:pt x="896" y="1440"/>
                    </a:lnTo>
                    <a:lnTo>
                      <a:pt x="893" y="1441"/>
                    </a:lnTo>
                    <a:lnTo>
                      <a:pt x="891" y="1443"/>
                    </a:lnTo>
                    <a:lnTo>
                      <a:pt x="887" y="1445"/>
                    </a:lnTo>
                    <a:lnTo>
                      <a:pt x="884" y="1445"/>
                    </a:lnTo>
                    <a:lnTo>
                      <a:pt x="882" y="1447"/>
                    </a:lnTo>
                    <a:lnTo>
                      <a:pt x="879" y="1448"/>
                    </a:lnTo>
                    <a:lnTo>
                      <a:pt x="875" y="1450"/>
                    </a:lnTo>
                    <a:lnTo>
                      <a:pt x="872" y="1450"/>
                    </a:lnTo>
                    <a:lnTo>
                      <a:pt x="870" y="1452"/>
                    </a:lnTo>
                    <a:lnTo>
                      <a:pt x="866" y="1453"/>
                    </a:lnTo>
                    <a:lnTo>
                      <a:pt x="863" y="1455"/>
                    </a:lnTo>
                    <a:lnTo>
                      <a:pt x="861" y="1457"/>
                    </a:lnTo>
                    <a:lnTo>
                      <a:pt x="858" y="1457"/>
                    </a:lnTo>
                    <a:lnTo>
                      <a:pt x="854" y="1459"/>
                    </a:lnTo>
                    <a:lnTo>
                      <a:pt x="851" y="1460"/>
                    </a:lnTo>
                    <a:lnTo>
                      <a:pt x="849" y="1462"/>
                    </a:lnTo>
                    <a:lnTo>
                      <a:pt x="846" y="1462"/>
                    </a:lnTo>
                    <a:lnTo>
                      <a:pt x="842" y="1464"/>
                    </a:lnTo>
                    <a:lnTo>
                      <a:pt x="840" y="1466"/>
                    </a:lnTo>
                    <a:lnTo>
                      <a:pt x="837" y="1467"/>
                    </a:lnTo>
                    <a:lnTo>
                      <a:pt x="833" y="1467"/>
                    </a:lnTo>
                    <a:lnTo>
                      <a:pt x="830" y="1469"/>
                    </a:lnTo>
                    <a:lnTo>
                      <a:pt x="828" y="1471"/>
                    </a:lnTo>
                    <a:lnTo>
                      <a:pt x="825" y="1473"/>
                    </a:lnTo>
                    <a:lnTo>
                      <a:pt x="821" y="1473"/>
                    </a:lnTo>
                    <a:lnTo>
                      <a:pt x="818" y="1474"/>
                    </a:lnTo>
                    <a:lnTo>
                      <a:pt x="816" y="1476"/>
                    </a:lnTo>
                    <a:lnTo>
                      <a:pt x="813" y="1478"/>
                    </a:lnTo>
                    <a:lnTo>
                      <a:pt x="809" y="1478"/>
                    </a:lnTo>
                    <a:lnTo>
                      <a:pt x="806" y="1480"/>
                    </a:lnTo>
                    <a:lnTo>
                      <a:pt x="804" y="1481"/>
                    </a:lnTo>
                    <a:lnTo>
                      <a:pt x="800" y="1481"/>
                    </a:lnTo>
                    <a:lnTo>
                      <a:pt x="797" y="1483"/>
                    </a:lnTo>
                    <a:lnTo>
                      <a:pt x="795" y="1485"/>
                    </a:lnTo>
                    <a:lnTo>
                      <a:pt x="792" y="1487"/>
                    </a:lnTo>
                    <a:lnTo>
                      <a:pt x="788" y="1487"/>
                    </a:lnTo>
                    <a:lnTo>
                      <a:pt x="785" y="1488"/>
                    </a:lnTo>
                    <a:lnTo>
                      <a:pt x="781" y="1490"/>
                    </a:lnTo>
                    <a:lnTo>
                      <a:pt x="779" y="1492"/>
                    </a:lnTo>
                    <a:lnTo>
                      <a:pt x="776" y="1492"/>
                    </a:lnTo>
                    <a:lnTo>
                      <a:pt x="772" y="1494"/>
                    </a:lnTo>
                    <a:lnTo>
                      <a:pt x="769" y="1495"/>
                    </a:lnTo>
                    <a:lnTo>
                      <a:pt x="767" y="1495"/>
                    </a:lnTo>
                    <a:lnTo>
                      <a:pt x="764" y="1497"/>
                    </a:lnTo>
                    <a:lnTo>
                      <a:pt x="760" y="1499"/>
                    </a:lnTo>
                    <a:lnTo>
                      <a:pt x="757" y="1499"/>
                    </a:lnTo>
                    <a:lnTo>
                      <a:pt x="755" y="1500"/>
                    </a:lnTo>
                    <a:lnTo>
                      <a:pt x="752" y="1502"/>
                    </a:lnTo>
                    <a:lnTo>
                      <a:pt x="748" y="1504"/>
                    </a:lnTo>
                    <a:lnTo>
                      <a:pt x="745" y="1504"/>
                    </a:lnTo>
                    <a:lnTo>
                      <a:pt x="741" y="1506"/>
                    </a:lnTo>
                    <a:lnTo>
                      <a:pt x="739" y="1507"/>
                    </a:lnTo>
                    <a:lnTo>
                      <a:pt x="736" y="1507"/>
                    </a:lnTo>
                    <a:lnTo>
                      <a:pt x="732" y="1509"/>
                    </a:lnTo>
                    <a:lnTo>
                      <a:pt x="729" y="1509"/>
                    </a:lnTo>
                    <a:lnTo>
                      <a:pt x="727" y="1511"/>
                    </a:lnTo>
                    <a:lnTo>
                      <a:pt x="724" y="1513"/>
                    </a:lnTo>
                    <a:lnTo>
                      <a:pt x="720" y="1513"/>
                    </a:lnTo>
                    <a:lnTo>
                      <a:pt x="717" y="1514"/>
                    </a:lnTo>
                    <a:lnTo>
                      <a:pt x="713" y="1516"/>
                    </a:lnTo>
                    <a:lnTo>
                      <a:pt x="712" y="1516"/>
                    </a:lnTo>
                    <a:lnTo>
                      <a:pt x="708" y="1518"/>
                    </a:lnTo>
                    <a:lnTo>
                      <a:pt x="705" y="1520"/>
                    </a:lnTo>
                    <a:lnTo>
                      <a:pt x="701" y="1520"/>
                    </a:lnTo>
                    <a:lnTo>
                      <a:pt x="699" y="1521"/>
                    </a:lnTo>
                    <a:lnTo>
                      <a:pt x="696" y="1523"/>
                    </a:lnTo>
                    <a:lnTo>
                      <a:pt x="692" y="1523"/>
                    </a:lnTo>
                    <a:lnTo>
                      <a:pt x="689" y="1525"/>
                    </a:lnTo>
                    <a:lnTo>
                      <a:pt x="685" y="1527"/>
                    </a:lnTo>
                    <a:lnTo>
                      <a:pt x="682" y="1527"/>
                    </a:lnTo>
                    <a:lnTo>
                      <a:pt x="680" y="1528"/>
                    </a:lnTo>
                    <a:lnTo>
                      <a:pt x="677" y="1528"/>
                    </a:lnTo>
                    <a:lnTo>
                      <a:pt x="673" y="1530"/>
                    </a:lnTo>
                    <a:lnTo>
                      <a:pt x="670" y="1532"/>
                    </a:lnTo>
                    <a:lnTo>
                      <a:pt x="666" y="1532"/>
                    </a:lnTo>
                    <a:lnTo>
                      <a:pt x="665" y="1534"/>
                    </a:lnTo>
                    <a:lnTo>
                      <a:pt x="661" y="1534"/>
                    </a:lnTo>
                    <a:moveTo>
                      <a:pt x="891" y="1389"/>
                    </a:moveTo>
                    <a:lnTo>
                      <a:pt x="887" y="1389"/>
                    </a:lnTo>
                    <a:lnTo>
                      <a:pt x="886" y="1391"/>
                    </a:lnTo>
                    <a:lnTo>
                      <a:pt x="882" y="1391"/>
                    </a:lnTo>
                    <a:lnTo>
                      <a:pt x="877" y="1391"/>
                    </a:lnTo>
                    <a:lnTo>
                      <a:pt x="873" y="1391"/>
                    </a:lnTo>
                    <a:lnTo>
                      <a:pt x="872" y="1391"/>
                    </a:lnTo>
                    <a:lnTo>
                      <a:pt x="868" y="1393"/>
                    </a:lnTo>
                    <a:lnTo>
                      <a:pt x="865" y="1393"/>
                    </a:lnTo>
                    <a:lnTo>
                      <a:pt x="861" y="1393"/>
                    </a:lnTo>
                    <a:lnTo>
                      <a:pt x="858" y="1393"/>
                    </a:lnTo>
                    <a:lnTo>
                      <a:pt x="854" y="1394"/>
                    </a:lnTo>
                    <a:lnTo>
                      <a:pt x="851" y="1394"/>
                    </a:lnTo>
                    <a:lnTo>
                      <a:pt x="847" y="1394"/>
                    </a:lnTo>
                    <a:lnTo>
                      <a:pt x="844" y="1394"/>
                    </a:lnTo>
                    <a:lnTo>
                      <a:pt x="840" y="1394"/>
                    </a:lnTo>
                    <a:lnTo>
                      <a:pt x="837" y="1394"/>
                    </a:lnTo>
                    <a:lnTo>
                      <a:pt x="833" y="1396"/>
                    </a:lnTo>
                    <a:lnTo>
                      <a:pt x="830" y="1396"/>
                    </a:lnTo>
                    <a:lnTo>
                      <a:pt x="826" y="1396"/>
                    </a:lnTo>
                    <a:lnTo>
                      <a:pt x="823" y="1396"/>
                    </a:lnTo>
                    <a:lnTo>
                      <a:pt x="819" y="1396"/>
                    </a:lnTo>
                    <a:lnTo>
                      <a:pt x="816" y="1398"/>
                    </a:lnTo>
                    <a:lnTo>
                      <a:pt x="813" y="1398"/>
                    </a:lnTo>
                    <a:lnTo>
                      <a:pt x="809" y="1398"/>
                    </a:lnTo>
                    <a:lnTo>
                      <a:pt x="806" y="1398"/>
                    </a:lnTo>
                    <a:lnTo>
                      <a:pt x="802" y="1398"/>
                    </a:lnTo>
                    <a:lnTo>
                      <a:pt x="799" y="1398"/>
                    </a:lnTo>
                    <a:lnTo>
                      <a:pt x="795" y="1398"/>
                    </a:lnTo>
                    <a:lnTo>
                      <a:pt x="792" y="1400"/>
                    </a:lnTo>
                    <a:lnTo>
                      <a:pt x="788" y="1400"/>
                    </a:lnTo>
                    <a:lnTo>
                      <a:pt x="785" y="1400"/>
                    </a:lnTo>
                    <a:lnTo>
                      <a:pt x="781" y="1400"/>
                    </a:lnTo>
                    <a:lnTo>
                      <a:pt x="778" y="1400"/>
                    </a:lnTo>
                    <a:lnTo>
                      <a:pt x="774" y="1400"/>
                    </a:lnTo>
                    <a:lnTo>
                      <a:pt x="771" y="1400"/>
                    </a:lnTo>
                    <a:lnTo>
                      <a:pt x="767" y="1400"/>
                    </a:lnTo>
                    <a:lnTo>
                      <a:pt x="764" y="1400"/>
                    </a:lnTo>
                    <a:lnTo>
                      <a:pt x="760" y="1401"/>
                    </a:lnTo>
                    <a:lnTo>
                      <a:pt x="757" y="1401"/>
                    </a:lnTo>
                    <a:lnTo>
                      <a:pt x="753" y="1401"/>
                    </a:lnTo>
                    <a:lnTo>
                      <a:pt x="750" y="1401"/>
                    </a:lnTo>
                    <a:lnTo>
                      <a:pt x="748" y="1401"/>
                    </a:lnTo>
                    <a:lnTo>
                      <a:pt x="745" y="1401"/>
                    </a:lnTo>
                    <a:lnTo>
                      <a:pt x="739" y="1401"/>
                    </a:lnTo>
                    <a:lnTo>
                      <a:pt x="736" y="1401"/>
                    </a:lnTo>
                    <a:lnTo>
                      <a:pt x="732" y="1401"/>
                    </a:lnTo>
                    <a:lnTo>
                      <a:pt x="731" y="1401"/>
                    </a:lnTo>
                    <a:lnTo>
                      <a:pt x="727" y="1401"/>
                    </a:lnTo>
                    <a:lnTo>
                      <a:pt x="724" y="1401"/>
                    </a:lnTo>
                    <a:lnTo>
                      <a:pt x="720" y="1401"/>
                    </a:lnTo>
                    <a:lnTo>
                      <a:pt x="717" y="1401"/>
                    </a:lnTo>
                    <a:lnTo>
                      <a:pt x="713" y="1401"/>
                    </a:lnTo>
                    <a:lnTo>
                      <a:pt x="710" y="1401"/>
                    </a:lnTo>
                    <a:lnTo>
                      <a:pt x="706" y="1403"/>
                    </a:lnTo>
                    <a:lnTo>
                      <a:pt x="703" y="1403"/>
                    </a:lnTo>
                    <a:lnTo>
                      <a:pt x="699" y="1403"/>
                    </a:lnTo>
                    <a:lnTo>
                      <a:pt x="696" y="1403"/>
                    </a:lnTo>
                    <a:lnTo>
                      <a:pt x="692" y="1403"/>
                    </a:lnTo>
                    <a:lnTo>
                      <a:pt x="689" y="1403"/>
                    </a:lnTo>
                    <a:lnTo>
                      <a:pt x="685" y="1403"/>
                    </a:lnTo>
                    <a:lnTo>
                      <a:pt x="682" y="1401"/>
                    </a:lnTo>
                    <a:lnTo>
                      <a:pt x="679" y="1401"/>
                    </a:lnTo>
                    <a:lnTo>
                      <a:pt x="675" y="1401"/>
                    </a:lnTo>
                    <a:lnTo>
                      <a:pt x="672" y="1401"/>
                    </a:lnTo>
                    <a:lnTo>
                      <a:pt x="668" y="1401"/>
                    </a:lnTo>
                    <a:lnTo>
                      <a:pt x="665" y="1401"/>
                    </a:lnTo>
                    <a:lnTo>
                      <a:pt x="661" y="1401"/>
                    </a:lnTo>
                    <a:lnTo>
                      <a:pt x="658" y="1401"/>
                    </a:lnTo>
                    <a:lnTo>
                      <a:pt x="654" y="1401"/>
                    </a:lnTo>
                    <a:lnTo>
                      <a:pt x="651" y="1401"/>
                    </a:lnTo>
                    <a:lnTo>
                      <a:pt x="647" y="1401"/>
                    </a:lnTo>
                    <a:lnTo>
                      <a:pt x="644" y="1401"/>
                    </a:lnTo>
                    <a:lnTo>
                      <a:pt x="640" y="1401"/>
                    </a:lnTo>
                    <a:lnTo>
                      <a:pt x="637" y="1401"/>
                    </a:lnTo>
                    <a:lnTo>
                      <a:pt x="633" y="1401"/>
                    </a:lnTo>
                    <a:lnTo>
                      <a:pt x="630" y="1400"/>
                    </a:lnTo>
                    <a:lnTo>
                      <a:pt x="626" y="1400"/>
                    </a:lnTo>
                    <a:lnTo>
                      <a:pt x="623" y="1400"/>
                    </a:lnTo>
                    <a:lnTo>
                      <a:pt x="619" y="1400"/>
                    </a:lnTo>
                    <a:lnTo>
                      <a:pt x="616" y="1400"/>
                    </a:lnTo>
                    <a:lnTo>
                      <a:pt x="612" y="1400"/>
                    </a:lnTo>
                    <a:lnTo>
                      <a:pt x="609" y="1400"/>
                    </a:lnTo>
                    <a:lnTo>
                      <a:pt x="605" y="1400"/>
                    </a:lnTo>
                    <a:lnTo>
                      <a:pt x="602" y="1400"/>
                    </a:lnTo>
                    <a:lnTo>
                      <a:pt x="598" y="1398"/>
                    </a:lnTo>
                    <a:lnTo>
                      <a:pt x="595" y="1398"/>
                    </a:lnTo>
                    <a:lnTo>
                      <a:pt x="591" y="1398"/>
                    </a:lnTo>
                    <a:lnTo>
                      <a:pt x="588" y="1398"/>
                    </a:lnTo>
                    <a:lnTo>
                      <a:pt x="585" y="1398"/>
                    </a:lnTo>
                    <a:lnTo>
                      <a:pt x="581" y="1398"/>
                    </a:lnTo>
                    <a:lnTo>
                      <a:pt x="578" y="1396"/>
                    </a:lnTo>
                    <a:lnTo>
                      <a:pt x="574" y="1396"/>
                    </a:lnTo>
                    <a:lnTo>
                      <a:pt x="571" y="1396"/>
                    </a:lnTo>
                    <a:lnTo>
                      <a:pt x="567" y="1396"/>
                    </a:lnTo>
                    <a:lnTo>
                      <a:pt x="564" y="1394"/>
                    </a:lnTo>
                    <a:lnTo>
                      <a:pt x="562" y="1394"/>
                    </a:lnTo>
                    <a:lnTo>
                      <a:pt x="558" y="1394"/>
                    </a:lnTo>
                    <a:lnTo>
                      <a:pt x="555" y="1394"/>
                    </a:lnTo>
                    <a:lnTo>
                      <a:pt x="551" y="1394"/>
                    </a:lnTo>
                    <a:lnTo>
                      <a:pt x="548" y="1393"/>
                    </a:lnTo>
                    <a:lnTo>
                      <a:pt x="544" y="1393"/>
                    </a:lnTo>
                    <a:lnTo>
                      <a:pt x="541" y="1393"/>
                    </a:lnTo>
                    <a:lnTo>
                      <a:pt x="538" y="1391"/>
                    </a:lnTo>
                    <a:lnTo>
                      <a:pt x="534" y="1391"/>
                    </a:lnTo>
                    <a:lnTo>
                      <a:pt x="531" y="1391"/>
                    </a:lnTo>
                    <a:lnTo>
                      <a:pt x="527" y="1391"/>
                    </a:lnTo>
                    <a:lnTo>
                      <a:pt x="524" y="1389"/>
                    </a:lnTo>
                    <a:lnTo>
                      <a:pt x="520" y="1389"/>
                    </a:lnTo>
                    <a:lnTo>
                      <a:pt x="517" y="1389"/>
                    </a:lnTo>
                    <a:lnTo>
                      <a:pt x="513" y="1389"/>
                    </a:lnTo>
                    <a:lnTo>
                      <a:pt x="510" y="1387"/>
                    </a:lnTo>
                    <a:lnTo>
                      <a:pt x="506" y="1387"/>
                    </a:lnTo>
                    <a:lnTo>
                      <a:pt x="503" y="1386"/>
                    </a:lnTo>
                    <a:lnTo>
                      <a:pt x="499" y="1386"/>
                    </a:lnTo>
                    <a:lnTo>
                      <a:pt x="498" y="1386"/>
                    </a:lnTo>
                    <a:lnTo>
                      <a:pt x="494" y="1384"/>
                    </a:lnTo>
                    <a:lnTo>
                      <a:pt x="491" y="1384"/>
                    </a:lnTo>
                    <a:lnTo>
                      <a:pt x="487" y="1384"/>
                    </a:lnTo>
                    <a:lnTo>
                      <a:pt x="484" y="1382"/>
                    </a:lnTo>
                    <a:lnTo>
                      <a:pt x="480" y="1382"/>
                    </a:lnTo>
                    <a:lnTo>
                      <a:pt x="477" y="1382"/>
                    </a:lnTo>
                    <a:lnTo>
                      <a:pt x="473" y="1380"/>
                    </a:lnTo>
                    <a:lnTo>
                      <a:pt x="470" y="1380"/>
                    </a:lnTo>
                    <a:lnTo>
                      <a:pt x="466" y="1379"/>
                    </a:lnTo>
                    <a:lnTo>
                      <a:pt x="463" y="1379"/>
                    </a:lnTo>
                    <a:lnTo>
                      <a:pt x="459" y="1377"/>
                    </a:lnTo>
                    <a:lnTo>
                      <a:pt x="456" y="1377"/>
                    </a:lnTo>
                    <a:lnTo>
                      <a:pt x="454" y="1377"/>
                    </a:lnTo>
                    <a:lnTo>
                      <a:pt x="451" y="1375"/>
                    </a:lnTo>
                    <a:lnTo>
                      <a:pt x="447" y="1375"/>
                    </a:lnTo>
                    <a:lnTo>
                      <a:pt x="444" y="1373"/>
                    </a:lnTo>
                    <a:lnTo>
                      <a:pt x="440" y="1373"/>
                    </a:lnTo>
                    <a:lnTo>
                      <a:pt x="437" y="1372"/>
                    </a:lnTo>
                    <a:lnTo>
                      <a:pt x="433" y="1372"/>
                    </a:lnTo>
                    <a:lnTo>
                      <a:pt x="430" y="1370"/>
                    </a:lnTo>
                    <a:lnTo>
                      <a:pt x="426" y="1370"/>
                    </a:lnTo>
                    <a:lnTo>
                      <a:pt x="424" y="1368"/>
                    </a:lnTo>
                    <a:lnTo>
                      <a:pt x="421" y="1368"/>
                    </a:lnTo>
                    <a:lnTo>
                      <a:pt x="417" y="1366"/>
                    </a:lnTo>
                    <a:lnTo>
                      <a:pt x="414" y="1366"/>
                    </a:lnTo>
                    <a:lnTo>
                      <a:pt x="410" y="1365"/>
                    </a:lnTo>
                    <a:lnTo>
                      <a:pt x="407" y="1365"/>
                    </a:lnTo>
                    <a:lnTo>
                      <a:pt x="404" y="1363"/>
                    </a:lnTo>
                    <a:lnTo>
                      <a:pt x="402" y="1363"/>
                    </a:lnTo>
                    <a:lnTo>
                      <a:pt x="398" y="1361"/>
                    </a:lnTo>
                    <a:lnTo>
                      <a:pt x="395" y="1359"/>
                    </a:lnTo>
                    <a:lnTo>
                      <a:pt x="391" y="1359"/>
                    </a:lnTo>
                    <a:lnTo>
                      <a:pt x="388" y="1358"/>
                    </a:lnTo>
                    <a:lnTo>
                      <a:pt x="384" y="1358"/>
                    </a:lnTo>
                    <a:lnTo>
                      <a:pt x="383" y="1356"/>
                    </a:lnTo>
                    <a:lnTo>
                      <a:pt x="379" y="1354"/>
                    </a:lnTo>
                    <a:lnTo>
                      <a:pt x="376" y="1354"/>
                    </a:lnTo>
                    <a:lnTo>
                      <a:pt x="372" y="1353"/>
                    </a:lnTo>
                    <a:lnTo>
                      <a:pt x="369" y="1353"/>
                    </a:lnTo>
                    <a:lnTo>
                      <a:pt x="367" y="1351"/>
                    </a:lnTo>
                    <a:lnTo>
                      <a:pt x="363" y="1349"/>
                    </a:lnTo>
                    <a:lnTo>
                      <a:pt x="360" y="1349"/>
                    </a:lnTo>
                    <a:lnTo>
                      <a:pt x="357" y="1347"/>
                    </a:lnTo>
                    <a:lnTo>
                      <a:pt x="353" y="1346"/>
                    </a:lnTo>
                    <a:lnTo>
                      <a:pt x="351" y="1344"/>
                    </a:lnTo>
                    <a:lnTo>
                      <a:pt x="348" y="1344"/>
                    </a:lnTo>
                    <a:lnTo>
                      <a:pt x="344" y="1342"/>
                    </a:lnTo>
                    <a:lnTo>
                      <a:pt x="341" y="1340"/>
                    </a:lnTo>
                    <a:lnTo>
                      <a:pt x="339" y="1340"/>
                    </a:lnTo>
                    <a:lnTo>
                      <a:pt x="336" y="1339"/>
                    </a:lnTo>
                    <a:lnTo>
                      <a:pt x="332" y="1337"/>
                    </a:lnTo>
                    <a:lnTo>
                      <a:pt x="329" y="1335"/>
                    </a:lnTo>
                    <a:lnTo>
                      <a:pt x="327" y="1335"/>
                    </a:lnTo>
                    <a:lnTo>
                      <a:pt x="323" y="1333"/>
                    </a:lnTo>
                    <a:lnTo>
                      <a:pt x="320" y="1332"/>
                    </a:lnTo>
                    <a:lnTo>
                      <a:pt x="316" y="1330"/>
                    </a:lnTo>
                    <a:lnTo>
                      <a:pt x="315" y="1330"/>
                    </a:lnTo>
                    <a:lnTo>
                      <a:pt x="311" y="1328"/>
                    </a:lnTo>
                    <a:lnTo>
                      <a:pt x="308" y="1326"/>
                    </a:lnTo>
                    <a:lnTo>
                      <a:pt x="306" y="1325"/>
                    </a:lnTo>
                    <a:lnTo>
                      <a:pt x="303" y="1325"/>
                    </a:lnTo>
                    <a:lnTo>
                      <a:pt x="301" y="1323"/>
                    </a:lnTo>
                    <a:lnTo>
                      <a:pt x="297" y="1321"/>
                    </a:lnTo>
                    <a:lnTo>
                      <a:pt x="294" y="1319"/>
                    </a:lnTo>
                    <a:lnTo>
                      <a:pt x="292" y="1318"/>
                    </a:lnTo>
                    <a:lnTo>
                      <a:pt x="289" y="1316"/>
                    </a:lnTo>
                    <a:lnTo>
                      <a:pt x="285" y="1316"/>
                    </a:lnTo>
                    <a:lnTo>
                      <a:pt x="283" y="1314"/>
                    </a:lnTo>
                    <a:lnTo>
                      <a:pt x="280" y="1312"/>
                    </a:lnTo>
                    <a:lnTo>
                      <a:pt x="276" y="1311"/>
                    </a:lnTo>
                    <a:lnTo>
                      <a:pt x="275" y="1309"/>
                    </a:lnTo>
                    <a:lnTo>
                      <a:pt x="271" y="1307"/>
                    </a:lnTo>
                    <a:lnTo>
                      <a:pt x="269" y="1305"/>
                    </a:lnTo>
                    <a:lnTo>
                      <a:pt x="266" y="1304"/>
                    </a:lnTo>
                    <a:lnTo>
                      <a:pt x="263" y="1302"/>
                    </a:lnTo>
                    <a:lnTo>
                      <a:pt x="261" y="1300"/>
                    </a:lnTo>
                    <a:lnTo>
                      <a:pt x="257" y="1299"/>
                    </a:lnTo>
                    <a:lnTo>
                      <a:pt x="256" y="1299"/>
                    </a:lnTo>
                    <a:lnTo>
                      <a:pt x="252" y="1297"/>
                    </a:lnTo>
                    <a:lnTo>
                      <a:pt x="250" y="1295"/>
                    </a:lnTo>
                    <a:lnTo>
                      <a:pt x="247" y="1293"/>
                    </a:lnTo>
                    <a:lnTo>
                      <a:pt x="243" y="1292"/>
                    </a:lnTo>
                    <a:lnTo>
                      <a:pt x="242" y="1290"/>
                    </a:lnTo>
                    <a:lnTo>
                      <a:pt x="240" y="1288"/>
                    </a:lnTo>
                    <a:lnTo>
                      <a:pt x="236" y="1286"/>
                    </a:lnTo>
                    <a:lnTo>
                      <a:pt x="235" y="1285"/>
                    </a:lnTo>
                    <a:lnTo>
                      <a:pt x="231" y="1283"/>
                    </a:lnTo>
                    <a:lnTo>
                      <a:pt x="229" y="1281"/>
                    </a:lnTo>
                    <a:lnTo>
                      <a:pt x="226" y="1279"/>
                    </a:lnTo>
                    <a:lnTo>
                      <a:pt x="224" y="1278"/>
                    </a:lnTo>
                    <a:lnTo>
                      <a:pt x="221" y="1276"/>
                    </a:lnTo>
                    <a:lnTo>
                      <a:pt x="219" y="1274"/>
                    </a:lnTo>
                    <a:lnTo>
                      <a:pt x="216" y="1271"/>
                    </a:lnTo>
                    <a:lnTo>
                      <a:pt x="214" y="1269"/>
                    </a:lnTo>
                    <a:lnTo>
                      <a:pt x="212" y="1267"/>
                    </a:lnTo>
                    <a:lnTo>
                      <a:pt x="209" y="1265"/>
                    </a:lnTo>
                    <a:lnTo>
                      <a:pt x="207" y="1264"/>
                    </a:lnTo>
                    <a:lnTo>
                      <a:pt x="205" y="1262"/>
                    </a:lnTo>
                    <a:lnTo>
                      <a:pt x="202" y="1260"/>
                    </a:lnTo>
                    <a:lnTo>
                      <a:pt x="200" y="1258"/>
                    </a:lnTo>
                    <a:lnTo>
                      <a:pt x="198" y="1257"/>
                    </a:lnTo>
                    <a:lnTo>
                      <a:pt x="195" y="1253"/>
                    </a:lnTo>
                    <a:lnTo>
                      <a:pt x="193" y="1252"/>
                    </a:lnTo>
                    <a:lnTo>
                      <a:pt x="191" y="1250"/>
                    </a:lnTo>
                    <a:lnTo>
                      <a:pt x="188" y="1248"/>
                    </a:lnTo>
                    <a:lnTo>
                      <a:pt x="186" y="1246"/>
                    </a:lnTo>
                    <a:lnTo>
                      <a:pt x="184" y="1245"/>
                    </a:lnTo>
                    <a:lnTo>
                      <a:pt x="182" y="1243"/>
                    </a:lnTo>
                    <a:lnTo>
                      <a:pt x="179" y="1239"/>
                    </a:lnTo>
                    <a:lnTo>
                      <a:pt x="177" y="1238"/>
                    </a:lnTo>
                    <a:lnTo>
                      <a:pt x="176" y="1236"/>
                    </a:lnTo>
                    <a:lnTo>
                      <a:pt x="174" y="1234"/>
                    </a:lnTo>
                    <a:lnTo>
                      <a:pt x="170" y="1232"/>
                    </a:lnTo>
                    <a:lnTo>
                      <a:pt x="169" y="1229"/>
                    </a:lnTo>
                    <a:lnTo>
                      <a:pt x="167" y="1227"/>
                    </a:lnTo>
                    <a:lnTo>
                      <a:pt x="165" y="1225"/>
                    </a:lnTo>
                    <a:lnTo>
                      <a:pt x="163" y="1224"/>
                    </a:lnTo>
                    <a:lnTo>
                      <a:pt x="162" y="1220"/>
                    </a:lnTo>
                    <a:lnTo>
                      <a:pt x="160" y="1218"/>
                    </a:lnTo>
                    <a:lnTo>
                      <a:pt x="156" y="1217"/>
                    </a:lnTo>
                    <a:lnTo>
                      <a:pt x="155" y="1215"/>
                    </a:lnTo>
                    <a:lnTo>
                      <a:pt x="153" y="1211"/>
                    </a:lnTo>
                    <a:lnTo>
                      <a:pt x="151" y="1210"/>
                    </a:lnTo>
                    <a:lnTo>
                      <a:pt x="149" y="1208"/>
                    </a:lnTo>
                    <a:lnTo>
                      <a:pt x="148" y="1206"/>
                    </a:lnTo>
                    <a:lnTo>
                      <a:pt x="146" y="1203"/>
                    </a:lnTo>
                    <a:lnTo>
                      <a:pt x="144" y="1201"/>
                    </a:lnTo>
                    <a:lnTo>
                      <a:pt x="142" y="1199"/>
                    </a:lnTo>
                    <a:lnTo>
                      <a:pt x="141" y="1196"/>
                    </a:lnTo>
                    <a:lnTo>
                      <a:pt x="139" y="1194"/>
                    </a:lnTo>
                    <a:lnTo>
                      <a:pt x="137" y="1192"/>
                    </a:lnTo>
                    <a:lnTo>
                      <a:pt x="135" y="1189"/>
                    </a:lnTo>
                    <a:lnTo>
                      <a:pt x="134" y="1187"/>
                    </a:lnTo>
                    <a:lnTo>
                      <a:pt x="134" y="1185"/>
                    </a:lnTo>
                    <a:lnTo>
                      <a:pt x="132" y="1182"/>
                    </a:lnTo>
                    <a:lnTo>
                      <a:pt x="130" y="1180"/>
                    </a:lnTo>
                    <a:lnTo>
                      <a:pt x="129" y="1178"/>
                    </a:lnTo>
                    <a:lnTo>
                      <a:pt x="127" y="1175"/>
                    </a:lnTo>
                    <a:lnTo>
                      <a:pt x="125" y="1173"/>
                    </a:lnTo>
                    <a:lnTo>
                      <a:pt x="123" y="1170"/>
                    </a:lnTo>
                    <a:lnTo>
                      <a:pt x="123" y="1168"/>
                    </a:lnTo>
                    <a:lnTo>
                      <a:pt x="122" y="1166"/>
                    </a:lnTo>
                    <a:lnTo>
                      <a:pt x="120" y="1163"/>
                    </a:lnTo>
                    <a:lnTo>
                      <a:pt x="118" y="1161"/>
                    </a:lnTo>
                    <a:lnTo>
                      <a:pt x="118" y="1158"/>
                    </a:lnTo>
                    <a:lnTo>
                      <a:pt x="116" y="1156"/>
                    </a:lnTo>
                    <a:lnTo>
                      <a:pt x="115" y="1154"/>
                    </a:lnTo>
                    <a:lnTo>
                      <a:pt x="115" y="1151"/>
                    </a:lnTo>
                    <a:lnTo>
                      <a:pt x="113" y="1149"/>
                    </a:lnTo>
                    <a:lnTo>
                      <a:pt x="111" y="1145"/>
                    </a:lnTo>
                    <a:lnTo>
                      <a:pt x="111" y="1144"/>
                    </a:lnTo>
                    <a:lnTo>
                      <a:pt x="109" y="1142"/>
                    </a:lnTo>
                    <a:lnTo>
                      <a:pt x="108" y="1138"/>
                    </a:lnTo>
                    <a:lnTo>
                      <a:pt x="108" y="1137"/>
                    </a:lnTo>
                    <a:lnTo>
                      <a:pt x="106" y="1133"/>
                    </a:lnTo>
                    <a:lnTo>
                      <a:pt x="106" y="1131"/>
                    </a:lnTo>
                    <a:lnTo>
                      <a:pt x="104" y="1128"/>
                    </a:lnTo>
                    <a:lnTo>
                      <a:pt x="102" y="1126"/>
                    </a:lnTo>
                    <a:lnTo>
                      <a:pt x="102" y="1123"/>
                    </a:lnTo>
                    <a:lnTo>
                      <a:pt x="102" y="1121"/>
                    </a:lnTo>
                    <a:lnTo>
                      <a:pt x="101" y="1117"/>
                    </a:lnTo>
                    <a:lnTo>
                      <a:pt x="101" y="1116"/>
                    </a:lnTo>
                    <a:lnTo>
                      <a:pt x="99" y="1112"/>
                    </a:lnTo>
                    <a:lnTo>
                      <a:pt x="99" y="1111"/>
                    </a:lnTo>
                    <a:lnTo>
                      <a:pt x="97" y="1107"/>
                    </a:lnTo>
                    <a:lnTo>
                      <a:pt x="97" y="1105"/>
                    </a:lnTo>
                    <a:lnTo>
                      <a:pt x="97" y="1102"/>
                    </a:lnTo>
                    <a:lnTo>
                      <a:pt x="95" y="1100"/>
                    </a:lnTo>
                    <a:lnTo>
                      <a:pt x="95" y="1098"/>
                    </a:lnTo>
                    <a:lnTo>
                      <a:pt x="95" y="1095"/>
                    </a:lnTo>
                    <a:lnTo>
                      <a:pt x="94" y="1093"/>
                    </a:lnTo>
                    <a:lnTo>
                      <a:pt x="94" y="1090"/>
                    </a:lnTo>
                    <a:lnTo>
                      <a:pt x="94" y="1088"/>
                    </a:lnTo>
                    <a:lnTo>
                      <a:pt x="94" y="1084"/>
                    </a:lnTo>
                    <a:lnTo>
                      <a:pt x="92" y="1083"/>
                    </a:lnTo>
                    <a:lnTo>
                      <a:pt x="92" y="1079"/>
                    </a:lnTo>
                    <a:lnTo>
                      <a:pt x="92" y="1076"/>
                    </a:lnTo>
                    <a:lnTo>
                      <a:pt x="92" y="1074"/>
                    </a:lnTo>
                    <a:lnTo>
                      <a:pt x="92" y="1070"/>
                    </a:lnTo>
                    <a:lnTo>
                      <a:pt x="92" y="1069"/>
                    </a:lnTo>
                    <a:lnTo>
                      <a:pt x="90" y="1065"/>
                    </a:lnTo>
                    <a:lnTo>
                      <a:pt x="90" y="1064"/>
                    </a:lnTo>
                    <a:lnTo>
                      <a:pt x="90" y="1060"/>
                    </a:lnTo>
                    <a:lnTo>
                      <a:pt x="90" y="1050"/>
                    </a:lnTo>
                    <a:moveTo>
                      <a:pt x="1028" y="1370"/>
                    </a:moveTo>
                    <a:lnTo>
                      <a:pt x="1025" y="1372"/>
                    </a:lnTo>
                    <a:lnTo>
                      <a:pt x="1021" y="1372"/>
                    </a:lnTo>
                    <a:lnTo>
                      <a:pt x="1018" y="1372"/>
                    </a:lnTo>
                    <a:lnTo>
                      <a:pt x="1014" y="1372"/>
                    </a:lnTo>
                    <a:lnTo>
                      <a:pt x="1011" y="1373"/>
                    </a:lnTo>
                    <a:lnTo>
                      <a:pt x="1007" y="1373"/>
                    </a:lnTo>
                    <a:lnTo>
                      <a:pt x="1004" y="1373"/>
                    </a:lnTo>
                    <a:lnTo>
                      <a:pt x="1000" y="1375"/>
                    </a:lnTo>
                    <a:lnTo>
                      <a:pt x="997" y="1375"/>
                    </a:lnTo>
                    <a:lnTo>
                      <a:pt x="994" y="1375"/>
                    </a:lnTo>
                    <a:lnTo>
                      <a:pt x="990" y="1377"/>
                    </a:lnTo>
                    <a:lnTo>
                      <a:pt x="987" y="1377"/>
                    </a:lnTo>
                    <a:lnTo>
                      <a:pt x="983" y="1377"/>
                    </a:lnTo>
                    <a:lnTo>
                      <a:pt x="980" y="1377"/>
                    </a:lnTo>
                    <a:lnTo>
                      <a:pt x="976" y="1379"/>
                    </a:lnTo>
                    <a:lnTo>
                      <a:pt x="973" y="1379"/>
                    </a:lnTo>
                    <a:lnTo>
                      <a:pt x="969" y="1379"/>
                    </a:lnTo>
                    <a:lnTo>
                      <a:pt x="967" y="1380"/>
                    </a:lnTo>
                    <a:lnTo>
                      <a:pt x="964" y="1380"/>
                    </a:lnTo>
                    <a:lnTo>
                      <a:pt x="960" y="1380"/>
                    </a:lnTo>
                    <a:lnTo>
                      <a:pt x="957" y="1380"/>
                    </a:lnTo>
                    <a:lnTo>
                      <a:pt x="954" y="1382"/>
                    </a:lnTo>
                    <a:lnTo>
                      <a:pt x="950" y="1382"/>
                    </a:lnTo>
                    <a:lnTo>
                      <a:pt x="947" y="1382"/>
                    </a:lnTo>
                    <a:lnTo>
                      <a:pt x="943" y="1382"/>
                    </a:lnTo>
                    <a:lnTo>
                      <a:pt x="940" y="1384"/>
                    </a:lnTo>
                    <a:lnTo>
                      <a:pt x="936" y="1384"/>
                    </a:lnTo>
                    <a:lnTo>
                      <a:pt x="933" y="1384"/>
                    </a:lnTo>
                    <a:lnTo>
                      <a:pt x="929" y="1384"/>
                    </a:lnTo>
                    <a:lnTo>
                      <a:pt x="926" y="1386"/>
                    </a:lnTo>
                    <a:lnTo>
                      <a:pt x="922" y="1386"/>
                    </a:lnTo>
                    <a:lnTo>
                      <a:pt x="919" y="1386"/>
                    </a:lnTo>
                    <a:lnTo>
                      <a:pt x="915" y="1386"/>
                    </a:lnTo>
                    <a:lnTo>
                      <a:pt x="912" y="1387"/>
                    </a:lnTo>
                    <a:lnTo>
                      <a:pt x="908" y="1387"/>
                    </a:lnTo>
                    <a:lnTo>
                      <a:pt x="905" y="1387"/>
                    </a:lnTo>
                    <a:lnTo>
                      <a:pt x="901" y="1389"/>
                    </a:lnTo>
                    <a:lnTo>
                      <a:pt x="898" y="1389"/>
                    </a:lnTo>
                    <a:lnTo>
                      <a:pt x="894" y="1389"/>
                    </a:lnTo>
                    <a:lnTo>
                      <a:pt x="891" y="1389"/>
                    </a:lnTo>
                    <a:moveTo>
                      <a:pt x="1028" y="1366"/>
                    </a:moveTo>
                    <a:lnTo>
                      <a:pt x="1025" y="1366"/>
                    </a:lnTo>
                    <a:lnTo>
                      <a:pt x="1021" y="1365"/>
                    </a:lnTo>
                    <a:lnTo>
                      <a:pt x="1018" y="1365"/>
                    </a:lnTo>
                    <a:lnTo>
                      <a:pt x="1014" y="1365"/>
                    </a:lnTo>
                    <a:lnTo>
                      <a:pt x="1011" y="1363"/>
                    </a:lnTo>
                    <a:lnTo>
                      <a:pt x="1007" y="1363"/>
                    </a:lnTo>
                    <a:lnTo>
                      <a:pt x="1004" y="1363"/>
                    </a:lnTo>
                    <a:lnTo>
                      <a:pt x="1000" y="1363"/>
                    </a:lnTo>
                    <a:lnTo>
                      <a:pt x="997" y="1361"/>
                    </a:lnTo>
                    <a:lnTo>
                      <a:pt x="994" y="1361"/>
                    </a:lnTo>
                    <a:lnTo>
                      <a:pt x="990" y="1361"/>
                    </a:lnTo>
                    <a:lnTo>
                      <a:pt x="987" y="1359"/>
                    </a:lnTo>
                    <a:lnTo>
                      <a:pt x="983" y="1359"/>
                    </a:lnTo>
                    <a:lnTo>
                      <a:pt x="980" y="1359"/>
                    </a:lnTo>
                    <a:lnTo>
                      <a:pt x="976" y="1358"/>
                    </a:lnTo>
                    <a:lnTo>
                      <a:pt x="973" y="1358"/>
                    </a:lnTo>
                    <a:lnTo>
                      <a:pt x="969" y="1358"/>
                    </a:lnTo>
                    <a:lnTo>
                      <a:pt x="967" y="1358"/>
                    </a:lnTo>
                    <a:lnTo>
                      <a:pt x="964" y="1356"/>
                    </a:lnTo>
                    <a:lnTo>
                      <a:pt x="960" y="1356"/>
                    </a:lnTo>
                    <a:lnTo>
                      <a:pt x="957" y="1354"/>
                    </a:lnTo>
                    <a:lnTo>
                      <a:pt x="954" y="1354"/>
                    </a:lnTo>
                    <a:lnTo>
                      <a:pt x="950" y="1354"/>
                    </a:lnTo>
                    <a:lnTo>
                      <a:pt x="947" y="1354"/>
                    </a:lnTo>
                    <a:lnTo>
                      <a:pt x="943" y="1353"/>
                    </a:lnTo>
                    <a:lnTo>
                      <a:pt x="940" y="1353"/>
                    </a:lnTo>
                    <a:lnTo>
                      <a:pt x="936" y="1353"/>
                    </a:lnTo>
                    <a:lnTo>
                      <a:pt x="933" y="1351"/>
                    </a:lnTo>
                    <a:lnTo>
                      <a:pt x="929" y="1351"/>
                    </a:lnTo>
                    <a:lnTo>
                      <a:pt x="926" y="1351"/>
                    </a:lnTo>
                    <a:lnTo>
                      <a:pt x="922" y="1349"/>
                    </a:lnTo>
                    <a:lnTo>
                      <a:pt x="919" y="1349"/>
                    </a:lnTo>
                    <a:lnTo>
                      <a:pt x="915" y="1349"/>
                    </a:lnTo>
                    <a:lnTo>
                      <a:pt x="913" y="1347"/>
                    </a:lnTo>
                    <a:lnTo>
                      <a:pt x="910" y="1347"/>
                    </a:lnTo>
                    <a:lnTo>
                      <a:pt x="907" y="1347"/>
                    </a:lnTo>
                    <a:lnTo>
                      <a:pt x="903" y="1346"/>
                    </a:lnTo>
                    <a:lnTo>
                      <a:pt x="900" y="1346"/>
                    </a:lnTo>
                    <a:lnTo>
                      <a:pt x="896" y="1344"/>
                    </a:lnTo>
                    <a:lnTo>
                      <a:pt x="893" y="1344"/>
                    </a:lnTo>
                    <a:lnTo>
                      <a:pt x="889" y="1344"/>
                    </a:lnTo>
                    <a:lnTo>
                      <a:pt x="886" y="1342"/>
                    </a:lnTo>
                    <a:lnTo>
                      <a:pt x="882" y="1342"/>
                    </a:lnTo>
                    <a:lnTo>
                      <a:pt x="879" y="1342"/>
                    </a:lnTo>
                    <a:lnTo>
                      <a:pt x="875" y="1340"/>
                    </a:lnTo>
                    <a:lnTo>
                      <a:pt x="872" y="1340"/>
                    </a:lnTo>
                    <a:lnTo>
                      <a:pt x="868" y="1339"/>
                    </a:lnTo>
                    <a:lnTo>
                      <a:pt x="865" y="1339"/>
                    </a:lnTo>
                    <a:lnTo>
                      <a:pt x="863" y="1339"/>
                    </a:lnTo>
                    <a:lnTo>
                      <a:pt x="860" y="1337"/>
                    </a:lnTo>
                    <a:lnTo>
                      <a:pt x="856" y="1337"/>
                    </a:lnTo>
                    <a:lnTo>
                      <a:pt x="853" y="1335"/>
                    </a:lnTo>
                    <a:lnTo>
                      <a:pt x="849" y="1335"/>
                    </a:lnTo>
                    <a:lnTo>
                      <a:pt x="846" y="1335"/>
                    </a:lnTo>
                    <a:lnTo>
                      <a:pt x="842" y="1333"/>
                    </a:lnTo>
                    <a:lnTo>
                      <a:pt x="839" y="1333"/>
                    </a:lnTo>
                    <a:lnTo>
                      <a:pt x="835" y="1332"/>
                    </a:lnTo>
                    <a:lnTo>
                      <a:pt x="832" y="1332"/>
                    </a:lnTo>
                    <a:lnTo>
                      <a:pt x="828" y="1330"/>
                    </a:lnTo>
                    <a:lnTo>
                      <a:pt x="826" y="1330"/>
                    </a:lnTo>
                    <a:lnTo>
                      <a:pt x="823" y="1330"/>
                    </a:lnTo>
                    <a:lnTo>
                      <a:pt x="819" y="1328"/>
                    </a:lnTo>
                    <a:lnTo>
                      <a:pt x="816" y="1326"/>
                    </a:lnTo>
                    <a:lnTo>
                      <a:pt x="813" y="1326"/>
                    </a:lnTo>
                    <a:lnTo>
                      <a:pt x="809" y="1326"/>
                    </a:lnTo>
                    <a:lnTo>
                      <a:pt x="806" y="1325"/>
                    </a:lnTo>
                    <a:lnTo>
                      <a:pt x="802" y="1325"/>
                    </a:lnTo>
                    <a:lnTo>
                      <a:pt x="800" y="1323"/>
                    </a:lnTo>
                    <a:lnTo>
                      <a:pt x="797" y="1323"/>
                    </a:lnTo>
                    <a:lnTo>
                      <a:pt x="793" y="1321"/>
                    </a:lnTo>
                    <a:lnTo>
                      <a:pt x="790" y="1321"/>
                    </a:lnTo>
                    <a:lnTo>
                      <a:pt x="786" y="1319"/>
                    </a:lnTo>
                    <a:lnTo>
                      <a:pt x="783" y="1318"/>
                    </a:lnTo>
                    <a:lnTo>
                      <a:pt x="779" y="1318"/>
                    </a:lnTo>
                    <a:lnTo>
                      <a:pt x="778" y="1316"/>
                    </a:lnTo>
                    <a:lnTo>
                      <a:pt x="774" y="1316"/>
                    </a:lnTo>
                    <a:lnTo>
                      <a:pt x="771" y="1314"/>
                    </a:lnTo>
                    <a:lnTo>
                      <a:pt x="767" y="1314"/>
                    </a:lnTo>
                    <a:lnTo>
                      <a:pt x="764" y="1312"/>
                    </a:lnTo>
                    <a:lnTo>
                      <a:pt x="760" y="1312"/>
                    </a:lnTo>
                    <a:lnTo>
                      <a:pt x="757" y="1311"/>
                    </a:lnTo>
                    <a:lnTo>
                      <a:pt x="755" y="1311"/>
                    </a:lnTo>
                    <a:lnTo>
                      <a:pt x="752" y="1309"/>
                    </a:lnTo>
                    <a:lnTo>
                      <a:pt x="748" y="1307"/>
                    </a:lnTo>
                    <a:lnTo>
                      <a:pt x="745" y="1307"/>
                    </a:lnTo>
                    <a:lnTo>
                      <a:pt x="741" y="1305"/>
                    </a:lnTo>
                    <a:lnTo>
                      <a:pt x="739" y="1305"/>
                    </a:lnTo>
                    <a:lnTo>
                      <a:pt x="736" y="1304"/>
                    </a:lnTo>
                    <a:lnTo>
                      <a:pt x="732" y="1302"/>
                    </a:lnTo>
                    <a:lnTo>
                      <a:pt x="729" y="1302"/>
                    </a:lnTo>
                    <a:lnTo>
                      <a:pt x="726" y="1300"/>
                    </a:lnTo>
                    <a:lnTo>
                      <a:pt x="722" y="1299"/>
                    </a:lnTo>
                    <a:lnTo>
                      <a:pt x="720" y="1299"/>
                    </a:lnTo>
                    <a:lnTo>
                      <a:pt x="717" y="1297"/>
                    </a:lnTo>
                    <a:lnTo>
                      <a:pt x="713" y="1297"/>
                    </a:lnTo>
                    <a:lnTo>
                      <a:pt x="710" y="1295"/>
                    </a:lnTo>
                    <a:lnTo>
                      <a:pt x="708" y="1293"/>
                    </a:lnTo>
                    <a:lnTo>
                      <a:pt x="705" y="1292"/>
                    </a:lnTo>
                    <a:lnTo>
                      <a:pt x="701" y="1292"/>
                    </a:lnTo>
                    <a:lnTo>
                      <a:pt x="698" y="1290"/>
                    </a:lnTo>
                    <a:lnTo>
                      <a:pt x="694" y="1288"/>
                    </a:lnTo>
                    <a:lnTo>
                      <a:pt x="692" y="1288"/>
                    </a:lnTo>
                    <a:lnTo>
                      <a:pt x="689" y="1286"/>
                    </a:lnTo>
                    <a:lnTo>
                      <a:pt x="685" y="1285"/>
                    </a:lnTo>
                    <a:lnTo>
                      <a:pt x="682" y="1283"/>
                    </a:lnTo>
                    <a:lnTo>
                      <a:pt x="680" y="1281"/>
                    </a:lnTo>
                    <a:lnTo>
                      <a:pt x="677" y="1281"/>
                    </a:lnTo>
                    <a:lnTo>
                      <a:pt x="673" y="1279"/>
                    </a:lnTo>
                    <a:lnTo>
                      <a:pt x="672" y="1278"/>
                    </a:lnTo>
                    <a:lnTo>
                      <a:pt x="668" y="1276"/>
                    </a:lnTo>
                    <a:lnTo>
                      <a:pt x="665" y="1276"/>
                    </a:lnTo>
                    <a:lnTo>
                      <a:pt x="663" y="1274"/>
                    </a:lnTo>
                    <a:lnTo>
                      <a:pt x="659" y="1272"/>
                    </a:lnTo>
                    <a:lnTo>
                      <a:pt x="656" y="1271"/>
                    </a:lnTo>
                    <a:lnTo>
                      <a:pt x="654" y="1269"/>
                    </a:lnTo>
                    <a:lnTo>
                      <a:pt x="651" y="1269"/>
                    </a:lnTo>
                    <a:lnTo>
                      <a:pt x="647" y="1267"/>
                    </a:lnTo>
                    <a:lnTo>
                      <a:pt x="645" y="1265"/>
                    </a:lnTo>
                    <a:lnTo>
                      <a:pt x="642" y="1264"/>
                    </a:lnTo>
                    <a:lnTo>
                      <a:pt x="638" y="1262"/>
                    </a:lnTo>
                    <a:lnTo>
                      <a:pt x="637" y="1260"/>
                    </a:lnTo>
                    <a:lnTo>
                      <a:pt x="633" y="1258"/>
                    </a:lnTo>
                    <a:lnTo>
                      <a:pt x="632" y="1257"/>
                    </a:lnTo>
                    <a:lnTo>
                      <a:pt x="628" y="1257"/>
                    </a:lnTo>
                    <a:lnTo>
                      <a:pt x="625" y="1255"/>
                    </a:lnTo>
                    <a:lnTo>
                      <a:pt x="623" y="1253"/>
                    </a:lnTo>
                    <a:lnTo>
                      <a:pt x="619" y="1252"/>
                    </a:lnTo>
                    <a:lnTo>
                      <a:pt x="618" y="1250"/>
                    </a:lnTo>
                    <a:lnTo>
                      <a:pt x="614" y="1248"/>
                    </a:lnTo>
                    <a:lnTo>
                      <a:pt x="612" y="1246"/>
                    </a:lnTo>
                    <a:lnTo>
                      <a:pt x="609" y="1245"/>
                    </a:lnTo>
                    <a:lnTo>
                      <a:pt x="607" y="1243"/>
                    </a:lnTo>
                    <a:lnTo>
                      <a:pt x="604" y="1241"/>
                    </a:lnTo>
                    <a:lnTo>
                      <a:pt x="602" y="1239"/>
                    </a:lnTo>
                    <a:lnTo>
                      <a:pt x="598" y="1238"/>
                    </a:lnTo>
                    <a:lnTo>
                      <a:pt x="597" y="1236"/>
                    </a:lnTo>
                    <a:lnTo>
                      <a:pt x="593" y="1234"/>
                    </a:lnTo>
                    <a:lnTo>
                      <a:pt x="591" y="1232"/>
                    </a:lnTo>
                    <a:lnTo>
                      <a:pt x="588" y="1231"/>
                    </a:lnTo>
                    <a:lnTo>
                      <a:pt x="586" y="1229"/>
                    </a:lnTo>
                    <a:lnTo>
                      <a:pt x="583" y="1227"/>
                    </a:lnTo>
                    <a:lnTo>
                      <a:pt x="581" y="1225"/>
                    </a:lnTo>
                    <a:lnTo>
                      <a:pt x="579" y="1224"/>
                    </a:lnTo>
                    <a:lnTo>
                      <a:pt x="576" y="1222"/>
                    </a:lnTo>
                    <a:lnTo>
                      <a:pt x="574" y="1220"/>
                    </a:lnTo>
                    <a:lnTo>
                      <a:pt x="571" y="1217"/>
                    </a:lnTo>
                    <a:lnTo>
                      <a:pt x="569" y="1215"/>
                    </a:lnTo>
                    <a:lnTo>
                      <a:pt x="567" y="1213"/>
                    </a:lnTo>
                    <a:lnTo>
                      <a:pt x="564" y="1211"/>
                    </a:lnTo>
                    <a:lnTo>
                      <a:pt x="562" y="1210"/>
                    </a:lnTo>
                    <a:lnTo>
                      <a:pt x="560" y="1208"/>
                    </a:lnTo>
                    <a:lnTo>
                      <a:pt x="558" y="1206"/>
                    </a:lnTo>
                    <a:lnTo>
                      <a:pt x="555" y="1203"/>
                    </a:lnTo>
                    <a:lnTo>
                      <a:pt x="553" y="1201"/>
                    </a:lnTo>
                    <a:lnTo>
                      <a:pt x="551" y="1199"/>
                    </a:lnTo>
                    <a:lnTo>
                      <a:pt x="550" y="1198"/>
                    </a:lnTo>
                    <a:lnTo>
                      <a:pt x="546" y="1196"/>
                    </a:lnTo>
                    <a:lnTo>
                      <a:pt x="544" y="1194"/>
                    </a:lnTo>
                    <a:lnTo>
                      <a:pt x="543" y="1191"/>
                    </a:lnTo>
                    <a:lnTo>
                      <a:pt x="541" y="1189"/>
                    </a:lnTo>
                    <a:lnTo>
                      <a:pt x="539" y="1187"/>
                    </a:lnTo>
                    <a:lnTo>
                      <a:pt x="536" y="1185"/>
                    </a:lnTo>
                    <a:lnTo>
                      <a:pt x="534" y="1182"/>
                    </a:lnTo>
                    <a:lnTo>
                      <a:pt x="532" y="1180"/>
                    </a:lnTo>
                    <a:lnTo>
                      <a:pt x="531" y="1178"/>
                    </a:lnTo>
                    <a:lnTo>
                      <a:pt x="529" y="1177"/>
                    </a:lnTo>
                    <a:lnTo>
                      <a:pt x="527" y="1173"/>
                    </a:lnTo>
                    <a:lnTo>
                      <a:pt x="525" y="1171"/>
                    </a:lnTo>
                    <a:lnTo>
                      <a:pt x="524" y="1170"/>
                    </a:lnTo>
                    <a:lnTo>
                      <a:pt x="522" y="1166"/>
                    </a:lnTo>
                    <a:lnTo>
                      <a:pt x="520" y="1164"/>
                    </a:lnTo>
                    <a:lnTo>
                      <a:pt x="518" y="1163"/>
                    </a:lnTo>
                    <a:lnTo>
                      <a:pt x="517" y="1159"/>
                    </a:lnTo>
                    <a:lnTo>
                      <a:pt x="515" y="1158"/>
                    </a:lnTo>
                    <a:lnTo>
                      <a:pt x="513" y="1156"/>
                    </a:lnTo>
                    <a:lnTo>
                      <a:pt x="511" y="1152"/>
                    </a:lnTo>
                    <a:lnTo>
                      <a:pt x="511" y="1151"/>
                    </a:lnTo>
                    <a:lnTo>
                      <a:pt x="510" y="1149"/>
                    </a:lnTo>
                    <a:lnTo>
                      <a:pt x="508" y="1145"/>
                    </a:lnTo>
                    <a:lnTo>
                      <a:pt x="506" y="1144"/>
                    </a:lnTo>
                    <a:lnTo>
                      <a:pt x="504" y="1142"/>
                    </a:lnTo>
                    <a:lnTo>
                      <a:pt x="503" y="1138"/>
                    </a:lnTo>
                    <a:lnTo>
                      <a:pt x="503" y="1137"/>
                    </a:lnTo>
                    <a:lnTo>
                      <a:pt x="501" y="1133"/>
                    </a:lnTo>
                    <a:lnTo>
                      <a:pt x="499" y="1131"/>
                    </a:lnTo>
                    <a:lnTo>
                      <a:pt x="499" y="1130"/>
                    </a:lnTo>
                    <a:lnTo>
                      <a:pt x="498" y="1126"/>
                    </a:lnTo>
                    <a:lnTo>
                      <a:pt x="496" y="1124"/>
                    </a:lnTo>
                    <a:lnTo>
                      <a:pt x="496" y="1121"/>
                    </a:lnTo>
                    <a:lnTo>
                      <a:pt x="494" y="1119"/>
                    </a:lnTo>
                    <a:lnTo>
                      <a:pt x="492" y="1116"/>
                    </a:lnTo>
                    <a:lnTo>
                      <a:pt x="492" y="1114"/>
                    </a:lnTo>
                    <a:lnTo>
                      <a:pt x="491" y="1111"/>
                    </a:lnTo>
                    <a:lnTo>
                      <a:pt x="491" y="1109"/>
                    </a:lnTo>
                    <a:lnTo>
                      <a:pt x="489" y="1107"/>
                    </a:lnTo>
                    <a:lnTo>
                      <a:pt x="489" y="1104"/>
                    </a:lnTo>
                    <a:lnTo>
                      <a:pt x="487" y="1102"/>
                    </a:lnTo>
                    <a:lnTo>
                      <a:pt x="487" y="1098"/>
                    </a:lnTo>
                    <a:lnTo>
                      <a:pt x="485" y="1097"/>
                    </a:lnTo>
                    <a:lnTo>
                      <a:pt x="485" y="1093"/>
                    </a:lnTo>
                    <a:lnTo>
                      <a:pt x="485" y="1091"/>
                    </a:lnTo>
                    <a:lnTo>
                      <a:pt x="484" y="1088"/>
                    </a:lnTo>
                    <a:lnTo>
                      <a:pt x="484" y="1086"/>
                    </a:lnTo>
                    <a:lnTo>
                      <a:pt x="484" y="1083"/>
                    </a:lnTo>
                    <a:lnTo>
                      <a:pt x="484" y="1081"/>
                    </a:lnTo>
                    <a:lnTo>
                      <a:pt x="482" y="1077"/>
                    </a:lnTo>
                    <a:lnTo>
                      <a:pt x="482" y="1076"/>
                    </a:lnTo>
                    <a:lnTo>
                      <a:pt x="482" y="1072"/>
                    </a:lnTo>
                    <a:lnTo>
                      <a:pt x="482" y="1070"/>
                    </a:lnTo>
                    <a:lnTo>
                      <a:pt x="480" y="1067"/>
                    </a:lnTo>
                    <a:lnTo>
                      <a:pt x="480" y="1065"/>
                    </a:lnTo>
                    <a:lnTo>
                      <a:pt x="480" y="1062"/>
                    </a:lnTo>
                    <a:lnTo>
                      <a:pt x="480" y="1060"/>
                    </a:lnTo>
                    <a:lnTo>
                      <a:pt x="480" y="1051"/>
                    </a:lnTo>
                    <a:moveTo>
                      <a:pt x="1030" y="1363"/>
                    </a:moveTo>
                    <a:lnTo>
                      <a:pt x="1027" y="1361"/>
                    </a:lnTo>
                    <a:lnTo>
                      <a:pt x="1023" y="1359"/>
                    </a:lnTo>
                    <a:lnTo>
                      <a:pt x="1021" y="1358"/>
                    </a:lnTo>
                    <a:lnTo>
                      <a:pt x="1018" y="1356"/>
                    </a:lnTo>
                    <a:lnTo>
                      <a:pt x="1014" y="1354"/>
                    </a:lnTo>
                    <a:lnTo>
                      <a:pt x="1013" y="1354"/>
                    </a:lnTo>
                    <a:lnTo>
                      <a:pt x="1009" y="1353"/>
                    </a:lnTo>
                    <a:lnTo>
                      <a:pt x="1006" y="1351"/>
                    </a:lnTo>
                    <a:lnTo>
                      <a:pt x="1004" y="1349"/>
                    </a:lnTo>
                    <a:lnTo>
                      <a:pt x="1000" y="1347"/>
                    </a:lnTo>
                    <a:lnTo>
                      <a:pt x="997" y="1347"/>
                    </a:lnTo>
                    <a:lnTo>
                      <a:pt x="995" y="1346"/>
                    </a:lnTo>
                    <a:lnTo>
                      <a:pt x="992" y="1344"/>
                    </a:lnTo>
                    <a:lnTo>
                      <a:pt x="990" y="1342"/>
                    </a:lnTo>
                    <a:lnTo>
                      <a:pt x="987" y="1340"/>
                    </a:lnTo>
                    <a:lnTo>
                      <a:pt x="983" y="1339"/>
                    </a:lnTo>
                    <a:lnTo>
                      <a:pt x="981" y="1337"/>
                    </a:lnTo>
                    <a:lnTo>
                      <a:pt x="978" y="1335"/>
                    </a:lnTo>
                    <a:lnTo>
                      <a:pt x="974" y="1335"/>
                    </a:lnTo>
                    <a:lnTo>
                      <a:pt x="973" y="1333"/>
                    </a:lnTo>
                    <a:lnTo>
                      <a:pt x="969" y="1332"/>
                    </a:lnTo>
                    <a:lnTo>
                      <a:pt x="967" y="1330"/>
                    </a:lnTo>
                    <a:lnTo>
                      <a:pt x="964" y="1328"/>
                    </a:lnTo>
                    <a:lnTo>
                      <a:pt x="960" y="1326"/>
                    </a:lnTo>
                    <a:lnTo>
                      <a:pt x="959" y="1326"/>
                    </a:lnTo>
                    <a:lnTo>
                      <a:pt x="955" y="1325"/>
                    </a:lnTo>
                    <a:lnTo>
                      <a:pt x="952" y="1323"/>
                    </a:lnTo>
                    <a:lnTo>
                      <a:pt x="950" y="1321"/>
                    </a:lnTo>
                    <a:lnTo>
                      <a:pt x="947" y="1319"/>
                    </a:lnTo>
                    <a:lnTo>
                      <a:pt x="945" y="1318"/>
                    </a:lnTo>
                    <a:lnTo>
                      <a:pt x="941" y="1316"/>
                    </a:lnTo>
                    <a:lnTo>
                      <a:pt x="938" y="1314"/>
                    </a:lnTo>
                    <a:lnTo>
                      <a:pt x="936" y="1312"/>
                    </a:lnTo>
                    <a:lnTo>
                      <a:pt x="933" y="1312"/>
                    </a:lnTo>
                    <a:lnTo>
                      <a:pt x="931" y="1311"/>
                    </a:lnTo>
                    <a:lnTo>
                      <a:pt x="927" y="1309"/>
                    </a:lnTo>
                    <a:lnTo>
                      <a:pt x="924" y="1307"/>
                    </a:lnTo>
                    <a:lnTo>
                      <a:pt x="922" y="1305"/>
                    </a:lnTo>
                    <a:lnTo>
                      <a:pt x="919" y="1304"/>
                    </a:lnTo>
                    <a:lnTo>
                      <a:pt x="915" y="1302"/>
                    </a:lnTo>
                    <a:lnTo>
                      <a:pt x="913" y="1300"/>
                    </a:lnTo>
                    <a:lnTo>
                      <a:pt x="910" y="1299"/>
                    </a:lnTo>
                    <a:lnTo>
                      <a:pt x="908" y="1299"/>
                    </a:lnTo>
                    <a:lnTo>
                      <a:pt x="905" y="1297"/>
                    </a:lnTo>
                    <a:lnTo>
                      <a:pt x="901" y="1295"/>
                    </a:lnTo>
                    <a:lnTo>
                      <a:pt x="900" y="1293"/>
                    </a:lnTo>
                    <a:lnTo>
                      <a:pt x="896" y="1292"/>
                    </a:lnTo>
                    <a:lnTo>
                      <a:pt x="894" y="1290"/>
                    </a:lnTo>
                    <a:lnTo>
                      <a:pt x="891" y="1288"/>
                    </a:lnTo>
                    <a:lnTo>
                      <a:pt x="889" y="1286"/>
                    </a:lnTo>
                    <a:lnTo>
                      <a:pt x="886" y="1285"/>
                    </a:lnTo>
                    <a:lnTo>
                      <a:pt x="884" y="1283"/>
                    </a:lnTo>
                    <a:lnTo>
                      <a:pt x="880" y="1281"/>
                    </a:lnTo>
                    <a:lnTo>
                      <a:pt x="877" y="1279"/>
                    </a:lnTo>
                    <a:lnTo>
                      <a:pt x="875" y="1278"/>
                    </a:lnTo>
                    <a:lnTo>
                      <a:pt x="872" y="1276"/>
                    </a:lnTo>
                    <a:lnTo>
                      <a:pt x="870" y="1274"/>
                    </a:lnTo>
                    <a:lnTo>
                      <a:pt x="866" y="1274"/>
                    </a:lnTo>
                    <a:lnTo>
                      <a:pt x="865" y="1271"/>
                    </a:lnTo>
                    <a:lnTo>
                      <a:pt x="861" y="1271"/>
                    </a:lnTo>
                    <a:lnTo>
                      <a:pt x="860" y="1267"/>
                    </a:lnTo>
                    <a:lnTo>
                      <a:pt x="856" y="1267"/>
                    </a:lnTo>
                    <a:lnTo>
                      <a:pt x="854" y="1265"/>
                    </a:lnTo>
                    <a:lnTo>
                      <a:pt x="851" y="1262"/>
                    </a:lnTo>
                    <a:lnTo>
                      <a:pt x="849" y="1262"/>
                    </a:lnTo>
                    <a:lnTo>
                      <a:pt x="846" y="1260"/>
                    </a:lnTo>
                    <a:lnTo>
                      <a:pt x="844" y="1257"/>
                    </a:lnTo>
                    <a:lnTo>
                      <a:pt x="840" y="1257"/>
                    </a:lnTo>
                    <a:lnTo>
                      <a:pt x="839" y="1253"/>
                    </a:lnTo>
                    <a:lnTo>
                      <a:pt x="837" y="1252"/>
                    </a:lnTo>
                    <a:lnTo>
                      <a:pt x="833" y="1250"/>
                    </a:lnTo>
                    <a:lnTo>
                      <a:pt x="832" y="1248"/>
                    </a:lnTo>
                    <a:lnTo>
                      <a:pt x="828" y="1246"/>
                    </a:lnTo>
                    <a:lnTo>
                      <a:pt x="826" y="1245"/>
                    </a:lnTo>
                    <a:lnTo>
                      <a:pt x="823" y="1243"/>
                    </a:lnTo>
                    <a:lnTo>
                      <a:pt x="821" y="1241"/>
                    </a:lnTo>
                    <a:lnTo>
                      <a:pt x="819" y="1239"/>
                    </a:lnTo>
                    <a:lnTo>
                      <a:pt x="816" y="1238"/>
                    </a:lnTo>
                    <a:lnTo>
                      <a:pt x="814" y="1236"/>
                    </a:lnTo>
                    <a:lnTo>
                      <a:pt x="811" y="1234"/>
                    </a:lnTo>
                    <a:lnTo>
                      <a:pt x="809" y="1232"/>
                    </a:lnTo>
                    <a:lnTo>
                      <a:pt x="807" y="1231"/>
                    </a:lnTo>
                    <a:lnTo>
                      <a:pt x="804" y="1229"/>
                    </a:lnTo>
                    <a:lnTo>
                      <a:pt x="802" y="1225"/>
                    </a:lnTo>
                    <a:lnTo>
                      <a:pt x="800" y="1224"/>
                    </a:lnTo>
                    <a:lnTo>
                      <a:pt x="797" y="1222"/>
                    </a:lnTo>
                    <a:lnTo>
                      <a:pt x="795" y="1220"/>
                    </a:lnTo>
                    <a:lnTo>
                      <a:pt x="793" y="1218"/>
                    </a:lnTo>
                    <a:lnTo>
                      <a:pt x="790" y="1217"/>
                    </a:lnTo>
                    <a:lnTo>
                      <a:pt x="788" y="1215"/>
                    </a:lnTo>
                    <a:lnTo>
                      <a:pt x="786" y="1211"/>
                    </a:lnTo>
                    <a:lnTo>
                      <a:pt x="785" y="1210"/>
                    </a:lnTo>
                    <a:lnTo>
                      <a:pt x="781" y="1208"/>
                    </a:lnTo>
                    <a:lnTo>
                      <a:pt x="779" y="1206"/>
                    </a:lnTo>
                    <a:lnTo>
                      <a:pt x="778" y="1205"/>
                    </a:lnTo>
                    <a:lnTo>
                      <a:pt x="776" y="1201"/>
                    </a:lnTo>
                    <a:lnTo>
                      <a:pt x="774" y="1199"/>
                    </a:lnTo>
                    <a:lnTo>
                      <a:pt x="771" y="1198"/>
                    </a:lnTo>
                    <a:lnTo>
                      <a:pt x="769" y="1196"/>
                    </a:lnTo>
                    <a:lnTo>
                      <a:pt x="767" y="1194"/>
                    </a:lnTo>
                    <a:lnTo>
                      <a:pt x="766" y="1191"/>
                    </a:lnTo>
                    <a:lnTo>
                      <a:pt x="764" y="1189"/>
                    </a:lnTo>
                    <a:lnTo>
                      <a:pt x="762" y="1187"/>
                    </a:lnTo>
                    <a:lnTo>
                      <a:pt x="759" y="1185"/>
                    </a:lnTo>
                    <a:lnTo>
                      <a:pt x="757" y="1182"/>
                    </a:lnTo>
                    <a:lnTo>
                      <a:pt x="755" y="1180"/>
                    </a:lnTo>
                    <a:lnTo>
                      <a:pt x="753" y="1178"/>
                    </a:lnTo>
                    <a:lnTo>
                      <a:pt x="752" y="1175"/>
                    </a:lnTo>
                    <a:lnTo>
                      <a:pt x="750" y="1173"/>
                    </a:lnTo>
                    <a:lnTo>
                      <a:pt x="748" y="1171"/>
                    </a:lnTo>
                    <a:lnTo>
                      <a:pt x="746" y="1170"/>
                    </a:lnTo>
                    <a:lnTo>
                      <a:pt x="745" y="1166"/>
                    </a:lnTo>
                    <a:lnTo>
                      <a:pt x="743" y="1164"/>
                    </a:lnTo>
                    <a:lnTo>
                      <a:pt x="741" y="1163"/>
                    </a:lnTo>
                    <a:lnTo>
                      <a:pt x="739" y="1159"/>
                    </a:lnTo>
                    <a:lnTo>
                      <a:pt x="738" y="1158"/>
                    </a:lnTo>
                    <a:lnTo>
                      <a:pt x="736" y="1156"/>
                    </a:lnTo>
                    <a:lnTo>
                      <a:pt x="736" y="1152"/>
                    </a:lnTo>
                    <a:lnTo>
                      <a:pt x="734" y="1151"/>
                    </a:lnTo>
                    <a:lnTo>
                      <a:pt x="732" y="1147"/>
                    </a:lnTo>
                    <a:lnTo>
                      <a:pt x="731" y="1145"/>
                    </a:lnTo>
                    <a:lnTo>
                      <a:pt x="729" y="1144"/>
                    </a:lnTo>
                    <a:lnTo>
                      <a:pt x="727" y="1140"/>
                    </a:lnTo>
                    <a:lnTo>
                      <a:pt x="727" y="1138"/>
                    </a:lnTo>
                    <a:lnTo>
                      <a:pt x="726" y="1135"/>
                    </a:lnTo>
                    <a:lnTo>
                      <a:pt x="724" y="1133"/>
                    </a:lnTo>
                    <a:lnTo>
                      <a:pt x="722" y="1131"/>
                    </a:lnTo>
                    <a:lnTo>
                      <a:pt x="722" y="1128"/>
                    </a:lnTo>
                    <a:lnTo>
                      <a:pt x="720" y="1126"/>
                    </a:lnTo>
                    <a:lnTo>
                      <a:pt x="719" y="1124"/>
                    </a:lnTo>
                    <a:lnTo>
                      <a:pt x="719" y="1121"/>
                    </a:lnTo>
                    <a:lnTo>
                      <a:pt x="717" y="1119"/>
                    </a:lnTo>
                    <a:lnTo>
                      <a:pt x="717" y="1116"/>
                    </a:lnTo>
                    <a:lnTo>
                      <a:pt x="715" y="1114"/>
                    </a:lnTo>
                    <a:lnTo>
                      <a:pt x="713" y="1111"/>
                    </a:lnTo>
                    <a:lnTo>
                      <a:pt x="713" y="1109"/>
                    </a:lnTo>
                    <a:lnTo>
                      <a:pt x="712" y="1105"/>
                    </a:lnTo>
                    <a:lnTo>
                      <a:pt x="712" y="1104"/>
                    </a:lnTo>
                    <a:lnTo>
                      <a:pt x="712" y="1100"/>
                    </a:lnTo>
                    <a:lnTo>
                      <a:pt x="710" y="1098"/>
                    </a:lnTo>
                    <a:lnTo>
                      <a:pt x="710" y="1095"/>
                    </a:lnTo>
                    <a:lnTo>
                      <a:pt x="708" y="1093"/>
                    </a:lnTo>
                    <a:lnTo>
                      <a:pt x="708" y="1091"/>
                    </a:lnTo>
                    <a:lnTo>
                      <a:pt x="708" y="1088"/>
                    </a:lnTo>
                    <a:lnTo>
                      <a:pt x="706" y="1084"/>
                    </a:lnTo>
                    <a:lnTo>
                      <a:pt x="706" y="1083"/>
                    </a:lnTo>
                    <a:lnTo>
                      <a:pt x="706" y="1079"/>
                    </a:lnTo>
                    <a:lnTo>
                      <a:pt x="705" y="1077"/>
                    </a:lnTo>
                    <a:lnTo>
                      <a:pt x="705" y="1074"/>
                    </a:lnTo>
                    <a:lnTo>
                      <a:pt x="705" y="1072"/>
                    </a:lnTo>
                    <a:lnTo>
                      <a:pt x="705" y="1069"/>
                    </a:lnTo>
                    <a:lnTo>
                      <a:pt x="705" y="1067"/>
                    </a:lnTo>
                    <a:lnTo>
                      <a:pt x="703" y="1064"/>
                    </a:lnTo>
                    <a:lnTo>
                      <a:pt x="703" y="1062"/>
                    </a:lnTo>
                    <a:lnTo>
                      <a:pt x="703" y="1058"/>
                    </a:lnTo>
                    <a:lnTo>
                      <a:pt x="703" y="1051"/>
                    </a:lnTo>
                    <a:moveTo>
                      <a:pt x="1034" y="1359"/>
                    </a:moveTo>
                    <a:lnTo>
                      <a:pt x="1032" y="1358"/>
                    </a:lnTo>
                    <a:lnTo>
                      <a:pt x="1030" y="1354"/>
                    </a:lnTo>
                    <a:lnTo>
                      <a:pt x="1028" y="1353"/>
                    </a:lnTo>
                    <a:lnTo>
                      <a:pt x="1025" y="1351"/>
                    </a:lnTo>
                    <a:lnTo>
                      <a:pt x="1023" y="1349"/>
                    </a:lnTo>
                    <a:lnTo>
                      <a:pt x="1021" y="1347"/>
                    </a:lnTo>
                    <a:lnTo>
                      <a:pt x="1020" y="1344"/>
                    </a:lnTo>
                    <a:lnTo>
                      <a:pt x="1018" y="1342"/>
                    </a:lnTo>
                    <a:lnTo>
                      <a:pt x="1016" y="1340"/>
                    </a:lnTo>
                    <a:lnTo>
                      <a:pt x="1014" y="1339"/>
                    </a:lnTo>
                    <a:lnTo>
                      <a:pt x="1013" y="1335"/>
                    </a:lnTo>
                    <a:lnTo>
                      <a:pt x="1011" y="1333"/>
                    </a:lnTo>
                    <a:lnTo>
                      <a:pt x="1009" y="1332"/>
                    </a:lnTo>
                    <a:lnTo>
                      <a:pt x="1006" y="1330"/>
                    </a:lnTo>
                    <a:lnTo>
                      <a:pt x="1004" y="1326"/>
                    </a:lnTo>
                    <a:lnTo>
                      <a:pt x="1002" y="1325"/>
                    </a:lnTo>
                    <a:lnTo>
                      <a:pt x="1000" y="1323"/>
                    </a:lnTo>
                    <a:lnTo>
                      <a:pt x="999" y="1319"/>
                    </a:lnTo>
                    <a:lnTo>
                      <a:pt x="997" y="1318"/>
                    </a:lnTo>
                    <a:lnTo>
                      <a:pt x="995" y="1316"/>
                    </a:lnTo>
                    <a:lnTo>
                      <a:pt x="994" y="1314"/>
                    </a:lnTo>
                    <a:lnTo>
                      <a:pt x="992" y="1311"/>
                    </a:lnTo>
                    <a:lnTo>
                      <a:pt x="990" y="1309"/>
                    </a:lnTo>
                    <a:lnTo>
                      <a:pt x="988" y="1307"/>
                    </a:lnTo>
                    <a:lnTo>
                      <a:pt x="987" y="1304"/>
                    </a:lnTo>
                    <a:lnTo>
                      <a:pt x="983" y="1302"/>
                    </a:lnTo>
                    <a:lnTo>
                      <a:pt x="981" y="1300"/>
                    </a:lnTo>
                    <a:lnTo>
                      <a:pt x="980" y="1299"/>
                    </a:lnTo>
                    <a:lnTo>
                      <a:pt x="978" y="1297"/>
                    </a:lnTo>
                    <a:lnTo>
                      <a:pt x="976" y="1293"/>
                    </a:lnTo>
                    <a:lnTo>
                      <a:pt x="974" y="1292"/>
                    </a:lnTo>
                    <a:lnTo>
                      <a:pt x="973" y="1290"/>
                    </a:lnTo>
                    <a:lnTo>
                      <a:pt x="971" y="1286"/>
                    </a:lnTo>
                    <a:lnTo>
                      <a:pt x="969" y="1285"/>
                    </a:lnTo>
                    <a:lnTo>
                      <a:pt x="967" y="1283"/>
                    </a:lnTo>
                    <a:lnTo>
                      <a:pt x="966" y="1279"/>
                    </a:lnTo>
                    <a:lnTo>
                      <a:pt x="964" y="1278"/>
                    </a:lnTo>
                    <a:lnTo>
                      <a:pt x="962" y="1276"/>
                    </a:lnTo>
                    <a:lnTo>
                      <a:pt x="960" y="1274"/>
                    </a:lnTo>
                    <a:lnTo>
                      <a:pt x="959" y="1271"/>
                    </a:lnTo>
                    <a:lnTo>
                      <a:pt x="957" y="1269"/>
                    </a:lnTo>
                    <a:lnTo>
                      <a:pt x="955" y="1267"/>
                    </a:lnTo>
                    <a:lnTo>
                      <a:pt x="952" y="1265"/>
                    </a:lnTo>
                    <a:lnTo>
                      <a:pt x="950" y="1262"/>
                    </a:lnTo>
                    <a:lnTo>
                      <a:pt x="950" y="1260"/>
                    </a:lnTo>
                    <a:lnTo>
                      <a:pt x="947" y="1258"/>
                    </a:lnTo>
                    <a:lnTo>
                      <a:pt x="945" y="1255"/>
                    </a:lnTo>
                    <a:lnTo>
                      <a:pt x="945" y="1253"/>
                    </a:lnTo>
                    <a:lnTo>
                      <a:pt x="941" y="1252"/>
                    </a:lnTo>
                    <a:lnTo>
                      <a:pt x="940" y="1248"/>
                    </a:lnTo>
                    <a:lnTo>
                      <a:pt x="938" y="1246"/>
                    </a:lnTo>
                    <a:lnTo>
                      <a:pt x="936" y="1245"/>
                    </a:lnTo>
                    <a:lnTo>
                      <a:pt x="936" y="1241"/>
                    </a:lnTo>
                    <a:lnTo>
                      <a:pt x="933" y="1239"/>
                    </a:lnTo>
                    <a:lnTo>
                      <a:pt x="933" y="1238"/>
                    </a:lnTo>
                    <a:lnTo>
                      <a:pt x="931" y="1234"/>
                    </a:lnTo>
                    <a:lnTo>
                      <a:pt x="929" y="1232"/>
                    </a:lnTo>
                    <a:lnTo>
                      <a:pt x="927" y="1231"/>
                    </a:lnTo>
                    <a:lnTo>
                      <a:pt x="926" y="1229"/>
                    </a:lnTo>
                    <a:lnTo>
                      <a:pt x="924" y="1225"/>
                    </a:lnTo>
                    <a:lnTo>
                      <a:pt x="922" y="1224"/>
                    </a:lnTo>
                    <a:lnTo>
                      <a:pt x="920" y="1220"/>
                    </a:lnTo>
                    <a:lnTo>
                      <a:pt x="919" y="1218"/>
                    </a:lnTo>
                    <a:lnTo>
                      <a:pt x="917" y="1217"/>
                    </a:lnTo>
                    <a:lnTo>
                      <a:pt x="915" y="1215"/>
                    </a:lnTo>
                    <a:lnTo>
                      <a:pt x="913" y="1211"/>
                    </a:lnTo>
                    <a:lnTo>
                      <a:pt x="912" y="1210"/>
                    </a:lnTo>
                    <a:lnTo>
                      <a:pt x="910" y="1206"/>
                    </a:lnTo>
                    <a:lnTo>
                      <a:pt x="910" y="1205"/>
                    </a:lnTo>
                    <a:lnTo>
                      <a:pt x="908" y="1203"/>
                    </a:lnTo>
                    <a:lnTo>
                      <a:pt x="907" y="1199"/>
                    </a:lnTo>
                    <a:lnTo>
                      <a:pt x="905" y="1198"/>
                    </a:lnTo>
                    <a:lnTo>
                      <a:pt x="903" y="1196"/>
                    </a:lnTo>
                    <a:lnTo>
                      <a:pt x="901" y="1192"/>
                    </a:lnTo>
                    <a:lnTo>
                      <a:pt x="901" y="1191"/>
                    </a:lnTo>
                    <a:lnTo>
                      <a:pt x="900" y="1187"/>
                    </a:lnTo>
                    <a:lnTo>
                      <a:pt x="898" y="1185"/>
                    </a:lnTo>
                    <a:lnTo>
                      <a:pt x="896" y="1184"/>
                    </a:lnTo>
                    <a:lnTo>
                      <a:pt x="894" y="1180"/>
                    </a:lnTo>
                    <a:lnTo>
                      <a:pt x="894" y="1178"/>
                    </a:lnTo>
                    <a:lnTo>
                      <a:pt x="893" y="1175"/>
                    </a:lnTo>
                    <a:lnTo>
                      <a:pt x="891" y="1173"/>
                    </a:lnTo>
                    <a:lnTo>
                      <a:pt x="889" y="1171"/>
                    </a:lnTo>
                    <a:lnTo>
                      <a:pt x="889" y="1168"/>
                    </a:lnTo>
                    <a:lnTo>
                      <a:pt x="887" y="1166"/>
                    </a:lnTo>
                    <a:lnTo>
                      <a:pt x="886" y="1164"/>
                    </a:lnTo>
                    <a:lnTo>
                      <a:pt x="886" y="1161"/>
                    </a:lnTo>
                    <a:lnTo>
                      <a:pt x="884" y="1159"/>
                    </a:lnTo>
                    <a:lnTo>
                      <a:pt x="882" y="1156"/>
                    </a:lnTo>
                    <a:lnTo>
                      <a:pt x="882" y="1154"/>
                    </a:lnTo>
                    <a:lnTo>
                      <a:pt x="880" y="1151"/>
                    </a:lnTo>
                    <a:lnTo>
                      <a:pt x="879" y="1149"/>
                    </a:lnTo>
                    <a:lnTo>
                      <a:pt x="879" y="1147"/>
                    </a:lnTo>
                    <a:lnTo>
                      <a:pt x="877" y="1144"/>
                    </a:lnTo>
                    <a:lnTo>
                      <a:pt x="877" y="1142"/>
                    </a:lnTo>
                    <a:lnTo>
                      <a:pt x="875" y="1138"/>
                    </a:lnTo>
                    <a:lnTo>
                      <a:pt x="873" y="1137"/>
                    </a:lnTo>
                    <a:lnTo>
                      <a:pt x="873" y="1133"/>
                    </a:lnTo>
                    <a:lnTo>
                      <a:pt x="872" y="1131"/>
                    </a:lnTo>
                    <a:lnTo>
                      <a:pt x="872" y="1128"/>
                    </a:lnTo>
                    <a:lnTo>
                      <a:pt x="870" y="1126"/>
                    </a:lnTo>
                    <a:lnTo>
                      <a:pt x="870" y="1123"/>
                    </a:lnTo>
                    <a:lnTo>
                      <a:pt x="868" y="1121"/>
                    </a:lnTo>
                    <a:lnTo>
                      <a:pt x="868" y="1117"/>
                    </a:lnTo>
                    <a:lnTo>
                      <a:pt x="866" y="1116"/>
                    </a:lnTo>
                    <a:lnTo>
                      <a:pt x="866" y="1112"/>
                    </a:lnTo>
                    <a:lnTo>
                      <a:pt x="865" y="1111"/>
                    </a:lnTo>
                    <a:lnTo>
                      <a:pt x="865" y="1107"/>
                    </a:lnTo>
                    <a:lnTo>
                      <a:pt x="865" y="1105"/>
                    </a:lnTo>
                    <a:lnTo>
                      <a:pt x="863" y="1102"/>
                    </a:lnTo>
                    <a:lnTo>
                      <a:pt x="863" y="1100"/>
                    </a:lnTo>
                    <a:lnTo>
                      <a:pt x="863" y="1098"/>
                    </a:lnTo>
                    <a:lnTo>
                      <a:pt x="861" y="1095"/>
                    </a:lnTo>
                    <a:lnTo>
                      <a:pt x="861" y="1093"/>
                    </a:lnTo>
                    <a:lnTo>
                      <a:pt x="861" y="1090"/>
                    </a:lnTo>
                    <a:lnTo>
                      <a:pt x="861" y="1088"/>
                    </a:lnTo>
                    <a:lnTo>
                      <a:pt x="860" y="1084"/>
                    </a:lnTo>
                    <a:lnTo>
                      <a:pt x="860" y="1083"/>
                    </a:lnTo>
                    <a:lnTo>
                      <a:pt x="860" y="1079"/>
                    </a:lnTo>
                    <a:lnTo>
                      <a:pt x="860" y="1076"/>
                    </a:lnTo>
                    <a:lnTo>
                      <a:pt x="860" y="1074"/>
                    </a:lnTo>
                    <a:lnTo>
                      <a:pt x="858" y="1070"/>
                    </a:lnTo>
                    <a:lnTo>
                      <a:pt x="858" y="1069"/>
                    </a:lnTo>
                    <a:lnTo>
                      <a:pt x="858" y="1065"/>
                    </a:lnTo>
                    <a:lnTo>
                      <a:pt x="858" y="1064"/>
                    </a:lnTo>
                    <a:lnTo>
                      <a:pt x="858" y="1058"/>
                    </a:lnTo>
                    <a:lnTo>
                      <a:pt x="858" y="1055"/>
                    </a:lnTo>
                    <a:lnTo>
                      <a:pt x="858" y="1050"/>
                    </a:lnTo>
                    <a:moveTo>
                      <a:pt x="1039" y="1358"/>
                    </a:moveTo>
                    <a:lnTo>
                      <a:pt x="1037" y="1356"/>
                    </a:lnTo>
                    <a:lnTo>
                      <a:pt x="1037" y="1353"/>
                    </a:lnTo>
                    <a:lnTo>
                      <a:pt x="1037" y="1351"/>
                    </a:lnTo>
                    <a:lnTo>
                      <a:pt x="1035" y="1347"/>
                    </a:lnTo>
                    <a:lnTo>
                      <a:pt x="1035" y="1346"/>
                    </a:lnTo>
                    <a:lnTo>
                      <a:pt x="1034" y="1342"/>
                    </a:lnTo>
                    <a:lnTo>
                      <a:pt x="1034" y="1340"/>
                    </a:lnTo>
                    <a:lnTo>
                      <a:pt x="1034" y="1337"/>
                    </a:lnTo>
                    <a:lnTo>
                      <a:pt x="1032" y="1335"/>
                    </a:lnTo>
                    <a:lnTo>
                      <a:pt x="1032" y="1332"/>
                    </a:lnTo>
                    <a:lnTo>
                      <a:pt x="1032" y="1330"/>
                    </a:lnTo>
                    <a:lnTo>
                      <a:pt x="1030" y="1326"/>
                    </a:lnTo>
                    <a:lnTo>
                      <a:pt x="1030" y="1325"/>
                    </a:lnTo>
                    <a:lnTo>
                      <a:pt x="1028" y="1321"/>
                    </a:lnTo>
                    <a:lnTo>
                      <a:pt x="1028" y="1319"/>
                    </a:lnTo>
                    <a:lnTo>
                      <a:pt x="1028" y="1316"/>
                    </a:lnTo>
                    <a:lnTo>
                      <a:pt x="1027" y="1314"/>
                    </a:lnTo>
                    <a:lnTo>
                      <a:pt x="1027" y="1311"/>
                    </a:lnTo>
                    <a:lnTo>
                      <a:pt x="1025" y="1309"/>
                    </a:lnTo>
                    <a:lnTo>
                      <a:pt x="1025" y="1307"/>
                    </a:lnTo>
                    <a:lnTo>
                      <a:pt x="1025" y="1304"/>
                    </a:lnTo>
                    <a:lnTo>
                      <a:pt x="1023" y="1302"/>
                    </a:lnTo>
                    <a:lnTo>
                      <a:pt x="1023" y="1299"/>
                    </a:lnTo>
                    <a:lnTo>
                      <a:pt x="1023" y="1297"/>
                    </a:lnTo>
                    <a:lnTo>
                      <a:pt x="1021" y="1293"/>
                    </a:lnTo>
                    <a:lnTo>
                      <a:pt x="1021" y="1292"/>
                    </a:lnTo>
                    <a:lnTo>
                      <a:pt x="1020" y="1288"/>
                    </a:lnTo>
                    <a:lnTo>
                      <a:pt x="1020" y="1286"/>
                    </a:lnTo>
                    <a:lnTo>
                      <a:pt x="1020" y="1283"/>
                    </a:lnTo>
                    <a:lnTo>
                      <a:pt x="1018" y="1281"/>
                    </a:lnTo>
                    <a:lnTo>
                      <a:pt x="1018" y="1278"/>
                    </a:lnTo>
                    <a:lnTo>
                      <a:pt x="1018" y="1276"/>
                    </a:lnTo>
                    <a:lnTo>
                      <a:pt x="1016" y="1272"/>
                    </a:lnTo>
                    <a:lnTo>
                      <a:pt x="1016" y="1271"/>
                    </a:lnTo>
                    <a:lnTo>
                      <a:pt x="1014" y="1267"/>
                    </a:lnTo>
                    <a:lnTo>
                      <a:pt x="1014" y="1265"/>
                    </a:lnTo>
                    <a:lnTo>
                      <a:pt x="1014" y="1262"/>
                    </a:lnTo>
                    <a:lnTo>
                      <a:pt x="1013" y="1260"/>
                    </a:lnTo>
                    <a:lnTo>
                      <a:pt x="1013" y="1257"/>
                    </a:lnTo>
                    <a:lnTo>
                      <a:pt x="1013" y="1255"/>
                    </a:lnTo>
                    <a:lnTo>
                      <a:pt x="1011" y="1252"/>
                    </a:lnTo>
                    <a:lnTo>
                      <a:pt x="1011" y="1250"/>
                    </a:lnTo>
                    <a:lnTo>
                      <a:pt x="1011" y="1246"/>
                    </a:lnTo>
                    <a:lnTo>
                      <a:pt x="1009" y="1245"/>
                    </a:lnTo>
                    <a:lnTo>
                      <a:pt x="1009" y="1241"/>
                    </a:lnTo>
                    <a:lnTo>
                      <a:pt x="1009" y="1239"/>
                    </a:lnTo>
                    <a:lnTo>
                      <a:pt x="1007" y="1236"/>
                    </a:lnTo>
                    <a:lnTo>
                      <a:pt x="1007" y="1234"/>
                    </a:lnTo>
                    <a:lnTo>
                      <a:pt x="1006" y="1231"/>
                    </a:lnTo>
                    <a:lnTo>
                      <a:pt x="1006" y="1229"/>
                    </a:lnTo>
                    <a:lnTo>
                      <a:pt x="1006" y="1225"/>
                    </a:lnTo>
                    <a:lnTo>
                      <a:pt x="1004" y="1224"/>
                    </a:lnTo>
                    <a:lnTo>
                      <a:pt x="1004" y="1220"/>
                    </a:lnTo>
                    <a:lnTo>
                      <a:pt x="1004" y="1218"/>
                    </a:lnTo>
                    <a:lnTo>
                      <a:pt x="1004" y="1215"/>
                    </a:lnTo>
                    <a:lnTo>
                      <a:pt x="1002" y="1213"/>
                    </a:lnTo>
                    <a:lnTo>
                      <a:pt x="1002" y="1210"/>
                    </a:lnTo>
                    <a:lnTo>
                      <a:pt x="1000" y="1208"/>
                    </a:lnTo>
                    <a:lnTo>
                      <a:pt x="1000" y="1206"/>
                    </a:lnTo>
                    <a:lnTo>
                      <a:pt x="1000" y="1203"/>
                    </a:lnTo>
                    <a:lnTo>
                      <a:pt x="1000" y="1201"/>
                    </a:lnTo>
                    <a:lnTo>
                      <a:pt x="999" y="1198"/>
                    </a:lnTo>
                    <a:lnTo>
                      <a:pt x="999" y="1194"/>
                    </a:lnTo>
                    <a:lnTo>
                      <a:pt x="999" y="1192"/>
                    </a:lnTo>
                    <a:lnTo>
                      <a:pt x="997" y="1189"/>
                    </a:lnTo>
                    <a:lnTo>
                      <a:pt x="997" y="1187"/>
                    </a:lnTo>
                    <a:lnTo>
                      <a:pt x="997" y="1184"/>
                    </a:lnTo>
                    <a:lnTo>
                      <a:pt x="997" y="1182"/>
                    </a:lnTo>
                    <a:lnTo>
                      <a:pt x="995" y="1180"/>
                    </a:lnTo>
                    <a:lnTo>
                      <a:pt x="995" y="1177"/>
                    </a:lnTo>
                    <a:lnTo>
                      <a:pt x="995" y="1175"/>
                    </a:lnTo>
                    <a:lnTo>
                      <a:pt x="994" y="1171"/>
                    </a:lnTo>
                    <a:lnTo>
                      <a:pt x="994" y="1170"/>
                    </a:lnTo>
                    <a:lnTo>
                      <a:pt x="994" y="1166"/>
                    </a:lnTo>
                    <a:lnTo>
                      <a:pt x="994" y="1164"/>
                    </a:lnTo>
                    <a:lnTo>
                      <a:pt x="992" y="1161"/>
                    </a:lnTo>
                    <a:lnTo>
                      <a:pt x="992" y="1158"/>
                    </a:lnTo>
                    <a:lnTo>
                      <a:pt x="992" y="1156"/>
                    </a:lnTo>
                    <a:lnTo>
                      <a:pt x="992" y="1152"/>
                    </a:lnTo>
                    <a:lnTo>
                      <a:pt x="990" y="1151"/>
                    </a:lnTo>
                    <a:lnTo>
                      <a:pt x="990" y="1147"/>
                    </a:lnTo>
                    <a:lnTo>
                      <a:pt x="990" y="1145"/>
                    </a:lnTo>
                    <a:lnTo>
                      <a:pt x="990" y="1144"/>
                    </a:lnTo>
                    <a:lnTo>
                      <a:pt x="988" y="1140"/>
                    </a:lnTo>
                    <a:lnTo>
                      <a:pt x="988" y="1138"/>
                    </a:lnTo>
                    <a:lnTo>
                      <a:pt x="988" y="1135"/>
                    </a:lnTo>
                    <a:lnTo>
                      <a:pt x="988" y="1133"/>
                    </a:lnTo>
                    <a:lnTo>
                      <a:pt x="988" y="1130"/>
                    </a:lnTo>
                    <a:lnTo>
                      <a:pt x="988" y="1128"/>
                    </a:lnTo>
                    <a:lnTo>
                      <a:pt x="987" y="1124"/>
                    </a:lnTo>
                    <a:lnTo>
                      <a:pt x="987" y="1121"/>
                    </a:lnTo>
                    <a:lnTo>
                      <a:pt x="987" y="1119"/>
                    </a:lnTo>
                    <a:lnTo>
                      <a:pt x="987" y="1116"/>
                    </a:lnTo>
                    <a:lnTo>
                      <a:pt x="987" y="1114"/>
                    </a:lnTo>
                    <a:lnTo>
                      <a:pt x="987" y="1111"/>
                    </a:lnTo>
                    <a:lnTo>
                      <a:pt x="985" y="1109"/>
                    </a:lnTo>
                    <a:lnTo>
                      <a:pt x="985" y="1105"/>
                    </a:lnTo>
                    <a:lnTo>
                      <a:pt x="985" y="1104"/>
                    </a:lnTo>
                    <a:lnTo>
                      <a:pt x="985" y="1100"/>
                    </a:lnTo>
                    <a:lnTo>
                      <a:pt x="985" y="1098"/>
                    </a:lnTo>
                    <a:lnTo>
                      <a:pt x="985" y="1095"/>
                    </a:lnTo>
                    <a:lnTo>
                      <a:pt x="985" y="1093"/>
                    </a:lnTo>
                    <a:lnTo>
                      <a:pt x="983" y="1090"/>
                    </a:lnTo>
                    <a:lnTo>
                      <a:pt x="983" y="1088"/>
                    </a:lnTo>
                    <a:lnTo>
                      <a:pt x="983" y="1084"/>
                    </a:lnTo>
                    <a:lnTo>
                      <a:pt x="983" y="1083"/>
                    </a:lnTo>
                    <a:lnTo>
                      <a:pt x="983" y="1079"/>
                    </a:lnTo>
                    <a:lnTo>
                      <a:pt x="983" y="1074"/>
                    </a:lnTo>
                    <a:lnTo>
                      <a:pt x="983" y="1072"/>
                    </a:lnTo>
                    <a:lnTo>
                      <a:pt x="983" y="1067"/>
                    </a:lnTo>
                    <a:lnTo>
                      <a:pt x="983" y="1064"/>
                    </a:lnTo>
                    <a:lnTo>
                      <a:pt x="983" y="1051"/>
                    </a:lnTo>
                  </a:path>
                </a:pathLst>
              </a:custGeom>
              <a:noFill/>
              <a:ln w="34925">
                <a:solidFill>
                  <a:srgbClr val="7EC759"/>
                </a:solidFill>
                <a:round/>
                <a:headEnd/>
                <a:tailEn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235526" name="Freeform 6"/>
              <p:cNvSpPr>
                <a:spLocks noEditPoints="1"/>
              </p:cNvSpPr>
              <p:nvPr/>
            </p:nvSpPr>
            <p:spPr bwMode="auto">
              <a:xfrm>
                <a:off x="4351946" y="2227926"/>
                <a:ext cx="38754" cy="1036898"/>
              </a:xfrm>
              <a:custGeom>
                <a:avLst/>
                <a:gdLst/>
                <a:ahLst/>
                <a:cxnLst>
                  <a:cxn ang="0">
                    <a:pos x="13" y="369"/>
                  </a:cxn>
                  <a:cxn ang="0">
                    <a:pos x="7" y="376"/>
                  </a:cxn>
                  <a:cxn ang="0">
                    <a:pos x="0" y="369"/>
                  </a:cxn>
                  <a:cxn ang="0">
                    <a:pos x="7" y="363"/>
                  </a:cxn>
                  <a:cxn ang="0">
                    <a:pos x="13" y="369"/>
                  </a:cxn>
                  <a:cxn ang="0">
                    <a:pos x="13" y="6"/>
                  </a:cxn>
                  <a:cxn ang="0">
                    <a:pos x="7" y="13"/>
                  </a:cxn>
                  <a:cxn ang="0">
                    <a:pos x="0" y="6"/>
                  </a:cxn>
                  <a:cxn ang="0">
                    <a:pos x="7" y="0"/>
                  </a:cxn>
                  <a:cxn ang="0">
                    <a:pos x="13" y="6"/>
                  </a:cxn>
                </a:cxnLst>
                <a:rect l="0" t="0" r="r" b="b"/>
                <a:pathLst>
                  <a:path w="13" h="376">
                    <a:moveTo>
                      <a:pt x="13" y="369"/>
                    </a:moveTo>
                    <a:cubicBezTo>
                      <a:pt x="13" y="373"/>
                      <a:pt x="10" y="376"/>
                      <a:pt x="7" y="376"/>
                    </a:cubicBezTo>
                    <a:cubicBezTo>
                      <a:pt x="3" y="376"/>
                      <a:pt x="0" y="373"/>
                      <a:pt x="0" y="369"/>
                    </a:cubicBezTo>
                    <a:cubicBezTo>
                      <a:pt x="0" y="366"/>
                      <a:pt x="3" y="363"/>
                      <a:pt x="7" y="363"/>
                    </a:cubicBezTo>
                    <a:cubicBezTo>
                      <a:pt x="10" y="363"/>
                      <a:pt x="13" y="366"/>
                      <a:pt x="13" y="369"/>
                    </a:cubicBezTo>
                    <a:moveTo>
                      <a:pt x="13" y="6"/>
                    </a:moveTo>
                    <a:cubicBezTo>
                      <a:pt x="13" y="10"/>
                      <a:pt x="10" y="13"/>
                      <a:pt x="7" y="13"/>
                    </a:cubicBezTo>
                    <a:cubicBezTo>
                      <a:pt x="3" y="13"/>
                      <a:pt x="0" y="10"/>
                      <a:pt x="0" y="6"/>
                    </a:cubicBezTo>
                    <a:cubicBezTo>
                      <a:pt x="0" y="3"/>
                      <a:pt x="3" y="0"/>
                      <a:pt x="7" y="0"/>
                    </a:cubicBezTo>
                    <a:cubicBezTo>
                      <a:pt x="10" y="0"/>
                      <a:pt x="13" y="3"/>
                      <a:pt x="13" y="6"/>
                    </a:cubicBezTo>
                  </a:path>
                </a:pathLst>
              </a:custGeom>
              <a:noFill/>
              <a:ln w="6" cap="flat">
                <a:solidFill>
                  <a:schemeClr val="bg1">
                    <a:lumMod val="75000"/>
                  </a:schemeClr>
                </a:solidFill>
                <a:prstDash val="solid"/>
                <a:round/>
                <a:headEnd/>
                <a:tailEnd/>
              </a:ln>
            </p:spPr>
            <p:txBody>
              <a:bodyPr/>
              <a:lstStyle/>
              <a:p>
                <a:pPr>
                  <a:defRPr/>
                </a:pPr>
                <a:endParaRPr lang="en-US"/>
              </a:p>
            </p:txBody>
          </p:sp>
        </p:grpSp>
        <p:pic>
          <p:nvPicPr>
            <p:cNvPr id="12" name="Picture 11" descr="PyramidalCellY.gif"/>
            <p:cNvPicPr>
              <a:picLocks noChangeAspect="1"/>
            </p:cNvPicPr>
            <p:nvPr/>
          </p:nvPicPr>
          <p:blipFill>
            <a:blip r:embed="rId3" cstate="print">
              <a:duotone>
                <a:prstClr val="black"/>
                <a:schemeClr val="accent1">
                  <a:tint val="45000"/>
                  <a:satMod val="400000"/>
                </a:schemeClr>
              </a:duotone>
              <a:lum bright="-100000" contrast="-100000"/>
            </a:blip>
            <a:stretch>
              <a:fillRect/>
            </a:stretch>
          </p:blipFill>
          <p:spPr>
            <a:xfrm>
              <a:off x="1392122" y="2154235"/>
              <a:ext cx="1104263" cy="1714513"/>
            </a:xfrm>
            <a:prstGeom prst="rect">
              <a:avLst/>
            </a:prstGeom>
          </p:spPr>
        </p:pic>
      </p:grpSp>
      <p:grpSp>
        <p:nvGrpSpPr>
          <p:cNvPr id="4" name="Group 16"/>
          <p:cNvGrpSpPr>
            <a:grpSpLocks/>
          </p:cNvGrpSpPr>
          <p:nvPr/>
        </p:nvGrpSpPr>
        <p:grpSpPr bwMode="auto">
          <a:xfrm>
            <a:off x="357188" y="2000250"/>
            <a:ext cx="2662237" cy="2000250"/>
            <a:chOff x="5786446" y="2071678"/>
            <a:chExt cx="3138102" cy="2357454"/>
          </a:xfrm>
        </p:grpSpPr>
        <p:pic>
          <p:nvPicPr>
            <p:cNvPr id="717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786446" y="2071678"/>
              <a:ext cx="3138102" cy="235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p:cNvGrpSpPr>
              <a:grpSpLocks/>
            </p:cNvGrpSpPr>
            <p:nvPr/>
          </p:nvGrpSpPr>
          <p:grpSpPr bwMode="auto">
            <a:xfrm rot="1812713">
              <a:off x="7650235" y="2414373"/>
              <a:ext cx="1214446" cy="870245"/>
              <a:chOff x="2717800" y="1074738"/>
              <a:chExt cx="3478213" cy="3343275"/>
            </a:xfrm>
          </p:grpSpPr>
          <p:sp>
            <p:nvSpPr>
              <p:cNvPr id="7179" name="Freeform 5"/>
              <p:cNvSpPr>
                <a:spLocks noEditPoints="1"/>
              </p:cNvSpPr>
              <p:nvPr/>
            </p:nvSpPr>
            <p:spPr bwMode="auto">
              <a:xfrm>
                <a:off x="2717800" y="1074738"/>
                <a:ext cx="3478213" cy="3343275"/>
              </a:xfrm>
              <a:custGeom>
                <a:avLst/>
                <a:gdLst>
                  <a:gd name="T0" fmla="*/ 2147483647 w 2191"/>
                  <a:gd name="T1" fmla="*/ 2147483647 h 2106"/>
                  <a:gd name="T2" fmla="*/ 2147483647 w 2191"/>
                  <a:gd name="T3" fmla="*/ 2147483647 h 2106"/>
                  <a:gd name="T4" fmla="*/ 2147483647 w 2191"/>
                  <a:gd name="T5" fmla="*/ 2147483647 h 2106"/>
                  <a:gd name="T6" fmla="*/ 2147483647 w 2191"/>
                  <a:gd name="T7" fmla="*/ 2147483647 h 2106"/>
                  <a:gd name="T8" fmla="*/ 2147483647 w 2191"/>
                  <a:gd name="T9" fmla="*/ 2147483647 h 2106"/>
                  <a:gd name="T10" fmla="*/ 2147483647 w 2191"/>
                  <a:gd name="T11" fmla="*/ 2147483647 h 2106"/>
                  <a:gd name="T12" fmla="*/ 2147483647 w 2191"/>
                  <a:gd name="T13" fmla="*/ 2147483647 h 2106"/>
                  <a:gd name="T14" fmla="*/ 2147483647 w 2191"/>
                  <a:gd name="T15" fmla="*/ 2147483647 h 2106"/>
                  <a:gd name="T16" fmla="*/ 2147483647 w 2191"/>
                  <a:gd name="T17" fmla="*/ 2147483647 h 2106"/>
                  <a:gd name="T18" fmla="*/ 2147483647 w 2191"/>
                  <a:gd name="T19" fmla="*/ 2147483647 h 2106"/>
                  <a:gd name="T20" fmla="*/ 2147483647 w 2191"/>
                  <a:gd name="T21" fmla="*/ 2147483647 h 2106"/>
                  <a:gd name="T22" fmla="*/ 2147483647 w 2191"/>
                  <a:gd name="T23" fmla="*/ 2147483647 h 2106"/>
                  <a:gd name="T24" fmla="*/ 2147483647 w 2191"/>
                  <a:gd name="T25" fmla="*/ 2147483647 h 2106"/>
                  <a:gd name="T26" fmla="*/ 2147483647 w 2191"/>
                  <a:gd name="T27" fmla="*/ 2147483647 h 2106"/>
                  <a:gd name="T28" fmla="*/ 2147483647 w 2191"/>
                  <a:gd name="T29" fmla="*/ 2147483647 h 2106"/>
                  <a:gd name="T30" fmla="*/ 2147483647 w 2191"/>
                  <a:gd name="T31" fmla="*/ 2147483647 h 2106"/>
                  <a:gd name="T32" fmla="*/ 2147483647 w 2191"/>
                  <a:gd name="T33" fmla="*/ 2147483647 h 2106"/>
                  <a:gd name="T34" fmla="*/ 2147483647 w 2191"/>
                  <a:gd name="T35" fmla="*/ 2147483647 h 2106"/>
                  <a:gd name="T36" fmla="*/ 2147483647 w 2191"/>
                  <a:gd name="T37" fmla="*/ 2147483647 h 2106"/>
                  <a:gd name="T38" fmla="*/ 2147483647 w 2191"/>
                  <a:gd name="T39" fmla="*/ 2147483647 h 2106"/>
                  <a:gd name="T40" fmla="*/ 2147483647 w 2191"/>
                  <a:gd name="T41" fmla="*/ 2147483647 h 2106"/>
                  <a:gd name="T42" fmla="*/ 2147483647 w 2191"/>
                  <a:gd name="T43" fmla="*/ 2147483647 h 2106"/>
                  <a:gd name="T44" fmla="*/ 2147483647 w 2191"/>
                  <a:gd name="T45" fmla="*/ 2147483647 h 2106"/>
                  <a:gd name="T46" fmla="*/ 2147483647 w 2191"/>
                  <a:gd name="T47" fmla="*/ 2147483647 h 2106"/>
                  <a:gd name="T48" fmla="*/ 2147483647 w 2191"/>
                  <a:gd name="T49" fmla="*/ 2147483647 h 2106"/>
                  <a:gd name="T50" fmla="*/ 2147483647 w 2191"/>
                  <a:gd name="T51" fmla="*/ 2147483647 h 2106"/>
                  <a:gd name="T52" fmla="*/ 2147483647 w 2191"/>
                  <a:gd name="T53" fmla="*/ 2147483647 h 2106"/>
                  <a:gd name="T54" fmla="*/ 2147483647 w 2191"/>
                  <a:gd name="T55" fmla="*/ 2147483647 h 2106"/>
                  <a:gd name="T56" fmla="*/ 2147483647 w 2191"/>
                  <a:gd name="T57" fmla="*/ 2147483647 h 2106"/>
                  <a:gd name="T58" fmla="*/ 2147483647 w 2191"/>
                  <a:gd name="T59" fmla="*/ 2147483647 h 2106"/>
                  <a:gd name="T60" fmla="*/ 2147483647 w 2191"/>
                  <a:gd name="T61" fmla="*/ 2147483647 h 2106"/>
                  <a:gd name="T62" fmla="*/ 2147483647 w 2191"/>
                  <a:gd name="T63" fmla="*/ 2147483647 h 2106"/>
                  <a:gd name="T64" fmla="*/ 2147483647 w 2191"/>
                  <a:gd name="T65" fmla="*/ 2147483647 h 2106"/>
                  <a:gd name="T66" fmla="*/ 2147483647 w 2191"/>
                  <a:gd name="T67" fmla="*/ 2147483647 h 2106"/>
                  <a:gd name="T68" fmla="*/ 2147483647 w 2191"/>
                  <a:gd name="T69" fmla="*/ 2147483647 h 2106"/>
                  <a:gd name="T70" fmla="*/ 2147483647 w 2191"/>
                  <a:gd name="T71" fmla="*/ 2147483647 h 2106"/>
                  <a:gd name="T72" fmla="*/ 2147483647 w 2191"/>
                  <a:gd name="T73" fmla="*/ 2147483647 h 2106"/>
                  <a:gd name="T74" fmla="*/ 2147483647 w 2191"/>
                  <a:gd name="T75" fmla="*/ 2147483647 h 2106"/>
                  <a:gd name="T76" fmla="*/ 2147483647 w 2191"/>
                  <a:gd name="T77" fmla="*/ 2147483647 h 2106"/>
                  <a:gd name="T78" fmla="*/ 2147483647 w 2191"/>
                  <a:gd name="T79" fmla="*/ 2147483647 h 2106"/>
                  <a:gd name="T80" fmla="*/ 2147483647 w 2191"/>
                  <a:gd name="T81" fmla="*/ 2147483647 h 2106"/>
                  <a:gd name="T82" fmla="*/ 2147483647 w 2191"/>
                  <a:gd name="T83" fmla="*/ 2147483647 h 2106"/>
                  <a:gd name="T84" fmla="*/ 2147483647 w 2191"/>
                  <a:gd name="T85" fmla="*/ 2147483647 h 2106"/>
                  <a:gd name="T86" fmla="*/ 2147483647 w 2191"/>
                  <a:gd name="T87" fmla="*/ 2147483647 h 2106"/>
                  <a:gd name="T88" fmla="*/ 2147483647 w 2191"/>
                  <a:gd name="T89" fmla="*/ 2147483647 h 2106"/>
                  <a:gd name="T90" fmla="*/ 2147483647 w 2191"/>
                  <a:gd name="T91" fmla="*/ 2147483647 h 2106"/>
                  <a:gd name="T92" fmla="*/ 2147483647 w 2191"/>
                  <a:gd name="T93" fmla="*/ 2147483647 h 2106"/>
                  <a:gd name="T94" fmla="*/ 2147483647 w 2191"/>
                  <a:gd name="T95" fmla="*/ 2147483647 h 2106"/>
                  <a:gd name="T96" fmla="*/ 2147483647 w 2191"/>
                  <a:gd name="T97" fmla="*/ 2147483647 h 2106"/>
                  <a:gd name="T98" fmla="*/ 2147483647 w 2191"/>
                  <a:gd name="T99" fmla="*/ 2147483647 h 2106"/>
                  <a:gd name="T100" fmla="*/ 2147483647 w 2191"/>
                  <a:gd name="T101" fmla="*/ 2147483647 h 2106"/>
                  <a:gd name="T102" fmla="*/ 2147483647 w 2191"/>
                  <a:gd name="T103" fmla="*/ 2147483647 h 2106"/>
                  <a:gd name="T104" fmla="*/ 2147483647 w 2191"/>
                  <a:gd name="T105" fmla="*/ 2147483647 h 2106"/>
                  <a:gd name="T106" fmla="*/ 2147483647 w 2191"/>
                  <a:gd name="T107" fmla="*/ 2147483647 h 2106"/>
                  <a:gd name="T108" fmla="*/ 2147483647 w 2191"/>
                  <a:gd name="T109" fmla="*/ 2147483647 h 2106"/>
                  <a:gd name="T110" fmla="*/ 2147483647 w 2191"/>
                  <a:gd name="T111" fmla="*/ 2147483647 h 2106"/>
                  <a:gd name="T112" fmla="*/ 2147483647 w 2191"/>
                  <a:gd name="T113" fmla="*/ 2147483647 h 2106"/>
                  <a:gd name="T114" fmla="*/ 2147483647 w 2191"/>
                  <a:gd name="T115" fmla="*/ 2147483647 h 2106"/>
                  <a:gd name="T116" fmla="*/ 2147483647 w 2191"/>
                  <a:gd name="T117" fmla="*/ 2147483647 h 2106"/>
                  <a:gd name="T118" fmla="*/ 2147483647 w 2191"/>
                  <a:gd name="T119" fmla="*/ 2147483647 h 2106"/>
                  <a:gd name="T120" fmla="*/ 2147483647 w 2191"/>
                  <a:gd name="T121" fmla="*/ 2147483647 h 2106"/>
                  <a:gd name="T122" fmla="*/ 2147483647 w 2191"/>
                  <a:gd name="T123" fmla="*/ 2147483647 h 2106"/>
                  <a:gd name="T124" fmla="*/ 2147483647 w 2191"/>
                  <a:gd name="T125" fmla="*/ 2147483647 h 210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191"/>
                  <a:gd name="T190" fmla="*/ 0 h 2106"/>
                  <a:gd name="T191" fmla="*/ 2191 w 2191"/>
                  <a:gd name="T192" fmla="*/ 2106 h 210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191" h="2106">
                    <a:moveTo>
                      <a:pt x="1044" y="747"/>
                    </a:moveTo>
                    <a:lnTo>
                      <a:pt x="1044" y="750"/>
                    </a:lnTo>
                    <a:lnTo>
                      <a:pt x="1046" y="752"/>
                    </a:lnTo>
                    <a:lnTo>
                      <a:pt x="1046" y="754"/>
                    </a:lnTo>
                    <a:lnTo>
                      <a:pt x="1046" y="757"/>
                    </a:lnTo>
                    <a:lnTo>
                      <a:pt x="1047" y="759"/>
                    </a:lnTo>
                    <a:lnTo>
                      <a:pt x="1047" y="762"/>
                    </a:lnTo>
                    <a:lnTo>
                      <a:pt x="1047" y="764"/>
                    </a:lnTo>
                    <a:lnTo>
                      <a:pt x="1049" y="768"/>
                    </a:lnTo>
                    <a:lnTo>
                      <a:pt x="1049" y="769"/>
                    </a:lnTo>
                    <a:lnTo>
                      <a:pt x="1051" y="773"/>
                    </a:lnTo>
                    <a:lnTo>
                      <a:pt x="1051" y="775"/>
                    </a:lnTo>
                    <a:lnTo>
                      <a:pt x="1051" y="778"/>
                    </a:lnTo>
                    <a:lnTo>
                      <a:pt x="1053" y="780"/>
                    </a:lnTo>
                    <a:lnTo>
                      <a:pt x="1053" y="783"/>
                    </a:lnTo>
                    <a:lnTo>
                      <a:pt x="1054" y="785"/>
                    </a:lnTo>
                    <a:lnTo>
                      <a:pt x="1054" y="788"/>
                    </a:lnTo>
                    <a:lnTo>
                      <a:pt x="1054" y="790"/>
                    </a:lnTo>
                    <a:lnTo>
                      <a:pt x="1056" y="794"/>
                    </a:lnTo>
                    <a:lnTo>
                      <a:pt x="1056" y="795"/>
                    </a:lnTo>
                    <a:lnTo>
                      <a:pt x="1056" y="799"/>
                    </a:lnTo>
                    <a:lnTo>
                      <a:pt x="1058" y="801"/>
                    </a:lnTo>
                    <a:lnTo>
                      <a:pt x="1058" y="804"/>
                    </a:lnTo>
                    <a:lnTo>
                      <a:pt x="1060" y="806"/>
                    </a:lnTo>
                    <a:lnTo>
                      <a:pt x="1060" y="809"/>
                    </a:lnTo>
                    <a:lnTo>
                      <a:pt x="1060" y="811"/>
                    </a:lnTo>
                    <a:lnTo>
                      <a:pt x="1061" y="815"/>
                    </a:lnTo>
                    <a:lnTo>
                      <a:pt x="1061" y="816"/>
                    </a:lnTo>
                    <a:lnTo>
                      <a:pt x="1063" y="820"/>
                    </a:lnTo>
                    <a:lnTo>
                      <a:pt x="1063" y="822"/>
                    </a:lnTo>
                    <a:lnTo>
                      <a:pt x="1063" y="825"/>
                    </a:lnTo>
                    <a:lnTo>
                      <a:pt x="1065" y="827"/>
                    </a:lnTo>
                    <a:lnTo>
                      <a:pt x="1065" y="828"/>
                    </a:lnTo>
                    <a:lnTo>
                      <a:pt x="1065" y="832"/>
                    </a:lnTo>
                    <a:lnTo>
                      <a:pt x="1067" y="835"/>
                    </a:lnTo>
                    <a:lnTo>
                      <a:pt x="1067" y="837"/>
                    </a:lnTo>
                    <a:lnTo>
                      <a:pt x="1068" y="841"/>
                    </a:lnTo>
                    <a:lnTo>
                      <a:pt x="1068" y="842"/>
                    </a:lnTo>
                    <a:lnTo>
                      <a:pt x="1068" y="846"/>
                    </a:lnTo>
                    <a:lnTo>
                      <a:pt x="1070" y="848"/>
                    </a:lnTo>
                    <a:lnTo>
                      <a:pt x="1070" y="849"/>
                    </a:lnTo>
                    <a:lnTo>
                      <a:pt x="1070" y="853"/>
                    </a:lnTo>
                    <a:lnTo>
                      <a:pt x="1072" y="855"/>
                    </a:lnTo>
                    <a:lnTo>
                      <a:pt x="1072" y="858"/>
                    </a:lnTo>
                    <a:lnTo>
                      <a:pt x="1072" y="860"/>
                    </a:lnTo>
                    <a:lnTo>
                      <a:pt x="1074" y="863"/>
                    </a:lnTo>
                    <a:lnTo>
                      <a:pt x="1074" y="865"/>
                    </a:lnTo>
                    <a:lnTo>
                      <a:pt x="1074" y="869"/>
                    </a:lnTo>
                    <a:lnTo>
                      <a:pt x="1075" y="870"/>
                    </a:lnTo>
                    <a:lnTo>
                      <a:pt x="1075" y="874"/>
                    </a:lnTo>
                    <a:lnTo>
                      <a:pt x="1077" y="875"/>
                    </a:lnTo>
                    <a:lnTo>
                      <a:pt x="1077" y="879"/>
                    </a:lnTo>
                    <a:lnTo>
                      <a:pt x="1077" y="881"/>
                    </a:lnTo>
                    <a:lnTo>
                      <a:pt x="1077" y="884"/>
                    </a:lnTo>
                    <a:lnTo>
                      <a:pt x="1079" y="886"/>
                    </a:lnTo>
                    <a:lnTo>
                      <a:pt x="1079" y="889"/>
                    </a:lnTo>
                    <a:lnTo>
                      <a:pt x="1079" y="891"/>
                    </a:lnTo>
                    <a:lnTo>
                      <a:pt x="1081" y="895"/>
                    </a:lnTo>
                    <a:lnTo>
                      <a:pt x="1081" y="896"/>
                    </a:lnTo>
                    <a:lnTo>
                      <a:pt x="1081" y="900"/>
                    </a:lnTo>
                    <a:lnTo>
                      <a:pt x="1082" y="902"/>
                    </a:lnTo>
                    <a:lnTo>
                      <a:pt x="1082" y="905"/>
                    </a:lnTo>
                    <a:lnTo>
                      <a:pt x="1082" y="907"/>
                    </a:lnTo>
                    <a:lnTo>
                      <a:pt x="1084" y="910"/>
                    </a:lnTo>
                    <a:lnTo>
                      <a:pt x="1084" y="912"/>
                    </a:lnTo>
                    <a:lnTo>
                      <a:pt x="1084" y="916"/>
                    </a:lnTo>
                    <a:lnTo>
                      <a:pt x="1084" y="917"/>
                    </a:lnTo>
                    <a:lnTo>
                      <a:pt x="1086" y="921"/>
                    </a:lnTo>
                    <a:lnTo>
                      <a:pt x="1086" y="922"/>
                    </a:lnTo>
                    <a:lnTo>
                      <a:pt x="1086" y="926"/>
                    </a:lnTo>
                    <a:lnTo>
                      <a:pt x="1088" y="928"/>
                    </a:lnTo>
                    <a:lnTo>
                      <a:pt x="1088" y="931"/>
                    </a:lnTo>
                    <a:lnTo>
                      <a:pt x="1088" y="933"/>
                    </a:lnTo>
                    <a:lnTo>
                      <a:pt x="1088" y="936"/>
                    </a:lnTo>
                    <a:lnTo>
                      <a:pt x="1089" y="938"/>
                    </a:lnTo>
                    <a:lnTo>
                      <a:pt x="1089" y="942"/>
                    </a:lnTo>
                    <a:lnTo>
                      <a:pt x="1089" y="943"/>
                    </a:lnTo>
                    <a:lnTo>
                      <a:pt x="1091" y="947"/>
                    </a:lnTo>
                    <a:lnTo>
                      <a:pt x="1091" y="949"/>
                    </a:lnTo>
                    <a:lnTo>
                      <a:pt x="1091" y="952"/>
                    </a:lnTo>
                    <a:lnTo>
                      <a:pt x="1091" y="954"/>
                    </a:lnTo>
                    <a:lnTo>
                      <a:pt x="1091" y="957"/>
                    </a:lnTo>
                    <a:lnTo>
                      <a:pt x="1093" y="959"/>
                    </a:lnTo>
                    <a:lnTo>
                      <a:pt x="1093" y="963"/>
                    </a:lnTo>
                    <a:lnTo>
                      <a:pt x="1093" y="964"/>
                    </a:lnTo>
                    <a:lnTo>
                      <a:pt x="1093" y="968"/>
                    </a:lnTo>
                    <a:lnTo>
                      <a:pt x="1093" y="970"/>
                    </a:lnTo>
                    <a:lnTo>
                      <a:pt x="1094" y="973"/>
                    </a:lnTo>
                    <a:lnTo>
                      <a:pt x="1094" y="975"/>
                    </a:lnTo>
                    <a:lnTo>
                      <a:pt x="1094" y="978"/>
                    </a:lnTo>
                    <a:lnTo>
                      <a:pt x="1094" y="980"/>
                    </a:lnTo>
                    <a:lnTo>
                      <a:pt x="1094" y="983"/>
                    </a:lnTo>
                    <a:lnTo>
                      <a:pt x="1096" y="985"/>
                    </a:lnTo>
                    <a:lnTo>
                      <a:pt x="1096" y="989"/>
                    </a:lnTo>
                    <a:lnTo>
                      <a:pt x="1096" y="990"/>
                    </a:lnTo>
                    <a:lnTo>
                      <a:pt x="1096" y="994"/>
                    </a:lnTo>
                    <a:lnTo>
                      <a:pt x="1096" y="996"/>
                    </a:lnTo>
                    <a:lnTo>
                      <a:pt x="1096" y="999"/>
                    </a:lnTo>
                    <a:lnTo>
                      <a:pt x="1098" y="1001"/>
                    </a:lnTo>
                    <a:lnTo>
                      <a:pt x="1098" y="1004"/>
                    </a:lnTo>
                    <a:lnTo>
                      <a:pt x="1098" y="1006"/>
                    </a:lnTo>
                    <a:lnTo>
                      <a:pt x="1098" y="1010"/>
                    </a:lnTo>
                    <a:lnTo>
                      <a:pt x="1098" y="1011"/>
                    </a:lnTo>
                    <a:lnTo>
                      <a:pt x="1098" y="1015"/>
                    </a:lnTo>
                    <a:lnTo>
                      <a:pt x="1098" y="1017"/>
                    </a:lnTo>
                    <a:lnTo>
                      <a:pt x="1098" y="1020"/>
                    </a:lnTo>
                    <a:lnTo>
                      <a:pt x="1098" y="1022"/>
                    </a:lnTo>
                    <a:lnTo>
                      <a:pt x="1100" y="1025"/>
                    </a:lnTo>
                    <a:lnTo>
                      <a:pt x="1100" y="1030"/>
                    </a:lnTo>
                    <a:lnTo>
                      <a:pt x="1100" y="1032"/>
                    </a:lnTo>
                    <a:lnTo>
                      <a:pt x="1100" y="1037"/>
                    </a:lnTo>
                    <a:lnTo>
                      <a:pt x="1100" y="1041"/>
                    </a:lnTo>
                    <a:lnTo>
                      <a:pt x="1100" y="1055"/>
                    </a:lnTo>
                    <a:moveTo>
                      <a:pt x="1049" y="745"/>
                    </a:moveTo>
                    <a:lnTo>
                      <a:pt x="1051" y="747"/>
                    </a:lnTo>
                    <a:lnTo>
                      <a:pt x="1053" y="750"/>
                    </a:lnTo>
                    <a:lnTo>
                      <a:pt x="1054" y="752"/>
                    </a:lnTo>
                    <a:lnTo>
                      <a:pt x="1056" y="754"/>
                    </a:lnTo>
                    <a:lnTo>
                      <a:pt x="1058" y="755"/>
                    </a:lnTo>
                    <a:lnTo>
                      <a:pt x="1060" y="759"/>
                    </a:lnTo>
                    <a:lnTo>
                      <a:pt x="1063" y="761"/>
                    </a:lnTo>
                    <a:lnTo>
                      <a:pt x="1065" y="762"/>
                    </a:lnTo>
                    <a:lnTo>
                      <a:pt x="1067" y="764"/>
                    </a:lnTo>
                    <a:lnTo>
                      <a:pt x="1068" y="768"/>
                    </a:lnTo>
                    <a:lnTo>
                      <a:pt x="1070" y="769"/>
                    </a:lnTo>
                    <a:lnTo>
                      <a:pt x="1072" y="771"/>
                    </a:lnTo>
                    <a:lnTo>
                      <a:pt x="1074" y="773"/>
                    </a:lnTo>
                    <a:lnTo>
                      <a:pt x="1075" y="776"/>
                    </a:lnTo>
                    <a:lnTo>
                      <a:pt x="1077" y="778"/>
                    </a:lnTo>
                    <a:lnTo>
                      <a:pt x="1079" y="780"/>
                    </a:lnTo>
                    <a:lnTo>
                      <a:pt x="1081" y="783"/>
                    </a:lnTo>
                    <a:lnTo>
                      <a:pt x="1082" y="785"/>
                    </a:lnTo>
                    <a:lnTo>
                      <a:pt x="1086" y="787"/>
                    </a:lnTo>
                    <a:lnTo>
                      <a:pt x="1088" y="788"/>
                    </a:lnTo>
                    <a:lnTo>
                      <a:pt x="1089" y="792"/>
                    </a:lnTo>
                    <a:lnTo>
                      <a:pt x="1091" y="794"/>
                    </a:lnTo>
                    <a:lnTo>
                      <a:pt x="1093" y="795"/>
                    </a:lnTo>
                    <a:lnTo>
                      <a:pt x="1094" y="799"/>
                    </a:lnTo>
                    <a:lnTo>
                      <a:pt x="1096" y="801"/>
                    </a:lnTo>
                    <a:lnTo>
                      <a:pt x="1098" y="802"/>
                    </a:lnTo>
                    <a:lnTo>
                      <a:pt x="1100" y="804"/>
                    </a:lnTo>
                    <a:lnTo>
                      <a:pt x="1101" y="806"/>
                    </a:lnTo>
                    <a:lnTo>
                      <a:pt x="1103" y="809"/>
                    </a:lnTo>
                    <a:lnTo>
                      <a:pt x="1105" y="811"/>
                    </a:lnTo>
                    <a:lnTo>
                      <a:pt x="1107" y="813"/>
                    </a:lnTo>
                    <a:lnTo>
                      <a:pt x="1110" y="816"/>
                    </a:lnTo>
                    <a:lnTo>
                      <a:pt x="1112" y="818"/>
                    </a:lnTo>
                    <a:lnTo>
                      <a:pt x="1114" y="820"/>
                    </a:lnTo>
                    <a:lnTo>
                      <a:pt x="1115" y="822"/>
                    </a:lnTo>
                    <a:lnTo>
                      <a:pt x="1117" y="825"/>
                    </a:lnTo>
                    <a:lnTo>
                      <a:pt x="1119" y="827"/>
                    </a:lnTo>
                    <a:lnTo>
                      <a:pt x="1121" y="828"/>
                    </a:lnTo>
                    <a:lnTo>
                      <a:pt x="1122" y="832"/>
                    </a:lnTo>
                    <a:lnTo>
                      <a:pt x="1124" y="834"/>
                    </a:lnTo>
                    <a:lnTo>
                      <a:pt x="1126" y="835"/>
                    </a:lnTo>
                    <a:lnTo>
                      <a:pt x="1128" y="837"/>
                    </a:lnTo>
                    <a:lnTo>
                      <a:pt x="1129" y="841"/>
                    </a:lnTo>
                    <a:lnTo>
                      <a:pt x="1131" y="842"/>
                    </a:lnTo>
                    <a:lnTo>
                      <a:pt x="1133" y="844"/>
                    </a:lnTo>
                    <a:lnTo>
                      <a:pt x="1135" y="848"/>
                    </a:lnTo>
                    <a:lnTo>
                      <a:pt x="1136" y="849"/>
                    </a:lnTo>
                    <a:lnTo>
                      <a:pt x="1138" y="851"/>
                    </a:lnTo>
                    <a:lnTo>
                      <a:pt x="1140" y="855"/>
                    </a:lnTo>
                    <a:lnTo>
                      <a:pt x="1141" y="856"/>
                    </a:lnTo>
                    <a:lnTo>
                      <a:pt x="1143" y="858"/>
                    </a:lnTo>
                    <a:lnTo>
                      <a:pt x="1145" y="860"/>
                    </a:lnTo>
                    <a:lnTo>
                      <a:pt x="1147" y="863"/>
                    </a:lnTo>
                    <a:lnTo>
                      <a:pt x="1148" y="865"/>
                    </a:lnTo>
                    <a:lnTo>
                      <a:pt x="1150" y="867"/>
                    </a:lnTo>
                    <a:lnTo>
                      <a:pt x="1152" y="870"/>
                    </a:lnTo>
                    <a:lnTo>
                      <a:pt x="1154" y="872"/>
                    </a:lnTo>
                    <a:lnTo>
                      <a:pt x="1155" y="874"/>
                    </a:lnTo>
                    <a:lnTo>
                      <a:pt x="1157" y="877"/>
                    </a:lnTo>
                    <a:lnTo>
                      <a:pt x="1159" y="879"/>
                    </a:lnTo>
                    <a:lnTo>
                      <a:pt x="1161" y="881"/>
                    </a:lnTo>
                    <a:lnTo>
                      <a:pt x="1162" y="884"/>
                    </a:lnTo>
                    <a:lnTo>
                      <a:pt x="1164" y="886"/>
                    </a:lnTo>
                    <a:lnTo>
                      <a:pt x="1166" y="888"/>
                    </a:lnTo>
                    <a:lnTo>
                      <a:pt x="1166" y="891"/>
                    </a:lnTo>
                    <a:lnTo>
                      <a:pt x="1168" y="893"/>
                    </a:lnTo>
                    <a:lnTo>
                      <a:pt x="1169" y="896"/>
                    </a:lnTo>
                    <a:lnTo>
                      <a:pt x="1171" y="898"/>
                    </a:lnTo>
                    <a:lnTo>
                      <a:pt x="1173" y="900"/>
                    </a:lnTo>
                    <a:lnTo>
                      <a:pt x="1175" y="902"/>
                    </a:lnTo>
                    <a:lnTo>
                      <a:pt x="1176" y="905"/>
                    </a:lnTo>
                    <a:lnTo>
                      <a:pt x="1178" y="907"/>
                    </a:lnTo>
                    <a:lnTo>
                      <a:pt x="1178" y="910"/>
                    </a:lnTo>
                    <a:lnTo>
                      <a:pt x="1180" y="912"/>
                    </a:lnTo>
                    <a:lnTo>
                      <a:pt x="1182" y="914"/>
                    </a:lnTo>
                    <a:lnTo>
                      <a:pt x="1183" y="917"/>
                    </a:lnTo>
                    <a:lnTo>
                      <a:pt x="1185" y="919"/>
                    </a:lnTo>
                    <a:lnTo>
                      <a:pt x="1187" y="922"/>
                    </a:lnTo>
                    <a:lnTo>
                      <a:pt x="1187" y="924"/>
                    </a:lnTo>
                    <a:lnTo>
                      <a:pt x="1188" y="926"/>
                    </a:lnTo>
                    <a:lnTo>
                      <a:pt x="1190" y="929"/>
                    </a:lnTo>
                    <a:lnTo>
                      <a:pt x="1192" y="931"/>
                    </a:lnTo>
                    <a:lnTo>
                      <a:pt x="1192" y="935"/>
                    </a:lnTo>
                    <a:lnTo>
                      <a:pt x="1194" y="936"/>
                    </a:lnTo>
                    <a:lnTo>
                      <a:pt x="1195" y="938"/>
                    </a:lnTo>
                    <a:lnTo>
                      <a:pt x="1195" y="942"/>
                    </a:lnTo>
                    <a:lnTo>
                      <a:pt x="1197" y="943"/>
                    </a:lnTo>
                    <a:lnTo>
                      <a:pt x="1199" y="947"/>
                    </a:lnTo>
                    <a:lnTo>
                      <a:pt x="1199" y="949"/>
                    </a:lnTo>
                    <a:lnTo>
                      <a:pt x="1201" y="950"/>
                    </a:lnTo>
                    <a:lnTo>
                      <a:pt x="1202" y="954"/>
                    </a:lnTo>
                    <a:lnTo>
                      <a:pt x="1202" y="956"/>
                    </a:lnTo>
                    <a:lnTo>
                      <a:pt x="1204" y="959"/>
                    </a:lnTo>
                    <a:lnTo>
                      <a:pt x="1206" y="961"/>
                    </a:lnTo>
                    <a:lnTo>
                      <a:pt x="1206" y="964"/>
                    </a:lnTo>
                    <a:lnTo>
                      <a:pt x="1208" y="966"/>
                    </a:lnTo>
                    <a:lnTo>
                      <a:pt x="1208" y="970"/>
                    </a:lnTo>
                    <a:lnTo>
                      <a:pt x="1209" y="971"/>
                    </a:lnTo>
                    <a:lnTo>
                      <a:pt x="1209" y="973"/>
                    </a:lnTo>
                    <a:lnTo>
                      <a:pt x="1211" y="976"/>
                    </a:lnTo>
                    <a:lnTo>
                      <a:pt x="1211" y="978"/>
                    </a:lnTo>
                    <a:lnTo>
                      <a:pt x="1213" y="982"/>
                    </a:lnTo>
                    <a:lnTo>
                      <a:pt x="1213" y="983"/>
                    </a:lnTo>
                    <a:lnTo>
                      <a:pt x="1215" y="987"/>
                    </a:lnTo>
                    <a:lnTo>
                      <a:pt x="1215" y="989"/>
                    </a:lnTo>
                    <a:lnTo>
                      <a:pt x="1216" y="992"/>
                    </a:lnTo>
                    <a:lnTo>
                      <a:pt x="1216" y="994"/>
                    </a:lnTo>
                    <a:lnTo>
                      <a:pt x="1216" y="997"/>
                    </a:lnTo>
                    <a:lnTo>
                      <a:pt x="1218" y="999"/>
                    </a:lnTo>
                    <a:lnTo>
                      <a:pt x="1218" y="1003"/>
                    </a:lnTo>
                    <a:lnTo>
                      <a:pt x="1220" y="1004"/>
                    </a:lnTo>
                    <a:lnTo>
                      <a:pt x="1220" y="1008"/>
                    </a:lnTo>
                    <a:lnTo>
                      <a:pt x="1220" y="1010"/>
                    </a:lnTo>
                    <a:lnTo>
                      <a:pt x="1220" y="1013"/>
                    </a:lnTo>
                    <a:lnTo>
                      <a:pt x="1222" y="1015"/>
                    </a:lnTo>
                    <a:lnTo>
                      <a:pt x="1222" y="1018"/>
                    </a:lnTo>
                    <a:lnTo>
                      <a:pt x="1222" y="1020"/>
                    </a:lnTo>
                    <a:lnTo>
                      <a:pt x="1223" y="1023"/>
                    </a:lnTo>
                    <a:lnTo>
                      <a:pt x="1223" y="1025"/>
                    </a:lnTo>
                    <a:lnTo>
                      <a:pt x="1223" y="1029"/>
                    </a:lnTo>
                    <a:lnTo>
                      <a:pt x="1223" y="1030"/>
                    </a:lnTo>
                    <a:lnTo>
                      <a:pt x="1223" y="1034"/>
                    </a:lnTo>
                    <a:lnTo>
                      <a:pt x="1223" y="1036"/>
                    </a:lnTo>
                    <a:lnTo>
                      <a:pt x="1223" y="1039"/>
                    </a:lnTo>
                    <a:lnTo>
                      <a:pt x="1225" y="1041"/>
                    </a:lnTo>
                    <a:lnTo>
                      <a:pt x="1225" y="1046"/>
                    </a:lnTo>
                    <a:lnTo>
                      <a:pt x="1225" y="1050"/>
                    </a:lnTo>
                    <a:lnTo>
                      <a:pt x="1225" y="1055"/>
                    </a:lnTo>
                    <a:moveTo>
                      <a:pt x="1053" y="741"/>
                    </a:moveTo>
                    <a:lnTo>
                      <a:pt x="1056" y="743"/>
                    </a:lnTo>
                    <a:lnTo>
                      <a:pt x="1058" y="745"/>
                    </a:lnTo>
                    <a:lnTo>
                      <a:pt x="1061" y="747"/>
                    </a:lnTo>
                    <a:lnTo>
                      <a:pt x="1065" y="748"/>
                    </a:lnTo>
                    <a:lnTo>
                      <a:pt x="1067" y="750"/>
                    </a:lnTo>
                    <a:lnTo>
                      <a:pt x="1070" y="750"/>
                    </a:lnTo>
                    <a:lnTo>
                      <a:pt x="1074" y="752"/>
                    </a:lnTo>
                    <a:lnTo>
                      <a:pt x="1075" y="754"/>
                    </a:lnTo>
                    <a:lnTo>
                      <a:pt x="1079" y="755"/>
                    </a:lnTo>
                    <a:lnTo>
                      <a:pt x="1081" y="757"/>
                    </a:lnTo>
                    <a:lnTo>
                      <a:pt x="1084" y="759"/>
                    </a:lnTo>
                    <a:lnTo>
                      <a:pt x="1088" y="761"/>
                    </a:lnTo>
                    <a:lnTo>
                      <a:pt x="1089" y="762"/>
                    </a:lnTo>
                    <a:lnTo>
                      <a:pt x="1093" y="762"/>
                    </a:lnTo>
                    <a:lnTo>
                      <a:pt x="1096" y="764"/>
                    </a:lnTo>
                    <a:lnTo>
                      <a:pt x="1098" y="766"/>
                    </a:lnTo>
                    <a:lnTo>
                      <a:pt x="1101" y="768"/>
                    </a:lnTo>
                    <a:lnTo>
                      <a:pt x="1105" y="769"/>
                    </a:lnTo>
                    <a:lnTo>
                      <a:pt x="1107" y="769"/>
                    </a:lnTo>
                    <a:lnTo>
                      <a:pt x="1110" y="771"/>
                    </a:lnTo>
                    <a:lnTo>
                      <a:pt x="1114" y="773"/>
                    </a:lnTo>
                    <a:lnTo>
                      <a:pt x="1115" y="775"/>
                    </a:lnTo>
                    <a:lnTo>
                      <a:pt x="1119" y="776"/>
                    </a:lnTo>
                    <a:lnTo>
                      <a:pt x="1121" y="778"/>
                    </a:lnTo>
                    <a:lnTo>
                      <a:pt x="1124" y="780"/>
                    </a:lnTo>
                    <a:lnTo>
                      <a:pt x="1128" y="781"/>
                    </a:lnTo>
                    <a:lnTo>
                      <a:pt x="1129" y="781"/>
                    </a:lnTo>
                    <a:lnTo>
                      <a:pt x="1133" y="783"/>
                    </a:lnTo>
                    <a:lnTo>
                      <a:pt x="1136" y="785"/>
                    </a:lnTo>
                    <a:lnTo>
                      <a:pt x="1138" y="787"/>
                    </a:lnTo>
                    <a:lnTo>
                      <a:pt x="1141" y="788"/>
                    </a:lnTo>
                    <a:lnTo>
                      <a:pt x="1143" y="790"/>
                    </a:lnTo>
                    <a:lnTo>
                      <a:pt x="1147" y="792"/>
                    </a:lnTo>
                    <a:lnTo>
                      <a:pt x="1150" y="794"/>
                    </a:lnTo>
                    <a:lnTo>
                      <a:pt x="1152" y="795"/>
                    </a:lnTo>
                    <a:lnTo>
                      <a:pt x="1155" y="795"/>
                    </a:lnTo>
                    <a:lnTo>
                      <a:pt x="1157" y="797"/>
                    </a:lnTo>
                    <a:lnTo>
                      <a:pt x="1161" y="799"/>
                    </a:lnTo>
                    <a:lnTo>
                      <a:pt x="1164" y="801"/>
                    </a:lnTo>
                    <a:lnTo>
                      <a:pt x="1166" y="802"/>
                    </a:lnTo>
                    <a:lnTo>
                      <a:pt x="1169" y="804"/>
                    </a:lnTo>
                    <a:lnTo>
                      <a:pt x="1171" y="806"/>
                    </a:lnTo>
                    <a:lnTo>
                      <a:pt x="1175" y="808"/>
                    </a:lnTo>
                    <a:lnTo>
                      <a:pt x="1178" y="809"/>
                    </a:lnTo>
                    <a:lnTo>
                      <a:pt x="1180" y="809"/>
                    </a:lnTo>
                    <a:lnTo>
                      <a:pt x="1183" y="811"/>
                    </a:lnTo>
                    <a:lnTo>
                      <a:pt x="1185" y="813"/>
                    </a:lnTo>
                    <a:lnTo>
                      <a:pt x="1188" y="815"/>
                    </a:lnTo>
                    <a:lnTo>
                      <a:pt x="1190" y="816"/>
                    </a:lnTo>
                    <a:lnTo>
                      <a:pt x="1194" y="818"/>
                    </a:lnTo>
                    <a:lnTo>
                      <a:pt x="1197" y="820"/>
                    </a:lnTo>
                    <a:lnTo>
                      <a:pt x="1199" y="822"/>
                    </a:lnTo>
                    <a:lnTo>
                      <a:pt x="1202" y="823"/>
                    </a:lnTo>
                    <a:lnTo>
                      <a:pt x="1204" y="825"/>
                    </a:lnTo>
                    <a:lnTo>
                      <a:pt x="1208" y="827"/>
                    </a:lnTo>
                    <a:lnTo>
                      <a:pt x="1209" y="828"/>
                    </a:lnTo>
                    <a:lnTo>
                      <a:pt x="1213" y="830"/>
                    </a:lnTo>
                    <a:lnTo>
                      <a:pt x="1215" y="832"/>
                    </a:lnTo>
                    <a:lnTo>
                      <a:pt x="1218" y="834"/>
                    </a:lnTo>
                    <a:lnTo>
                      <a:pt x="1220" y="835"/>
                    </a:lnTo>
                    <a:lnTo>
                      <a:pt x="1223" y="837"/>
                    </a:lnTo>
                    <a:lnTo>
                      <a:pt x="1225" y="839"/>
                    </a:lnTo>
                    <a:lnTo>
                      <a:pt x="1229" y="841"/>
                    </a:lnTo>
                    <a:lnTo>
                      <a:pt x="1230" y="842"/>
                    </a:lnTo>
                    <a:lnTo>
                      <a:pt x="1234" y="844"/>
                    </a:lnTo>
                    <a:lnTo>
                      <a:pt x="1235" y="846"/>
                    </a:lnTo>
                    <a:lnTo>
                      <a:pt x="1239" y="848"/>
                    </a:lnTo>
                    <a:lnTo>
                      <a:pt x="1241" y="849"/>
                    </a:lnTo>
                    <a:lnTo>
                      <a:pt x="1244" y="851"/>
                    </a:lnTo>
                    <a:lnTo>
                      <a:pt x="1246" y="853"/>
                    </a:lnTo>
                    <a:lnTo>
                      <a:pt x="1249" y="855"/>
                    </a:lnTo>
                    <a:lnTo>
                      <a:pt x="1251" y="856"/>
                    </a:lnTo>
                    <a:lnTo>
                      <a:pt x="1253" y="858"/>
                    </a:lnTo>
                    <a:lnTo>
                      <a:pt x="1256" y="860"/>
                    </a:lnTo>
                    <a:lnTo>
                      <a:pt x="1258" y="862"/>
                    </a:lnTo>
                    <a:lnTo>
                      <a:pt x="1262" y="863"/>
                    </a:lnTo>
                    <a:lnTo>
                      <a:pt x="1263" y="865"/>
                    </a:lnTo>
                    <a:lnTo>
                      <a:pt x="1265" y="867"/>
                    </a:lnTo>
                    <a:lnTo>
                      <a:pt x="1269" y="869"/>
                    </a:lnTo>
                    <a:lnTo>
                      <a:pt x="1270" y="872"/>
                    </a:lnTo>
                    <a:lnTo>
                      <a:pt x="1274" y="874"/>
                    </a:lnTo>
                    <a:lnTo>
                      <a:pt x="1275" y="875"/>
                    </a:lnTo>
                    <a:lnTo>
                      <a:pt x="1277" y="877"/>
                    </a:lnTo>
                    <a:lnTo>
                      <a:pt x="1281" y="879"/>
                    </a:lnTo>
                    <a:lnTo>
                      <a:pt x="1282" y="881"/>
                    </a:lnTo>
                    <a:lnTo>
                      <a:pt x="1284" y="882"/>
                    </a:lnTo>
                    <a:lnTo>
                      <a:pt x="1288" y="884"/>
                    </a:lnTo>
                    <a:lnTo>
                      <a:pt x="1289" y="886"/>
                    </a:lnTo>
                    <a:lnTo>
                      <a:pt x="1291" y="889"/>
                    </a:lnTo>
                    <a:lnTo>
                      <a:pt x="1293" y="891"/>
                    </a:lnTo>
                    <a:lnTo>
                      <a:pt x="1296" y="893"/>
                    </a:lnTo>
                    <a:lnTo>
                      <a:pt x="1298" y="895"/>
                    </a:lnTo>
                    <a:lnTo>
                      <a:pt x="1300" y="896"/>
                    </a:lnTo>
                    <a:lnTo>
                      <a:pt x="1302" y="900"/>
                    </a:lnTo>
                    <a:lnTo>
                      <a:pt x="1305" y="902"/>
                    </a:lnTo>
                    <a:lnTo>
                      <a:pt x="1307" y="903"/>
                    </a:lnTo>
                    <a:lnTo>
                      <a:pt x="1309" y="905"/>
                    </a:lnTo>
                    <a:lnTo>
                      <a:pt x="1310" y="907"/>
                    </a:lnTo>
                    <a:lnTo>
                      <a:pt x="1312" y="910"/>
                    </a:lnTo>
                    <a:lnTo>
                      <a:pt x="1316" y="912"/>
                    </a:lnTo>
                    <a:lnTo>
                      <a:pt x="1317" y="914"/>
                    </a:lnTo>
                    <a:lnTo>
                      <a:pt x="1319" y="916"/>
                    </a:lnTo>
                    <a:lnTo>
                      <a:pt x="1321" y="917"/>
                    </a:lnTo>
                    <a:lnTo>
                      <a:pt x="1322" y="921"/>
                    </a:lnTo>
                    <a:lnTo>
                      <a:pt x="1324" y="922"/>
                    </a:lnTo>
                    <a:lnTo>
                      <a:pt x="1326" y="924"/>
                    </a:lnTo>
                    <a:lnTo>
                      <a:pt x="1328" y="928"/>
                    </a:lnTo>
                    <a:lnTo>
                      <a:pt x="1329" y="929"/>
                    </a:lnTo>
                    <a:lnTo>
                      <a:pt x="1331" y="931"/>
                    </a:lnTo>
                    <a:lnTo>
                      <a:pt x="1333" y="933"/>
                    </a:lnTo>
                    <a:lnTo>
                      <a:pt x="1335" y="936"/>
                    </a:lnTo>
                    <a:lnTo>
                      <a:pt x="1336" y="938"/>
                    </a:lnTo>
                    <a:lnTo>
                      <a:pt x="1338" y="940"/>
                    </a:lnTo>
                    <a:lnTo>
                      <a:pt x="1340" y="943"/>
                    </a:lnTo>
                    <a:lnTo>
                      <a:pt x="1342" y="945"/>
                    </a:lnTo>
                    <a:lnTo>
                      <a:pt x="1343" y="947"/>
                    </a:lnTo>
                    <a:lnTo>
                      <a:pt x="1345" y="950"/>
                    </a:lnTo>
                    <a:lnTo>
                      <a:pt x="1347" y="952"/>
                    </a:lnTo>
                    <a:lnTo>
                      <a:pt x="1349" y="954"/>
                    </a:lnTo>
                    <a:lnTo>
                      <a:pt x="1350" y="957"/>
                    </a:lnTo>
                    <a:lnTo>
                      <a:pt x="1352" y="959"/>
                    </a:lnTo>
                    <a:lnTo>
                      <a:pt x="1352" y="961"/>
                    </a:lnTo>
                    <a:lnTo>
                      <a:pt x="1354" y="964"/>
                    </a:lnTo>
                    <a:lnTo>
                      <a:pt x="1356" y="966"/>
                    </a:lnTo>
                    <a:lnTo>
                      <a:pt x="1357" y="970"/>
                    </a:lnTo>
                    <a:lnTo>
                      <a:pt x="1357" y="971"/>
                    </a:lnTo>
                    <a:lnTo>
                      <a:pt x="1359" y="975"/>
                    </a:lnTo>
                    <a:lnTo>
                      <a:pt x="1361" y="976"/>
                    </a:lnTo>
                    <a:lnTo>
                      <a:pt x="1361" y="978"/>
                    </a:lnTo>
                    <a:lnTo>
                      <a:pt x="1363" y="982"/>
                    </a:lnTo>
                    <a:lnTo>
                      <a:pt x="1364" y="983"/>
                    </a:lnTo>
                    <a:lnTo>
                      <a:pt x="1364" y="987"/>
                    </a:lnTo>
                    <a:lnTo>
                      <a:pt x="1366" y="989"/>
                    </a:lnTo>
                    <a:lnTo>
                      <a:pt x="1368" y="992"/>
                    </a:lnTo>
                    <a:lnTo>
                      <a:pt x="1368" y="994"/>
                    </a:lnTo>
                    <a:lnTo>
                      <a:pt x="1369" y="996"/>
                    </a:lnTo>
                    <a:lnTo>
                      <a:pt x="1369" y="999"/>
                    </a:lnTo>
                    <a:lnTo>
                      <a:pt x="1371" y="1001"/>
                    </a:lnTo>
                    <a:lnTo>
                      <a:pt x="1371" y="1004"/>
                    </a:lnTo>
                    <a:lnTo>
                      <a:pt x="1371" y="1006"/>
                    </a:lnTo>
                    <a:lnTo>
                      <a:pt x="1373" y="1010"/>
                    </a:lnTo>
                    <a:lnTo>
                      <a:pt x="1373" y="1011"/>
                    </a:lnTo>
                    <a:lnTo>
                      <a:pt x="1375" y="1015"/>
                    </a:lnTo>
                    <a:lnTo>
                      <a:pt x="1375" y="1017"/>
                    </a:lnTo>
                    <a:lnTo>
                      <a:pt x="1375" y="1020"/>
                    </a:lnTo>
                    <a:lnTo>
                      <a:pt x="1376" y="1022"/>
                    </a:lnTo>
                    <a:lnTo>
                      <a:pt x="1376" y="1025"/>
                    </a:lnTo>
                    <a:lnTo>
                      <a:pt x="1376" y="1027"/>
                    </a:lnTo>
                    <a:lnTo>
                      <a:pt x="1376" y="1030"/>
                    </a:lnTo>
                    <a:lnTo>
                      <a:pt x="1378" y="1032"/>
                    </a:lnTo>
                    <a:lnTo>
                      <a:pt x="1378" y="1036"/>
                    </a:lnTo>
                    <a:lnTo>
                      <a:pt x="1378" y="1037"/>
                    </a:lnTo>
                    <a:lnTo>
                      <a:pt x="1378" y="1041"/>
                    </a:lnTo>
                    <a:lnTo>
                      <a:pt x="1378" y="1043"/>
                    </a:lnTo>
                    <a:lnTo>
                      <a:pt x="1378" y="1046"/>
                    </a:lnTo>
                    <a:lnTo>
                      <a:pt x="1378" y="1053"/>
                    </a:lnTo>
                    <a:moveTo>
                      <a:pt x="1054" y="738"/>
                    </a:moveTo>
                    <a:lnTo>
                      <a:pt x="1058" y="740"/>
                    </a:lnTo>
                    <a:lnTo>
                      <a:pt x="1061" y="740"/>
                    </a:lnTo>
                    <a:lnTo>
                      <a:pt x="1065" y="740"/>
                    </a:lnTo>
                    <a:lnTo>
                      <a:pt x="1068" y="740"/>
                    </a:lnTo>
                    <a:lnTo>
                      <a:pt x="1072" y="741"/>
                    </a:lnTo>
                    <a:lnTo>
                      <a:pt x="1075" y="741"/>
                    </a:lnTo>
                    <a:lnTo>
                      <a:pt x="1079" y="741"/>
                    </a:lnTo>
                    <a:lnTo>
                      <a:pt x="1082" y="743"/>
                    </a:lnTo>
                    <a:lnTo>
                      <a:pt x="1086" y="743"/>
                    </a:lnTo>
                    <a:lnTo>
                      <a:pt x="1089" y="743"/>
                    </a:lnTo>
                    <a:lnTo>
                      <a:pt x="1093" y="745"/>
                    </a:lnTo>
                    <a:lnTo>
                      <a:pt x="1096" y="745"/>
                    </a:lnTo>
                    <a:lnTo>
                      <a:pt x="1098" y="745"/>
                    </a:lnTo>
                    <a:lnTo>
                      <a:pt x="1101" y="745"/>
                    </a:lnTo>
                    <a:lnTo>
                      <a:pt x="1105" y="747"/>
                    </a:lnTo>
                    <a:lnTo>
                      <a:pt x="1108" y="747"/>
                    </a:lnTo>
                    <a:lnTo>
                      <a:pt x="1112" y="747"/>
                    </a:lnTo>
                    <a:lnTo>
                      <a:pt x="1115" y="748"/>
                    </a:lnTo>
                    <a:lnTo>
                      <a:pt x="1119" y="748"/>
                    </a:lnTo>
                    <a:lnTo>
                      <a:pt x="1122" y="748"/>
                    </a:lnTo>
                    <a:lnTo>
                      <a:pt x="1126" y="750"/>
                    </a:lnTo>
                    <a:lnTo>
                      <a:pt x="1129" y="750"/>
                    </a:lnTo>
                    <a:lnTo>
                      <a:pt x="1133" y="750"/>
                    </a:lnTo>
                    <a:lnTo>
                      <a:pt x="1136" y="752"/>
                    </a:lnTo>
                    <a:lnTo>
                      <a:pt x="1140" y="752"/>
                    </a:lnTo>
                    <a:lnTo>
                      <a:pt x="1143" y="752"/>
                    </a:lnTo>
                    <a:lnTo>
                      <a:pt x="1147" y="754"/>
                    </a:lnTo>
                    <a:lnTo>
                      <a:pt x="1150" y="754"/>
                    </a:lnTo>
                    <a:lnTo>
                      <a:pt x="1152" y="754"/>
                    </a:lnTo>
                    <a:lnTo>
                      <a:pt x="1155" y="755"/>
                    </a:lnTo>
                    <a:lnTo>
                      <a:pt x="1159" y="755"/>
                    </a:lnTo>
                    <a:lnTo>
                      <a:pt x="1162" y="755"/>
                    </a:lnTo>
                    <a:lnTo>
                      <a:pt x="1166" y="757"/>
                    </a:lnTo>
                    <a:lnTo>
                      <a:pt x="1169" y="757"/>
                    </a:lnTo>
                    <a:lnTo>
                      <a:pt x="1173" y="757"/>
                    </a:lnTo>
                    <a:lnTo>
                      <a:pt x="1176" y="759"/>
                    </a:lnTo>
                    <a:lnTo>
                      <a:pt x="1180" y="759"/>
                    </a:lnTo>
                    <a:lnTo>
                      <a:pt x="1183" y="759"/>
                    </a:lnTo>
                    <a:lnTo>
                      <a:pt x="1187" y="761"/>
                    </a:lnTo>
                    <a:lnTo>
                      <a:pt x="1190" y="761"/>
                    </a:lnTo>
                    <a:lnTo>
                      <a:pt x="1194" y="762"/>
                    </a:lnTo>
                    <a:lnTo>
                      <a:pt x="1197" y="762"/>
                    </a:lnTo>
                    <a:lnTo>
                      <a:pt x="1201" y="762"/>
                    </a:lnTo>
                    <a:lnTo>
                      <a:pt x="1202" y="764"/>
                    </a:lnTo>
                    <a:lnTo>
                      <a:pt x="1206" y="764"/>
                    </a:lnTo>
                    <a:lnTo>
                      <a:pt x="1209" y="764"/>
                    </a:lnTo>
                    <a:lnTo>
                      <a:pt x="1213" y="766"/>
                    </a:lnTo>
                    <a:lnTo>
                      <a:pt x="1216" y="766"/>
                    </a:lnTo>
                    <a:lnTo>
                      <a:pt x="1220" y="768"/>
                    </a:lnTo>
                    <a:lnTo>
                      <a:pt x="1223" y="768"/>
                    </a:lnTo>
                    <a:lnTo>
                      <a:pt x="1227" y="768"/>
                    </a:lnTo>
                    <a:lnTo>
                      <a:pt x="1230" y="769"/>
                    </a:lnTo>
                    <a:lnTo>
                      <a:pt x="1234" y="769"/>
                    </a:lnTo>
                    <a:lnTo>
                      <a:pt x="1237" y="771"/>
                    </a:lnTo>
                    <a:lnTo>
                      <a:pt x="1239" y="771"/>
                    </a:lnTo>
                    <a:lnTo>
                      <a:pt x="1242" y="773"/>
                    </a:lnTo>
                    <a:lnTo>
                      <a:pt x="1246" y="773"/>
                    </a:lnTo>
                    <a:lnTo>
                      <a:pt x="1249" y="773"/>
                    </a:lnTo>
                    <a:lnTo>
                      <a:pt x="1253" y="775"/>
                    </a:lnTo>
                    <a:lnTo>
                      <a:pt x="1256" y="775"/>
                    </a:lnTo>
                    <a:lnTo>
                      <a:pt x="1260" y="776"/>
                    </a:lnTo>
                    <a:lnTo>
                      <a:pt x="1263" y="776"/>
                    </a:lnTo>
                    <a:lnTo>
                      <a:pt x="1267" y="778"/>
                    </a:lnTo>
                    <a:lnTo>
                      <a:pt x="1270" y="778"/>
                    </a:lnTo>
                    <a:lnTo>
                      <a:pt x="1272" y="780"/>
                    </a:lnTo>
                    <a:lnTo>
                      <a:pt x="1275" y="780"/>
                    </a:lnTo>
                    <a:lnTo>
                      <a:pt x="1279" y="781"/>
                    </a:lnTo>
                    <a:lnTo>
                      <a:pt x="1282" y="781"/>
                    </a:lnTo>
                    <a:lnTo>
                      <a:pt x="1286" y="783"/>
                    </a:lnTo>
                    <a:lnTo>
                      <a:pt x="1289" y="783"/>
                    </a:lnTo>
                    <a:lnTo>
                      <a:pt x="1293" y="785"/>
                    </a:lnTo>
                    <a:lnTo>
                      <a:pt x="1296" y="785"/>
                    </a:lnTo>
                    <a:lnTo>
                      <a:pt x="1298" y="787"/>
                    </a:lnTo>
                    <a:lnTo>
                      <a:pt x="1302" y="787"/>
                    </a:lnTo>
                    <a:lnTo>
                      <a:pt x="1305" y="788"/>
                    </a:lnTo>
                    <a:lnTo>
                      <a:pt x="1309" y="788"/>
                    </a:lnTo>
                    <a:lnTo>
                      <a:pt x="1312" y="790"/>
                    </a:lnTo>
                    <a:lnTo>
                      <a:pt x="1316" y="790"/>
                    </a:lnTo>
                    <a:lnTo>
                      <a:pt x="1319" y="792"/>
                    </a:lnTo>
                    <a:lnTo>
                      <a:pt x="1321" y="792"/>
                    </a:lnTo>
                    <a:lnTo>
                      <a:pt x="1324" y="794"/>
                    </a:lnTo>
                    <a:lnTo>
                      <a:pt x="1328" y="795"/>
                    </a:lnTo>
                    <a:lnTo>
                      <a:pt x="1331" y="795"/>
                    </a:lnTo>
                    <a:lnTo>
                      <a:pt x="1335" y="797"/>
                    </a:lnTo>
                    <a:lnTo>
                      <a:pt x="1338" y="799"/>
                    </a:lnTo>
                    <a:lnTo>
                      <a:pt x="1340" y="799"/>
                    </a:lnTo>
                    <a:lnTo>
                      <a:pt x="1343" y="801"/>
                    </a:lnTo>
                    <a:lnTo>
                      <a:pt x="1347" y="801"/>
                    </a:lnTo>
                    <a:lnTo>
                      <a:pt x="1350" y="802"/>
                    </a:lnTo>
                    <a:lnTo>
                      <a:pt x="1354" y="804"/>
                    </a:lnTo>
                    <a:lnTo>
                      <a:pt x="1356" y="804"/>
                    </a:lnTo>
                    <a:lnTo>
                      <a:pt x="1359" y="806"/>
                    </a:lnTo>
                    <a:lnTo>
                      <a:pt x="1363" y="806"/>
                    </a:lnTo>
                    <a:lnTo>
                      <a:pt x="1366" y="808"/>
                    </a:lnTo>
                    <a:lnTo>
                      <a:pt x="1369" y="809"/>
                    </a:lnTo>
                    <a:lnTo>
                      <a:pt x="1371" y="809"/>
                    </a:lnTo>
                    <a:lnTo>
                      <a:pt x="1375" y="811"/>
                    </a:lnTo>
                    <a:lnTo>
                      <a:pt x="1378" y="813"/>
                    </a:lnTo>
                    <a:lnTo>
                      <a:pt x="1382" y="815"/>
                    </a:lnTo>
                    <a:lnTo>
                      <a:pt x="1383" y="815"/>
                    </a:lnTo>
                    <a:lnTo>
                      <a:pt x="1387" y="816"/>
                    </a:lnTo>
                    <a:lnTo>
                      <a:pt x="1390" y="818"/>
                    </a:lnTo>
                    <a:lnTo>
                      <a:pt x="1394" y="818"/>
                    </a:lnTo>
                    <a:lnTo>
                      <a:pt x="1396" y="820"/>
                    </a:lnTo>
                    <a:lnTo>
                      <a:pt x="1399" y="822"/>
                    </a:lnTo>
                    <a:lnTo>
                      <a:pt x="1403" y="823"/>
                    </a:lnTo>
                    <a:lnTo>
                      <a:pt x="1406" y="823"/>
                    </a:lnTo>
                    <a:lnTo>
                      <a:pt x="1408" y="825"/>
                    </a:lnTo>
                    <a:lnTo>
                      <a:pt x="1411" y="827"/>
                    </a:lnTo>
                    <a:lnTo>
                      <a:pt x="1415" y="828"/>
                    </a:lnTo>
                    <a:lnTo>
                      <a:pt x="1416" y="828"/>
                    </a:lnTo>
                    <a:lnTo>
                      <a:pt x="1420" y="830"/>
                    </a:lnTo>
                    <a:lnTo>
                      <a:pt x="1423" y="832"/>
                    </a:lnTo>
                    <a:lnTo>
                      <a:pt x="1425" y="834"/>
                    </a:lnTo>
                    <a:lnTo>
                      <a:pt x="1429" y="835"/>
                    </a:lnTo>
                    <a:lnTo>
                      <a:pt x="1432" y="837"/>
                    </a:lnTo>
                    <a:lnTo>
                      <a:pt x="1434" y="837"/>
                    </a:lnTo>
                    <a:lnTo>
                      <a:pt x="1437" y="839"/>
                    </a:lnTo>
                    <a:lnTo>
                      <a:pt x="1441" y="841"/>
                    </a:lnTo>
                    <a:lnTo>
                      <a:pt x="1443" y="842"/>
                    </a:lnTo>
                    <a:lnTo>
                      <a:pt x="1446" y="844"/>
                    </a:lnTo>
                    <a:lnTo>
                      <a:pt x="1448" y="846"/>
                    </a:lnTo>
                    <a:lnTo>
                      <a:pt x="1451" y="848"/>
                    </a:lnTo>
                    <a:lnTo>
                      <a:pt x="1455" y="849"/>
                    </a:lnTo>
                    <a:lnTo>
                      <a:pt x="1457" y="851"/>
                    </a:lnTo>
                    <a:lnTo>
                      <a:pt x="1460" y="851"/>
                    </a:lnTo>
                    <a:lnTo>
                      <a:pt x="1462" y="853"/>
                    </a:lnTo>
                    <a:lnTo>
                      <a:pt x="1465" y="855"/>
                    </a:lnTo>
                    <a:lnTo>
                      <a:pt x="1467" y="856"/>
                    </a:lnTo>
                    <a:lnTo>
                      <a:pt x="1470" y="858"/>
                    </a:lnTo>
                    <a:lnTo>
                      <a:pt x="1472" y="860"/>
                    </a:lnTo>
                    <a:lnTo>
                      <a:pt x="1476" y="862"/>
                    </a:lnTo>
                    <a:lnTo>
                      <a:pt x="1479" y="863"/>
                    </a:lnTo>
                    <a:lnTo>
                      <a:pt x="1481" y="865"/>
                    </a:lnTo>
                    <a:lnTo>
                      <a:pt x="1484" y="867"/>
                    </a:lnTo>
                    <a:lnTo>
                      <a:pt x="1486" y="869"/>
                    </a:lnTo>
                    <a:lnTo>
                      <a:pt x="1488" y="870"/>
                    </a:lnTo>
                    <a:lnTo>
                      <a:pt x="1491" y="872"/>
                    </a:lnTo>
                    <a:lnTo>
                      <a:pt x="1493" y="874"/>
                    </a:lnTo>
                    <a:lnTo>
                      <a:pt x="1497" y="875"/>
                    </a:lnTo>
                    <a:lnTo>
                      <a:pt x="1498" y="877"/>
                    </a:lnTo>
                    <a:lnTo>
                      <a:pt x="1502" y="879"/>
                    </a:lnTo>
                    <a:lnTo>
                      <a:pt x="1503" y="882"/>
                    </a:lnTo>
                    <a:lnTo>
                      <a:pt x="1505" y="884"/>
                    </a:lnTo>
                    <a:lnTo>
                      <a:pt x="1509" y="886"/>
                    </a:lnTo>
                    <a:lnTo>
                      <a:pt x="1510" y="888"/>
                    </a:lnTo>
                    <a:lnTo>
                      <a:pt x="1512" y="889"/>
                    </a:lnTo>
                    <a:lnTo>
                      <a:pt x="1516" y="891"/>
                    </a:lnTo>
                    <a:lnTo>
                      <a:pt x="1517" y="893"/>
                    </a:lnTo>
                    <a:lnTo>
                      <a:pt x="1519" y="895"/>
                    </a:lnTo>
                    <a:lnTo>
                      <a:pt x="1523" y="896"/>
                    </a:lnTo>
                    <a:lnTo>
                      <a:pt x="1524" y="900"/>
                    </a:lnTo>
                    <a:lnTo>
                      <a:pt x="1526" y="902"/>
                    </a:lnTo>
                    <a:lnTo>
                      <a:pt x="1530" y="903"/>
                    </a:lnTo>
                    <a:lnTo>
                      <a:pt x="1531" y="905"/>
                    </a:lnTo>
                    <a:lnTo>
                      <a:pt x="1533" y="907"/>
                    </a:lnTo>
                    <a:lnTo>
                      <a:pt x="1535" y="910"/>
                    </a:lnTo>
                    <a:lnTo>
                      <a:pt x="1538" y="912"/>
                    </a:lnTo>
                    <a:lnTo>
                      <a:pt x="1540" y="914"/>
                    </a:lnTo>
                    <a:lnTo>
                      <a:pt x="1542" y="916"/>
                    </a:lnTo>
                    <a:lnTo>
                      <a:pt x="1544" y="917"/>
                    </a:lnTo>
                    <a:lnTo>
                      <a:pt x="1545" y="921"/>
                    </a:lnTo>
                    <a:lnTo>
                      <a:pt x="1547" y="922"/>
                    </a:lnTo>
                    <a:lnTo>
                      <a:pt x="1549" y="924"/>
                    </a:lnTo>
                    <a:lnTo>
                      <a:pt x="1550" y="926"/>
                    </a:lnTo>
                    <a:lnTo>
                      <a:pt x="1552" y="929"/>
                    </a:lnTo>
                    <a:lnTo>
                      <a:pt x="1554" y="931"/>
                    </a:lnTo>
                    <a:lnTo>
                      <a:pt x="1557" y="933"/>
                    </a:lnTo>
                    <a:lnTo>
                      <a:pt x="1559" y="936"/>
                    </a:lnTo>
                    <a:lnTo>
                      <a:pt x="1561" y="938"/>
                    </a:lnTo>
                    <a:lnTo>
                      <a:pt x="1563" y="940"/>
                    </a:lnTo>
                    <a:lnTo>
                      <a:pt x="1563" y="942"/>
                    </a:lnTo>
                    <a:lnTo>
                      <a:pt x="1566" y="945"/>
                    </a:lnTo>
                    <a:lnTo>
                      <a:pt x="1566" y="947"/>
                    </a:lnTo>
                    <a:lnTo>
                      <a:pt x="1568" y="950"/>
                    </a:lnTo>
                    <a:lnTo>
                      <a:pt x="1570" y="952"/>
                    </a:lnTo>
                    <a:lnTo>
                      <a:pt x="1571" y="954"/>
                    </a:lnTo>
                    <a:lnTo>
                      <a:pt x="1573" y="957"/>
                    </a:lnTo>
                    <a:lnTo>
                      <a:pt x="1575" y="959"/>
                    </a:lnTo>
                    <a:lnTo>
                      <a:pt x="1577" y="961"/>
                    </a:lnTo>
                    <a:lnTo>
                      <a:pt x="1577" y="964"/>
                    </a:lnTo>
                    <a:lnTo>
                      <a:pt x="1578" y="966"/>
                    </a:lnTo>
                    <a:lnTo>
                      <a:pt x="1580" y="970"/>
                    </a:lnTo>
                    <a:lnTo>
                      <a:pt x="1582" y="971"/>
                    </a:lnTo>
                    <a:lnTo>
                      <a:pt x="1582" y="973"/>
                    </a:lnTo>
                    <a:lnTo>
                      <a:pt x="1584" y="976"/>
                    </a:lnTo>
                    <a:lnTo>
                      <a:pt x="1585" y="978"/>
                    </a:lnTo>
                    <a:lnTo>
                      <a:pt x="1585" y="982"/>
                    </a:lnTo>
                    <a:lnTo>
                      <a:pt x="1587" y="983"/>
                    </a:lnTo>
                    <a:lnTo>
                      <a:pt x="1589" y="987"/>
                    </a:lnTo>
                    <a:lnTo>
                      <a:pt x="1589" y="989"/>
                    </a:lnTo>
                    <a:lnTo>
                      <a:pt x="1591" y="990"/>
                    </a:lnTo>
                    <a:lnTo>
                      <a:pt x="1591" y="994"/>
                    </a:lnTo>
                    <a:lnTo>
                      <a:pt x="1592" y="996"/>
                    </a:lnTo>
                    <a:lnTo>
                      <a:pt x="1592" y="999"/>
                    </a:lnTo>
                    <a:lnTo>
                      <a:pt x="1594" y="1001"/>
                    </a:lnTo>
                    <a:lnTo>
                      <a:pt x="1594" y="1004"/>
                    </a:lnTo>
                    <a:lnTo>
                      <a:pt x="1596" y="1006"/>
                    </a:lnTo>
                    <a:lnTo>
                      <a:pt x="1596" y="1010"/>
                    </a:lnTo>
                    <a:lnTo>
                      <a:pt x="1597" y="1011"/>
                    </a:lnTo>
                    <a:lnTo>
                      <a:pt x="1597" y="1015"/>
                    </a:lnTo>
                    <a:lnTo>
                      <a:pt x="1597" y="1017"/>
                    </a:lnTo>
                    <a:lnTo>
                      <a:pt x="1599" y="1020"/>
                    </a:lnTo>
                    <a:lnTo>
                      <a:pt x="1599" y="1022"/>
                    </a:lnTo>
                    <a:lnTo>
                      <a:pt x="1599" y="1025"/>
                    </a:lnTo>
                    <a:lnTo>
                      <a:pt x="1599" y="1027"/>
                    </a:lnTo>
                    <a:lnTo>
                      <a:pt x="1601" y="1030"/>
                    </a:lnTo>
                    <a:lnTo>
                      <a:pt x="1601" y="1032"/>
                    </a:lnTo>
                    <a:lnTo>
                      <a:pt x="1601" y="1036"/>
                    </a:lnTo>
                    <a:lnTo>
                      <a:pt x="1601" y="1037"/>
                    </a:lnTo>
                    <a:lnTo>
                      <a:pt x="1601" y="1039"/>
                    </a:lnTo>
                    <a:lnTo>
                      <a:pt x="1601" y="1043"/>
                    </a:lnTo>
                    <a:lnTo>
                      <a:pt x="1603" y="1046"/>
                    </a:lnTo>
                    <a:lnTo>
                      <a:pt x="1603" y="1053"/>
                    </a:lnTo>
                    <a:moveTo>
                      <a:pt x="1190" y="715"/>
                    </a:moveTo>
                    <a:lnTo>
                      <a:pt x="1194" y="715"/>
                    </a:lnTo>
                    <a:lnTo>
                      <a:pt x="1197" y="715"/>
                    </a:lnTo>
                    <a:lnTo>
                      <a:pt x="1201" y="714"/>
                    </a:lnTo>
                    <a:lnTo>
                      <a:pt x="1204" y="714"/>
                    </a:lnTo>
                    <a:lnTo>
                      <a:pt x="1208" y="714"/>
                    </a:lnTo>
                    <a:lnTo>
                      <a:pt x="1211" y="714"/>
                    </a:lnTo>
                    <a:lnTo>
                      <a:pt x="1215" y="714"/>
                    </a:lnTo>
                    <a:lnTo>
                      <a:pt x="1218" y="712"/>
                    </a:lnTo>
                    <a:lnTo>
                      <a:pt x="1222" y="712"/>
                    </a:lnTo>
                    <a:lnTo>
                      <a:pt x="1225" y="712"/>
                    </a:lnTo>
                    <a:lnTo>
                      <a:pt x="1229" y="712"/>
                    </a:lnTo>
                    <a:lnTo>
                      <a:pt x="1232" y="710"/>
                    </a:lnTo>
                    <a:lnTo>
                      <a:pt x="1235" y="710"/>
                    </a:lnTo>
                    <a:lnTo>
                      <a:pt x="1239" y="710"/>
                    </a:lnTo>
                    <a:lnTo>
                      <a:pt x="1242" y="710"/>
                    </a:lnTo>
                    <a:lnTo>
                      <a:pt x="1246" y="710"/>
                    </a:lnTo>
                    <a:lnTo>
                      <a:pt x="1249" y="710"/>
                    </a:lnTo>
                    <a:lnTo>
                      <a:pt x="1253" y="708"/>
                    </a:lnTo>
                    <a:lnTo>
                      <a:pt x="1256" y="708"/>
                    </a:lnTo>
                    <a:lnTo>
                      <a:pt x="1260" y="708"/>
                    </a:lnTo>
                    <a:lnTo>
                      <a:pt x="1263" y="708"/>
                    </a:lnTo>
                    <a:lnTo>
                      <a:pt x="1267" y="708"/>
                    </a:lnTo>
                    <a:lnTo>
                      <a:pt x="1270" y="708"/>
                    </a:lnTo>
                    <a:lnTo>
                      <a:pt x="1274" y="707"/>
                    </a:lnTo>
                    <a:lnTo>
                      <a:pt x="1275" y="707"/>
                    </a:lnTo>
                    <a:lnTo>
                      <a:pt x="1279" y="707"/>
                    </a:lnTo>
                    <a:lnTo>
                      <a:pt x="1282" y="707"/>
                    </a:lnTo>
                    <a:lnTo>
                      <a:pt x="1286" y="707"/>
                    </a:lnTo>
                    <a:lnTo>
                      <a:pt x="1289" y="707"/>
                    </a:lnTo>
                    <a:lnTo>
                      <a:pt x="1293" y="705"/>
                    </a:lnTo>
                    <a:lnTo>
                      <a:pt x="1296" y="705"/>
                    </a:lnTo>
                    <a:lnTo>
                      <a:pt x="1300" y="705"/>
                    </a:lnTo>
                    <a:lnTo>
                      <a:pt x="1303" y="705"/>
                    </a:lnTo>
                    <a:lnTo>
                      <a:pt x="1307" y="705"/>
                    </a:lnTo>
                    <a:lnTo>
                      <a:pt x="1310" y="705"/>
                    </a:lnTo>
                    <a:lnTo>
                      <a:pt x="1314" y="705"/>
                    </a:lnTo>
                    <a:lnTo>
                      <a:pt x="1317" y="705"/>
                    </a:lnTo>
                    <a:lnTo>
                      <a:pt x="1321" y="705"/>
                    </a:lnTo>
                    <a:lnTo>
                      <a:pt x="1324" y="705"/>
                    </a:lnTo>
                    <a:lnTo>
                      <a:pt x="1328" y="703"/>
                    </a:lnTo>
                    <a:lnTo>
                      <a:pt x="1331" y="703"/>
                    </a:lnTo>
                    <a:lnTo>
                      <a:pt x="1335" y="703"/>
                    </a:lnTo>
                    <a:lnTo>
                      <a:pt x="1338" y="703"/>
                    </a:lnTo>
                    <a:lnTo>
                      <a:pt x="1342" y="703"/>
                    </a:lnTo>
                    <a:lnTo>
                      <a:pt x="1345" y="703"/>
                    </a:lnTo>
                    <a:lnTo>
                      <a:pt x="1349" y="703"/>
                    </a:lnTo>
                    <a:lnTo>
                      <a:pt x="1352" y="703"/>
                    </a:lnTo>
                    <a:lnTo>
                      <a:pt x="1356" y="703"/>
                    </a:lnTo>
                    <a:lnTo>
                      <a:pt x="1359" y="703"/>
                    </a:lnTo>
                    <a:lnTo>
                      <a:pt x="1363" y="703"/>
                    </a:lnTo>
                    <a:lnTo>
                      <a:pt x="1366" y="703"/>
                    </a:lnTo>
                    <a:lnTo>
                      <a:pt x="1369" y="703"/>
                    </a:lnTo>
                    <a:lnTo>
                      <a:pt x="1373" y="703"/>
                    </a:lnTo>
                    <a:lnTo>
                      <a:pt x="1376" y="703"/>
                    </a:lnTo>
                    <a:lnTo>
                      <a:pt x="1380" y="703"/>
                    </a:lnTo>
                    <a:lnTo>
                      <a:pt x="1383" y="703"/>
                    </a:lnTo>
                    <a:lnTo>
                      <a:pt x="1387" y="703"/>
                    </a:lnTo>
                    <a:lnTo>
                      <a:pt x="1390" y="703"/>
                    </a:lnTo>
                    <a:lnTo>
                      <a:pt x="1394" y="703"/>
                    </a:lnTo>
                    <a:lnTo>
                      <a:pt x="1397" y="703"/>
                    </a:lnTo>
                    <a:lnTo>
                      <a:pt x="1401" y="703"/>
                    </a:lnTo>
                    <a:lnTo>
                      <a:pt x="1404" y="703"/>
                    </a:lnTo>
                    <a:lnTo>
                      <a:pt x="1408" y="703"/>
                    </a:lnTo>
                    <a:lnTo>
                      <a:pt x="1411" y="703"/>
                    </a:lnTo>
                    <a:lnTo>
                      <a:pt x="1415" y="703"/>
                    </a:lnTo>
                    <a:lnTo>
                      <a:pt x="1418" y="703"/>
                    </a:lnTo>
                    <a:lnTo>
                      <a:pt x="1422" y="703"/>
                    </a:lnTo>
                    <a:lnTo>
                      <a:pt x="1425" y="703"/>
                    </a:lnTo>
                    <a:lnTo>
                      <a:pt x="1429" y="703"/>
                    </a:lnTo>
                    <a:lnTo>
                      <a:pt x="1432" y="703"/>
                    </a:lnTo>
                    <a:lnTo>
                      <a:pt x="1436" y="703"/>
                    </a:lnTo>
                    <a:lnTo>
                      <a:pt x="1439" y="703"/>
                    </a:lnTo>
                    <a:lnTo>
                      <a:pt x="1443" y="703"/>
                    </a:lnTo>
                    <a:lnTo>
                      <a:pt x="1446" y="705"/>
                    </a:lnTo>
                    <a:lnTo>
                      <a:pt x="1450" y="705"/>
                    </a:lnTo>
                    <a:lnTo>
                      <a:pt x="1453" y="705"/>
                    </a:lnTo>
                    <a:lnTo>
                      <a:pt x="1457" y="705"/>
                    </a:lnTo>
                    <a:lnTo>
                      <a:pt x="1460" y="705"/>
                    </a:lnTo>
                    <a:lnTo>
                      <a:pt x="1463" y="705"/>
                    </a:lnTo>
                    <a:lnTo>
                      <a:pt x="1467" y="705"/>
                    </a:lnTo>
                    <a:lnTo>
                      <a:pt x="1470" y="705"/>
                    </a:lnTo>
                    <a:lnTo>
                      <a:pt x="1472" y="705"/>
                    </a:lnTo>
                    <a:lnTo>
                      <a:pt x="1476" y="707"/>
                    </a:lnTo>
                    <a:lnTo>
                      <a:pt x="1479" y="707"/>
                    </a:lnTo>
                    <a:lnTo>
                      <a:pt x="1484" y="707"/>
                    </a:lnTo>
                    <a:lnTo>
                      <a:pt x="1488" y="707"/>
                    </a:lnTo>
                    <a:lnTo>
                      <a:pt x="1490" y="707"/>
                    </a:lnTo>
                    <a:lnTo>
                      <a:pt x="1493" y="707"/>
                    </a:lnTo>
                    <a:lnTo>
                      <a:pt x="1497" y="708"/>
                    </a:lnTo>
                    <a:lnTo>
                      <a:pt x="1500" y="708"/>
                    </a:lnTo>
                    <a:lnTo>
                      <a:pt x="1503" y="708"/>
                    </a:lnTo>
                    <a:lnTo>
                      <a:pt x="1507" y="708"/>
                    </a:lnTo>
                    <a:lnTo>
                      <a:pt x="1510" y="708"/>
                    </a:lnTo>
                    <a:lnTo>
                      <a:pt x="1514" y="710"/>
                    </a:lnTo>
                    <a:lnTo>
                      <a:pt x="1517" y="710"/>
                    </a:lnTo>
                    <a:lnTo>
                      <a:pt x="1521" y="710"/>
                    </a:lnTo>
                    <a:lnTo>
                      <a:pt x="1524" y="710"/>
                    </a:lnTo>
                    <a:lnTo>
                      <a:pt x="1528" y="710"/>
                    </a:lnTo>
                    <a:lnTo>
                      <a:pt x="1531" y="712"/>
                    </a:lnTo>
                    <a:lnTo>
                      <a:pt x="1535" y="712"/>
                    </a:lnTo>
                    <a:lnTo>
                      <a:pt x="1538" y="712"/>
                    </a:lnTo>
                    <a:lnTo>
                      <a:pt x="1542" y="712"/>
                    </a:lnTo>
                    <a:lnTo>
                      <a:pt x="1545" y="714"/>
                    </a:lnTo>
                    <a:lnTo>
                      <a:pt x="1549" y="714"/>
                    </a:lnTo>
                    <a:lnTo>
                      <a:pt x="1552" y="714"/>
                    </a:lnTo>
                    <a:lnTo>
                      <a:pt x="1556" y="715"/>
                    </a:lnTo>
                    <a:lnTo>
                      <a:pt x="1559" y="715"/>
                    </a:lnTo>
                    <a:lnTo>
                      <a:pt x="1563" y="715"/>
                    </a:lnTo>
                    <a:lnTo>
                      <a:pt x="1566" y="717"/>
                    </a:lnTo>
                    <a:lnTo>
                      <a:pt x="1568" y="717"/>
                    </a:lnTo>
                    <a:lnTo>
                      <a:pt x="1571" y="717"/>
                    </a:lnTo>
                    <a:lnTo>
                      <a:pt x="1575" y="717"/>
                    </a:lnTo>
                    <a:lnTo>
                      <a:pt x="1578" y="719"/>
                    </a:lnTo>
                    <a:lnTo>
                      <a:pt x="1582" y="719"/>
                    </a:lnTo>
                    <a:lnTo>
                      <a:pt x="1585" y="719"/>
                    </a:lnTo>
                    <a:lnTo>
                      <a:pt x="1589" y="721"/>
                    </a:lnTo>
                    <a:lnTo>
                      <a:pt x="1592" y="721"/>
                    </a:lnTo>
                    <a:lnTo>
                      <a:pt x="1596" y="722"/>
                    </a:lnTo>
                    <a:lnTo>
                      <a:pt x="1599" y="722"/>
                    </a:lnTo>
                    <a:lnTo>
                      <a:pt x="1603" y="722"/>
                    </a:lnTo>
                    <a:lnTo>
                      <a:pt x="1606" y="724"/>
                    </a:lnTo>
                    <a:lnTo>
                      <a:pt x="1610" y="724"/>
                    </a:lnTo>
                    <a:lnTo>
                      <a:pt x="1613" y="726"/>
                    </a:lnTo>
                    <a:lnTo>
                      <a:pt x="1615" y="726"/>
                    </a:lnTo>
                    <a:lnTo>
                      <a:pt x="1618" y="726"/>
                    </a:lnTo>
                    <a:lnTo>
                      <a:pt x="1622" y="728"/>
                    </a:lnTo>
                    <a:lnTo>
                      <a:pt x="1625" y="728"/>
                    </a:lnTo>
                    <a:lnTo>
                      <a:pt x="1629" y="729"/>
                    </a:lnTo>
                    <a:lnTo>
                      <a:pt x="1632" y="729"/>
                    </a:lnTo>
                    <a:lnTo>
                      <a:pt x="1636" y="731"/>
                    </a:lnTo>
                    <a:lnTo>
                      <a:pt x="1639" y="731"/>
                    </a:lnTo>
                    <a:lnTo>
                      <a:pt x="1643" y="731"/>
                    </a:lnTo>
                    <a:lnTo>
                      <a:pt x="1644" y="733"/>
                    </a:lnTo>
                    <a:lnTo>
                      <a:pt x="1648" y="733"/>
                    </a:lnTo>
                    <a:lnTo>
                      <a:pt x="1651" y="734"/>
                    </a:lnTo>
                    <a:lnTo>
                      <a:pt x="1655" y="734"/>
                    </a:lnTo>
                    <a:lnTo>
                      <a:pt x="1658" y="736"/>
                    </a:lnTo>
                    <a:lnTo>
                      <a:pt x="1662" y="736"/>
                    </a:lnTo>
                    <a:lnTo>
                      <a:pt x="1665" y="738"/>
                    </a:lnTo>
                    <a:lnTo>
                      <a:pt x="1669" y="740"/>
                    </a:lnTo>
                    <a:lnTo>
                      <a:pt x="1671" y="740"/>
                    </a:lnTo>
                    <a:lnTo>
                      <a:pt x="1674" y="741"/>
                    </a:lnTo>
                    <a:lnTo>
                      <a:pt x="1678" y="741"/>
                    </a:lnTo>
                    <a:lnTo>
                      <a:pt x="1681" y="743"/>
                    </a:lnTo>
                    <a:lnTo>
                      <a:pt x="1685" y="743"/>
                    </a:lnTo>
                    <a:lnTo>
                      <a:pt x="1688" y="745"/>
                    </a:lnTo>
                    <a:lnTo>
                      <a:pt x="1691" y="745"/>
                    </a:lnTo>
                    <a:lnTo>
                      <a:pt x="1693" y="747"/>
                    </a:lnTo>
                    <a:lnTo>
                      <a:pt x="1697" y="748"/>
                    </a:lnTo>
                    <a:lnTo>
                      <a:pt x="1700" y="748"/>
                    </a:lnTo>
                    <a:lnTo>
                      <a:pt x="1704" y="750"/>
                    </a:lnTo>
                    <a:lnTo>
                      <a:pt x="1707" y="750"/>
                    </a:lnTo>
                    <a:lnTo>
                      <a:pt x="1709" y="752"/>
                    </a:lnTo>
                    <a:lnTo>
                      <a:pt x="1712" y="754"/>
                    </a:lnTo>
                    <a:lnTo>
                      <a:pt x="1716" y="754"/>
                    </a:lnTo>
                    <a:lnTo>
                      <a:pt x="1719" y="755"/>
                    </a:lnTo>
                    <a:lnTo>
                      <a:pt x="1723" y="757"/>
                    </a:lnTo>
                    <a:lnTo>
                      <a:pt x="1725" y="757"/>
                    </a:lnTo>
                    <a:lnTo>
                      <a:pt x="1728" y="759"/>
                    </a:lnTo>
                    <a:lnTo>
                      <a:pt x="1731" y="761"/>
                    </a:lnTo>
                    <a:lnTo>
                      <a:pt x="1735" y="761"/>
                    </a:lnTo>
                    <a:lnTo>
                      <a:pt x="1737" y="762"/>
                    </a:lnTo>
                    <a:lnTo>
                      <a:pt x="1740" y="764"/>
                    </a:lnTo>
                    <a:lnTo>
                      <a:pt x="1744" y="764"/>
                    </a:lnTo>
                    <a:lnTo>
                      <a:pt x="1747" y="766"/>
                    </a:lnTo>
                    <a:lnTo>
                      <a:pt x="1749" y="768"/>
                    </a:lnTo>
                    <a:lnTo>
                      <a:pt x="1752" y="769"/>
                    </a:lnTo>
                    <a:lnTo>
                      <a:pt x="1756" y="769"/>
                    </a:lnTo>
                    <a:lnTo>
                      <a:pt x="1759" y="771"/>
                    </a:lnTo>
                    <a:lnTo>
                      <a:pt x="1761" y="773"/>
                    </a:lnTo>
                    <a:lnTo>
                      <a:pt x="1765" y="775"/>
                    </a:lnTo>
                    <a:lnTo>
                      <a:pt x="1768" y="776"/>
                    </a:lnTo>
                    <a:lnTo>
                      <a:pt x="1772" y="776"/>
                    </a:lnTo>
                    <a:lnTo>
                      <a:pt x="1773" y="778"/>
                    </a:lnTo>
                    <a:lnTo>
                      <a:pt x="1777" y="780"/>
                    </a:lnTo>
                    <a:lnTo>
                      <a:pt x="1780" y="781"/>
                    </a:lnTo>
                    <a:lnTo>
                      <a:pt x="1782" y="783"/>
                    </a:lnTo>
                    <a:lnTo>
                      <a:pt x="1785" y="783"/>
                    </a:lnTo>
                    <a:lnTo>
                      <a:pt x="1787" y="785"/>
                    </a:lnTo>
                    <a:lnTo>
                      <a:pt x="1791" y="787"/>
                    </a:lnTo>
                    <a:lnTo>
                      <a:pt x="1794" y="788"/>
                    </a:lnTo>
                    <a:lnTo>
                      <a:pt x="1796" y="790"/>
                    </a:lnTo>
                    <a:lnTo>
                      <a:pt x="1799" y="792"/>
                    </a:lnTo>
                    <a:lnTo>
                      <a:pt x="1803" y="792"/>
                    </a:lnTo>
                    <a:lnTo>
                      <a:pt x="1805" y="794"/>
                    </a:lnTo>
                    <a:lnTo>
                      <a:pt x="1808" y="795"/>
                    </a:lnTo>
                    <a:lnTo>
                      <a:pt x="1810" y="797"/>
                    </a:lnTo>
                    <a:lnTo>
                      <a:pt x="1813" y="799"/>
                    </a:lnTo>
                    <a:lnTo>
                      <a:pt x="1817" y="801"/>
                    </a:lnTo>
                    <a:lnTo>
                      <a:pt x="1819" y="802"/>
                    </a:lnTo>
                    <a:lnTo>
                      <a:pt x="1822" y="804"/>
                    </a:lnTo>
                    <a:lnTo>
                      <a:pt x="1824" y="806"/>
                    </a:lnTo>
                    <a:lnTo>
                      <a:pt x="1827" y="808"/>
                    </a:lnTo>
                    <a:lnTo>
                      <a:pt x="1831" y="809"/>
                    </a:lnTo>
                    <a:lnTo>
                      <a:pt x="1832" y="811"/>
                    </a:lnTo>
                    <a:lnTo>
                      <a:pt x="1836" y="813"/>
                    </a:lnTo>
                    <a:lnTo>
                      <a:pt x="1838" y="815"/>
                    </a:lnTo>
                    <a:lnTo>
                      <a:pt x="1841" y="815"/>
                    </a:lnTo>
                    <a:lnTo>
                      <a:pt x="1843" y="818"/>
                    </a:lnTo>
                    <a:lnTo>
                      <a:pt x="1846" y="820"/>
                    </a:lnTo>
                    <a:lnTo>
                      <a:pt x="1848" y="820"/>
                    </a:lnTo>
                    <a:lnTo>
                      <a:pt x="1850" y="823"/>
                    </a:lnTo>
                    <a:lnTo>
                      <a:pt x="1853" y="825"/>
                    </a:lnTo>
                    <a:lnTo>
                      <a:pt x="1855" y="827"/>
                    </a:lnTo>
                    <a:lnTo>
                      <a:pt x="1859" y="828"/>
                    </a:lnTo>
                    <a:lnTo>
                      <a:pt x="1860" y="830"/>
                    </a:lnTo>
                    <a:lnTo>
                      <a:pt x="1864" y="832"/>
                    </a:lnTo>
                    <a:lnTo>
                      <a:pt x="1866" y="834"/>
                    </a:lnTo>
                    <a:lnTo>
                      <a:pt x="1869" y="835"/>
                    </a:lnTo>
                    <a:lnTo>
                      <a:pt x="1871" y="837"/>
                    </a:lnTo>
                    <a:lnTo>
                      <a:pt x="1872" y="839"/>
                    </a:lnTo>
                    <a:lnTo>
                      <a:pt x="1876" y="841"/>
                    </a:lnTo>
                    <a:lnTo>
                      <a:pt x="1878" y="842"/>
                    </a:lnTo>
                    <a:lnTo>
                      <a:pt x="1879" y="844"/>
                    </a:lnTo>
                    <a:lnTo>
                      <a:pt x="1883" y="846"/>
                    </a:lnTo>
                    <a:lnTo>
                      <a:pt x="1885" y="849"/>
                    </a:lnTo>
                    <a:lnTo>
                      <a:pt x="1886" y="851"/>
                    </a:lnTo>
                    <a:lnTo>
                      <a:pt x="1890" y="853"/>
                    </a:lnTo>
                    <a:lnTo>
                      <a:pt x="1892" y="855"/>
                    </a:lnTo>
                    <a:lnTo>
                      <a:pt x="1893" y="856"/>
                    </a:lnTo>
                    <a:lnTo>
                      <a:pt x="1897" y="858"/>
                    </a:lnTo>
                    <a:lnTo>
                      <a:pt x="1899" y="860"/>
                    </a:lnTo>
                    <a:lnTo>
                      <a:pt x="1900" y="863"/>
                    </a:lnTo>
                    <a:lnTo>
                      <a:pt x="1902" y="865"/>
                    </a:lnTo>
                    <a:lnTo>
                      <a:pt x="1906" y="867"/>
                    </a:lnTo>
                    <a:lnTo>
                      <a:pt x="1907" y="869"/>
                    </a:lnTo>
                    <a:lnTo>
                      <a:pt x="1909" y="872"/>
                    </a:lnTo>
                    <a:lnTo>
                      <a:pt x="1911" y="874"/>
                    </a:lnTo>
                    <a:lnTo>
                      <a:pt x="1913" y="875"/>
                    </a:lnTo>
                    <a:lnTo>
                      <a:pt x="1914" y="877"/>
                    </a:lnTo>
                    <a:lnTo>
                      <a:pt x="1918" y="879"/>
                    </a:lnTo>
                    <a:lnTo>
                      <a:pt x="1919" y="882"/>
                    </a:lnTo>
                    <a:lnTo>
                      <a:pt x="1921" y="884"/>
                    </a:lnTo>
                    <a:lnTo>
                      <a:pt x="1923" y="886"/>
                    </a:lnTo>
                    <a:lnTo>
                      <a:pt x="1925" y="888"/>
                    </a:lnTo>
                    <a:lnTo>
                      <a:pt x="1926" y="891"/>
                    </a:lnTo>
                    <a:lnTo>
                      <a:pt x="1928" y="893"/>
                    </a:lnTo>
                    <a:lnTo>
                      <a:pt x="1930" y="895"/>
                    </a:lnTo>
                    <a:lnTo>
                      <a:pt x="1932" y="896"/>
                    </a:lnTo>
                    <a:lnTo>
                      <a:pt x="1933" y="900"/>
                    </a:lnTo>
                    <a:lnTo>
                      <a:pt x="1935" y="902"/>
                    </a:lnTo>
                    <a:lnTo>
                      <a:pt x="1937" y="903"/>
                    </a:lnTo>
                    <a:lnTo>
                      <a:pt x="1939" y="907"/>
                    </a:lnTo>
                    <a:lnTo>
                      <a:pt x="1940" y="909"/>
                    </a:lnTo>
                    <a:lnTo>
                      <a:pt x="1942" y="910"/>
                    </a:lnTo>
                    <a:lnTo>
                      <a:pt x="1944" y="914"/>
                    </a:lnTo>
                    <a:lnTo>
                      <a:pt x="1946" y="916"/>
                    </a:lnTo>
                    <a:lnTo>
                      <a:pt x="1947" y="917"/>
                    </a:lnTo>
                    <a:lnTo>
                      <a:pt x="1949" y="921"/>
                    </a:lnTo>
                    <a:lnTo>
                      <a:pt x="1951" y="922"/>
                    </a:lnTo>
                    <a:lnTo>
                      <a:pt x="1953" y="924"/>
                    </a:lnTo>
                    <a:lnTo>
                      <a:pt x="1954" y="928"/>
                    </a:lnTo>
                    <a:lnTo>
                      <a:pt x="1956" y="929"/>
                    </a:lnTo>
                    <a:lnTo>
                      <a:pt x="1956" y="931"/>
                    </a:lnTo>
                    <a:lnTo>
                      <a:pt x="1958" y="935"/>
                    </a:lnTo>
                    <a:lnTo>
                      <a:pt x="1960" y="936"/>
                    </a:lnTo>
                    <a:lnTo>
                      <a:pt x="1961" y="940"/>
                    </a:lnTo>
                    <a:lnTo>
                      <a:pt x="1963" y="942"/>
                    </a:lnTo>
                    <a:lnTo>
                      <a:pt x="1963" y="943"/>
                    </a:lnTo>
                    <a:lnTo>
                      <a:pt x="1965" y="947"/>
                    </a:lnTo>
                    <a:lnTo>
                      <a:pt x="1966" y="949"/>
                    </a:lnTo>
                    <a:lnTo>
                      <a:pt x="1966" y="952"/>
                    </a:lnTo>
                    <a:lnTo>
                      <a:pt x="1968" y="954"/>
                    </a:lnTo>
                    <a:lnTo>
                      <a:pt x="1970" y="956"/>
                    </a:lnTo>
                    <a:lnTo>
                      <a:pt x="1970" y="959"/>
                    </a:lnTo>
                    <a:lnTo>
                      <a:pt x="1972" y="961"/>
                    </a:lnTo>
                    <a:lnTo>
                      <a:pt x="1973" y="964"/>
                    </a:lnTo>
                    <a:lnTo>
                      <a:pt x="1973" y="966"/>
                    </a:lnTo>
                    <a:lnTo>
                      <a:pt x="1975" y="970"/>
                    </a:lnTo>
                    <a:lnTo>
                      <a:pt x="1977" y="971"/>
                    </a:lnTo>
                    <a:lnTo>
                      <a:pt x="1977" y="975"/>
                    </a:lnTo>
                    <a:lnTo>
                      <a:pt x="1979" y="976"/>
                    </a:lnTo>
                    <a:lnTo>
                      <a:pt x="1979" y="978"/>
                    </a:lnTo>
                    <a:lnTo>
                      <a:pt x="1980" y="982"/>
                    </a:lnTo>
                    <a:lnTo>
                      <a:pt x="1980" y="983"/>
                    </a:lnTo>
                    <a:lnTo>
                      <a:pt x="1982" y="987"/>
                    </a:lnTo>
                    <a:lnTo>
                      <a:pt x="1982" y="989"/>
                    </a:lnTo>
                    <a:lnTo>
                      <a:pt x="1982" y="992"/>
                    </a:lnTo>
                    <a:lnTo>
                      <a:pt x="1984" y="994"/>
                    </a:lnTo>
                    <a:lnTo>
                      <a:pt x="1984" y="997"/>
                    </a:lnTo>
                    <a:lnTo>
                      <a:pt x="1986" y="999"/>
                    </a:lnTo>
                    <a:lnTo>
                      <a:pt x="1986" y="1003"/>
                    </a:lnTo>
                    <a:lnTo>
                      <a:pt x="1986" y="1004"/>
                    </a:lnTo>
                    <a:lnTo>
                      <a:pt x="1987" y="1008"/>
                    </a:lnTo>
                    <a:lnTo>
                      <a:pt x="1987" y="1010"/>
                    </a:lnTo>
                    <a:lnTo>
                      <a:pt x="1987" y="1013"/>
                    </a:lnTo>
                    <a:lnTo>
                      <a:pt x="1987" y="1015"/>
                    </a:lnTo>
                    <a:lnTo>
                      <a:pt x="1989" y="1018"/>
                    </a:lnTo>
                    <a:lnTo>
                      <a:pt x="1989" y="1020"/>
                    </a:lnTo>
                    <a:lnTo>
                      <a:pt x="1989" y="1023"/>
                    </a:lnTo>
                    <a:lnTo>
                      <a:pt x="1991" y="1025"/>
                    </a:lnTo>
                    <a:lnTo>
                      <a:pt x="1991" y="1029"/>
                    </a:lnTo>
                    <a:lnTo>
                      <a:pt x="1991" y="1030"/>
                    </a:lnTo>
                    <a:lnTo>
                      <a:pt x="1991" y="1034"/>
                    </a:lnTo>
                    <a:lnTo>
                      <a:pt x="1991" y="1036"/>
                    </a:lnTo>
                    <a:lnTo>
                      <a:pt x="1991" y="1039"/>
                    </a:lnTo>
                    <a:lnTo>
                      <a:pt x="1991" y="1041"/>
                    </a:lnTo>
                    <a:lnTo>
                      <a:pt x="1991" y="1044"/>
                    </a:lnTo>
                    <a:lnTo>
                      <a:pt x="1991" y="1055"/>
                    </a:lnTo>
                    <a:moveTo>
                      <a:pt x="1054" y="734"/>
                    </a:moveTo>
                    <a:lnTo>
                      <a:pt x="1058" y="734"/>
                    </a:lnTo>
                    <a:lnTo>
                      <a:pt x="1061" y="733"/>
                    </a:lnTo>
                    <a:lnTo>
                      <a:pt x="1065" y="733"/>
                    </a:lnTo>
                    <a:lnTo>
                      <a:pt x="1068" y="733"/>
                    </a:lnTo>
                    <a:lnTo>
                      <a:pt x="1072" y="731"/>
                    </a:lnTo>
                    <a:lnTo>
                      <a:pt x="1075" y="731"/>
                    </a:lnTo>
                    <a:lnTo>
                      <a:pt x="1079" y="731"/>
                    </a:lnTo>
                    <a:lnTo>
                      <a:pt x="1082" y="731"/>
                    </a:lnTo>
                    <a:lnTo>
                      <a:pt x="1086" y="729"/>
                    </a:lnTo>
                    <a:lnTo>
                      <a:pt x="1089" y="729"/>
                    </a:lnTo>
                    <a:lnTo>
                      <a:pt x="1093" y="729"/>
                    </a:lnTo>
                    <a:lnTo>
                      <a:pt x="1096" y="728"/>
                    </a:lnTo>
                    <a:lnTo>
                      <a:pt x="1100" y="728"/>
                    </a:lnTo>
                    <a:lnTo>
                      <a:pt x="1101" y="728"/>
                    </a:lnTo>
                    <a:lnTo>
                      <a:pt x="1105" y="728"/>
                    </a:lnTo>
                    <a:lnTo>
                      <a:pt x="1108" y="726"/>
                    </a:lnTo>
                    <a:lnTo>
                      <a:pt x="1112" y="726"/>
                    </a:lnTo>
                    <a:lnTo>
                      <a:pt x="1115" y="726"/>
                    </a:lnTo>
                    <a:lnTo>
                      <a:pt x="1119" y="726"/>
                    </a:lnTo>
                    <a:lnTo>
                      <a:pt x="1122" y="724"/>
                    </a:lnTo>
                    <a:lnTo>
                      <a:pt x="1126" y="724"/>
                    </a:lnTo>
                    <a:lnTo>
                      <a:pt x="1129" y="724"/>
                    </a:lnTo>
                    <a:lnTo>
                      <a:pt x="1133" y="722"/>
                    </a:lnTo>
                    <a:lnTo>
                      <a:pt x="1136" y="722"/>
                    </a:lnTo>
                    <a:lnTo>
                      <a:pt x="1140" y="722"/>
                    </a:lnTo>
                    <a:lnTo>
                      <a:pt x="1143" y="722"/>
                    </a:lnTo>
                    <a:lnTo>
                      <a:pt x="1147" y="721"/>
                    </a:lnTo>
                    <a:lnTo>
                      <a:pt x="1150" y="721"/>
                    </a:lnTo>
                    <a:lnTo>
                      <a:pt x="1154" y="721"/>
                    </a:lnTo>
                    <a:lnTo>
                      <a:pt x="1157" y="719"/>
                    </a:lnTo>
                    <a:lnTo>
                      <a:pt x="1161" y="719"/>
                    </a:lnTo>
                    <a:lnTo>
                      <a:pt x="1164" y="719"/>
                    </a:lnTo>
                    <a:lnTo>
                      <a:pt x="1166" y="719"/>
                    </a:lnTo>
                    <a:lnTo>
                      <a:pt x="1169" y="717"/>
                    </a:lnTo>
                    <a:lnTo>
                      <a:pt x="1173" y="717"/>
                    </a:lnTo>
                    <a:lnTo>
                      <a:pt x="1176" y="717"/>
                    </a:lnTo>
                    <a:lnTo>
                      <a:pt x="1180" y="717"/>
                    </a:lnTo>
                    <a:lnTo>
                      <a:pt x="1183" y="717"/>
                    </a:lnTo>
                    <a:lnTo>
                      <a:pt x="1187" y="715"/>
                    </a:lnTo>
                    <a:lnTo>
                      <a:pt x="1190" y="715"/>
                    </a:lnTo>
                    <a:moveTo>
                      <a:pt x="1422" y="571"/>
                    </a:moveTo>
                    <a:lnTo>
                      <a:pt x="1425" y="569"/>
                    </a:lnTo>
                    <a:lnTo>
                      <a:pt x="1429" y="569"/>
                    </a:lnTo>
                    <a:lnTo>
                      <a:pt x="1430" y="567"/>
                    </a:lnTo>
                    <a:lnTo>
                      <a:pt x="1434" y="566"/>
                    </a:lnTo>
                    <a:lnTo>
                      <a:pt x="1437" y="566"/>
                    </a:lnTo>
                    <a:lnTo>
                      <a:pt x="1441" y="564"/>
                    </a:lnTo>
                    <a:lnTo>
                      <a:pt x="1444" y="564"/>
                    </a:lnTo>
                    <a:lnTo>
                      <a:pt x="1448" y="562"/>
                    </a:lnTo>
                    <a:lnTo>
                      <a:pt x="1450" y="562"/>
                    </a:lnTo>
                    <a:lnTo>
                      <a:pt x="1453" y="560"/>
                    </a:lnTo>
                    <a:lnTo>
                      <a:pt x="1457" y="559"/>
                    </a:lnTo>
                    <a:lnTo>
                      <a:pt x="1460" y="559"/>
                    </a:lnTo>
                    <a:lnTo>
                      <a:pt x="1463" y="557"/>
                    </a:lnTo>
                    <a:lnTo>
                      <a:pt x="1467" y="557"/>
                    </a:lnTo>
                    <a:lnTo>
                      <a:pt x="1469" y="555"/>
                    </a:lnTo>
                    <a:lnTo>
                      <a:pt x="1472" y="555"/>
                    </a:lnTo>
                    <a:lnTo>
                      <a:pt x="1476" y="553"/>
                    </a:lnTo>
                    <a:lnTo>
                      <a:pt x="1479" y="553"/>
                    </a:lnTo>
                    <a:lnTo>
                      <a:pt x="1483" y="552"/>
                    </a:lnTo>
                    <a:lnTo>
                      <a:pt x="1486" y="550"/>
                    </a:lnTo>
                    <a:lnTo>
                      <a:pt x="1490" y="550"/>
                    </a:lnTo>
                    <a:lnTo>
                      <a:pt x="1491" y="548"/>
                    </a:lnTo>
                    <a:lnTo>
                      <a:pt x="1495" y="548"/>
                    </a:lnTo>
                    <a:lnTo>
                      <a:pt x="1498" y="546"/>
                    </a:lnTo>
                    <a:lnTo>
                      <a:pt x="1502" y="546"/>
                    </a:lnTo>
                    <a:lnTo>
                      <a:pt x="1505" y="545"/>
                    </a:lnTo>
                    <a:lnTo>
                      <a:pt x="1509" y="545"/>
                    </a:lnTo>
                    <a:lnTo>
                      <a:pt x="1512" y="543"/>
                    </a:lnTo>
                    <a:lnTo>
                      <a:pt x="1516" y="543"/>
                    </a:lnTo>
                    <a:lnTo>
                      <a:pt x="1517" y="541"/>
                    </a:lnTo>
                    <a:lnTo>
                      <a:pt x="1521" y="541"/>
                    </a:lnTo>
                    <a:lnTo>
                      <a:pt x="1524" y="539"/>
                    </a:lnTo>
                    <a:lnTo>
                      <a:pt x="1528" y="539"/>
                    </a:lnTo>
                    <a:lnTo>
                      <a:pt x="1531" y="538"/>
                    </a:lnTo>
                    <a:lnTo>
                      <a:pt x="1535" y="538"/>
                    </a:lnTo>
                    <a:lnTo>
                      <a:pt x="1538" y="536"/>
                    </a:lnTo>
                    <a:lnTo>
                      <a:pt x="1540" y="536"/>
                    </a:lnTo>
                    <a:lnTo>
                      <a:pt x="1544" y="534"/>
                    </a:lnTo>
                    <a:lnTo>
                      <a:pt x="1547" y="534"/>
                    </a:lnTo>
                    <a:lnTo>
                      <a:pt x="1550" y="533"/>
                    </a:lnTo>
                    <a:lnTo>
                      <a:pt x="1554" y="533"/>
                    </a:lnTo>
                    <a:lnTo>
                      <a:pt x="1557" y="531"/>
                    </a:lnTo>
                    <a:lnTo>
                      <a:pt x="1561" y="531"/>
                    </a:lnTo>
                    <a:lnTo>
                      <a:pt x="1564" y="529"/>
                    </a:lnTo>
                    <a:lnTo>
                      <a:pt x="1568" y="529"/>
                    </a:lnTo>
                    <a:lnTo>
                      <a:pt x="1570" y="527"/>
                    </a:lnTo>
                    <a:lnTo>
                      <a:pt x="1573" y="527"/>
                    </a:lnTo>
                    <a:lnTo>
                      <a:pt x="1577" y="527"/>
                    </a:lnTo>
                    <a:lnTo>
                      <a:pt x="1580" y="526"/>
                    </a:lnTo>
                    <a:lnTo>
                      <a:pt x="1584" y="526"/>
                    </a:lnTo>
                    <a:lnTo>
                      <a:pt x="1587" y="524"/>
                    </a:lnTo>
                    <a:lnTo>
                      <a:pt x="1591" y="524"/>
                    </a:lnTo>
                    <a:lnTo>
                      <a:pt x="1594" y="522"/>
                    </a:lnTo>
                    <a:lnTo>
                      <a:pt x="1597" y="522"/>
                    </a:lnTo>
                    <a:lnTo>
                      <a:pt x="1601" y="522"/>
                    </a:lnTo>
                    <a:lnTo>
                      <a:pt x="1603" y="520"/>
                    </a:lnTo>
                    <a:lnTo>
                      <a:pt x="1606" y="520"/>
                    </a:lnTo>
                    <a:lnTo>
                      <a:pt x="1610" y="519"/>
                    </a:lnTo>
                    <a:lnTo>
                      <a:pt x="1613" y="519"/>
                    </a:lnTo>
                    <a:lnTo>
                      <a:pt x="1617" y="519"/>
                    </a:lnTo>
                    <a:lnTo>
                      <a:pt x="1620" y="517"/>
                    </a:lnTo>
                    <a:lnTo>
                      <a:pt x="1624" y="517"/>
                    </a:lnTo>
                    <a:lnTo>
                      <a:pt x="1627" y="515"/>
                    </a:lnTo>
                    <a:lnTo>
                      <a:pt x="1631" y="515"/>
                    </a:lnTo>
                    <a:lnTo>
                      <a:pt x="1634" y="515"/>
                    </a:lnTo>
                    <a:lnTo>
                      <a:pt x="1638" y="513"/>
                    </a:lnTo>
                    <a:lnTo>
                      <a:pt x="1641" y="513"/>
                    </a:lnTo>
                    <a:lnTo>
                      <a:pt x="1644" y="512"/>
                    </a:lnTo>
                    <a:lnTo>
                      <a:pt x="1646" y="512"/>
                    </a:lnTo>
                    <a:lnTo>
                      <a:pt x="1650" y="512"/>
                    </a:lnTo>
                    <a:lnTo>
                      <a:pt x="1653" y="510"/>
                    </a:lnTo>
                    <a:lnTo>
                      <a:pt x="1657" y="510"/>
                    </a:lnTo>
                    <a:lnTo>
                      <a:pt x="1660" y="510"/>
                    </a:lnTo>
                    <a:lnTo>
                      <a:pt x="1664" y="508"/>
                    </a:lnTo>
                    <a:lnTo>
                      <a:pt x="1667" y="508"/>
                    </a:lnTo>
                    <a:lnTo>
                      <a:pt x="1671" y="508"/>
                    </a:lnTo>
                    <a:lnTo>
                      <a:pt x="1674" y="506"/>
                    </a:lnTo>
                    <a:lnTo>
                      <a:pt x="1678" y="506"/>
                    </a:lnTo>
                    <a:lnTo>
                      <a:pt x="1681" y="505"/>
                    </a:lnTo>
                    <a:lnTo>
                      <a:pt x="1685" y="505"/>
                    </a:lnTo>
                    <a:lnTo>
                      <a:pt x="1688" y="505"/>
                    </a:lnTo>
                    <a:lnTo>
                      <a:pt x="1691" y="505"/>
                    </a:lnTo>
                    <a:lnTo>
                      <a:pt x="1693" y="503"/>
                    </a:lnTo>
                    <a:lnTo>
                      <a:pt x="1697" y="503"/>
                    </a:lnTo>
                    <a:lnTo>
                      <a:pt x="1700" y="503"/>
                    </a:lnTo>
                    <a:lnTo>
                      <a:pt x="1704" y="501"/>
                    </a:lnTo>
                    <a:lnTo>
                      <a:pt x="1707" y="501"/>
                    </a:lnTo>
                    <a:lnTo>
                      <a:pt x="1711" y="501"/>
                    </a:lnTo>
                    <a:lnTo>
                      <a:pt x="1714" y="499"/>
                    </a:lnTo>
                    <a:lnTo>
                      <a:pt x="1718" y="499"/>
                    </a:lnTo>
                    <a:lnTo>
                      <a:pt x="1721" y="499"/>
                    </a:lnTo>
                    <a:lnTo>
                      <a:pt x="1725" y="499"/>
                    </a:lnTo>
                    <a:lnTo>
                      <a:pt x="1728" y="498"/>
                    </a:lnTo>
                    <a:lnTo>
                      <a:pt x="1731" y="498"/>
                    </a:lnTo>
                    <a:lnTo>
                      <a:pt x="1735" y="498"/>
                    </a:lnTo>
                    <a:lnTo>
                      <a:pt x="1738" y="496"/>
                    </a:lnTo>
                    <a:lnTo>
                      <a:pt x="1742" y="496"/>
                    </a:lnTo>
                    <a:lnTo>
                      <a:pt x="1745" y="496"/>
                    </a:lnTo>
                    <a:lnTo>
                      <a:pt x="1749" y="496"/>
                    </a:lnTo>
                    <a:lnTo>
                      <a:pt x="1752" y="494"/>
                    </a:lnTo>
                    <a:lnTo>
                      <a:pt x="1756" y="494"/>
                    </a:lnTo>
                    <a:lnTo>
                      <a:pt x="1759" y="494"/>
                    </a:lnTo>
                    <a:lnTo>
                      <a:pt x="1763" y="494"/>
                    </a:lnTo>
                    <a:lnTo>
                      <a:pt x="1765" y="492"/>
                    </a:lnTo>
                    <a:lnTo>
                      <a:pt x="1768" y="492"/>
                    </a:lnTo>
                    <a:lnTo>
                      <a:pt x="1772" y="492"/>
                    </a:lnTo>
                    <a:lnTo>
                      <a:pt x="1775" y="492"/>
                    </a:lnTo>
                    <a:lnTo>
                      <a:pt x="1778" y="491"/>
                    </a:lnTo>
                    <a:lnTo>
                      <a:pt x="1782" y="491"/>
                    </a:lnTo>
                    <a:lnTo>
                      <a:pt x="1785" y="491"/>
                    </a:lnTo>
                    <a:lnTo>
                      <a:pt x="1789" y="491"/>
                    </a:lnTo>
                    <a:lnTo>
                      <a:pt x="1792" y="491"/>
                    </a:lnTo>
                    <a:lnTo>
                      <a:pt x="1796" y="489"/>
                    </a:lnTo>
                    <a:lnTo>
                      <a:pt x="1799" y="489"/>
                    </a:lnTo>
                    <a:lnTo>
                      <a:pt x="1803" y="489"/>
                    </a:lnTo>
                    <a:lnTo>
                      <a:pt x="1806" y="489"/>
                    </a:lnTo>
                    <a:lnTo>
                      <a:pt x="1810" y="489"/>
                    </a:lnTo>
                    <a:lnTo>
                      <a:pt x="1813" y="487"/>
                    </a:lnTo>
                    <a:lnTo>
                      <a:pt x="1817" y="487"/>
                    </a:lnTo>
                    <a:lnTo>
                      <a:pt x="1820" y="487"/>
                    </a:lnTo>
                    <a:lnTo>
                      <a:pt x="1824" y="487"/>
                    </a:lnTo>
                    <a:lnTo>
                      <a:pt x="1827" y="487"/>
                    </a:lnTo>
                    <a:lnTo>
                      <a:pt x="1831" y="487"/>
                    </a:lnTo>
                    <a:lnTo>
                      <a:pt x="1834" y="486"/>
                    </a:lnTo>
                    <a:lnTo>
                      <a:pt x="1838" y="486"/>
                    </a:lnTo>
                    <a:lnTo>
                      <a:pt x="1841" y="486"/>
                    </a:lnTo>
                    <a:lnTo>
                      <a:pt x="1845" y="486"/>
                    </a:lnTo>
                    <a:lnTo>
                      <a:pt x="1848" y="486"/>
                    </a:lnTo>
                    <a:lnTo>
                      <a:pt x="1852" y="486"/>
                    </a:lnTo>
                    <a:lnTo>
                      <a:pt x="1855" y="486"/>
                    </a:lnTo>
                    <a:lnTo>
                      <a:pt x="1859" y="484"/>
                    </a:lnTo>
                    <a:lnTo>
                      <a:pt x="1862" y="484"/>
                    </a:lnTo>
                    <a:lnTo>
                      <a:pt x="1866" y="484"/>
                    </a:lnTo>
                    <a:lnTo>
                      <a:pt x="1869" y="484"/>
                    </a:lnTo>
                    <a:lnTo>
                      <a:pt x="1872" y="484"/>
                    </a:lnTo>
                    <a:lnTo>
                      <a:pt x="1876" y="484"/>
                    </a:lnTo>
                    <a:lnTo>
                      <a:pt x="1879" y="484"/>
                    </a:lnTo>
                    <a:lnTo>
                      <a:pt x="1883" y="484"/>
                    </a:lnTo>
                    <a:lnTo>
                      <a:pt x="1886" y="484"/>
                    </a:lnTo>
                    <a:lnTo>
                      <a:pt x="1890" y="482"/>
                    </a:lnTo>
                    <a:lnTo>
                      <a:pt x="1892" y="482"/>
                    </a:lnTo>
                    <a:lnTo>
                      <a:pt x="1895" y="482"/>
                    </a:lnTo>
                    <a:lnTo>
                      <a:pt x="1899" y="482"/>
                    </a:lnTo>
                    <a:lnTo>
                      <a:pt x="1904" y="482"/>
                    </a:lnTo>
                    <a:lnTo>
                      <a:pt x="1906" y="482"/>
                    </a:lnTo>
                    <a:lnTo>
                      <a:pt x="1909" y="482"/>
                    </a:lnTo>
                    <a:lnTo>
                      <a:pt x="1913" y="482"/>
                    </a:lnTo>
                    <a:lnTo>
                      <a:pt x="1916" y="482"/>
                    </a:lnTo>
                    <a:lnTo>
                      <a:pt x="1919" y="482"/>
                    </a:lnTo>
                    <a:lnTo>
                      <a:pt x="1923" y="482"/>
                    </a:lnTo>
                    <a:lnTo>
                      <a:pt x="1926" y="482"/>
                    </a:lnTo>
                    <a:lnTo>
                      <a:pt x="1930" y="482"/>
                    </a:lnTo>
                    <a:lnTo>
                      <a:pt x="1933" y="482"/>
                    </a:lnTo>
                    <a:lnTo>
                      <a:pt x="1937" y="480"/>
                    </a:lnTo>
                    <a:lnTo>
                      <a:pt x="1940" y="480"/>
                    </a:lnTo>
                    <a:lnTo>
                      <a:pt x="1944" y="480"/>
                    </a:lnTo>
                    <a:lnTo>
                      <a:pt x="1947" y="480"/>
                    </a:lnTo>
                    <a:lnTo>
                      <a:pt x="1951" y="480"/>
                    </a:lnTo>
                    <a:lnTo>
                      <a:pt x="1954" y="480"/>
                    </a:lnTo>
                    <a:lnTo>
                      <a:pt x="1958" y="480"/>
                    </a:lnTo>
                    <a:lnTo>
                      <a:pt x="1961" y="480"/>
                    </a:lnTo>
                    <a:lnTo>
                      <a:pt x="1965" y="480"/>
                    </a:lnTo>
                    <a:lnTo>
                      <a:pt x="1968" y="480"/>
                    </a:lnTo>
                    <a:lnTo>
                      <a:pt x="1972" y="480"/>
                    </a:lnTo>
                    <a:lnTo>
                      <a:pt x="1975" y="480"/>
                    </a:lnTo>
                    <a:lnTo>
                      <a:pt x="1979" y="480"/>
                    </a:lnTo>
                    <a:lnTo>
                      <a:pt x="1982" y="480"/>
                    </a:lnTo>
                    <a:lnTo>
                      <a:pt x="1986" y="480"/>
                    </a:lnTo>
                    <a:lnTo>
                      <a:pt x="1989" y="480"/>
                    </a:lnTo>
                    <a:lnTo>
                      <a:pt x="1993" y="480"/>
                    </a:lnTo>
                    <a:lnTo>
                      <a:pt x="1996" y="482"/>
                    </a:lnTo>
                    <a:lnTo>
                      <a:pt x="2000" y="482"/>
                    </a:lnTo>
                    <a:lnTo>
                      <a:pt x="2003" y="482"/>
                    </a:lnTo>
                    <a:lnTo>
                      <a:pt x="2006" y="482"/>
                    </a:lnTo>
                    <a:lnTo>
                      <a:pt x="2010" y="482"/>
                    </a:lnTo>
                    <a:lnTo>
                      <a:pt x="2013" y="482"/>
                    </a:lnTo>
                    <a:lnTo>
                      <a:pt x="2017" y="482"/>
                    </a:lnTo>
                    <a:lnTo>
                      <a:pt x="2020" y="482"/>
                    </a:lnTo>
                    <a:lnTo>
                      <a:pt x="2024" y="482"/>
                    </a:lnTo>
                    <a:lnTo>
                      <a:pt x="2027" y="482"/>
                    </a:lnTo>
                    <a:lnTo>
                      <a:pt x="2031" y="482"/>
                    </a:lnTo>
                    <a:lnTo>
                      <a:pt x="2034" y="482"/>
                    </a:lnTo>
                    <a:lnTo>
                      <a:pt x="2038" y="482"/>
                    </a:lnTo>
                    <a:lnTo>
                      <a:pt x="2041" y="484"/>
                    </a:lnTo>
                    <a:lnTo>
                      <a:pt x="2045" y="484"/>
                    </a:lnTo>
                    <a:lnTo>
                      <a:pt x="2048" y="484"/>
                    </a:lnTo>
                    <a:lnTo>
                      <a:pt x="2052" y="484"/>
                    </a:lnTo>
                    <a:lnTo>
                      <a:pt x="2055" y="484"/>
                    </a:lnTo>
                    <a:lnTo>
                      <a:pt x="2059" y="484"/>
                    </a:lnTo>
                    <a:lnTo>
                      <a:pt x="2062" y="484"/>
                    </a:lnTo>
                    <a:lnTo>
                      <a:pt x="2066" y="484"/>
                    </a:lnTo>
                    <a:lnTo>
                      <a:pt x="2069" y="484"/>
                    </a:lnTo>
                    <a:lnTo>
                      <a:pt x="2073" y="486"/>
                    </a:lnTo>
                    <a:lnTo>
                      <a:pt x="2076" y="486"/>
                    </a:lnTo>
                    <a:lnTo>
                      <a:pt x="2080" y="486"/>
                    </a:lnTo>
                    <a:lnTo>
                      <a:pt x="2083" y="486"/>
                    </a:lnTo>
                    <a:lnTo>
                      <a:pt x="2087" y="486"/>
                    </a:lnTo>
                    <a:lnTo>
                      <a:pt x="2088" y="486"/>
                    </a:lnTo>
                    <a:lnTo>
                      <a:pt x="2092" y="486"/>
                    </a:lnTo>
                    <a:lnTo>
                      <a:pt x="2097" y="487"/>
                    </a:lnTo>
                    <a:lnTo>
                      <a:pt x="2100" y="487"/>
                    </a:lnTo>
                    <a:lnTo>
                      <a:pt x="2102" y="487"/>
                    </a:lnTo>
                    <a:lnTo>
                      <a:pt x="2106" y="487"/>
                    </a:lnTo>
                    <a:lnTo>
                      <a:pt x="2109" y="487"/>
                    </a:lnTo>
                    <a:lnTo>
                      <a:pt x="2113" y="489"/>
                    </a:lnTo>
                    <a:lnTo>
                      <a:pt x="2116" y="489"/>
                    </a:lnTo>
                    <a:lnTo>
                      <a:pt x="2120" y="489"/>
                    </a:lnTo>
                    <a:lnTo>
                      <a:pt x="2123" y="489"/>
                    </a:lnTo>
                    <a:lnTo>
                      <a:pt x="2127" y="489"/>
                    </a:lnTo>
                    <a:lnTo>
                      <a:pt x="2130" y="489"/>
                    </a:lnTo>
                    <a:lnTo>
                      <a:pt x="2134" y="491"/>
                    </a:lnTo>
                    <a:lnTo>
                      <a:pt x="2137" y="491"/>
                    </a:lnTo>
                    <a:lnTo>
                      <a:pt x="2141" y="491"/>
                    </a:lnTo>
                    <a:lnTo>
                      <a:pt x="2144" y="491"/>
                    </a:lnTo>
                    <a:lnTo>
                      <a:pt x="2147" y="492"/>
                    </a:lnTo>
                    <a:lnTo>
                      <a:pt x="2151" y="492"/>
                    </a:lnTo>
                    <a:lnTo>
                      <a:pt x="2154" y="492"/>
                    </a:lnTo>
                    <a:lnTo>
                      <a:pt x="2158" y="492"/>
                    </a:lnTo>
                    <a:lnTo>
                      <a:pt x="2161" y="494"/>
                    </a:lnTo>
                    <a:lnTo>
                      <a:pt x="2165" y="494"/>
                    </a:lnTo>
                    <a:lnTo>
                      <a:pt x="2168" y="494"/>
                    </a:lnTo>
                    <a:lnTo>
                      <a:pt x="2172" y="494"/>
                    </a:lnTo>
                    <a:lnTo>
                      <a:pt x="2175" y="496"/>
                    </a:lnTo>
                    <a:lnTo>
                      <a:pt x="2179" y="496"/>
                    </a:lnTo>
                    <a:lnTo>
                      <a:pt x="2182" y="496"/>
                    </a:lnTo>
                    <a:lnTo>
                      <a:pt x="2184" y="498"/>
                    </a:lnTo>
                    <a:lnTo>
                      <a:pt x="2188" y="498"/>
                    </a:lnTo>
                    <a:lnTo>
                      <a:pt x="2191" y="498"/>
                    </a:lnTo>
                    <a:moveTo>
                      <a:pt x="1053" y="731"/>
                    </a:moveTo>
                    <a:lnTo>
                      <a:pt x="1056" y="729"/>
                    </a:lnTo>
                    <a:lnTo>
                      <a:pt x="1058" y="728"/>
                    </a:lnTo>
                    <a:lnTo>
                      <a:pt x="1061" y="726"/>
                    </a:lnTo>
                    <a:lnTo>
                      <a:pt x="1065" y="724"/>
                    </a:lnTo>
                    <a:lnTo>
                      <a:pt x="1067" y="724"/>
                    </a:lnTo>
                    <a:lnTo>
                      <a:pt x="1070" y="722"/>
                    </a:lnTo>
                    <a:lnTo>
                      <a:pt x="1074" y="721"/>
                    </a:lnTo>
                    <a:lnTo>
                      <a:pt x="1075" y="719"/>
                    </a:lnTo>
                    <a:lnTo>
                      <a:pt x="1079" y="717"/>
                    </a:lnTo>
                    <a:lnTo>
                      <a:pt x="1081" y="715"/>
                    </a:lnTo>
                    <a:lnTo>
                      <a:pt x="1084" y="714"/>
                    </a:lnTo>
                    <a:lnTo>
                      <a:pt x="1088" y="714"/>
                    </a:lnTo>
                    <a:lnTo>
                      <a:pt x="1089" y="712"/>
                    </a:lnTo>
                    <a:lnTo>
                      <a:pt x="1093" y="710"/>
                    </a:lnTo>
                    <a:lnTo>
                      <a:pt x="1096" y="708"/>
                    </a:lnTo>
                    <a:lnTo>
                      <a:pt x="1098" y="707"/>
                    </a:lnTo>
                    <a:lnTo>
                      <a:pt x="1101" y="705"/>
                    </a:lnTo>
                    <a:lnTo>
                      <a:pt x="1105" y="705"/>
                    </a:lnTo>
                    <a:lnTo>
                      <a:pt x="1107" y="703"/>
                    </a:lnTo>
                    <a:lnTo>
                      <a:pt x="1110" y="701"/>
                    </a:lnTo>
                    <a:lnTo>
                      <a:pt x="1114" y="700"/>
                    </a:lnTo>
                    <a:lnTo>
                      <a:pt x="1115" y="698"/>
                    </a:lnTo>
                    <a:lnTo>
                      <a:pt x="1119" y="696"/>
                    </a:lnTo>
                    <a:lnTo>
                      <a:pt x="1122" y="696"/>
                    </a:lnTo>
                    <a:lnTo>
                      <a:pt x="1124" y="694"/>
                    </a:lnTo>
                    <a:lnTo>
                      <a:pt x="1128" y="693"/>
                    </a:lnTo>
                    <a:lnTo>
                      <a:pt x="1131" y="691"/>
                    </a:lnTo>
                    <a:lnTo>
                      <a:pt x="1133" y="689"/>
                    </a:lnTo>
                    <a:lnTo>
                      <a:pt x="1136" y="689"/>
                    </a:lnTo>
                    <a:lnTo>
                      <a:pt x="1140" y="687"/>
                    </a:lnTo>
                    <a:lnTo>
                      <a:pt x="1141" y="686"/>
                    </a:lnTo>
                    <a:lnTo>
                      <a:pt x="1145" y="684"/>
                    </a:lnTo>
                    <a:lnTo>
                      <a:pt x="1148" y="682"/>
                    </a:lnTo>
                    <a:lnTo>
                      <a:pt x="1150" y="682"/>
                    </a:lnTo>
                    <a:lnTo>
                      <a:pt x="1154" y="681"/>
                    </a:lnTo>
                    <a:lnTo>
                      <a:pt x="1157" y="679"/>
                    </a:lnTo>
                    <a:lnTo>
                      <a:pt x="1159" y="677"/>
                    </a:lnTo>
                    <a:lnTo>
                      <a:pt x="1162" y="675"/>
                    </a:lnTo>
                    <a:lnTo>
                      <a:pt x="1166" y="674"/>
                    </a:lnTo>
                    <a:lnTo>
                      <a:pt x="1169" y="674"/>
                    </a:lnTo>
                    <a:lnTo>
                      <a:pt x="1171" y="672"/>
                    </a:lnTo>
                    <a:lnTo>
                      <a:pt x="1175" y="670"/>
                    </a:lnTo>
                    <a:lnTo>
                      <a:pt x="1178" y="668"/>
                    </a:lnTo>
                    <a:lnTo>
                      <a:pt x="1180" y="668"/>
                    </a:lnTo>
                    <a:lnTo>
                      <a:pt x="1183" y="667"/>
                    </a:lnTo>
                    <a:lnTo>
                      <a:pt x="1187" y="665"/>
                    </a:lnTo>
                    <a:lnTo>
                      <a:pt x="1188" y="663"/>
                    </a:lnTo>
                    <a:lnTo>
                      <a:pt x="1192" y="661"/>
                    </a:lnTo>
                    <a:lnTo>
                      <a:pt x="1195" y="661"/>
                    </a:lnTo>
                    <a:lnTo>
                      <a:pt x="1197" y="660"/>
                    </a:lnTo>
                    <a:lnTo>
                      <a:pt x="1201" y="658"/>
                    </a:lnTo>
                    <a:lnTo>
                      <a:pt x="1204" y="656"/>
                    </a:lnTo>
                    <a:lnTo>
                      <a:pt x="1206" y="654"/>
                    </a:lnTo>
                    <a:lnTo>
                      <a:pt x="1209" y="654"/>
                    </a:lnTo>
                    <a:lnTo>
                      <a:pt x="1213" y="653"/>
                    </a:lnTo>
                    <a:lnTo>
                      <a:pt x="1216" y="651"/>
                    </a:lnTo>
                    <a:lnTo>
                      <a:pt x="1218" y="649"/>
                    </a:lnTo>
                    <a:lnTo>
                      <a:pt x="1222" y="649"/>
                    </a:lnTo>
                    <a:lnTo>
                      <a:pt x="1225" y="647"/>
                    </a:lnTo>
                    <a:lnTo>
                      <a:pt x="1229" y="646"/>
                    </a:lnTo>
                    <a:lnTo>
                      <a:pt x="1230" y="644"/>
                    </a:lnTo>
                    <a:lnTo>
                      <a:pt x="1234" y="644"/>
                    </a:lnTo>
                    <a:lnTo>
                      <a:pt x="1237" y="642"/>
                    </a:lnTo>
                    <a:lnTo>
                      <a:pt x="1239" y="640"/>
                    </a:lnTo>
                    <a:lnTo>
                      <a:pt x="1242" y="639"/>
                    </a:lnTo>
                    <a:lnTo>
                      <a:pt x="1246" y="637"/>
                    </a:lnTo>
                    <a:lnTo>
                      <a:pt x="1248" y="637"/>
                    </a:lnTo>
                    <a:lnTo>
                      <a:pt x="1251" y="635"/>
                    </a:lnTo>
                    <a:lnTo>
                      <a:pt x="1255" y="634"/>
                    </a:lnTo>
                    <a:lnTo>
                      <a:pt x="1258" y="632"/>
                    </a:lnTo>
                    <a:lnTo>
                      <a:pt x="1260" y="632"/>
                    </a:lnTo>
                    <a:lnTo>
                      <a:pt x="1263" y="630"/>
                    </a:lnTo>
                    <a:lnTo>
                      <a:pt x="1267" y="628"/>
                    </a:lnTo>
                    <a:lnTo>
                      <a:pt x="1270" y="628"/>
                    </a:lnTo>
                    <a:lnTo>
                      <a:pt x="1272" y="627"/>
                    </a:lnTo>
                    <a:lnTo>
                      <a:pt x="1275" y="625"/>
                    </a:lnTo>
                    <a:lnTo>
                      <a:pt x="1279" y="623"/>
                    </a:lnTo>
                    <a:lnTo>
                      <a:pt x="1282" y="623"/>
                    </a:lnTo>
                    <a:lnTo>
                      <a:pt x="1284" y="621"/>
                    </a:lnTo>
                    <a:lnTo>
                      <a:pt x="1288" y="620"/>
                    </a:lnTo>
                    <a:lnTo>
                      <a:pt x="1291" y="618"/>
                    </a:lnTo>
                    <a:lnTo>
                      <a:pt x="1295" y="618"/>
                    </a:lnTo>
                    <a:lnTo>
                      <a:pt x="1296" y="616"/>
                    </a:lnTo>
                    <a:lnTo>
                      <a:pt x="1300" y="614"/>
                    </a:lnTo>
                    <a:lnTo>
                      <a:pt x="1303" y="614"/>
                    </a:lnTo>
                    <a:lnTo>
                      <a:pt x="1307" y="613"/>
                    </a:lnTo>
                    <a:lnTo>
                      <a:pt x="1309" y="611"/>
                    </a:lnTo>
                    <a:lnTo>
                      <a:pt x="1312" y="611"/>
                    </a:lnTo>
                    <a:lnTo>
                      <a:pt x="1316" y="609"/>
                    </a:lnTo>
                    <a:lnTo>
                      <a:pt x="1319" y="607"/>
                    </a:lnTo>
                    <a:lnTo>
                      <a:pt x="1321" y="607"/>
                    </a:lnTo>
                    <a:lnTo>
                      <a:pt x="1324" y="606"/>
                    </a:lnTo>
                    <a:lnTo>
                      <a:pt x="1328" y="604"/>
                    </a:lnTo>
                    <a:lnTo>
                      <a:pt x="1331" y="602"/>
                    </a:lnTo>
                    <a:lnTo>
                      <a:pt x="1335" y="602"/>
                    </a:lnTo>
                    <a:lnTo>
                      <a:pt x="1336" y="600"/>
                    </a:lnTo>
                    <a:lnTo>
                      <a:pt x="1340" y="599"/>
                    </a:lnTo>
                    <a:lnTo>
                      <a:pt x="1343" y="599"/>
                    </a:lnTo>
                    <a:lnTo>
                      <a:pt x="1347" y="597"/>
                    </a:lnTo>
                    <a:lnTo>
                      <a:pt x="1349" y="595"/>
                    </a:lnTo>
                    <a:lnTo>
                      <a:pt x="1352" y="595"/>
                    </a:lnTo>
                    <a:lnTo>
                      <a:pt x="1356" y="593"/>
                    </a:lnTo>
                    <a:lnTo>
                      <a:pt x="1359" y="592"/>
                    </a:lnTo>
                    <a:lnTo>
                      <a:pt x="1363" y="592"/>
                    </a:lnTo>
                    <a:lnTo>
                      <a:pt x="1364" y="590"/>
                    </a:lnTo>
                    <a:lnTo>
                      <a:pt x="1368" y="588"/>
                    </a:lnTo>
                    <a:lnTo>
                      <a:pt x="1371" y="588"/>
                    </a:lnTo>
                    <a:lnTo>
                      <a:pt x="1375" y="586"/>
                    </a:lnTo>
                    <a:lnTo>
                      <a:pt x="1376" y="586"/>
                    </a:lnTo>
                    <a:lnTo>
                      <a:pt x="1380" y="585"/>
                    </a:lnTo>
                    <a:lnTo>
                      <a:pt x="1383" y="583"/>
                    </a:lnTo>
                    <a:lnTo>
                      <a:pt x="1387" y="583"/>
                    </a:lnTo>
                    <a:lnTo>
                      <a:pt x="1390" y="581"/>
                    </a:lnTo>
                    <a:lnTo>
                      <a:pt x="1394" y="580"/>
                    </a:lnTo>
                    <a:lnTo>
                      <a:pt x="1396" y="580"/>
                    </a:lnTo>
                    <a:lnTo>
                      <a:pt x="1399" y="578"/>
                    </a:lnTo>
                    <a:lnTo>
                      <a:pt x="1403" y="576"/>
                    </a:lnTo>
                    <a:lnTo>
                      <a:pt x="1406" y="576"/>
                    </a:lnTo>
                    <a:lnTo>
                      <a:pt x="1410" y="574"/>
                    </a:lnTo>
                    <a:lnTo>
                      <a:pt x="1411" y="574"/>
                    </a:lnTo>
                    <a:lnTo>
                      <a:pt x="1415" y="573"/>
                    </a:lnTo>
                    <a:lnTo>
                      <a:pt x="1418" y="571"/>
                    </a:lnTo>
                    <a:lnTo>
                      <a:pt x="1422" y="571"/>
                    </a:lnTo>
                    <a:moveTo>
                      <a:pt x="1227" y="536"/>
                    </a:moveTo>
                    <a:lnTo>
                      <a:pt x="1229" y="534"/>
                    </a:lnTo>
                    <a:lnTo>
                      <a:pt x="1230" y="533"/>
                    </a:lnTo>
                    <a:lnTo>
                      <a:pt x="1232" y="531"/>
                    </a:lnTo>
                    <a:lnTo>
                      <a:pt x="1234" y="527"/>
                    </a:lnTo>
                    <a:lnTo>
                      <a:pt x="1237" y="526"/>
                    </a:lnTo>
                    <a:lnTo>
                      <a:pt x="1239" y="524"/>
                    </a:lnTo>
                    <a:lnTo>
                      <a:pt x="1241" y="522"/>
                    </a:lnTo>
                    <a:lnTo>
                      <a:pt x="1242" y="520"/>
                    </a:lnTo>
                    <a:lnTo>
                      <a:pt x="1246" y="517"/>
                    </a:lnTo>
                    <a:lnTo>
                      <a:pt x="1248" y="515"/>
                    </a:lnTo>
                    <a:lnTo>
                      <a:pt x="1249" y="513"/>
                    </a:lnTo>
                    <a:lnTo>
                      <a:pt x="1251" y="512"/>
                    </a:lnTo>
                    <a:lnTo>
                      <a:pt x="1253" y="508"/>
                    </a:lnTo>
                    <a:lnTo>
                      <a:pt x="1256" y="506"/>
                    </a:lnTo>
                    <a:lnTo>
                      <a:pt x="1258" y="505"/>
                    </a:lnTo>
                    <a:lnTo>
                      <a:pt x="1260" y="503"/>
                    </a:lnTo>
                    <a:lnTo>
                      <a:pt x="1262" y="501"/>
                    </a:lnTo>
                    <a:lnTo>
                      <a:pt x="1265" y="499"/>
                    </a:lnTo>
                    <a:lnTo>
                      <a:pt x="1267" y="496"/>
                    </a:lnTo>
                    <a:lnTo>
                      <a:pt x="1269" y="494"/>
                    </a:lnTo>
                    <a:lnTo>
                      <a:pt x="1270" y="492"/>
                    </a:lnTo>
                    <a:lnTo>
                      <a:pt x="1274" y="491"/>
                    </a:lnTo>
                    <a:lnTo>
                      <a:pt x="1275" y="489"/>
                    </a:lnTo>
                    <a:lnTo>
                      <a:pt x="1277" y="486"/>
                    </a:lnTo>
                    <a:lnTo>
                      <a:pt x="1279" y="484"/>
                    </a:lnTo>
                    <a:lnTo>
                      <a:pt x="1282" y="482"/>
                    </a:lnTo>
                    <a:lnTo>
                      <a:pt x="1284" y="480"/>
                    </a:lnTo>
                    <a:lnTo>
                      <a:pt x="1286" y="479"/>
                    </a:lnTo>
                    <a:lnTo>
                      <a:pt x="1288" y="477"/>
                    </a:lnTo>
                    <a:lnTo>
                      <a:pt x="1289" y="475"/>
                    </a:lnTo>
                    <a:lnTo>
                      <a:pt x="1293" y="472"/>
                    </a:lnTo>
                    <a:lnTo>
                      <a:pt x="1295" y="470"/>
                    </a:lnTo>
                    <a:lnTo>
                      <a:pt x="1296" y="468"/>
                    </a:lnTo>
                    <a:lnTo>
                      <a:pt x="1298" y="466"/>
                    </a:lnTo>
                    <a:lnTo>
                      <a:pt x="1302" y="465"/>
                    </a:lnTo>
                    <a:lnTo>
                      <a:pt x="1303" y="461"/>
                    </a:lnTo>
                    <a:lnTo>
                      <a:pt x="1305" y="459"/>
                    </a:lnTo>
                    <a:lnTo>
                      <a:pt x="1307" y="458"/>
                    </a:lnTo>
                    <a:lnTo>
                      <a:pt x="1310" y="456"/>
                    </a:lnTo>
                    <a:lnTo>
                      <a:pt x="1312" y="454"/>
                    </a:lnTo>
                    <a:lnTo>
                      <a:pt x="1314" y="452"/>
                    </a:lnTo>
                    <a:lnTo>
                      <a:pt x="1317" y="449"/>
                    </a:lnTo>
                    <a:lnTo>
                      <a:pt x="1319" y="447"/>
                    </a:lnTo>
                    <a:lnTo>
                      <a:pt x="1321" y="445"/>
                    </a:lnTo>
                    <a:lnTo>
                      <a:pt x="1322" y="444"/>
                    </a:lnTo>
                    <a:lnTo>
                      <a:pt x="1326" y="442"/>
                    </a:lnTo>
                    <a:lnTo>
                      <a:pt x="1328" y="440"/>
                    </a:lnTo>
                    <a:lnTo>
                      <a:pt x="1329" y="439"/>
                    </a:lnTo>
                    <a:lnTo>
                      <a:pt x="1333" y="435"/>
                    </a:lnTo>
                    <a:lnTo>
                      <a:pt x="1335" y="433"/>
                    </a:lnTo>
                    <a:lnTo>
                      <a:pt x="1336" y="432"/>
                    </a:lnTo>
                    <a:lnTo>
                      <a:pt x="1338" y="430"/>
                    </a:lnTo>
                    <a:lnTo>
                      <a:pt x="1342" y="428"/>
                    </a:lnTo>
                    <a:lnTo>
                      <a:pt x="1343" y="426"/>
                    </a:lnTo>
                    <a:lnTo>
                      <a:pt x="1345" y="425"/>
                    </a:lnTo>
                    <a:lnTo>
                      <a:pt x="1349" y="421"/>
                    </a:lnTo>
                    <a:lnTo>
                      <a:pt x="1350" y="419"/>
                    </a:lnTo>
                    <a:lnTo>
                      <a:pt x="1352" y="418"/>
                    </a:lnTo>
                    <a:lnTo>
                      <a:pt x="1356" y="416"/>
                    </a:lnTo>
                    <a:lnTo>
                      <a:pt x="1357" y="414"/>
                    </a:lnTo>
                    <a:lnTo>
                      <a:pt x="1359" y="412"/>
                    </a:lnTo>
                    <a:lnTo>
                      <a:pt x="1361" y="411"/>
                    </a:lnTo>
                    <a:lnTo>
                      <a:pt x="1364" y="407"/>
                    </a:lnTo>
                    <a:lnTo>
                      <a:pt x="1366" y="405"/>
                    </a:lnTo>
                    <a:lnTo>
                      <a:pt x="1368" y="404"/>
                    </a:lnTo>
                    <a:lnTo>
                      <a:pt x="1371" y="402"/>
                    </a:lnTo>
                    <a:lnTo>
                      <a:pt x="1373" y="400"/>
                    </a:lnTo>
                    <a:lnTo>
                      <a:pt x="1375" y="398"/>
                    </a:lnTo>
                    <a:lnTo>
                      <a:pt x="1378" y="395"/>
                    </a:lnTo>
                    <a:lnTo>
                      <a:pt x="1380" y="393"/>
                    </a:lnTo>
                    <a:lnTo>
                      <a:pt x="1382" y="392"/>
                    </a:lnTo>
                    <a:lnTo>
                      <a:pt x="1385" y="390"/>
                    </a:lnTo>
                    <a:lnTo>
                      <a:pt x="1387" y="388"/>
                    </a:lnTo>
                    <a:lnTo>
                      <a:pt x="1389" y="386"/>
                    </a:lnTo>
                    <a:lnTo>
                      <a:pt x="1392" y="385"/>
                    </a:lnTo>
                    <a:lnTo>
                      <a:pt x="1394" y="383"/>
                    </a:lnTo>
                    <a:lnTo>
                      <a:pt x="1396" y="379"/>
                    </a:lnTo>
                    <a:lnTo>
                      <a:pt x="1399" y="378"/>
                    </a:lnTo>
                    <a:lnTo>
                      <a:pt x="1401" y="376"/>
                    </a:lnTo>
                    <a:lnTo>
                      <a:pt x="1403" y="374"/>
                    </a:lnTo>
                    <a:lnTo>
                      <a:pt x="1406" y="372"/>
                    </a:lnTo>
                    <a:lnTo>
                      <a:pt x="1408" y="371"/>
                    </a:lnTo>
                    <a:lnTo>
                      <a:pt x="1410" y="369"/>
                    </a:lnTo>
                    <a:lnTo>
                      <a:pt x="1413" y="367"/>
                    </a:lnTo>
                    <a:lnTo>
                      <a:pt x="1415" y="365"/>
                    </a:lnTo>
                    <a:lnTo>
                      <a:pt x="1416" y="362"/>
                    </a:lnTo>
                    <a:lnTo>
                      <a:pt x="1420" y="360"/>
                    </a:lnTo>
                    <a:lnTo>
                      <a:pt x="1422" y="358"/>
                    </a:lnTo>
                    <a:lnTo>
                      <a:pt x="1423" y="357"/>
                    </a:lnTo>
                    <a:lnTo>
                      <a:pt x="1427" y="355"/>
                    </a:lnTo>
                    <a:lnTo>
                      <a:pt x="1429" y="353"/>
                    </a:lnTo>
                    <a:lnTo>
                      <a:pt x="1430" y="351"/>
                    </a:lnTo>
                    <a:lnTo>
                      <a:pt x="1434" y="350"/>
                    </a:lnTo>
                    <a:lnTo>
                      <a:pt x="1436" y="348"/>
                    </a:lnTo>
                    <a:lnTo>
                      <a:pt x="1437" y="345"/>
                    </a:lnTo>
                    <a:lnTo>
                      <a:pt x="1441" y="343"/>
                    </a:lnTo>
                    <a:lnTo>
                      <a:pt x="1443" y="341"/>
                    </a:lnTo>
                    <a:lnTo>
                      <a:pt x="1444" y="339"/>
                    </a:lnTo>
                    <a:lnTo>
                      <a:pt x="1448" y="338"/>
                    </a:lnTo>
                    <a:lnTo>
                      <a:pt x="1450" y="336"/>
                    </a:lnTo>
                    <a:lnTo>
                      <a:pt x="1453" y="334"/>
                    </a:lnTo>
                    <a:lnTo>
                      <a:pt x="1455" y="332"/>
                    </a:lnTo>
                    <a:lnTo>
                      <a:pt x="1457" y="331"/>
                    </a:lnTo>
                    <a:lnTo>
                      <a:pt x="1460" y="329"/>
                    </a:lnTo>
                    <a:lnTo>
                      <a:pt x="1462" y="325"/>
                    </a:lnTo>
                    <a:lnTo>
                      <a:pt x="1465" y="324"/>
                    </a:lnTo>
                    <a:lnTo>
                      <a:pt x="1467" y="322"/>
                    </a:lnTo>
                    <a:lnTo>
                      <a:pt x="1469" y="320"/>
                    </a:lnTo>
                    <a:lnTo>
                      <a:pt x="1472" y="318"/>
                    </a:lnTo>
                    <a:lnTo>
                      <a:pt x="1474" y="317"/>
                    </a:lnTo>
                    <a:lnTo>
                      <a:pt x="1476" y="315"/>
                    </a:lnTo>
                    <a:lnTo>
                      <a:pt x="1479" y="313"/>
                    </a:lnTo>
                    <a:lnTo>
                      <a:pt x="1481" y="311"/>
                    </a:lnTo>
                    <a:lnTo>
                      <a:pt x="1484" y="310"/>
                    </a:lnTo>
                    <a:lnTo>
                      <a:pt x="1486" y="308"/>
                    </a:lnTo>
                    <a:lnTo>
                      <a:pt x="1488" y="306"/>
                    </a:lnTo>
                    <a:lnTo>
                      <a:pt x="1491" y="303"/>
                    </a:lnTo>
                    <a:lnTo>
                      <a:pt x="1493" y="301"/>
                    </a:lnTo>
                    <a:lnTo>
                      <a:pt x="1495" y="299"/>
                    </a:lnTo>
                    <a:lnTo>
                      <a:pt x="1498" y="298"/>
                    </a:lnTo>
                    <a:lnTo>
                      <a:pt x="1500" y="296"/>
                    </a:lnTo>
                    <a:lnTo>
                      <a:pt x="1503" y="294"/>
                    </a:lnTo>
                    <a:lnTo>
                      <a:pt x="1505" y="292"/>
                    </a:lnTo>
                    <a:lnTo>
                      <a:pt x="1509" y="291"/>
                    </a:lnTo>
                    <a:lnTo>
                      <a:pt x="1510" y="289"/>
                    </a:lnTo>
                    <a:lnTo>
                      <a:pt x="1512" y="287"/>
                    </a:lnTo>
                    <a:lnTo>
                      <a:pt x="1516" y="285"/>
                    </a:lnTo>
                    <a:lnTo>
                      <a:pt x="1517" y="284"/>
                    </a:lnTo>
                    <a:lnTo>
                      <a:pt x="1521" y="282"/>
                    </a:lnTo>
                    <a:lnTo>
                      <a:pt x="1523" y="280"/>
                    </a:lnTo>
                    <a:lnTo>
                      <a:pt x="1524" y="278"/>
                    </a:lnTo>
                    <a:lnTo>
                      <a:pt x="1528" y="275"/>
                    </a:lnTo>
                    <a:lnTo>
                      <a:pt x="1530" y="273"/>
                    </a:lnTo>
                    <a:lnTo>
                      <a:pt x="1533" y="271"/>
                    </a:lnTo>
                    <a:lnTo>
                      <a:pt x="1535" y="270"/>
                    </a:lnTo>
                    <a:lnTo>
                      <a:pt x="1538" y="268"/>
                    </a:lnTo>
                    <a:lnTo>
                      <a:pt x="1540" y="266"/>
                    </a:lnTo>
                    <a:lnTo>
                      <a:pt x="1542" y="264"/>
                    </a:lnTo>
                    <a:lnTo>
                      <a:pt x="1545" y="263"/>
                    </a:lnTo>
                    <a:lnTo>
                      <a:pt x="1547" y="261"/>
                    </a:lnTo>
                    <a:lnTo>
                      <a:pt x="1550" y="259"/>
                    </a:lnTo>
                    <a:lnTo>
                      <a:pt x="1552" y="257"/>
                    </a:lnTo>
                    <a:lnTo>
                      <a:pt x="1554" y="256"/>
                    </a:lnTo>
                    <a:lnTo>
                      <a:pt x="1557" y="254"/>
                    </a:lnTo>
                    <a:lnTo>
                      <a:pt x="1561" y="252"/>
                    </a:lnTo>
                    <a:lnTo>
                      <a:pt x="1563" y="250"/>
                    </a:lnTo>
                    <a:lnTo>
                      <a:pt x="1564" y="249"/>
                    </a:lnTo>
                    <a:lnTo>
                      <a:pt x="1568" y="247"/>
                    </a:lnTo>
                    <a:lnTo>
                      <a:pt x="1570" y="245"/>
                    </a:lnTo>
                    <a:lnTo>
                      <a:pt x="1573" y="244"/>
                    </a:lnTo>
                    <a:lnTo>
                      <a:pt x="1575" y="242"/>
                    </a:lnTo>
                    <a:lnTo>
                      <a:pt x="1577" y="240"/>
                    </a:lnTo>
                    <a:lnTo>
                      <a:pt x="1580" y="238"/>
                    </a:lnTo>
                    <a:lnTo>
                      <a:pt x="1582" y="235"/>
                    </a:lnTo>
                    <a:lnTo>
                      <a:pt x="1585" y="233"/>
                    </a:lnTo>
                    <a:lnTo>
                      <a:pt x="1587" y="233"/>
                    </a:lnTo>
                    <a:lnTo>
                      <a:pt x="1591" y="230"/>
                    </a:lnTo>
                    <a:lnTo>
                      <a:pt x="1592" y="228"/>
                    </a:lnTo>
                    <a:lnTo>
                      <a:pt x="1596" y="226"/>
                    </a:lnTo>
                    <a:lnTo>
                      <a:pt x="1597" y="224"/>
                    </a:lnTo>
                    <a:lnTo>
                      <a:pt x="1601" y="223"/>
                    </a:lnTo>
                    <a:lnTo>
                      <a:pt x="1603" y="221"/>
                    </a:lnTo>
                    <a:lnTo>
                      <a:pt x="1606" y="219"/>
                    </a:lnTo>
                    <a:lnTo>
                      <a:pt x="1608" y="217"/>
                    </a:lnTo>
                    <a:lnTo>
                      <a:pt x="1611" y="216"/>
                    </a:lnTo>
                    <a:lnTo>
                      <a:pt x="1613" y="214"/>
                    </a:lnTo>
                    <a:lnTo>
                      <a:pt x="1617" y="212"/>
                    </a:lnTo>
                    <a:lnTo>
                      <a:pt x="1618" y="210"/>
                    </a:lnTo>
                    <a:lnTo>
                      <a:pt x="1620" y="209"/>
                    </a:lnTo>
                    <a:lnTo>
                      <a:pt x="1624" y="207"/>
                    </a:lnTo>
                    <a:lnTo>
                      <a:pt x="1625" y="205"/>
                    </a:lnTo>
                    <a:lnTo>
                      <a:pt x="1629" y="203"/>
                    </a:lnTo>
                    <a:lnTo>
                      <a:pt x="1631" y="202"/>
                    </a:lnTo>
                    <a:lnTo>
                      <a:pt x="1634" y="200"/>
                    </a:lnTo>
                    <a:lnTo>
                      <a:pt x="1636" y="198"/>
                    </a:lnTo>
                    <a:lnTo>
                      <a:pt x="1639" y="197"/>
                    </a:lnTo>
                    <a:lnTo>
                      <a:pt x="1641" y="195"/>
                    </a:lnTo>
                    <a:lnTo>
                      <a:pt x="1644" y="193"/>
                    </a:lnTo>
                    <a:lnTo>
                      <a:pt x="1646" y="191"/>
                    </a:lnTo>
                    <a:lnTo>
                      <a:pt x="1650" y="190"/>
                    </a:lnTo>
                    <a:lnTo>
                      <a:pt x="1651" y="188"/>
                    </a:lnTo>
                    <a:lnTo>
                      <a:pt x="1655" y="186"/>
                    </a:lnTo>
                    <a:lnTo>
                      <a:pt x="1657" y="184"/>
                    </a:lnTo>
                    <a:lnTo>
                      <a:pt x="1660" y="183"/>
                    </a:lnTo>
                    <a:lnTo>
                      <a:pt x="1662" y="181"/>
                    </a:lnTo>
                    <a:lnTo>
                      <a:pt x="1665" y="179"/>
                    </a:lnTo>
                    <a:lnTo>
                      <a:pt x="1667" y="177"/>
                    </a:lnTo>
                    <a:lnTo>
                      <a:pt x="1671" y="176"/>
                    </a:lnTo>
                    <a:lnTo>
                      <a:pt x="1672" y="174"/>
                    </a:lnTo>
                    <a:lnTo>
                      <a:pt x="1676" y="172"/>
                    </a:lnTo>
                    <a:lnTo>
                      <a:pt x="1678" y="170"/>
                    </a:lnTo>
                    <a:lnTo>
                      <a:pt x="1681" y="169"/>
                    </a:lnTo>
                    <a:lnTo>
                      <a:pt x="1683" y="167"/>
                    </a:lnTo>
                    <a:lnTo>
                      <a:pt x="1686" y="165"/>
                    </a:lnTo>
                    <a:lnTo>
                      <a:pt x="1688" y="163"/>
                    </a:lnTo>
                    <a:lnTo>
                      <a:pt x="1691" y="162"/>
                    </a:lnTo>
                    <a:lnTo>
                      <a:pt x="1693" y="160"/>
                    </a:lnTo>
                    <a:lnTo>
                      <a:pt x="1697" y="158"/>
                    </a:lnTo>
                    <a:lnTo>
                      <a:pt x="1698" y="156"/>
                    </a:lnTo>
                    <a:lnTo>
                      <a:pt x="1702" y="155"/>
                    </a:lnTo>
                    <a:lnTo>
                      <a:pt x="1704" y="153"/>
                    </a:lnTo>
                    <a:lnTo>
                      <a:pt x="1707" y="151"/>
                    </a:lnTo>
                    <a:lnTo>
                      <a:pt x="1709" y="151"/>
                    </a:lnTo>
                    <a:lnTo>
                      <a:pt x="1712" y="148"/>
                    </a:lnTo>
                    <a:lnTo>
                      <a:pt x="1714" y="148"/>
                    </a:lnTo>
                    <a:lnTo>
                      <a:pt x="1718" y="146"/>
                    </a:lnTo>
                    <a:lnTo>
                      <a:pt x="1721" y="144"/>
                    </a:lnTo>
                    <a:lnTo>
                      <a:pt x="1723" y="143"/>
                    </a:lnTo>
                    <a:lnTo>
                      <a:pt x="1726" y="141"/>
                    </a:lnTo>
                    <a:lnTo>
                      <a:pt x="1728" y="139"/>
                    </a:lnTo>
                    <a:lnTo>
                      <a:pt x="1731" y="137"/>
                    </a:lnTo>
                    <a:lnTo>
                      <a:pt x="1733" y="136"/>
                    </a:lnTo>
                    <a:lnTo>
                      <a:pt x="1737" y="134"/>
                    </a:lnTo>
                    <a:lnTo>
                      <a:pt x="1738" y="132"/>
                    </a:lnTo>
                    <a:lnTo>
                      <a:pt x="1742" y="130"/>
                    </a:lnTo>
                    <a:lnTo>
                      <a:pt x="1744" y="129"/>
                    </a:lnTo>
                    <a:lnTo>
                      <a:pt x="1747" y="127"/>
                    </a:lnTo>
                    <a:lnTo>
                      <a:pt x="1749" y="125"/>
                    </a:lnTo>
                    <a:lnTo>
                      <a:pt x="1752" y="123"/>
                    </a:lnTo>
                    <a:lnTo>
                      <a:pt x="1756" y="122"/>
                    </a:lnTo>
                    <a:lnTo>
                      <a:pt x="1758" y="120"/>
                    </a:lnTo>
                    <a:lnTo>
                      <a:pt x="1761" y="118"/>
                    </a:lnTo>
                    <a:lnTo>
                      <a:pt x="1763" y="116"/>
                    </a:lnTo>
                    <a:lnTo>
                      <a:pt x="1766" y="115"/>
                    </a:lnTo>
                    <a:lnTo>
                      <a:pt x="1768" y="115"/>
                    </a:lnTo>
                    <a:lnTo>
                      <a:pt x="1772" y="111"/>
                    </a:lnTo>
                    <a:lnTo>
                      <a:pt x="1773" y="111"/>
                    </a:lnTo>
                    <a:lnTo>
                      <a:pt x="1777" y="109"/>
                    </a:lnTo>
                    <a:lnTo>
                      <a:pt x="1780" y="108"/>
                    </a:lnTo>
                    <a:lnTo>
                      <a:pt x="1782" y="106"/>
                    </a:lnTo>
                    <a:lnTo>
                      <a:pt x="1785" y="104"/>
                    </a:lnTo>
                    <a:lnTo>
                      <a:pt x="1787" y="103"/>
                    </a:lnTo>
                    <a:lnTo>
                      <a:pt x="1791" y="101"/>
                    </a:lnTo>
                    <a:lnTo>
                      <a:pt x="1792" y="99"/>
                    </a:lnTo>
                    <a:lnTo>
                      <a:pt x="1796" y="97"/>
                    </a:lnTo>
                    <a:lnTo>
                      <a:pt x="1799" y="96"/>
                    </a:lnTo>
                    <a:lnTo>
                      <a:pt x="1801" y="94"/>
                    </a:lnTo>
                    <a:lnTo>
                      <a:pt x="1805" y="92"/>
                    </a:lnTo>
                    <a:lnTo>
                      <a:pt x="1806" y="90"/>
                    </a:lnTo>
                    <a:lnTo>
                      <a:pt x="1810" y="89"/>
                    </a:lnTo>
                    <a:lnTo>
                      <a:pt x="1812" y="89"/>
                    </a:lnTo>
                    <a:lnTo>
                      <a:pt x="1815" y="87"/>
                    </a:lnTo>
                    <a:lnTo>
                      <a:pt x="1819" y="85"/>
                    </a:lnTo>
                    <a:lnTo>
                      <a:pt x="1820" y="83"/>
                    </a:lnTo>
                    <a:lnTo>
                      <a:pt x="1824" y="82"/>
                    </a:lnTo>
                    <a:lnTo>
                      <a:pt x="1825" y="80"/>
                    </a:lnTo>
                    <a:lnTo>
                      <a:pt x="1829" y="78"/>
                    </a:lnTo>
                    <a:lnTo>
                      <a:pt x="1831" y="76"/>
                    </a:lnTo>
                    <a:lnTo>
                      <a:pt x="1834" y="75"/>
                    </a:lnTo>
                    <a:lnTo>
                      <a:pt x="1838" y="73"/>
                    </a:lnTo>
                    <a:lnTo>
                      <a:pt x="1839" y="73"/>
                    </a:lnTo>
                    <a:lnTo>
                      <a:pt x="1843" y="71"/>
                    </a:lnTo>
                    <a:lnTo>
                      <a:pt x="1845" y="69"/>
                    </a:lnTo>
                    <a:lnTo>
                      <a:pt x="1848" y="68"/>
                    </a:lnTo>
                    <a:lnTo>
                      <a:pt x="1852" y="66"/>
                    </a:lnTo>
                    <a:lnTo>
                      <a:pt x="1853" y="64"/>
                    </a:lnTo>
                    <a:lnTo>
                      <a:pt x="1857" y="62"/>
                    </a:lnTo>
                    <a:lnTo>
                      <a:pt x="1859" y="61"/>
                    </a:lnTo>
                    <a:lnTo>
                      <a:pt x="1862" y="59"/>
                    </a:lnTo>
                    <a:lnTo>
                      <a:pt x="1866" y="57"/>
                    </a:lnTo>
                    <a:lnTo>
                      <a:pt x="1867" y="56"/>
                    </a:lnTo>
                    <a:lnTo>
                      <a:pt x="1871" y="56"/>
                    </a:lnTo>
                    <a:lnTo>
                      <a:pt x="1872" y="54"/>
                    </a:lnTo>
                    <a:lnTo>
                      <a:pt x="1876" y="52"/>
                    </a:lnTo>
                    <a:lnTo>
                      <a:pt x="1879" y="50"/>
                    </a:lnTo>
                    <a:lnTo>
                      <a:pt x="1881" y="49"/>
                    </a:lnTo>
                    <a:lnTo>
                      <a:pt x="1885" y="47"/>
                    </a:lnTo>
                    <a:lnTo>
                      <a:pt x="1886" y="45"/>
                    </a:lnTo>
                    <a:lnTo>
                      <a:pt x="1890" y="43"/>
                    </a:lnTo>
                    <a:lnTo>
                      <a:pt x="1893" y="42"/>
                    </a:lnTo>
                    <a:lnTo>
                      <a:pt x="1895" y="42"/>
                    </a:lnTo>
                    <a:lnTo>
                      <a:pt x="1899" y="40"/>
                    </a:lnTo>
                    <a:lnTo>
                      <a:pt x="1900" y="38"/>
                    </a:lnTo>
                    <a:lnTo>
                      <a:pt x="1904" y="36"/>
                    </a:lnTo>
                    <a:lnTo>
                      <a:pt x="1907" y="35"/>
                    </a:lnTo>
                    <a:lnTo>
                      <a:pt x="1909" y="33"/>
                    </a:lnTo>
                    <a:lnTo>
                      <a:pt x="1913" y="31"/>
                    </a:lnTo>
                    <a:lnTo>
                      <a:pt x="1916" y="29"/>
                    </a:lnTo>
                    <a:lnTo>
                      <a:pt x="1918" y="29"/>
                    </a:lnTo>
                    <a:lnTo>
                      <a:pt x="1921" y="28"/>
                    </a:lnTo>
                    <a:lnTo>
                      <a:pt x="1923" y="26"/>
                    </a:lnTo>
                    <a:lnTo>
                      <a:pt x="1926" y="24"/>
                    </a:lnTo>
                    <a:lnTo>
                      <a:pt x="1930" y="22"/>
                    </a:lnTo>
                    <a:lnTo>
                      <a:pt x="1932" y="21"/>
                    </a:lnTo>
                    <a:lnTo>
                      <a:pt x="1935" y="19"/>
                    </a:lnTo>
                    <a:lnTo>
                      <a:pt x="1939" y="19"/>
                    </a:lnTo>
                    <a:lnTo>
                      <a:pt x="1940" y="17"/>
                    </a:lnTo>
                    <a:lnTo>
                      <a:pt x="1944" y="15"/>
                    </a:lnTo>
                    <a:lnTo>
                      <a:pt x="1947" y="14"/>
                    </a:lnTo>
                    <a:lnTo>
                      <a:pt x="1949" y="12"/>
                    </a:lnTo>
                    <a:lnTo>
                      <a:pt x="1953" y="10"/>
                    </a:lnTo>
                    <a:lnTo>
                      <a:pt x="1954" y="9"/>
                    </a:lnTo>
                    <a:lnTo>
                      <a:pt x="1958" y="7"/>
                    </a:lnTo>
                    <a:lnTo>
                      <a:pt x="1961" y="7"/>
                    </a:lnTo>
                    <a:lnTo>
                      <a:pt x="1963" y="5"/>
                    </a:lnTo>
                    <a:lnTo>
                      <a:pt x="1966" y="3"/>
                    </a:lnTo>
                    <a:lnTo>
                      <a:pt x="1970" y="2"/>
                    </a:lnTo>
                    <a:lnTo>
                      <a:pt x="1972" y="0"/>
                    </a:lnTo>
                    <a:lnTo>
                      <a:pt x="1975" y="0"/>
                    </a:lnTo>
                    <a:moveTo>
                      <a:pt x="1049" y="728"/>
                    </a:moveTo>
                    <a:lnTo>
                      <a:pt x="1051" y="726"/>
                    </a:lnTo>
                    <a:lnTo>
                      <a:pt x="1053" y="724"/>
                    </a:lnTo>
                    <a:lnTo>
                      <a:pt x="1054" y="721"/>
                    </a:lnTo>
                    <a:lnTo>
                      <a:pt x="1056" y="719"/>
                    </a:lnTo>
                    <a:lnTo>
                      <a:pt x="1058" y="717"/>
                    </a:lnTo>
                    <a:lnTo>
                      <a:pt x="1060" y="714"/>
                    </a:lnTo>
                    <a:lnTo>
                      <a:pt x="1063" y="712"/>
                    </a:lnTo>
                    <a:lnTo>
                      <a:pt x="1065" y="710"/>
                    </a:lnTo>
                    <a:lnTo>
                      <a:pt x="1067" y="708"/>
                    </a:lnTo>
                    <a:lnTo>
                      <a:pt x="1068" y="705"/>
                    </a:lnTo>
                    <a:lnTo>
                      <a:pt x="1070" y="703"/>
                    </a:lnTo>
                    <a:lnTo>
                      <a:pt x="1072" y="701"/>
                    </a:lnTo>
                    <a:lnTo>
                      <a:pt x="1074" y="700"/>
                    </a:lnTo>
                    <a:lnTo>
                      <a:pt x="1075" y="696"/>
                    </a:lnTo>
                    <a:lnTo>
                      <a:pt x="1077" y="694"/>
                    </a:lnTo>
                    <a:lnTo>
                      <a:pt x="1079" y="693"/>
                    </a:lnTo>
                    <a:lnTo>
                      <a:pt x="1082" y="691"/>
                    </a:lnTo>
                    <a:lnTo>
                      <a:pt x="1084" y="687"/>
                    </a:lnTo>
                    <a:lnTo>
                      <a:pt x="1086" y="686"/>
                    </a:lnTo>
                    <a:lnTo>
                      <a:pt x="1088" y="684"/>
                    </a:lnTo>
                    <a:lnTo>
                      <a:pt x="1089" y="682"/>
                    </a:lnTo>
                    <a:lnTo>
                      <a:pt x="1091" y="681"/>
                    </a:lnTo>
                    <a:lnTo>
                      <a:pt x="1093" y="677"/>
                    </a:lnTo>
                    <a:lnTo>
                      <a:pt x="1094" y="675"/>
                    </a:lnTo>
                    <a:lnTo>
                      <a:pt x="1096" y="674"/>
                    </a:lnTo>
                    <a:lnTo>
                      <a:pt x="1100" y="672"/>
                    </a:lnTo>
                    <a:lnTo>
                      <a:pt x="1101" y="668"/>
                    </a:lnTo>
                    <a:lnTo>
                      <a:pt x="1103" y="667"/>
                    </a:lnTo>
                    <a:lnTo>
                      <a:pt x="1105" y="665"/>
                    </a:lnTo>
                    <a:lnTo>
                      <a:pt x="1107" y="663"/>
                    </a:lnTo>
                    <a:lnTo>
                      <a:pt x="1108" y="660"/>
                    </a:lnTo>
                    <a:lnTo>
                      <a:pt x="1110" y="658"/>
                    </a:lnTo>
                    <a:lnTo>
                      <a:pt x="1114" y="656"/>
                    </a:lnTo>
                    <a:lnTo>
                      <a:pt x="1115" y="654"/>
                    </a:lnTo>
                    <a:lnTo>
                      <a:pt x="1117" y="651"/>
                    </a:lnTo>
                    <a:lnTo>
                      <a:pt x="1119" y="649"/>
                    </a:lnTo>
                    <a:lnTo>
                      <a:pt x="1121" y="647"/>
                    </a:lnTo>
                    <a:lnTo>
                      <a:pt x="1122" y="646"/>
                    </a:lnTo>
                    <a:lnTo>
                      <a:pt x="1124" y="642"/>
                    </a:lnTo>
                    <a:lnTo>
                      <a:pt x="1126" y="640"/>
                    </a:lnTo>
                    <a:lnTo>
                      <a:pt x="1128" y="639"/>
                    </a:lnTo>
                    <a:lnTo>
                      <a:pt x="1131" y="637"/>
                    </a:lnTo>
                    <a:lnTo>
                      <a:pt x="1133" y="634"/>
                    </a:lnTo>
                    <a:lnTo>
                      <a:pt x="1135" y="632"/>
                    </a:lnTo>
                    <a:lnTo>
                      <a:pt x="1136" y="630"/>
                    </a:lnTo>
                    <a:lnTo>
                      <a:pt x="1138" y="628"/>
                    </a:lnTo>
                    <a:lnTo>
                      <a:pt x="1140" y="625"/>
                    </a:lnTo>
                    <a:lnTo>
                      <a:pt x="1141" y="623"/>
                    </a:lnTo>
                    <a:lnTo>
                      <a:pt x="1145" y="621"/>
                    </a:lnTo>
                    <a:lnTo>
                      <a:pt x="1147" y="620"/>
                    </a:lnTo>
                    <a:lnTo>
                      <a:pt x="1148" y="616"/>
                    </a:lnTo>
                    <a:lnTo>
                      <a:pt x="1150" y="614"/>
                    </a:lnTo>
                    <a:lnTo>
                      <a:pt x="1152" y="613"/>
                    </a:lnTo>
                    <a:lnTo>
                      <a:pt x="1154" y="611"/>
                    </a:lnTo>
                    <a:lnTo>
                      <a:pt x="1155" y="607"/>
                    </a:lnTo>
                    <a:lnTo>
                      <a:pt x="1159" y="606"/>
                    </a:lnTo>
                    <a:lnTo>
                      <a:pt x="1161" y="604"/>
                    </a:lnTo>
                    <a:lnTo>
                      <a:pt x="1162" y="602"/>
                    </a:lnTo>
                    <a:lnTo>
                      <a:pt x="1164" y="600"/>
                    </a:lnTo>
                    <a:lnTo>
                      <a:pt x="1166" y="597"/>
                    </a:lnTo>
                    <a:lnTo>
                      <a:pt x="1168" y="595"/>
                    </a:lnTo>
                    <a:lnTo>
                      <a:pt x="1171" y="593"/>
                    </a:lnTo>
                    <a:lnTo>
                      <a:pt x="1173" y="592"/>
                    </a:lnTo>
                    <a:lnTo>
                      <a:pt x="1175" y="588"/>
                    </a:lnTo>
                    <a:lnTo>
                      <a:pt x="1176" y="586"/>
                    </a:lnTo>
                    <a:lnTo>
                      <a:pt x="1178" y="585"/>
                    </a:lnTo>
                    <a:lnTo>
                      <a:pt x="1180" y="583"/>
                    </a:lnTo>
                    <a:lnTo>
                      <a:pt x="1183" y="581"/>
                    </a:lnTo>
                    <a:lnTo>
                      <a:pt x="1185" y="578"/>
                    </a:lnTo>
                    <a:lnTo>
                      <a:pt x="1187" y="576"/>
                    </a:lnTo>
                    <a:lnTo>
                      <a:pt x="1188" y="574"/>
                    </a:lnTo>
                    <a:lnTo>
                      <a:pt x="1190" y="573"/>
                    </a:lnTo>
                    <a:lnTo>
                      <a:pt x="1192" y="571"/>
                    </a:lnTo>
                    <a:lnTo>
                      <a:pt x="1195" y="567"/>
                    </a:lnTo>
                    <a:lnTo>
                      <a:pt x="1197" y="566"/>
                    </a:lnTo>
                    <a:lnTo>
                      <a:pt x="1199" y="564"/>
                    </a:lnTo>
                    <a:lnTo>
                      <a:pt x="1201" y="562"/>
                    </a:lnTo>
                    <a:lnTo>
                      <a:pt x="1202" y="559"/>
                    </a:lnTo>
                    <a:lnTo>
                      <a:pt x="1206" y="557"/>
                    </a:lnTo>
                    <a:lnTo>
                      <a:pt x="1208" y="555"/>
                    </a:lnTo>
                    <a:lnTo>
                      <a:pt x="1209" y="553"/>
                    </a:lnTo>
                    <a:lnTo>
                      <a:pt x="1211" y="550"/>
                    </a:lnTo>
                    <a:lnTo>
                      <a:pt x="1213" y="548"/>
                    </a:lnTo>
                    <a:lnTo>
                      <a:pt x="1216" y="546"/>
                    </a:lnTo>
                    <a:lnTo>
                      <a:pt x="1218" y="545"/>
                    </a:lnTo>
                    <a:lnTo>
                      <a:pt x="1220" y="543"/>
                    </a:lnTo>
                    <a:lnTo>
                      <a:pt x="1222" y="539"/>
                    </a:lnTo>
                    <a:lnTo>
                      <a:pt x="1223" y="538"/>
                    </a:lnTo>
                    <a:lnTo>
                      <a:pt x="1227" y="536"/>
                    </a:lnTo>
                    <a:moveTo>
                      <a:pt x="1044" y="726"/>
                    </a:moveTo>
                    <a:lnTo>
                      <a:pt x="1044" y="724"/>
                    </a:lnTo>
                    <a:lnTo>
                      <a:pt x="1046" y="721"/>
                    </a:lnTo>
                    <a:lnTo>
                      <a:pt x="1046" y="719"/>
                    </a:lnTo>
                    <a:lnTo>
                      <a:pt x="1046" y="715"/>
                    </a:lnTo>
                    <a:lnTo>
                      <a:pt x="1047" y="714"/>
                    </a:lnTo>
                    <a:lnTo>
                      <a:pt x="1047" y="710"/>
                    </a:lnTo>
                    <a:lnTo>
                      <a:pt x="1047" y="708"/>
                    </a:lnTo>
                    <a:lnTo>
                      <a:pt x="1049" y="705"/>
                    </a:lnTo>
                    <a:lnTo>
                      <a:pt x="1049" y="703"/>
                    </a:lnTo>
                    <a:lnTo>
                      <a:pt x="1051" y="700"/>
                    </a:lnTo>
                    <a:lnTo>
                      <a:pt x="1051" y="698"/>
                    </a:lnTo>
                    <a:lnTo>
                      <a:pt x="1051" y="694"/>
                    </a:lnTo>
                    <a:lnTo>
                      <a:pt x="1053" y="693"/>
                    </a:lnTo>
                    <a:lnTo>
                      <a:pt x="1053" y="689"/>
                    </a:lnTo>
                    <a:lnTo>
                      <a:pt x="1054" y="687"/>
                    </a:lnTo>
                    <a:lnTo>
                      <a:pt x="1054" y="684"/>
                    </a:lnTo>
                    <a:lnTo>
                      <a:pt x="1054" y="682"/>
                    </a:lnTo>
                    <a:lnTo>
                      <a:pt x="1056" y="681"/>
                    </a:lnTo>
                    <a:lnTo>
                      <a:pt x="1056" y="677"/>
                    </a:lnTo>
                    <a:lnTo>
                      <a:pt x="1058" y="674"/>
                    </a:lnTo>
                    <a:lnTo>
                      <a:pt x="1058" y="672"/>
                    </a:lnTo>
                    <a:lnTo>
                      <a:pt x="1058" y="668"/>
                    </a:lnTo>
                    <a:lnTo>
                      <a:pt x="1060" y="667"/>
                    </a:lnTo>
                    <a:lnTo>
                      <a:pt x="1060" y="665"/>
                    </a:lnTo>
                    <a:lnTo>
                      <a:pt x="1061" y="661"/>
                    </a:lnTo>
                    <a:lnTo>
                      <a:pt x="1061" y="660"/>
                    </a:lnTo>
                    <a:lnTo>
                      <a:pt x="1061" y="656"/>
                    </a:lnTo>
                    <a:lnTo>
                      <a:pt x="1063" y="654"/>
                    </a:lnTo>
                    <a:lnTo>
                      <a:pt x="1063" y="651"/>
                    </a:lnTo>
                    <a:lnTo>
                      <a:pt x="1065" y="649"/>
                    </a:lnTo>
                    <a:lnTo>
                      <a:pt x="1065" y="646"/>
                    </a:lnTo>
                    <a:lnTo>
                      <a:pt x="1065" y="644"/>
                    </a:lnTo>
                    <a:lnTo>
                      <a:pt x="1067" y="640"/>
                    </a:lnTo>
                    <a:lnTo>
                      <a:pt x="1067" y="639"/>
                    </a:lnTo>
                    <a:lnTo>
                      <a:pt x="1068" y="635"/>
                    </a:lnTo>
                    <a:lnTo>
                      <a:pt x="1068" y="634"/>
                    </a:lnTo>
                    <a:lnTo>
                      <a:pt x="1068" y="630"/>
                    </a:lnTo>
                    <a:lnTo>
                      <a:pt x="1070" y="628"/>
                    </a:lnTo>
                    <a:lnTo>
                      <a:pt x="1070" y="625"/>
                    </a:lnTo>
                    <a:lnTo>
                      <a:pt x="1070" y="623"/>
                    </a:lnTo>
                    <a:lnTo>
                      <a:pt x="1072" y="620"/>
                    </a:lnTo>
                    <a:lnTo>
                      <a:pt x="1072" y="618"/>
                    </a:lnTo>
                    <a:lnTo>
                      <a:pt x="1074" y="614"/>
                    </a:lnTo>
                    <a:lnTo>
                      <a:pt x="1074" y="613"/>
                    </a:lnTo>
                    <a:lnTo>
                      <a:pt x="1075" y="609"/>
                    </a:lnTo>
                    <a:lnTo>
                      <a:pt x="1075" y="607"/>
                    </a:lnTo>
                    <a:lnTo>
                      <a:pt x="1075" y="604"/>
                    </a:lnTo>
                    <a:lnTo>
                      <a:pt x="1077" y="602"/>
                    </a:lnTo>
                    <a:lnTo>
                      <a:pt x="1077" y="600"/>
                    </a:lnTo>
                    <a:lnTo>
                      <a:pt x="1079" y="597"/>
                    </a:lnTo>
                    <a:lnTo>
                      <a:pt x="1079" y="595"/>
                    </a:lnTo>
                    <a:lnTo>
                      <a:pt x="1079" y="592"/>
                    </a:lnTo>
                    <a:lnTo>
                      <a:pt x="1081" y="590"/>
                    </a:lnTo>
                    <a:lnTo>
                      <a:pt x="1081" y="586"/>
                    </a:lnTo>
                    <a:lnTo>
                      <a:pt x="1082" y="585"/>
                    </a:lnTo>
                    <a:lnTo>
                      <a:pt x="1082" y="581"/>
                    </a:lnTo>
                    <a:lnTo>
                      <a:pt x="1082" y="580"/>
                    </a:lnTo>
                    <a:lnTo>
                      <a:pt x="1084" y="576"/>
                    </a:lnTo>
                    <a:lnTo>
                      <a:pt x="1084" y="574"/>
                    </a:lnTo>
                    <a:lnTo>
                      <a:pt x="1086" y="571"/>
                    </a:lnTo>
                    <a:lnTo>
                      <a:pt x="1086" y="569"/>
                    </a:lnTo>
                    <a:lnTo>
                      <a:pt x="1086" y="566"/>
                    </a:lnTo>
                    <a:lnTo>
                      <a:pt x="1088" y="564"/>
                    </a:lnTo>
                    <a:lnTo>
                      <a:pt x="1088" y="560"/>
                    </a:lnTo>
                    <a:lnTo>
                      <a:pt x="1089" y="559"/>
                    </a:lnTo>
                    <a:lnTo>
                      <a:pt x="1089" y="555"/>
                    </a:lnTo>
                    <a:lnTo>
                      <a:pt x="1091" y="553"/>
                    </a:lnTo>
                    <a:lnTo>
                      <a:pt x="1091" y="550"/>
                    </a:lnTo>
                    <a:lnTo>
                      <a:pt x="1091" y="548"/>
                    </a:lnTo>
                    <a:lnTo>
                      <a:pt x="1093" y="545"/>
                    </a:lnTo>
                    <a:lnTo>
                      <a:pt x="1093" y="543"/>
                    </a:lnTo>
                    <a:lnTo>
                      <a:pt x="1094" y="539"/>
                    </a:lnTo>
                    <a:lnTo>
                      <a:pt x="1094" y="538"/>
                    </a:lnTo>
                    <a:lnTo>
                      <a:pt x="1094" y="536"/>
                    </a:lnTo>
                    <a:lnTo>
                      <a:pt x="1096" y="533"/>
                    </a:lnTo>
                    <a:lnTo>
                      <a:pt x="1096" y="531"/>
                    </a:lnTo>
                    <a:lnTo>
                      <a:pt x="1098" y="527"/>
                    </a:lnTo>
                    <a:lnTo>
                      <a:pt x="1098" y="526"/>
                    </a:lnTo>
                    <a:lnTo>
                      <a:pt x="1100" y="522"/>
                    </a:lnTo>
                    <a:lnTo>
                      <a:pt x="1100" y="520"/>
                    </a:lnTo>
                    <a:lnTo>
                      <a:pt x="1100" y="517"/>
                    </a:lnTo>
                    <a:lnTo>
                      <a:pt x="1101" y="515"/>
                    </a:lnTo>
                    <a:lnTo>
                      <a:pt x="1101" y="512"/>
                    </a:lnTo>
                    <a:lnTo>
                      <a:pt x="1103" y="510"/>
                    </a:lnTo>
                    <a:lnTo>
                      <a:pt x="1103" y="506"/>
                    </a:lnTo>
                    <a:lnTo>
                      <a:pt x="1105" y="505"/>
                    </a:lnTo>
                    <a:lnTo>
                      <a:pt x="1105" y="501"/>
                    </a:lnTo>
                    <a:lnTo>
                      <a:pt x="1105" y="499"/>
                    </a:lnTo>
                    <a:lnTo>
                      <a:pt x="1107" y="496"/>
                    </a:lnTo>
                    <a:lnTo>
                      <a:pt x="1107" y="494"/>
                    </a:lnTo>
                    <a:lnTo>
                      <a:pt x="1108" y="491"/>
                    </a:lnTo>
                    <a:lnTo>
                      <a:pt x="1108" y="489"/>
                    </a:lnTo>
                    <a:lnTo>
                      <a:pt x="1110" y="486"/>
                    </a:lnTo>
                    <a:lnTo>
                      <a:pt x="1110" y="484"/>
                    </a:lnTo>
                    <a:lnTo>
                      <a:pt x="1110" y="480"/>
                    </a:lnTo>
                    <a:lnTo>
                      <a:pt x="1112" y="479"/>
                    </a:lnTo>
                    <a:lnTo>
                      <a:pt x="1112" y="477"/>
                    </a:lnTo>
                    <a:lnTo>
                      <a:pt x="1114" y="473"/>
                    </a:lnTo>
                    <a:lnTo>
                      <a:pt x="1114" y="472"/>
                    </a:lnTo>
                    <a:lnTo>
                      <a:pt x="1115" y="468"/>
                    </a:lnTo>
                    <a:lnTo>
                      <a:pt x="1115" y="466"/>
                    </a:lnTo>
                    <a:lnTo>
                      <a:pt x="1115" y="463"/>
                    </a:lnTo>
                    <a:lnTo>
                      <a:pt x="1117" y="461"/>
                    </a:lnTo>
                    <a:lnTo>
                      <a:pt x="1117" y="458"/>
                    </a:lnTo>
                    <a:lnTo>
                      <a:pt x="1119" y="456"/>
                    </a:lnTo>
                    <a:lnTo>
                      <a:pt x="1119" y="452"/>
                    </a:lnTo>
                    <a:lnTo>
                      <a:pt x="1121" y="451"/>
                    </a:lnTo>
                    <a:lnTo>
                      <a:pt x="1121" y="447"/>
                    </a:lnTo>
                    <a:lnTo>
                      <a:pt x="1121" y="445"/>
                    </a:lnTo>
                    <a:lnTo>
                      <a:pt x="1122" y="442"/>
                    </a:lnTo>
                    <a:lnTo>
                      <a:pt x="1122" y="440"/>
                    </a:lnTo>
                    <a:lnTo>
                      <a:pt x="1124" y="437"/>
                    </a:lnTo>
                    <a:lnTo>
                      <a:pt x="1124" y="435"/>
                    </a:lnTo>
                    <a:lnTo>
                      <a:pt x="1126" y="432"/>
                    </a:lnTo>
                    <a:lnTo>
                      <a:pt x="1126" y="430"/>
                    </a:lnTo>
                    <a:lnTo>
                      <a:pt x="1128" y="426"/>
                    </a:lnTo>
                    <a:lnTo>
                      <a:pt x="1128" y="425"/>
                    </a:lnTo>
                    <a:lnTo>
                      <a:pt x="1128" y="423"/>
                    </a:lnTo>
                    <a:lnTo>
                      <a:pt x="1129" y="419"/>
                    </a:lnTo>
                    <a:lnTo>
                      <a:pt x="1129" y="418"/>
                    </a:lnTo>
                    <a:lnTo>
                      <a:pt x="1131" y="414"/>
                    </a:lnTo>
                    <a:lnTo>
                      <a:pt x="1131" y="412"/>
                    </a:lnTo>
                    <a:lnTo>
                      <a:pt x="1133" y="409"/>
                    </a:lnTo>
                    <a:lnTo>
                      <a:pt x="1133" y="407"/>
                    </a:lnTo>
                    <a:lnTo>
                      <a:pt x="1135" y="404"/>
                    </a:lnTo>
                    <a:lnTo>
                      <a:pt x="1135" y="402"/>
                    </a:lnTo>
                    <a:lnTo>
                      <a:pt x="1136" y="398"/>
                    </a:lnTo>
                    <a:lnTo>
                      <a:pt x="1136" y="397"/>
                    </a:lnTo>
                    <a:lnTo>
                      <a:pt x="1136" y="393"/>
                    </a:lnTo>
                    <a:lnTo>
                      <a:pt x="1138" y="392"/>
                    </a:lnTo>
                    <a:lnTo>
                      <a:pt x="1138" y="388"/>
                    </a:lnTo>
                    <a:lnTo>
                      <a:pt x="1140" y="386"/>
                    </a:lnTo>
                    <a:lnTo>
                      <a:pt x="1140" y="385"/>
                    </a:lnTo>
                    <a:lnTo>
                      <a:pt x="1141" y="381"/>
                    </a:lnTo>
                    <a:lnTo>
                      <a:pt x="1141" y="379"/>
                    </a:lnTo>
                    <a:lnTo>
                      <a:pt x="1143" y="376"/>
                    </a:lnTo>
                    <a:lnTo>
                      <a:pt x="1143" y="374"/>
                    </a:lnTo>
                    <a:lnTo>
                      <a:pt x="1143" y="371"/>
                    </a:lnTo>
                    <a:lnTo>
                      <a:pt x="1145" y="369"/>
                    </a:lnTo>
                    <a:lnTo>
                      <a:pt x="1145" y="365"/>
                    </a:lnTo>
                    <a:lnTo>
                      <a:pt x="1147" y="364"/>
                    </a:lnTo>
                    <a:lnTo>
                      <a:pt x="1147" y="360"/>
                    </a:lnTo>
                    <a:lnTo>
                      <a:pt x="1148" y="358"/>
                    </a:lnTo>
                    <a:lnTo>
                      <a:pt x="1148" y="355"/>
                    </a:lnTo>
                    <a:lnTo>
                      <a:pt x="1150" y="353"/>
                    </a:lnTo>
                    <a:lnTo>
                      <a:pt x="1150" y="350"/>
                    </a:lnTo>
                    <a:lnTo>
                      <a:pt x="1152" y="348"/>
                    </a:lnTo>
                    <a:lnTo>
                      <a:pt x="1152" y="345"/>
                    </a:lnTo>
                    <a:lnTo>
                      <a:pt x="1152" y="343"/>
                    </a:lnTo>
                    <a:lnTo>
                      <a:pt x="1154" y="339"/>
                    </a:lnTo>
                    <a:lnTo>
                      <a:pt x="1154" y="338"/>
                    </a:lnTo>
                    <a:lnTo>
                      <a:pt x="1155" y="336"/>
                    </a:lnTo>
                    <a:lnTo>
                      <a:pt x="1155" y="332"/>
                    </a:lnTo>
                    <a:lnTo>
                      <a:pt x="1157" y="331"/>
                    </a:lnTo>
                    <a:lnTo>
                      <a:pt x="1157" y="327"/>
                    </a:lnTo>
                    <a:lnTo>
                      <a:pt x="1159" y="325"/>
                    </a:lnTo>
                    <a:lnTo>
                      <a:pt x="1159" y="322"/>
                    </a:lnTo>
                    <a:lnTo>
                      <a:pt x="1161" y="320"/>
                    </a:lnTo>
                    <a:lnTo>
                      <a:pt x="1161" y="317"/>
                    </a:lnTo>
                    <a:lnTo>
                      <a:pt x="1162" y="315"/>
                    </a:lnTo>
                    <a:lnTo>
                      <a:pt x="1162" y="311"/>
                    </a:lnTo>
                    <a:lnTo>
                      <a:pt x="1164" y="310"/>
                    </a:lnTo>
                    <a:lnTo>
                      <a:pt x="1164" y="306"/>
                    </a:lnTo>
                    <a:lnTo>
                      <a:pt x="1166" y="304"/>
                    </a:lnTo>
                    <a:lnTo>
                      <a:pt x="1166" y="301"/>
                    </a:lnTo>
                    <a:lnTo>
                      <a:pt x="1166" y="299"/>
                    </a:lnTo>
                    <a:lnTo>
                      <a:pt x="1168" y="298"/>
                    </a:lnTo>
                    <a:lnTo>
                      <a:pt x="1168" y="294"/>
                    </a:lnTo>
                    <a:lnTo>
                      <a:pt x="1169" y="292"/>
                    </a:lnTo>
                    <a:lnTo>
                      <a:pt x="1169" y="289"/>
                    </a:lnTo>
                    <a:lnTo>
                      <a:pt x="1171" y="287"/>
                    </a:lnTo>
                    <a:lnTo>
                      <a:pt x="1171" y="284"/>
                    </a:lnTo>
                    <a:lnTo>
                      <a:pt x="1173" y="282"/>
                    </a:lnTo>
                    <a:lnTo>
                      <a:pt x="1173" y="278"/>
                    </a:lnTo>
                    <a:lnTo>
                      <a:pt x="1175" y="277"/>
                    </a:lnTo>
                    <a:lnTo>
                      <a:pt x="1175" y="273"/>
                    </a:lnTo>
                    <a:lnTo>
                      <a:pt x="1176" y="271"/>
                    </a:lnTo>
                    <a:lnTo>
                      <a:pt x="1176" y="268"/>
                    </a:lnTo>
                    <a:lnTo>
                      <a:pt x="1178" y="266"/>
                    </a:lnTo>
                    <a:lnTo>
                      <a:pt x="1178" y="263"/>
                    </a:lnTo>
                    <a:lnTo>
                      <a:pt x="1180" y="261"/>
                    </a:lnTo>
                    <a:lnTo>
                      <a:pt x="1180" y="257"/>
                    </a:lnTo>
                    <a:lnTo>
                      <a:pt x="1182" y="256"/>
                    </a:lnTo>
                    <a:lnTo>
                      <a:pt x="1182" y="252"/>
                    </a:lnTo>
                    <a:lnTo>
                      <a:pt x="1183" y="250"/>
                    </a:lnTo>
                    <a:lnTo>
                      <a:pt x="1183" y="249"/>
                    </a:lnTo>
                    <a:lnTo>
                      <a:pt x="1185" y="245"/>
                    </a:lnTo>
                    <a:lnTo>
                      <a:pt x="1185" y="244"/>
                    </a:lnTo>
                    <a:lnTo>
                      <a:pt x="1187" y="240"/>
                    </a:lnTo>
                    <a:lnTo>
                      <a:pt x="1187" y="238"/>
                    </a:lnTo>
                    <a:lnTo>
                      <a:pt x="1188" y="235"/>
                    </a:lnTo>
                    <a:lnTo>
                      <a:pt x="1188" y="233"/>
                    </a:lnTo>
                    <a:lnTo>
                      <a:pt x="1190" y="230"/>
                    </a:lnTo>
                    <a:lnTo>
                      <a:pt x="1190" y="228"/>
                    </a:lnTo>
                    <a:lnTo>
                      <a:pt x="1192" y="224"/>
                    </a:lnTo>
                    <a:lnTo>
                      <a:pt x="1192" y="223"/>
                    </a:lnTo>
                    <a:lnTo>
                      <a:pt x="1194" y="219"/>
                    </a:lnTo>
                    <a:lnTo>
                      <a:pt x="1194" y="217"/>
                    </a:lnTo>
                    <a:lnTo>
                      <a:pt x="1194" y="216"/>
                    </a:lnTo>
                    <a:lnTo>
                      <a:pt x="1195" y="212"/>
                    </a:lnTo>
                    <a:lnTo>
                      <a:pt x="1197" y="210"/>
                    </a:lnTo>
                    <a:lnTo>
                      <a:pt x="1197" y="207"/>
                    </a:lnTo>
                    <a:lnTo>
                      <a:pt x="1197" y="205"/>
                    </a:lnTo>
                    <a:lnTo>
                      <a:pt x="1199" y="202"/>
                    </a:lnTo>
                    <a:lnTo>
                      <a:pt x="1201" y="200"/>
                    </a:lnTo>
                    <a:lnTo>
                      <a:pt x="1201" y="197"/>
                    </a:lnTo>
                    <a:lnTo>
                      <a:pt x="1202" y="195"/>
                    </a:lnTo>
                    <a:lnTo>
                      <a:pt x="1202" y="191"/>
                    </a:lnTo>
                    <a:lnTo>
                      <a:pt x="1202" y="190"/>
                    </a:lnTo>
                    <a:lnTo>
                      <a:pt x="1204" y="188"/>
                    </a:lnTo>
                    <a:lnTo>
                      <a:pt x="1206" y="184"/>
                    </a:lnTo>
                    <a:lnTo>
                      <a:pt x="1206" y="183"/>
                    </a:lnTo>
                    <a:lnTo>
                      <a:pt x="1208" y="179"/>
                    </a:lnTo>
                    <a:lnTo>
                      <a:pt x="1208" y="177"/>
                    </a:lnTo>
                    <a:lnTo>
                      <a:pt x="1209" y="174"/>
                    </a:lnTo>
                    <a:lnTo>
                      <a:pt x="1209" y="172"/>
                    </a:lnTo>
                    <a:lnTo>
                      <a:pt x="1211" y="169"/>
                    </a:lnTo>
                    <a:lnTo>
                      <a:pt x="1211" y="167"/>
                    </a:lnTo>
                    <a:lnTo>
                      <a:pt x="1213" y="163"/>
                    </a:lnTo>
                    <a:lnTo>
                      <a:pt x="1213" y="162"/>
                    </a:lnTo>
                    <a:lnTo>
                      <a:pt x="1215" y="158"/>
                    </a:lnTo>
                    <a:lnTo>
                      <a:pt x="1215" y="156"/>
                    </a:lnTo>
                    <a:lnTo>
                      <a:pt x="1216" y="153"/>
                    </a:lnTo>
                    <a:lnTo>
                      <a:pt x="1216" y="151"/>
                    </a:lnTo>
                    <a:lnTo>
                      <a:pt x="1218" y="148"/>
                    </a:lnTo>
                    <a:lnTo>
                      <a:pt x="1218" y="146"/>
                    </a:lnTo>
                    <a:lnTo>
                      <a:pt x="1220" y="144"/>
                    </a:lnTo>
                    <a:lnTo>
                      <a:pt x="1220" y="141"/>
                    </a:lnTo>
                    <a:lnTo>
                      <a:pt x="1222" y="139"/>
                    </a:lnTo>
                    <a:lnTo>
                      <a:pt x="1222" y="136"/>
                    </a:lnTo>
                    <a:lnTo>
                      <a:pt x="1223" y="134"/>
                    </a:lnTo>
                    <a:lnTo>
                      <a:pt x="1223" y="130"/>
                    </a:lnTo>
                    <a:lnTo>
                      <a:pt x="1225" y="129"/>
                    </a:lnTo>
                    <a:lnTo>
                      <a:pt x="1225" y="125"/>
                    </a:lnTo>
                    <a:lnTo>
                      <a:pt x="1227" y="123"/>
                    </a:lnTo>
                    <a:lnTo>
                      <a:pt x="1227" y="120"/>
                    </a:lnTo>
                    <a:lnTo>
                      <a:pt x="1229" y="118"/>
                    </a:lnTo>
                    <a:lnTo>
                      <a:pt x="1229" y="116"/>
                    </a:lnTo>
                    <a:lnTo>
                      <a:pt x="1230" y="113"/>
                    </a:lnTo>
                    <a:lnTo>
                      <a:pt x="1230" y="111"/>
                    </a:lnTo>
                    <a:lnTo>
                      <a:pt x="1232" y="108"/>
                    </a:lnTo>
                    <a:lnTo>
                      <a:pt x="1232" y="106"/>
                    </a:lnTo>
                    <a:lnTo>
                      <a:pt x="1234" y="103"/>
                    </a:lnTo>
                    <a:lnTo>
                      <a:pt x="1234" y="101"/>
                    </a:lnTo>
                    <a:lnTo>
                      <a:pt x="1235" y="97"/>
                    </a:lnTo>
                    <a:lnTo>
                      <a:pt x="1237" y="96"/>
                    </a:lnTo>
                    <a:lnTo>
                      <a:pt x="1237" y="92"/>
                    </a:lnTo>
                    <a:lnTo>
                      <a:pt x="1239" y="90"/>
                    </a:lnTo>
                    <a:lnTo>
                      <a:pt x="1239" y="87"/>
                    </a:lnTo>
                    <a:lnTo>
                      <a:pt x="1241" y="85"/>
                    </a:lnTo>
                    <a:lnTo>
                      <a:pt x="1241" y="83"/>
                    </a:lnTo>
                    <a:lnTo>
                      <a:pt x="1242" y="80"/>
                    </a:lnTo>
                    <a:lnTo>
                      <a:pt x="1242" y="78"/>
                    </a:lnTo>
                    <a:lnTo>
                      <a:pt x="1244" y="75"/>
                    </a:lnTo>
                    <a:lnTo>
                      <a:pt x="1244" y="73"/>
                    </a:lnTo>
                    <a:lnTo>
                      <a:pt x="1246" y="69"/>
                    </a:lnTo>
                    <a:lnTo>
                      <a:pt x="1246" y="68"/>
                    </a:lnTo>
                    <a:lnTo>
                      <a:pt x="1248" y="64"/>
                    </a:lnTo>
                    <a:lnTo>
                      <a:pt x="1248" y="62"/>
                    </a:lnTo>
                    <a:lnTo>
                      <a:pt x="1249" y="59"/>
                    </a:lnTo>
                    <a:lnTo>
                      <a:pt x="1251" y="57"/>
                    </a:lnTo>
                    <a:lnTo>
                      <a:pt x="1251" y="56"/>
                    </a:lnTo>
                    <a:lnTo>
                      <a:pt x="1253" y="52"/>
                    </a:lnTo>
                    <a:lnTo>
                      <a:pt x="1253" y="50"/>
                    </a:lnTo>
                    <a:lnTo>
                      <a:pt x="1255" y="47"/>
                    </a:lnTo>
                    <a:lnTo>
                      <a:pt x="1255" y="45"/>
                    </a:lnTo>
                    <a:lnTo>
                      <a:pt x="1256" y="42"/>
                    </a:lnTo>
                    <a:lnTo>
                      <a:pt x="1256" y="40"/>
                    </a:lnTo>
                    <a:lnTo>
                      <a:pt x="1258" y="36"/>
                    </a:lnTo>
                    <a:lnTo>
                      <a:pt x="1258" y="35"/>
                    </a:lnTo>
                    <a:lnTo>
                      <a:pt x="1260" y="31"/>
                    </a:lnTo>
                    <a:lnTo>
                      <a:pt x="1260" y="29"/>
                    </a:lnTo>
                    <a:lnTo>
                      <a:pt x="1262" y="28"/>
                    </a:lnTo>
                    <a:lnTo>
                      <a:pt x="1262" y="24"/>
                    </a:lnTo>
                    <a:lnTo>
                      <a:pt x="1263" y="22"/>
                    </a:lnTo>
                    <a:lnTo>
                      <a:pt x="1265" y="19"/>
                    </a:lnTo>
                    <a:lnTo>
                      <a:pt x="1265" y="17"/>
                    </a:lnTo>
                    <a:lnTo>
                      <a:pt x="1267" y="14"/>
                    </a:lnTo>
                    <a:lnTo>
                      <a:pt x="1267" y="12"/>
                    </a:lnTo>
                    <a:lnTo>
                      <a:pt x="1269" y="9"/>
                    </a:lnTo>
                    <a:lnTo>
                      <a:pt x="1269" y="7"/>
                    </a:lnTo>
                    <a:lnTo>
                      <a:pt x="1270" y="3"/>
                    </a:lnTo>
                    <a:lnTo>
                      <a:pt x="1270" y="2"/>
                    </a:lnTo>
                    <a:lnTo>
                      <a:pt x="1272" y="0"/>
                    </a:lnTo>
                    <a:moveTo>
                      <a:pt x="1039" y="726"/>
                    </a:moveTo>
                    <a:lnTo>
                      <a:pt x="1037" y="724"/>
                    </a:lnTo>
                    <a:lnTo>
                      <a:pt x="1037" y="721"/>
                    </a:lnTo>
                    <a:lnTo>
                      <a:pt x="1037" y="719"/>
                    </a:lnTo>
                    <a:lnTo>
                      <a:pt x="1035" y="715"/>
                    </a:lnTo>
                    <a:lnTo>
                      <a:pt x="1035" y="714"/>
                    </a:lnTo>
                    <a:lnTo>
                      <a:pt x="1034" y="710"/>
                    </a:lnTo>
                    <a:lnTo>
                      <a:pt x="1034" y="708"/>
                    </a:lnTo>
                    <a:lnTo>
                      <a:pt x="1034" y="705"/>
                    </a:lnTo>
                    <a:lnTo>
                      <a:pt x="1032" y="703"/>
                    </a:lnTo>
                    <a:lnTo>
                      <a:pt x="1032" y="700"/>
                    </a:lnTo>
                    <a:lnTo>
                      <a:pt x="1032" y="698"/>
                    </a:lnTo>
                    <a:lnTo>
                      <a:pt x="1030" y="694"/>
                    </a:lnTo>
                    <a:lnTo>
                      <a:pt x="1030" y="693"/>
                    </a:lnTo>
                    <a:lnTo>
                      <a:pt x="1028" y="689"/>
                    </a:lnTo>
                    <a:lnTo>
                      <a:pt x="1028" y="687"/>
                    </a:lnTo>
                    <a:lnTo>
                      <a:pt x="1028" y="684"/>
                    </a:lnTo>
                    <a:lnTo>
                      <a:pt x="1027" y="682"/>
                    </a:lnTo>
                    <a:lnTo>
                      <a:pt x="1027" y="681"/>
                    </a:lnTo>
                    <a:lnTo>
                      <a:pt x="1025" y="677"/>
                    </a:lnTo>
                    <a:lnTo>
                      <a:pt x="1025" y="674"/>
                    </a:lnTo>
                    <a:lnTo>
                      <a:pt x="1025" y="672"/>
                    </a:lnTo>
                    <a:lnTo>
                      <a:pt x="1023" y="668"/>
                    </a:lnTo>
                    <a:lnTo>
                      <a:pt x="1023" y="667"/>
                    </a:lnTo>
                    <a:lnTo>
                      <a:pt x="1021" y="665"/>
                    </a:lnTo>
                    <a:lnTo>
                      <a:pt x="1021" y="661"/>
                    </a:lnTo>
                    <a:lnTo>
                      <a:pt x="1021" y="660"/>
                    </a:lnTo>
                    <a:lnTo>
                      <a:pt x="1020" y="656"/>
                    </a:lnTo>
                    <a:lnTo>
                      <a:pt x="1020" y="654"/>
                    </a:lnTo>
                    <a:lnTo>
                      <a:pt x="1018" y="651"/>
                    </a:lnTo>
                    <a:lnTo>
                      <a:pt x="1018" y="649"/>
                    </a:lnTo>
                    <a:lnTo>
                      <a:pt x="1018" y="646"/>
                    </a:lnTo>
                    <a:lnTo>
                      <a:pt x="1016" y="644"/>
                    </a:lnTo>
                    <a:lnTo>
                      <a:pt x="1016" y="640"/>
                    </a:lnTo>
                    <a:lnTo>
                      <a:pt x="1014" y="639"/>
                    </a:lnTo>
                    <a:lnTo>
                      <a:pt x="1014" y="635"/>
                    </a:lnTo>
                    <a:lnTo>
                      <a:pt x="1014" y="634"/>
                    </a:lnTo>
                    <a:lnTo>
                      <a:pt x="1013" y="630"/>
                    </a:lnTo>
                    <a:lnTo>
                      <a:pt x="1013" y="628"/>
                    </a:lnTo>
                    <a:lnTo>
                      <a:pt x="1011" y="625"/>
                    </a:lnTo>
                    <a:lnTo>
                      <a:pt x="1011" y="623"/>
                    </a:lnTo>
                    <a:lnTo>
                      <a:pt x="1011" y="620"/>
                    </a:lnTo>
                    <a:lnTo>
                      <a:pt x="1009" y="618"/>
                    </a:lnTo>
                    <a:lnTo>
                      <a:pt x="1009" y="614"/>
                    </a:lnTo>
                    <a:lnTo>
                      <a:pt x="1009" y="613"/>
                    </a:lnTo>
                    <a:lnTo>
                      <a:pt x="1007" y="609"/>
                    </a:lnTo>
                    <a:lnTo>
                      <a:pt x="1007" y="607"/>
                    </a:lnTo>
                    <a:lnTo>
                      <a:pt x="1006" y="604"/>
                    </a:lnTo>
                    <a:lnTo>
                      <a:pt x="1006" y="602"/>
                    </a:lnTo>
                    <a:lnTo>
                      <a:pt x="1004" y="600"/>
                    </a:lnTo>
                    <a:lnTo>
                      <a:pt x="1004" y="597"/>
                    </a:lnTo>
                    <a:lnTo>
                      <a:pt x="1004" y="595"/>
                    </a:lnTo>
                    <a:lnTo>
                      <a:pt x="1002" y="592"/>
                    </a:lnTo>
                    <a:lnTo>
                      <a:pt x="1002" y="590"/>
                    </a:lnTo>
                    <a:lnTo>
                      <a:pt x="1000" y="586"/>
                    </a:lnTo>
                    <a:lnTo>
                      <a:pt x="1000" y="585"/>
                    </a:lnTo>
                    <a:lnTo>
                      <a:pt x="1000" y="581"/>
                    </a:lnTo>
                    <a:lnTo>
                      <a:pt x="999" y="580"/>
                    </a:lnTo>
                    <a:lnTo>
                      <a:pt x="999" y="576"/>
                    </a:lnTo>
                    <a:lnTo>
                      <a:pt x="997" y="574"/>
                    </a:lnTo>
                    <a:lnTo>
                      <a:pt x="997" y="571"/>
                    </a:lnTo>
                    <a:lnTo>
                      <a:pt x="997" y="569"/>
                    </a:lnTo>
                    <a:lnTo>
                      <a:pt x="995" y="566"/>
                    </a:lnTo>
                    <a:lnTo>
                      <a:pt x="995" y="564"/>
                    </a:lnTo>
                    <a:lnTo>
                      <a:pt x="994" y="560"/>
                    </a:lnTo>
                    <a:lnTo>
                      <a:pt x="994" y="559"/>
                    </a:lnTo>
                    <a:lnTo>
                      <a:pt x="992" y="555"/>
                    </a:lnTo>
                    <a:lnTo>
                      <a:pt x="992" y="553"/>
                    </a:lnTo>
                    <a:lnTo>
                      <a:pt x="992" y="550"/>
                    </a:lnTo>
                    <a:lnTo>
                      <a:pt x="990" y="548"/>
                    </a:lnTo>
                    <a:lnTo>
                      <a:pt x="990" y="545"/>
                    </a:lnTo>
                    <a:lnTo>
                      <a:pt x="988" y="543"/>
                    </a:lnTo>
                    <a:lnTo>
                      <a:pt x="988" y="539"/>
                    </a:lnTo>
                    <a:lnTo>
                      <a:pt x="988" y="538"/>
                    </a:lnTo>
                    <a:lnTo>
                      <a:pt x="987" y="536"/>
                    </a:lnTo>
                    <a:lnTo>
                      <a:pt x="987" y="533"/>
                    </a:lnTo>
                    <a:lnTo>
                      <a:pt x="985" y="531"/>
                    </a:lnTo>
                    <a:lnTo>
                      <a:pt x="985" y="527"/>
                    </a:lnTo>
                    <a:lnTo>
                      <a:pt x="983" y="526"/>
                    </a:lnTo>
                    <a:lnTo>
                      <a:pt x="983" y="522"/>
                    </a:lnTo>
                    <a:lnTo>
                      <a:pt x="983" y="520"/>
                    </a:lnTo>
                    <a:lnTo>
                      <a:pt x="981" y="517"/>
                    </a:lnTo>
                    <a:lnTo>
                      <a:pt x="981" y="515"/>
                    </a:lnTo>
                    <a:lnTo>
                      <a:pt x="980" y="512"/>
                    </a:lnTo>
                    <a:lnTo>
                      <a:pt x="980" y="510"/>
                    </a:lnTo>
                    <a:lnTo>
                      <a:pt x="980" y="506"/>
                    </a:lnTo>
                    <a:lnTo>
                      <a:pt x="978" y="505"/>
                    </a:lnTo>
                    <a:lnTo>
                      <a:pt x="978" y="501"/>
                    </a:lnTo>
                    <a:lnTo>
                      <a:pt x="976" y="499"/>
                    </a:lnTo>
                    <a:lnTo>
                      <a:pt x="976" y="496"/>
                    </a:lnTo>
                    <a:lnTo>
                      <a:pt x="974" y="494"/>
                    </a:lnTo>
                    <a:lnTo>
                      <a:pt x="974" y="491"/>
                    </a:lnTo>
                    <a:lnTo>
                      <a:pt x="974" y="489"/>
                    </a:lnTo>
                    <a:lnTo>
                      <a:pt x="973" y="486"/>
                    </a:lnTo>
                    <a:lnTo>
                      <a:pt x="973" y="484"/>
                    </a:lnTo>
                    <a:lnTo>
                      <a:pt x="971" y="480"/>
                    </a:lnTo>
                    <a:lnTo>
                      <a:pt x="971" y="479"/>
                    </a:lnTo>
                    <a:lnTo>
                      <a:pt x="969" y="477"/>
                    </a:lnTo>
                    <a:lnTo>
                      <a:pt x="969" y="473"/>
                    </a:lnTo>
                    <a:lnTo>
                      <a:pt x="969" y="472"/>
                    </a:lnTo>
                    <a:lnTo>
                      <a:pt x="967" y="468"/>
                    </a:lnTo>
                    <a:lnTo>
                      <a:pt x="967" y="466"/>
                    </a:lnTo>
                    <a:lnTo>
                      <a:pt x="966" y="463"/>
                    </a:lnTo>
                    <a:lnTo>
                      <a:pt x="966" y="461"/>
                    </a:lnTo>
                    <a:lnTo>
                      <a:pt x="964" y="458"/>
                    </a:lnTo>
                    <a:lnTo>
                      <a:pt x="964" y="456"/>
                    </a:lnTo>
                    <a:lnTo>
                      <a:pt x="964" y="452"/>
                    </a:lnTo>
                    <a:lnTo>
                      <a:pt x="962" y="451"/>
                    </a:lnTo>
                    <a:lnTo>
                      <a:pt x="962" y="447"/>
                    </a:lnTo>
                    <a:lnTo>
                      <a:pt x="960" y="445"/>
                    </a:lnTo>
                    <a:lnTo>
                      <a:pt x="960" y="442"/>
                    </a:lnTo>
                    <a:lnTo>
                      <a:pt x="959" y="440"/>
                    </a:lnTo>
                    <a:lnTo>
                      <a:pt x="959" y="437"/>
                    </a:lnTo>
                    <a:lnTo>
                      <a:pt x="957" y="435"/>
                    </a:lnTo>
                    <a:lnTo>
                      <a:pt x="957" y="432"/>
                    </a:lnTo>
                    <a:lnTo>
                      <a:pt x="955" y="430"/>
                    </a:lnTo>
                    <a:lnTo>
                      <a:pt x="955" y="426"/>
                    </a:lnTo>
                    <a:lnTo>
                      <a:pt x="955" y="425"/>
                    </a:lnTo>
                    <a:lnTo>
                      <a:pt x="954" y="423"/>
                    </a:lnTo>
                    <a:lnTo>
                      <a:pt x="954" y="419"/>
                    </a:lnTo>
                    <a:lnTo>
                      <a:pt x="952" y="418"/>
                    </a:lnTo>
                    <a:lnTo>
                      <a:pt x="952" y="414"/>
                    </a:lnTo>
                    <a:lnTo>
                      <a:pt x="950" y="412"/>
                    </a:lnTo>
                    <a:lnTo>
                      <a:pt x="950" y="409"/>
                    </a:lnTo>
                    <a:lnTo>
                      <a:pt x="950" y="407"/>
                    </a:lnTo>
                    <a:lnTo>
                      <a:pt x="948" y="404"/>
                    </a:lnTo>
                    <a:lnTo>
                      <a:pt x="948" y="402"/>
                    </a:lnTo>
                    <a:lnTo>
                      <a:pt x="947" y="398"/>
                    </a:lnTo>
                    <a:lnTo>
                      <a:pt x="947" y="397"/>
                    </a:lnTo>
                    <a:lnTo>
                      <a:pt x="945" y="393"/>
                    </a:lnTo>
                    <a:lnTo>
                      <a:pt x="945" y="392"/>
                    </a:lnTo>
                    <a:lnTo>
                      <a:pt x="943" y="388"/>
                    </a:lnTo>
                    <a:lnTo>
                      <a:pt x="943" y="386"/>
                    </a:lnTo>
                    <a:lnTo>
                      <a:pt x="941" y="385"/>
                    </a:lnTo>
                    <a:lnTo>
                      <a:pt x="941" y="381"/>
                    </a:lnTo>
                    <a:lnTo>
                      <a:pt x="941" y="379"/>
                    </a:lnTo>
                    <a:lnTo>
                      <a:pt x="940" y="376"/>
                    </a:lnTo>
                    <a:lnTo>
                      <a:pt x="940" y="374"/>
                    </a:lnTo>
                    <a:lnTo>
                      <a:pt x="938" y="371"/>
                    </a:lnTo>
                    <a:lnTo>
                      <a:pt x="938" y="369"/>
                    </a:lnTo>
                    <a:lnTo>
                      <a:pt x="936" y="365"/>
                    </a:lnTo>
                    <a:lnTo>
                      <a:pt x="936" y="364"/>
                    </a:lnTo>
                    <a:lnTo>
                      <a:pt x="934" y="360"/>
                    </a:lnTo>
                    <a:lnTo>
                      <a:pt x="934" y="358"/>
                    </a:lnTo>
                    <a:lnTo>
                      <a:pt x="933" y="355"/>
                    </a:lnTo>
                    <a:lnTo>
                      <a:pt x="933" y="353"/>
                    </a:lnTo>
                    <a:lnTo>
                      <a:pt x="933" y="350"/>
                    </a:lnTo>
                    <a:lnTo>
                      <a:pt x="931" y="348"/>
                    </a:lnTo>
                    <a:lnTo>
                      <a:pt x="931" y="345"/>
                    </a:lnTo>
                    <a:lnTo>
                      <a:pt x="929" y="343"/>
                    </a:lnTo>
                    <a:lnTo>
                      <a:pt x="929" y="339"/>
                    </a:lnTo>
                    <a:lnTo>
                      <a:pt x="927" y="338"/>
                    </a:lnTo>
                    <a:lnTo>
                      <a:pt x="927" y="336"/>
                    </a:lnTo>
                    <a:lnTo>
                      <a:pt x="926" y="332"/>
                    </a:lnTo>
                    <a:lnTo>
                      <a:pt x="926" y="331"/>
                    </a:lnTo>
                    <a:lnTo>
                      <a:pt x="924" y="327"/>
                    </a:lnTo>
                    <a:lnTo>
                      <a:pt x="924" y="325"/>
                    </a:lnTo>
                    <a:lnTo>
                      <a:pt x="922" y="322"/>
                    </a:lnTo>
                    <a:lnTo>
                      <a:pt x="922" y="320"/>
                    </a:lnTo>
                    <a:lnTo>
                      <a:pt x="920" y="317"/>
                    </a:lnTo>
                    <a:lnTo>
                      <a:pt x="920" y="315"/>
                    </a:lnTo>
                    <a:lnTo>
                      <a:pt x="919" y="311"/>
                    </a:lnTo>
                    <a:lnTo>
                      <a:pt x="919" y="310"/>
                    </a:lnTo>
                    <a:lnTo>
                      <a:pt x="919" y="306"/>
                    </a:lnTo>
                    <a:lnTo>
                      <a:pt x="917" y="304"/>
                    </a:lnTo>
                    <a:lnTo>
                      <a:pt x="917" y="301"/>
                    </a:lnTo>
                    <a:lnTo>
                      <a:pt x="915" y="299"/>
                    </a:lnTo>
                    <a:lnTo>
                      <a:pt x="915" y="298"/>
                    </a:lnTo>
                    <a:lnTo>
                      <a:pt x="913" y="294"/>
                    </a:lnTo>
                    <a:lnTo>
                      <a:pt x="913" y="292"/>
                    </a:lnTo>
                    <a:lnTo>
                      <a:pt x="912" y="289"/>
                    </a:lnTo>
                    <a:lnTo>
                      <a:pt x="912" y="287"/>
                    </a:lnTo>
                    <a:lnTo>
                      <a:pt x="910" y="284"/>
                    </a:lnTo>
                    <a:lnTo>
                      <a:pt x="910" y="282"/>
                    </a:lnTo>
                    <a:lnTo>
                      <a:pt x="908" y="278"/>
                    </a:lnTo>
                    <a:lnTo>
                      <a:pt x="908" y="277"/>
                    </a:lnTo>
                    <a:lnTo>
                      <a:pt x="907" y="273"/>
                    </a:lnTo>
                    <a:lnTo>
                      <a:pt x="907" y="271"/>
                    </a:lnTo>
                    <a:lnTo>
                      <a:pt x="905" y="268"/>
                    </a:lnTo>
                    <a:lnTo>
                      <a:pt x="905" y="266"/>
                    </a:lnTo>
                    <a:lnTo>
                      <a:pt x="903" y="263"/>
                    </a:lnTo>
                    <a:lnTo>
                      <a:pt x="903" y="261"/>
                    </a:lnTo>
                    <a:lnTo>
                      <a:pt x="901" y="257"/>
                    </a:lnTo>
                    <a:lnTo>
                      <a:pt x="901" y="256"/>
                    </a:lnTo>
                    <a:lnTo>
                      <a:pt x="900" y="252"/>
                    </a:lnTo>
                    <a:lnTo>
                      <a:pt x="900" y="250"/>
                    </a:lnTo>
                    <a:lnTo>
                      <a:pt x="900" y="249"/>
                    </a:lnTo>
                    <a:lnTo>
                      <a:pt x="898" y="245"/>
                    </a:lnTo>
                    <a:lnTo>
                      <a:pt x="896" y="244"/>
                    </a:lnTo>
                    <a:lnTo>
                      <a:pt x="896" y="240"/>
                    </a:lnTo>
                    <a:lnTo>
                      <a:pt x="896" y="238"/>
                    </a:lnTo>
                    <a:lnTo>
                      <a:pt x="894" y="235"/>
                    </a:lnTo>
                    <a:lnTo>
                      <a:pt x="894" y="233"/>
                    </a:lnTo>
                    <a:lnTo>
                      <a:pt x="893" y="230"/>
                    </a:lnTo>
                    <a:lnTo>
                      <a:pt x="893" y="228"/>
                    </a:lnTo>
                    <a:lnTo>
                      <a:pt x="891" y="224"/>
                    </a:lnTo>
                    <a:lnTo>
                      <a:pt x="891" y="223"/>
                    </a:lnTo>
                    <a:lnTo>
                      <a:pt x="889" y="219"/>
                    </a:lnTo>
                    <a:lnTo>
                      <a:pt x="889" y="217"/>
                    </a:lnTo>
                    <a:lnTo>
                      <a:pt x="887" y="216"/>
                    </a:lnTo>
                    <a:lnTo>
                      <a:pt x="887" y="212"/>
                    </a:lnTo>
                    <a:lnTo>
                      <a:pt x="886" y="210"/>
                    </a:lnTo>
                    <a:lnTo>
                      <a:pt x="886" y="207"/>
                    </a:lnTo>
                    <a:lnTo>
                      <a:pt x="884" y="205"/>
                    </a:lnTo>
                    <a:lnTo>
                      <a:pt x="884" y="202"/>
                    </a:lnTo>
                    <a:lnTo>
                      <a:pt x="882" y="200"/>
                    </a:lnTo>
                    <a:lnTo>
                      <a:pt x="882" y="197"/>
                    </a:lnTo>
                    <a:lnTo>
                      <a:pt x="880" y="195"/>
                    </a:lnTo>
                    <a:lnTo>
                      <a:pt x="880" y="191"/>
                    </a:lnTo>
                    <a:lnTo>
                      <a:pt x="879" y="190"/>
                    </a:lnTo>
                    <a:lnTo>
                      <a:pt x="879" y="188"/>
                    </a:lnTo>
                    <a:lnTo>
                      <a:pt x="877" y="184"/>
                    </a:lnTo>
                    <a:lnTo>
                      <a:pt x="877" y="183"/>
                    </a:lnTo>
                    <a:lnTo>
                      <a:pt x="875" y="179"/>
                    </a:lnTo>
                    <a:lnTo>
                      <a:pt x="875" y="177"/>
                    </a:lnTo>
                    <a:lnTo>
                      <a:pt x="873" y="174"/>
                    </a:lnTo>
                    <a:lnTo>
                      <a:pt x="873" y="172"/>
                    </a:lnTo>
                    <a:lnTo>
                      <a:pt x="872" y="169"/>
                    </a:lnTo>
                    <a:lnTo>
                      <a:pt x="872" y="167"/>
                    </a:lnTo>
                    <a:lnTo>
                      <a:pt x="870" y="163"/>
                    </a:lnTo>
                    <a:lnTo>
                      <a:pt x="868" y="162"/>
                    </a:lnTo>
                    <a:lnTo>
                      <a:pt x="868" y="158"/>
                    </a:lnTo>
                    <a:lnTo>
                      <a:pt x="868" y="156"/>
                    </a:lnTo>
                    <a:lnTo>
                      <a:pt x="866" y="153"/>
                    </a:lnTo>
                    <a:lnTo>
                      <a:pt x="865" y="151"/>
                    </a:lnTo>
                    <a:lnTo>
                      <a:pt x="865" y="148"/>
                    </a:lnTo>
                    <a:lnTo>
                      <a:pt x="863" y="146"/>
                    </a:lnTo>
                    <a:lnTo>
                      <a:pt x="863" y="144"/>
                    </a:lnTo>
                    <a:lnTo>
                      <a:pt x="861" y="141"/>
                    </a:lnTo>
                    <a:lnTo>
                      <a:pt x="861" y="139"/>
                    </a:lnTo>
                    <a:lnTo>
                      <a:pt x="860" y="136"/>
                    </a:lnTo>
                    <a:lnTo>
                      <a:pt x="860" y="134"/>
                    </a:lnTo>
                    <a:lnTo>
                      <a:pt x="858" y="130"/>
                    </a:lnTo>
                    <a:lnTo>
                      <a:pt x="858" y="129"/>
                    </a:lnTo>
                    <a:lnTo>
                      <a:pt x="856" y="125"/>
                    </a:lnTo>
                    <a:lnTo>
                      <a:pt x="856" y="123"/>
                    </a:lnTo>
                    <a:lnTo>
                      <a:pt x="854" y="120"/>
                    </a:lnTo>
                    <a:lnTo>
                      <a:pt x="854" y="118"/>
                    </a:lnTo>
                    <a:lnTo>
                      <a:pt x="853" y="116"/>
                    </a:lnTo>
                    <a:lnTo>
                      <a:pt x="853" y="113"/>
                    </a:lnTo>
                    <a:lnTo>
                      <a:pt x="851" y="111"/>
                    </a:lnTo>
                    <a:lnTo>
                      <a:pt x="851" y="108"/>
                    </a:lnTo>
                    <a:lnTo>
                      <a:pt x="849" y="106"/>
                    </a:lnTo>
                    <a:lnTo>
                      <a:pt x="849" y="103"/>
                    </a:lnTo>
                    <a:lnTo>
                      <a:pt x="847" y="101"/>
                    </a:lnTo>
                    <a:lnTo>
                      <a:pt x="847" y="97"/>
                    </a:lnTo>
                    <a:lnTo>
                      <a:pt x="846" y="96"/>
                    </a:lnTo>
                    <a:lnTo>
                      <a:pt x="846" y="92"/>
                    </a:lnTo>
                    <a:lnTo>
                      <a:pt x="844" y="90"/>
                    </a:lnTo>
                    <a:lnTo>
                      <a:pt x="842" y="87"/>
                    </a:lnTo>
                    <a:lnTo>
                      <a:pt x="842" y="85"/>
                    </a:lnTo>
                    <a:lnTo>
                      <a:pt x="840" y="83"/>
                    </a:lnTo>
                    <a:lnTo>
                      <a:pt x="840" y="80"/>
                    </a:lnTo>
                    <a:lnTo>
                      <a:pt x="839" y="78"/>
                    </a:lnTo>
                    <a:lnTo>
                      <a:pt x="839" y="75"/>
                    </a:lnTo>
                    <a:lnTo>
                      <a:pt x="837" y="73"/>
                    </a:lnTo>
                    <a:lnTo>
                      <a:pt x="837" y="69"/>
                    </a:lnTo>
                    <a:lnTo>
                      <a:pt x="835" y="68"/>
                    </a:lnTo>
                    <a:lnTo>
                      <a:pt x="835" y="64"/>
                    </a:lnTo>
                    <a:lnTo>
                      <a:pt x="833" y="62"/>
                    </a:lnTo>
                    <a:lnTo>
                      <a:pt x="833" y="59"/>
                    </a:lnTo>
                    <a:lnTo>
                      <a:pt x="832" y="57"/>
                    </a:lnTo>
                    <a:lnTo>
                      <a:pt x="832" y="56"/>
                    </a:lnTo>
                    <a:lnTo>
                      <a:pt x="830" y="52"/>
                    </a:lnTo>
                    <a:lnTo>
                      <a:pt x="828" y="50"/>
                    </a:lnTo>
                    <a:lnTo>
                      <a:pt x="828" y="47"/>
                    </a:lnTo>
                    <a:lnTo>
                      <a:pt x="826" y="45"/>
                    </a:lnTo>
                    <a:lnTo>
                      <a:pt x="826" y="42"/>
                    </a:lnTo>
                    <a:lnTo>
                      <a:pt x="825" y="40"/>
                    </a:lnTo>
                    <a:lnTo>
                      <a:pt x="825" y="36"/>
                    </a:lnTo>
                    <a:lnTo>
                      <a:pt x="823" y="35"/>
                    </a:lnTo>
                    <a:lnTo>
                      <a:pt x="823" y="31"/>
                    </a:lnTo>
                    <a:lnTo>
                      <a:pt x="821" y="29"/>
                    </a:lnTo>
                    <a:lnTo>
                      <a:pt x="821" y="28"/>
                    </a:lnTo>
                    <a:lnTo>
                      <a:pt x="819" y="24"/>
                    </a:lnTo>
                    <a:lnTo>
                      <a:pt x="819" y="22"/>
                    </a:lnTo>
                    <a:lnTo>
                      <a:pt x="818" y="19"/>
                    </a:lnTo>
                    <a:lnTo>
                      <a:pt x="818" y="17"/>
                    </a:lnTo>
                    <a:lnTo>
                      <a:pt x="816" y="14"/>
                    </a:lnTo>
                    <a:lnTo>
                      <a:pt x="814" y="12"/>
                    </a:lnTo>
                    <a:lnTo>
                      <a:pt x="814" y="9"/>
                    </a:lnTo>
                    <a:lnTo>
                      <a:pt x="813" y="7"/>
                    </a:lnTo>
                    <a:lnTo>
                      <a:pt x="813" y="3"/>
                    </a:lnTo>
                    <a:lnTo>
                      <a:pt x="811" y="2"/>
                    </a:lnTo>
                    <a:lnTo>
                      <a:pt x="811" y="0"/>
                    </a:lnTo>
                    <a:moveTo>
                      <a:pt x="856" y="536"/>
                    </a:moveTo>
                    <a:lnTo>
                      <a:pt x="854" y="534"/>
                    </a:lnTo>
                    <a:lnTo>
                      <a:pt x="853" y="533"/>
                    </a:lnTo>
                    <a:lnTo>
                      <a:pt x="849" y="531"/>
                    </a:lnTo>
                    <a:lnTo>
                      <a:pt x="847" y="527"/>
                    </a:lnTo>
                    <a:lnTo>
                      <a:pt x="846" y="526"/>
                    </a:lnTo>
                    <a:lnTo>
                      <a:pt x="844" y="524"/>
                    </a:lnTo>
                    <a:lnTo>
                      <a:pt x="842" y="522"/>
                    </a:lnTo>
                    <a:lnTo>
                      <a:pt x="839" y="520"/>
                    </a:lnTo>
                    <a:lnTo>
                      <a:pt x="837" y="517"/>
                    </a:lnTo>
                    <a:lnTo>
                      <a:pt x="835" y="515"/>
                    </a:lnTo>
                    <a:lnTo>
                      <a:pt x="833" y="513"/>
                    </a:lnTo>
                    <a:lnTo>
                      <a:pt x="832" y="512"/>
                    </a:lnTo>
                    <a:lnTo>
                      <a:pt x="828" y="508"/>
                    </a:lnTo>
                    <a:lnTo>
                      <a:pt x="826" y="506"/>
                    </a:lnTo>
                    <a:lnTo>
                      <a:pt x="825" y="505"/>
                    </a:lnTo>
                    <a:lnTo>
                      <a:pt x="823" y="503"/>
                    </a:lnTo>
                    <a:lnTo>
                      <a:pt x="819" y="501"/>
                    </a:lnTo>
                    <a:lnTo>
                      <a:pt x="818" y="499"/>
                    </a:lnTo>
                    <a:lnTo>
                      <a:pt x="816" y="496"/>
                    </a:lnTo>
                    <a:lnTo>
                      <a:pt x="814" y="494"/>
                    </a:lnTo>
                    <a:lnTo>
                      <a:pt x="811" y="492"/>
                    </a:lnTo>
                    <a:lnTo>
                      <a:pt x="809" y="491"/>
                    </a:lnTo>
                    <a:lnTo>
                      <a:pt x="807" y="489"/>
                    </a:lnTo>
                    <a:lnTo>
                      <a:pt x="806" y="486"/>
                    </a:lnTo>
                    <a:lnTo>
                      <a:pt x="802" y="484"/>
                    </a:lnTo>
                    <a:lnTo>
                      <a:pt x="800" y="482"/>
                    </a:lnTo>
                    <a:lnTo>
                      <a:pt x="799" y="480"/>
                    </a:lnTo>
                    <a:lnTo>
                      <a:pt x="797" y="479"/>
                    </a:lnTo>
                    <a:lnTo>
                      <a:pt x="793" y="477"/>
                    </a:lnTo>
                    <a:lnTo>
                      <a:pt x="792" y="475"/>
                    </a:lnTo>
                    <a:lnTo>
                      <a:pt x="790" y="472"/>
                    </a:lnTo>
                    <a:lnTo>
                      <a:pt x="788" y="470"/>
                    </a:lnTo>
                    <a:lnTo>
                      <a:pt x="785" y="468"/>
                    </a:lnTo>
                    <a:lnTo>
                      <a:pt x="783" y="466"/>
                    </a:lnTo>
                    <a:lnTo>
                      <a:pt x="781" y="465"/>
                    </a:lnTo>
                    <a:lnTo>
                      <a:pt x="779" y="461"/>
                    </a:lnTo>
                    <a:lnTo>
                      <a:pt x="776" y="459"/>
                    </a:lnTo>
                    <a:lnTo>
                      <a:pt x="774" y="458"/>
                    </a:lnTo>
                    <a:lnTo>
                      <a:pt x="772" y="456"/>
                    </a:lnTo>
                    <a:lnTo>
                      <a:pt x="769" y="454"/>
                    </a:lnTo>
                    <a:lnTo>
                      <a:pt x="767" y="452"/>
                    </a:lnTo>
                    <a:lnTo>
                      <a:pt x="766" y="449"/>
                    </a:lnTo>
                    <a:lnTo>
                      <a:pt x="764" y="447"/>
                    </a:lnTo>
                    <a:lnTo>
                      <a:pt x="762" y="445"/>
                    </a:lnTo>
                    <a:lnTo>
                      <a:pt x="759" y="444"/>
                    </a:lnTo>
                    <a:lnTo>
                      <a:pt x="757" y="442"/>
                    </a:lnTo>
                    <a:lnTo>
                      <a:pt x="755" y="440"/>
                    </a:lnTo>
                    <a:lnTo>
                      <a:pt x="752" y="439"/>
                    </a:lnTo>
                    <a:lnTo>
                      <a:pt x="750" y="435"/>
                    </a:lnTo>
                    <a:lnTo>
                      <a:pt x="748" y="433"/>
                    </a:lnTo>
                    <a:lnTo>
                      <a:pt x="745" y="432"/>
                    </a:lnTo>
                    <a:lnTo>
                      <a:pt x="743" y="430"/>
                    </a:lnTo>
                    <a:lnTo>
                      <a:pt x="741" y="428"/>
                    </a:lnTo>
                    <a:lnTo>
                      <a:pt x="739" y="426"/>
                    </a:lnTo>
                    <a:lnTo>
                      <a:pt x="736" y="425"/>
                    </a:lnTo>
                    <a:lnTo>
                      <a:pt x="734" y="421"/>
                    </a:lnTo>
                    <a:lnTo>
                      <a:pt x="732" y="419"/>
                    </a:lnTo>
                    <a:lnTo>
                      <a:pt x="729" y="418"/>
                    </a:lnTo>
                    <a:lnTo>
                      <a:pt x="727" y="416"/>
                    </a:lnTo>
                    <a:lnTo>
                      <a:pt x="726" y="414"/>
                    </a:lnTo>
                    <a:lnTo>
                      <a:pt x="722" y="412"/>
                    </a:lnTo>
                    <a:lnTo>
                      <a:pt x="720" y="411"/>
                    </a:lnTo>
                    <a:lnTo>
                      <a:pt x="719" y="407"/>
                    </a:lnTo>
                    <a:lnTo>
                      <a:pt x="717" y="405"/>
                    </a:lnTo>
                    <a:lnTo>
                      <a:pt x="713" y="404"/>
                    </a:lnTo>
                    <a:lnTo>
                      <a:pt x="712" y="402"/>
                    </a:lnTo>
                    <a:lnTo>
                      <a:pt x="710" y="400"/>
                    </a:lnTo>
                    <a:lnTo>
                      <a:pt x="706" y="398"/>
                    </a:lnTo>
                    <a:lnTo>
                      <a:pt x="705" y="395"/>
                    </a:lnTo>
                    <a:lnTo>
                      <a:pt x="703" y="393"/>
                    </a:lnTo>
                    <a:lnTo>
                      <a:pt x="699" y="392"/>
                    </a:lnTo>
                    <a:lnTo>
                      <a:pt x="698" y="390"/>
                    </a:lnTo>
                    <a:lnTo>
                      <a:pt x="696" y="388"/>
                    </a:lnTo>
                    <a:lnTo>
                      <a:pt x="692" y="386"/>
                    </a:lnTo>
                    <a:lnTo>
                      <a:pt x="691" y="385"/>
                    </a:lnTo>
                    <a:lnTo>
                      <a:pt x="689" y="383"/>
                    </a:lnTo>
                    <a:lnTo>
                      <a:pt x="685" y="379"/>
                    </a:lnTo>
                    <a:lnTo>
                      <a:pt x="684" y="378"/>
                    </a:lnTo>
                    <a:lnTo>
                      <a:pt x="682" y="376"/>
                    </a:lnTo>
                    <a:lnTo>
                      <a:pt x="679" y="374"/>
                    </a:lnTo>
                    <a:lnTo>
                      <a:pt x="677" y="372"/>
                    </a:lnTo>
                    <a:lnTo>
                      <a:pt x="675" y="371"/>
                    </a:lnTo>
                    <a:lnTo>
                      <a:pt x="672" y="369"/>
                    </a:lnTo>
                    <a:lnTo>
                      <a:pt x="670" y="367"/>
                    </a:lnTo>
                    <a:lnTo>
                      <a:pt x="668" y="365"/>
                    </a:lnTo>
                    <a:lnTo>
                      <a:pt x="665" y="362"/>
                    </a:lnTo>
                    <a:lnTo>
                      <a:pt x="663" y="360"/>
                    </a:lnTo>
                    <a:lnTo>
                      <a:pt x="661" y="358"/>
                    </a:lnTo>
                    <a:lnTo>
                      <a:pt x="658" y="357"/>
                    </a:lnTo>
                    <a:lnTo>
                      <a:pt x="656" y="355"/>
                    </a:lnTo>
                    <a:lnTo>
                      <a:pt x="654" y="353"/>
                    </a:lnTo>
                    <a:lnTo>
                      <a:pt x="651" y="351"/>
                    </a:lnTo>
                    <a:lnTo>
                      <a:pt x="649" y="350"/>
                    </a:lnTo>
                    <a:lnTo>
                      <a:pt x="645" y="348"/>
                    </a:lnTo>
                    <a:lnTo>
                      <a:pt x="644" y="345"/>
                    </a:lnTo>
                    <a:lnTo>
                      <a:pt x="642" y="343"/>
                    </a:lnTo>
                    <a:lnTo>
                      <a:pt x="640" y="341"/>
                    </a:lnTo>
                    <a:lnTo>
                      <a:pt x="637" y="339"/>
                    </a:lnTo>
                    <a:lnTo>
                      <a:pt x="635" y="338"/>
                    </a:lnTo>
                    <a:lnTo>
                      <a:pt x="632" y="336"/>
                    </a:lnTo>
                    <a:lnTo>
                      <a:pt x="630" y="334"/>
                    </a:lnTo>
                    <a:lnTo>
                      <a:pt x="628" y="332"/>
                    </a:lnTo>
                    <a:lnTo>
                      <a:pt x="625" y="331"/>
                    </a:lnTo>
                    <a:lnTo>
                      <a:pt x="623" y="329"/>
                    </a:lnTo>
                    <a:lnTo>
                      <a:pt x="621" y="325"/>
                    </a:lnTo>
                    <a:lnTo>
                      <a:pt x="618" y="324"/>
                    </a:lnTo>
                    <a:lnTo>
                      <a:pt x="616" y="322"/>
                    </a:lnTo>
                    <a:lnTo>
                      <a:pt x="612" y="320"/>
                    </a:lnTo>
                    <a:lnTo>
                      <a:pt x="611" y="318"/>
                    </a:lnTo>
                    <a:lnTo>
                      <a:pt x="609" y="317"/>
                    </a:lnTo>
                    <a:lnTo>
                      <a:pt x="605" y="315"/>
                    </a:lnTo>
                    <a:lnTo>
                      <a:pt x="604" y="313"/>
                    </a:lnTo>
                    <a:lnTo>
                      <a:pt x="600" y="311"/>
                    </a:lnTo>
                    <a:lnTo>
                      <a:pt x="598" y="310"/>
                    </a:lnTo>
                    <a:lnTo>
                      <a:pt x="597" y="308"/>
                    </a:lnTo>
                    <a:lnTo>
                      <a:pt x="593" y="306"/>
                    </a:lnTo>
                    <a:lnTo>
                      <a:pt x="591" y="303"/>
                    </a:lnTo>
                    <a:lnTo>
                      <a:pt x="590" y="301"/>
                    </a:lnTo>
                    <a:lnTo>
                      <a:pt x="586" y="299"/>
                    </a:lnTo>
                    <a:lnTo>
                      <a:pt x="585" y="298"/>
                    </a:lnTo>
                    <a:lnTo>
                      <a:pt x="581" y="296"/>
                    </a:lnTo>
                    <a:lnTo>
                      <a:pt x="579" y="294"/>
                    </a:lnTo>
                    <a:lnTo>
                      <a:pt x="576" y="292"/>
                    </a:lnTo>
                    <a:lnTo>
                      <a:pt x="574" y="291"/>
                    </a:lnTo>
                    <a:lnTo>
                      <a:pt x="572" y="289"/>
                    </a:lnTo>
                    <a:lnTo>
                      <a:pt x="569" y="287"/>
                    </a:lnTo>
                    <a:lnTo>
                      <a:pt x="567" y="285"/>
                    </a:lnTo>
                    <a:lnTo>
                      <a:pt x="564" y="284"/>
                    </a:lnTo>
                    <a:lnTo>
                      <a:pt x="562" y="282"/>
                    </a:lnTo>
                    <a:lnTo>
                      <a:pt x="560" y="280"/>
                    </a:lnTo>
                    <a:lnTo>
                      <a:pt x="557" y="278"/>
                    </a:lnTo>
                    <a:lnTo>
                      <a:pt x="555" y="275"/>
                    </a:lnTo>
                    <a:lnTo>
                      <a:pt x="551" y="273"/>
                    </a:lnTo>
                    <a:lnTo>
                      <a:pt x="550" y="271"/>
                    </a:lnTo>
                    <a:lnTo>
                      <a:pt x="548" y="270"/>
                    </a:lnTo>
                    <a:lnTo>
                      <a:pt x="544" y="268"/>
                    </a:lnTo>
                    <a:lnTo>
                      <a:pt x="543" y="266"/>
                    </a:lnTo>
                    <a:lnTo>
                      <a:pt x="539" y="264"/>
                    </a:lnTo>
                    <a:lnTo>
                      <a:pt x="538" y="263"/>
                    </a:lnTo>
                    <a:lnTo>
                      <a:pt x="534" y="261"/>
                    </a:lnTo>
                    <a:lnTo>
                      <a:pt x="532" y="259"/>
                    </a:lnTo>
                    <a:lnTo>
                      <a:pt x="531" y="257"/>
                    </a:lnTo>
                    <a:lnTo>
                      <a:pt x="527" y="256"/>
                    </a:lnTo>
                    <a:lnTo>
                      <a:pt x="525" y="254"/>
                    </a:lnTo>
                    <a:lnTo>
                      <a:pt x="522" y="252"/>
                    </a:lnTo>
                    <a:lnTo>
                      <a:pt x="520" y="250"/>
                    </a:lnTo>
                    <a:lnTo>
                      <a:pt x="517" y="249"/>
                    </a:lnTo>
                    <a:lnTo>
                      <a:pt x="515" y="247"/>
                    </a:lnTo>
                    <a:lnTo>
                      <a:pt x="511" y="245"/>
                    </a:lnTo>
                    <a:lnTo>
                      <a:pt x="510" y="244"/>
                    </a:lnTo>
                    <a:lnTo>
                      <a:pt x="508" y="242"/>
                    </a:lnTo>
                    <a:lnTo>
                      <a:pt x="504" y="240"/>
                    </a:lnTo>
                    <a:lnTo>
                      <a:pt x="503" y="238"/>
                    </a:lnTo>
                    <a:lnTo>
                      <a:pt x="499" y="235"/>
                    </a:lnTo>
                    <a:lnTo>
                      <a:pt x="498" y="233"/>
                    </a:lnTo>
                    <a:lnTo>
                      <a:pt x="494" y="233"/>
                    </a:lnTo>
                    <a:lnTo>
                      <a:pt x="492" y="230"/>
                    </a:lnTo>
                    <a:lnTo>
                      <a:pt x="489" y="228"/>
                    </a:lnTo>
                    <a:lnTo>
                      <a:pt x="487" y="226"/>
                    </a:lnTo>
                    <a:lnTo>
                      <a:pt x="484" y="224"/>
                    </a:lnTo>
                    <a:lnTo>
                      <a:pt x="482" y="223"/>
                    </a:lnTo>
                    <a:lnTo>
                      <a:pt x="480" y="221"/>
                    </a:lnTo>
                    <a:lnTo>
                      <a:pt x="477" y="219"/>
                    </a:lnTo>
                    <a:lnTo>
                      <a:pt x="475" y="217"/>
                    </a:lnTo>
                    <a:lnTo>
                      <a:pt x="471" y="216"/>
                    </a:lnTo>
                    <a:lnTo>
                      <a:pt x="470" y="214"/>
                    </a:lnTo>
                    <a:lnTo>
                      <a:pt x="466" y="212"/>
                    </a:lnTo>
                    <a:lnTo>
                      <a:pt x="464" y="210"/>
                    </a:lnTo>
                    <a:lnTo>
                      <a:pt x="461" y="209"/>
                    </a:lnTo>
                    <a:lnTo>
                      <a:pt x="459" y="207"/>
                    </a:lnTo>
                    <a:lnTo>
                      <a:pt x="456" y="205"/>
                    </a:lnTo>
                    <a:lnTo>
                      <a:pt x="454" y="203"/>
                    </a:lnTo>
                    <a:lnTo>
                      <a:pt x="451" y="202"/>
                    </a:lnTo>
                    <a:lnTo>
                      <a:pt x="449" y="200"/>
                    </a:lnTo>
                    <a:lnTo>
                      <a:pt x="445" y="198"/>
                    </a:lnTo>
                    <a:lnTo>
                      <a:pt x="444" y="197"/>
                    </a:lnTo>
                    <a:lnTo>
                      <a:pt x="440" y="195"/>
                    </a:lnTo>
                    <a:lnTo>
                      <a:pt x="438" y="193"/>
                    </a:lnTo>
                    <a:lnTo>
                      <a:pt x="435" y="191"/>
                    </a:lnTo>
                    <a:lnTo>
                      <a:pt x="433" y="190"/>
                    </a:lnTo>
                    <a:lnTo>
                      <a:pt x="430" y="188"/>
                    </a:lnTo>
                    <a:lnTo>
                      <a:pt x="428" y="186"/>
                    </a:lnTo>
                    <a:lnTo>
                      <a:pt x="424" y="184"/>
                    </a:lnTo>
                    <a:lnTo>
                      <a:pt x="423" y="183"/>
                    </a:lnTo>
                    <a:lnTo>
                      <a:pt x="419" y="181"/>
                    </a:lnTo>
                    <a:lnTo>
                      <a:pt x="417" y="179"/>
                    </a:lnTo>
                    <a:lnTo>
                      <a:pt x="414" y="177"/>
                    </a:lnTo>
                    <a:lnTo>
                      <a:pt x="412" y="176"/>
                    </a:lnTo>
                    <a:lnTo>
                      <a:pt x="409" y="174"/>
                    </a:lnTo>
                    <a:lnTo>
                      <a:pt x="407" y="172"/>
                    </a:lnTo>
                    <a:lnTo>
                      <a:pt x="404" y="170"/>
                    </a:lnTo>
                    <a:lnTo>
                      <a:pt x="402" y="169"/>
                    </a:lnTo>
                    <a:lnTo>
                      <a:pt x="398" y="167"/>
                    </a:lnTo>
                    <a:lnTo>
                      <a:pt x="397" y="165"/>
                    </a:lnTo>
                    <a:lnTo>
                      <a:pt x="393" y="163"/>
                    </a:lnTo>
                    <a:lnTo>
                      <a:pt x="391" y="162"/>
                    </a:lnTo>
                    <a:lnTo>
                      <a:pt x="388" y="160"/>
                    </a:lnTo>
                    <a:lnTo>
                      <a:pt x="386" y="158"/>
                    </a:lnTo>
                    <a:lnTo>
                      <a:pt x="383" y="156"/>
                    </a:lnTo>
                    <a:lnTo>
                      <a:pt x="381" y="155"/>
                    </a:lnTo>
                    <a:lnTo>
                      <a:pt x="377" y="153"/>
                    </a:lnTo>
                    <a:lnTo>
                      <a:pt x="376" y="151"/>
                    </a:lnTo>
                    <a:lnTo>
                      <a:pt x="372" y="151"/>
                    </a:lnTo>
                    <a:lnTo>
                      <a:pt x="370" y="148"/>
                    </a:lnTo>
                    <a:lnTo>
                      <a:pt x="367" y="148"/>
                    </a:lnTo>
                    <a:lnTo>
                      <a:pt x="365" y="146"/>
                    </a:lnTo>
                    <a:lnTo>
                      <a:pt x="362" y="144"/>
                    </a:lnTo>
                    <a:lnTo>
                      <a:pt x="358" y="143"/>
                    </a:lnTo>
                    <a:lnTo>
                      <a:pt x="357" y="141"/>
                    </a:lnTo>
                    <a:lnTo>
                      <a:pt x="353" y="139"/>
                    </a:lnTo>
                    <a:lnTo>
                      <a:pt x="351" y="137"/>
                    </a:lnTo>
                    <a:lnTo>
                      <a:pt x="348" y="136"/>
                    </a:lnTo>
                    <a:lnTo>
                      <a:pt x="346" y="134"/>
                    </a:lnTo>
                    <a:lnTo>
                      <a:pt x="343" y="132"/>
                    </a:lnTo>
                    <a:lnTo>
                      <a:pt x="341" y="130"/>
                    </a:lnTo>
                    <a:lnTo>
                      <a:pt x="337" y="129"/>
                    </a:lnTo>
                    <a:lnTo>
                      <a:pt x="336" y="127"/>
                    </a:lnTo>
                    <a:lnTo>
                      <a:pt x="332" y="125"/>
                    </a:lnTo>
                    <a:lnTo>
                      <a:pt x="330" y="123"/>
                    </a:lnTo>
                    <a:lnTo>
                      <a:pt x="327" y="122"/>
                    </a:lnTo>
                    <a:lnTo>
                      <a:pt x="325" y="120"/>
                    </a:lnTo>
                    <a:lnTo>
                      <a:pt x="322" y="118"/>
                    </a:lnTo>
                    <a:lnTo>
                      <a:pt x="318" y="116"/>
                    </a:lnTo>
                    <a:lnTo>
                      <a:pt x="316" y="115"/>
                    </a:lnTo>
                    <a:lnTo>
                      <a:pt x="313" y="115"/>
                    </a:lnTo>
                    <a:lnTo>
                      <a:pt x="311" y="111"/>
                    </a:lnTo>
                    <a:lnTo>
                      <a:pt x="308" y="111"/>
                    </a:lnTo>
                    <a:lnTo>
                      <a:pt x="306" y="109"/>
                    </a:lnTo>
                    <a:lnTo>
                      <a:pt x="303" y="108"/>
                    </a:lnTo>
                    <a:lnTo>
                      <a:pt x="301" y="106"/>
                    </a:lnTo>
                    <a:lnTo>
                      <a:pt x="297" y="104"/>
                    </a:lnTo>
                    <a:lnTo>
                      <a:pt x="294" y="103"/>
                    </a:lnTo>
                    <a:lnTo>
                      <a:pt x="292" y="101"/>
                    </a:lnTo>
                    <a:lnTo>
                      <a:pt x="289" y="99"/>
                    </a:lnTo>
                    <a:lnTo>
                      <a:pt x="287" y="97"/>
                    </a:lnTo>
                    <a:lnTo>
                      <a:pt x="283" y="96"/>
                    </a:lnTo>
                    <a:lnTo>
                      <a:pt x="280" y="94"/>
                    </a:lnTo>
                    <a:lnTo>
                      <a:pt x="278" y="92"/>
                    </a:lnTo>
                    <a:lnTo>
                      <a:pt x="275" y="90"/>
                    </a:lnTo>
                    <a:lnTo>
                      <a:pt x="273" y="89"/>
                    </a:lnTo>
                    <a:lnTo>
                      <a:pt x="269" y="89"/>
                    </a:lnTo>
                    <a:lnTo>
                      <a:pt x="268" y="87"/>
                    </a:lnTo>
                    <a:lnTo>
                      <a:pt x="264" y="85"/>
                    </a:lnTo>
                    <a:lnTo>
                      <a:pt x="263" y="83"/>
                    </a:lnTo>
                    <a:lnTo>
                      <a:pt x="259" y="82"/>
                    </a:lnTo>
                    <a:lnTo>
                      <a:pt x="256" y="80"/>
                    </a:lnTo>
                    <a:lnTo>
                      <a:pt x="254" y="78"/>
                    </a:lnTo>
                    <a:lnTo>
                      <a:pt x="250" y="76"/>
                    </a:lnTo>
                    <a:lnTo>
                      <a:pt x="249" y="75"/>
                    </a:lnTo>
                    <a:lnTo>
                      <a:pt x="245" y="73"/>
                    </a:lnTo>
                    <a:lnTo>
                      <a:pt x="242" y="73"/>
                    </a:lnTo>
                    <a:lnTo>
                      <a:pt x="240" y="71"/>
                    </a:lnTo>
                    <a:lnTo>
                      <a:pt x="236" y="69"/>
                    </a:lnTo>
                    <a:lnTo>
                      <a:pt x="235" y="68"/>
                    </a:lnTo>
                    <a:lnTo>
                      <a:pt x="231" y="66"/>
                    </a:lnTo>
                    <a:lnTo>
                      <a:pt x="228" y="64"/>
                    </a:lnTo>
                    <a:lnTo>
                      <a:pt x="226" y="62"/>
                    </a:lnTo>
                    <a:lnTo>
                      <a:pt x="223" y="61"/>
                    </a:lnTo>
                    <a:lnTo>
                      <a:pt x="221" y="59"/>
                    </a:lnTo>
                    <a:lnTo>
                      <a:pt x="217" y="57"/>
                    </a:lnTo>
                    <a:lnTo>
                      <a:pt x="214" y="56"/>
                    </a:lnTo>
                    <a:lnTo>
                      <a:pt x="212" y="56"/>
                    </a:lnTo>
                    <a:lnTo>
                      <a:pt x="209" y="54"/>
                    </a:lnTo>
                    <a:lnTo>
                      <a:pt x="207" y="52"/>
                    </a:lnTo>
                    <a:lnTo>
                      <a:pt x="203" y="50"/>
                    </a:lnTo>
                    <a:lnTo>
                      <a:pt x="200" y="49"/>
                    </a:lnTo>
                    <a:lnTo>
                      <a:pt x="198" y="47"/>
                    </a:lnTo>
                    <a:lnTo>
                      <a:pt x="195" y="45"/>
                    </a:lnTo>
                    <a:lnTo>
                      <a:pt x="193" y="43"/>
                    </a:lnTo>
                    <a:lnTo>
                      <a:pt x="189" y="42"/>
                    </a:lnTo>
                    <a:lnTo>
                      <a:pt x="186" y="42"/>
                    </a:lnTo>
                    <a:lnTo>
                      <a:pt x="184" y="40"/>
                    </a:lnTo>
                    <a:lnTo>
                      <a:pt x="181" y="38"/>
                    </a:lnTo>
                    <a:lnTo>
                      <a:pt x="179" y="36"/>
                    </a:lnTo>
                    <a:lnTo>
                      <a:pt x="176" y="35"/>
                    </a:lnTo>
                    <a:lnTo>
                      <a:pt x="172" y="33"/>
                    </a:lnTo>
                    <a:lnTo>
                      <a:pt x="170" y="31"/>
                    </a:lnTo>
                    <a:lnTo>
                      <a:pt x="167" y="29"/>
                    </a:lnTo>
                    <a:lnTo>
                      <a:pt x="163" y="29"/>
                    </a:lnTo>
                    <a:lnTo>
                      <a:pt x="162" y="28"/>
                    </a:lnTo>
                    <a:lnTo>
                      <a:pt x="158" y="26"/>
                    </a:lnTo>
                    <a:lnTo>
                      <a:pt x="156" y="24"/>
                    </a:lnTo>
                    <a:lnTo>
                      <a:pt x="153" y="22"/>
                    </a:lnTo>
                    <a:lnTo>
                      <a:pt x="149" y="21"/>
                    </a:lnTo>
                    <a:lnTo>
                      <a:pt x="148" y="19"/>
                    </a:lnTo>
                    <a:lnTo>
                      <a:pt x="144" y="19"/>
                    </a:lnTo>
                    <a:lnTo>
                      <a:pt x="141" y="17"/>
                    </a:lnTo>
                    <a:lnTo>
                      <a:pt x="139" y="15"/>
                    </a:lnTo>
                    <a:lnTo>
                      <a:pt x="135" y="14"/>
                    </a:lnTo>
                    <a:lnTo>
                      <a:pt x="132" y="12"/>
                    </a:lnTo>
                    <a:lnTo>
                      <a:pt x="130" y="10"/>
                    </a:lnTo>
                    <a:lnTo>
                      <a:pt x="127" y="9"/>
                    </a:lnTo>
                    <a:lnTo>
                      <a:pt x="125" y="7"/>
                    </a:lnTo>
                    <a:lnTo>
                      <a:pt x="122" y="7"/>
                    </a:lnTo>
                    <a:lnTo>
                      <a:pt x="118" y="5"/>
                    </a:lnTo>
                    <a:lnTo>
                      <a:pt x="116" y="3"/>
                    </a:lnTo>
                    <a:lnTo>
                      <a:pt x="113" y="2"/>
                    </a:lnTo>
                    <a:lnTo>
                      <a:pt x="109" y="0"/>
                    </a:lnTo>
                    <a:lnTo>
                      <a:pt x="108" y="0"/>
                    </a:lnTo>
                    <a:moveTo>
                      <a:pt x="1034" y="728"/>
                    </a:moveTo>
                    <a:lnTo>
                      <a:pt x="1032" y="726"/>
                    </a:lnTo>
                    <a:lnTo>
                      <a:pt x="1030" y="724"/>
                    </a:lnTo>
                    <a:lnTo>
                      <a:pt x="1028" y="721"/>
                    </a:lnTo>
                    <a:lnTo>
                      <a:pt x="1025" y="719"/>
                    </a:lnTo>
                    <a:lnTo>
                      <a:pt x="1023" y="717"/>
                    </a:lnTo>
                    <a:lnTo>
                      <a:pt x="1021" y="714"/>
                    </a:lnTo>
                    <a:lnTo>
                      <a:pt x="1020" y="712"/>
                    </a:lnTo>
                    <a:lnTo>
                      <a:pt x="1018" y="710"/>
                    </a:lnTo>
                    <a:lnTo>
                      <a:pt x="1016" y="708"/>
                    </a:lnTo>
                    <a:lnTo>
                      <a:pt x="1014" y="705"/>
                    </a:lnTo>
                    <a:lnTo>
                      <a:pt x="1013" y="703"/>
                    </a:lnTo>
                    <a:lnTo>
                      <a:pt x="1011" y="701"/>
                    </a:lnTo>
                    <a:lnTo>
                      <a:pt x="1009" y="700"/>
                    </a:lnTo>
                    <a:lnTo>
                      <a:pt x="1006" y="696"/>
                    </a:lnTo>
                    <a:lnTo>
                      <a:pt x="1004" y="694"/>
                    </a:lnTo>
                    <a:lnTo>
                      <a:pt x="1002" y="693"/>
                    </a:lnTo>
                    <a:lnTo>
                      <a:pt x="1000" y="691"/>
                    </a:lnTo>
                    <a:lnTo>
                      <a:pt x="999" y="687"/>
                    </a:lnTo>
                    <a:lnTo>
                      <a:pt x="997" y="686"/>
                    </a:lnTo>
                    <a:lnTo>
                      <a:pt x="995" y="684"/>
                    </a:lnTo>
                    <a:lnTo>
                      <a:pt x="994" y="682"/>
                    </a:lnTo>
                    <a:lnTo>
                      <a:pt x="992" y="681"/>
                    </a:lnTo>
                    <a:lnTo>
                      <a:pt x="988" y="677"/>
                    </a:lnTo>
                    <a:lnTo>
                      <a:pt x="987" y="675"/>
                    </a:lnTo>
                    <a:lnTo>
                      <a:pt x="985" y="674"/>
                    </a:lnTo>
                    <a:lnTo>
                      <a:pt x="983" y="672"/>
                    </a:lnTo>
                    <a:lnTo>
                      <a:pt x="981" y="668"/>
                    </a:lnTo>
                    <a:lnTo>
                      <a:pt x="980" y="667"/>
                    </a:lnTo>
                    <a:lnTo>
                      <a:pt x="978" y="665"/>
                    </a:lnTo>
                    <a:lnTo>
                      <a:pt x="974" y="663"/>
                    </a:lnTo>
                    <a:lnTo>
                      <a:pt x="973" y="660"/>
                    </a:lnTo>
                    <a:lnTo>
                      <a:pt x="971" y="658"/>
                    </a:lnTo>
                    <a:lnTo>
                      <a:pt x="969" y="656"/>
                    </a:lnTo>
                    <a:lnTo>
                      <a:pt x="967" y="654"/>
                    </a:lnTo>
                    <a:lnTo>
                      <a:pt x="966" y="651"/>
                    </a:lnTo>
                    <a:lnTo>
                      <a:pt x="964" y="649"/>
                    </a:lnTo>
                    <a:lnTo>
                      <a:pt x="962" y="647"/>
                    </a:lnTo>
                    <a:lnTo>
                      <a:pt x="960" y="646"/>
                    </a:lnTo>
                    <a:lnTo>
                      <a:pt x="957" y="642"/>
                    </a:lnTo>
                    <a:lnTo>
                      <a:pt x="955" y="640"/>
                    </a:lnTo>
                    <a:lnTo>
                      <a:pt x="954" y="639"/>
                    </a:lnTo>
                    <a:lnTo>
                      <a:pt x="952" y="637"/>
                    </a:lnTo>
                    <a:lnTo>
                      <a:pt x="950" y="634"/>
                    </a:lnTo>
                    <a:lnTo>
                      <a:pt x="948" y="632"/>
                    </a:lnTo>
                    <a:lnTo>
                      <a:pt x="947" y="630"/>
                    </a:lnTo>
                    <a:lnTo>
                      <a:pt x="945" y="628"/>
                    </a:lnTo>
                    <a:lnTo>
                      <a:pt x="941" y="625"/>
                    </a:lnTo>
                    <a:lnTo>
                      <a:pt x="940" y="623"/>
                    </a:lnTo>
                    <a:lnTo>
                      <a:pt x="938" y="621"/>
                    </a:lnTo>
                    <a:lnTo>
                      <a:pt x="936" y="620"/>
                    </a:lnTo>
                    <a:lnTo>
                      <a:pt x="934" y="616"/>
                    </a:lnTo>
                    <a:lnTo>
                      <a:pt x="933" y="614"/>
                    </a:lnTo>
                    <a:lnTo>
                      <a:pt x="931" y="613"/>
                    </a:lnTo>
                    <a:lnTo>
                      <a:pt x="927" y="611"/>
                    </a:lnTo>
                    <a:lnTo>
                      <a:pt x="926" y="607"/>
                    </a:lnTo>
                    <a:lnTo>
                      <a:pt x="924" y="606"/>
                    </a:lnTo>
                    <a:lnTo>
                      <a:pt x="922" y="604"/>
                    </a:lnTo>
                    <a:lnTo>
                      <a:pt x="920" y="602"/>
                    </a:lnTo>
                    <a:lnTo>
                      <a:pt x="919" y="600"/>
                    </a:lnTo>
                    <a:lnTo>
                      <a:pt x="915" y="597"/>
                    </a:lnTo>
                    <a:lnTo>
                      <a:pt x="913" y="595"/>
                    </a:lnTo>
                    <a:lnTo>
                      <a:pt x="912" y="593"/>
                    </a:lnTo>
                    <a:lnTo>
                      <a:pt x="910" y="592"/>
                    </a:lnTo>
                    <a:lnTo>
                      <a:pt x="908" y="588"/>
                    </a:lnTo>
                    <a:lnTo>
                      <a:pt x="905" y="586"/>
                    </a:lnTo>
                    <a:lnTo>
                      <a:pt x="903" y="585"/>
                    </a:lnTo>
                    <a:lnTo>
                      <a:pt x="901" y="583"/>
                    </a:lnTo>
                    <a:lnTo>
                      <a:pt x="900" y="581"/>
                    </a:lnTo>
                    <a:lnTo>
                      <a:pt x="898" y="578"/>
                    </a:lnTo>
                    <a:lnTo>
                      <a:pt x="896" y="576"/>
                    </a:lnTo>
                    <a:lnTo>
                      <a:pt x="894" y="574"/>
                    </a:lnTo>
                    <a:lnTo>
                      <a:pt x="891" y="573"/>
                    </a:lnTo>
                    <a:lnTo>
                      <a:pt x="889" y="571"/>
                    </a:lnTo>
                    <a:lnTo>
                      <a:pt x="887" y="567"/>
                    </a:lnTo>
                    <a:lnTo>
                      <a:pt x="886" y="566"/>
                    </a:lnTo>
                    <a:lnTo>
                      <a:pt x="884" y="564"/>
                    </a:lnTo>
                    <a:lnTo>
                      <a:pt x="880" y="562"/>
                    </a:lnTo>
                    <a:lnTo>
                      <a:pt x="879" y="559"/>
                    </a:lnTo>
                    <a:lnTo>
                      <a:pt x="877" y="557"/>
                    </a:lnTo>
                    <a:lnTo>
                      <a:pt x="875" y="555"/>
                    </a:lnTo>
                    <a:lnTo>
                      <a:pt x="873" y="553"/>
                    </a:lnTo>
                    <a:lnTo>
                      <a:pt x="872" y="550"/>
                    </a:lnTo>
                    <a:lnTo>
                      <a:pt x="868" y="548"/>
                    </a:lnTo>
                    <a:lnTo>
                      <a:pt x="866" y="546"/>
                    </a:lnTo>
                    <a:lnTo>
                      <a:pt x="865" y="545"/>
                    </a:lnTo>
                    <a:lnTo>
                      <a:pt x="863" y="543"/>
                    </a:lnTo>
                    <a:lnTo>
                      <a:pt x="860" y="539"/>
                    </a:lnTo>
                    <a:lnTo>
                      <a:pt x="858" y="538"/>
                    </a:lnTo>
                    <a:lnTo>
                      <a:pt x="856" y="536"/>
                    </a:lnTo>
                    <a:moveTo>
                      <a:pt x="661" y="571"/>
                    </a:moveTo>
                    <a:lnTo>
                      <a:pt x="658" y="569"/>
                    </a:lnTo>
                    <a:lnTo>
                      <a:pt x="654" y="569"/>
                    </a:lnTo>
                    <a:lnTo>
                      <a:pt x="651" y="567"/>
                    </a:lnTo>
                    <a:lnTo>
                      <a:pt x="647" y="566"/>
                    </a:lnTo>
                    <a:lnTo>
                      <a:pt x="645" y="566"/>
                    </a:lnTo>
                    <a:lnTo>
                      <a:pt x="642" y="564"/>
                    </a:lnTo>
                    <a:lnTo>
                      <a:pt x="638" y="564"/>
                    </a:lnTo>
                    <a:lnTo>
                      <a:pt x="635" y="562"/>
                    </a:lnTo>
                    <a:lnTo>
                      <a:pt x="632" y="562"/>
                    </a:lnTo>
                    <a:lnTo>
                      <a:pt x="630" y="560"/>
                    </a:lnTo>
                    <a:lnTo>
                      <a:pt x="626" y="559"/>
                    </a:lnTo>
                    <a:lnTo>
                      <a:pt x="623" y="559"/>
                    </a:lnTo>
                    <a:lnTo>
                      <a:pt x="619" y="557"/>
                    </a:lnTo>
                    <a:lnTo>
                      <a:pt x="616" y="557"/>
                    </a:lnTo>
                    <a:lnTo>
                      <a:pt x="612" y="555"/>
                    </a:lnTo>
                    <a:lnTo>
                      <a:pt x="609" y="555"/>
                    </a:lnTo>
                    <a:lnTo>
                      <a:pt x="607" y="553"/>
                    </a:lnTo>
                    <a:lnTo>
                      <a:pt x="604" y="553"/>
                    </a:lnTo>
                    <a:lnTo>
                      <a:pt x="600" y="552"/>
                    </a:lnTo>
                    <a:lnTo>
                      <a:pt x="597" y="550"/>
                    </a:lnTo>
                    <a:lnTo>
                      <a:pt x="593" y="550"/>
                    </a:lnTo>
                    <a:lnTo>
                      <a:pt x="590" y="548"/>
                    </a:lnTo>
                    <a:lnTo>
                      <a:pt x="586" y="548"/>
                    </a:lnTo>
                    <a:lnTo>
                      <a:pt x="585" y="546"/>
                    </a:lnTo>
                    <a:lnTo>
                      <a:pt x="581" y="546"/>
                    </a:lnTo>
                    <a:lnTo>
                      <a:pt x="578" y="545"/>
                    </a:lnTo>
                    <a:lnTo>
                      <a:pt x="574" y="545"/>
                    </a:lnTo>
                    <a:lnTo>
                      <a:pt x="571" y="543"/>
                    </a:lnTo>
                    <a:lnTo>
                      <a:pt x="567" y="543"/>
                    </a:lnTo>
                    <a:lnTo>
                      <a:pt x="564" y="541"/>
                    </a:lnTo>
                    <a:lnTo>
                      <a:pt x="560" y="541"/>
                    </a:lnTo>
                    <a:lnTo>
                      <a:pt x="558" y="539"/>
                    </a:lnTo>
                    <a:lnTo>
                      <a:pt x="555" y="539"/>
                    </a:lnTo>
                    <a:lnTo>
                      <a:pt x="551" y="538"/>
                    </a:lnTo>
                    <a:lnTo>
                      <a:pt x="548" y="538"/>
                    </a:lnTo>
                    <a:lnTo>
                      <a:pt x="544" y="536"/>
                    </a:lnTo>
                    <a:lnTo>
                      <a:pt x="541" y="536"/>
                    </a:lnTo>
                    <a:lnTo>
                      <a:pt x="538" y="534"/>
                    </a:lnTo>
                    <a:lnTo>
                      <a:pt x="534" y="534"/>
                    </a:lnTo>
                    <a:lnTo>
                      <a:pt x="531" y="533"/>
                    </a:lnTo>
                    <a:lnTo>
                      <a:pt x="529" y="533"/>
                    </a:lnTo>
                    <a:lnTo>
                      <a:pt x="525" y="531"/>
                    </a:lnTo>
                    <a:lnTo>
                      <a:pt x="522" y="531"/>
                    </a:lnTo>
                    <a:lnTo>
                      <a:pt x="518" y="529"/>
                    </a:lnTo>
                    <a:lnTo>
                      <a:pt x="515" y="529"/>
                    </a:lnTo>
                    <a:lnTo>
                      <a:pt x="511" y="527"/>
                    </a:lnTo>
                    <a:lnTo>
                      <a:pt x="508" y="527"/>
                    </a:lnTo>
                    <a:lnTo>
                      <a:pt x="504" y="527"/>
                    </a:lnTo>
                    <a:lnTo>
                      <a:pt x="503" y="526"/>
                    </a:lnTo>
                    <a:lnTo>
                      <a:pt x="499" y="526"/>
                    </a:lnTo>
                    <a:lnTo>
                      <a:pt x="496" y="524"/>
                    </a:lnTo>
                    <a:lnTo>
                      <a:pt x="492" y="524"/>
                    </a:lnTo>
                    <a:lnTo>
                      <a:pt x="489" y="522"/>
                    </a:lnTo>
                    <a:lnTo>
                      <a:pt x="485" y="522"/>
                    </a:lnTo>
                    <a:lnTo>
                      <a:pt x="482" y="522"/>
                    </a:lnTo>
                    <a:lnTo>
                      <a:pt x="478" y="520"/>
                    </a:lnTo>
                    <a:lnTo>
                      <a:pt x="475" y="520"/>
                    </a:lnTo>
                    <a:lnTo>
                      <a:pt x="471" y="519"/>
                    </a:lnTo>
                    <a:lnTo>
                      <a:pt x="468" y="519"/>
                    </a:lnTo>
                    <a:lnTo>
                      <a:pt x="466" y="519"/>
                    </a:lnTo>
                    <a:lnTo>
                      <a:pt x="463" y="517"/>
                    </a:lnTo>
                    <a:lnTo>
                      <a:pt x="459" y="517"/>
                    </a:lnTo>
                    <a:lnTo>
                      <a:pt x="456" y="515"/>
                    </a:lnTo>
                    <a:lnTo>
                      <a:pt x="452" y="515"/>
                    </a:lnTo>
                    <a:lnTo>
                      <a:pt x="449" y="515"/>
                    </a:lnTo>
                    <a:lnTo>
                      <a:pt x="445" y="513"/>
                    </a:lnTo>
                    <a:lnTo>
                      <a:pt x="442" y="513"/>
                    </a:lnTo>
                    <a:lnTo>
                      <a:pt x="438" y="512"/>
                    </a:lnTo>
                    <a:lnTo>
                      <a:pt x="435" y="512"/>
                    </a:lnTo>
                    <a:lnTo>
                      <a:pt x="431" y="512"/>
                    </a:lnTo>
                    <a:lnTo>
                      <a:pt x="428" y="510"/>
                    </a:lnTo>
                    <a:lnTo>
                      <a:pt x="424" y="510"/>
                    </a:lnTo>
                    <a:lnTo>
                      <a:pt x="421" y="510"/>
                    </a:lnTo>
                    <a:lnTo>
                      <a:pt x="417" y="508"/>
                    </a:lnTo>
                    <a:lnTo>
                      <a:pt x="416" y="508"/>
                    </a:lnTo>
                    <a:lnTo>
                      <a:pt x="412" y="508"/>
                    </a:lnTo>
                    <a:lnTo>
                      <a:pt x="409" y="506"/>
                    </a:lnTo>
                    <a:lnTo>
                      <a:pt x="405" y="506"/>
                    </a:lnTo>
                    <a:lnTo>
                      <a:pt x="402" y="505"/>
                    </a:lnTo>
                    <a:lnTo>
                      <a:pt x="398" y="505"/>
                    </a:lnTo>
                    <a:lnTo>
                      <a:pt x="395" y="505"/>
                    </a:lnTo>
                    <a:lnTo>
                      <a:pt x="391" y="505"/>
                    </a:lnTo>
                    <a:lnTo>
                      <a:pt x="388" y="503"/>
                    </a:lnTo>
                    <a:lnTo>
                      <a:pt x="384" y="503"/>
                    </a:lnTo>
                    <a:lnTo>
                      <a:pt x="381" y="503"/>
                    </a:lnTo>
                    <a:lnTo>
                      <a:pt x="377" y="501"/>
                    </a:lnTo>
                    <a:lnTo>
                      <a:pt x="374" y="501"/>
                    </a:lnTo>
                    <a:lnTo>
                      <a:pt x="370" y="501"/>
                    </a:lnTo>
                    <a:lnTo>
                      <a:pt x="367" y="499"/>
                    </a:lnTo>
                    <a:lnTo>
                      <a:pt x="365" y="499"/>
                    </a:lnTo>
                    <a:lnTo>
                      <a:pt x="362" y="499"/>
                    </a:lnTo>
                    <a:lnTo>
                      <a:pt x="358" y="499"/>
                    </a:lnTo>
                    <a:lnTo>
                      <a:pt x="355" y="498"/>
                    </a:lnTo>
                    <a:lnTo>
                      <a:pt x="351" y="498"/>
                    </a:lnTo>
                    <a:lnTo>
                      <a:pt x="348" y="498"/>
                    </a:lnTo>
                    <a:lnTo>
                      <a:pt x="344" y="496"/>
                    </a:lnTo>
                    <a:lnTo>
                      <a:pt x="341" y="496"/>
                    </a:lnTo>
                    <a:lnTo>
                      <a:pt x="337" y="496"/>
                    </a:lnTo>
                    <a:lnTo>
                      <a:pt x="334" y="496"/>
                    </a:lnTo>
                    <a:lnTo>
                      <a:pt x="330" y="494"/>
                    </a:lnTo>
                    <a:lnTo>
                      <a:pt x="327" y="494"/>
                    </a:lnTo>
                    <a:lnTo>
                      <a:pt x="323" y="494"/>
                    </a:lnTo>
                    <a:lnTo>
                      <a:pt x="320" y="494"/>
                    </a:lnTo>
                    <a:lnTo>
                      <a:pt x="316" y="492"/>
                    </a:lnTo>
                    <a:lnTo>
                      <a:pt x="313" y="492"/>
                    </a:lnTo>
                    <a:lnTo>
                      <a:pt x="310" y="492"/>
                    </a:lnTo>
                    <a:lnTo>
                      <a:pt x="306" y="492"/>
                    </a:lnTo>
                    <a:lnTo>
                      <a:pt x="303" y="491"/>
                    </a:lnTo>
                    <a:lnTo>
                      <a:pt x="299" y="491"/>
                    </a:lnTo>
                    <a:lnTo>
                      <a:pt x="296" y="491"/>
                    </a:lnTo>
                    <a:lnTo>
                      <a:pt x="292" y="491"/>
                    </a:lnTo>
                    <a:lnTo>
                      <a:pt x="289" y="491"/>
                    </a:lnTo>
                    <a:lnTo>
                      <a:pt x="287" y="489"/>
                    </a:lnTo>
                    <a:lnTo>
                      <a:pt x="283" y="489"/>
                    </a:lnTo>
                    <a:lnTo>
                      <a:pt x="280" y="489"/>
                    </a:lnTo>
                    <a:lnTo>
                      <a:pt x="276" y="489"/>
                    </a:lnTo>
                    <a:lnTo>
                      <a:pt x="273" y="489"/>
                    </a:lnTo>
                    <a:lnTo>
                      <a:pt x="269" y="487"/>
                    </a:lnTo>
                    <a:lnTo>
                      <a:pt x="266" y="487"/>
                    </a:lnTo>
                    <a:lnTo>
                      <a:pt x="263" y="487"/>
                    </a:lnTo>
                    <a:lnTo>
                      <a:pt x="259" y="487"/>
                    </a:lnTo>
                    <a:lnTo>
                      <a:pt x="256" y="487"/>
                    </a:lnTo>
                    <a:lnTo>
                      <a:pt x="252" y="487"/>
                    </a:lnTo>
                    <a:lnTo>
                      <a:pt x="249" y="486"/>
                    </a:lnTo>
                    <a:lnTo>
                      <a:pt x="245" y="486"/>
                    </a:lnTo>
                    <a:lnTo>
                      <a:pt x="242" y="486"/>
                    </a:lnTo>
                    <a:lnTo>
                      <a:pt x="238" y="486"/>
                    </a:lnTo>
                    <a:lnTo>
                      <a:pt x="235" y="486"/>
                    </a:lnTo>
                    <a:lnTo>
                      <a:pt x="231" y="486"/>
                    </a:lnTo>
                    <a:lnTo>
                      <a:pt x="228" y="486"/>
                    </a:lnTo>
                    <a:lnTo>
                      <a:pt x="224" y="484"/>
                    </a:lnTo>
                    <a:lnTo>
                      <a:pt x="221" y="484"/>
                    </a:lnTo>
                    <a:lnTo>
                      <a:pt x="217" y="484"/>
                    </a:lnTo>
                    <a:lnTo>
                      <a:pt x="214" y="484"/>
                    </a:lnTo>
                    <a:lnTo>
                      <a:pt x="210" y="484"/>
                    </a:lnTo>
                    <a:lnTo>
                      <a:pt x="207" y="484"/>
                    </a:lnTo>
                    <a:lnTo>
                      <a:pt x="203" y="484"/>
                    </a:lnTo>
                    <a:lnTo>
                      <a:pt x="200" y="484"/>
                    </a:lnTo>
                    <a:lnTo>
                      <a:pt x="196" y="484"/>
                    </a:lnTo>
                    <a:lnTo>
                      <a:pt x="193" y="482"/>
                    </a:lnTo>
                    <a:lnTo>
                      <a:pt x="189" y="482"/>
                    </a:lnTo>
                    <a:lnTo>
                      <a:pt x="186" y="482"/>
                    </a:lnTo>
                    <a:lnTo>
                      <a:pt x="182" y="482"/>
                    </a:lnTo>
                    <a:lnTo>
                      <a:pt x="179" y="482"/>
                    </a:lnTo>
                    <a:lnTo>
                      <a:pt x="176" y="482"/>
                    </a:lnTo>
                    <a:lnTo>
                      <a:pt x="172" y="482"/>
                    </a:lnTo>
                    <a:lnTo>
                      <a:pt x="169" y="482"/>
                    </a:lnTo>
                    <a:lnTo>
                      <a:pt x="165" y="482"/>
                    </a:lnTo>
                    <a:lnTo>
                      <a:pt x="162" y="482"/>
                    </a:lnTo>
                    <a:lnTo>
                      <a:pt x="158" y="482"/>
                    </a:lnTo>
                    <a:lnTo>
                      <a:pt x="155" y="482"/>
                    </a:lnTo>
                    <a:lnTo>
                      <a:pt x="151" y="482"/>
                    </a:lnTo>
                    <a:lnTo>
                      <a:pt x="148" y="482"/>
                    </a:lnTo>
                    <a:lnTo>
                      <a:pt x="144" y="480"/>
                    </a:lnTo>
                    <a:lnTo>
                      <a:pt x="141" y="480"/>
                    </a:lnTo>
                    <a:lnTo>
                      <a:pt x="137" y="480"/>
                    </a:lnTo>
                    <a:lnTo>
                      <a:pt x="134" y="480"/>
                    </a:lnTo>
                    <a:lnTo>
                      <a:pt x="130" y="480"/>
                    </a:lnTo>
                    <a:lnTo>
                      <a:pt x="127" y="480"/>
                    </a:lnTo>
                    <a:lnTo>
                      <a:pt x="123" y="480"/>
                    </a:lnTo>
                    <a:lnTo>
                      <a:pt x="120" y="480"/>
                    </a:lnTo>
                    <a:lnTo>
                      <a:pt x="118" y="480"/>
                    </a:lnTo>
                    <a:lnTo>
                      <a:pt x="115" y="480"/>
                    </a:lnTo>
                    <a:lnTo>
                      <a:pt x="109" y="480"/>
                    </a:lnTo>
                    <a:lnTo>
                      <a:pt x="106" y="480"/>
                    </a:lnTo>
                    <a:lnTo>
                      <a:pt x="102" y="480"/>
                    </a:lnTo>
                    <a:lnTo>
                      <a:pt x="101" y="480"/>
                    </a:lnTo>
                    <a:lnTo>
                      <a:pt x="97" y="480"/>
                    </a:lnTo>
                    <a:lnTo>
                      <a:pt x="94" y="480"/>
                    </a:lnTo>
                    <a:lnTo>
                      <a:pt x="88" y="480"/>
                    </a:lnTo>
                    <a:lnTo>
                      <a:pt x="87" y="482"/>
                    </a:lnTo>
                    <a:lnTo>
                      <a:pt x="83" y="482"/>
                    </a:lnTo>
                    <a:lnTo>
                      <a:pt x="80" y="482"/>
                    </a:lnTo>
                    <a:lnTo>
                      <a:pt x="76" y="482"/>
                    </a:lnTo>
                    <a:lnTo>
                      <a:pt x="73" y="482"/>
                    </a:lnTo>
                    <a:lnTo>
                      <a:pt x="69" y="482"/>
                    </a:lnTo>
                    <a:lnTo>
                      <a:pt x="66" y="482"/>
                    </a:lnTo>
                    <a:lnTo>
                      <a:pt x="62" y="482"/>
                    </a:lnTo>
                    <a:lnTo>
                      <a:pt x="59" y="482"/>
                    </a:lnTo>
                    <a:lnTo>
                      <a:pt x="55" y="482"/>
                    </a:lnTo>
                    <a:lnTo>
                      <a:pt x="52" y="482"/>
                    </a:lnTo>
                    <a:lnTo>
                      <a:pt x="48" y="482"/>
                    </a:lnTo>
                    <a:lnTo>
                      <a:pt x="45" y="482"/>
                    </a:lnTo>
                    <a:lnTo>
                      <a:pt x="41" y="484"/>
                    </a:lnTo>
                    <a:lnTo>
                      <a:pt x="38" y="484"/>
                    </a:lnTo>
                    <a:lnTo>
                      <a:pt x="35" y="484"/>
                    </a:lnTo>
                    <a:lnTo>
                      <a:pt x="31" y="484"/>
                    </a:lnTo>
                    <a:lnTo>
                      <a:pt x="28" y="484"/>
                    </a:lnTo>
                    <a:lnTo>
                      <a:pt x="24" y="484"/>
                    </a:lnTo>
                    <a:lnTo>
                      <a:pt x="21" y="484"/>
                    </a:lnTo>
                    <a:lnTo>
                      <a:pt x="17" y="484"/>
                    </a:lnTo>
                    <a:lnTo>
                      <a:pt x="14" y="484"/>
                    </a:lnTo>
                    <a:lnTo>
                      <a:pt x="10" y="486"/>
                    </a:lnTo>
                    <a:lnTo>
                      <a:pt x="7" y="486"/>
                    </a:lnTo>
                    <a:lnTo>
                      <a:pt x="3" y="486"/>
                    </a:lnTo>
                    <a:lnTo>
                      <a:pt x="0" y="486"/>
                    </a:lnTo>
                    <a:moveTo>
                      <a:pt x="1030" y="731"/>
                    </a:moveTo>
                    <a:lnTo>
                      <a:pt x="1027" y="729"/>
                    </a:lnTo>
                    <a:lnTo>
                      <a:pt x="1023" y="728"/>
                    </a:lnTo>
                    <a:lnTo>
                      <a:pt x="1021" y="726"/>
                    </a:lnTo>
                    <a:lnTo>
                      <a:pt x="1018" y="724"/>
                    </a:lnTo>
                    <a:lnTo>
                      <a:pt x="1014" y="724"/>
                    </a:lnTo>
                    <a:lnTo>
                      <a:pt x="1013" y="722"/>
                    </a:lnTo>
                    <a:lnTo>
                      <a:pt x="1009" y="721"/>
                    </a:lnTo>
                    <a:lnTo>
                      <a:pt x="1006" y="719"/>
                    </a:lnTo>
                    <a:lnTo>
                      <a:pt x="1004" y="717"/>
                    </a:lnTo>
                    <a:lnTo>
                      <a:pt x="1000" y="715"/>
                    </a:lnTo>
                    <a:lnTo>
                      <a:pt x="997" y="714"/>
                    </a:lnTo>
                    <a:lnTo>
                      <a:pt x="995" y="714"/>
                    </a:lnTo>
                    <a:lnTo>
                      <a:pt x="992" y="712"/>
                    </a:lnTo>
                    <a:lnTo>
                      <a:pt x="988" y="710"/>
                    </a:lnTo>
                    <a:lnTo>
                      <a:pt x="987" y="708"/>
                    </a:lnTo>
                    <a:lnTo>
                      <a:pt x="983" y="707"/>
                    </a:lnTo>
                    <a:lnTo>
                      <a:pt x="981" y="705"/>
                    </a:lnTo>
                    <a:lnTo>
                      <a:pt x="978" y="705"/>
                    </a:lnTo>
                    <a:lnTo>
                      <a:pt x="974" y="703"/>
                    </a:lnTo>
                    <a:lnTo>
                      <a:pt x="973" y="701"/>
                    </a:lnTo>
                    <a:lnTo>
                      <a:pt x="969" y="700"/>
                    </a:lnTo>
                    <a:lnTo>
                      <a:pt x="966" y="698"/>
                    </a:lnTo>
                    <a:lnTo>
                      <a:pt x="964" y="696"/>
                    </a:lnTo>
                    <a:lnTo>
                      <a:pt x="960" y="696"/>
                    </a:lnTo>
                    <a:lnTo>
                      <a:pt x="957" y="694"/>
                    </a:lnTo>
                    <a:lnTo>
                      <a:pt x="955" y="693"/>
                    </a:lnTo>
                    <a:lnTo>
                      <a:pt x="952" y="691"/>
                    </a:lnTo>
                    <a:lnTo>
                      <a:pt x="948" y="689"/>
                    </a:lnTo>
                    <a:lnTo>
                      <a:pt x="947" y="689"/>
                    </a:lnTo>
                    <a:lnTo>
                      <a:pt x="943" y="687"/>
                    </a:lnTo>
                    <a:lnTo>
                      <a:pt x="940" y="686"/>
                    </a:lnTo>
                    <a:lnTo>
                      <a:pt x="938" y="684"/>
                    </a:lnTo>
                    <a:lnTo>
                      <a:pt x="934" y="682"/>
                    </a:lnTo>
                    <a:lnTo>
                      <a:pt x="931" y="682"/>
                    </a:lnTo>
                    <a:lnTo>
                      <a:pt x="929" y="681"/>
                    </a:lnTo>
                    <a:lnTo>
                      <a:pt x="926" y="679"/>
                    </a:lnTo>
                    <a:lnTo>
                      <a:pt x="922" y="677"/>
                    </a:lnTo>
                    <a:lnTo>
                      <a:pt x="919" y="675"/>
                    </a:lnTo>
                    <a:lnTo>
                      <a:pt x="917" y="674"/>
                    </a:lnTo>
                    <a:lnTo>
                      <a:pt x="913" y="674"/>
                    </a:lnTo>
                    <a:lnTo>
                      <a:pt x="910" y="672"/>
                    </a:lnTo>
                    <a:lnTo>
                      <a:pt x="908" y="670"/>
                    </a:lnTo>
                    <a:lnTo>
                      <a:pt x="905" y="668"/>
                    </a:lnTo>
                    <a:lnTo>
                      <a:pt x="901" y="668"/>
                    </a:lnTo>
                    <a:lnTo>
                      <a:pt x="900" y="667"/>
                    </a:lnTo>
                    <a:lnTo>
                      <a:pt x="896" y="665"/>
                    </a:lnTo>
                    <a:lnTo>
                      <a:pt x="893" y="663"/>
                    </a:lnTo>
                    <a:lnTo>
                      <a:pt x="891" y="661"/>
                    </a:lnTo>
                    <a:lnTo>
                      <a:pt x="887" y="661"/>
                    </a:lnTo>
                    <a:lnTo>
                      <a:pt x="884" y="660"/>
                    </a:lnTo>
                    <a:lnTo>
                      <a:pt x="882" y="658"/>
                    </a:lnTo>
                    <a:lnTo>
                      <a:pt x="879" y="656"/>
                    </a:lnTo>
                    <a:lnTo>
                      <a:pt x="875" y="654"/>
                    </a:lnTo>
                    <a:lnTo>
                      <a:pt x="872" y="654"/>
                    </a:lnTo>
                    <a:lnTo>
                      <a:pt x="870" y="653"/>
                    </a:lnTo>
                    <a:lnTo>
                      <a:pt x="866" y="651"/>
                    </a:lnTo>
                    <a:lnTo>
                      <a:pt x="863" y="649"/>
                    </a:lnTo>
                    <a:lnTo>
                      <a:pt x="861" y="649"/>
                    </a:lnTo>
                    <a:lnTo>
                      <a:pt x="858" y="647"/>
                    </a:lnTo>
                    <a:lnTo>
                      <a:pt x="854" y="646"/>
                    </a:lnTo>
                    <a:lnTo>
                      <a:pt x="851" y="644"/>
                    </a:lnTo>
                    <a:lnTo>
                      <a:pt x="849" y="644"/>
                    </a:lnTo>
                    <a:lnTo>
                      <a:pt x="846" y="642"/>
                    </a:lnTo>
                    <a:lnTo>
                      <a:pt x="842" y="640"/>
                    </a:lnTo>
                    <a:lnTo>
                      <a:pt x="840" y="639"/>
                    </a:lnTo>
                    <a:lnTo>
                      <a:pt x="837" y="637"/>
                    </a:lnTo>
                    <a:lnTo>
                      <a:pt x="833" y="637"/>
                    </a:lnTo>
                    <a:lnTo>
                      <a:pt x="830" y="635"/>
                    </a:lnTo>
                    <a:lnTo>
                      <a:pt x="828" y="634"/>
                    </a:lnTo>
                    <a:lnTo>
                      <a:pt x="825" y="632"/>
                    </a:lnTo>
                    <a:lnTo>
                      <a:pt x="821" y="632"/>
                    </a:lnTo>
                    <a:lnTo>
                      <a:pt x="818" y="630"/>
                    </a:lnTo>
                    <a:lnTo>
                      <a:pt x="816" y="628"/>
                    </a:lnTo>
                    <a:lnTo>
                      <a:pt x="813" y="628"/>
                    </a:lnTo>
                    <a:lnTo>
                      <a:pt x="809" y="627"/>
                    </a:lnTo>
                    <a:lnTo>
                      <a:pt x="806" y="625"/>
                    </a:lnTo>
                    <a:lnTo>
                      <a:pt x="804" y="623"/>
                    </a:lnTo>
                    <a:lnTo>
                      <a:pt x="800" y="623"/>
                    </a:lnTo>
                    <a:lnTo>
                      <a:pt x="797" y="621"/>
                    </a:lnTo>
                    <a:lnTo>
                      <a:pt x="795" y="620"/>
                    </a:lnTo>
                    <a:lnTo>
                      <a:pt x="792" y="618"/>
                    </a:lnTo>
                    <a:lnTo>
                      <a:pt x="788" y="618"/>
                    </a:lnTo>
                    <a:lnTo>
                      <a:pt x="785" y="616"/>
                    </a:lnTo>
                    <a:lnTo>
                      <a:pt x="781" y="614"/>
                    </a:lnTo>
                    <a:lnTo>
                      <a:pt x="779" y="614"/>
                    </a:lnTo>
                    <a:lnTo>
                      <a:pt x="776" y="613"/>
                    </a:lnTo>
                    <a:lnTo>
                      <a:pt x="772" y="611"/>
                    </a:lnTo>
                    <a:lnTo>
                      <a:pt x="769" y="611"/>
                    </a:lnTo>
                    <a:lnTo>
                      <a:pt x="767" y="609"/>
                    </a:lnTo>
                    <a:lnTo>
                      <a:pt x="764" y="607"/>
                    </a:lnTo>
                    <a:lnTo>
                      <a:pt x="760" y="607"/>
                    </a:lnTo>
                    <a:lnTo>
                      <a:pt x="757" y="606"/>
                    </a:lnTo>
                    <a:lnTo>
                      <a:pt x="755" y="604"/>
                    </a:lnTo>
                    <a:lnTo>
                      <a:pt x="752" y="602"/>
                    </a:lnTo>
                    <a:lnTo>
                      <a:pt x="748" y="602"/>
                    </a:lnTo>
                    <a:lnTo>
                      <a:pt x="745" y="600"/>
                    </a:lnTo>
                    <a:lnTo>
                      <a:pt x="741" y="599"/>
                    </a:lnTo>
                    <a:lnTo>
                      <a:pt x="739" y="599"/>
                    </a:lnTo>
                    <a:lnTo>
                      <a:pt x="736" y="597"/>
                    </a:lnTo>
                    <a:lnTo>
                      <a:pt x="732" y="595"/>
                    </a:lnTo>
                    <a:lnTo>
                      <a:pt x="729" y="595"/>
                    </a:lnTo>
                    <a:lnTo>
                      <a:pt x="727" y="593"/>
                    </a:lnTo>
                    <a:lnTo>
                      <a:pt x="724" y="592"/>
                    </a:lnTo>
                    <a:lnTo>
                      <a:pt x="720" y="592"/>
                    </a:lnTo>
                    <a:lnTo>
                      <a:pt x="717" y="590"/>
                    </a:lnTo>
                    <a:lnTo>
                      <a:pt x="713" y="588"/>
                    </a:lnTo>
                    <a:lnTo>
                      <a:pt x="712" y="588"/>
                    </a:lnTo>
                    <a:lnTo>
                      <a:pt x="708" y="586"/>
                    </a:lnTo>
                    <a:lnTo>
                      <a:pt x="705" y="586"/>
                    </a:lnTo>
                    <a:lnTo>
                      <a:pt x="701" y="585"/>
                    </a:lnTo>
                    <a:lnTo>
                      <a:pt x="699" y="583"/>
                    </a:lnTo>
                    <a:lnTo>
                      <a:pt x="696" y="583"/>
                    </a:lnTo>
                    <a:lnTo>
                      <a:pt x="692" y="581"/>
                    </a:lnTo>
                    <a:lnTo>
                      <a:pt x="689" y="580"/>
                    </a:lnTo>
                    <a:lnTo>
                      <a:pt x="685" y="580"/>
                    </a:lnTo>
                    <a:lnTo>
                      <a:pt x="682" y="578"/>
                    </a:lnTo>
                    <a:lnTo>
                      <a:pt x="680" y="576"/>
                    </a:lnTo>
                    <a:lnTo>
                      <a:pt x="677" y="576"/>
                    </a:lnTo>
                    <a:lnTo>
                      <a:pt x="673" y="574"/>
                    </a:lnTo>
                    <a:lnTo>
                      <a:pt x="670" y="574"/>
                    </a:lnTo>
                    <a:lnTo>
                      <a:pt x="666" y="573"/>
                    </a:lnTo>
                    <a:lnTo>
                      <a:pt x="665" y="571"/>
                    </a:lnTo>
                    <a:lnTo>
                      <a:pt x="661" y="571"/>
                    </a:lnTo>
                    <a:moveTo>
                      <a:pt x="891" y="715"/>
                    </a:moveTo>
                    <a:lnTo>
                      <a:pt x="887" y="715"/>
                    </a:lnTo>
                    <a:lnTo>
                      <a:pt x="886" y="715"/>
                    </a:lnTo>
                    <a:lnTo>
                      <a:pt x="882" y="714"/>
                    </a:lnTo>
                    <a:lnTo>
                      <a:pt x="877" y="714"/>
                    </a:lnTo>
                    <a:lnTo>
                      <a:pt x="873" y="714"/>
                    </a:lnTo>
                    <a:lnTo>
                      <a:pt x="872" y="714"/>
                    </a:lnTo>
                    <a:lnTo>
                      <a:pt x="868" y="714"/>
                    </a:lnTo>
                    <a:lnTo>
                      <a:pt x="865" y="712"/>
                    </a:lnTo>
                    <a:lnTo>
                      <a:pt x="861" y="712"/>
                    </a:lnTo>
                    <a:lnTo>
                      <a:pt x="858" y="712"/>
                    </a:lnTo>
                    <a:lnTo>
                      <a:pt x="854" y="712"/>
                    </a:lnTo>
                    <a:lnTo>
                      <a:pt x="851" y="710"/>
                    </a:lnTo>
                    <a:lnTo>
                      <a:pt x="847" y="710"/>
                    </a:lnTo>
                    <a:lnTo>
                      <a:pt x="844" y="710"/>
                    </a:lnTo>
                    <a:lnTo>
                      <a:pt x="840" y="710"/>
                    </a:lnTo>
                    <a:lnTo>
                      <a:pt x="837" y="710"/>
                    </a:lnTo>
                    <a:lnTo>
                      <a:pt x="833" y="710"/>
                    </a:lnTo>
                    <a:lnTo>
                      <a:pt x="830" y="708"/>
                    </a:lnTo>
                    <a:lnTo>
                      <a:pt x="826" y="708"/>
                    </a:lnTo>
                    <a:lnTo>
                      <a:pt x="823" y="708"/>
                    </a:lnTo>
                    <a:lnTo>
                      <a:pt x="819" y="708"/>
                    </a:lnTo>
                    <a:lnTo>
                      <a:pt x="816" y="708"/>
                    </a:lnTo>
                    <a:lnTo>
                      <a:pt x="813" y="708"/>
                    </a:lnTo>
                    <a:lnTo>
                      <a:pt x="809" y="707"/>
                    </a:lnTo>
                    <a:lnTo>
                      <a:pt x="806" y="707"/>
                    </a:lnTo>
                    <a:lnTo>
                      <a:pt x="802" y="707"/>
                    </a:lnTo>
                    <a:lnTo>
                      <a:pt x="799" y="707"/>
                    </a:lnTo>
                    <a:lnTo>
                      <a:pt x="795" y="707"/>
                    </a:lnTo>
                    <a:lnTo>
                      <a:pt x="792" y="707"/>
                    </a:lnTo>
                    <a:lnTo>
                      <a:pt x="788" y="705"/>
                    </a:lnTo>
                    <a:lnTo>
                      <a:pt x="785" y="705"/>
                    </a:lnTo>
                    <a:lnTo>
                      <a:pt x="781" y="705"/>
                    </a:lnTo>
                    <a:lnTo>
                      <a:pt x="778" y="705"/>
                    </a:lnTo>
                    <a:lnTo>
                      <a:pt x="774" y="705"/>
                    </a:lnTo>
                    <a:lnTo>
                      <a:pt x="771" y="705"/>
                    </a:lnTo>
                    <a:lnTo>
                      <a:pt x="767" y="705"/>
                    </a:lnTo>
                    <a:lnTo>
                      <a:pt x="764" y="705"/>
                    </a:lnTo>
                    <a:lnTo>
                      <a:pt x="760" y="705"/>
                    </a:lnTo>
                    <a:lnTo>
                      <a:pt x="757" y="705"/>
                    </a:lnTo>
                    <a:lnTo>
                      <a:pt x="753" y="703"/>
                    </a:lnTo>
                    <a:lnTo>
                      <a:pt x="750" y="703"/>
                    </a:lnTo>
                    <a:lnTo>
                      <a:pt x="748" y="703"/>
                    </a:lnTo>
                    <a:lnTo>
                      <a:pt x="745" y="703"/>
                    </a:lnTo>
                    <a:lnTo>
                      <a:pt x="739" y="703"/>
                    </a:lnTo>
                    <a:lnTo>
                      <a:pt x="736" y="703"/>
                    </a:lnTo>
                    <a:lnTo>
                      <a:pt x="732" y="703"/>
                    </a:lnTo>
                    <a:lnTo>
                      <a:pt x="731" y="703"/>
                    </a:lnTo>
                    <a:lnTo>
                      <a:pt x="727" y="703"/>
                    </a:lnTo>
                    <a:lnTo>
                      <a:pt x="724" y="703"/>
                    </a:lnTo>
                    <a:lnTo>
                      <a:pt x="720" y="703"/>
                    </a:lnTo>
                    <a:lnTo>
                      <a:pt x="717" y="703"/>
                    </a:lnTo>
                    <a:lnTo>
                      <a:pt x="713" y="703"/>
                    </a:lnTo>
                    <a:lnTo>
                      <a:pt x="710" y="703"/>
                    </a:lnTo>
                    <a:lnTo>
                      <a:pt x="706" y="703"/>
                    </a:lnTo>
                    <a:lnTo>
                      <a:pt x="703" y="703"/>
                    </a:lnTo>
                    <a:lnTo>
                      <a:pt x="699" y="703"/>
                    </a:lnTo>
                    <a:lnTo>
                      <a:pt x="696" y="703"/>
                    </a:lnTo>
                    <a:lnTo>
                      <a:pt x="692" y="703"/>
                    </a:lnTo>
                    <a:lnTo>
                      <a:pt x="689" y="703"/>
                    </a:lnTo>
                    <a:lnTo>
                      <a:pt x="685" y="703"/>
                    </a:lnTo>
                    <a:lnTo>
                      <a:pt x="682" y="703"/>
                    </a:lnTo>
                    <a:lnTo>
                      <a:pt x="679" y="703"/>
                    </a:lnTo>
                    <a:lnTo>
                      <a:pt x="675" y="703"/>
                    </a:lnTo>
                    <a:lnTo>
                      <a:pt x="672" y="703"/>
                    </a:lnTo>
                    <a:lnTo>
                      <a:pt x="668" y="703"/>
                    </a:lnTo>
                    <a:lnTo>
                      <a:pt x="665" y="703"/>
                    </a:lnTo>
                    <a:lnTo>
                      <a:pt x="661" y="703"/>
                    </a:lnTo>
                    <a:lnTo>
                      <a:pt x="658" y="703"/>
                    </a:lnTo>
                    <a:lnTo>
                      <a:pt x="654" y="703"/>
                    </a:lnTo>
                    <a:lnTo>
                      <a:pt x="651" y="703"/>
                    </a:lnTo>
                    <a:lnTo>
                      <a:pt x="647" y="703"/>
                    </a:lnTo>
                    <a:lnTo>
                      <a:pt x="644" y="703"/>
                    </a:lnTo>
                    <a:lnTo>
                      <a:pt x="640" y="703"/>
                    </a:lnTo>
                    <a:lnTo>
                      <a:pt x="637" y="705"/>
                    </a:lnTo>
                    <a:lnTo>
                      <a:pt x="633" y="705"/>
                    </a:lnTo>
                    <a:lnTo>
                      <a:pt x="630" y="705"/>
                    </a:lnTo>
                    <a:lnTo>
                      <a:pt x="626" y="705"/>
                    </a:lnTo>
                    <a:lnTo>
                      <a:pt x="623" y="705"/>
                    </a:lnTo>
                    <a:lnTo>
                      <a:pt x="619" y="705"/>
                    </a:lnTo>
                    <a:lnTo>
                      <a:pt x="616" y="705"/>
                    </a:lnTo>
                    <a:lnTo>
                      <a:pt x="612" y="705"/>
                    </a:lnTo>
                    <a:lnTo>
                      <a:pt x="609" y="705"/>
                    </a:lnTo>
                    <a:lnTo>
                      <a:pt x="605" y="707"/>
                    </a:lnTo>
                    <a:lnTo>
                      <a:pt x="602" y="707"/>
                    </a:lnTo>
                    <a:lnTo>
                      <a:pt x="598" y="707"/>
                    </a:lnTo>
                    <a:lnTo>
                      <a:pt x="595" y="707"/>
                    </a:lnTo>
                    <a:lnTo>
                      <a:pt x="591" y="707"/>
                    </a:lnTo>
                    <a:lnTo>
                      <a:pt x="588" y="707"/>
                    </a:lnTo>
                    <a:lnTo>
                      <a:pt x="585" y="708"/>
                    </a:lnTo>
                    <a:lnTo>
                      <a:pt x="581" y="708"/>
                    </a:lnTo>
                    <a:lnTo>
                      <a:pt x="578" y="708"/>
                    </a:lnTo>
                    <a:lnTo>
                      <a:pt x="574" y="708"/>
                    </a:lnTo>
                    <a:lnTo>
                      <a:pt x="571" y="708"/>
                    </a:lnTo>
                    <a:lnTo>
                      <a:pt x="567" y="710"/>
                    </a:lnTo>
                    <a:lnTo>
                      <a:pt x="564" y="710"/>
                    </a:lnTo>
                    <a:lnTo>
                      <a:pt x="562" y="710"/>
                    </a:lnTo>
                    <a:lnTo>
                      <a:pt x="558" y="710"/>
                    </a:lnTo>
                    <a:lnTo>
                      <a:pt x="555" y="710"/>
                    </a:lnTo>
                    <a:lnTo>
                      <a:pt x="551" y="712"/>
                    </a:lnTo>
                    <a:lnTo>
                      <a:pt x="548" y="712"/>
                    </a:lnTo>
                    <a:lnTo>
                      <a:pt x="544" y="712"/>
                    </a:lnTo>
                    <a:lnTo>
                      <a:pt x="541" y="712"/>
                    </a:lnTo>
                    <a:lnTo>
                      <a:pt x="538" y="714"/>
                    </a:lnTo>
                    <a:lnTo>
                      <a:pt x="534" y="714"/>
                    </a:lnTo>
                    <a:lnTo>
                      <a:pt x="531" y="714"/>
                    </a:lnTo>
                    <a:lnTo>
                      <a:pt x="527" y="715"/>
                    </a:lnTo>
                    <a:lnTo>
                      <a:pt x="524" y="715"/>
                    </a:lnTo>
                    <a:lnTo>
                      <a:pt x="520" y="715"/>
                    </a:lnTo>
                    <a:lnTo>
                      <a:pt x="517" y="717"/>
                    </a:lnTo>
                    <a:lnTo>
                      <a:pt x="513" y="717"/>
                    </a:lnTo>
                    <a:lnTo>
                      <a:pt x="510" y="717"/>
                    </a:lnTo>
                    <a:lnTo>
                      <a:pt x="506" y="717"/>
                    </a:lnTo>
                    <a:lnTo>
                      <a:pt x="503" y="719"/>
                    </a:lnTo>
                    <a:lnTo>
                      <a:pt x="499" y="719"/>
                    </a:lnTo>
                    <a:lnTo>
                      <a:pt x="498" y="719"/>
                    </a:lnTo>
                    <a:lnTo>
                      <a:pt x="494" y="721"/>
                    </a:lnTo>
                    <a:lnTo>
                      <a:pt x="491" y="721"/>
                    </a:lnTo>
                    <a:lnTo>
                      <a:pt x="487" y="722"/>
                    </a:lnTo>
                    <a:lnTo>
                      <a:pt x="484" y="722"/>
                    </a:lnTo>
                    <a:lnTo>
                      <a:pt x="480" y="722"/>
                    </a:lnTo>
                    <a:lnTo>
                      <a:pt x="477" y="724"/>
                    </a:lnTo>
                    <a:lnTo>
                      <a:pt x="473" y="724"/>
                    </a:lnTo>
                    <a:lnTo>
                      <a:pt x="470" y="726"/>
                    </a:lnTo>
                    <a:lnTo>
                      <a:pt x="466" y="726"/>
                    </a:lnTo>
                    <a:lnTo>
                      <a:pt x="463" y="726"/>
                    </a:lnTo>
                    <a:lnTo>
                      <a:pt x="459" y="728"/>
                    </a:lnTo>
                    <a:lnTo>
                      <a:pt x="456" y="728"/>
                    </a:lnTo>
                    <a:lnTo>
                      <a:pt x="454" y="729"/>
                    </a:lnTo>
                    <a:lnTo>
                      <a:pt x="451" y="729"/>
                    </a:lnTo>
                    <a:lnTo>
                      <a:pt x="447" y="731"/>
                    </a:lnTo>
                    <a:lnTo>
                      <a:pt x="444" y="731"/>
                    </a:lnTo>
                    <a:lnTo>
                      <a:pt x="440" y="731"/>
                    </a:lnTo>
                    <a:lnTo>
                      <a:pt x="437" y="733"/>
                    </a:lnTo>
                    <a:lnTo>
                      <a:pt x="433" y="733"/>
                    </a:lnTo>
                    <a:lnTo>
                      <a:pt x="430" y="734"/>
                    </a:lnTo>
                    <a:lnTo>
                      <a:pt x="426" y="734"/>
                    </a:lnTo>
                    <a:lnTo>
                      <a:pt x="424" y="736"/>
                    </a:lnTo>
                    <a:lnTo>
                      <a:pt x="421" y="736"/>
                    </a:lnTo>
                    <a:lnTo>
                      <a:pt x="417" y="738"/>
                    </a:lnTo>
                    <a:lnTo>
                      <a:pt x="414" y="740"/>
                    </a:lnTo>
                    <a:lnTo>
                      <a:pt x="410" y="740"/>
                    </a:lnTo>
                    <a:lnTo>
                      <a:pt x="407" y="741"/>
                    </a:lnTo>
                    <a:lnTo>
                      <a:pt x="404" y="741"/>
                    </a:lnTo>
                    <a:lnTo>
                      <a:pt x="402" y="743"/>
                    </a:lnTo>
                    <a:lnTo>
                      <a:pt x="398" y="743"/>
                    </a:lnTo>
                    <a:lnTo>
                      <a:pt x="395" y="745"/>
                    </a:lnTo>
                    <a:lnTo>
                      <a:pt x="391" y="745"/>
                    </a:lnTo>
                    <a:lnTo>
                      <a:pt x="388" y="747"/>
                    </a:lnTo>
                    <a:lnTo>
                      <a:pt x="384" y="748"/>
                    </a:lnTo>
                    <a:lnTo>
                      <a:pt x="383" y="748"/>
                    </a:lnTo>
                    <a:lnTo>
                      <a:pt x="379" y="750"/>
                    </a:lnTo>
                    <a:lnTo>
                      <a:pt x="376" y="750"/>
                    </a:lnTo>
                    <a:lnTo>
                      <a:pt x="372" y="752"/>
                    </a:lnTo>
                    <a:lnTo>
                      <a:pt x="369" y="754"/>
                    </a:lnTo>
                    <a:lnTo>
                      <a:pt x="367" y="754"/>
                    </a:lnTo>
                    <a:lnTo>
                      <a:pt x="363" y="755"/>
                    </a:lnTo>
                    <a:lnTo>
                      <a:pt x="360" y="757"/>
                    </a:lnTo>
                    <a:lnTo>
                      <a:pt x="357" y="757"/>
                    </a:lnTo>
                    <a:lnTo>
                      <a:pt x="353" y="759"/>
                    </a:lnTo>
                    <a:lnTo>
                      <a:pt x="351" y="761"/>
                    </a:lnTo>
                    <a:lnTo>
                      <a:pt x="348" y="761"/>
                    </a:lnTo>
                    <a:lnTo>
                      <a:pt x="344" y="762"/>
                    </a:lnTo>
                    <a:lnTo>
                      <a:pt x="341" y="764"/>
                    </a:lnTo>
                    <a:lnTo>
                      <a:pt x="339" y="764"/>
                    </a:lnTo>
                    <a:lnTo>
                      <a:pt x="336" y="766"/>
                    </a:lnTo>
                    <a:lnTo>
                      <a:pt x="332" y="768"/>
                    </a:lnTo>
                    <a:lnTo>
                      <a:pt x="329" y="769"/>
                    </a:lnTo>
                    <a:lnTo>
                      <a:pt x="327" y="769"/>
                    </a:lnTo>
                    <a:lnTo>
                      <a:pt x="323" y="771"/>
                    </a:lnTo>
                    <a:lnTo>
                      <a:pt x="320" y="773"/>
                    </a:lnTo>
                    <a:lnTo>
                      <a:pt x="316" y="775"/>
                    </a:lnTo>
                    <a:lnTo>
                      <a:pt x="315" y="776"/>
                    </a:lnTo>
                    <a:lnTo>
                      <a:pt x="311" y="776"/>
                    </a:lnTo>
                    <a:lnTo>
                      <a:pt x="308" y="778"/>
                    </a:lnTo>
                    <a:lnTo>
                      <a:pt x="306" y="780"/>
                    </a:lnTo>
                    <a:lnTo>
                      <a:pt x="303" y="781"/>
                    </a:lnTo>
                    <a:lnTo>
                      <a:pt x="301" y="783"/>
                    </a:lnTo>
                    <a:lnTo>
                      <a:pt x="297" y="783"/>
                    </a:lnTo>
                    <a:lnTo>
                      <a:pt x="294" y="785"/>
                    </a:lnTo>
                    <a:lnTo>
                      <a:pt x="292" y="787"/>
                    </a:lnTo>
                    <a:lnTo>
                      <a:pt x="289" y="788"/>
                    </a:lnTo>
                    <a:lnTo>
                      <a:pt x="285" y="790"/>
                    </a:lnTo>
                    <a:lnTo>
                      <a:pt x="283" y="792"/>
                    </a:lnTo>
                    <a:lnTo>
                      <a:pt x="280" y="792"/>
                    </a:lnTo>
                    <a:lnTo>
                      <a:pt x="276" y="794"/>
                    </a:lnTo>
                    <a:lnTo>
                      <a:pt x="275" y="795"/>
                    </a:lnTo>
                    <a:lnTo>
                      <a:pt x="271" y="797"/>
                    </a:lnTo>
                    <a:lnTo>
                      <a:pt x="269" y="799"/>
                    </a:lnTo>
                    <a:lnTo>
                      <a:pt x="266" y="801"/>
                    </a:lnTo>
                    <a:lnTo>
                      <a:pt x="263" y="802"/>
                    </a:lnTo>
                    <a:lnTo>
                      <a:pt x="261" y="804"/>
                    </a:lnTo>
                    <a:lnTo>
                      <a:pt x="257" y="806"/>
                    </a:lnTo>
                    <a:lnTo>
                      <a:pt x="256" y="808"/>
                    </a:lnTo>
                    <a:lnTo>
                      <a:pt x="252" y="809"/>
                    </a:lnTo>
                    <a:lnTo>
                      <a:pt x="250" y="811"/>
                    </a:lnTo>
                    <a:lnTo>
                      <a:pt x="247" y="813"/>
                    </a:lnTo>
                    <a:lnTo>
                      <a:pt x="243" y="815"/>
                    </a:lnTo>
                    <a:lnTo>
                      <a:pt x="242" y="815"/>
                    </a:lnTo>
                    <a:lnTo>
                      <a:pt x="240" y="818"/>
                    </a:lnTo>
                    <a:lnTo>
                      <a:pt x="236" y="820"/>
                    </a:lnTo>
                    <a:lnTo>
                      <a:pt x="235" y="820"/>
                    </a:lnTo>
                    <a:lnTo>
                      <a:pt x="231" y="823"/>
                    </a:lnTo>
                    <a:lnTo>
                      <a:pt x="229" y="825"/>
                    </a:lnTo>
                    <a:lnTo>
                      <a:pt x="226" y="827"/>
                    </a:lnTo>
                    <a:lnTo>
                      <a:pt x="224" y="828"/>
                    </a:lnTo>
                    <a:lnTo>
                      <a:pt x="221" y="830"/>
                    </a:lnTo>
                    <a:lnTo>
                      <a:pt x="219" y="832"/>
                    </a:lnTo>
                    <a:lnTo>
                      <a:pt x="216" y="834"/>
                    </a:lnTo>
                    <a:lnTo>
                      <a:pt x="214" y="835"/>
                    </a:lnTo>
                    <a:lnTo>
                      <a:pt x="212" y="837"/>
                    </a:lnTo>
                    <a:lnTo>
                      <a:pt x="209" y="839"/>
                    </a:lnTo>
                    <a:lnTo>
                      <a:pt x="207" y="841"/>
                    </a:lnTo>
                    <a:lnTo>
                      <a:pt x="205" y="842"/>
                    </a:lnTo>
                    <a:lnTo>
                      <a:pt x="202" y="844"/>
                    </a:lnTo>
                    <a:lnTo>
                      <a:pt x="200" y="846"/>
                    </a:lnTo>
                    <a:lnTo>
                      <a:pt x="198" y="849"/>
                    </a:lnTo>
                    <a:lnTo>
                      <a:pt x="195" y="851"/>
                    </a:lnTo>
                    <a:lnTo>
                      <a:pt x="193" y="853"/>
                    </a:lnTo>
                    <a:lnTo>
                      <a:pt x="191" y="855"/>
                    </a:lnTo>
                    <a:lnTo>
                      <a:pt x="188" y="856"/>
                    </a:lnTo>
                    <a:lnTo>
                      <a:pt x="186" y="858"/>
                    </a:lnTo>
                    <a:lnTo>
                      <a:pt x="184" y="860"/>
                    </a:lnTo>
                    <a:lnTo>
                      <a:pt x="182" y="863"/>
                    </a:lnTo>
                    <a:lnTo>
                      <a:pt x="179" y="865"/>
                    </a:lnTo>
                    <a:lnTo>
                      <a:pt x="177" y="867"/>
                    </a:lnTo>
                    <a:lnTo>
                      <a:pt x="176" y="869"/>
                    </a:lnTo>
                    <a:lnTo>
                      <a:pt x="174" y="872"/>
                    </a:lnTo>
                    <a:lnTo>
                      <a:pt x="170" y="874"/>
                    </a:lnTo>
                    <a:lnTo>
                      <a:pt x="169" y="875"/>
                    </a:lnTo>
                    <a:lnTo>
                      <a:pt x="167" y="877"/>
                    </a:lnTo>
                    <a:lnTo>
                      <a:pt x="165" y="879"/>
                    </a:lnTo>
                    <a:lnTo>
                      <a:pt x="163" y="882"/>
                    </a:lnTo>
                    <a:lnTo>
                      <a:pt x="162" y="884"/>
                    </a:lnTo>
                    <a:lnTo>
                      <a:pt x="160" y="886"/>
                    </a:lnTo>
                    <a:lnTo>
                      <a:pt x="156" y="888"/>
                    </a:lnTo>
                    <a:lnTo>
                      <a:pt x="155" y="891"/>
                    </a:lnTo>
                    <a:lnTo>
                      <a:pt x="153" y="893"/>
                    </a:lnTo>
                    <a:lnTo>
                      <a:pt x="151" y="895"/>
                    </a:lnTo>
                    <a:lnTo>
                      <a:pt x="149" y="896"/>
                    </a:lnTo>
                    <a:lnTo>
                      <a:pt x="148" y="900"/>
                    </a:lnTo>
                    <a:lnTo>
                      <a:pt x="146" y="902"/>
                    </a:lnTo>
                    <a:lnTo>
                      <a:pt x="144" y="903"/>
                    </a:lnTo>
                    <a:lnTo>
                      <a:pt x="142" y="907"/>
                    </a:lnTo>
                    <a:lnTo>
                      <a:pt x="141" y="909"/>
                    </a:lnTo>
                    <a:lnTo>
                      <a:pt x="139" y="910"/>
                    </a:lnTo>
                    <a:lnTo>
                      <a:pt x="137" y="914"/>
                    </a:lnTo>
                    <a:lnTo>
                      <a:pt x="135" y="916"/>
                    </a:lnTo>
                    <a:lnTo>
                      <a:pt x="134" y="917"/>
                    </a:lnTo>
                    <a:lnTo>
                      <a:pt x="134" y="921"/>
                    </a:lnTo>
                    <a:lnTo>
                      <a:pt x="132" y="922"/>
                    </a:lnTo>
                    <a:lnTo>
                      <a:pt x="130" y="924"/>
                    </a:lnTo>
                    <a:lnTo>
                      <a:pt x="129" y="928"/>
                    </a:lnTo>
                    <a:lnTo>
                      <a:pt x="127" y="929"/>
                    </a:lnTo>
                    <a:lnTo>
                      <a:pt x="125" y="931"/>
                    </a:lnTo>
                    <a:lnTo>
                      <a:pt x="123" y="935"/>
                    </a:lnTo>
                    <a:lnTo>
                      <a:pt x="123" y="936"/>
                    </a:lnTo>
                    <a:lnTo>
                      <a:pt x="122" y="940"/>
                    </a:lnTo>
                    <a:lnTo>
                      <a:pt x="120" y="942"/>
                    </a:lnTo>
                    <a:lnTo>
                      <a:pt x="118" y="943"/>
                    </a:lnTo>
                    <a:lnTo>
                      <a:pt x="118" y="947"/>
                    </a:lnTo>
                    <a:lnTo>
                      <a:pt x="116" y="949"/>
                    </a:lnTo>
                    <a:lnTo>
                      <a:pt x="115" y="952"/>
                    </a:lnTo>
                    <a:lnTo>
                      <a:pt x="115" y="954"/>
                    </a:lnTo>
                    <a:lnTo>
                      <a:pt x="113" y="956"/>
                    </a:lnTo>
                    <a:lnTo>
                      <a:pt x="111" y="959"/>
                    </a:lnTo>
                    <a:lnTo>
                      <a:pt x="111" y="961"/>
                    </a:lnTo>
                    <a:lnTo>
                      <a:pt x="109" y="964"/>
                    </a:lnTo>
                    <a:lnTo>
                      <a:pt x="108" y="966"/>
                    </a:lnTo>
                    <a:lnTo>
                      <a:pt x="108" y="970"/>
                    </a:lnTo>
                    <a:lnTo>
                      <a:pt x="106" y="971"/>
                    </a:lnTo>
                    <a:lnTo>
                      <a:pt x="106" y="975"/>
                    </a:lnTo>
                    <a:lnTo>
                      <a:pt x="104" y="976"/>
                    </a:lnTo>
                    <a:lnTo>
                      <a:pt x="102" y="978"/>
                    </a:lnTo>
                    <a:lnTo>
                      <a:pt x="102" y="982"/>
                    </a:lnTo>
                    <a:lnTo>
                      <a:pt x="102" y="983"/>
                    </a:lnTo>
                    <a:lnTo>
                      <a:pt x="101" y="987"/>
                    </a:lnTo>
                    <a:lnTo>
                      <a:pt x="101" y="989"/>
                    </a:lnTo>
                    <a:lnTo>
                      <a:pt x="99" y="992"/>
                    </a:lnTo>
                    <a:lnTo>
                      <a:pt x="99" y="994"/>
                    </a:lnTo>
                    <a:lnTo>
                      <a:pt x="97" y="997"/>
                    </a:lnTo>
                    <a:lnTo>
                      <a:pt x="97" y="999"/>
                    </a:lnTo>
                    <a:lnTo>
                      <a:pt x="97" y="1003"/>
                    </a:lnTo>
                    <a:lnTo>
                      <a:pt x="95" y="1004"/>
                    </a:lnTo>
                    <a:lnTo>
                      <a:pt x="95" y="1008"/>
                    </a:lnTo>
                    <a:lnTo>
                      <a:pt x="95" y="1010"/>
                    </a:lnTo>
                    <a:lnTo>
                      <a:pt x="94" y="1013"/>
                    </a:lnTo>
                    <a:lnTo>
                      <a:pt x="94" y="1015"/>
                    </a:lnTo>
                    <a:lnTo>
                      <a:pt x="94" y="1018"/>
                    </a:lnTo>
                    <a:lnTo>
                      <a:pt x="94" y="1020"/>
                    </a:lnTo>
                    <a:lnTo>
                      <a:pt x="92" y="1023"/>
                    </a:lnTo>
                    <a:lnTo>
                      <a:pt x="92" y="1025"/>
                    </a:lnTo>
                    <a:lnTo>
                      <a:pt x="92" y="1029"/>
                    </a:lnTo>
                    <a:lnTo>
                      <a:pt x="92" y="1030"/>
                    </a:lnTo>
                    <a:lnTo>
                      <a:pt x="92" y="1034"/>
                    </a:lnTo>
                    <a:lnTo>
                      <a:pt x="92" y="1036"/>
                    </a:lnTo>
                    <a:lnTo>
                      <a:pt x="90" y="1039"/>
                    </a:lnTo>
                    <a:lnTo>
                      <a:pt x="90" y="1041"/>
                    </a:lnTo>
                    <a:lnTo>
                      <a:pt x="90" y="1044"/>
                    </a:lnTo>
                    <a:lnTo>
                      <a:pt x="90" y="1055"/>
                    </a:lnTo>
                    <a:moveTo>
                      <a:pt x="1028" y="734"/>
                    </a:moveTo>
                    <a:lnTo>
                      <a:pt x="1025" y="734"/>
                    </a:lnTo>
                    <a:lnTo>
                      <a:pt x="1021" y="733"/>
                    </a:lnTo>
                    <a:lnTo>
                      <a:pt x="1018" y="733"/>
                    </a:lnTo>
                    <a:lnTo>
                      <a:pt x="1014" y="733"/>
                    </a:lnTo>
                    <a:lnTo>
                      <a:pt x="1011" y="731"/>
                    </a:lnTo>
                    <a:lnTo>
                      <a:pt x="1007" y="731"/>
                    </a:lnTo>
                    <a:lnTo>
                      <a:pt x="1004" y="731"/>
                    </a:lnTo>
                    <a:lnTo>
                      <a:pt x="1000" y="731"/>
                    </a:lnTo>
                    <a:lnTo>
                      <a:pt x="997" y="729"/>
                    </a:lnTo>
                    <a:lnTo>
                      <a:pt x="994" y="729"/>
                    </a:lnTo>
                    <a:lnTo>
                      <a:pt x="990" y="729"/>
                    </a:lnTo>
                    <a:lnTo>
                      <a:pt x="987" y="728"/>
                    </a:lnTo>
                    <a:lnTo>
                      <a:pt x="983" y="728"/>
                    </a:lnTo>
                    <a:lnTo>
                      <a:pt x="980" y="728"/>
                    </a:lnTo>
                    <a:lnTo>
                      <a:pt x="976" y="728"/>
                    </a:lnTo>
                    <a:lnTo>
                      <a:pt x="973" y="726"/>
                    </a:lnTo>
                    <a:lnTo>
                      <a:pt x="969" y="726"/>
                    </a:lnTo>
                    <a:lnTo>
                      <a:pt x="967" y="726"/>
                    </a:lnTo>
                    <a:lnTo>
                      <a:pt x="964" y="726"/>
                    </a:lnTo>
                    <a:lnTo>
                      <a:pt x="960" y="724"/>
                    </a:lnTo>
                    <a:lnTo>
                      <a:pt x="957" y="724"/>
                    </a:lnTo>
                    <a:lnTo>
                      <a:pt x="954" y="724"/>
                    </a:lnTo>
                    <a:lnTo>
                      <a:pt x="950" y="722"/>
                    </a:lnTo>
                    <a:lnTo>
                      <a:pt x="947" y="722"/>
                    </a:lnTo>
                    <a:lnTo>
                      <a:pt x="943" y="722"/>
                    </a:lnTo>
                    <a:lnTo>
                      <a:pt x="940" y="722"/>
                    </a:lnTo>
                    <a:lnTo>
                      <a:pt x="936" y="721"/>
                    </a:lnTo>
                    <a:lnTo>
                      <a:pt x="933" y="721"/>
                    </a:lnTo>
                    <a:lnTo>
                      <a:pt x="929" y="721"/>
                    </a:lnTo>
                    <a:lnTo>
                      <a:pt x="926" y="719"/>
                    </a:lnTo>
                    <a:lnTo>
                      <a:pt x="922" y="719"/>
                    </a:lnTo>
                    <a:lnTo>
                      <a:pt x="919" y="719"/>
                    </a:lnTo>
                    <a:lnTo>
                      <a:pt x="915" y="719"/>
                    </a:lnTo>
                    <a:lnTo>
                      <a:pt x="912" y="717"/>
                    </a:lnTo>
                    <a:lnTo>
                      <a:pt x="908" y="717"/>
                    </a:lnTo>
                    <a:lnTo>
                      <a:pt x="905" y="717"/>
                    </a:lnTo>
                    <a:lnTo>
                      <a:pt x="901" y="717"/>
                    </a:lnTo>
                    <a:lnTo>
                      <a:pt x="898" y="717"/>
                    </a:lnTo>
                    <a:lnTo>
                      <a:pt x="894" y="715"/>
                    </a:lnTo>
                    <a:lnTo>
                      <a:pt x="891" y="715"/>
                    </a:lnTo>
                    <a:moveTo>
                      <a:pt x="1028" y="738"/>
                    </a:moveTo>
                    <a:lnTo>
                      <a:pt x="1025" y="740"/>
                    </a:lnTo>
                    <a:lnTo>
                      <a:pt x="1021" y="740"/>
                    </a:lnTo>
                    <a:lnTo>
                      <a:pt x="1018" y="740"/>
                    </a:lnTo>
                    <a:lnTo>
                      <a:pt x="1014" y="740"/>
                    </a:lnTo>
                    <a:lnTo>
                      <a:pt x="1011" y="741"/>
                    </a:lnTo>
                    <a:lnTo>
                      <a:pt x="1007" y="741"/>
                    </a:lnTo>
                    <a:lnTo>
                      <a:pt x="1004" y="741"/>
                    </a:lnTo>
                    <a:lnTo>
                      <a:pt x="1000" y="743"/>
                    </a:lnTo>
                    <a:lnTo>
                      <a:pt x="997" y="743"/>
                    </a:lnTo>
                    <a:lnTo>
                      <a:pt x="994" y="743"/>
                    </a:lnTo>
                    <a:lnTo>
                      <a:pt x="990" y="745"/>
                    </a:lnTo>
                    <a:lnTo>
                      <a:pt x="987" y="745"/>
                    </a:lnTo>
                    <a:lnTo>
                      <a:pt x="983" y="745"/>
                    </a:lnTo>
                    <a:lnTo>
                      <a:pt x="980" y="745"/>
                    </a:lnTo>
                    <a:lnTo>
                      <a:pt x="976" y="747"/>
                    </a:lnTo>
                    <a:lnTo>
                      <a:pt x="973" y="747"/>
                    </a:lnTo>
                    <a:lnTo>
                      <a:pt x="969" y="747"/>
                    </a:lnTo>
                    <a:lnTo>
                      <a:pt x="967" y="748"/>
                    </a:lnTo>
                    <a:lnTo>
                      <a:pt x="964" y="748"/>
                    </a:lnTo>
                    <a:lnTo>
                      <a:pt x="960" y="748"/>
                    </a:lnTo>
                    <a:lnTo>
                      <a:pt x="957" y="750"/>
                    </a:lnTo>
                    <a:lnTo>
                      <a:pt x="954" y="750"/>
                    </a:lnTo>
                    <a:lnTo>
                      <a:pt x="950" y="750"/>
                    </a:lnTo>
                    <a:lnTo>
                      <a:pt x="947" y="752"/>
                    </a:lnTo>
                    <a:lnTo>
                      <a:pt x="943" y="752"/>
                    </a:lnTo>
                    <a:lnTo>
                      <a:pt x="940" y="752"/>
                    </a:lnTo>
                    <a:lnTo>
                      <a:pt x="936" y="754"/>
                    </a:lnTo>
                    <a:lnTo>
                      <a:pt x="933" y="754"/>
                    </a:lnTo>
                    <a:lnTo>
                      <a:pt x="929" y="754"/>
                    </a:lnTo>
                    <a:lnTo>
                      <a:pt x="926" y="755"/>
                    </a:lnTo>
                    <a:lnTo>
                      <a:pt x="922" y="755"/>
                    </a:lnTo>
                    <a:lnTo>
                      <a:pt x="919" y="755"/>
                    </a:lnTo>
                    <a:lnTo>
                      <a:pt x="915" y="757"/>
                    </a:lnTo>
                    <a:lnTo>
                      <a:pt x="913" y="757"/>
                    </a:lnTo>
                    <a:lnTo>
                      <a:pt x="910" y="757"/>
                    </a:lnTo>
                    <a:lnTo>
                      <a:pt x="907" y="759"/>
                    </a:lnTo>
                    <a:lnTo>
                      <a:pt x="903" y="759"/>
                    </a:lnTo>
                    <a:lnTo>
                      <a:pt x="900" y="759"/>
                    </a:lnTo>
                    <a:lnTo>
                      <a:pt x="896" y="761"/>
                    </a:lnTo>
                    <a:lnTo>
                      <a:pt x="893" y="761"/>
                    </a:lnTo>
                    <a:lnTo>
                      <a:pt x="889" y="762"/>
                    </a:lnTo>
                    <a:lnTo>
                      <a:pt x="886" y="762"/>
                    </a:lnTo>
                    <a:lnTo>
                      <a:pt x="882" y="762"/>
                    </a:lnTo>
                    <a:lnTo>
                      <a:pt x="879" y="764"/>
                    </a:lnTo>
                    <a:lnTo>
                      <a:pt x="875" y="764"/>
                    </a:lnTo>
                    <a:lnTo>
                      <a:pt x="872" y="764"/>
                    </a:lnTo>
                    <a:lnTo>
                      <a:pt x="868" y="766"/>
                    </a:lnTo>
                    <a:lnTo>
                      <a:pt x="865" y="766"/>
                    </a:lnTo>
                    <a:lnTo>
                      <a:pt x="863" y="768"/>
                    </a:lnTo>
                    <a:lnTo>
                      <a:pt x="860" y="768"/>
                    </a:lnTo>
                    <a:lnTo>
                      <a:pt x="856" y="768"/>
                    </a:lnTo>
                    <a:lnTo>
                      <a:pt x="853" y="769"/>
                    </a:lnTo>
                    <a:lnTo>
                      <a:pt x="849" y="769"/>
                    </a:lnTo>
                    <a:lnTo>
                      <a:pt x="846" y="771"/>
                    </a:lnTo>
                    <a:lnTo>
                      <a:pt x="842" y="771"/>
                    </a:lnTo>
                    <a:lnTo>
                      <a:pt x="839" y="773"/>
                    </a:lnTo>
                    <a:lnTo>
                      <a:pt x="835" y="773"/>
                    </a:lnTo>
                    <a:lnTo>
                      <a:pt x="832" y="773"/>
                    </a:lnTo>
                    <a:lnTo>
                      <a:pt x="828" y="775"/>
                    </a:lnTo>
                    <a:lnTo>
                      <a:pt x="826" y="775"/>
                    </a:lnTo>
                    <a:lnTo>
                      <a:pt x="823" y="776"/>
                    </a:lnTo>
                    <a:lnTo>
                      <a:pt x="819" y="776"/>
                    </a:lnTo>
                    <a:lnTo>
                      <a:pt x="816" y="778"/>
                    </a:lnTo>
                    <a:lnTo>
                      <a:pt x="813" y="778"/>
                    </a:lnTo>
                    <a:lnTo>
                      <a:pt x="809" y="780"/>
                    </a:lnTo>
                    <a:lnTo>
                      <a:pt x="806" y="780"/>
                    </a:lnTo>
                    <a:lnTo>
                      <a:pt x="802" y="781"/>
                    </a:lnTo>
                    <a:lnTo>
                      <a:pt x="800" y="781"/>
                    </a:lnTo>
                    <a:lnTo>
                      <a:pt x="797" y="783"/>
                    </a:lnTo>
                    <a:lnTo>
                      <a:pt x="793" y="783"/>
                    </a:lnTo>
                    <a:lnTo>
                      <a:pt x="790" y="785"/>
                    </a:lnTo>
                    <a:lnTo>
                      <a:pt x="786" y="785"/>
                    </a:lnTo>
                    <a:lnTo>
                      <a:pt x="783" y="787"/>
                    </a:lnTo>
                    <a:lnTo>
                      <a:pt x="779" y="787"/>
                    </a:lnTo>
                    <a:lnTo>
                      <a:pt x="778" y="788"/>
                    </a:lnTo>
                    <a:lnTo>
                      <a:pt x="774" y="788"/>
                    </a:lnTo>
                    <a:lnTo>
                      <a:pt x="771" y="790"/>
                    </a:lnTo>
                    <a:lnTo>
                      <a:pt x="767" y="790"/>
                    </a:lnTo>
                    <a:lnTo>
                      <a:pt x="764" y="792"/>
                    </a:lnTo>
                    <a:lnTo>
                      <a:pt x="760" y="792"/>
                    </a:lnTo>
                    <a:lnTo>
                      <a:pt x="757" y="794"/>
                    </a:lnTo>
                    <a:lnTo>
                      <a:pt x="755" y="795"/>
                    </a:lnTo>
                    <a:lnTo>
                      <a:pt x="752" y="795"/>
                    </a:lnTo>
                    <a:lnTo>
                      <a:pt x="748" y="797"/>
                    </a:lnTo>
                    <a:lnTo>
                      <a:pt x="745" y="799"/>
                    </a:lnTo>
                    <a:lnTo>
                      <a:pt x="741" y="799"/>
                    </a:lnTo>
                    <a:lnTo>
                      <a:pt x="739" y="801"/>
                    </a:lnTo>
                    <a:lnTo>
                      <a:pt x="736" y="801"/>
                    </a:lnTo>
                    <a:lnTo>
                      <a:pt x="732" y="802"/>
                    </a:lnTo>
                    <a:lnTo>
                      <a:pt x="729" y="804"/>
                    </a:lnTo>
                    <a:lnTo>
                      <a:pt x="726" y="804"/>
                    </a:lnTo>
                    <a:lnTo>
                      <a:pt x="722" y="806"/>
                    </a:lnTo>
                    <a:lnTo>
                      <a:pt x="720" y="806"/>
                    </a:lnTo>
                    <a:lnTo>
                      <a:pt x="717" y="808"/>
                    </a:lnTo>
                    <a:lnTo>
                      <a:pt x="713" y="809"/>
                    </a:lnTo>
                    <a:lnTo>
                      <a:pt x="710" y="809"/>
                    </a:lnTo>
                    <a:lnTo>
                      <a:pt x="708" y="811"/>
                    </a:lnTo>
                    <a:lnTo>
                      <a:pt x="705" y="813"/>
                    </a:lnTo>
                    <a:lnTo>
                      <a:pt x="701" y="815"/>
                    </a:lnTo>
                    <a:lnTo>
                      <a:pt x="698" y="815"/>
                    </a:lnTo>
                    <a:lnTo>
                      <a:pt x="694" y="816"/>
                    </a:lnTo>
                    <a:lnTo>
                      <a:pt x="692" y="818"/>
                    </a:lnTo>
                    <a:lnTo>
                      <a:pt x="689" y="818"/>
                    </a:lnTo>
                    <a:lnTo>
                      <a:pt x="685" y="820"/>
                    </a:lnTo>
                    <a:lnTo>
                      <a:pt x="682" y="822"/>
                    </a:lnTo>
                    <a:lnTo>
                      <a:pt x="680" y="823"/>
                    </a:lnTo>
                    <a:lnTo>
                      <a:pt x="677" y="823"/>
                    </a:lnTo>
                    <a:lnTo>
                      <a:pt x="673" y="825"/>
                    </a:lnTo>
                    <a:lnTo>
                      <a:pt x="672" y="827"/>
                    </a:lnTo>
                    <a:lnTo>
                      <a:pt x="668" y="828"/>
                    </a:lnTo>
                    <a:lnTo>
                      <a:pt x="665" y="828"/>
                    </a:lnTo>
                    <a:lnTo>
                      <a:pt x="663" y="830"/>
                    </a:lnTo>
                    <a:lnTo>
                      <a:pt x="659" y="832"/>
                    </a:lnTo>
                    <a:lnTo>
                      <a:pt x="656" y="834"/>
                    </a:lnTo>
                    <a:lnTo>
                      <a:pt x="654" y="835"/>
                    </a:lnTo>
                    <a:lnTo>
                      <a:pt x="651" y="837"/>
                    </a:lnTo>
                    <a:lnTo>
                      <a:pt x="647" y="837"/>
                    </a:lnTo>
                    <a:lnTo>
                      <a:pt x="645" y="839"/>
                    </a:lnTo>
                    <a:lnTo>
                      <a:pt x="642" y="841"/>
                    </a:lnTo>
                    <a:lnTo>
                      <a:pt x="638" y="842"/>
                    </a:lnTo>
                    <a:lnTo>
                      <a:pt x="637" y="844"/>
                    </a:lnTo>
                    <a:lnTo>
                      <a:pt x="633" y="846"/>
                    </a:lnTo>
                    <a:lnTo>
                      <a:pt x="632" y="848"/>
                    </a:lnTo>
                    <a:lnTo>
                      <a:pt x="628" y="849"/>
                    </a:lnTo>
                    <a:lnTo>
                      <a:pt x="625" y="851"/>
                    </a:lnTo>
                    <a:lnTo>
                      <a:pt x="623" y="851"/>
                    </a:lnTo>
                    <a:lnTo>
                      <a:pt x="619" y="853"/>
                    </a:lnTo>
                    <a:lnTo>
                      <a:pt x="618" y="855"/>
                    </a:lnTo>
                    <a:lnTo>
                      <a:pt x="614" y="856"/>
                    </a:lnTo>
                    <a:lnTo>
                      <a:pt x="612" y="858"/>
                    </a:lnTo>
                    <a:lnTo>
                      <a:pt x="609" y="860"/>
                    </a:lnTo>
                    <a:lnTo>
                      <a:pt x="607" y="862"/>
                    </a:lnTo>
                    <a:lnTo>
                      <a:pt x="604" y="863"/>
                    </a:lnTo>
                    <a:lnTo>
                      <a:pt x="602" y="865"/>
                    </a:lnTo>
                    <a:lnTo>
                      <a:pt x="598" y="867"/>
                    </a:lnTo>
                    <a:lnTo>
                      <a:pt x="597" y="869"/>
                    </a:lnTo>
                    <a:lnTo>
                      <a:pt x="593" y="870"/>
                    </a:lnTo>
                    <a:lnTo>
                      <a:pt x="591" y="872"/>
                    </a:lnTo>
                    <a:lnTo>
                      <a:pt x="588" y="874"/>
                    </a:lnTo>
                    <a:lnTo>
                      <a:pt x="586" y="875"/>
                    </a:lnTo>
                    <a:lnTo>
                      <a:pt x="583" y="877"/>
                    </a:lnTo>
                    <a:lnTo>
                      <a:pt x="581" y="879"/>
                    </a:lnTo>
                    <a:lnTo>
                      <a:pt x="579" y="882"/>
                    </a:lnTo>
                    <a:lnTo>
                      <a:pt x="576" y="884"/>
                    </a:lnTo>
                    <a:lnTo>
                      <a:pt x="574" y="886"/>
                    </a:lnTo>
                    <a:lnTo>
                      <a:pt x="571" y="888"/>
                    </a:lnTo>
                    <a:lnTo>
                      <a:pt x="569" y="889"/>
                    </a:lnTo>
                    <a:lnTo>
                      <a:pt x="567" y="891"/>
                    </a:lnTo>
                    <a:lnTo>
                      <a:pt x="564" y="893"/>
                    </a:lnTo>
                    <a:lnTo>
                      <a:pt x="562" y="895"/>
                    </a:lnTo>
                    <a:lnTo>
                      <a:pt x="560" y="896"/>
                    </a:lnTo>
                    <a:lnTo>
                      <a:pt x="558" y="900"/>
                    </a:lnTo>
                    <a:lnTo>
                      <a:pt x="555" y="902"/>
                    </a:lnTo>
                    <a:lnTo>
                      <a:pt x="553" y="903"/>
                    </a:lnTo>
                    <a:lnTo>
                      <a:pt x="551" y="905"/>
                    </a:lnTo>
                    <a:lnTo>
                      <a:pt x="550" y="907"/>
                    </a:lnTo>
                    <a:lnTo>
                      <a:pt x="546" y="910"/>
                    </a:lnTo>
                    <a:lnTo>
                      <a:pt x="544" y="912"/>
                    </a:lnTo>
                    <a:lnTo>
                      <a:pt x="543" y="914"/>
                    </a:lnTo>
                    <a:lnTo>
                      <a:pt x="541" y="916"/>
                    </a:lnTo>
                    <a:lnTo>
                      <a:pt x="539" y="917"/>
                    </a:lnTo>
                    <a:lnTo>
                      <a:pt x="536" y="921"/>
                    </a:lnTo>
                    <a:lnTo>
                      <a:pt x="534" y="922"/>
                    </a:lnTo>
                    <a:lnTo>
                      <a:pt x="532" y="924"/>
                    </a:lnTo>
                    <a:lnTo>
                      <a:pt x="531" y="926"/>
                    </a:lnTo>
                    <a:lnTo>
                      <a:pt x="529" y="929"/>
                    </a:lnTo>
                    <a:lnTo>
                      <a:pt x="527" y="931"/>
                    </a:lnTo>
                    <a:lnTo>
                      <a:pt x="525" y="933"/>
                    </a:lnTo>
                    <a:lnTo>
                      <a:pt x="524" y="936"/>
                    </a:lnTo>
                    <a:lnTo>
                      <a:pt x="522" y="938"/>
                    </a:lnTo>
                    <a:lnTo>
                      <a:pt x="520" y="940"/>
                    </a:lnTo>
                    <a:lnTo>
                      <a:pt x="518" y="942"/>
                    </a:lnTo>
                    <a:lnTo>
                      <a:pt x="517" y="945"/>
                    </a:lnTo>
                    <a:lnTo>
                      <a:pt x="515" y="947"/>
                    </a:lnTo>
                    <a:lnTo>
                      <a:pt x="513" y="950"/>
                    </a:lnTo>
                    <a:lnTo>
                      <a:pt x="511" y="952"/>
                    </a:lnTo>
                    <a:lnTo>
                      <a:pt x="511" y="954"/>
                    </a:lnTo>
                    <a:lnTo>
                      <a:pt x="510" y="957"/>
                    </a:lnTo>
                    <a:lnTo>
                      <a:pt x="508" y="959"/>
                    </a:lnTo>
                    <a:lnTo>
                      <a:pt x="506" y="961"/>
                    </a:lnTo>
                    <a:lnTo>
                      <a:pt x="504" y="964"/>
                    </a:lnTo>
                    <a:lnTo>
                      <a:pt x="503" y="966"/>
                    </a:lnTo>
                    <a:lnTo>
                      <a:pt x="503" y="970"/>
                    </a:lnTo>
                    <a:lnTo>
                      <a:pt x="501" y="971"/>
                    </a:lnTo>
                    <a:lnTo>
                      <a:pt x="499" y="973"/>
                    </a:lnTo>
                    <a:lnTo>
                      <a:pt x="499" y="976"/>
                    </a:lnTo>
                    <a:lnTo>
                      <a:pt x="498" y="978"/>
                    </a:lnTo>
                    <a:lnTo>
                      <a:pt x="496" y="982"/>
                    </a:lnTo>
                    <a:lnTo>
                      <a:pt x="496" y="983"/>
                    </a:lnTo>
                    <a:lnTo>
                      <a:pt x="494" y="987"/>
                    </a:lnTo>
                    <a:lnTo>
                      <a:pt x="492" y="989"/>
                    </a:lnTo>
                    <a:lnTo>
                      <a:pt x="492" y="990"/>
                    </a:lnTo>
                    <a:lnTo>
                      <a:pt x="491" y="994"/>
                    </a:lnTo>
                    <a:lnTo>
                      <a:pt x="491" y="996"/>
                    </a:lnTo>
                    <a:lnTo>
                      <a:pt x="489" y="999"/>
                    </a:lnTo>
                    <a:lnTo>
                      <a:pt x="489" y="1001"/>
                    </a:lnTo>
                    <a:lnTo>
                      <a:pt x="487" y="1004"/>
                    </a:lnTo>
                    <a:lnTo>
                      <a:pt x="487" y="1006"/>
                    </a:lnTo>
                    <a:lnTo>
                      <a:pt x="485" y="1010"/>
                    </a:lnTo>
                    <a:lnTo>
                      <a:pt x="485" y="1011"/>
                    </a:lnTo>
                    <a:lnTo>
                      <a:pt x="485" y="1015"/>
                    </a:lnTo>
                    <a:lnTo>
                      <a:pt x="484" y="1017"/>
                    </a:lnTo>
                    <a:lnTo>
                      <a:pt x="484" y="1020"/>
                    </a:lnTo>
                    <a:lnTo>
                      <a:pt x="484" y="1022"/>
                    </a:lnTo>
                    <a:lnTo>
                      <a:pt x="484" y="1025"/>
                    </a:lnTo>
                    <a:lnTo>
                      <a:pt x="482" y="1027"/>
                    </a:lnTo>
                    <a:lnTo>
                      <a:pt x="482" y="1030"/>
                    </a:lnTo>
                    <a:lnTo>
                      <a:pt x="482" y="1032"/>
                    </a:lnTo>
                    <a:lnTo>
                      <a:pt x="482" y="1036"/>
                    </a:lnTo>
                    <a:lnTo>
                      <a:pt x="480" y="1037"/>
                    </a:lnTo>
                    <a:lnTo>
                      <a:pt x="480" y="1039"/>
                    </a:lnTo>
                    <a:lnTo>
                      <a:pt x="480" y="1043"/>
                    </a:lnTo>
                    <a:lnTo>
                      <a:pt x="480" y="1046"/>
                    </a:lnTo>
                    <a:lnTo>
                      <a:pt x="480" y="1053"/>
                    </a:lnTo>
                    <a:moveTo>
                      <a:pt x="1030" y="741"/>
                    </a:moveTo>
                    <a:lnTo>
                      <a:pt x="1027" y="743"/>
                    </a:lnTo>
                    <a:lnTo>
                      <a:pt x="1023" y="745"/>
                    </a:lnTo>
                    <a:lnTo>
                      <a:pt x="1021" y="747"/>
                    </a:lnTo>
                    <a:lnTo>
                      <a:pt x="1018" y="748"/>
                    </a:lnTo>
                    <a:lnTo>
                      <a:pt x="1014" y="750"/>
                    </a:lnTo>
                    <a:lnTo>
                      <a:pt x="1013" y="750"/>
                    </a:lnTo>
                    <a:lnTo>
                      <a:pt x="1009" y="752"/>
                    </a:lnTo>
                    <a:lnTo>
                      <a:pt x="1006" y="754"/>
                    </a:lnTo>
                    <a:lnTo>
                      <a:pt x="1004" y="755"/>
                    </a:lnTo>
                    <a:lnTo>
                      <a:pt x="1000" y="757"/>
                    </a:lnTo>
                    <a:lnTo>
                      <a:pt x="997" y="759"/>
                    </a:lnTo>
                    <a:lnTo>
                      <a:pt x="995" y="761"/>
                    </a:lnTo>
                    <a:lnTo>
                      <a:pt x="992" y="762"/>
                    </a:lnTo>
                    <a:lnTo>
                      <a:pt x="990" y="762"/>
                    </a:lnTo>
                    <a:lnTo>
                      <a:pt x="987" y="764"/>
                    </a:lnTo>
                    <a:lnTo>
                      <a:pt x="983" y="766"/>
                    </a:lnTo>
                    <a:lnTo>
                      <a:pt x="981" y="768"/>
                    </a:lnTo>
                    <a:lnTo>
                      <a:pt x="978" y="769"/>
                    </a:lnTo>
                    <a:lnTo>
                      <a:pt x="974" y="769"/>
                    </a:lnTo>
                    <a:lnTo>
                      <a:pt x="973" y="771"/>
                    </a:lnTo>
                    <a:lnTo>
                      <a:pt x="969" y="773"/>
                    </a:lnTo>
                    <a:lnTo>
                      <a:pt x="967" y="775"/>
                    </a:lnTo>
                    <a:lnTo>
                      <a:pt x="964" y="776"/>
                    </a:lnTo>
                    <a:lnTo>
                      <a:pt x="960" y="778"/>
                    </a:lnTo>
                    <a:lnTo>
                      <a:pt x="959" y="780"/>
                    </a:lnTo>
                    <a:lnTo>
                      <a:pt x="955" y="781"/>
                    </a:lnTo>
                    <a:lnTo>
                      <a:pt x="952" y="781"/>
                    </a:lnTo>
                    <a:lnTo>
                      <a:pt x="950" y="783"/>
                    </a:lnTo>
                    <a:lnTo>
                      <a:pt x="947" y="785"/>
                    </a:lnTo>
                    <a:lnTo>
                      <a:pt x="945" y="787"/>
                    </a:lnTo>
                    <a:lnTo>
                      <a:pt x="941" y="788"/>
                    </a:lnTo>
                    <a:lnTo>
                      <a:pt x="938" y="790"/>
                    </a:lnTo>
                    <a:lnTo>
                      <a:pt x="936" y="792"/>
                    </a:lnTo>
                    <a:lnTo>
                      <a:pt x="933" y="794"/>
                    </a:lnTo>
                    <a:lnTo>
                      <a:pt x="931" y="795"/>
                    </a:lnTo>
                    <a:lnTo>
                      <a:pt x="927" y="795"/>
                    </a:lnTo>
                    <a:lnTo>
                      <a:pt x="924" y="797"/>
                    </a:lnTo>
                    <a:lnTo>
                      <a:pt x="922" y="799"/>
                    </a:lnTo>
                    <a:lnTo>
                      <a:pt x="919" y="801"/>
                    </a:lnTo>
                    <a:lnTo>
                      <a:pt x="915" y="802"/>
                    </a:lnTo>
                    <a:lnTo>
                      <a:pt x="913" y="804"/>
                    </a:lnTo>
                    <a:lnTo>
                      <a:pt x="910" y="806"/>
                    </a:lnTo>
                    <a:lnTo>
                      <a:pt x="908" y="808"/>
                    </a:lnTo>
                    <a:lnTo>
                      <a:pt x="905" y="809"/>
                    </a:lnTo>
                    <a:lnTo>
                      <a:pt x="901" y="809"/>
                    </a:lnTo>
                    <a:lnTo>
                      <a:pt x="900" y="811"/>
                    </a:lnTo>
                    <a:lnTo>
                      <a:pt x="896" y="813"/>
                    </a:lnTo>
                    <a:lnTo>
                      <a:pt x="894" y="815"/>
                    </a:lnTo>
                    <a:lnTo>
                      <a:pt x="891" y="816"/>
                    </a:lnTo>
                    <a:lnTo>
                      <a:pt x="889" y="818"/>
                    </a:lnTo>
                    <a:lnTo>
                      <a:pt x="886" y="820"/>
                    </a:lnTo>
                    <a:lnTo>
                      <a:pt x="884" y="822"/>
                    </a:lnTo>
                    <a:lnTo>
                      <a:pt x="880" y="823"/>
                    </a:lnTo>
                    <a:lnTo>
                      <a:pt x="877" y="825"/>
                    </a:lnTo>
                    <a:lnTo>
                      <a:pt x="875" y="827"/>
                    </a:lnTo>
                    <a:lnTo>
                      <a:pt x="872" y="828"/>
                    </a:lnTo>
                    <a:lnTo>
                      <a:pt x="870" y="830"/>
                    </a:lnTo>
                    <a:lnTo>
                      <a:pt x="866" y="832"/>
                    </a:lnTo>
                    <a:lnTo>
                      <a:pt x="865" y="834"/>
                    </a:lnTo>
                    <a:lnTo>
                      <a:pt x="861" y="835"/>
                    </a:lnTo>
                    <a:lnTo>
                      <a:pt x="860" y="837"/>
                    </a:lnTo>
                    <a:lnTo>
                      <a:pt x="856" y="839"/>
                    </a:lnTo>
                    <a:lnTo>
                      <a:pt x="854" y="841"/>
                    </a:lnTo>
                    <a:lnTo>
                      <a:pt x="851" y="842"/>
                    </a:lnTo>
                    <a:lnTo>
                      <a:pt x="849" y="844"/>
                    </a:lnTo>
                    <a:lnTo>
                      <a:pt x="846" y="846"/>
                    </a:lnTo>
                    <a:lnTo>
                      <a:pt x="844" y="848"/>
                    </a:lnTo>
                    <a:lnTo>
                      <a:pt x="840" y="849"/>
                    </a:lnTo>
                    <a:lnTo>
                      <a:pt x="839" y="851"/>
                    </a:lnTo>
                    <a:lnTo>
                      <a:pt x="837" y="853"/>
                    </a:lnTo>
                    <a:lnTo>
                      <a:pt x="833" y="855"/>
                    </a:lnTo>
                    <a:lnTo>
                      <a:pt x="832" y="856"/>
                    </a:lnTo>
                    <a:lnTo>
                      <a:pt x="828" y="858"/>
                    </a:lnTo>
                    <a:lnTo>
                      <a:pt x="826" y="860"/>
                    </a:lnTo>
                    <a:lnTo>
                      <a:pt x="823" y="862"/>
                    </a:lnTo>
                    <a:lnTo>
                      <a:pt x="821" y="863"/>
                    </a:lnTo>
                    <a:lnTo>
                      <a:pt x="819" y="865"/>
                    </a:lnTo>
                    <a:lnTo>
                      <a:pt x="816" y="867"/>
                    </a:lnTo>
                    <a:lnTo>
                      <a:pt x="814" y="869"/>
                    </a:lnTo>
                    <a:lnTo>
                      <a:pt x="811" y="872"/>
                    </a:lnTo>
                    <a:lnTo>
                      <a:pt x="809" y="874"/>
                    </a:lnTo>
                    <a:lnTo>
                      <a:pt x="807" y="875"/>
                    </a:lnTo>
                    <a:lnTo>
                      <a:pt x="804" y="877"/>
                    </a:lnTo>
                    <a:lnTo>
                      <a:pt x="802" y="879"/>
                    </a:lnTo>
                    <a:lnTo>
                      <a:pt x="800" y="881"/>
                    </a:lnTo>
                    <a:lnTo>
                      <a:pt x="797" y="882"/>
                    </a:lnTo>
                    <a:lnTo>
                      <a:pt x="795" y="884"/>
                    </a:lnTo>
                    <a:lnTo>
                      <a:pt x="793" y="886"/>
                    </a:lnTo>
                    <a:lnTo>
                      <a:pt x="790" y="889"/>
                    </a:lnTo>
                    <a:lnTo>
                      <a:pt x="788" y="891"/>
                    </a:lnTo>
                    <a:lnTo>
                      <a:pt x="786" y="893"/>
                    </a:lnTo>
                    <a:lnTo>
                      <a:pt x="785" y="895"/>
                    </a:lnTo>
                    <a:lnTo>
                      <a:pt x="781" y="896"/>
                    </a:lnTo>
                    <a:lnTo>
                      <a:pt x="779" y="900"/>
                    </a:lnTo>
                    <a:lnTo>
                      <a:pt x="778" y="902"/>
                    </a:lnTo>
                    <a:lnTo>
                      <a:pt x="776" y="903"/>
                    </a:lnTo>
                    <a:lnTo>
                      <a:pt x="774" y="905"/>
                    </a:lnTo>
                    <a:lnTo>
                      <a:pt x="771" y="907"/>
                    </a:lnTo>
                    <a:lnTo>
                      <a:pt x="769" y="910"/>
                    </a:lnTo>
                    <a:lnTo>
                      <a:pt x="767" y="912"/>
                    </a:lnTo>
                    <a:lnTo>
                      <a:pt x="766" y="914"/>
                    </a:lnTo>
                    <a:lnTo>
                      <a:pt x="764" y="916"/>
                    </a:lnTo>
                    <a:lnTo>
                      <a:pt x="762" y="917"/>
                    </a:lnTo>
                    <a:lnTo>
                      <a:pt x="759" y="921"/>
                    </a:lnTo>
                    <a:lnTo>
                      <a:pt x="757" y="922"/>
                    </a:lnTo>
                    <a:lnTo>
                      <a:pt x="755" y="924"/>
                    </a:lnTo>
                    <a:lnTo>
                      <a:pt x="753" y="928"/>
                    </a:lnTo>
                    <a:lnTo>
                      <a:pt x="752" y="929"/>
                    </a:lnTo>
                    <a:lnTo>
                      <a:pt x="750" y="931"/>
                    </a:lnTo>
                    <a:lnTo>
                      <a:pt x="748" y="933"/>
                    </a:lnTo>
                    <a:lnTo>
                      <a:pt x="746" y="936"/>
                    </a:lnTo>
                    <a:lnTo>
                      <a:pt x="745" y="938"/>
                    </a:lnTo>
                    <a:lnTo>
                      <a:pt x="743" y="940"/>
                    </a:lnTo>
                    <a:lnTo>
                      <a:pt x="741" y="943"/>
                    </a:lnTo>
                    <a:lnTo>
                      <a:pt x="739" y="945"/>
                    </a:lnTo>
                    <a:lnTo>
                      <a:pt x="738" y="947"/>
                    </a:lnTo>
                    <a:lnTo>
                      <a:pt x="736" y="950"/>
                    </a:lnTo>
                    <a:lnTo>
                      <a:pt x="736" y="952"/>
                    </a:lnTo>
                    <a:lnTo>
                      <a:pt x="734" y="954"/>
                    </a:lnTo>
                    <a:lnTo>
                      <a:pt x="732" y="957"/>
                    </a:lnTo>
                    <a:lnTo>
                      <a:pt x="731" y="959"/>
                    </a:lnTo>
                    <a:lnTo>
                      <a:pt x="729" y="961"/>
                    </a:lnTo>
                    <a:lnTo>
                      <a:pt x="727" y="964"/>
                    </a:lnTo>
                    <a:lnTo>
                      <a:pt x="727" y="966"/>
                    </a:lnTo>
                    <a:lnTo>
                      <a:pt x="726" y="970"/>
                    </a:lnTo>
                    <a:lnTo>
                      <a:pt x="724" y="971"/>
                    </a:lnTo>
                    <a:lnTo>
                      <a:pt x="722" y="975"/>
                    </a:lnTo>
                    <a:lnTo>
                      <a:pt x="722" y="976"/>
                    </a:lnTo>
                    <a:lnTo>
                      <a:pt x="720" y="978"/>
                    </a:lnTo>
                    <a:lnTo>
                      <a:pt x="719" y="982"/>
                    </a:lnTo>
                    <a:lnTo>
                      <a:pt x="719" y="983"/>
                    </a:lnTo>
                    <a:lnTo>
                      <a:pt x="717" y="987"/>
                    </a:lnTo>
                    <a:lnTo>
                      <a:pt x="717" y="989"/>
                    </a:lnTo>
                    <a:lnTo>
                      <a:pt x="715" y="992"/>
                    </a:lnTo>
                    <a:lnTo>
                      <a:pt x="713" y="994"/>
                    </a:lnTo>
                    <a:lnTo>
                      <a:pt x="713" y="996"/>
                    </a:lnTo>
                    <a:lnTo>
                      <a:pt x="712" y="999"/>
                    </a:lnTo>
                    <a:lnTo>
                      <a:pt x="712" y="1001"/>
                    </a:lnTo>
                    <a:lnTo>
                      <a:pt x="712" y="1004"/>
                    </a:lnTo>
                    <a:lnTo>
                      <a:pt x="710" y="1006"/>
                    </a:lnTo>
                    <a:lnTo>
                      <a:pt x="710" y="1010"/>
                    </a:lnTo>
                    <a:lnTo>
                      <a:pt x="708" y="1011"/>
                    </a:lnTo>
                    <a:lnTo>
                      <a:pt x="708" y="1015"/>
                    </a:lnTo>
                    <a:lnTo>
                      <a:pt x="708" y="1017"/>
                    </a:lnTo>
                    <a:lnTo>
                      <a:pt x="706" y="1020"/>
                    </a:lnTo>
                    <a:lnTo>
                      <a:pt x="706" y="1022"/>
                    </a:lnTo>
                    <a:lnTo>
                      <a:pt x="706" y="1025"/>
                    </a:lnTo>
                    <a:lnTo>
                      <a:pt x="705" y="1027"/>
                    </a:lnTo>
                    <a:lnTo>
                      <a:pt x="705" y="1030"/>
                    </a:lnTo>
                    <a:lnTo>
                      <a:pt x="705" y="1032"/>
                    </a:lnTo>
                    <a:lnTo>
                      <a:pt x="705" y="1036"/>
                    </a:lnTo>
                    <a:lnTo>
                      <a:pt x="705" y="1037"/>
                    </a:lnTo>
                    <a:lnTo>
                      <a:pt x="703" y="1041"/>
                    </a:lnTo>
                    <a:lnTo>
                      <a:pt x="703" y="1043"/>
                    </a:lnTo>
                    <a:lnTo>
                      <a:pt x="703" y="1046"/>
                    </a:lnTo>
                    <a:lnTo>
                      <a:pt x="703" y="1053"/>
                    </a:lnTo>
                    <a:moveTo>
                      <a:pt x="1034" y="745"/>
                    </a:moveTo>
                    <a:lnTo>
                      <a:pt x="1032" y="747"/>
                    </a:lnTo>
                    <a:lnTo>
                      <a:pt x="1030" y="750"/>
                    </a:lnTo>
                    <a:lnTo>
                      <a:pt x="1028" y="752"/>
                    </a:lnTo>
                    <a:lnTo>
                      <a:pt x="1025" y="754"/>
                    </a:lnTo>
                    <a:lnTo>
                      <a:pt x="1023" y="755"/>
                    </a:lnTo>
                    <a:lnTo>
                      <a:pt x="1021" y="759"/>
                    </a:lnTo>
                    <a:lnTo>
                      <a:pt x="1020" y="761"/>
                    </a:lnTo>
                    <a:lnTo>
                      <a:pt x="1018" y="762"/>
                    </a:lnTo>
                    <a:lnTo>
                      <a:pt x="1016" y="764"/>
                    </a:lnTo>
                    <a:lnTo>
                      <a:pt x="1014" y="768"/>
                    </a:lnTo>
                    <a:lnTo>
                      <a:pt x="1013" y="769"/>
                    </a:lnTo>
                    <a:lnTo>
                      <a:pt x="1011" y="771"/>
                    </a:lnTo>
                    <a:lnTo>
                      <a:pt x="1009" y="773"/>
                    </a:lnTo>
                    <a:lnTo>
                      <a:pt x="1006" y="776"/>
                    </a:lnTo>
                    <a:lnTo>
                      <a:pt x="1004" y="778"/>
                    </a:lnTo>
                    <a:lnTo>
                      <a:pt x="1002" y="780"/>
                    </a:lnTo>
                    <a:lnTo>
                      <a:pt x="1000" y="783"/>
                    </a:lnTo>
                    <a:lnTo>
                      <a:pt x="999" y="785"/>
                    </a:lnTo>
                    <a:lnTo>
                      <a:pt x="997" y="787"/>
                    </a:lnTo>
                    <a:lnTo>
                      <a:pt x="995" y="788"/>
                    </a:lnTo>
                    <a:lnTo>
                      <a:pt x="994" y="792"/>
                    </a:lnTo>
                    <a:lnTo>
                      <a:pt x="992" y="794"/>
                    </a:lnTo>
                    <a:lnTo>
                      <a:pt x="990" y="795"/>
                    </a:lnTo>
                    <a:lnTo>
                      <a:pt x="988" y="799"/>
                    </a:lnTo>
                    <a:lnTo>
                      <a:pt x="987" y="801"/>
                    </a:lnTo>
                    <a:lnTo>
                      <a:pt x="983" y="802"/>
                    </a:lnTo>
                    <a:lnTo>
                      <a:pt x="981" y="804"/>
                    </a:lnTo>
                    <a:lnTo>
                      <a:pt x="980" y="806"/>
                    </a:lnTo>
                    <a:lnTo>
                      <a:pt x="978" y="809"/>
                    </a:lnTo>
                    <a:lnTo>
                      <a:pt x="976" y="811"/>
                    </a:lnTo>
                    <a:lnTo>
                      <a:pt x="974" y="813"/>
                    </a:lnTo>
                    <a:lnTo>
                      <a:pt x="973" y="816"/>
                    </a:lnTo>
                    <a:lnTo>
                      <a:pt x="971" y="818"/>
                    </a:lnTo>
                    <a:lnTo>
                      <a:pt x="969" y="820"/>
                    </a:lnTo>
                    <a:lnTo>
                      <a:pt x="967" y="822"/>
                    </a:lnTo>
                    <a:lnTo>
                      <a:pt x="966" y="825"/>
                    </a:lnTo>
                    <a:lnTo>
                      <a:pt x="964" y="827"/>
                    </a:lnTo>
                    <a:lnTo>
                      <a:pt x="962" y="828"/>
                    </a:lnTo>
                    <a:lnTo>
                      <a:pt x="960" y="832"/>
                    </a:lnTo>
                    <a:lnTo>
                      <a:pt x="959" y="834"/>
                    </a:lnTo>
                    <a:lnTo>
                      <a:pt x="957" y="835"/>
                    </a:lnTo>
                    <a:lnTo>
                      <a:pt x="955" y="837"/>
                    </a:lnTo>
                    <a:lnTo>
                      <a:pt x="952" y="841"/>
                    </a:lnTo>
                    <a:lnTo>
                      <a:pt x="950" y="842"/>
                    </a:lnTo>
                    <a:lnTo>
                      <a:pt x="950" y="844"/>
                    </a:lnTo>
                    <a:lnTo>
                      <a:pt x="947" y="848"/>
                    </a:lnTo>
                    <a:lnTo>
                      <a:pt x="945" y="849"/>
                    </a:lnTo>
                    <a:lnTo>
                      <a:pt x="945" y="851"/>
                    </a:lnTo>
                    <a:lnTo>
                      <a:pt x="941" y="855"/>
                    </a:lnTo>
                    <a:lnTo>
                      <a:pt x="940" y="856"/>
                    </a:lnTo>
                    <a:lnTo>
                      <a:pt x="938" y="858"/>
                    </a:lnTo>
                    <a:lnTo>
                      <a:pt x="936" y="860"/>
                    </a:lnTo>
                    <a:lnTo>
                      <a:pt x="936" y="863"/>
                    </a:lnTo>
                    <a:lnTo>
                      <a:pt x="933" y="865"/>
                    </a:lnTo>
                    <a:lnTo>
                      <a:pt x="933" y="867"/>
                    </a:lnTo>
                    <a:lnTo>
                      <a:pt x="931" y="870"/>
                    </a:lnTo>
                    <a:lnTo>
                      <a:pt x="929" y="872"/>
                    </a:lnTo>
                    <a:lnTo>
                      <a:pt x="927" y="874"/>
                    </a:lnTo>
                    <a:lnTo>
                      <a:pt x="926" y="877"/>
                    </a:lnTo>
                    <a:lnTo>
                      <a:pt x="924" y="879"/>
                    </a:lnTo>
                    <a:lnTo>
                      <a:pt x="922" y="881"/>
                    </a:lnTo>
                    <a:lnTo>
                      <a:pt x="920" y="884"/>
                    </a:lnTo>
                    <a:lnTo>
                      <a:pt x="919" y="886"/>
                    </a:lnTo>
                    <a:lnTo>
                      <a:pt x="917" y="888"/>
                    </a:lnTo>
                    <a:lnTo>
                      <a:pt x="915" y="891"/>
                    </a:lnTo>
                    <a:lnTo>
                      <a:pt x="913" y="893"/>
                    </a:lnTo>
                    <a:lnTo>
                      <a:pt x="912" y="896"/>
                    </a:lnTo>
                    <a:lnTo>
                      <a:pt x="910" y="898"/>
                    </a:lnTo>
                    <a:lnTo>
                      <a:pt x="910" y="900"/>
                    </a:lnTo>
                    <a:lnTo>
                      <a:pt x="908" y="902"/>
                    </a:lnTo>
                    <a:lnTo>
                      <a:pt x="907" y="905"/>
                    </a:lnTo>
                    <a:lnTo>
                      <a:pt x="905" y="907"/>
                    </a:lnTo>
                    <a:lnTo>
                      <a:pt x="903" y="910"/>
                    </a:lnTo>
                    <a:lnTo>
                      <a:pt x="901" y="912"/>
                    </a:lnTo>
                    <a:lnTo>
                      <a:pt x="901" y="914"/>
                    </a:lnTo>
                    <a:lnTo>
                      <a:pt x="900" y="917"/>
                    </a:lnTo>
                    <a:lnTo>
                      <a:pt x="898" y="919"/>
                    </a:lnTo>
                    <a:lnTo>
                      <a:pt x="896" y="922"/>
                    </a:lnTo>
                    <a:lnTo>
                      <a:pt x="894" y="924"/>
                    </a:lnTo>
                    <a:lnTo>
                      <a:pt x="894" y="926"/>
                    </a:lnTo>
                    <a:lnTo>
                      <a:pt x="893" y="929"/>
                    </a:lnTo>
                    <a:lnTo>
                      <a:pt x="891" y="931"/>
                    </a:lnTo>
                    <a:lnTo>
                      <a:pt x="889" y="935"/>
                    </a:lnTo>
                    <a:lnTo>
                      <a:pt x="889" y="936"/>
                    </a:lnTo>
                    <a:lnTo>
                      <a:pt x="887" y="938"/>
                    </a:lnTo>
                    <a:lnTo>
                      <a:pt x="886" y="942"/>
                    </a:lnTo>
                    <a:lnTo>
                      <a:pt x="886" y="943"/>
                    </a:lnTo>
                    <a:lnTo>
                      <a:pt x="884" y="947"/>
                    </a:lnTo>
                    <a:lnTo>
                      <a:pt x="882" y="949"/>
                    </a:lnTo>
                    <a:lnTo>
                      <a:pt x="882" y="950"/>
                    </a:lnTo>
                    <a:lnTo>
                      <a:pt x="880" y="954"/>
                    </a:lnTo>
                    <a:lnTo>
                      <a:pt x="879" y="956"/>
                    </a:lnTo>
                    <a:lnTo>
                      <a:pt x="879" y="959"/>
                    </a:lnTo>
                    <a:lnTo>
                      <a:pt x="877" y="961"/>
                    </a:lnTo>
                    <a:lnTo>
                      <a:pt x="877" y="964"/>
                    </a:lnTo>
                    <a:lnTo>
                      <a:pt x="875" y="966"/>
                    </a:lnTo>
                    <a:lnTo>
                      <a:pt x="873" y="970"/>
                    </a:lnTo>
                    <a:lnTo>
                      <a:pt x="873" y="971"/>
                    </a:lnTo>
                    <a:lnTo>
                      <a:pt x="872" y="973"/>
                    </a:lnTo>
                    <a:lnTo>
                      <a:pt x="872" y="976"/>
                    </a:lnTo>
                    <a:lnTo>
                      <a:pt x="870" y="978"/>
                    </a:lnTo>
                    <a:lnTo>
                      <a:pt x="870" y="982"/>
                    </a:lnTo>
                    <a:lnTo>
                      <a:pt x="868" y="983"/>
                    </a:lnTo>
                    <a:lnTo>
                      <a:pt x="868" y="987"/>
                    </a:lnTo>
                    <a:lnTo>
                      <a:pt x="866" y="989"/>
                    </a:lnTo>
                    <a:lnTo>
                      <a:pt x="866" y="992"/>
                    </a:lnTo>
                    <a:lnTo>
                      <a:pt x="865" y="994"/>
                    </a:lnTo>
                    <a:lnTo>
                      <a:pt x="865" y="997"/>
                    </a:lnTo>
                    <a:lnTo>
                      <a:pt x="865" y="999"/>
                    </a:lnTo>
                    <a:lnTo>
                      <a:pt x="863" y="1003"/>
                    </a:lnTo>
                    <a:lnTo>
                      <a:pt x="863" y="1004"/>
                    </a:lnTo>
                    <a:lnTo>
                      <a:pt x="863" y="1008"/>
                    </a:lnTo>
                    <a:lnTo>
                      <a:pt x="861" y="1010"/>
                    </a:lnTo>
                    <a:lnTo>
                      <a:pt x="861" y="1013"/>
                    </a:lnTo>
                    <a:lnTo>
                      <a:pt x="861" y="1015"/>
                    </a:lnTo>
                    <a:lnTo>
                      <a:pt x="861" y="1018"/>
                    </a:lnTo>
                    <a:lnTo>
                      <a:pt x="860" y="1020"/>
                    </a:lnTo>
                    <a:lnTo>
                      <a:pt x="860" y="1023"/>
                    </a:lnTo>
                    <a:lnTo>
                      <a:pt x="860" y="1025"/>
                    </a:lnTo>
                    <a:lnTo>
                      <a:pt x="860" y="1029"/>
                    </a:lnTo>
                    <a:lnTo>
                      <a:pt x="860" y="1030"/>
                    </a:lnTo>
                    <a:lnTo>
                      <a:pt x="858" y="1034"/>
                    </a:lnTo>
                    <a:lnTo>
                      <a:pt x="858" y="1036"/>
                    </a:lnTo>
                    <a:lnTo>
                      <a:pt x="858" y="1039"/>
                    </a:lnTo>
                    <a:lnTo>
                      <a:pt x="858" y="1041"/>
                    </a:lnTo>
                    <a:lnTo>
                      <a:pt x="858" y="1046"/>
                    </a:lnTo>
                    <a:lnTo>
                      <a:pt x="858" y="1050"/>
                    </a:lnTo>
                    <a:lnTo>
                      <a:pt x="858" y="1055"/>
                    </a:lnTo>
                    <a:moveTo>
                      <a:pt x="1039" y="747"/>
                    </a:moveTo>
                    <a:lnTo>
                      <a:pt x="1037" y="750"/>
                    </a:lnTo>
                    <a:lnTo>
                      <a:pt x="1037" y="752"/>
                    </a:lnTo>
                    <a:lnTo>
                      <a:pt x="1037" y="754"/>
                    </a:lnTo>
                    <a:lnTo>
                      <a:pt x="1035" y="757"/>
                    </a:lnTo>
                    <a:lnTo>
                      <a:pt x="1035" y="759"/>
                    </a:lnTo>
                    <a:lnTo>
                      <a:pt x="1034" y="762"/>
                    </a:lnTo>
                    <a:lnTo>
                      <a:pt x="1034" y="764"/>
                    </a:lnTo>
                    <a:lnTo>
                      <a:pt x="1034" y="768"/>
                    </a:lnTo>
                    <a:lnTo>
                      <a:pt x="1032" y="769"/>
                    </a:lnTo>
                    <a:lnTo>
                      <a:pt x="1032" y="773"/>
                    </a:lnTo>
                    <a:lnTo>
                      <a:pt x="1032" y="775"/>
                    </a:lnTo>
                    <a:lnTo>
                      <a:pt x="1030" y="778"/>
                    </a:lnTo>
                    <a:lnTo>
                      <a:pt x="1030" y="780"/>
                    </a:lnTo>
                    <a:lnTo>
                      <a:pt x="1028" y="783"/>
                    </a:lnTo>
                    <a:lnTo>
                      <a:pt x="1028" y="785"/>
                    </a:lnTo>
                    <a:lnTo>
                      <a:pt x="1028" y="788"/>
                    </a:lnTo>
                    <a:lnTo>
                      <a:pt x="1027" y="790"/>
                    </a:lnTo>
                    <a:lnTo>
                      <a:pt x="1027" y="794"/>
                    </a:lnTo>
                    <a:lnTo>
                      <a:pt x="1025" y="795"/>
                    </a:lnTo>
                    <a:lnTo>
                      <a:pt x="1025" y="799"/>
                    </a:lnTo>
                    <a:lnTo>
                      <a:pt x="1025" y="801"/>
                    </a:lnTo>
                    <a:lnTo>
                      <a:pt x="1023" y="804"/>
                    </a:lnTo>
                    <a:lnTo>
                      <a:pt x="1023" y="806"/>
                    </a:lnTo>
                    <a:lnTo>
                      <a:pt x="1023" y="809"/>
                    </a:lnTo>
                    <a:lnTo>
                      <a:pt x="1021" y="811"/>
                    </a:lnTo>
                    <a:lnTo>
                      <a:pt x="1021" y="815"/>
                    </a:lnTo>
                    <a:lnTo>
                      <a:pt x="1020" y="816"/>
                    </a:lnTo>
                    <a:lnTo>
                      <a:pt x="1020" y="820"/>
                    </a:lnTo>
                    <a:lnTo>
                      <a:pt x="1020" y="822"/>
                    </a:lnTo>
                    <a:lnTo>
                      <a:pt x="1018" y="825"/>
                    </a:lnTo>
                    <a:lnTo>
                      <a:pt x="1018" y="827"/>
                    </a:lnTo>
                    <a:lnTo>
                      <a:pt x="1018" y="828"/>
                    </a:lnTo>
                    <a:lnTo>
                      <a:pt x="1016" y="832"/>
                    </a:lnTo>
                    <a:lnTo>
                      <a:pt x="1016" y="835"/>
                    </a:lnTo>
                    <a:lnTo>
                      <a:pt x="1014" y="837"/>
                    </a:lnTo>
                    <a:lnTo>
                      <a:pt x="1014" y="841"/>
                    </a:lnTo>
                    <a:lnTo>
                      <a:pt x="1014" y="842"/>
                    </a:lnTo>
                    <a:lnTo>
                      <a:pt x="1013" y="846"/>
                    </a:lnTo>
                    <a:lnTo>
                      <a:pt x="1013" y="848"/>
                    </a:lnTo>
                    <a:lnTo>
                      <a:pt x="1013" y="849"/>
                    </a:lnTo>
                    <a:lnTo>
                      <a:pt x="1011" y="853"/>
                    </a:lnTo>
                    <a:lnTo>
                      <a:pt x="1011" y="855"/>
                    </a:lnTo>
                    <a:lnTo>
                      <a:pt x="1011" y="858"/>
                    </a:lnTo>
                    <a:lnTo>
                      <a:pt x="1009" y="860"/>
                    </a:lnTo>
                    <a:lnTo>
                      <a:pt x="1009" y="863"/>
                    </a:lnTo>
                    <a:lnTo>
                      <a:pt x="1009" y="865"/>
                    </a:lnTo>
                    <a:lnTo>
                      <a:pt x="1007" y="869"/>
                    </a:lnTo>
                    <a:lnTo>
                      <a:pt x="1007" y="870"/>
                    </a:lnTo>
                    <a:lnTo>
                      <a:pt x="1006" y="874"/>
                    </a:lnTo>
                    <a:lnTo>
                      <a:pt x="1006" y="875"/>
                    </a:lnTo>
                    <a:lnTo>
                      <a:pt x="1006" y="879"/>
                    </a:lnTo>
                    <a:lnTo>
                      <a:pt x="1004" y="881"/>
                    </a:lnTo>
                    <a:lnTo>
                      <a:pt x="1004" y="884"/>
                    </a:lnTo>
                    <a:lnTo>
                      <a:pt x="1004" y="886"/>
                    </a:lnTo>
                    <a:lnTo>
                      <a:pt x="1004" y="889"/>
                    </a:lnTo>
                    <a:lnTo>
                      <a:pt x="1002" y="891"/>
                    </a:lnTo>
                    <a:lnTo>
                      <a:pt x="1002" y="895"/>
                    </a:lnTo>
                    <a:lnTo>
                      <a:pt x="1000" y="896"/>
                    </a:lnTo>
                    <a:lnTo>
                      <a:pt x="1000" y="900"/>
                    </a:lnTo>
                    <a:lnTo>
                      <a:pt x="1000" y="902"/>
                    </a:lnTo>
                    <a:lnTo>
                      <a:pt x="1000" y="905"/>
                    </a:lnTo>
                    <a:lnTo>
                      <a:pt x="999" y="907"/>
                    </a:lnTo>
                    <a:lnTo>
                      <a:pt x="999" y="910"/>
                    </a:lnTo>
                    <a:lnTo>
                      <a:pt x="999" y="912"/>
                    </a:lnTo>
                    <a:lnTo>
                      <a:pt x="997" y="916"/>
                    </a:lnTo>
                    <a:lnTo>
                      <a:pt x="997" y="917"/>
                    </a:lnTo>
                    <a:lnTo>
                      <a:pt x="997" y="921"/>
                    </a:lnTo>
                    <a:lnTo>
                      <a:pt x="997" y="922"/>
                    </a:lnTo>
                    <a:lnTo>
                      <a:pt x="995" y="926"/>
                    </a:lnTo>
                    <a:lnTo>
                      <a:pt x="995" y="928"/>
                    </a:lnTo>
                    <a:lnTo>
                      <a:pt x="995" y="931"/>
                    </a:lnTo>
                    <a:lnTo>
                      <a:pt x="994" y="933"/>
                    </a:lnTo>
                    <a:lnTo>
                      <a:pt x="994" y="936"/>
                    </a:lnTo>
                    <a:lnTo>
                      <a:pt x="994" y="938"/>
                    </a:lnTo>
                    <a:lnTo>
                      <a:pt x="994" y="942"/>
                    </a:lnTo>
                    <a:lnTo>
                      <a:pt x="992" y="943"/>
                    </a:lnTo>
                    <a:lnTo>
                      <a:pt x="992" y="947"/>
                    </a:lnTo>
                    <a:lnTo>
                      <a:pt x="992" y="949"/>
                    </a:lnTo>
                    <a:lnTo>
                      <a:pt x="992" y="952"/>
                    </a:lnTo>
                    <a:lnTo>
                      <a:pt x="990" y="954"/>
                    </a:lnTo>
                    <a:lnTo>
                      <a:pt x="990" y="957"/>
                    </a:lnTo>
                    <a:lnTo>
                      <a:pt x="990" y="959"/>
                    </a:lnTo>
                    <a:lnTo>
                      <a:pt x="990" y="963"/>
                    </a:lnTo>
                    <a:lnTo>
                      <a:pt x="988" y="964"/>
                    </a:lnTo>
                    <a:lnTo>
                      <a:pt x="988" y="968"/>
                    </a:lnTo>
                    <a:lnTo>
                      <a:pt x="988" y="970"/>
                    </a:lnTo>
                    <a:lnTo>
                      <a:pt x="988" y="973"/>
                    </a:lnTo>
                    <a:lnTo>
                      <a:pt x="988" y="975"/>
                    </a:lnTo>
                    <a:lnTo>
                      <a:pt x="988" y="978"/>
                    </a:lnTo>
                    <a:lnTo>
                      <a:pt x="987" y="980"/>
                    </a:lnTo>
                    <a:lnTo>
                      <a:pt x="987" y="983"/>
                    </a:lnTo>
                    <a:lnTo>
                      <a:pt x="987" y="985"/>
                    </a:lnTo>
                    <a:lnTo>
                      <a:pt x="987" y="989"/>
                    </a:lnTo>
                    <a:lnTo>
                      <a:pt x="987" y="990"/>
                    </a:lnTo>
                    <a:lnTo>
                      <a:pt x="987" y="994"/>
                    </a:lnTo>
                    <a:lnTo>
                      <a:pt x="985" y="996"/>
                    </a:lnTo>
                    <a:lnTo>
                      <a:pt x="985" y="999"/>
                    </a:lnTo>
                    <a:lnTo>
                      <a:pt x="985" y="1001"/>
                    </a:lnTo>
                    <a:lnTo>
                      <a:pt x="985" y="1004"/>
                    </a:lnTo>
                    <a:lnTo>
                      <a:pt x="985" y="1006"/>
                    </a:lnTo>
                    <a:lnTo>
                      <a:pt x="985" y="1010"/>
                    </a:lnTo>
                    <a:lnTo>
                      <a:pt x="985" y="1011"/>
                    </a:lnTo>
                    <a:lnTo>
                      <a:pt x="983" y="1015"/>
                    </a:lnTo>
                    <a:lnTo>
                      <a:pt x="983" y="1017"/>
                    </a:lnTo>
                    <a:lnTo>
                      <a:pt x="983" y="1020"/>
                    </a:lnTo>
                    <a:lnTo>
                      <a:pt x="983" y="1022"/>
                    </a:lnTo>
                    <a:lnTo>
                      <a:pt x="983" y="1025"/>
                    </a:lnTo>
                    <a:lnTo>
                      <a:pt x="983" y="1030"/>
                    </a:lnTo>
                    <a:lnTo>
                      <a:pt x="983" y="1032"/>
                    </a:lnTo>
                    <a:lnTo>
                      <a:pt x="983" y="1037"/>
                    </a:lnTo>
                    <a:lnTo>
                      <a:pt x="983" y="1041"/>
                    </a:lnTo>
                    <a:lnTo>
                      <a:pt x="983" y="1055"/>
                    </a:lnTo>
                    <a:moveTo>
                      <a:pt x="1044" y="1358"/>
                    </a:moveTo>
                    <a:lnTo>
                      <a:pt x="1044" y="1356"/>
                    </a:lnTo>
                    <a:lnTo>
                      <a:pt x="1046" y="1353"/>
                    </a:lnTo>
                    <a:lnTo>
                      <a:pt x="1046" y="1351"/>
                    </a:lnTo>
                    <a:lnTo>
                      <a:pt x="1046" y="1347"/>
                    </a:lnTo>
                    <a:lnTo>
                      <a:pt x="1047" y="1346"/>
                    </a:lnTo>
                    <a:lnTo>
                      <a:pt x="1047" y="1342"/>
                    </a:lnTo>
                    <a:lnTo>
                      <a:pt x="1047" y="1340"/>
                    </a:lnTo>
                    <a:lnTo>
                      <a:pt x="1049" y="1337"/>
                    </a:lnTo>
                    <a:lnTo>
                      <a:pt x="1049" y="1335"/>
                    </a:lnTo>
                    <a:lnTo>
                      <a:pt x="1051" y="1332"/>
                    </a:lnTo>
                    <a:lnTo>
                      <a:pt x="1051" y="1330"/>
                    </a:lnTo>
                    <a:lnTo>
                      <a:pt x="1051" y="1326"/>
                    </a:lnTo>
                    <a:lnTo>
                      <a:pt x="1053" y="1325"/>
                    </a:lnTo>
                    <a:lnTo>
                      <a:pt x="1053" y="1321"/>
                    </a:lnTo>
                    <a:lnTo>
                      <a:pt x="1054" y="1319"/>
                    </a:lnTo>
                    <a:lnTo>
                      <a:pt x="1054" y="1316"/>
                    </a:lnTo>
                    <a:lnTo>
                      <a:pt x="1054" y="1314"/>
                    </a:lnTo>
                    <a:lnTo>
                      <a:pt x="1056" y="1311"/>
                    </a:lnTo>
                    <a:lnTo>
                      <a:pt x="1056" y="1309"/>
                    </a:lnTo>
                    <a:lnTo>
                      <a:pt x="1056" y="1307"/>
                    </a:lnTo>
                    <a:lnTo>
                      <a:pt x="1058" y="1304"/>
                    </a:lnTo>
                    <a:lnTo>
                      <a:pt x="1058" y="1302"/>
                    </a:lnTo>
                    <a:lnTo>
                      <a:pt x="1060" y="1299"/>
                    </a:lnTo>
                    <a:lnTo>
                      <a:pt x="1060" y="1297"/>
                    </a:lnTo>
                    <a:lnTo>
                      <a:pt x="1060" y="1293"/>
                    </a:lnTo>
                    <a:lnTo>
                      <a:pt x="1061" y="1292"/>
                    </a:lnTo>
                    <a:lnTo>
                      <a:pt x="1061" y="1288"/>
                    </a:lnTo>
                    <a:lnTo>
                      <a:pt x="1063" y="1286"/>
                    </a:lnTo>
                    <a:lnTo>
                      <a:pt x="1063" y="1283"/>
                    </a:lnTo>
                    <a:lnTo>
                      <a:pt x="1063" y="1281"/>
                    </a:lnTo>
                    <a:lnTo>
                      <a:pt x="1065" y="1278"/>
                    </a:lnTo>
                    <a:lnTo>
                      <a:pt x="1065" y="1276"/>
                    </a:lnTo>
                    <a:lnTo>
                      <a:pt x="1065" y="1272"/>
                    </a:lnTo>
                    <a:lnTo>
                      <a:pt x="1067" y="1271"/>
                    </a:lnTo>
                    <a:lnTo>
                      <a:pt x="1067" y="1267"/>
                    </a:lnTo>
                    <a:lnTo>
                      <a:pt x="1068" y="1265"/>
                    </a:lnTo>
                    <a:lnTo>
                      <a:pt x="1068" y="1262"/>
                    </a:lnTo>
                    <a:lnTo>
                      <a:pt x="1068" y="1260"/>
                    </a:lnTo>
                    <a:lnTo>
                      <a:pt x="1070" y="1257"/>
                    </a:lnTo>
                    <a:lnTo>
                      <a:pt x="1070" y="1255"/>
                    </a:lnTo>
                    <a:lnTo>
                      <a:pt x="1070" y="1252"/>
                    </a:lnTo>
                    <a:lnTo>
                      <a:pt x="1072" y="1250"/>
                    </a:lnTo>
                    <a:lnTo>
                      <a:pt x="1072" y="1246"/>
                    </a:lnTo>
                    <a:lnTo>
                      <a:pt x="1072" y="1245"/>
                    </a:lnTo>
                    <a:lnTo>
                      <a:pt x="1074" y="1241"/>
                    </a:lnTo>
                    <a:lnTo>
                      <a:pt x="1074" y="1239"/>
                    </a:lnTo>
                    <a:lnTo>
                      <a:pt x="1074" y="1236"/>
                    </a:lnTo>
                    <a:lnTo>
                      <a:pt x="1075" y="1234"/>
                    </a:lnTo>
                    <a:lnTo>
                      <a:pt x="1075" y="1231"/>
                    </a:lnTo>
                    <a:lnTo>
                      <a:pt x="1077" y="1229"/>
                    </a:lnTo>
                    <a:lnTo>
                      <a:pt x="1077" y="1225"/>
                    </a:lnTo>
                    <a:lnTo>
                      <a:pt x="1077" y="1224"/>
                    </a:lnTo>
                    <a:lnTo>
                      <a:pt x="1077" y="1220"/>
                    </a:lnTo>
                    <a:lnTo>
                      <a:pt x="1079" y="1218"/>
                    </a:lnTo>
                    <a:lnTo>
                      <a:pt x="1079" y="1215"/>
                    </a:lnTo>
                    <a:lnTo>
                      <a:pt x="1079" y="1213"/>
                    </a:lnTo>
                    <a:lnTo>
                      <a:pt x="1081" y="1210"/>
                    </a:lnTo>
                    <a:lnTo>
                      <a:pt x="1081" y="1208"/>
                    </a:lnTo>
                    <a:lnTo>
                      <a:pt x="1081" y="1206"/>
                    </a:lnTo>
                    <a:lnTo>
                      <a:pt x="1082" y="1203"/>
                    </a:lnTo>
                    <a:lnTo>
                      <a:pt x="1082" y="1201"/>
                    </a:lnTo>
                    <a:lnTo>
                      <a:pt x="1082" y="1198"/>
                    </a:lnTo>
                    <a:lnTo>
                      <a:pt x="1084" y="1194"/>
                    </a:lnTo>
                    <a:lnTo>
                      <a:pt x="1084" y="1192"/>
                    </a:lnTo>
                    <a:lnTo>
                      <a:pt x="1084" y="1189"/>
                    </a:lnTo>
                    <a:lnTo>
                      <a:pt x="1084" y="1187"/>
                    </a:lnTo>
                    <a:lnTo>
                      <a:pt x="1086" y="1184"/>
                    </a:lnTo>
                    <a:lnTo>
                      <a:pt x="1086" y="1182"/>
                    </a:lnTo>
                    <a:lnTo>
                      <a:pt x="1086" y="1180"/>
                    </a:lnTo>
                    <a:lnTo>
                      <a:pt x="1088" y="1177"/>
                    </a:lnTo>
                    <a:lnTo>
                      <a:pt x="1088" y="1175"/>
                    </a:lnTo>
                    <a:lnTo>
                      <a:pt x="1088" y="1171"/>
                    </a:lnTo>
                    <a:lnTo>
                      <a:pt x="1088" y="1170"/>
                    </a:lnTo>
                    <a:lnTo>
                      <a:pt x="1089" y="1166"/>
                    </a:lnTo>
                    <a:lnTo>
                      <a:pt x="1089" y="1164"/>
                    </a:lnTo>
                    <a:lnTo>
                      <a:pt x="1089" y="1161"/>
                    </a:lnTo>
                    <a:lnTo>
                      <a:pt x="1091" y="1158"/>
                    </a:lnTo>
                    <a:lnTo>
                      <a:pt x="1091" y="1156"/>
                    </a:lnTo>
                    <a:lnTo>
                      <a:pt x="1091" y="1152"/>
                    </a:lnTo>
                    <a:lnTo>
                      <a:pt x="1091" y="1151"/>
                    </a:lnTo>
                    <a:lnTo>
                      <a:pt x="1091" y="1147"/>
                    </a:lnTo>
                    <a:lnTo>
                      <a:pt x="1093" y="1145"/>
                    </a:lnTo>
                    <a:lnTo>
                      <a:pt x="1093" y="1144"/>
                    </a:lnTo>
                    <a:lnTo>
                      <a:pt x="1093" y="1140"/>
                    </a:lnTo>
                    <a:lnTo>
                      <a:pt x="1093" y="1138"/>
                    </a:lnTo>
                    <a:lnTo>
                      <a:pt x="1093" y="1135"/>
                    </a:lnTo>
                    <a:lnTo>
                      <a:pt x="1094" y="1133"/>
                    </a:lnTo>
                    <a:lnTo>
                      <a:pt x="1094" y="1130"/>
                    </a:lnTo>
                    <a:lnTo>
                      <a:pt x="1094" y="1128"/>
                    </a:lnTo>
                    <a:lnTo>
                      <a:pt x="1094" y="1124"/>
                    </a:lnTo>
                    <a:lnTo>
                      <a:pt x="1094" y="1121"/>
                    </a:lnTo>
                    <a:lnTo>
                      <a:pt x="1096" y="1119"/>
                    </a:lnTo>
                    <a:lnTo>
                      <a:pt x="1096" y="1116"/>
                    </a:lnTo>
                    <a:lnTo>
                      <a:pt x="1096" y="1114"/>
                    </a:lnTo>
                    <a:lnTo>
                      <a:pt x="1096" y="1111"/>
                    </a:lnTo>
                    <a:lnTo>
                      <a:pt x="1096" y="1109"/>
                    </a:lnTo>
                    <a:lnTo>
                      <a:pt x="1096" y="1105"/>
                    </a:lnTo>
                    <a:lnTo>
                      <a:pt x="1098" y="1104"/>
                    </a:lnTo>
                    <a:lnTo>
                      <a:pt x="1098" y="1100"/>
                    </a:lnTo>
                    <a:lnTo>
                      <a:pt x="1098" y="1098"/>
                    </a:lnTo>
                    <a:lnTo>
                      <a:pt x="1098" y="1095"/>
                    </a:lnTo>
                    <a:lnTo>
                      <a:pt x="1098" y="1093"/>
                    </a:lnTo>
                    <a:lnTo>
                      <a:pt x="1098" y="1090"/>
                    </a:lnTo>
                    <a:lnTo>
                      <a:pt x="1098" y="1088"/>
                    </a:lnTo>
                    <a:lnTo>
                      <a:pt x="1098" y="1084"/>
                    </a:lnTo>
                    <a:lnTo>
                      <a:pt x="1098" y="1083"/>
                    </a:lnTo>
                    <a:lnTo>
                      <a:pt x="1100" y="1079"/>
                    </a:lnTo>
                    <a:lnTo>
                      <a:pt x="1100" y="1074"/>
                    </a:lnTo>
                    <a:lnTo>
                      <a:pt x="1100" y="1072"/>
                    </a:lnTo>
                    <a:lnTo>
                      <a:pt x="1100" y="1067"/>
                    </a:lnTo>
                    <a:lnTo>
                      <a:pt x="1100" y="1064"/>
                    </a:lnTo>
                    <a:lnTo>
                      <a:pt x="1100" y="1051"/>
                    </a:lnTo>
                    <a:moveTo>
                      <a:pt x="1049" y="1359"/>
                    </a:moveTo>
                    <a:lnTo>
                      <a:pt x="1051" y="1358"/>
                    </a:lnTo>
                    <a:lnTo>
                      <a:pt x="1053" y="1354"/>
                    </a:lnTo>
                    <a:lnTo>
                      <a:pt x="1054" y="1353"/>
                    </a:lnTo>
                    <a:lnTo>
                      <a:pt x="1056" y="1351"/>
                    </a:lnTo>
                    <a:lnTo>
                      <a:pt x="1058" y="1349"/>
                    </a:lnTo>
                    <a:lnTo>
                      <a:pt x="1060" y="1347"/>
                    </a:lnTo>
                    <a:lnTo>
                      <a:pt x="1063" y="1344"/>
                    </a:lnTo>
                    <a:lnTo>
                      <a:pt x="1065" y="1342"/>
                    </a:lnTo>
                    <a:lnTo>
                      <a:pt x="1067" y="1340"/>
                    </a:lnTo>
                    <a:lnTo>
                      <a:pt x="1068" y="1339"/>
                    </a:lnTo>
                    <a:lnTo>
                      <a:pt x="1070" y="1335"/>
                    </a:lnTo>
                    <a:lnTo>
                      <a:pt x="1072" y="1333"/>
                    </a:lnTo>
                    <a:lnTo>
                      <a:pt x="1074" y="1332"/>
                    </a:lnTo>
                    <a:lnTo>
                      <a:pt x="1075" y="1330"/>
                    </a:lnTo>
                    <a:lnTo>
                      <a:pt x="1077" y="1326"/>
                    </a:lnTo>
                    <a:lnTo>
                      <a:pt x="1079" y="1325"/>
                    </a:lnTo>
                    <a:lnTo>
                      <a:pt x="1081" y="1323"/>
                    </a:lnTo>
                    <a:lnTo>
                      <a:pt x="1082" y="1319"/>
                    </a:lnTo>
                    <a:lnTo>
                      <a:pt x="1086" y="1318"/>
                    </a:lnTo>
                    <a:lnTo>
                      <a:pt x="1088" y="1316"/>
                    </a:lnTo>
                    <a:lnTo>
                      <a:pt x="1089" y="1314"/>
                    </a:lnTo>
                    <a:lnTo>
                      <a:pt x="1091" y="1311"/>
                    </a:lnTo>
                    <a:lnTo>
                      <a:pt x="1093" y="1309"/>
                    </a:lnTo>
                    <a:lnTo>
                      <a:pt x="1094" y="1307"/>
                    </a:lnTo>
                    <a:lnTo>
                      <a:pt x="1096" y="1304"/>
                    </a:lnTo>
                    <a:lnTo>
                      <a:pt x="1098" y="1302"/>
                    </a:lnTo>
                    <a:lnTo>
                      <a:pt x="1100" y="1300"/>
                    </a:lnTo>
                    <a:lnTo>
                      <a:pt x="1101" y="1299"/>
                    </a:lnTo>
                    <a:lnTo>
                      <a:pt x="1103" y="1297"/>
                    </a:lnTo>
                    <a:lnTo>
                      <a:pt x="1105" y="1293"/>
                    </a:lnTo>
                    <a:lnTo>
                      <a:pt x="1107" y="1292"/>
                    </a:lnTo>
                    <a:lnTo>
                      <a:pt x="1110" y="1290"/>
                    </a:lnTo>
                    <a:lnTo>
                      <a:pt x="1112" y="1286"/>
                    </a:lnTo>
                    <a:lnTo>
                      <a:pt x="1114" y="1285"/>
                    </a:lnTo>
                    <a:lnTo>
                      <a:pt x="1115" y="1283"/>
                    </a:lnTo>
                    <a:lnTo>
                      <a:pt x="1117" y="1279"/>
                    </a:lnTo>
                    <a:lnTo>
                      <a:pt x="1119" y="1278"/>
                    </a:lnTo>
                    <a:lnTo>
                      <a:pt x="1121" y="1276"/>
                    </a:lnTo>
                    <a:lnTo>
                      <a:pt x="1122" y="1274"/>
                    </a:lnTo>
                    <a:lnTo>
                      <a:pt x="1124" y="1271"/>
                    </a:lnTo>
                    <a:lnTo>
                      <a:pt x="1126" y="1269"/>
                    </a:lnTo>
                    <a:lnTo>
                      <a:pt x="1128" y="1267"/>
                    </a:lnTo>
                    <a:lnTo>
                      <a:pt x="1129" y="1265"/>
                    </a:lnTo>
                    <a:lnTo>
                      <a:pt x="1131" y="1262"/>
                    </a:lnTo>
                    <a:lnTo>
                      <a:pt x="1133" y="1260"/>
                    </a:lnTo>
                    <a:lnTo>
                      <a:pt x="1135" y="1258"/>
                    </a:lnTo>
                    <a:lnTo>
                      <a:pt x="1136" y="1255"/>
                    </a:lnTo>
                    <a:lnTo>
                      <a:pt x="1138" y="1253"/>
                    </a:lnTo>
                    <a:lnTo>
                      <a:pt x="1140" y="1252"/>
                    </a:lnTo>
                    <a:lnTo>
                      <a:pt x="1141" y="1248"/>
                    </a:lnTo>
                    <a:lnTo>
                      <a:pt x="1143" y="1246"/>
                    </a:lnTo>
                    <a:lnTo>
                      <a:pt x="1145" y="1245"/>
                    </a:lnTo>
                    <a:lnTo>
                      <a:pt x="1147" y="1241"/>
                    </a:lnTo>
                    <a:lnTo>
                      <a:pt x="1148" y="1239"/>
                    </a:lnTo>
                    <a:lnTo>
                      <a:pt x="1150" y="1238"/>
                    </a:lnTo>
                    <a:lnTo>
                      <a:pt x="1152" y="1234"/>
                    </a:lnTo>
                    <a:lnTo>
                      <a:pt x="1154" y="1232"/>
                    </a:lnTo>
                    <a:lnTo>
                      <a:pt x="1155" y="1231"/>
                    </a:lnTo>
                    <a:lnTo>
                      <a:pt x="1157" y="1229"/>
                    </a:lnTo>
                    <a:lnTo>
                      <a:pt x="1159" y="1225"/>
                    </a:lnTo>
                    <a:lnTo>
                      <a:pt x="1161" y="1224"/>
                    </a:lnTo>
                    <a:lnTo>
                      <a:pt x="1162" y="1220"/>
                    </a:lnTo>
                    <a:lnTo>
                      <a:pt x="1164" y="1218"/>
                    </a:lnTo>
                    <a:lnTo>
                      <a:pt x="1166" y="1217"/>
                    </a:lnTo>
                    <a:lnTo>
                      <a:pt x="1166" y="1215"/>
                    </a:lnTo>
                    <a:lnTo>
                      <a:pt x="1168" y="1211"/>
                    </a:lnTo>
                    <a:lnTo>
                      <a:pt x="1169" y="1210"/>
                    </a:lnTo>
                    <a:lnTo>
                      <a:pt x="1171" y="1206"/>
                    </a:lnTo>
                    <a:lnTo>
                      <a:pt x="1173" y="1205"/>
                    </a:lnTo>
                    <a:lnTo>
                      <a:pt x="1175" y="1203"/>
                    </a:lnTo>
                    <a:lnTo>
                      <a:pt x="1176" y="1199"/>
                    </a:lnTo>
                    <a:lnTo>
                      <a:pt x="1178" y="1198"/>
                    </a:lnTo>
                    <a:lnTo>
                      <a:pt x="1178" y="1196"/>
                    </a:lnTo>
                    <a:lnTo>
                      <a:pt x="1180" y="1192"/>
                    </a:lnTo>
                    <a:lnTo>
                      <a:pt x="1182" y="1191"/>
                    </a:lnTo>
                    <a:lnTo>
                      <a:pt x="1183" y="1187"/>
                    </a:lnTo>
                    <a:lnTo>
                      <a:pt x="1185" y="1185"/>
                    </a:lnTo>
                    <a:lnTo>
                      <a:pt x="1187" y="1184"/>
                    </a:lnTo>
                    <a:lnTo>
                      <a:pt x="1187" y="1180"/>
                    </a:lnTo>
                    <a:lnTo>
                      <a:pt x="1188" y="1178"/>
                    </a:lnTo>
                    <a:lnTo>
                      <a:pt x="1190" y="1175"/>
                    </a:lnTo>
                    <a:lnTo>
                      <a:pt x="1192" y="1173"/>
                    </a:lnTo>
                    <a:lnTo>
                      <a:pt x="1192" y="1171"/>
                    </a:lnTo>
                    <a:lnTo>
                      <a:pt x="1194" y="1168"/>
                    </a:lnTo>
                    <a:lnTo>
                      <a:pt x="1195" y="1166"/>
                    </a:lnTo>
                    <a:lnTo>
                      <a:pt x="1195" y="1164"/>
                    </a:lnTo>
                    <a:lnTo>
                      <a:pt x="1197" y="1161"/>
                    </a:lnTo>
                    <a:lnTo>
                      <a:pt x="1199" y="1159"/>
                    </a:lnTo>
                    <a:lnTo>
                      <a:pt x="1199" y="1156"/>
                    </a:lnTo>
                    <a:lnTo>
                      <a:pt x="1201" y="1154"/>
                    </a:lnTo>
                    <a:lnTo>
                      <a:pt x="1202" y="1151"/>
                    </a:lnTo>
                    <a:lnTo>
                      <a:pt x="1202" y="1149"/>
                    </a:lnTo>
                    <a:lnTo>
                      <a:pt x="1204" y="1147"/>
                    </a:lnTo>
                    <a:lnTo>
                      <a:pt x="1206" y="1144"/>
                    </a:lnTo>
                    <a:lnTo>
                      <a:pt x="1206" y="1142"/>
                    </a:lnTo>
                    <a:lnTo>
                      <a:pt x="1208" y="1138"/>
                    </a:lnTo>
                    <a:lnTo>
                      <a:pt x="1208" y="1137"/>
                    </a:lnTo>
                    <a:lnTo>
                      <a:pt x="1209" y="1133"/>
                    </a:lnTo>
                    <a:lnTo>
                      <a:pt x="1209" y="1131"/>
                    </a:lnTo>
                    <a:lnTo>
                      <a:pt x="1211" y="1128"/>
                    </a:lnTo>
                    <a:lnTo>
                      <a:pt x="1211" y="1126"/>
                    </a:lnTo>
                    <a:lnTo>
                      <a:pt x="1213" y="1123"/>
                    </a:lnTo>
                    <a:lnTo>
                      <a:pt x="1213" y="1121"/>
                    </a:lnTo>
                    <a:lnTo>
                      <a:pt x="1215" y="1117"/>
                    </a:lnTo>
                    <a:lnTo>
                      <a:pt x="1215" y="1116"/>
                    </a:lnTo>
                    <a:lnTo>
                      <a:pt x="1216" y="1112"/>
                    </a:lnTo>
                    <a:lnTo>
                      <a:pt x="1216" y="1111"/>
                    </a:lnTo>
                    <a:lnTo>
                      <a:pt x="1216" y="1107"/>
                    </a:lnTo>
                    <a:lnTo>
                      <a:pt x="1218" y="1105"/>
                    </a:lnTo>
                    <a:lnTo>
                      <a:pt x="1218" y="1102"/>
                    </a:lnTo>
                    <a:lnTo>
                      <a:pt x="1220" y="1100"/>
                    </a:lnTo>
                    <a:lnTo>
                      <a:pt x="1220" y="1098"/>
                    </a:lnTo>
                    <a:lnTo>
                      <a:pt x="1220" y="1095"/>
                    </a:lnTo>
                    <a:lnTo>
                      <a:pt x="1220" y="1093"/>
                    </a:lnTo>
                    <a:lnTo>
                      <a:pt x="1222" y="1090"/>
                    </a:lnTo>
                    <a:lnTo>
                      <a:pt x="1222" y="1088"/>
                    </a:lnTo>
                    <a:lnTo>
                      <a:pt x="1222" y="1084"/>
                    </a:lnTo>
                    <a:lnTo>
                      <a:pt x="1223" y="1083"/>
                    </a:lnTo>
                    <a:lnTo>
                      <a:pt x="1223" y="1079"/>
                    </a:lnTo>
                    <a:lnTo>
                      <a:pt x="1223" y="1076"/>
                    </a:lnTo>
                    <a:lnTo>
                      <a:pt x="1223" y="1074"/>
                    </a:lnTo>
                    <a:lnTo>
                      <a:pt x="1223" y="1070"/>
                    </a:lnTo>
                    <a:lnTo>
                      <a:pt x="1223" y="1069"/>
                    </a:lnTo>
                    <a:lnTo>
                      <a:pt x="1223" y="1065"/>
                    </a:lnTo>
                    <a:lnTo>
                      <a:pt x="1225" y="1064"/>
                    </a:lnTo>
                    <a:lnTo>
                      <a:pt x="1225" y="1058"/>
                    </a:lnTo>
                    <a:lnTo>
                      <a:pt x="1225" y="1055"/>
                    </a:lnTo>
                    <a:lnTo>
                      <a:pt x="1225" y="1050"/>
                    </a:lnTo>
                    <a:moveTo>
                      <a:pt x="1053" y="1363"/>
                    </a:moveTo>
                    <a:lnTo>
                      <a:pt x="1056" y="1361"/>
                    </a:lnTo>
                    <a:lnTo>
                      <a:pt x="1058" y="1359"/>
                    </a:lnTo>
                    <a:lnTo>
                      <a:pt x="1061" y="1358"/>
                    </a:lnTo>
                    <a:lnTo>
                      <a:pt x="1065" y="1356"/>
                    </a:lnTo>
                    <a:lnTo>
                      <a:pt x="1067" y="1354"/>
                    </a:lnTo>
                    <a:lnTo>
                      <a:pt x="1070" y="1354"/>
                    </a:lnTo>
                    <a:lnTo>
                      <a:pt x="1074" y="1353"/>
                    </a:lnTo>
                    <a:lnTo>
                      <a:pt x="1075" y="1351"/>
                    </a:lnTo>
                    <a:lnTo>
                      <a:pt x="1079" y="1349"/>
                    </a:lnTo>
                    <a:lnTo>
                      <a:pt x="1081" y="1347"/>
                    </a:lnTo>
                    <a:lnTo>
                      <a:pt x="1084" y="1347"/>
                    </a:lnTo>
                    <a:lnTo>
                      <a:pt x="1088" y="1346"/>
                    </a:lnTo>
                    <a:lnTo>
                      <a:pt x="1089" y="1344"/>
                    </a:lnTo>
                    <a:lnTo>
                      <a:pt x="1093" y="1342"/>
                    </a:lnTo>
                    <a:lnTo>
                      <a:pt x="1096" y="1340"/>
                    </a:lnTo>
                    <a:lnTo>
                      <a:pt x="1098" y="1339"/>
                    </a:lnTo>
                    <a:lnTo>
                      <a:pt x="1101" y="1337"/>
                    </a:lnTo>
                    <a:lnTo>
                      <a:pt x="1105" y="1335"/>
                    </a:lnTo>
                    <a:lnTo>
                      <a:pt x="1107" y="1335"/>
                    </a:lnTo>
                    <a:lnTo>
                      <a:pt x="1110" y="1333"/>
                    </a:lnTo>
                    <a:lnTo>
                      <a:pt x="1114" y="1332"/>
                    </a:lnTo>
                    <a:lnTo>
                      <a:pt x="1115" y="1330"/>
                    </a:lnTo>
                    <a:lnTo>
                      <a:pt x="1119" y="1328"/>
                    </a:lnTo>
                    <a:lnTo>
                      <a:pt x="1121" y="1326"/>
                    </a:lnTo>
                    <a:lnTo>
                      <a:pt x="1124" y="1326"/>
                    </a:lnTo>
                    <a:lnTo>
                      <a:pt x="1128" y="1325"/>
                    </a:lnTo>
                    <a:lnTo>
                      <a:pt x="1129" y="1323"/>
                    </a:lnTo>
                    <a:lnTo>
                      <a:pt x="1133" y="1321"/>
                    </a:lnTo>
                    <a:lnTo>
                      <a:pt x="1136" y="1319"/>
                    </a:lnTo>
                    <a:lnTo>
                      <a:pt x="1138" y="1318"/>
                    </a:lnTo>
                    <a:lnTo>
                      <a:pt x="1141" y="1316"/>
                    </a:lnTo>
                    <a:lnTo>
                      <a:pt x="1143" y="1314"/>
                    </a:lnTo>
                    <a:lnTo>
                      <a:pt x="1147" y="1312"/>
                    </a:lnTo>
                    <a:lnTo>
                      <a:pt x="1150" y="1312"/>
                    </a:lnTo>
                    <a:lnTo>
                      <a:pt x="1152" y="1311"/>
                    </a:lnTo>
                    <a:lnTo>
                      <a:pt x="1155" y="1309"/>
                    </a:lnTo>
                    <a:lnTo>
                      <a:pt x="1157" y="1307"/>
                    </a:lnTo>
                    <a:lnTo>
                      <a:pt x="1161" y="1305"/>
                    </a:lnTo>
                    <a:lnTo>
                      <a:pt x="1164" y="1304"/>
                    </a:lnTo>
                    <a:lnTo>
                      <a:pt x="1166" y="1302"/>
                    </a:lnTo>
                    <a:lnTo>
                      <a:pt x="1169" y="1300"/>
                    </a:lnTo>
                    <a:lnTo>
                      <a:pt x="1171" y="1299"/>
                    </a:lnTo>
                    <a:lnTo>
                      <a:pt x="1175" y="1299"/>
                    </a:lnTo>
                    <a:lnTo>
                      <a:pt x="1178" y="1297"/>
                    </a:lnTo>
                    <a:lnTo>
                      <a:pt x="1180" y="1295"/>
                    </a:lnTo>
                    <a:lnTo>
                      <a:pt x="1183" y="1293"/>
                    </a:lnTo>
                    <a:lnTo>
                      <a:pt x="1185" y="1292"/>
                    </a:lnTo>
                    <a:lnTo>
                      <a:pt x="1188" y="1290"/>
                    </a:lnTo>
                    <a:lnTo>
                      <a:pt x="1190" y="1288"/>
                    </a:lnTo>
                    <a:lnTo>
                      <a:pt x="1194" y="1286"/>
                    </a:lnTo>
                    <a:lnTo>
                      <a:pt x="1197" y="1285"/>
                    </a:lnTo>
                    <a:lnTo>
                      <a:pt x="1199" y="1283"/>
                    </a:lnTo>
                    <a:lnTo>
                      <a:pt x="1202" y="1281"/>
                    </a:lnTo>
                    <a:lnTo>
                      <a:pt x="1204" y="1279"/>
                    </a:lnTo>
                    <a:lnTo>
                      <a:pt x="1208" y="1278"/>
                    </a:lnTo>
                    <a:lnTo>
                      <a:pt x="1209" y="1276"/>
                    </a:lnTo>
                    <a:lnTo>
                      <a:pt x="1213" y="1274"/>
                    </a:lnTo>
                    <a:lnTo>
                      <a:pt x="1215" y="1274"/>
                    </a:lnTo>
                    <a:lnTo>
                      <a:pt x="1218" y="1271"/>
                    </a:lnTo>
                    <a:lnTo>
                      <a:pt x="1220" y="1271"/>
                    </a:lnTo>
                    <a:lnTo>
                      <a:pt x="1223" y="1267"/>
                    </a:lnTo>
                    <a:lnTo>
                      <a:pt x="1225" y="1267"/>
                    </a:lnTo>
                    <a:lnTo>
                      <a:pt x="1229" y="1265"/>
                    </a:lnTo>
                    <a:lnTo>
                      <a:pt x="1230" y="1262"/>
                    </a:lnTo>
                    <a:lnTo>
                      <a:pt x="1234" y="1262"/>
                    </a:lnTo>
                    <a:lnTo>
                      <a:pt x="1235" y="1260"/>
                    </a:lnTo>
                    <a:lnTo>
                      <a:pt x="1239" y="1257"/>
                    </a:lnTo>
                    <a:lnTo>
                      <a:pt x="1241" y="1257"/>
                    </a:lnTo>
                    <a:lnTo>
                      <a:pt x="1244" y="1253"/>
                    </a:lnTo>
                    <a:lnTo>
                      <a:pt x="1246" y="1252"/>
                    </a:lnTo>
                    <a:lnTo>
                      <a:pt x="1249" y="1250"/>
                    </a:lnTo>
                    <a:lnTo>
                      <a:pt x="1251" y="1248"/>
                    </a:lnTo>
                    <a:lnTo>
                      <a:pt x="1253" y="1246"/>
                    </a:lnTo>
                    <a:lnTo>
                      <a:pt x="1256" y="1245"/>
                    </a:lnTo>
                    <a:lnTo>
                      <a:pt x="1258" y="1243"/>
                    </a:lnTo>
                    <a:lnTo>
                      <a:pt x="1262" y="1241"/>
                    </a:lnTo>
                    <a:lnTo>
                      <a:pt x="1263" y="1239"/>
                    </a:lnTo>
                    <a:lnTo>
                      <a:pt x="1265" y="1238"/>
                    </a:lnTo>
                    <a:lnTo>
                      <a:pt x="1269" y="1236"/>
                    </a:lnTo>
                    <a:lnTo>
                      <a:pt x="1270" y="1234"/>
                    </a:lnTo>
                    <a:lnTo>
                      <a:pt x="1274" y="1232"/>
                    </a:lnTo>
                    <a:lnTo>
                      <a:pt x="1275" y="1231"/>
                    </a:lnTo>
                    <a:lnTo>
                      <a:pt x="1277" y="1229"/>
                    </a:lnTo>
                    <a:lnTo>
                      <a:pt x="1281" y="1225"/>
                    </a:lnTo>
                    <a:lnTo>
                      <a:pt x="1282" y="1224"/>
                    </a:lnTo>
                    <a:lnTo>
                      <a:pt x="1284" y="1222"/>
                    </a:lnTo>
                    <a:lnTo>
                      <a:pt x="1288" y="1220"/>
                    </a:lnTo>
                    <a:lnTo>
                      <a:pt x="1289" y="1218"/>
                    </a:lnTo>
                    <a:lnTo>
                      <a:pt x="1291" y="1217"/>
                    </a:lnTo>
                    <a:lnTo>
                      <a:pt x="1293" y="1215"/>
                    </a:lnTo>
                    <a:lnTo>
                      <a:pt x="1296" y="1211"/>
                    </a:lnTo>
                    <a:lnTo>
                      <a:pt x="1298" y="1210"/>
                    </a:lnTo>
                    <a:lnTo>
                      <a:pt x="1300" y="1208"/>
                    </a:lnTo>
                    <a:lnTo>
                      <a:pt x="1302" y="1206"/>
                    </a:lnTo>
                    <a:lnTo>
                      <a:pt x="1305" y="1205"/>
                    </a:lnTo>
                    <a:lnTo>
                      <a:pt x="1307" y="1201"/>
                    </a:lnTo>
                    <a:lnTo>
                      <a:pt x="1309" y="1199"/>
                    </a:lnTo>
                    <a:lnTo>
                      <a:pt x="1310" y="1198"/>
                    </a:lnTo>
                    <a:lnTo>
                      <a:pt x="1312" y="1196"/>
                    </a:lnTo>
                    <a:lnTo>
                      <a:pt x="1316" y="1194"/>
                    </a:lnTo>
                    <a:lnTo>
                      <a:pt x="1317" y="1191"/>
                    </a:lnTo>
                    <a:lnTo>
                      <a:pt x="1319" y="1189"/>
                    </a:lnTo>
                    <a:lnTo>
                      <a:pt x="1321" y="1187"/>
                    </a:lnTo>
                    <a:lnTo>
                      <a:pt x="1322" y="1185"/>
                    </a:lnTo>
                    <a:lnTo>
                      <a:pt x="1324" y="1182"/>
                    </a:lnTo>
                    <a:lnTo>
                      <a:pt x="1326" y="1180"/>
                    </a:lnTo>
                    <a:lnTo>
                      <a:pt x="1328" y="1178"/>
                    </a:lnTo>
                    <a:lnTo>
                      <a:pt x="1329" y="1175"/>
                    </a:lnTo>
                    <a:lnTo>
                      <a:pt x="1331" y="1173"/>
                    </a:lnTo>
                    <a:lnTo>
                      <a:pt x="1333" y="1171"/>
                    </a:lnTo>
                    <a:lnTo>
                      <a:pt x="1335" y="1170"/>
                    </a:lnTo>
                    <a:lnTo>
                      <a:pt x="1336" y="1166"/>
                    </a:lnTo>
                    <a:lnTo>
                      <a:pt x="1338" y="1164"/>
                    </a:lnTo>
                    <a:lnTo>
                      <a:pt x="1340" y="1163"/>
                    </a:lnTo>
                    <a:lnTo>
                      <a:pt x="1342" y="1159"/>
                    </a:lnTo>
                    <a:lnTo>
                      <a:pt x="1343" y="1158"/>
                    </a:lnTo>
                    <a:lnTo>
                      <a:pt x="1345" y="1156"/>
                    </a:lnTo>
                    <a:lnTo>
                      <a:pt x="1347" y="1152"/>
                    </a:lnTo>
                    <a:lnTo>
                      <a:pt x="1349" y="1151"/>
                    </a:lnTo>
                    <a:lnTo>
                      <a:pt x="1350" y="1147"/>
                    </a:lnTo>
                    <a:lnTo>
                      <a:pt x="1352" y="1145"/>
                    </a:lnTo>
                    <a:lnTo>
                      <a:pt x="1352" y="1144"/>
                    </a:lnTo>
                    <a:lnTo>
                      <a:pt x="1354" y="1140"/>
                    </a:lnTo>
                    <a:lnTo>
                      <a:pt x="1356" y="1138"/>
                    </a:lnTo>
                    <a:lnTo>
                      <a:pt x="1357" y="1135"/>
                    </a:lnTo>
                    <a:lnTo>
                      <a:pt x="1357" y="1133"/>
                    </a:lnTo>
                    <a:lnTo>
                      <a:pt x="1359" y="1131"/>
                    </a:lnTo>
                    <a:lnTo>
                      <a:pt x="1361" y="1128"/>
                    </a:lnTo>
                    <a:lnTo>
                      <a:pt x="1361" y="1126"/>
                    </a:lnTo>
                    <a:lnTo>
                      <a:pt x="1363" y="1124"/>
                    </a:lnTo>
                    <a:lnTo>
                      <a:pt x="1364" y="1121"/>
                    </a:lnTo>
                    <a:lnTo>
                      <a:pt x="1364" y="1119"/>
                    </a:lnTo>
                    <a:lnTo>
                      <a:pt x="1366" y="1116"/>
                    </a:lnTo>
                    <a:lnTo>
                      <a:pt x="1368" y="1114"/>
                    </a:lnTo>
                    <a:lnTo>
                      <a:pt x="1368" y="1111"/>
                    </a:lnTo>
                    <a:lnTo>
                      <a:pt x="1369" y="1109"/>
                    </a:lnTo>
                    <a:lnTo>
                      <a:pt x="1369" y="1105"/>
                    </a:lnTo>
                    <a:lnTo>
                      <a:pt x="1371" y="1104"/>
                    </a:lnTo>
                    <a:lnTo>
                      <a:pt x="1371" y="1100"/>
                    </a:lnTo>
                    <a:lnTo>
                      <a:pt x="1371" y="1098"/>
                    </a:lnTo>
                    <a:lnTo>
                      <a:pt x="1373" y="1095"/>
                    </a:lnTo>
                    <a:lnTo>
                      <a:pt x="1373" y="1093"/>
                    </a:lnTo>
                    <a:lnTo>
                      <a:pt x="1375" y="1091"/>
                    </a:lnTo>
                    <a:lnTo>
                      <a:pt x="1375" y="1088"/>
                    </a:lnTo>
                    <a:lnTo>
                      <a:pt x="1375" y="1084"/>
                    </a:lnTo>
                    <a:lnTo>
                      <a:pt x="1376" y="1083"/>
                    </a:lnTo>
                    <a:lnTo>
                      <a:pt x="1376" y="1079"/>
                    </a:lnTo>
                    <a:lnTo>
                      <a:pt x="1376" y="1077"/>
                    </a:lnTo>
                    <a:lnTo>
                      <a:pt x="1376" y="1074"/>
                    </a:lnTo>
                    <a:lnTo>
                      <a:pt x="1378" y="1072"/>
                    </a:lnTo>
                    <a:lnTo>
                      <a:pt x="1378" y="1069"/>
                    </a:lnTo>
                    <a:lnTo>
                      <a:pt x="1378" y="1067"/>
                    </a:lnTo>
                    <a:lnTo>
                      <a:pt x="1378" y="1064"/>
                    </a:lnTo>
                    <a:lnTo>
                      <a:pt x="1378" y="1062"/>
                    </a:lnTo>
                    <a:lnTo>
                      <a:pt x="1378" y="1058"/>
                    </a:lnTo>
                    <a:lnTo>
                      <a:pt x="1378" y="1051"/>
                    </a:lnTo>
                    <a:moveTo>
                      <a:pt x="1054" y="1366"/>
                    </a:moveTo>
                    <a:lnTo>
                      <a:pt x="1058" y="1366"/>
                    </a:lnTo>
                    <a:lnTo>
                      <a:pt x="1061" y="1365"/>
                    </a:lnTo>
                    <a:lnTo>
                      <a:pt x="1065" y="1365"/>
                    </a:lnTo>
                    <a:lnTo>
                      <a:pt x="1068" y="1365"/>
                    </a:lnTo>
                    <a:lnTo>
                      <a:pt x="1072" y="1363"/>
                    </a:lnTo>
                    <a:lnTo>
                      <a:pt x="1075" y="1363"/>
                    </a:lnTo>
                    <a:lnTo>
                      <a:pt x="1079" y="1363"/>
                    </a:lnTo>
                    <a:lnTo>
                      <a:pt x="1082" y="1363"/>
                    </a:lnTo>
                    <a:lnTo>
                      <a:pt x="1086" y="1361"/>
                    </a:lnTo>
                    <a:lnTo>
                      <a:pt x="1089" y="1361"/>
                    </a:lnTo>
                    <a:lnTo>
                      <a:pt x="1093" y="1361"/>
                    </a:lnTo>
                    <a:lnTo>
                      <a:pt x="1096" y="1359"/>
                    </a:lnTo>
                    <a:lnTo>
                      <a:pt x="1098" y="1359"/>
                    </a:lnTo>
                    <a:lnTo>
                      <a:pt x="1101" y="1359"/>
                    </a:lnTo>
                    <a:lnTo>
                      <a:pt x="1105" y="1358"/>
                    </a:lnTo>
                    <a:lnTo>
                      <a:pt x="1108" y="1358"/>
                    </a:lnTo>
                    <a:lnTo>
                      <a:pt x="1112" y="1358"/>
                    </a:lnTo>
                    <a:lnTo>
                      <a:pt x="1115" y="1358"/>
                    </a:lnTo>
                    <a:lnTo>
                      <a:pt x="1119" y="1356"/>
                    </a:lnTo>
                    <a:lnTo>
                      <a:pt x="1122" y="1356"/>
                    </a:lnTo>
                    <a:lnTo>
                      <a:pt x="1126" y="1354"/>
                    </a:lnTo>
                    <a:lnTo>
                      <a:pt x="1129" y="1354"/>
                    </a:lnTo>
                    <a:lnTo>
                      <a:pt x="1133" y="1354"/>
                    </a:lnTo>
                    <a:lnTo>
                      <a:pt x="1136" y="1354"/>
                    </a:lnTo>
                    <a:lnTo>
                      <a:pt x="1140" y="1353"/>
                    </a:lnTo>
                    <a:lnTo>
                      <a:pt x="1143" y="1353"/>
                    </a:lnTo>
                    <a:lnTo>
                      <a:pt x="1147" y="1353"/>
                    </a:lnTo>
                    <a:lnTo>
                      <a:pt x="1150" y="1351"/>
                    </a:lnTo>
                    <a:lnTo>
                      <a:pt x="1152" y="1351"/>
                    </a:lnTo>
                    <a:lnTo>
                      <a:pt x="1155" y="1351"/>
                    </a:lnTo>
                    <a:lnTo>
                      <a:pt x="1159" y="1349"/>
                    </a:lnTo>
                    <a:lnTo>
                      <a:pt x="1162" y="1349"/>
                    </a:lnTo>
                    <a:lnTo>
                      <a:pt x="1166" y="1349"/>
                    </a:lnTo>
                    <a:lnTo>
                      <a:pt x="1169" y="1347"/>
                    </a:lnTo>
                    <a:lnTo>
                      <a:pt x="1173" y="1347"/>
                    </a:lnTo>
                    <a:lnTo>
                      <a:pt x="1176" y="1347"/>
                    </a:lnTo>
                    <a:lnTo>
                      <a:pt x="1180" y="1346"/>
                    </a:lnTo>
                    <a:lnTo>
                      <a:pt x="1183" y="1346"/>
                    </a:lnTo>
                    <a:lnTo>
                      <a:pt x="1187" y="1344"/>
                    </a:lnTo>
                    <a:lnTo>
                      <a:pt x="1190" y="1344"/>
                    </a:lnTo>
                    <a:lnTo>
                      <a:pt x="1194" y="1344"/>
                    </a:lnTo>
                    <a:lnTo>
                      <a:pt x="1197" y="1342"/>
                    </a:lnTo>
                    <a:lnTo>
                      <a:pt x="1201" y="1342"/>
                    </a:lnTo>
                    <a:lnTo>
                      <a:pt x="1202" y="1342"/>
                    </a:lnTo>
                    <a:lnTo>
                      <a:pt x="1206" y="1340"/>
                    </a:lnTo>
                    <a:lnTo>
                      <a:pt x="1209" y="1340"/>
                    </a:lnTo>
                    <a:lnTo>
                      <a:pt x="1213" y="1339"/>
                    </a:lnTo>
                    <a:lnTo>
                      <a:pt x="1216" y="1339"/>
                    </a:lnTo>
                    <a:lnTo>
                      <a:pt x="1220" y="1339"/>
                    </a:lnTo>
                    <a:lnTo>
                      <a:pt x="1223" y="1337"/>
                    </a:lnTo>
                    <a:lnTo>
                      <a:pt x="1227" y="1337"/>
                    </a:lnTo>
                    <a:lnTo>
                      <a:pt x="1230" y="1335"/>
                    </a:lnTo>
                    <a:lnTo>
                      <a:pt x="1234" y="1335"/>
                    </a:lnTo>
                    <a:lnTo>
                      <a:pt x="1237" y="1335"/>
                    </a:lnTo>
                    <a:lnTo>
                      <a:pt x="1239" y="1333"/>
                    </a:lnTo>
                    <a:lnTo>
                      <a:pt x="1242" y="1333"/>
                    </a:lnTo>
                    <a:lnTo>
                      <a:pt x="1246" y="1332"/>
                    </a:lnTo>
                    <a:lnTo>
                      <a:pt x="1249" y="1332"/>
                    </a:lnTo>
                    <a:lnTo>
                      <a:pt x="1253" y="1330"/>
                    </a:lnTo>
                    <a:lnTo>
                      <a:pt x="1256" y="1330"/>
                    </a:lnTo>
                    <a:lnTo>
                      <a:pt x="1260" y="1330"/>
                    </a:lnTo>
                    <a:lnTo>
                      <a:pt x="1263" y="1328"/>
                    </a:lnTo>
                    <a:lnTo>
                      <a:pt x="1267" y="1326"/>
                    </a:lnTo>
                    <a:lnTo>
                      <a:pt x="1270" y="1326"/>
                    </a:lnTo>
                    <a:lnTo>
                      <a:pt x="1272" y="1326"/>
                    </a:lnTo>
                    <a:lnTo>
                      <a:pt x="1275" y="1325"/>
                    </a:lnTo>
                    <a:lnTo>
                      <a:pt x="1279" y="1325"/>
                    </a:lnTo>
                    <a:lnTo>
                      <a:pt x="1282" y="1323"/>
                    </a:lnTo>
                    <a:lnTo>
                      <a:pt x="1286" y="1323"/>
                    </a:lnTo>
                    <a:lnTo>
                      <a:pt x="1289" y="1321"/>
                    </a:lnTo>
                    <a:lnTo>
                      <a:pt x="1293" y="1321"/>
                    </a:lnTo>
                    <a:lnTo>
                      <a:pt x="1296" y="1319"/>
                    </a:lnTo>
                    <a:lnTo>
                      <a:pt x="1298" y="1318"/>
                    </a:lnTo>
                    <a:lnTo>
                      <a:pt x="1302" y="1318"/>
                    </a:lnTo>
                    <a:lnTo>
                      <a:pt x="1305" y="1316"/>
                    </a:lnTo>
                    <a:lnTo>
                      <a:pt x="1309" y="1316"/>
                    </a:lnTo>
                    <a:lnTo>
                      <a:pt x="1312" y="1314"/>
                    </a:lnTo>
                    <a:lnTo>
                      <a:pt x="1316" y="1314"/>
                    </a:lnTo>
                    <a:lnTo>
                      <a:pt x="1319" y="1312"/>
                    </a:lnTo>
                    <a:lnTo>
                      <a:pt x="1321" y="1312"/>
                    </a:lnTo>
                    <a:lnTo>
                      <a:pt x="1324" y="1311"/>
                    </a:lnTo>
                    <a:lnTo>
                      <a:pt x="1328" y="1311"/>
                    </a:lnTo>
                    <a:lnTo>
                      <a:pt x="1331" y="1309"/>
                    </a:lnTo>
                    <a:lnTo>
                      <a:pt x="1335" y="1307"/>
                    </a:lnTo>
                    <a:lnTo>
                      <a:pt x="1338" y="1307"/>
                    </a:lnTo>
                    <a:lnTo>
                      <a:pt x="1340" y="1305"/>
                    </a:lnTo>
                    <a:lnTo>
                      <a:pt x="1343" y="1305"/>
                    </a:lnTo>
                    <a:lnTo>
                      <a:pt x="1347" y="1304"/>
                    </a:lnTo>
                    <a:lnTo>
                      <a:pt x="1350" y="1302"/>
                    </a:lnTo>
                    <a:lnTo>
                      <a:pt x="1354" y="1302"/>
                    </a:lnTo>
                    <a:lnTo>
                      <a:pt x="1356" y="1300"/>
                    </a:lnTo>
                    <a:lnTo>
                      <a:pt x="1359" y="1299"/>
                    </a:lnTo>
                    <a:lnTo>
                      <a:pt x="1363" y="1299"/>
                    </a:lnTo>
                    <a:lnTo>
                      <a:pt x="1366" y="1297"/>
                    </a:lnTo>
                    <a:lnTo>
                      <a:pt x="1369" y="1297"/>
                    </a:lnTo>
                    <a:lnTo>
                      <a:pt x="1371" y="1295"/>
                    </a:lnTo>
                    <a:lnTo>
                      <a:pt x="1375" y="1293"/>
                    </a:lnTo>
                    <a:lnTo>
                      <a:pt x="1378" y="1292"/>
                    </a:lnTo>
                    <a:lnTo>
                      <a:pt x="1382" y="1292"/>
                    </a:lnTo>
                    <a:lnTo>
                      <a:pt x="1383" y="1290"/>
                    </a:lnTo>
                    <a:lnTo>
                      <a:pt x="1387" y="1288"/>
                    </a:lnTo>
                    <a:lnTo>
                      <a:pt x="1390" y="1288"/>
                    </a:lnTo>
                    <a:lnTo>
                      <a:pt x="1394" y="1286"/>
                    </a:lnTo>
                    <a:lnTo>
                      <a:pt x="1396" y="1285"/>
                    </a:lnTo>
                    <a:lnTo>
                      <a:pt x="1399" y="1283"/>
                    </a:lnTo>
                    <a:lnTo>
                      <a:pt x="1403" y="1281"/>
                    </a:lnTo>
                    <a:lnTo>
                      <a:pt x="1406" y="1281"/>
                    </a:lnTo>
                    <a:lnTo>
                      <a:pt x="1408" y="1279"/>
                    </a:lnTo>
                    <a:lnTo>
                      <a:pt x="1411" y="1278"/>
                    </a:lnTo>
                    <a:lnTo>
                      <a:pt x="1415" y="1276"/>
                    </a:lnTo>
                    <a:lnTo>
                      <a:pt x="1416" y="1276"/>
                    </a:lnTo>
                    <a:lnTo>
                      <a:pt x="1420" y="1274"/>
                    </a:lnTo>
                    <a:lnTo>
                      <a:pt x="1423" y="1272"/>
                    </a:lnTo>
                    <a:lnTo>
                      <a:pt x="1425" y="1271"/>
                    </a:lnTo>
                    <a:lnTo>
                      <a:pt x="1429" y="1269"/>
                    </a:lnTo>
                    <a:lnTo>
                      <a:pt x="1432" y="1269"/>
                    </a:lnTo>
                    <a:lnTo>
                      <a:pt x="1434" y="1267"/>
                    </a:lnTo>
                    <a:lnTo>
                      <a:pt x="1437" y="1265"/>
                    </a:lnTo>
                    <a:lnTo>
                      <a:pt x="1441" y="1264"/>
                    </a:lnTo>
                    <a:lnTo>
                      <a:pt x="1443" y="1262"/>
                    </a:lnTo>
                    <a:lnTo>
                      <a:pt x="1446" y="1260"/>
                    </a:lnTo>
                    <a:lnTo>
                      <a:pt x="1448" y="1258"/>
                    </a:lnTo>
                    <a:lnTo>
                      <a:pt x="1451" y="1257"/>
                    </a:lnTo>
                    <a:lnTo>
                      <a:pt x="1455" y="1257"/>
                    </a:lnTo>
                    <a:lnTo>
                      <a:pt x="1457" y="1255"/>
                    </a:lnTo>
                    <a:lnTo>
                      <a:pt x="1460" y="1253"/>
                    </a:lnTo>
                    <a:lnTo>
                      <a:pt x="1462" y="1252"/>
                    </a:lnTo>
                    <a:lnTo>
                      <a:pt x="1465" y="1250"/>
                    </a:lnTo>
                    <a:lnTo>
                      <a:pt x="1467" y="1248"/>
                    </a:lnTo>
                    <a:lnTo>
                      <a:pt x="1470" y="1246"/>
                    </a:lnTo>
                    <a:lnTo>
                      <a:pt x="1472" y="1245"/>
                    </a:lnTo>
                    <a:lnTo>
                      <a:pt x="1476" y="1243"/>
                    </a:lnTo>
                    <a:lnTo>
                      <a:pt x="1479" y="1241"/>
                    </a:lnTo>
                    <a:lnTo>
                      <a:pt x="1481" y="1239"/>
                    </a:lnTo>
                    <a:lnTo>
                      <a:pt x="1484" y="1238"/>
                    </a:lnTo>
                    <a:lnTo>
                      <a:pt x="1486" y="1236"/>
                    </a:lnTo>
                    <a:lnTo>
                      <a:pt x="1488" y="1234"/>
                    </a:lnTo>
                    <a:lnTo>
                      <a:pt x="1491" y="1232"/>
                    </a:lnTo>
                    <a:lnTo>
                      <a:pt x="1493" y="1231"/>
                    </a:lnTo>
                    <a:lnTo>
                      <a:pt x="1497" y="1229"/>
                    </a:lnTo>
                    <a:lnTo>
                      <a:pt x="1498" y="1227"/>
                    </a:lnTo>
                    <a:lnTo>
                      <a:pt x="1502" y="1225"/>
                    </a:lnTo>
                    <a:lnTo>
                      <a:pt x="1503" y="1224"/>
                    </a:lnTo>
                    <a:lnTo>
                      <a:pt x="1505" y="1222"/>
                    </a:lnTo>
                    <a:lnTo>
                      <a:pt x="1509" y="1220"/>
                    </a:lnTo>
                    <a:lnTo>
                      <a:pt x="1510" y="1217"/>
                    </a:lnTo>
                    <a:lnTo>
                      <a:pt x="1512" y="1215"/>
                    </a:lnTo>
                    <a:lnTo>
                      <a:pt x="1516" y="1213"/>
                    </a:lnTo>
                    <a:lnTo>
                      <a:pt x="1517" y="1211"/>
                    </a:lnTo>
                    <a:lnTo>
                      <a:pt x="1519" y="1210"/>
                    </a:lnTo>
                    <a:lnTo>
                      <a:pt x="1523" y="1208"/>
                    </a:lnTo>
                    <a:lnTo>
                      <a:pt x="1524" y="1206"/>
                    </a:lnTo>
                    <a:lnTo>
                      <a:pt x="1526" y="1203"/>
                    </a:lnTo>
                    <a:lnTo>
                      <a:pt x="1530" y="1201"/>
                    </a:lnTo>
                    <a:lnTo>
                      <a:pt x="1531" y="1199"/>
                    </a:lnTo>
                    <a:lnTo>
                      <a:pt x="1533" y="1198"/>
                    </a:lnTo>
                    <a:lnTo>
                      <a:pt x="1535" y="1196"/>
                    </a:lnTo>
                    <a:lnTo>
                      <a:pt x="1538" y="1194"/>
                    </a:lnTo>
                    <a:lnTo>
                      <a:pt x="1540" y="1191"/>
                    </a:lnTo>
                    <a:lnTo>
                      <a:pt x="1542" y="1189"/>
                    </a:lnTo>
                    <a:lnTo>
                      <a:pt x="1544" y="1187"/>
                    </a:lnTo>
                    <a:lnTo>
                      <a:pt x="1545" y="1185"/>
                    </a:lnTo>
                    <a:lnTo>
                      <a:pt x="1547" y="1182"/>
                    </a:lnTo>
                    <a:lnTo>
                      <a:pt x="1549" y="1180"/>
                    </a:lnTo>
                    <a:lnTo>
                      <a:pt x="1550" y="1178"/>
                    </a:lnTo>
                    <a:lnTo>
                      <a:pt x="1552" y="1177"/>
                    </a:lnTo>
                    <a:lnTo>
                      <a:pt x="1554" y="1173"/>
                    </a:lnTo>
                    <a:lnTo>
                      <a:pt x="1557" y="1171"/>
                    </a:lnTo>
                    <a:lnTo>
                      <a:pt x="1559" y="1170"/>
                    </a:lnTo>
                    <a:lnTo>
                      <a:pt x="1561" y="1166"/>
                    </a:lnTo>
                    <a:lnTo>
                      <a:pt x="1563" y="1164"/>
                    </a:lnTo>
                    <a:lnTo>
                      <a:pt x="1563" y="1163"/>
                    </a:lnTo>
                    <a:lnTo>
                      <a:pt x="1566" y="1159"/>
                    </a:lnTo>
                    <a:lnTo>
                      <a:pt x="1566" y="1158"/>
                    </a:lnTo>
                    <a:lnTo>
                      <a:pt x="1568" y="1156"/>
                    </a:lnTo>
                    <a:lnTo>
                      <a:pt x="1570" y="1152"/>
                    </a:lnTo>
                    <a:lnTo>
                      <a:pt x="1571" y="1151"/>
                    </a:lnTo>
                    <a:lnTo>
                      <a:pt x="1573" y="1149"/>
                    </a:lnTo>
                    <a:lnTo>
                      <a:pt x="1575" y="1145"/>
                    </a:lnTo>
                    <a:lnTo>
                      <a:pt x="1577" y="1144"/>
                    </a:lnTo>
                    <a:lnTo>
                      <a:pt x="1577" y="1142"/>
                    </a:lnTo>
                    <a:lnTo>
                      <a:pt x="1578" y="1138"/>
                    </a:lnTo>
                    <a:lnTo>
                      <a:pt x="1580" y="1137"/>
                    </a:lnTo>
                    <a:lnTo>
                      <a:pt x="1582" y="1133"/>
                    </a:lnTo>
                    <a:lnTo>
                      <a:pt x="1582" y="1131"/>
                    </a:lnTo>
                    <a:lnTo>
                      <a:pt x="1584" y="1130"/>
                    </a:lnTo>
                    <a:lnTo>
                      <a:pt x="1585" y="1126"/>
                    </a:lnTo>
                    <a:lnTo>
                      <a:pt x="1585" y="1124"/>
                    </a:lnTo>
                    <a:lnTo>
                      <a:pt x="1587" y="1121"/>
                    </a:lnTo>
                    <a:lnTo>
                      <a:pt x="1589" y="1119"/>
                    </a:lnTo>
                    <a:lnTo>
                      <a:pt x="1589" y="1116"/>
                    </a:lnTo>
                    <a:lnTo>
                      <a:pt x="1591" y="1114"/>
                    </a:lnTo>
                    <a:lnTo>
                      <a:pt x="1591" y="1111"/>
                    </a:lnTo>
                    <a:lnTo>
                      <a:pt x="1592" y="1109"/>
                    </a:lnTo>
                    <a:lnTo>
                      <a:pt x="1592" y="1107"/>
                    </a:lnTo>
                    <a:lnTo>
                      <a:pt x="1594" y="1104"/>
                    </a:lnTo>
                    <a:lnTo>
                      <a:pt x="1594" y="1102"/>
                    </a:lnTo>
                    <a:lnTo>
                      <a:pt x="1596" y="1098"/>
                    </a:lnTo>
                    <a:lnTo>
                      <a:pt x="1596" y="1097"/>
                    </a:lnTo>
                    <a:lnTo>
                      <a:pt x="1597" y="1093"/>
                    </a:lnTo>
                    <a:lnTo>
                      <a:pt x="1597" y="1091"/>
                    </a:lnTo>
                    <a:lnTo>
                      <a:pt x="1597" y="1088"/>
                    </a:lnTo>
                    <a:lnTo>
                      <a:pt x="1599" y="1086"/>
                    </a:lnTo>
                    <a:lnTo>
                      <a:pt x="1599" y="1083"/>
                    </a:lnTo>
                    <a:lnTo>
                      <a:pt x="1599" y="1081"/>
                    </a:lnTo>
                    <a:lnTo>
                      <a:pt x="1599" y="1077"/>
                    </a:lnTo>
                    <a:lnTo>
                      <a:pt x="1601" y="1076"/>
                    </a:lnTo>
                    <a:lnTo>
                      <a:pt x="1601" y="1072"/>
                    </a:lnTo>
                    <a:lnTo>
                      <a:pt x="1601" y="1070"/>
                    </a:lnTo>
                    <a:lnTo>
                      <a:pt x="1601" y="1067"/>
                    </a:lnTo>
                    <a:lnTo>
                      <a:pt x="1601" y="1065"/>
                    </a:lnTo>
                    <a:lnTo>
                      <a:pt x="1601" y="1062"/>
                    </a:lnTo>
                    <a:lnTo>
                      <a:pt x="1603" y="1060"/>
                    </a:lnTo>
                    <a:lnTo>
                      <a:pt x="1603" y="1051"/>
                    </a:lnTo>
                    <a:moveTo>
                      <a:pt x="1190" y="1389"/>
                    </a:moveTo>
                    <a:lnTo>
                      <a:pt x="1194" y="1389"/>
                    </a:lnTo>
                    <a:lnTo>
                      <a:pt x="1197" y="1391"/>
                    </a:lnTo>
                    <a:lnTo>
                      <a:pt x="1201" y="1391"/>
                    </a:lnTo>
                    <a:lnTo>
                      <a:pt x="1204" y="1391"/>
                    </a:lnTo>
                    <a:lnTo>
                      <a:pt x="1208" y="1391"/>
                    </a:lnTo>
                    <a:lnTo>
                      <a:pt x="1211" y="1391"/>
                    </a:lnTo>
                    <a:lnTo>
                      <a:pt x="1215" y="1393"/>
                    </a:lnTo>
                    <a:lnTo>
                      <a:pt x="1218" y="1393"/>
                    </a:lnTo>
                    <a:lnTo>
                      <a:pt x="1222" y="1393"/>
                    </a:lnTo>
                    <a:lnTo>
                      <a:pt x="1225" y="1393"/>
                    </a:lnTo>
                    <a:lnTo>
                      <a:pt x="1229" y="1394"/>
                    </a:lnTo>
                    <a:lnTo>
                      <a:pt x="1232" y="1394"/>
                    </a:lnTo>
                    <a:lnTo>
                      <a:pt x="1235" y="1394"/>
                    </a:lnTo>
                    <a:lnTo>
                      <a:pt x="1239" y="1394"/>
                    </a:lnTo>
                    <a:lnTo>
                      <a:pt x="1242" y="1394"/>
                    </a:lnTo>
                    <a:lnTo>
                      <a:pt x="1246" y="1394"/>
                    </a:lnTo>
                    <a:lnTo>
                      <a:pt x="1249" y="1396"/>
                    </a:lnTo>
                    <a:lnTo>
                      <a:pt x="1253" y="1396"/>
                    </a:lnTo>
                    <a:lnTo>
                      <a:pt x="1256" y="1396"/>
                    </a:lnTo>
                    <a:lnTo>
                      <a:pt x="1260" y="1396"/>
                    </a:lnTo>
                    <a:lnTo>
                      <a:pt x="1263" y="1396"/>
                    </a:lnTo>
                    <a:lnTo>
                      <a:pt x="1267" y="1398"/>
                    </a:lnTo>
                    <a:lnTo>
                      <a:pt x="1270" y="1398"/>
                    </a:lnTo>
                    <a:lnTo>
                      <a:pt x="1274" y="1398"/>
                    </a:lnTo>
                    <a:lnTo>
                      <a:pt x="1275" y="1398"/>
                    </a:lnTo>
                    <a:lnTo>
                      <a:pt x="1279" y="1398"/>
                    </a:lnTo>
                    <a:lnTo>
                      <a:pt x="1282" y="1398"/>
                    </a:lnTo>
                    <a:lnTo>
                      <a:pt x="1286" y="1398"/>
                    </a:lnTo>
                    <a:lnTo>
                      <a:pt x="1289" y="1400"/>
                    </a:lnTo>
                    <a:lnTo>
                      <a:pt x="1293" y="1400"/>
                    </a:lnTo>
                    <a:lnTo>
                      <a:pt x="1296" y="1400"/>
                    </a:lnTo>
                    <a:lnTo>
                      <a:pt x="1300" y="1400"/>
                    </a:lnTo>
                    <a:lnTo>
                      <a:pt x="1303" y="1400"/>
                    </a:lnTo>
                    <a:lnTo>
                      <a:pt x="1307" y="1400"/>
                    </a:lnTo>
                    <a:lnTo>
                      <a:pt x="1310" y="1400"/>
                    </a:lnTo>
                    <a:lnTo>
                      <a:pt x="1314" y="1400"/>
                    </a:lnTo>
                    <a:lnTo>
                      <a:pt x="1317" y="1400"/>
                    </a:lnTo>
                    <a:lnTo>
                      <a:pt x="1321" y="1401"/>
                    </a:lnTo>
                    <a:lnTo>
                      <a:pt x="1324" y="1401"/>
                    </a:lnTo>
                    <a:lnTo>
                      <a:pt x="1328" y="1401"/>
                    </a:lnTo>
                    <a:lnTo>
                      <a:pt x="1331" y="1401"/>
                    </a:lnTo>
                    <a:lnTo>
                      <a:pt x="1335" y="1401"/>
                    </a:lnTo>
                    <a:lnTo>
                      <a:pt x="1338" y="1401"/>
                    </a:lnTo>
                    <a:lnTo>
                      <a:pt x="1342" y="1401"/>
                    </a:lnTo>
                    <a:lnTo>
                      <a:pt x="1345" y="1401"/>
                    </a:lnTo>
                    <a:lnTo>
                      <a:pt x="1349" y="1401"/>
                    </a:lnTo>
                    <a:lnTo>
                      <a:pt x="1352" y="1401"/>
                    </a:lnTo>
                    <a:lnTo>
                      <a:pt x="1356" y="1401"/>
                    </a:lnTo>
                    <a:lnTo>
                      <a:pt x="1359" y="1401"/>
                    </a:lnTo>
                    <a:lnTo>
                      <a:pt x="1363" y="1401"/>
                    </a:lnTo>
                    <a:lnTo>
                      <a:pt x="1366" y="1401"/>
                    </a:lnTo>
                    <a:lnTo>
                      <a:pt x="1369" y="1401"/>
                    </a:lnTo>
                    <a:lnTo>
                      <a:pt x="1373" y="1401"/>
                    </a:lnTo>
                    <a:lnTo>
                      <a:pt x="1376" y="1403"/>
                    </a:lnTo>
                    <a:lnTo>
                      <a:pt x="1380" y="1403"/>
                    </a:lnTo>
                    <a:lnTo>
                      <a:pt x="1383" y="1403"/>
                    </a:lnTo>
                    <a:lnTo>
                      <a:pt x="1387" y="1403"/>
                    </a:lnTo>
                    <a:lnTo>
                      <a:pt x="1390" y="1403"/>
                    </a:lnTo>
                    <a:lnTo>
                      <a:pt x="1394" y="1403"/>
                    </a:lnTo>
                    <a:lnTo>
                      <a:pt x="1397" y="1403"/>
                    </a:lnTo>
                    <a:lnTo>
                      <a:pt x="1401" y="1401"/>
                    </a:lnTo>
                    <a:lnTo>
                      <a:pt x="1404" y="1401"/>
                    </a:lnTo>
                    <a:lnTo>
                      <a:pt x="1408" y="1401"/>
                    </a:lnTo>
                    <a:lnTo>
                      <a:pt x="1411" y="1401"/>
                    </a:lnTo>
                    <a:lnTo>
                      <a:pt x="1415" y="1401"/>
                    </a:lnTo>
                    <a:lnTo>
                      <a:pt x="1418" y="1401"/>
                    </a:lnTo>
                    <a:lnTo>
                      <a:pt x="1422" y="1401"/>
                    </a:lnTo>
                    <a:lnTo>
                      <a:pt x="1425" y="1401"/>
                    </a:lnTo>
                    <a:lnTo>
                      <a:pt x="1429" y="1401"/>
                    </a:lnTo>
                    <a:lnTo>
                      <a:pt x="1432" y="1401"/>
                    </a:lnTo>
                    <a:lnTo>
                      <a:pt x="1436" y="1401"/>
                    </a:lnTo>
                    <a:lnTo>
                      <a:pt x="1439" y="1401"/>
                    </a:lnTo>
                    <a:lnTo>
                      <a:pt x="1443" y="1401"/>
                    </a:lnTo>
                    <a:lnTo>
                      <a:pt x="1446" y="1401"/>
                    </a:lnTo>
                    <a:lnTo>
                      <a:pt x="1450" y="1401"/>
                    </a:lnTo>
                    <a:lnTo>
                      <a:pt x="1453" y="1400"/>
                    </a:lnTo>
                    <a:lnTo>
                      <a:pt x="1457" y="1400"/>
                    </a:lnTo>
                    <a:lnTo>
                      <a:pt x="1460" y="1400"/>
                    </a:lnTo>
                    <a:lnTo>
                      <a:pt x="1463" y="1400"/>
                    </a:lnTo>
                    <a:lnTo>
                      <a:pt x="1467" y="1400"/>
                    </a:lnTo>
                    <a:lnTo>
                      <a:pt x="1470" y="1400"/>
                    </a:lnTo>
                    <a:lnTo>
                      <a:pt x="1472" y="1400"/>
                    </a:lnTo>
                    <a:lnTo>
                      <a:pt x="1476" y="1400"/>
                    </a:lnTo>
                    <a:lnTo>
                      <a:pt x="1479" y="1400"/>
                    </a:lnTo>
                    <a:lnTo>
                      <a:pt x="1484" y="1398"/>
                    </a:lnTo>
                    <a:lnTo>
                      <a:pt x="1488" y="1398"/>
                    </a:lnTo>
                    <a:lnTo>
                      <a:pt x="1490" y="1398"/>
                    </a:lnTo>
                    <a:lnTo>
                      <a:pt x="1493" y="1398"/>
                    </a:lnTo>
                    <a:lnTo>
                      <a:pt x="1497" y="1398"/>
                    </a:lnTo>
                    <a:lnTo>
                      <a:pt x="1500" y="1398"/>
                    </a:lnTo>
                    <a:lnTo>
                      <a:pt x="1503" y="1396"/>
                    </a:lnTo>
                    <a:lnTo>
                      <a:pt x="1507" y="1396"/>
                    </a:lnTo>
                    <a:lnTo>
                      <a:pt x="1510" y="1396"/>
                    </a:lnTo>
                    <a:lnTo>
                      <a:pt x="1514" y="1396"/>
                    </a:lnTo>
                    <a:lnTo>
                      <a:pt x="1517" y="1394"/>
                    </a:lnTo>
                    <a:lnTo>
                      <a:pt x="1521" y="1394"/>
                    </a:lnTo>
                    <a:lnTo>
                      <a:pt x="1524" y="1394"/>
                    </a:lnTo>
                    <a:lnTo>
                      <a:pt x="1528" y="1394"/>
                    </a:lnTo>
                    <a:lnTo>
                      <a:pt x="1531" y="1394"/>
                    </a:lnTo>
                    <a:lnTo>
                      <a:pt x="1535" y="1393"/>
                    </a:lnTo>
                    <a:lnTo>
                      <a:pt x="1538" y="1393"/>
                    </a:lnTo>
                    <a:lnTo>
                      <a:pt x="1542" y="1393"/>
                    </a:lnTo>
                    <a:lnTo>
                      <a:pt x="1545" y="1391"/>
                    </a:lnTo>
                    <a:lnTo>
                      <a:pt x="1549" y="1391"/>
                    </a:lnTo>
                    <a:lnTo>
                      <a:pt x="1552" y="1391"/>
                    </a:lnTo>
                    <a:lnTo>
                      <a:pt x="1556" y="1391"/>
                    </a:lnTo>
                    <a:lnTo>
                      <a:pt x="1559" y="1389"/>
                    </a:lnTo>
                    <a:lnTo>
                      <a:pt x="1563" y="1389"/>
                    </a:lnTo>
                    <a:lnTo>
                      <a:pt x="1566" y="1389"/>
                    </a:lnTo>
                    <a:lnTo>
                      <a:pt x="1568" y="1389"/>
                    </a:lnTo>
                    <a:lnTo>
                      <a:pt x="1571" y="1387"/>
                    </a:lnTo>
                    <a:lnTo>
                      <a:pt x="1575" y="1387"/>
                    </a:lnTo>
                    <a:lnTo>
                      <a:pt x="1578" y="1386"/>
                    </a:lnTo>
                    <a:lnTo>
                      <a:pt x="1582" y="1386"/>
                    </a:lnTo>
                    <a:lnTo>
                      <a:pt x="1585" y="1386"/>
                    </a:lnTo>
                    <a:lnTo>
                      <a:pt x="1589" y="1384"/>
                    </a:lnTo>
                    <a:lnTo>
                      <a:pt x="1592" y="1384"/>
                    </a:lnTo>
                    <a:lnTo>
                      <a:pt x="1596" y="1384"/>
                    </a:lnTo>
                    <a:lnTo>
                      <a:pt x="1599" y="1382"/>
                    </a:lnTo>
                    <a:lnTo>
                      <a:pt x="1603" y="1382"/>
                    </a:lnTo>
                    <a:lnTo>
                      <a:pt x="1606" y="1382"/>
                    </a:lnTo>
                    <a:lnTo>
                      <a:pt x="1610" y="1380"/>
                    </a:lnTo>
                    <a:lnTo>
                      <a:pt x="1613" y="1380"/>
                    </a:lnTo>
                    <a:lnTo>
                      <a:pt x="1615" y="1379"/>
                    </a:lnTo>
                    <a:lnTo>
                      <a:pt x="1618" y="1379"/>
                    </a:lnTo>
                    <a:lnTo>
                      <a:pt x="1622" y="1377"/>
                    </a:lnTo>
                    <a:lnTo>
                      <a:pt x="1625" y="1377"/>
                    </a:lnTo>
                    <a:lnTo>
                      <a:pt x="1629" y="1377"/>
                    </a:lnTo>
                    <a:lnTo>
                      <a:pt x="1632" y="1375"/>
                    </a:lnTo>
                    <a:lnTo>
                      <a:pt x="1636" y="1375"/>
                    </a:lnTo>
                    <a:lnTo>
                      <a:pt x="1639" y="1373"/>
                    </a:lnTo>
                    <a:lnTo>
                      <a:pt x="1643" y="1373"/>
                    </a:lnTo>
                    <a:lnTo>
                      <a:pt x="1644" y="1372"/>
                    </a:lnTo>
                    <a:lnTo>
                      <a:pt x="1648" y="1372"/>
                    </a:lnTo>
                    <a:lnTo>
                      <a:pt x="1651" y="1370"/>
                    </a:lnTo>
                    <a:lnTo>
                      <a:pt x="1655" y="1370"/>
                    </a:lnTo>
                    <a:lnTo>
                      <a:pt x="1658" y="1368"/>
                    </a:lnTo>
                    <a:lnTo>
                      <a:pt x="1662" y="1368"/>
                    </a:lnTo>
                    <a:lnTo>
                      <a:pt x="1665" y="1366"/>
                    </a:lnTo>
                    <a:lnTo>
                      <a:pt x="1669" y="1366"/>
                    </a:lnTo>
                    <a:lnTo>
                      <a:pt x="1671" y="1365"/>
                    </a:lnTo>
                    <a:lnTo>
                      <a:pt x="1674" y="1365"/>
                    </a:lnTo>
                    <a:lnTo>
                      <a:pt x="1678" y="1363"/>
                    </a:lnTo>
                    <a:lnTo>
                      <a:pt x="1681" y="1363"/>
                    </a:lnTo>
                    <a:lnTo>
                      <a:pt x="1685" y="1361"/>
                    </a:lnTo>
                    <a:lnTo>
                      <a:pt x="1688" y="1359"/>
                    </a:lnTo>
                    <a:lnTo>
                      <a:pt x="1691" y="1359"/>
                    </a:lnTo>
                    <a:lnTo>
                      <a:pt x="1693" y="1358"/>
                    </a:lnTo>
                    <a:lnTo>
                      <a:pt x="1697" y="1358"/>
                    </a:lnTo>
                    <a:lnTo>
                      <a:pt x="1700" y="1356"/>
                    </a:lnTo>
                    <a:lnTo>
                      <a:pt x="1704" y="1354"/>
                    </a:lnTo>
                    <a:lnTo>
                      <a:pt x="1707" y="1354"/>
                    </a:lnTo>
                    <a:lnTo>
                      <a:pt x="1709" y="1353"/>
                    </a:lnTo>
                    <a:lnTo>
                      <a:pt x="1712" y="1353"/>
                    </a:lnTo>
                    <a:lnTo>
                      <a:pt x="1716" y="1351"/>
                    </a:lnTo>
                    <a:lnTo>
                      <a:pt x="1719" y="1349"/>
                    </a:lnTo>
                    <a:lnTo>
                      <a:pt x="1723" y="1349"/>
                    </a:lnTo>
                    <a:lnTo>
                      <a:pt x="1725" y="1347"/>
                    </a:lnTo>
                    <a:lnTo>
                      <a:pt x="1728" y="1346"/>
                    </a:lnTo>
                    <a:lnTo>
                      <a:pt x="1731" y="1344"/>
                    </a:lnTo>
                    <a:lnTo>
                      <a:pt x="1735" y="1344"/>
                    </a:lnTo>
                    <a:lnTo>
                      <a:pt x="1737" y="1342"/>
                    </a:lnTo>
                    <a:lnTo>
                      <a:pt x="1740" y="1340"/>
                    </a:lnTo>
                    <a:lnTo>
                      <a:pt x="1744" y="1340"/>
                    </a:lnTo>
                    <a:lnTo>
                      <a:pt x="1747" y="1339"/>
                    </a:lnTo>
                    <a:lnTo>
                      <a:pt x="1749" y="1337"/>
                    </a:lnTo>
                    <a:lnTo>
                      <a:pt x="1752" y="1335"/>
                    </a:lnTo>
                    <a:lnTo>
                      <a:pt x="1756" y="1335"/>
                    </a:lnTo>
                    <a:lnTo>
                      <a:pt x="1759" y="1333"/>
                    </a:lnTo>
                    <a:lnTo>
                      <a:pt x="1761" y="1332"/>
                    </a:lnTo>
                    <a:lnTo>
                      <a:pt x="1765" y="1330"/>
                    </a:lnTo>
                    <a:lnTo>
                      <a:pt x="1768" y="1330"/>
                    </a:lnTo>
                    <a:lnTo>
                      <a:pt x="1772" y="1328"/>
                    </a:lnTo>
                    <a:lnTo>
                      <a:pt x="1773" y="1326"/>
                    </a:lnTo>
                    <a:lnTo>
                      <a:pt x="1777" y="1325"/>
                    </a:lnTo>
                    <a:lnTo>
                      <a:pt x="1780" y="1325"/>
                    </a:lnTo>
                    <a:lnTo>
                      <a:pt x="1782" y="1323"/>
                    </a:lnTo>
                    <a:lnTo>
                      <a:pt x="1785" y="1321"/>
                    </a:lnTo>
                    <a:lnTo>
                      <a:pt x="1787" y="1319"/>
                    </a:lnTo>
                    <a:lnTo>
                      <a:pt x="1791" y="1318"/>
                    </a:lnTo>
                    <a:lnTo>
                      <a:pt x="1794" y="1316"/>
                    </a:lnTo>
                    <a:lnTo>
                      <a:pt x="1796" y="1316"/>
                    </a:lnTo>
                    <a:lnTo>
                      <a:pt x="1799" y="1314"/>
                    </a:lnTo>
                    <a:lnTo>
                      <a:pt x="1803" y="1312"/>
                    </a:lnTo>
                    <a:lnTo>
                      <a:pt x="1805" y="1311"/>
                    </a:lnTo>
                    <a:lnTo>
                      <a:pt x="1808" y="1309"/>
                    </a:lnTo>
                    <a:lnTo>
                      <a:pt x="1810" y="1307"/>
                    </a:lnTo>
                    <a:lnTo>
                      <a:pt x="1813" y="1305"/>
                    </a:lnTo>
                    <a:lnTo>
                      <a:pt x="1817" y="1304"/>
                    </a:lnTo>
                    <a:lnTo>
                      <a:pt x="1819" y="1302"/>
                    </a:lnTo>
                    <a:lnTo>
                      <a:pt x="1822" y="1300"/>
                    </a:lnTo>
                    <a:lnTo>
                      <a:pt x="1824" y="1299"/>
                    </a:lnTo>
                    <a:lnTo>
                      <a:pt x="1827" y="1299"/>
                    </a:lnTo>
                    <a:lnTo>
                      <a:pt x="1831" y="1297"/>
                    </a:lnTo>
                    <a:lnTo>
                      <a:pt x="1832" y="1295"/>
                    </a:lnTo>
                    <a:lnTo>
                      <a:pt x="1836" y="1293"/>
                    </a:lnTo>
                    <a:lnTo>
                      <a:pt x="1838" y="1292"/>
                    </a:lnTo>
                    <a:lnTo>
                      <a:pt x="1841" y="1290"/>
                    </a:lnTo>
                    <a:lnTo>
                      <a:pt x="1843" y="1288"/>
                    </a:lnTo>
                    <a:lnTo>
                      <a:pt x="1846" y="1286"/>
                    </a:lnTo>
                    <a:lnTo>
                      <a:pt x="1848" y="1285"/>
                    </a:lnTo>
                    <a:lnTo>
                      <a:pt x="1850" y="1283"/>
                    </a:lnTo>
                    <a:lnTo>
                      <a:pt x="1853" y="1281"/>
                    </a:lnTo>
                    <a:lnTo>
                      <a:pt x="1855" y="1279"/>
                    </a:lnTo>
                    <a:lnTo>
                      <a:pt x="1859" y="1278"/>
                    </a:lnTo>
                    <a:lnTo>
                      <a:pt x="1860" y="1276"/>
                    </a:lnTo>
                    <a:lnTo>
                      <a:pt x="1864" y="1274"/>
                    </a:lnTo>
                    <a:lnTo>
                      <a:pt x="1866" y="1271"/>
                    </a:lnTo>
                    <a:lnTo>
                      <a:pt x="1869" y="1269"/>
                    </a:lnTo>
                    <a:lnTo>
                      <a:pt x="1871" y="1267"/>
                    </a:lnTo>
                    <a:lnTo>
                      <a:pt x="1872" y="1265"/>
                    </a:lnTo>
                    <a:lnTo>
                      <a:pt x="1876" y="1264"/>
                    </a:lnTo>
                    <a:lnTo>
                      <a:pt x="1878" y="1262"/>
                    </a:lnTo>
                    <a:lnTo>
                      <a:pt x="1879" y="1260"/>
                    </a:lnTo>
                    <a:lnTo>
                      <a:pt x="1883" y="1258"/>
                    </a:lnTo>
                    <a:lnTo>
                      <a:pt x="1885" y="1257"/>
                    </a:lnTo>
                    <a:lnTo>
                      <a:pt x="1886" y="1253"/>
                    </a:lnTo>
                    <a:lnTo>
                      <a:pt x="1890" y="1252"/>
                    </a:lnTo>
                    <a:lnTo>
                      <a:pt x="1892" y="1250"/>
                    </a:lnTo>
                    <a:lnTo>
                      <a:pt x="1893" y="1248"/>
                    </a:lnTo>
                    <a:lnTo>
                      <a:pt x="1897" y="1246"/>
                    </a:lnTo>
                    <a:lnTo>
                      <a:pt x="1899" y="1245"/>
                    </a:lnTo>
                    <a:lnTo>
                      <a:pt x="1900" y="1243"/>
                    </a:lnTo>
                    <a:lnTo>
                      <a:pt x="1902" y="1239"/>
                    </a:lnTo>
                    <a:lnTo>
                      <a:pt x="1906" y="1238"/>
                    </a:lnTo>
                    <a:lnTo>
                      <a:pt x="1907" y="1236"/>
                    </a:lnTo>
                    <a:lnTo>
                      <a:pt x="1909" y="1234"/>
                    </a:lnTo>
                    <a:lnTo>
                      <a:pt x="1911" y="1232"/>
                    </a:lnTo>
                    <a:lnTo>
                      <a:pt x="1913" y="1229"/>
                    </a:lnTo>
                    <a:lnTo>
                      <a:pt x="1914" y="1227"/>
                    </a:lnTo>
                    <a:lnTo>
                      <a:pt x="1918" y="1225"/>
                    </a:lnTo>
                    <a:lnTo>
                      <a:pt x="1919" y="1224"/>
                    </a:lnTo>
                    <a:lnTo>
                      <a:pt x="1921" y="1220"/>
                    </a:lnTo>
                    <a:lnTo>
                      <a:pt x="1923" y="1218"/>
                    </a:lnTo>
                    <a:lnTo>
                      <a:pt x="1925" y="1217"/>
                    </a:lnTo>
                    <a:lnTo>
                      <a:pt x="1926" y="1215"/>
                    </a:lnTo>
                    <a:lnTo>
                      <a:pt x="1928" y="1211"/>
                    </a:lnTo>
                    <a:lnTo>
                      <a:pt x="1930" y="1210"/>
                    </a:lnTo>
                    <a:lnTo>
                      <a:pt x="1932" y="1208"/>
                    </a:lnTo>
                    <a:lnTo>
                      <a:pt x="1933" y="1206"/>
                    </a:lnTo>
                    <a:lnTo>
                      <a:pt x="1935" y="1203"/>
                    </a:lnTo>
                    <a:lnTo>
                      <a:pt x="1937" y="1201"/>
                    </a:lnTo>
                    <a:lnTo>
                      <a:pt x="1939" y="1199"/>
                    </a:lnTo>
                    <a:lnTo>
                      <a:pt x="1940" y="1196"/>
                    </a:lnTo>
                    <a:lnTo>
                      <a:pt x="1942" y="1194"/>
                    </a:lnTo>
                    <a:lnTo>
                      <a:pt x="1944" y="1192"/>
                    </a:lnTo>
                    <a:lnTo>
                      <a:pt x="1946" y="1189"/>
                    </a:lnTo>
                    <a:lnTo>
                      <a:pt x="1947" y="1187"/>
                    </a:lnTo>
                    <a:lnTo>
                      <a:pt x="1949" y="1185"/>
                    </a:lnTo>
                    <a:lnTo>
                      <a:pt x="1951" y="1182"/>
                    </a:lnTo>
                    <a:lnTo>
                      <a:pt x="1953" y="1180"/>
                    </a:lnTo>
                    <a:lnTo>
                      <a:pt x="1954" y="1178"/>
                    </a:lnTo>
                    <a:lnTo>
                      <a:pt x="1956" y="1175"/>
                    </a:lnTo>
                    <a:lnTo>
                      <a:pt x="1956" y="1173"/>
                    </a:lnTo>
                    <a:lnTo>
                      <a:pt x="1958" y="1170"/>
                    </a:lnTo>
                    <a:lnTo>
                      <a:pt x="1960" y="1168"/>
                    </a:lnTo>
                    <a:lnTo>
                      <a:pt x="1961" y="1166"/>
                    </a:lnTo>
                    <a:lnTo>
                      <a:pt x="1963" y="1163"/>
                    </a:lnTo>
                    <a:lnTo>
                      <a:pt x="1963" y="1161"/>
                    </a:lnTo>
                    <a:lnTo>
                      <a:pt x="1965" y="1158"/>
                    </a:lnTo>
                    <a:lnTo>
                      <a:pt x="1966" y="1156"/>
                    </a:lnTo>
                    <a:lnTo>
                      <a:pt x="1966" y="1154"/>
                    </a:lnTo>
                    <a:lnTo>
                      <a:pt x="1968" y="1151"/>
                    </a:lnTo>
                    <a:lnTo>
                      <a:pt x="1970" y="1149"/>
                    </a:lnTo>
                    <a:lnTo>
                      <a:pt x="1970" y="1145"/>
                    </a:lnTo>
                    <a:lnTo>
                      <a:pt x="1972" y="1144"/>
                    </a:lnTo>
                    <a:lnTo>
                      <a:pt x="1973" y="1142"/>
                    </a:lnTo>
                    <a:lnTo>
                      <a:pt x="1973" y="1138"/>
                    </a:lnTo>
                    <a:lnTo>
                      <a:pt x="1975" y="1137"/>
                    </a:lnTo>
                    <a:lnTo>
                      <a:pt x="1977" y="1133"/>
                    </a:lnTo>
                    <a:lnTo>
                      <a:pt x="1977" y="1131"/>
                    </a:lnTo>
                    <a:lnTo>
                      <a:pt x="1979" y="1128"/>
                    </a:lnTo>
                    <a:lnTo>
                      <a:pt x="1979" y="1126"/>
                    </a:lnTo>
                    <a:lnTo>
                      <a:pt x="1980" y="1123"/>
                    </a:lnTo>
                    <a:lnTo>
                      <a:pt x="1980" y="1121"/>
                    </a:lnTo>
                    <a:lnTo>
                      <a:pt x="1982" y="1117"/>
                    </a:lnTo>
                    <a:lnTo>
                      <a:pt x="1982" y="1116"/>
                    </a:lnTo>
                    <a:lnTo>
                      <a:pt x="1982" y="1112"/>
                    </a:lnTo>
                    <a:lnTo>
                      <a:pt x="1984" y="1111"/>
                    </a:lnTo>
                    <a:lnTo>
                      <a:pt x="1984" y="1107"/>
                    </a:lnTo>
                    <a:lnTo>
                      <a:pt x="1986" y="1105"/>
                    </a:lnTo>
                    <a:lnTo>
                      <a:pt x="1986" y="1102"/>
                    </a:lnTo>
                    <a:lnTo>
                      <a:pt x="1986" y="1100"/>
                    </a:lnTo>
                    <a:lnTo>
                      <a:pt x="1987" y="1098"/>
                    </a:lnTo>
                    <a:lnTo>
                      <a:pt x="1987" y="1095"/>
                    </a:lnTo>
                    <a:lnTo>
                      <a:pt x="1987" y="1093"/>
                    </a:lnTo>
                    <a:lnTo>
                      <a:pt x="1987" y="1090"/>
                    </a:lnTo>
                    <a:lnTo>
                      <a:pt x="1989" y="1088"/>
                    </a:lnTo>
                    <a:lnTo>
                      <a:pt x="1989" y="1084"/>
                    </a:lnTo>
                    <a:lnTo>
                      <a:pt x="1989" y="1083"/>
                    </a:lnTo>
                    <a:lnTo>
                      <a:pt x="1991" y="1079"/>
                    </a:lnTo>
                    <a:lnTo>
                      <a:pt x="1991" y="1076"/>
                    </a:lnTo>
                    <a:lnTo>
                      <a:pt x="1991" y="1074"/>
                    </a:lnTo>
                    <a:lnTo>
                      <a:pt x="1991" y="1070"/>
                    </a:lnTo>
                    <a:lnTo>
                      <a:pt x="1991" y="1069"/>
                    </a:lnTo>
                    <a:lnTo>
                      <a:pt x="1991" y="1065"/>
                    </a:lnTo>
                    <a:lnTo>
                      <a:pt x="1991" y="1064"/>
                    </a:lnTo>
                    <a:lnTo>
                      <a:pt x="1991" y="1060"/>
                    </a:lnTo>
                    <a:lnTo>
                      <a:pt x="1991" y="1050"/>
                    </a:lnTo>
                    <a:moveTo>
                      <a:pt x="1054" y="1370"/>
                    </a:moveTo>
                    <a:lnTo>
                      <a:pt x="1058" y="1372"/>
                    </a:lnTo>
                    <a:lnTo>
                      <a:pt x="1061" y="1372"/>
                    </a:lnTo>
                    <a:lnTo>
                      <a:pt x="1065" y="1372"/>
                    </a:lnTo>
                    <a:lnTo>
                      <a:pt x="1068" y="1372"/>
                    </a:lnTo>
                    <a:lnTo>
                      <a:pt x="1072" y="1373"/>
                    </a:lnTo>
                    <a:lnTo>
                      <a:pt x="1075" y="1373"/>
                    </a:lnTo>
                    <a:lnTo>
                      <a:pt x="1079" y="1373"/>
                    </a:lnTo>
                    <a:lnTo>
                      <a:pt x="1082" y="1375"/>
                    </a:lnTo>
                    <a:lnTo>
                      <a:pt x="1086" y="1375"/>
                    </a:lnTo>
                    <a:lnTo>
                      <a:pt x="1089" y="1375"/>
                    </a:lnTo>
                    <a:lnTo>
                      <a:pt x="1093" y="1377"/>
                    </a:lnTo>
                    <a:lnTo>
                      <a:pt x="1096" y="1377"/>
                    </a:lnTo>
                    <a:lnTo>
                      <a:pt x="1100" y="1377"/>
                    </a:lnTo>
                    <a:lnTo>
                      <a:pt x="1101" y="1377"/>
                    </a:lnTo>
                    <a:lnTo>
                      <a:pt x="1105" y="1379"/>
                    </a:lnTo>
                    <a:lnTo>
                      <a:pt x="1108" y="1379"/>
                    </a:lnTo>
                    <a:lnTo>
                      <a:pt x="1112" y="1379"/>
                    </a:lnTo>
                    <a:lnTo>
                      <a:pt x="1115" y="1380"/>
                    </a:lnTo>
                    <a:lnTo>
                      <a:pt x="1119" y="1380"/>
                    </a:lnTo>
                    <a:lnTo>
                      <a:pt x="1122" y="1380"/>
                    </a:lnTo>
                    <a:lnTo>
                      <a:pt x="1126" y="1380"/>
                    </a:lnTo>
                    <a:lnTo>
                      <a:pt x="1129" y="1382"/>
                    </a:lnTo>
                    <a:lnTo>
                      <a:pt x="1133" y="1382"/>
                    </a:lnTo>
                    <a:lnTo>
                      <a:pt x="1136" y="1382"/>
                    </a:lnTo>
                    <a:lnTo>
                      <a:pt x="1140" y="1382"/>
                    </a:lnTo>
                    <a:lnTo>
                      <a:pt x="1143" y="1384"/>
                    </a:lnTo>
                    <a:lnTo>
                      <a:pt x="1147" y="1384"/>
                    </a:lnTo>
                    <a:lnTo>
                      <a:pt x="1150" y="1384"/>
                    </a:lnTo>
                    <a:lnTo>
                      <a:pt x="1154" y="1384"/>
                    </a:lnTo>
                    <a:lnTo>
                      <a:pt x="1157" y="1386"/>
                    </a:lnTo>
                    <a:lnTo>
                      <a:pt x="1161" y="1386"/>
                    </a:lnTo>
                    <a:lnTo>
                      <a:pt x="1164" y="1386"/>
                    </a:lnTo>
                    <a:lnTo>
                      <a:pt x="1166" y="1386"/>
                    </a:lnTo>
                    <a:lnTo>
                      <a:pt x="1169" y="1387"/>
                    </a:lnTo>
                    <a:lnTo>
                      <a:pt x="1173" y="1387"/>
                    </a:lnTo>
                    <a:lnTo>
                      <a:pt x="1176" y="1387"/>
                    </a:lnTo>
                    <a:lnTo>
                      <a:pt x="1180" y="1389"/>
                    </a:lnTo>
                    <a:lnTo>
                      <a:pt x="1183" y="1389"/>
                    </a:lnTo>
                    <a:lnTo>
                      <a:pt x="1187" y="1389"/>
                    </a:lnTo>
                    <a:lnTo>
                      <a:pt x="1190" y="1389"/>
                    </a:lnTo>
                    <a:moveTo>
                      <a:pt x="1422" y="1534"/>
                    </a:moveTo>
                    <a:lnTo>
                      <a:pt x="1425" y="1535"/>
                    </a:lnTo>
                    <a:lnTo>
                      <a:pt x="1429" y="1537"/>
                    </a:lnTo>
                    <a:lnTo>
                      <a:pt x="1430" y="1537"/>
                    </a:lnTo>
                    <a:lnTo>
                      <a:pt x="1434" y="1539"/>
                    </a:lnTo>
                    <a:lnTo>
                      <a:pt x="1437" y="1539"/>
                    </a:lnTo>
                    <a:lnTo>
                      <a:pt x="1441" y="1541"/>
                    </a:lnTo>
                    <a:lnTo>
                      <a:pt x="1444" y="1542"/>
                    </a:lnTo>
                    <a:lnTo>
                      <a:pt x="1448" y="1542"/>
                    </a:lnTo>
                    <a:lnTo>
                      <a:pt x="1450" y="1544"/>
                    </a:lnTo>
                    <a:lnTo>
                      <a:pt x="1453" y="1544"/>
                    </a:lnTo>
                    <a:lnTo>
                      <a:pt x="1457" y="1546"/>
                    </a:lnTo>
                    <a:lnTo>
                      <a:pt x="1460" y="1546"/>
                    </a:lnTo>
                    <a:lnTo>
                      <a:pt x="1463" y="1547"/>
                    </a:lnTo>
                    <a:lnTo>
                      <a:pt x="1467" y="1549"/>
                    </a:lnTo>
                    <a:lnTo>
                      <a:pt x="1469" y="1549"/>
                    </a:lnTo>
                    <a:lnTo>
                      <a:pt x="1472" y="1551"/>
                    </a:lnTo>
                    <a:lnTo>
                      <a:pt x="1476" y="1551"/>
                    </a:lnTo>
                    <a:lnTo>
                      <a:pt x="1479" y="1553"/>
                    </a:lnTo>
                    <a:lnTo>
                      <a:pt x="1483" y="1553"/>
                    </a:lnTo>
                    <a:lnTo>
                      <a:pt x="1486" y="1554"/>
                    </a:lnTo>
                    <a:lnTo>
                      <a:pt x="1490" y="1554"/>
                    </a:lnTo>
                    <a:lnTo>
                      <a:pt x="1491" y="1556"/>
                    </a:lnTo>
                    <a:lnTo>
                      <a:pt x="1495" y="1556"/>
                    </a:lnTo>
                    <a:lnTo>
                      <a:pt x="1498" y="1558"/>
                    </a:lnTo>
                    <a:lnTo>
                      <a:pt x="1502" y="1558"/>
                    </a:lnTo>
                    <a:lnTo>
                      <a:pt x="1505" y="1560"/>
                    </a:lnTo>
                    <a:lnTo>
                      <a:pt x="1509" y="1560"/>
                    </a:lnTo>
                    <a:lnTo>
                      <a:pt x="1512" y="1561"/>
                    </a:lnTo>
                    <a:lnTo>
                      <a:pt x="1516" y="1563"/>
                    </a:lnTo>
                    <a:lnTo>
                      <a:pt x="1517" y="1563"/>
                    </a:lnTo>
                    <a:lnTo>
                      <a:pt x="1521" y="1565"/>
                    </a:lnTo>
                    <a:lnTo>
                      <a:pt x="1524" y="1565"/>
                    </a:lnTo>
                    <a:lnTo>
                      <a:pt x="1528" y="1567"/>
                    </a:lnTo>
                    <a:lnTo>
                      <a:pt x="1531" y="1567"/>
                    </a:lnTo>
                    <a:lnTo>
                      <a:pt x="1535" y="1568"/>
                    </a:lnTo>
                    <a:lnTo>
                      <a:pt x="1538" y="1568"/>
                    </a:lnTo>
                    <a:lnTo>
                      <a:pt x="1540" y="1568"/>
                    </a:lnTo>
                    <a:lnTo>
                      <a:pt x="1544" y="1570"/>
                    </a:lnTo>
                    <a:lnTo>
                      <a:pt x="1547" y="1572"/>
                    </a:lnTo>
                    <a:lnTo>
                      <a:pt x="1550" y="1572"/>
                    </a:lnTo>
                    <a:lnTo>
                      <a:pt x="1554" y="1572"/>
                    </a:lnTo>
                    <a:lnTo>
                      <a:pt x="1557" y="1574"/>
                    </a:lnTo>
                    <a:lnTo>
                      <a:pt x="1561" y="1574"/>
                    </a:lnTo>
                    <a:lnTo>
                      <a:pt x="1564" y="1575"/>
                    </a:lnTo>
                    <a:lnTo>
                      <a:pt x="1568" y="1575"/>
                    </a:lnTo>
                    <a:lnTo>
                      <a:pt x="1570" y="1577"/>
                    </a:lnTo>
                    <a:lnTo>
                      <a:pt x="1573" y="1577"/>
                    </a:lnTo>
                    <a:lnTo>
                      <a:pt x="1577" y="1579"/>
                    </a:lnTo>
                    <a:lnTo>
                      <a:pt x="1580" y="1579"/>
                    </a:lnTo>
                    <a:lnTo>
                      <a:pt x="1584" y="1581"/>
                    </a:lnTo>
                    <a:lnTo>
                      <a:pt x="1587" y="1581"/>
                    </a:lnTo>
                    <a:lnTo>
                      <a:pt x="1591" y="1581"/>
                    </a:lnTo>
                    <a:lnTo>
                      <a:pt x="1594" y="1582"/>
                    </a:lnTo>
                    <a:lnTo>
                      <a:pt x="1597" y="1582"/>
                    </a:lnTo>
                    <a:lnTo>
                      <a:pt x="1601" y="1584"/>
                    </a:lnTo>
                    <a:lnTo>
                      <a:pt x="1603" y="1584"/>
                    </a:lnTo>
                    <a:lnTo>
                      <a:pt x="1606" y="1586"/>
                    </a:lnTo>
                    <a:lnTo>
                      <a:pt x="1610" y="1586"/>
                    </a:lnTo>
                    <a:lnTo>
                      <a:pt x="1613" y="1586"/>
                    </a:lnTo>
                    <a:lnTo>
                      <a:pt x="1617" y="1588"/>
                    </a:lnTo>
                    <a:lnTo>
                      <a:pt x="1620" y="1588"/>
                    </a:lnTo>
                    <a:lnTo>
                      <a:pt x="1624" y="1589"/>
                    </a:lnTo>
                    <a:lnTo>
                      <a:pt x="1627" y="1589"/>
                    </a:lnTo>
                    <a:lnTo>
                      <a:pt x="1631" y="1589"/>
                    </a:lnTo>
                    <a:lnTo>
                      <a:pt x="1634" y="1591"/>
                    </a:lnTo>
                    <a:lnTo>
                      <a:pt x="1638" y="1591"/>
                    </a:lnTo>
                    <a:lnTo>
                      <a:pt x="1641" y="1591"/>
                    </a:lnTo>
                    <a:lnTo>
                      <a:pt x="1644" y="1593"/>
                    </a:lnTo>
                    <a:lnTo>
                      <a:pt x="1646" y="1593"/>
                    </a:lnTo>
                    <a:lnTo>
                      <a:pt x="1650" y="1594"/>
                    </a:lnTo>
                    <a:lnTo>
                      <a:pt x="1653" y="1594"/>
                    </a:lnTo>
                    <a:lnTo>
                      <a:pt x="1657" y="1594"/>
                    </a:lnTo>
                    <a:lnTo>
                      <a:pt x="1660" y="1596"/>
                    </a:lnTo>
                    <a:lnTo>
                      <a:pt x="1664" y="1596"/>
                    </a:lnTo>
                    <a:lnTo>
                      <a:pt x="1667" y="1596"/>
                    </a:lnTo>
                    <a:lnTo>
                      <a:pt x="1671" y="1598"/>
                    </a:lnTo>
                    <a:lnTo>
                      <a:pt x="1674" y="1598"/>
                    </a:lnTo>
                    <a:lnTo>
                      <a:pt x="1678" y="1598"/>
                    </a:lnTo>
                    <a:lnTo>
                      <a:pt x="1681" y="1600"/>
                    </a:lnTo>
                    <a:lnTo>
                      <a:pt x="1685" y="1600"/>
                    </a:lnTo>
                    <a:lnTo>
                      <a:pt x="1688" y="1600"/>
                    </a:lnTo>
                    <a:lnTo>
                      <a:pt x="1691" y="1601"/>
                    </a:lnTo>
                    <a:lnTo>
                      <a:pt x="1693" y="1601"/>
                    </a:lnTo>
                    <a:lnTo>
                      <a:pt x="1697" y="1601"/>
                    </a:lnTo>
                    <a:lnTo>
                      <a:pt x="1700" y="1603"/>
                    </a:lnTo>
                    <a:lnTo>
                      <a:pt x="1704" y="1603"/>
                    </a:lnTo>
                    <a:lnTo>
                      <a:pt x="1707" y="1603"/>
                    </a:lnTo>
                    <a:lnTo>
                      <a:pt x="1711" y="1605"/>
                    </a:lnTo>
                    <a:lnTo>
                      <a:pt x="1714" y="1605"/>
                    </a:lnTo>
                    <a:lnTo>
                      <a:pt x="1718" y="1605"/>
                    </a:lnTo>
                    <a:lnTo>
                      <a:pt x="1721" y="1605"/>
                    </a:lnTo>
                    <a:lnTo>
                      <a:pt x="1725" y="1607"/>
                    </a:lnTo>
                    <a:lnTo>
                      <a:pt x="1728" y="1607"/>
                    </a:lnTo>
                    <a:lnTo>
                      <a:pt x="1731" y="1607"/>
                    </a:lnTo>
                    <a:lnTo>
                      <a:pt x="1735" y="1608"/>
                    </a:lnTo>
                    <a:lnTo>
                      <a:pt x="1738" y="1608"/>
                    </a:lnTo>
                    <a:lnTo>
                      <a:pt x="1742" y="1608"/>
                    </a:lnTo>
                    <a:lnTo>
                      <a:pt x="1745" y="1608"/>
                    </a:lnTo>
                    <a:lnTo>
                      <a:pt x="1749" y="1610"/>
                    </a:lnTo>
                    <a:lnTo>
                      <a:pt x="1752" y="1610"/>
                    </a:lnTo>
                    <a:lnTo>
                      <a:pt x="1756" y="1610"/>
                    </a:lnTo>
                    <a:lnTo>
                      <a:pt x="1759" y="1610"/>
                    </a:lnTo>
                    <a:lnTo>
                      <a:pt x="1763" y="1612"/>
                    </a:lnTo>
                    <a:lnTo>
                      <a:pt x="1765" y="1612"/>
                    </a:lnTo>
                    <a:lnTo>
                      <a:pt x="1768" y="1612"/>
                    </a:lnTo>
                    <a:lnTo>
                      <a:pt x="1772" y="1612"/>
                    </a:lnTo>
                    <a:lnTo>
                      <a:pt x="1775" y="1614"/>
                    </a:lnTo>
                    <a:lnTo>
                      <a:pt x="1778" y="1614"/>
                    </a:lnTo>
                    <a:lnTo>
                      <a:pt x="1782" y="1614"/>
                    </a:lnTo>
                    <a:lnTo>
                      <a:pt x="1785" y="1614"/>
                    </a:lnTo>
                    <a:lnTo>
                      <a:pt x="1789" y="1614"/>
                    </a:lnTo>
                    <a:lnTo>
                      <a:pt x="1792" y="1615"/>
                    </a:lnTo>
                    <a:lnTo>
                      <a:pt x="1796" y="1615"/>
                    </a:lnTo>
                    <a:lnTo>
                      <a:pt x="1799" y="1615"/>
                    </a:lnTo>
                    <a:lnTo>
                      <a:pt x="1803" y="1615"/>
                    </a:lnTo>
                    <a:lnTo>
                      <a:pt x="1806" y="1615"/>
                    </a:lnTo>
                    <a:lnTo>
                      <a:pt x="1810" y="1617"/>
                    </a:lnTo>
                    <a:lnTo>
                      <a:pt x="1813" y="1617"/>
                    </a:lnTo>
                    <a:lnTo>
                      <a:pt x="1817" y="1617"/>
                    </a:lnTo>
                    <a:lnTo>
                      <a:pt x="1820" y="1617"/>
                    </a:lnTo>
                    <a:lnTo>
                      <a:pt x="1824" y="1617"/>
                    </a:lnTo>
                    <a:lnTo>
                      <a:pt x="1827" y="1617"/>
                    </a:lnTo>
                    <a:lnTo>
                      <a:pt x="1831" y="1619"/>
                    </a:lnTo>
                    <a:lnTo>
                      <a:pt x="1834" y="1619"/>
                    </a:lnTo>
                    <a:lnTo>
                      <a:pt x="1838" y="1619"/>
                    </a:lnTo>
                    <a:lnTo>
                      <a:pt x="1841" y="1619"/>
                    </a:lnTo>
                    <a:lnTo>
                      <a:pt x="1845" y="1619"/>
                    </a:lnTo>
                    <a:lnTo>
                      <a:pt x="1848" y="1619"/>
                    </a:lnTo>
                    <a:lnTo>
                      <a:pt x="1852" y="1619"/>
                    </a:lnTo>
                    <a:lnTo>
                      <a:pt x="1855" y="1621"/>
                    </a:lnTo>
                    <a:lnTo>
                      <a:pt x="1859" y="1621"/>
                    </a:lnTo>
                    <a:lnTo>
                      <a:pt x="1862" y="1621"/>
                    </a:lnTo>
                    <a:lnTo>
                      <a:pt x="1866" y="1621"/>
                    </a:lnTo>
                    <a:lnTo>
                      <a:pt x="1869" y="1621"/>
                    </a:lnTo>
                    <a:lnTo>
                      <a:pt x="1872" y="1621"/>
                    </a:lnTo>
                    <a:lnTo>
                      <a:pt x="1876" y="1621"/>
                    </a:lnTo>
                    <a:lnTo>
                      <a:pt x="1879" y="1622"/>
                    </a:lnTo>
                    <a:lnTo>
                      <a:pt x="1883" y="1622"/>
                    </a:lnTo>
                    <a:lnTo>
                      <a:pt x="1886" y="1622"/>
                    </a:lnTo>
                    <a:lnTo>
                      <a:pt x="1890" y="1622"/>
                    </a:lnTo>
                    <a:lnTo>
                      <a:pt x="1892" y="1622"/>
                    </a:lnTo>
                    <a:lnTo>
                      <a:pt x="1895" y="1622"/>
                    </a:lnTo>
                    <a:lnTo>
                      <a:pt x="1899" y="1622"/>
                    </a:lnTo>
                    <a:lnTo>
                      <a:pt x="1904" y="1622"/>
                    </a:lnTo>
                    <a:lnTo>
                      <a:pt x="1906" y="1622"/>
                    </a:lnTo>
                    <a:lnTo>
                      <a:pt x="1909" y="1622"/>
                    </a:lnTo>
                    <a:lnTo>
                      <a:pt x="1913" y="1622"/>
                    </a:lnTo>
                    <a:lnTo>
                      <a:pt x="1916" y="1622"/>
                    </a:lnTo>
                    <a:lnTo>
                      <a:pt x="1919" y="1622"/>
                    </a:lnTo>
                    <a:lnTo>
                      <a:pt x="1923" y="1624"/>
                    </a:lnTo>
                    <a:lnTo>
                      <a:pt x="1926" y="1624"/>
                    </a:lnTo>
                    <a:lnTo>
                      <a:pt x="1930" y="1624"/>
                    </a:lnTo>
                    <a:lnTo>
                      <a:pt x="1933" y="1624"/>
                    </a:lnTo>
                    <a:lnTo>
                      <a:pt x="1937" y="1624"/>
                    </a:lnTo>
                    <a:lnTo>
                      <a:pt x="1940" y="1624"/>
                    </a:lnTo>
                    <a:lnTo>
                      <a:pt x="1944" y="1624"/>
                    </a:lnTo>
                    <a:lnTo>
                      <a:pt x="1947" y="1624"/>
                    </a:lnTo>
                    <a:lnTo>
                      <a:pt x="1951" y="1624"/>
                    </a:lnTo>
                    <a:lnTo>
                      <a:pt x="1954" y="1624"/>
                    </a:lnTo>
                    <a:lnTo>
                      <a:pt x="1958" y="1624"/>
                    </a:lnTo>
                    <a:lnTo>
                      <a:pt x="1961" y="1624"/>
                    </a:lnTo>
                    <a:lnTo>
                      <a:pt x="1965" y="1624"/>
                    </a:lnTo>
                    <a:lnTo>
                      <a:pt x="1968" y="1624"/>
                    </a:lnTo>
                    <a:lnTo>
                      <a:pt x="1972" y="1624"/>
                    </a:lnTo>
                    <a:lnTo>
                      <a:pt x="1975" y="1624"/>
                    </a:lnTo>
                    <a:lnTo>
                      <a:pt x="1979" y="1624"/>
                    </a:lnTo>
                    <a:lnTo>
                      <a:pt x="1982" y="1624"/>
                    </a:lnTo>
                    <a:lnTo>
                      <a:pt x="1986" y="1624"/>
                    </a:lnTo>
                    <a:lnTo>
                      <a:pt x="1989" y="1624"/>
                    </a:lnTo>
                    <a:lnTo>
                      <a:pt x="1993" y="1624"/>
                    </a:lnTo>
                    <a:lnTo>
                      <a:pt x="1996" y="1624"/>
                    </a:lnTo>
                    <a:lnTo>
                      <a:pt x="2000" y="1624"/>
                    </a:lnTo>
                    <a:lnTo>
                      <a:pt x="2003" y="1624"/>
                    </a:lnTo>
                    <a:lnTo>
                      <a:pt x="2006" y="1624"/>
                    </a:lnTo>
                    <a:lnTo>
                      <a:pt x="2010" y="1622"/>
                    </a:lnTo>
                    <a:lnTo>
                      <a:pt x="2013" y="1622"/>
                    </a:lnTo>
                    <a:lnTo>
                      <a:pt x="2017" y="1622"/>
                    </a:lnTo>
                    <a:lnTo>
                      <a:pt x="2020" y="1622"/>
                    </a:lnTo>
                    <a:lnTo>
                      <a:pt x="2024" y="1622"/>
                    </a:lnTo>
                    <a:lnTo>
                      <a:pt x="2027" y="1622"/>
                    </a:lnTo>
                    <a:lnTo>
                      <a:pt x="2031" y="1622"/>
                    </a:lnTo>
                    <a:lnTo>
                      <a:pt x="2034" y="1622"/>
                    </a:lnTo>
                    <a:lnTo>
                      <a:pt x="2038" y="1622"/>
                    </a:lnTo>
                    <a:lnTo>
                      <a:pt x="2041" y="1622"/>
                    </a:lnTo>
                    <a:lnTo>
                      <a:pt x="2045" y="1622"/>
                    </a:lnTo>
                    <a:lnTo>
                      <a:pt x="2048" y="1622"/>
                    </a:lnTo>
                    <a:lnTo>
                      <a:pt x="2052" y="1622"/>
                    </a:lnTo>
                    <a:lnTo>
                      <a:pt x="2055" y="1621"/>
                    </a:lnTo>
                    <a:lnTo>
                      <a:pt x="2059" y="1621"/>
                    </a:lnTo>
                    <a:lnTo>
                      <a:pt x="2062" y="1621"/>
                    </a:lnTo>
                    <a:lnTo>
                      <a:pt x="2066" y="1621"/>
                    </a:lnTo>
                    <a:lnTo>
                      <a:pt x="2069" y="1621"/>
                    </a:lnTo>
                    <a:lnTo>
                      <a:pt x="2073" y="1621"/>
                    </a:lnTo>
                    <a:lnTo>
                      <a:pt x="2076" y="1621"/>
                    </a:lnTo>
                    <a:lnTo>
                      <a:pt x="2080" y="1619"/>
                    </a:lnTo>
                    <a:lnTo>
                      <a:pt x="2083" y="1619"/>
                    </a:lnTo>
                    <a:lnTo>
                      <a:pt x="2087" y="1619"/>
                    </a:lnTo>
                    <a:lnTo>
                      <a:pt x="2088" y="1619"/>
                    </a:lnTo>
                    <a:lnTo>
                      <a:pt x="2092" y="1619"/>
                    </a:lnTo>
                    <a:lnTo>
                      <a:pt x="2097" y="1619"/>
                    </a:lnTo>
                    <a:lnTo>
                      <a:pt x="2100" y="1617"/>
                    </a:lnTo>
                    <a:lnTo>
                      <a:pt x="2102" y="1617"/>
                    </a:lnTo>
                    <a:lnTo>
                      <a:pt x="2106" y="1617"/>
                    </a:lnTo>
                    <a:lnTo>
                      <a:pt x="2109" y="1617"/>
                    </a:lnTo>
                    <a:lnTo>
                      <a:pt x="2113" y="1617"/>
                    </a:lnTo>
                    <a:lnTo>
                      <a:pt x="2116" y="1617"/>
                    </a:lnTo>
                    <a:lnTo>
                      <a:pt x="2120" y="1615"/>
                    </a:lnTo>
                    <a:lnTo>
                      <a:pt x="2123" y="1615"/>
                    </a:lnTo>
                    <a:lnTo>
                      <a:pt x="2127" y="1615"/>
                    </a:lnTo>
                    <a:lnTo>
                      <a:pt x="2130" y="1615"/>
                    </a:lnTo>
                    <a:lnTo>
                      <a:pt x="2134" y="1614"/>
                    </a:lnTo>
                    <a:lnTo>
                      <a:pt x="2137" y="1614"/>
                    </a:lnTo>
                    <a:lnTo>
                      <a:pt x="2141" y="1614"/>
                    </a:lnTo>
                    <a:lnTo>
                      <a:pt x="2144" y="1614"/>
                    </a:lnTo>
                    <a:lnTo>
                      <a:pt x="2147" y="1614"/>
                    </a:lnTo>
                    <a:lnTo>
                      <a:pt x="2151" y="1612"/>
                    </a:lnTo>
                    <a:lnTo>
                      <a:pt x="2154" y="1612"/>
                    </a:lnTo>
                    <a:lnTo>
                      <a:pt x="2158" y="1612"/>
                    </a:lnTo>
                    <a:lnTo>
                      <a:pt x="2161" y="1612"/>
                    </a:lnTo>
                    <a:lnTo>
                      <a:pt x="2165" y="1610"/>
                    </a:lnTo>
                    <a:lnTo>
                      <a:pt x="2168" y="1610"/>
                    </a:lnTo>
                    <a:lnTo>
                      <a:pt x="2172" y="1610"/>
                    </a:lnTo>
                    <a:lnTo>
                      <a:pt x="2175" y="1610"/>
                    </a:lnTo>
                    <a:lnTo>
                      <a:pt x="2179" y="1608"/>
                    </a:lnTo>
                    <a:lnTo>
                      <a:pt x="2182" y="1608"/>
                    </a:lnTo>
                    <a:lnTo>
                      <a:pt x="2184" y="1608"/>
                    </a:lnTo>
                    <a:lnTo>
                      <a:pt x="2188" y="1607"/>
                    </a:lnTo>
                    <a:lnTo>
                      <a:pt x="2191" y="1607"/>
                    </a:lnTo>
                    <a:moveTo>
                      <a:pt x="1053" y="1375"/>
                    </a:moveTo>
                    <a:lnTo>
                      <a:pt x="1056" y="1375"/>
                    </a:lnTo>
                    <a:lnTo>
                      <a:pt x="1058" y="1377"/>
                    </a:lnTo>
                    <a:lnTo>
                      <a:pt x="1061" y="1379"/>
                    </a:lnTo>
                    <a:lnTo>
                      <a:pt x="1065" y="1380"/>
                    </a:lnTo>
                    <a:lnTo>
                      <a:pt x="1067" y="1382"/>
                    </a:lnTo>
                    <a:lnTo>
                      <a:pt x="1070" y="1384"/>
                    </a:lnTo>
                    <a:lnTo>
                      <a:pt x="1074" y="1384"/>
                    </a:lnTo>
                    <a:lnTo>
                      <a:pt x="1075" y="1386"/>
                    </a:lnTo>
                    <a:lnTo>
                      <a:pt x="1079" y="1387"/>
                    </a:lnTo>
                    <a:lnTo>
                      <a:pt x="1081" y="1389"/>
                    </a:lnTo>
                    <a:lnTo>
                      <a:pt x="1084" y="1391"/>
                    </a:lnTo>
                    <a:lnTo>
                      <a:pt x="1088" y="1391"/>
                    </a:lnTo>
                    <a:lnTo>
                      <a:pt x="1089" y="1393"/>
                    </a:lnTo>
                    <a:lnTo>
                      <a:pt x="1093" y="1394"/>
                    </a:lnTo>
                    <a:lnTo>
                      <a:pt x="1096" y="1396"/>
                    </a:lnTo>
                    <a:lnTo>
                      <a:pt x="1098" y="1398"/>
                    </a:lnTo>
                    <a:lnTo>
                      <a:pt x="1101" y="1400"/>
                    </a:lnTo>
                    <a:lnTo>
                      <a:pt x="1105" y="1400"/>
                    </a:lnTo>
                    <a:lnTo>
                      <a:pt x="1107" y="1401"/>
                    </a:lnTo>
                    <a:lnTo>
                      <a:pt x="1110" y="1403"/>
                    </a:lnTo>
                    <a:lnTo>
                      <a:pt x="1114" y="1405"/>
                    </a:lnTo>
                    <a:lnTo>
                      <a:pt x="1115" y="1406"/>
                    </a:lnTo>
                    <a:lnTo>
                      <a:pt x="1119" y="1408"/>
                    </a:lnTo>
                    <a:lnTo>
                      <a:pt x="1122" y="1408"/>
                    </a:lnTo>
                    <a:lnTo>
                      <a:pt x="1124" y="1410"/>
                    </a:lnTo>
                    <a:lnTo>
                      <a:pt x="1128" y="1412"/>
                    </a:lnTo>
                    <a:lnTo>
                      <a:pt x="1131" y="1413"/>
                    </a:lnTo>
                    <a:lnTo>
                      <a:pt x="1133" y="1415"/>
                    </a:lnTo>
                    <a:lnTo>
                      <a:pt x="1136" y="1417"/>
                    </a:lnTo>
                    <a:lnTo>
                      <a:pt x="1140" y="1417"/>
                    </a:lnTo>
                    <a:lnTo>
                      <a:pt x="1141" y="1419"/>
                    </a:lnTo>
                    <a:lnTo>
                      <a:pt x="1145" y="1420"/>
                    </a:lnTo>
                    <a:lnTo>
                      <a:pt x="1148" y="1422"/>
                    </a:lnTo>
                    <a:lnTo>
                      <a:pt x="1150" y="1424"/>
                    </a:lnTo>
                    <a:lnTo>
                      <a:pt x="1154" y="1426"/>
                    </a:lnTo>
                    <a:lnTo>
                      <a:pt x="1157" y="1426"/>
                    </a:lnTo>
                    <a:lnTo>
                      <a:pt x="1159" y="1427"/>
                    </a:lnTo>
                    <a:lnTo>
                      <a:pt x="1162" y="1429"/>
                    </a:lnTo>
                    <a:lnTo>
                      <a:pt x="1166" y="1431"/>
                    </a:lnTo>
                    <a:lnTo>
                      <a:pt x="1169" y="1431"/>
                    </a:lnTo>
                    <a:lnTo>
                      <a:pt x="1171" y="1433"/>
                    </a:lnTo>
                    <a:lnTo>
                      <a:pt x="1175" y="1434"/>
                    </a:lnTo>
                    <a:lnTo>
                      <a:pt x="1178" y="1436"/>
                    </a:lnTo>
                    <a:lnTo>
                      <a:pt x="1180" y="1438"/>
                    </a:lnTo>
                    <a:lnTo>
                      <a:pt x="1183" y="1440"/>
                    </a:lnTo>
                    <a:lnTo>
                      <a:pt x="1187" y="1440"/>
                    </a:lnTo>
                    <a:lnTo>
                      <a:pt x="1188" y="1441"/>
                    </a:lnTo>
                    <a:lnTo>
                      <a:pt x="1192" y="1443"/>
                    </a:lnTo>
                    <a:lnTo>
                      <a:pt x="1195" y="1445"/>
                    </a:lnTo>
                    <a:lnTo>
                      <a:pt x="1197" y="1445"/>
                    </a:lnTo>
                    <a:lnTo>
                      <a:pt x="1201" y="1447"/>
                    </a:lnTo>
                    <a:lnTo>
                      <a:pt x="1204" y="1448"/>
                    </a:lnTo>
                    <a:lnTo>
                      <a:pt x="1206" y="1450"/>
                    </a:lnTo>
                    <a:lnTo>
                      <a:pt x="1209" y="1450"/>
                    </a:lnTo>
                    <a:lnTo>
                      <a:pt x="1213" y="1452"/>
                    </a:lnTo>
                    <a:lnTo>
                      <a:pt x="1216" y="1453"/>
                    </a:lnTo>
                    <a:lnTo>
                      <a:pt x="1218" y="1455"/>
                    </a:lnTo>
                    <a:lnTo>
                      <a:pt x="1222" y="1457"/>
                    </a:lnTo>
                    <a:lnTo>
                      <a:pt x="1225" y="1457"/>
                    </a:lnTo>
                    <a:lnTo>
                      <a:pt x="1229" y="1459"/>
                    </a:lnTo>
                    <a:lnTo>
                      <a:pt x="1230" y="1460"/>
                    </a:lnTo>
                    <a:lnTo>
                      <a:pt x="1234" y="1462"/>
                    </a:lnTo>
                    <a:lnTo>
                      <a:pt x="1237" y="1462"/>
                    </a:lnTo>
                    <a:lnTo>
                      <a:pt x="1239" y="1464"/>
                    </a:lnTo>
                    <a:lnTo>
                      <a:pt x="1242" y="1466"/>
                    </a:lnTo>
                    <a:lnTo>
                      <a:pt x="1246" y="1467"/>
                    </a:lnTo>
                    <a:lnTo>
                      <a:pt x="1248" y="1467"/>
                    </a:lnTo>
                    <a:lnTo>
                      <a:pt x="1251" y="1469"/>
                    </a:lnTo>
                    <a:lnTo>
                      <a:pt x="1255" y="1471"/>
                    </a:lnTo>
                    <a:lnTo>
                      <a:pt x="1258" y="1473"/>
                    </a:lnTo>
                    <a:lnTo>
                      <a:pt x="1260" y="1473"/>
                    </a:lnTo>
                    <a:lnTo>
                      <a:pt x="1263" y="1474"/>
                    </a:lnTo>
                    <a:lnTo>
                      <a:pt x="1267" y="1476"/>
                    </a:lnTo>
                    <a:lnTo>
                      <a:pt x="1270" y="1478"/>
                    </a:lnTo>
                    <a:lnTo>
                      <a:pt x="1272" y="1478"/>
                    </a:lnTo>
                    <a:lnTo>
                      <a:pt x="1275" y="1480"/>
                    </a:lnTo>
                    <a:lnTo>
                      <a:pt x="1279" y="1481"/>
                    </a:lnTo>
                    <a:lnTo>
                      <a:pt x="1282" y="1481"/>
                    </a:lnTo>
                    <a:lnTo>
                      <a:pt x="1284" y="1483"/>
                    </a:lnTo>
                    <a:lnTo>
                      <a:pt x="1288" y="1485"/>
                    </a:lnTo>
                    <a:lnTo>
                      <a:pt x="1291" y="1487"/>
                    </a:lnTo>
                    <a:lnTo>
                      <a:pt x="1295" y="1487"/>
                    </a:lnTo>
                    <a:lnTo>
                      <a:pt x="1296" y="1488"/>
                    </a:lnTo>
                    <a:lnTo>
                      <a:pt x="1300" y="1490"/>
                    </a:lnTo>
                    <a:lnTo>
                      <a:pt x="1303" y="1492"/>
                    </a:lnTo>
                    <a:lnTo>
                      <a:pt x="1307" y="1492"/>
                    </a:lnTo>
                    <a:lnTo>
                      <a:pt x="1309" y="1494"/>
                    </a:lnTo>
                    <a:lnTo>
                      <a:pt x="1312" y="1495"/>
                    </a:lnTo>
                    <a:lnTo>
                      <a:pt x="1316" y="1495"/>
                    </a:lnTo>
                    <a:lnTo>
                      <a:pt x="1319" y="1497"/>
                    </a:lnTo>
                    <a:lnTo>
                      <a:pt x="1321" y="1499"/>
                    </a:lnTo>
                    <a:lnTo>
                      <a:pt x="1324" y="1499"/>
                    </a:lnTo>
                    <a:lnTo>
                      <a:pt x="1328" y="1500"/>
                    </a:lnTo>
                    <a:lnTo>
                      <a:pt x="1331" y="1502"/>
                    </a:lnTo>
                    <a:lnTo>
                      <a:pt x="1335" y="1504"/>
                    </a:lnTo>
                    <a:lnTo>
                      <a:pt x="1336" y="1504"/>
                    </a:lnTo>
                    <a:lnTo>
                      <a:pt x="1340" y="1506"/>
                    </a:lnTo>
                    <a:lnTo>
                      <a:pt x="1343" y="1507"/>
                    </a:lnTo>
                    <a:lnTo>
                      <a:pt x="1347" y="1507"/>
                    </a:lnTo>
                    <a:lnTo>
                      <a:pt x="1349" y="1509"/>
                    </a:lnTo>
                    <a:lnTo>
                      <a:pt x="1352" y="1509"/>
                    </a:lnTo>
                    <a:lnTo>
                      <a:pt x="1356" y="1511"/>
                    </a:lnTo>
                    <a:lnTo>
                      <a:pt x="1359" y="1513"/>
                    </a:lnTo>
                    <a:lnTo>
                      <a:pt x="1363" y="1513"/>
                    </a:lnTo>
                    <a:lnTo>
                      <a:pt x="1364" y="1514"/>
                    </a:lnTo>
                    <a:lnTo>
                      <a:pt x="1368" y="1516"/>
                    </a:lnTo>
                    <a:lnTo>
                      <a:pt x="1371" y="1516"/>
                    </a:lnTo>
                    <a:lnTo>
                      <a:pt x="1375" y="1518"/>
                    </a:lnTo>
                    <a:lnTo>
                      <a:pt x="1376" y="1520"/>
                    </a:lnTo>
                    <a:lnTo>
                      <a:pt x="1380" y="1520"/>
                    </a:lnTo>
                    <a:lnTo>
                      <a:pt x="1383" y="1521"/>
                    </a:lnTo>
                    <a:lnTo>
                      <a:pt x="1387" y="1523"/>
                    </a:lnTo>
                    <a:lnTo>
                      <a:pt x="1390" y="1523"/>
                    </a:lnTo>
                    <a:lnTo>
                      <a:pt x="1394" y="1525"/>
                    </a:lnTo>
                    <a:lnTo>
                      <a:pt x="1396" y="1527"/>
                    </a:lnTo>
                    <a:lnTo>
                      <a:pt x="1399" y="1527"/>
                    </a:lnTo>
                    <a:lnTo>
                      <a:pt x="1403" y="1528"/>
                    </a:lnTo>
                    <a:lnTo>
                      <a:pt x="1406" y="1528"/>
                    </a:lnTo>
                    <a:lnTo>
                      <a:pt x="1410" y="1530"/>
                    </a:lnTo>
                    <a:lnTo>
                      <a:pt x="1411" y="1532"/>
                    </a:lnTo>
                    <a:lnTo>
                      <a:pt x="1415" y="1532"/>
                    </a:lnTo>
                    <a:lnTo>
                      <a:pt x="1418" y="1534"/>
                    </a:lnTo>
                    <a:lnTo>
                      <a:pt x="1422" y="1534"/>
                    </a:lnTo>
                    <a:moveTo>
                      <a:pt x="1229" y="1570"/>
                    </a:moveTo>
                    <a:lnTo>
                      <a:pt x="1230" y="1574"/>
                    </a:lnTo>
                    <a:lnTo>
                      <a:pt x="1232" y="1575"/>
                    </a:lnTo>
                    <a:lnTo>
                      <a:pt x="1234" y="1577"/>
                    </a:lnTo>
                    <a:lnTo>
                      <a:pt x="1237" y="1579"/>
                    </a:lnTo>
                    <a:lnTo>
                      <a:pt x="1239" y="1581"/>
                    </a:lnTo>
                    <a:lnTo>
                      <a:pt x="1241" y="1582"/>
                    </a:lnTo>
                    <a:lnTo>
                      <a:pt x="1242" y="1586"/>
                    </a:lnTo>
                    <a:lnTo>
                      <a:pt x="1246" y="1588"/>
                    </a:lnTo>
                    <a:lnTo>
                      <a:pt x="1248" y="1589"/>
                    </a:lnTo>
                    <a:lnTo>
                      <a:pt x="1249" y="1591"/>
                    </a:lnTo>
                    <a:lnTo>
                      <a:pt x="1251" y="1594"/>
                    </a:lnTo>
                    <a:lnTo>
                      <a:pt x="1253" y="1596"/>
                    </a:lnTo>
                    <a:lnTo>
                      <a:pt x="1256" y="1598"/>
                    </a:lnTo>
                    <a:lnTo>
                      <a:pt x="1258" y="1600"/>
                    </a:lnTo>
                    <a:lnTo>
                      <a:pt x="1260" y="1601"/>
                    </a:lnTo>
                    <a:lnTo>
                      <a:pt x="1262" y="1603"/>
                    </a:lnTo>
                    <a:lnTo>
                      <a:pt x="1265" y="1607"/>
                    </a:lnTo>
                    <a:lnTo>
                      <a:pt x="1267" y="1608"/>
                    </a:lnTo>
                    <a:lnTo>
                      <a:pt x="1269" y="1610"/>
                    </a:lnTo>
                    <a:lnTo>
                      <a:pt x="1270" y="1612"/>
                    </a:lnTo>
                    <a:lnTo>
                      <a:pt x="1274" y="1614"/>
                    </a:lnTo>
                    <a:lnTo>
                      <a:pt x="1275" y="1617"/>
                    </a:lnTo>
                    <a:lnTo>
                      <a:pt x="1277" y="1619"/>
                    </a:lnTo>
                    <a:lnTo>
                      <a:pt x="1279" y="1621"/>
                    </a:lnTo>
                    <a:lnTo>
                      <a:pt x="1282" y="1622"/>
                    </a:lnTo>
                    <a:lnTo>
                      <a:pt x="1284" y="1624"/>
                    </a:lnTo>
                    <a:lnTo>
                      <a:pt x="1286" y="1626"/>
                    </a:lnTo>
                    <a:lnTo>
                      <a:pt x="1288" y="1629"/>
                    </a:lnTo>
                    <a:lnTo>
                      <a:pt x="1289" y="1631"/>
                    </a:lnTo>
                    <a:lnTo>
                      <a:pt x="1293" y="1633"/>
                    </a:lnTo>
                    <a:lnTo>
                      <a:pt x="1295" y="1635"/>
                    </a:lnTo>
                    <a:lnTo>
                      <a:pt x="1296" y="1636"/>
                    </a:lnTo>
                    <a:lnTo>
                      <a:pt x="1298" y="1640"/>
                    </a:lnTo>
                    <a:lnTo>
                      <a:pt x="1302" y="1641"/>
                    </a:lnTo>
                    <a:lnTo>
                      <a:pt x="1303" y="1643"/>
                    </a:lnTo>
                    <a:lnTo>
                      <a:pt x="1305" y="1645"/>
                    </a:lnTo>
                    <a:lnTo>
                      <a:pt x="1307" y="1647"/>
                    </a:lnTo>
                    <a:lnTo>
                      <a:pt x="1310" y="1648"/>
                    </a:lnTo>
                    <a:lnTo>
                      <a:pt x="1312" y="1650"/>
                    </a:lnTo>
                    <a:lnTo>
                      <a:pt x="1314" y="1654"/>
                    </a:lnTo>
                    <a:lnTo>
                      <a:pt x="1317" y="1655"/>
                    </a:lnTo>
                    <a:lnTo>
                      <a:pt x="1319" y="1657"/>
                    </a:lnTo>
                    <a:lnTo>
                      <a:pt x="1321" y="1659"/>
                    </a:lnTo>
                    <a:lnTo>
                      <a:pt x="1322" y="1661"/>
                    </a:lnTo>
                    <a:lnTo>
                      <a:pt x="1326" y="1662"/>
                    </a:lnTo>
                    <a:lnTo>
                      <a:pt x="1328" y="1666"/>
                    </a:lnTo>
                    <a:lnTo>
                      <a:pt x="1329" y="1668"/>
                    </a:lnTo>
                    <a:lnTo>
                      <a:pt x="1333" y="1669"/>
                    </a:lnTo>
                    <a:lnTo>
                      <a:pt x="1335" y="1671"/>
                    </a:lnTo>
                    <a:lnTo>
                      <a:pt x="1336" y="1673"/>
                    </a:lnTo>
                    <a:lnTo>
                      <a:pt x="1338" y="1675"/>
                    </a:lnTo>
                    <a:lnTo>
                      <a:pt x="1342" y="1678"/>
                    </a:lnTo>
                    <a:lnTo>
                      <a:pt x="1343" y="1680"/>
                    </a:lnTo>
                    <a:lnTo>
                      <a:pt x="1345" y="1682"/>
                    </a:lnTo>
                    <a:lnTo>
                      <a:pt x="1349" y="1683"/>
                    </a:lnTo>
                    <a:lnTo>
                      <a:pt x="1350" y="1685"/>
                    </a:lnTo>
                    <a:lnTo>
                      <a:pt x="1352" y="1687"/>
                    </a:lnTo>
                    <a:lnTo>
                      <a:pt x="1356" y="1689"/>
                    </a:lnTo>
                    <a:lnTo>
                      <a:pt x="1357" y="1692"/>
                    </a:lnTo>
                    <a:lnTo>
                      <a:pt x="1359" y="1694"/>
                    </a:lnTo>
                    <a:lnTo>
                      <a:pt x="1361" y="1695"/>
                    </a:lnTo>
                    <a:lnTo>
                      <a:pt x="1364" y="1697"/>
                    </a:lnTo>
                    <a:lnTo>
                      <a:pt x="1366" y="1699"/>
                    </a:lnTo>
                    <a:lnTo>
                      <a:pt x="1368" y="1701"/>
                    </a:lnTo>
                    <a:lnTo>
                      <a:pt x="1371" y="1702"/>
                    </a:lnTo>
                    <a:lnTo>
                      <a:pt x="1373" y="1704"/>
                    </a:lnTo>
                    <a:lnTo>
                      <a:pt x="1375" y="1708"/>
                    </a:lnTo>
                    <a:lnTo>
                      <a:pt x="1378" y="1709"/>
                    </a:lnTo>
                    <a:lnTo>
                      <a:pt x="1380" y="1711"/>
                    </a:lnTo>
                    <a:lnTo>
                      <a:pt x="1382" y="1713"/>
                    </a:lnTo>
                    <a:lnTo>
                      <a:pt x="1385" y="1715"/>
                    </a:lnTo>
                    <a:lnTo>
                      <a:pt x="1387" y="1716"/>
                    </a:lnTo>
                    <a:lnTo>
                      <a:pt x="1389" y="1718"/>
                    </a:lnTo>
                    <a:lnTo>
                      <a:pt x="1392" y="1722"/>
                    </a:lnTo>
                    <a:lnTo>
                      <a:pt x="1394" y="1723"/>
                    </a:lnTo>
                    <a:lnTo>
                      <a:pt x="1396" y="1725"/>
                    </a:lnTo>
                    <a:lnTo>
                      <a:pt x="1399" y="1727"/>
                    </a:lnTo>
                    <a:lnTo>
                      <a:pt x="1401" y="1729"/>
                    </a:lnTo>
                    <a:lnTo>
                      <a:pt x="1403" y="1730"/>
                    </a:lnTo>
                    <a:lnTo>
                      <a:pt x="1406" y="1732"/>
                    </a:lnTo>
                    <a:lnTo>
                      <a:pt x="1408" y="1734"/>
                    </a:lnTo>
                    <a:lnTo>
                      <a:pt x="1410" y="1736"/>
                    </a:lnTo>
                    <a:lnTo>
                      <a:pt x="1413" y="1739"/>
                    </a:lnTo>
                    <a:lnTo>
                      <a:pt x="1415" y="1741"/>
                    </a:lnTo>
                    <a:lnTo>
                      <a:pt x="1416" y="1742"/>
                    </a:lnTo>
                    <a:lnTo>
                      <a:pt x="1420" y="1744"/>
                    </a:lnTo>
                    <a:lnTo>
                      <a:pt x="1422" y="1746"/>
                    </a:lnTo>
                    <a:lnTo>
                      <a:pt x="1423" y="1748"/>
                    </a:lnTo>
                    <a:lnTo>
                      <a:pt x="1427" y="1749"/>
                    </a:lnTo>
                    <a:lnTo>
                      <a:pt x="1429" y="1751"/>
                    </a:lnTo>
                    <a:lnTo>
                      <a:pt x="1430" y="1755"/>
                    </a:lnTo>
                    <a:lnTo>
                      <a:pt x="1434" y="1756"/>
                    </a:lnTo>
                    <a:lnTo>
                      <a:pt x="1436" y="1758"/>
                    </a:lnTo>
                    <a:lnTo>
                      <a:pt x="1437" y="1760"/>
                    </a:lnTo>
                    <a:lnTo>
                      <a:pt x="1441" y="1762"/>
                    </a:lnTo>
                    <a:lnTo>
                      <a:pt x="1443" y="1763"/>
                    </a:lnTo>
                    <a:lnTo>
                      <a:pt x="1444" y="1765"/>
                    </a:lnTo>
                    <a:lnTo>
                      <a:pt x="1448" y="1767"/>
                    </a:lnTo>
                    <a:lnTo>
                      <a:pt x="1450" y="1769"/>
                    </a:lnTo>
                    <a:lnTo>
                      <a:pt x="1453" y="1770"/>
                    </a:lnTo>
                    <a:lnTo>
                      <a:pt x="1455" y="1772"/>
                    </a:lnTo>
                    <a:lnTo>
                      <a:pt x="1457" y="1774"/>
                    </a:lnTo>
                    <a:lnTo>
                      <a:pt x="1460" y="1777"/>
                    </a:lnTo>
                    <a:lnTo>
                      <a:pt x="1462" y="1779"/>
                    </a:lnTo>
                    <a:lnTo>
                      <a:pt x="1465" y="1781"/>
                    </a:lnTo>
                    <a:lnTo>
                      <a:pt x="1467" y="1783"/>
                    </a:lnTo>
                    <a:lnTo>
                      <a:pt x="1469" y="1784"/>
                    </a:lnTo>
                    <a:lnTo>
                      <a:pt x="1472" y="1786"/>
                    </a:lnTo>
                    <a:lnTo>
                      <a:pt x="1474" y="1788"/>
                    </a:lnTo>
                    <a:lnTo>
                      <a:pt x="1476" y="1789"/>
                    </a:lnTo>
                    <a:lnTo>
                      <a:pt x="1479" y="1791"/>
                    </a:lnTo>
                    <a:lnTo>
                      <a:pt x="1481" y="1795"/>
                    </a:lnTo>
                    <a:lnTo>
                      <a:pt x="1484" y="1796"/>
                    </a:lnTo>
                    <a:lnTo>
                      <a:pt x="1486" y="1798"/>
                    </a:lnTo>
                    <a:lnTo>
                      <a:pt x="1488" y="1800"/>
                    </a:lnTo>
                    <a:lnTo>
                      <a:pt x="1491" y="1802"/>
                    </a:lnTo>
                    <a:lnTo>
                      <a:pt x="1493" y="1803"/>
                    </a:lnTo>
                    <a:lnTo>
                      <a:pt x="1495" y="1805"/>
                    </a:lnTo>
                    <a:lnTo>
                      <a:pt x="1498" y="1807"/>
                    </a:lnTo>
                    <a:lnTo>
                      <a:pt x="1500" y="1809"/>
                    </a:lnTo>
                    <a:lnTo>
                      <a:pt x="1503" y="1810"/>
                    </a:lnTo>
                    <a:lnTo>
                      <a:pt x="1505" y="1812"/>
                    </a:lnTo>
                    <a:lnTo>
                      <a:pt x="1509" y="1814"/>
                    </a:lnTo>
                    <a:lnTo>
                      <a:pt x="1510" y="1816"/>
                    </a:lnTo>
                    <a:lnTo>
                      <a:pt x="1512" y="1817"/>
                    </a:lnTo>
                    <a:lnTo>
                      <a:pt x="1516" y="1819"/>
                    </a:lnTo>
                    <a:lnTo>
                      <a:pt x="1517" y="1823"/>
                    </a:lnTo>
                    <a:lnTo>
                      <a:pt x="1521" y="1824"/>
                    </a:lnTo>
                    <a:lnTo>
                      <a:pt x="1523" y="1826"/>
                    </a:lnTo>
                    <a:lnTo>
                      <a:pt x="1524" y="1828"/>
                    </a:lnTo>
                    <a:lnTo>
                      <a:pt x="1528" y="1830"/>
                    </a:lnTo>
                    <a:lnTo>
                      <a:pt x="1530" y="1831"/>
                    </a:lnTo>
                    <a:lnTo>
                      <a:pt x="1533" y="1833"/>
                    </a:lnTo>
                    <a:lnTo>
                      <a:pt x="1535" y="1835"/>
                    </a:lnTo>
                    <a:lnTo>
                      <a:pt x="1538" y="1836"/>
                    </a:lnTo>
                    <a:lnTo>
                      <a:pt x="1540" y="1838"/>
                    </a:lnTo>
                    <a:lnTo>
                      <a:pt x="1542" y="1840"/>
                    </a:lnTo>
                    <a:lnTo>
                      <a:pt x="1545" y="1842"/>
                    </a:lnTo>
                    <a:lnTo>
                      <a:pt x="1547" y="1843"/>
                    </a:lnTo>
                    <a:lnTo>
                      <a:pt x="1550" y="1845"/>
                    </a:lnTo>
                    <a:lnTo>
                      <a:pt x="1552" y="1847"/>
                    </a:lnTo>
                    <a:lnTo>
                      <a:pt x="1554" y="1849"/>
                    </a:lnTo>
                    <a:lnTo>
                      <a:pt x="1557" y="1850"/>
                    </a:lnTo>
                    <a:lnTo>
                      <a:pt x="1561" y="1852"/>
                    </a:lnTo>
                    <a:lnTo>
                      <a:pt x="1563" y="1854"/>
                    </a:lnTo>
                    <a:lnTo>
                      <a:pt x="1564" y="1856"/>
                    </a:lnTo>
                    <a:lnTo>
                      <a:pt x="1568" y="1859"/>
                    </a:lnTo>
                    <a:lnTo>
                      <a:pt x="1570" y="1861"/>
                    </a:lnTo>
                    <a:lnTo>
                      <a:pt x="1573" y="1863"/>
                    </a:lnTo>
                    <a:lnTo>
                      <a:pt x="1575" y="1864"/>
                    </a:lnTo>
                    <a:lnTo>
                      <a:pt x="1577" y="1866"/>
                    </a:lnTo>
                    <a:lnTo>
                      <a:pt x="1580" y="1868"/>
                    </a:lnTo>
                    <a:lnTo>
                      <a:pt x="1582" y="1870"/>
                    </a:lnTo>
                    <a:lnTo>
                      <a:pt x="1585" y="1871"/>
                    </a:lnTo>
                    <a:lnTo>
                      <a:pt x="1587" y="1873"/>
                    </a:lnTo>
                    <a:lnTo>
                      <a:pt x="1591" y="1875"/>
                    </a:lnTo>
                    <a:lnTo>
                      <a:pt x="1592" y="1877"/>
                    </a:lnTo>
                    <a:lnTo>
                      <a:pt x="1596" y="1878"/>
                    </a:lnTo>
                    <a:lnTo>
                      <a:pt x="1597" y="1880"/>
                    </a:lnTo>
                    <a:lnTo>
                      <a:pt x="1601" y="1882"/>
                    </a:lnTo>
                    <a:lnTo>
                      <a:pt x="1603" y="1883"/>
                    </a:lnTo>
                    <a:lnTo>
                      <a:pt x="1606" y="1885"/>
                    </a:lnTo>
                    <a:lnTo>
                      <a:pt x="1608" y="1887"/>
                    </a:lnTo>
                    <a:lnTo>
                      <a:pt x="1611" y="1889"/>
                    </a:lnTo>
                    <a:lnTo>
                      <a:pt x="1613" y="1890"/>
                    </a:lnTo>
                    <a:lnTo>
                      <a:pt x="1617" y="1892"/>
                    </a:lnTo>
                    <a:lnTo>
                      <a:pt x="1618" y="1894"/>
                    </a:lnTo>
                    <a:lnTo>
                      <a:pt x="1620" y="1896"/>
                    </a:lnTo>
                    <a:lnTo>
                      <a:pt x="1624" y="1897"/>
                    </a:lnTo>
                    <a:lnTo>
                      <a:pt x="1625" y="1899"/>
                    </a:lnTo>
                    <a:lnTo>
                      <a:pt x="1629" y="1901"/>
                    </a:lnTo>
                    <a:lnTo>
                      <a:pt x="1631" y="1903"/>
                    </a:lnTo>
                    <a:lnTo>
                      <a:pt x="1634" y="1904"/>
                    </a:lnTo>
                    <a:lnTo>
                      <a:pt x="1636" y="1906"/>
                    </a:lnTo>
                    <a:lnTo>
                      <a:pt x="1639" y="1908"/>
                    </a:lnTo>
                    <a:lnTo>
                      <a:pt x="1641" y="1910"/>
                    </a:lnTo>
                    <a:lnTo>
                      <a:pt x="1644" y="1911"/>
                    </a:lnTo>
                    <a:lnTo>
                      <a:pt x="1646" y="1913"/>
                    </a:lnTo>
                    <a:lnTo>
                      <a:pt x="1650" y="1915"/>
                    </a:lnTo>
                    <a:lnTo>
                      <a:pt x="1651" y="1917"/>
                    </a:lnTo>
                    <a:lnTo>
                      <a:pt x="1655" y="1918"/>
                    </a:lnTo>
                    <a:lnTo>
                      <a:pt x="1657" y="1920"/>
                    </a:lnTo>
                    <a:lnTo>
                      <a:pt x="1660" y="1922"/>
                    </a:lnTo>
                    <a:lnTo>
                      <a:pt x="1662" y="1924"/>
                    </a:lnTo>
                    <a:lnTo>
                      <a:pt x="1665" y="1925"/>
                    </a:lnTo>
                    <a:lnTo>
                      <a:pt x="1667" y="1927"/>
                    </a:lnTo>
                    <a:lnTo>
                      <a:pt x="1671" y="1929"/>
                    </a:lnTo>
                    <a:lnTo>
                      <a:pt x="1672" y="1930"/>
                    </a:lnTo>
                    <a:lnTo>
                      <a:pt x="1676" y="1932"/>
                    </a:lnTo>
                    <a:lnTo>
                      <a:pt x="1678" y="1934"/>
                    </a:lnTo>
                    <a:lnTo>
                      <a:pt x="1681" y="1936"/>
                    </a:lnTo>
                    <a:lnTo>
                      <a:pt x="1683" y="1937"/>
                    </a:lnTo>
                    <a:lnTo>
                      <a:pt x="1686" y="1939"/>
                    </a:lnTo>
                    <a:lnTo>
                      <a:pt x="1688" y="1941"/>
                    </a:lnTo>
                    <a:lnTo>
                      <a:pt x="1691" y="1943"/>
                    </a:lnTo>
                    <a:lnTo>
                      <a:pt x="1693" y="1944"/>
                    </a:lnTo>
                    <a:lnTo>
                      <a:pt x="1697" y="1946"/>
                    </a:lnTo>
                    <a:lnTo>
                      <a:pt x="1698" y="1948"/>
                    </a:lnTo>
                    <a:lnTo>
                      <a:pt x="1702" y="1950"/>
                    </a:lnTo>
                    <a:lnTo>
                      <a:pt x="1704" y="1951"/>
                    </a:lnTo>
                    <a:lnTo>
                      <a:pt x="1707" y="1953"/>
                    </a:lnTo>
                    <a:lnTo>
                      <a:pt x="1709" y="1955"/>
                    </a:lnTo>
                    <a:lnTo>
                      <a:pt x="1712" y="1957"/>
                    </a:lnTo>
                    <a:lnTo>
                      <a:pt x="1714" y="1958"/>
                    </a:lnTo>
                    <a:lnTo>
                      <a:pt x="1718" y="1960"/>
                    </a:lnTo>
                    <a:lnTo>
                      <a:pt x="1721" y="1962"/>
                    </a:lnTo>
                    <a:lnTo>
                      <a:pt x="1723" y="1964"/>
                    </a:lnTo>
                    <a:lnTo>
                      <a:pt x="1726" y="1965"/>
                    </a:lnTo>
                    <a:lnTo>
                      <a:pt x="1728" y="1965"/>
                    </a:lnTo>
                    <a:lnTo>
                      <a:pt x="1731" y="1969"/>
                    </a:lnTo>
                    <a:lnTo>
                      <a:pt x="1733" y="1969"/>
                    </a:lnTo>
                    <a:lnTo>
                      <a:pt x="1737" y="1971"/>
                    </a:lnTo>
                    <a:lnTo>
                      <a:pt x="1738" y="1972"/>
                    </a:lnTo>
                    <a:lnTo>
                      <a:pt x="1742" y="1974"/>
                    </a:lnTo>
                    <a:lnTo>
                      <a:pt x="1744" y="1976"/>
                    </a:lnTo>
                    <a:lnTo>
                      <a:pt x="1747" y="1977"/>
                    </a:lnTo>
                    <a:lnTo>
                      <a:pt x="1749" y="1979"/>
                    </a:lnTo>
                    <a:lnTo>
                      <a:pt x="1752" y="1981"/>
                    </a:lnTo>
                    <a:lnTo>
                      <a:pt x="1756" y="1983"/>
                    </a:lnTo>
                    <a:lnTo>
                      <a:pt x="1758" y="1984"/>
                    </a:lnTo>
                    <a:lnTo>
                      <a:pt x="1761" y="1986"/>
                    </a:lnTo>
                    <a:lnTo>
                      <a:pt x="1763" y="1988"/>
                    </a:lnTo>
                    <a:lnTo>
                      <a:pt x="1766" y="1990"/>
                    </a:lnTo>
                    <a:lnTo>
                      <a:pt x="1768" y="1991"/>
                    </a:lnTo>
                    <a:lnTo>
                      <a:pt x="1772" y="1993"/>
                    </a:lnTo>
                    <a:lnTo>
                      <a:pt x="1773" y="1995"/>
                    </a:lnTo>
                    <a:lnTo>
                      <a:pt x="1777" y="1997"/>
                    </a:lnTo>
                    <a:lnTo>
                      <a:pt x="1780" y="1998"/>
                    </a:lnTo>
                    <a:lnTo>
                      <a:pt x="1782" y="2000"/>
                    </a:lnTo>
                    <a:lnTo>
                      <a:pt x="1785" y="2000"/>
                    </a:lnTo>
                    <a:lnTo>
                      <a:pt x="1787" y="2002"/>
                    </a:lnTo>
                    <a:lnTo>
                      <a:pt x="1791" y="2004"/>
                    </a:lnTo>
                    <a:lnTo>
                      <a:pt x="1792" y="2005"/>
                    </a:lnTo>
                    <a:lnTo>
                      <a:pt x="1796" y="2007"/>
                    </a:lnTo>
                    <a:lnTo>
                      <a:pt x="1799" y="2009"/>
                    </a:lnTo>
                    <a:lnTo>
                      <a:pt x="1801" y="2011"/>
                    </a:lnTo>
                    <a:lnTo>
                      <a:pt x="1805" y="2012"/>
                    </a:lnTo>
                    <a:lnTo>
                      <a:pt x="1806" y="2014"/>
                    </a:lnTo>
                    <a:lnTo>
                      <a:pt x="1810" y="2016"/>
                    </a:lnTo>
                    <a:lnTo>
                      <a:pt x="1812" y="2018"/>
                    </a:lnTo>
                    <a:lnTo>
                      <a:pt x="1815" y="2019"/>
                    </a:lnTo>
                    <a:lnTo>
                      <a:pt x="1819" y="2019"/>
                    </a:lnTo>
                    <a:lnTo>
                      <a:pt x="1820" y="2021"/>
                    </a:lnTo>
                    <a:lnTo>
                      <a:pt x="1824" y="2023"/>
                    </a:lnTo>
                    <a:lnTo>
                      <a:pt x="1825" y="2025"/>
                    </a:lnTo>
                    <a:lnTo>
                      <a:pt x="1829" y="2026"/>
                    </a:lnTo>
                    <a:lnTo>
                      <a:pt x="1831" y="2028"/>
                    </a:lnTo>
                    <a:lnTo>
                      <a:pt x="1834" y="2030"/>
                    </a:lnTo>
                    <a:lnTo>
                      <a:pt x="1838" y="2031"/>
                    </a:lnTo>
                    <a:lnTo>
                      <a:pt x="1839" y="2033"/>
                    </a:lnTo>
                    <a:lnTo>
                      <a:pt x="1843" y="2035"/>
                    </a:lnTo>
                    <a:lnTo>
                      <a:pt x="1845" y="2037"/>
                    </a:lnTo>
                    <a:lnTo>
                      <a:pt x="1848" y="2038"/>
                    </a:lnTo>
                    <a:lnTo>
                      <a:pt x="1852" y="2038"/>
                    </a:lnTo>
                    <a:lnTo>
                      <a:pt x="1853" y="2040"/>
                    </a:lnTo>
                    <a:lnTo>
                      <a:pt x="1857" y="2042"/>
                    </a:lnTo>
                    <a:lnTo>
                      <a:pt x="1859" y="2044"/>
                    </a:lnTo>
                    <a:lnTo>
                      <a:pt x="1862" y="2045"/>
                    </a:lnTo>
                    <a:lnTo>
                      <a:pt x="1866" y="2047"/>
                    </a:lnTo>
                    <a:lnTo>
                      <a:pt x="1867" y="2049"/>
                    </a:lnTo>
                    <a:lnTo>
                      <a:pt x="1871" y="2051"/>
                    </a:lnTo>
                    <a:lnTo>
                      <a:pt x="1872" y="2052"/>
                    </a:lnTo>
                    <a:lnTo>
                      <a:pt x="1876" y="2052"/>
                    </a:lnTo>
                    <a:lnTo>
                      <a:pt x="1879" y="2054"/>
                    </a:lnTo>
                    <a:lnTo>
                      <a:pt x="1881" y="2056"/>
                    </a:lnTo>
                    <a:lnTo>
                      <a:pt x="1885" y="2058"/>
                    </a:lnTo>
                    <a:lnTo>
                      <a:pt x="1886" y="2059"/>
                    </a:lnTo>
                    <a:lnTo>
                      <a:pt x="1890" y="2061"/>
                    </a:lnTo>
                    <a:lnTo>
                      <a:pt x="1893" y="2063"/>
                    </a:lnTo>
                    <a:lnTo>
                      <a:pt x="1895" y="2065"/>
                    </a:lnTo>
                    <a:lnTo>
                      <a:pt x="1899" y="2066"/>
                    </a:lnTo>
                    <a:lnTo>
                      <a:pt x="1900" y="2066"/>
                    </a:lnTo>
                    <a:lnTo>
                      <a:pt x="1904" y="2068"/>
                    </a:lnTo>
                    <a:lnTo>
                      <a:pt x="1907" y="2070"/>
                    </a:lnTo>
                    <a:lnTo>
                      <a:pt x="1909" y="2072"/>
                    </a:lnTo>
                    <a:lnTo>
                      <a:pt x="1913" y="2073"/>
                    </a:lnTo>
                    <a:lnTo>
                      <a:pt x="1916" y="2075"/>
                    </a:lnTo>
                    <a:lnTo>
                      <a:pt x="1918" y="2077"/>
                    </a:lnTo>
                    <a:lnTo>
                      <a:pt x="1921" y="2078"/>
                    </a:lnTo>
                    <a:lnTo>
                      <a:pt x="1923" y="2078"/>
                    </a:lnTo>
                    <a:lnTo>
                      <a:pt x="1926" y="2080"/>
                    </a:lnTo>
                    <a:lnTo>
                      <a:pt x="1930" y="2082"/>
                    </a:lnTo>
                    <a:lnTo>
                      <a:pt x="1932" y="2084"/>
                    </a:lnTo>
                    <a:lnTo>
                      <a:pt x="1935" y="2085"/>
                    </a:lnTo>
                    <a:lnTo>
                      <a:pt x="1939" y="2087"/>
                    </a:lnTo>
                    <a:lnTo>
                      <a:pt x="1940" y="2089"/>
                    </a:lnTo>
                    <a:lnTo>
                      <a:pt x="1944" y="2089"/>
                    </a:lnTo>
                    <a:lnTo>
                      <a:pt x="1947" y="2091"/>
                    </a:lnTo>
                    <a:lnTo>
                      <a:pt x="1949" y="2092"/>
                    </a:lnTo>
                    <a:lnTo>
                      <a:pt x="1953" y="2094"/>
                    </a:lnTo>
                    <a:lnTo>
                      <a:pt x="1954" y="2096"/>
                    </a:lnTo>
                    <a:lnTo>
                      <a:pt x="1958" y="2098"/>
                    </a:lnTo>
                    <a:lnTo>
                      <a:pt x="1961" y="2098"/>
                    </a:lnTo>
                    <a:lnTo>
                      <a:pt x="1963" y="2099"/>
                    </a:lnTo>
                    <a:lnTo>
                      <a:pt x="1966" y="2101"/>
                    </a:lnTo>
                    <a:lnTo>
                      <a:pt x="1970" y="2103"/>
                    </a:lnTo>
                    <a:lnTo>
                      <a:pt x="1972" y="2105"/>
                    </a:lnTo>
                    <a:lnTo>
                      <a:pt x="1975" y="2106"/>
                    </a:lnTo>
                    <a:moveTo>
                      <a:pt x="1049" y="1377"/>
                    </a:moveTo>
                    <a:lnTo>
                      <a:pt x="1051" y="1379"/>
                    </a:lnTo>
                    <a:lnTo>
                      <a:pt x="1053" y="1382"/>
                    </a:lnTo>
                    <a:lnTo>
                      <a:pt x="1054" y="1384"/>
                    </a:lnTo>
                    <a:lnTo>
                      <a:pt x="1056" y="1386"/>
                    </a:lnTo>
                    <a:lnTo>
                      <a:pt x="1058" y="1387"/>
                    </a:lnTo>
                    <a:lnTo>
                      <a:pt x="1060" y="1391"/>
                    </a:lnTo>
                    <a:lnTo>
                      <a:pt x="1063" y="1393"/>
                    </a:lnTo>
                    <a:lnTo>
                      <a:pt x="1065" y="1394"/>
                    </a:lnTo>
                    <a:lnTo>
                      <a:pt x="1067" y="1398"/>
                    </a:lnTo>
                    <a:lnTo>
                      <a:pt x="1068" y="1400"/>
                    </a:lnTo>
                    <a:lnTo>
                      <a:pt x="1070" y="1401"/>
                    </a:lnTo>
                    <a:lnTo>
                      <a:pt x="1072" y="1403"/>
                    </a:lnTo>
                    <a:lnTo>
                      <a:pt x="1074" y="1406"/>
                    </a:lnTo>
                    <a:lnTo>
                      <a:pt x="1075" y="1408"/>
                    </a:lnTo>
                    <a:lnTo>
                      <a:pt x="1077" y="1410"/>
                    </a:lnTo>
                    <a:lnTo>
                      <a:pt x="1079" y="1412"/>
                    </a:lnTo>
                    <a:lnTo>
                      <a:pt x="1082" y="1413"/>
                    </a:lnTo>
                    <a:lnTo>
                      <a:pt x="1084" y="1417"/>
                    </a:lnTo>
                    <a:lnTo>
                      <a:pt x="1086" y="1419"/>
                    </a:lnTo>
                    <a:lnTo>
                      <a:pt x="1088" y="1420"/>
                    </a:lnTo>
                    <a:lnTo>
                      <a:pt x="1089" y="1422"/>
                    </a:lnTo>
                    <a:lnTo>
                      <a:pt x="1091" y="1426"/>
                    </a:lnTo>
                    <a:lnTo>
                      <a:pt x="1093" y="1427"/>
                    </a:lnTo>
                    <a:lnTo>
                      <a:pt x="1094" y="1429"/>
                    </a:lnTo>
                    <a:lnTo>
                      <a:pt x="1096" y="1431"/>
                    </a:lnTo>
                    <a:lnTo>
                      <a:pt x="1100" y="1434"/>
                    </a:lnTo>
                    <a:lnTo>
                      <a:pt x="1101" y="1436"/>
                    </a:lnTo>
                    <a:lnTo>
                      <a:pt x="1103" y="1438"/>
                    </a:lnTo>
                    <a:lnTo>
                      <a:pt x="1105" y="1440"/>
                    </a:lnTo>
                    <a:lnTo>
                      <a:pt x="1107" y="1443"/>
                    </a:lnTo>
                    <a:lnTo>
                      <a:pt x="1108" y="1445"/>
                    </a:lnTo>
                    <a:lnTo>
                      <a:pt x="1110" y="1447"/>
                    </a:lnTo>
                    <a:lnTo>
                      <a:pt x="1114" y="1448"/>
                    </a:lnTo>
                    <a:lnTo>
                      <a:pt x="1115" y="1452"/>
                    </a:lnTo>
                    <a:lnTo>
                      <a:pt x="1117" y="1453"/>
                    </a:lnTo>
                    <a:lnTo>
                      <a:pt x="1119" y="1455"/>
                    </a:lnTo>
                    <a:lnTo>
                      <a:pt x="1121" y="1457"/>
                    </a:lnTo>
                    <a:lnTo>
                      <a:pt x="1122" y="1460"/>
                    </a:lnTo>
                    <a:lnTo>
                      <a:pt x="1124" y="1462"/>
                    </a:lnTo>
                    <a:lnTo>
                      <a:pt x="1126" y="1464"/>
                    </a:lnTo>
                    <a:lnTo>
                      <a:pt x="1128" y="1466"/>
                    </a:lnTo>
                    <a:lnTo>
                      <a:pt x="1131" y="1469"/>
                    </a:lnTo>
                    <a:lnTo>
                      <a:pt x="1133" y="1471"/>
                    </a:lnTo>
                    <a:lnTo>
                      <a:pt x="1135" y="1473"/>
                    </a:lnTo>
                    <a:lnTo>
                      <a:pt x="1136" y="1474"/>
                    </a:lnTo>
                    <a:lnTo>
                      <a:pt x="1138" y="1478"/>
                    </a:lnTo>
                    <a:lnTo>
                      <a:pt x="1140" y="1480"/>
                    </a:lnTo>
                    <a:lnTo>
                      <a:pt x="1141" y="1481"/>
                    </a:lnTo>
                    <a:lnTo>
                      <a:pt x="1145" y="1483"/>
                    </a:lnTo>
                    <a:lnTo>
                      <a:pt x="1147" y="1487"/>
                    </a:lnTo>
                    <a:lnTo>
                      <a:pt x="1148" y="1488"/>
                    </a:lnTo>
                    <a:lnTo>
                      <a:pt x="1150" y="1490"/>
                    </a:lnTo>
                    <a:lnTo>
                      <a:pt x="1152" y="1492"/>
                    </a:lnTo>
                    <a:lnTo>
                      <a:pt x="1154" y="1495"/>
                    </a:lnTo>
                    <a:lnTo>
                      <a:pt x="1155" y="1497"/>
                    </a:lnTo>
                    <a:lnTo>
                      <a:pt x="1159" y="1499"/>
                    </a:lnTo>
                    <a:lnTo>
                      <a:pt x="1161" y="1500"/>
                    </a:lnTo>
                    <a:lnTo>
                      <a:pt x="1162" y="1502"/>
                    </a:lnTo>
                    <a:lnTo>
                      <a:pt x="1164" y="1506"/>
                    </a:lnTo>
                    <a:lnTo>
                      <a:pt x="1166" y="1507"/>
                    </a:lnTo>
                    <a:lnTo>
                      <a:pt x="1168" y="1509"/>
                    </a:lnTo>
                    <a:lnTo>
                      <a:pt x="1171" y="1511"/>
                    </a:lnTo>
                    <a:lnTo>
                      <a:pt x="1173" y="1514"/>
                    </a:lnTo>
                    <a:lnTo>
                      <a:pt x="1175" y="1516"/>
                    </a:lnTo>
                    <a:lnTo>
                      <a:pt x="1176" y="1518"/>
                    </a:lnTo>
                    <a:lnTo>
                      <a:pt x="1178" y="1520"/>
                    </a:lnTo>
                    <a:lnTo>
                      <a:pt x="1180" y="1521"/>
                    </a:lnTo>
                    <a:lnTo>
                      <a:pt x="1183" y="1525"/>
                    </a:lnTo>
                    <a:lnTo>
                      <a:pt x="1185" y="1527"/>
                    </a:lnTo>
                    <a:lnTo>
                      <a:pt x="1187" y="1528"/>
                    </a:lnTo>
                    <a:lnTo>
                      <a:pt x="1188" y="1530"/>
                    </a:lnTo>
                    <a:lnTo>
                      <a:pt x="1190" y="1534"/>
                    </a:lnTo>
                    <a:lnTo>
                      <a:pt x="1192" y="1535"/>
                    </a:lnTo>
                    <a:lnTo>
                      <a:pt x="1195" y="1537"/>
                    </a:lnTo>
                    <a:lnTo>
                      <a:pt x="1197" y="1539"/>
                    </a:lnTo>
                    <a:lnTo>
                      <a:pt x="1199" y="1541"/>
                    </a:lnTo>
                    <a:lnTo>
                      <a:pt x="1201" y="1544"/>
                    </a:lnTo>
                    <a:lnTo>
                      <a:pt x="1202" y="1546"/>
                    </a:lnTo>
                    <a:lnTo>
                      <a:pt x="1206" y="1547"/>
                    </a:lnTo>
                    <a:lnTo>
                      <a:pt x="1208" y="1549"/>
                    </a:lnTo>
                    <a:lnTo>
                      <a:pt x="1209" y="1553"/>
                    </a:lnTo>
                    <a:lnTo>
                      <a:pt x="1211" y="1554"/>
                    </a:lnTo>
                    <a:lnTo>
                      <a:pt x="1213" y="1556"/>
                    </a:lnTo>
                    <a:lnTo>
                      <a:pt x="1216" y="1558"/>
                    </a:lnTo>
                    <a:lnTo>
                      <a:pt x="1218" y="1560"/>
                    </a:lnTo>
                    <a:lnTo>
                      <a:pt x="1220" y="1563"/>
                    </a:lnTo>
                    <a:lnTo>
                      <a:pt x="1222" y="1565"/>
                    </a:lnTo>
                    <a:lnTo>
                      <a:pt x="1223" y="1567"/>
                    </a:lnTo>
                    <a:lnTo>
                      <a:pt x="1227" y="1568"/>
                    </a:lnTo>
                    <a:lnTo>
                      <a:pt x="1229" y="1570"/>
                    </a:lnTo>
                    <a:moveTo>
                      <a:pt x="1044" y="1379"/>
                    </a:moveTo>
                    <a:lnTo>
                      <a:pt x="1044" y="1382"/>
                    </a:lnTo>
                    <a:lnTo>
                      <a:pt x="1046" y="1384"/>
                    </a:lnTo>
                    <a:lnTo>
                      <a:pt x="1046" y="1386"/>
                    </a:lnTo>
                    <a:lnTo>
                      <a:pt x="1046" y="1389"/>
                    </a:lnTo>
                    <a:lnTo>
                      <a:pt x="1047" y="1391"/>
                    </a:lnTo>
                    <a:lnTo>
                      <a:pt x="1047" y="1394"/>
                    </a:lnTo>
                    <a:lnTo>
                      <a:pt x="1047" y="1398"/>
                    </a:lnTo>
                    <a:lnTo>
                      <a:pt x="1049" y="1400"/>
                    </a:lnTo>
                    <a:lnTo>
                      <a:pt x="1049" y="1401"/>
                    </a:lnTo>
                    <a:lnTo>
                      <a:pt x="1051" y="1405"/>
                    </a:lnTo>
                    <a:lnTo>
                      <a:pt x="1051" y="1406"/>
                    </a:lnTo>
                    <a:lnTo>
                      <a:pt x="1051" y="1410"/>
                    </a:lnTo>
                    <a:lnTo>
                      <a:pt x="1053" y="1412"/>
                    </a:lnTo>
                    <a:lnTo>
                      <a:pt x="1053" y="1415"/>
                    </a:lnTo>
                    <a:lnTo>
                      <a:pt x="1054" y="1417"/>
                    </a:lnTo>
                    <a:lnTo>
                      <a:pt x="1054" y="1420"/>
                    </a:lnTo>
                    <a:lnTo>
                      <a:pt x="1054" y="1422"/>
                    </a:lnTo>
                    <a:lnTo>
                      <a:pt x="1056" y="1426"/>
                    </a:lnTo>
                    <a:lnTo>
                      <a:pt x="1056" y="1427"/>
                    </a:lnTo>
                    <a:lnTo>
                      <a:pt x="1058" y="1431"/>
                    </a:lnTo>
                    <a:lnTo>
                      <a:pt x="1058" y="1433"/>
                    </a:lnTo>
                    <a:lnTo>
                      <a:pt x="1058" y="1436"/>
                    </a:lnTo>
                    <a:lnTo>
                      <a:pt x="1060" y="1438"/>
                    </a:lnTo>
                    <a:lnTo>
                      <a:pt x="1060" y="1441"/>
                    </a:lnTo>
                    <a:lnTo>
                      <a:pt x="1061" y="1443"/>
                    </a:lnTo>
                    <a:lnTo>
                      <a:pt x="1061" y="1447"/>
                    </a:lnTo>
                    <a:lnTo>
                      <a:pt x="1061" y="1448"/>
                    </a:lnTo>
                    <a:lnTo>
                      <a:pt x="1063" y="1452"/>
                    </a:lnTo>
                    <a:lnTo>
                      <a:pt x="1063" y="1453"/>
                    </a:lnTo>
                    <a:lnTo>
                      <a:pt x="1065" y="1457"/>
                    </a:lnTo>
                    <a:lnTo>
                      <a:pt x="1065" y="1459"/>
                    </a:lnTo>
                    <a:lnTo>
                      <a:pt x="1065" y="1462"/>
                    </a:lnTo>
                    <a:lnTo>
                      <a:pt x="1067" y="1464"/>
                    </a:lnTo>
                    <a:lnTo>
                      <a:pt x="1067" y="1466"/>
                    </a:lnTo>
                    <a:lnTo>
                      <a:pt x="1068" y="1469"/>
                    </a:lnTo>
                    <a:lnTo>
                      <a:pt x="1068" y="1471"/>
                    </a:lnTo>
                    <a:lnTo>
                      <a:pt x="1068" y="1474"/>
                    </a:lnTo>
                    <a:lnTo>
                      <a:pt x="1070" y="1476"/>
                    </a:lnTo>
                    <a:lnTo>
                      <a:pt x="1070" y="1480"/>
                    </a:lnTo>
                    <a:lnTo>
                      <a:pt x="1070" y="1481"/>
                    </a:lnTo>
                    <a:lnTo>
                      <a:pt x="1072" y="1485"/>
                    </a:lnTo>
                    <a:lnTo>
                      <a:pt x="1072" y="1487"/>
                    </a:lnTo>
                    <a:lnTo>
                      <a:pt x="1074" y="1490"/>
                    </a:lnTo>
                    <a:lnTo>
                      <a:pt x="1074" y="1492"/>
                    </a:lnTo>
                    <a:lnTo>
                      <a:pt x="1075" y="1495"/>
                    </a:lnTo>
                    <a:lnTo>
                      <a:pt x="1075" y="1497"/>
                    </a:lnTo>
                    <a:lnTo>
                      <a:pt x="1075" y="1500"/>
                    </a:lnTo>
                    <a:lnTo>
                      <a:pt x="1077" y="1502"/>
                    </a:lnTo>
                    <a:lnTo>
                      <a:pt x="1077" y="1506"/>
                    </a:lnTo>
                    <a:lnTo>
                      <a:pt x="1079" y="1507"/>
                    </a:lnTo>
                    <a:lnTo>
                      <a:pt x="1079" y="1511"/>
                    </a:lnTo>
                    <a:lnTo>
                      <a:pt x="1079" y="1513"/>
                    </a:lnTo>
                    <a:lnTo>
                      <a:pt x="1081" y="1516"/>
                    </a:lnTo>
                    <a:lnTo>
                      <a:pt x="1081" y="1518"/>
                    </a:lnTo>
                    <a:lnTo>
                      <a:pt x="1082" y="1521"/>
                    </a:lnTo>
                    <a:lnTo>
                      <a:pt x="1082" y="1523"/>
                    </a:lnTo>
                    <a:lnTo>
                      <a:pt x="1082" y="1527"/>
                    </a:lnTo>
                    <a:lnTo>
                      <a:pt x="1084" y="1528"/>
                    </a:lnTo>
                    <a:lnTo>
                      <a:pt x="1084" y="1532"/>
                    </a:lnTo>
                    <a:lnTo>
                      <a:pt x="1086" y="1534"/>
                    </a:lnTo>
                    <a:lnTo>
                      <a:pt x="1086" y="1535"/>
                    </a:lnTo>
                    <a:lnTo>
                      <a:pt x="1086" y="1539"/>
                    </a:lnTo>
                    <a:lnTo>
                      <a:pt x="1088" y="1541"/>
                    </a:lnTo>
                    <a:lnTo>
                      <a:pt x="1088" y="1544"/>
                    </a:lnTo>
                    <a:lnTo>
                      <a:pt x="1089" y="1546"/>
                    </a:lnTo>
                    <a:lnTo>
                      <a:pt x="1089" y="1549"/>
                    </a:lnTo>
                    <a:lnTo>
                      <a:pt x="1091" y="1551"/>
                    </a:lnTo>
                    <a:lnTo>
                      <a:pt x="1091" y="1554"/>
                    </a:lnTo>
                    <a:lnTo>
                      <a:pt x="1091" y="1556"/>
                    </a:lnTo>
                    <a:lnTo>
                      <a:pt x="1093" y="1560"/>
                    </a:lnTo>
                    <a:lnTo>
                      <a:pt x="1093" y="1561"/>
                    </a:lnTo>
                    <a:lnTo>
                      <a:pt x="1094" y="1565"/>
                    </a:lnTo>
                    <a:lnTo>
                      <a:pt x="1094" y="1567"/>
                    </a:lnTo>
                    <a:lnTo>
                      <a:pt x="1094" y="1570"/>
                    </a:lnTo>
                    <a:lnTo>
                      <a:pt x="1096" y="1572"/>
                    </a:lnTo>
                    <a:lnTo>
                      <a:pt x="1096" y="1575"/>
                    </a:lnTo>
                    <a:lnTo>
                      <a:pt x="1098" y="1577"/>
                    </a:lnTo>
                    <a:lnTo>
                      <a:pt x="1098" y="1581"/>
                    </a:lnTo>
                    <a:lnTo>
                      <a:pt x="1100" y="1582"/>
                    </a:lnTo>
                    <a:lnTo>
                      <a:pt x="1100" y="1586"/>
                    </a:lnTo>
                    <a:lnTo>
                      <a:pt x="1100" y="1588"/>
                    </a:lnTo>
                    <a:lnTo>
                      <a:pt x="1101" y="1591"/>
                    </a:lnTo>
                    <a:lnTo>
                      <a:pt x="1101" y="1593"/>
                    </a:lnTo>
                    <a:lnTo>
                      <a:pt x="1103" y="1594"/>
                    </a:lnTo>
                    <a:lnTo>
                      <a:pt x="1103" y="1598"/>
                    </a:lnTo>
                    <a:lnTo>
                      <a:pt x="1105" y="1600"/>
                    </a:lnTo>
                    <a:lnTo>
                      <a:pt x="1105" y="1603"/>
                    </a:lnTo>
                    <a:lnTo>
                      <a:pt x="1105" y="1605"/>
                    </a:lnTo>
                    <a:lnTo>
                      <a:pt x="1107" y="1608"/>
                    </a:lnTo>
                    <a:lnTo>
                      <a:pt x="1107" y="1610"/>
                    </a:lnTo>
                    <a:lnTo>
                      <a:pt x="1108" y="1614"/>
                    </a:lnTo>
                    <a:lnTo>
                      <a:pt x="1108" y="1615"/>
                    </a:lnTo>
                    <a:lnTo>
                      <a:pt x="1110" y="1619"/>
                    </a:lnTo>
                    <a:lnTo>
                      <a:pt x="1110" y="1621"/>
                    </a:lnTo>
                    <a:lnTo>
                      <a:pt x="1110" y="1624"/>
                    </a:lnTo>
                    <a:lnTo>
                      <a:pt x="1112" y="1626"/>
                    </a:lnTo>
                    <a:lnTo>
                      <a:pt x="1112" y="1629"/>
                    </a:lnTo>
                    <a:lnTo>
                      <a:pt x="1114" y="1631"/>
                    </a:lnTo>
                    <a:lnTo>
                      <a:pt x="1114" y="1635"/>
                    </a:lnTo>
                    <a:lnTo>
                      <a:pt x="1115" y="1636"/>
                    </a:lnTo>
                    <a:lnTo>
                      <a:pt x="1115" y="1640"/>
                    </a:lnTo>
                    <a:lnTo>
                      <a:pt x="1115" y="1641"/>
                    </a:lnTo>
                    <a:lnTo>
                      <a:pt x="1117" y="1645"/>
                    </a:lnTo>
                    <a:lnTo>
                      <a:pt x="1117" y="1647"/>
                    </a:lnTo>
                    <a:lnTo>
                      <a:pt x="1119" y="1650"/>
                    </a:lnTo>
                    <a:lnTo>
                      <a:pt x="1119" y="1652"/>
                    </a:lnTo>
                    <a:lnTo>
                      <a:pt x="1121" y="1654"/>
                    </a:lnTo>
                    <a:lnTo>
                      <a:pt x="1121" y="1657"/>
                    </a:lnTo>
                    <a:lnTo>
                      <a:pt x="1121" y="1659"/>
                    </a:lnTo>
                    <a:lnTo>
                      <a:pt x="1122" y="1662"/>
                    </a:lnTo>
                    <a:lnTo>
                      <a:pt x="1122" y="1664"/>
                    </a:lnTo>
                    <a:lnTo>
                      <a:pt x="1124" y="1668"/>
                    </a:lnTo>
                    <a:lnTo>
                      <a:pt x="1124" y="1669"/>
                    </a:lnTo>
                    <a:lnTo>
                      <a:pt x="1126" y="1673"/>
                    </a:lnTo>
                    <a:lnTo>
                      <a:pt x="1126" y="1675"/>
                    </a:lnTo>
                    <a:lnTo>
                      <a:pt x="1128" y="1678"/>
                    </a:lnTo>
                    <a:lnTo>
                      <a:pt x="1128" y="1680"/>
                    </a:lnTo>
                    <a:lnTo>
                      <a:pt x="1128" y="1683"/>
                    </a:lnTo>
                    <a:lnTo>
                      <a:pt x="1129" y="1685"/>
                    </a:lnTo>
                    <a:lnTo>
                      <a:pt x="1129" y="1689"/>
                    </a:lnTo>
                    <a:lnTo>
                      <a:pt x="1131" y="1690"/>
                    </a:lnTo>
                    <a:lnTo>
                      <a:pt x="1131" y="1692"/>
                    </a:lnTo>
                    <a:lnTo>
                      <a:pt x="1133" y="1695"/>
                    </a:lnTo>
                    <a:lnTo>
                      <a:pt x="1133" y="1699"/>
                    </a:lnTo>
                    <a:lnTo>
                      <a:pt x="1135" y="1701"/>
                    </a:lnTo>
                    <a:lnTo>
                      <a:pt x="1135" y="1702"/>
                    </a:lnTo>
                    <a:lnTo>
                      <a:pt x="1136" y="1706"/>
                    </a:lnTo>
                    <a:lnTo>
                      <a:pt x="1136" y="1708"/>
                    </a:lnTo>
                    <a:lnTo>
                      <a:pt x="1136" y="1711"/>
                    </a:lnTo>
                    <a:lnTo>
                      <a:pt x="1138" y="1713"/>
                    </a:lnTo>
                    <a:lnTo>
                      <a:pt x="1138" y="1716"/>
                    </a:lnTo>
                    <a:lnTo>
                      <a:pt x="1140" y="1718"/>
                    </a:lnTo>
                    <a:lnTo>
                      <a:pt x="1140" y="1722"/>
                    </a:lnTo>
                    <a:lnTo>
                      <a:pt x="1141" y="1723"/>
                    </a:lnTo>
                    <a:lnTo>
                      <a:pt x="1141" y="1727"/>
                    </a:lnTo>
                    <a:lnTo>
                      <a:pt x="1143" y="1729"/>
                    </a:lnTo>
                    <a:lnTo>
                      <a:pt x="1143" y="1732"/>
                    </a:lnTo>
                    <a:lnTo>
                      <a:pt x="1143" y="1734"/>
                    </a:lnTo>
                    <a:lnTo>
                      <a:pt x="1145" y="1737"/>
                    </a:lnTo>
                    <a:lnTo>
                      <a:pt x="1145" y="1739"/>
                    </a:lnTo>
                    <a:lnTo>
                      <a:pt x="1147" y="1742"/>
                    </a:lnTo>
                    <a:lnTo>
                      <a:pt x="1147" y="1744"/>
                    </a:lnTo>
                    <a:lnTo>
                      <a:pt x="1148" y="1746"/>
                    </a:lnTo>
                    <a:lnTo>
                      <a:pt x="1148" y="1749"/>
                    </a:lnTo>
                    <a:lnTo>
                      <a:pt x="1150" y="1751"/>
                    </a:lnTo>
                    <a:lnTo>
                      <a:pt x="1150" y="1755"/>
                    </a:lnTo>
                    <a:lnTo>
                      <a:pt x="1152" y="1756"/>
                    </a:lnTo>
                    <a:lnTo>
                      <a:pt x="1152" y="1760"/>
                    </a:lnTo>
                    <a:lnTo>
                      <a:pt x="1152" y="1762"/>
                    </a:lnTo>
                    <a:lnTo>
                      <a:pt x="1154" y="1765"/>
                    </a:lnTo>
                    <a:lnTo>
                      <a:pt x="1154" y="1767"/>
                    </a:lnTo>
                    <a:lnTo>
                      <a:pt x="1155" y="1770"/>
                    </a:lnTo>
                    <a:lnTo>
                      <a:pt x="1155" y="1772"/>
                    </a:lnTo>
                    <a:lnTo>
                      <a:pt x="1157" y="1776"/>
                    </a:lnTo>
                    <a:lnTo>
                      <a:pt x="1157" y="1777"/>
                    </a:lnTo>
                    <a:lnTo>
                      <a:pt x="1159" y="1781"/>
                    </a:lnTo>
                    <a:lnTo>
                      <a:pt x="1159" y="1783"/>
                    </a:lnTo>
                    <a:lnTo>
                      <a:pt x="1161" y="1786"/>
                    </a:lnTo>
                    <a:lnTo>
                      <a:pt x="1161" y="1788"/>
                    </a:lnTo>
                    <a:lnTo>
                      <a:pt x="1162" y="1791"/>
                    </a:lnTo>
                    <a:lnTo>
                      <a:pt x="1162" y="1793"/>
                    </a:lnTo>
                    <a:lnTo>
                      <a:pt x="1164" y="1795"/>
                    </a:lnTo>
                    <a:lnTo>
                      <a:pt x="1164" y="1798"/>
                    </a:lnTo>
                    <a:lnTo>
                      <a:pt x="1166" y="1800"/>
                    </a:lnTo>
                    <a:lnTo>
                      <a:pt x="1166" y="1803"/>
                    </a:lnTo>
                    <a:lnTo>
                      <a:pt x="1166" y="1805"/>
                    </a:lnTo>
                    <a:lnTo>
                      <a:pt x="1168" y="1809"/>
                    </a:lnTo>
                    <a:lnTo>
                      <a:pt x="1168" y="1810"/>
                    </a:lnTo>
                    <a:lnTo>
                      <a:pt x="1169" y="1814"/>
                    </a:lnTo>
                    <a:lnTo>
                      <a:pt x="1169" y="1816"/>
                    </a:lnTo>
                    <a:lnTo>
                      <a:pt x="1171" y="1819"/>
                    </a:lnTo>
                    <a:lnTo>
                      <a:pt x="1171" y="1821"/>
                    </a:lnTo>
                    <a:lnTo>
                      <a:pt x="1173" y="1824"/>
                    </a:lnTo>
                    <a:lnTo>
                      <a:pt x="1173" y="1826"/>
                    </a:lnTo>
                    <a:lnTo>
                      <a:pt x="1175" y="1828"/>
                    </a:lnTo>
                    <a:lnTo>
                      <a:pt x="1175" y="1831"/>
                    </a:lnTo>
                    <a:lnTo>
                      <a:pt x="1176" y="1833"/>
                    </a:lnTo>
                    <a:lnTo>
                      <a:pt x="1176" y="1836"/>
                    </a:lnTo>
                    <a:lnTo>
                      <a:pt x="1178" y="1838"/>
                    </a:lnTo>
                    <a:lnTo>
                      <a:pt x="1178" y="1842"/>
                    </a:lnTo>
                    <a:lnTo>
                      <a:pt x="1180" y="1843"/>
                    </a:lnTo>
                    <a:lnTo>
                      <a:pt x="1180" y="1847"/>
                    </a:lnTo>
                    <a:lnTo>
                      <a:pt x="1182" y="1849"/>
                    </a:lnTo>
                    <a:lnTo>
                      <a:pt x="1182" y="1852"/>
                    </a:lnTo>
                    <a:lnTo>
                      <a:pt x="1183" y="1854"/>
                    </a:lnTo>
                    <a:lnTo>
                      <a:pt x="1183" y="1857"/>
                    </a:lnTo>
                    <a:lnTo>
                      <a:pt x="1185" y="1859"/>
                    </a:lnTo>
                    <a:lnTo>
                      <a:pt x="1185" y="1861"/>
                    </a:lnTo>
                    <a:lnTo>
                      <a:pt x="1187" y="1864"/>
                    </a:lnTo>
                    <a:lnTo>
                      <a:pt x="1187" y="1868"/>
                    </a:lnTo>
                    <a:lnTo>
                      <a:pt x="1188" y="1870"/>
                    </a:lnTo>
                    <a:lnTo>
                      <a:pt x="1188" y="1871"/>
                    </a:lnTo>
                    <a:lnTo>
                      <a:pt x="1190" y="1875"/>
                    </a:lnTo>
                    <a:lnTo>
                      <a:pt x="1190" y="1877"/>
                    </a:lnTo>
                    <a:lnTo>
                      <a:pt x="1192" y="1880"/>
                    </a:lnTo>
                    <a:lnTo>
                      <a:pt x="1192" y="1882"/>
                    </a:lnTo>
                    <a:lnTo>
                      <a:pt x="1194" y="1885"/>
                    </a:lnTo>
                    <a:lnTo>
                      <a:pt x="1194" y="1887"/>
                    </a:lnTo>
                    <a:lnTo>
                      <a:pt x="1194" y="1890"/>
                    </a:lnTo>
                    <a:lnTo>
                      <a:pt x="1195" y="1892"/>
                    </a:lnTo>
                    <a:lnTo>
                      <a:pt x="1197" y="1896"/>
                    </a:lnTo>
                    <a:lnTo>
                      <a:pt x="1197" y="1897"/>
                    </a:lnTo>
                    <a:lnTo>
                      <a:pt x="1197" y="1901"/>
                    </a:lnTo>
                    <a:lnTo>
                      <a:pt x="1199" y="1903"/>
                    </a:lnTo>
                    <a:lnTo>
                      <a:pt x="1201" y="1904"/>
                    </a:lnTo>
                    <a:lnTo>
                      <a:pt x="1201" y="1908"/>
                    </a:lnTo>
                    <a:lnTo>
                      <a:pt x="1202" y="1910"/>
                    </a:lnTo>
                    <a:lnTo>
                      <a:pt x="1202" y="1913"/>
                    </a:lnTo>
                    <a:lnTo>
                      <a:pt x="1202" y="1915"/>
                    </a:lnTo>
                    <a:lnTo>
                      <a:pt x="1204" y="1918"/>
                    </a:lnTo>
                    <a:lnTo>
                      <a:pt x="1206" y="1920"/>
                    </a:lnTo>
                    <a:lnTo>
                      <a:pt x="1206" y="1924"/>
                    </a:lnTo>
                    <a:lnTo>
                      <a:pt x="1208" y="1925"/>
                    </a:lnTo>
                    <a:lnTo>
                      <a:pt x="1208" y="1929"/>
                    </a:lnTo>
                    <a:lnTo>
                      <a:pt x="1209" y="1930"/>
                    </a:lnTo>
                    <a:lnTo>
                      <a:pt x="1209" y="1934"/>
                    </a:lnTo>
                    <a:lnTo>
                      <a:pt x="1211" y="1936"/>
                    </a:lnTo>
                    <a:lnTo>
                      <a:pt x="1211" y="1937"/>
                    </a:lnTo>
                    <a:lnTo>
                      <a:pt x="1213" y="1941"/>
                    </a:lnTo>
                    <a:lnTo>
                      <a:pt x="1213" y="1943"/>
                    </a:lnTo>
                    <a:lnTo>
                      <a:pt x="1215" y="1946"/>
                    </a:lnTo>
                    <a:lnTo>
                      <a:pt x="1215" y="1948"/>
                    </a:lnTo>
                    <a:lnTo>
                      <a:pt x="1216" y="1951"/>
                    </a:lnTo>
                    <a:lnTo>
                      <a:pt x="1216" y="1953"/>
                    </a:lnTo>
                    <a:lnTo>
                      <a:pt x="1218" y="1957"/>
                    </a:lnTo>
                    <a:lnTo>
                      <a:pt x="1218" y="1958"/>
                    </a:lnTo>
                    <a:lnTo>
                      <a:pt x="1220" y="1962"/>
                    </a:lnTo>
                    <a:lnTo>
                      <a:pt x="1220" y="1964"/>
                    </a:lnTo>
                    <a:lnTo>
                      <a:pt x="1222" y="1967"/>
                    </a:lnTo>
                    <a:lnTo>
                      <a:pt x="1222" y="1969"/>
                    </a:lnTo>
                    <a:lnTo>
                      <a:pt x="1223" y="1971"/>
                    </a:lnTo>
                    <a:lnTo>
                      <a:pt x="1223" y="1974"/>
                    </a:lnTo>
                    <a:lnTo>
                      <a:pt x="1225" y="1976"/>
                    </a:lnTo>
                    <a:lnTo>
                      <a:pt x="1225" y="1979"/>
                    </a:lnTo>
                    <a:lnTo>
                      <a:pt x="1227" y="1981"/>
                    </a:lnTo>
                    <a:lnTo>
                      <a:pt x="1227" y="1984"/>
                    </a:lnTo>
                    <a:lnTo>
                      <a:pt x="1229" y="1986"/>
                    </a:lnTo>
                    <a:lnTo>
                      <a:pt x="1229" y="1990"/>
                    </a:lnTo>
                    <a:lnTo>
                      <a:pt x="1230" y="1991"/>
                    </a:lnTo>
                    <a:lnTo>
                      <a:pt x="1230" y="1995"/>
                    </a:lnTo>
                    <a:lnTo>
                      <a:pt x="1232" y="1997"/>
                    </a:lnTo>
                    <a:lnTo>
                      <a:pt x="1232" y="2000"/>
                    </a:lnTo>
                    <a:lnTo>
                      <a:pt x="1234" y="2002"/>
                    </a:lnTo>
                    <a:lnTo>
                      <a:pt x="1234" y="2005"/>
                    </a:lnTo>
                    <a:lnTo>
                      <a:pt x="1235" y="2007"/>
                    </a:lnTo>
                    <a:lnTo>
                      <a:pt x="1237" y="2009"/>
                    </a:lnTo>
                    <a:lnTo>
                      <a:pt x="1237" y="2012"/>
                    </a:lnTo>
                    <a:lnTo>
                      <a:pt x="1239" y="2014"/>
                    </a:lnTo>
                    <a:lnTo>
                      <a:pt x="1239" y="2018"/>
                    </a:lnTo>
                    <a:lnTo>
                      <a:pt x="1241" y="2019"/>
                    </a:lnTo>
                    <a:lnTo>
                      <a:pt x="1241" y="2023"/>
                    </a:lnTo>
                    <a:lnTo>
                      <a:pt x="1242" y="2025"/>
                    </a:lnTo>
                    <a:lnTo>
                      <a:pt x="1242" y="2028"/>
                    </a:lnTo>
                    <a:lnTo>
                      <a:pt x="1244" y="2030"/>
                    </a:lnTo>
                    <a:lnTo>
                      <a:pt x="1244" y="2033"/>
                    </a:lnTo>
                    <a:lnTo>
                      <a:pt x="1246" y="2035"/>
                    </a:lnTo>
                    <a:lnTo>
                      <a:pt x="1246" y="2037"/>
                    </a:lnTo>
                    <a:lnTo>
                      <a:pt x="1248" y="2040"/>
                    </a:lnTo>
                    <a:lnTo>
                      <a:pt x="1248" y="2042"/>
                    </a:lnTo>
                    <a:lnTo>
                      <a:pt x="1249" y="2045"/>
                    </a:lnTo>
                    <a:lnTo>
                      <a:pt x="1251" y="2047"/>
                    </a:lnTo>
                    <a:lnTo>
                      <a:pt x="1251" y="2051"/>
                    </a:lnTo>
                    <a:lnTo>
                      <a:pt x="1253" y="2052"/>
                    </a:lnTo>
                    <a:lnTo>
                      <a:pt x="1253" y="2056"/>
                    </a:lnTo>
                    <a:lnTo>
                      <a:pt x="1255" y="2058"/>
                    </a:lnTo>
                    <a:lnTo>
                      <a:pt x="1255" y="2061"/>
                    </a:lnTo>
                    <a:lnTo>
                      <a:pt x="1256" y="2063"/>
                    </a:lnTo>
                    <a:lnTo>
                      <a:pt x="1256" y="2065"/>
                    </a:lnTo>
                    <a:lnTo>
                      <a:pt x="1258" y="2068"/>
                    </a:lnTo>
                    <a:lnTo>
                      <a:pt x="1258" y="2070"/>
                    </a:lnTo>
                    <a:lnTo>
                      <a:pt x="1260" y="2073"/>
                    </a:lnTo>
                    <a:lnTo>
                      <a:pt x="1260" y="2075"/>
                    </a:lnTo>
                    <a:lnTo>
                      <a:pt x="1262" y="2078"/>
                    </a:lnTo>
                    <a:lnTo>
                      <a:pt x="1262" y="2080"/>
                    </a:lnTo>
                    <a:lnTo>
                      <a:pt x="1263" y="2084"/>
                    </a:lnTo>
                    <a:lnTo>
                      <a:pt x="1265" y="2085"/>
                    </a:lnTo>
                    <a:lnTo>
                      <a:pt x="1265" y="2089"/>
                    </a:lnTo>
                    <a:lnTo>
                      <a:pt x="1267" y="2091"/>
                    </a:lnTo>
                    <a:lnTo>
                      <a:pt x="1267" y="2092"/>
                    </a:lnTo>
                    <a:lnTo>
                      <a:pt x="1269" y="2096"/>
                    </a:lnTo>
                    <a:lnTo>
                      <a:pt x="1269" y="2098"/>
                    </a:lnTo>
                    <a:lnTo>
                      <a:pt x="1270" y="2101"/>
                    </a:lnTo>
                    <a:lnTo>
                      <a:pt x="1270" y="2103"/>
                    </a:lnTo>
                    <a:lnTo>
                      <a:pt x="1272" y="2106"/>
                    </a:lnTo>
                    <a:moveTo>
                      <a:pt x="1039" y="1379"/>
                    </a:moveTo>
                    <a:lnTo>
                      <a:pt x="1037" y="1382"/>
                    </a:lnTo>
                    <a:lnTo>
                      <a:pt x="1037" y="1384"/>
                    </a:lnTo>
                    <a:lnTo>
                      <a:pt x="1037" y="1386"/>
                    </a:lnTo>
                    <a:lnTo>
                      <a:pt x="1035" y="1389"/>
                    </a:lnTo>
                    <a:lnTo>
                      <a:pt x="1035" y="1391"/>
                    </a:lnTo>
                    <a:lnTo>
                      <a:pt x="1034" y="1394"/>
                    </a:lnTo>
                    <a:lnTo>
                      <a:pt x="1034" y="1398"/>
                    </a:lnTo>
                    <a:lnTo>
                      <a:pt x="1034" y="1400"/>
                    </a:lnTo>
                    <a:lnTo>
                      <a:pt x="1032" y="1401"/>
                    </a:lnTo>
                    <a:lnTo>
                      <a:pt x="1032" y="1405"/>
                    </a:lnTo>
                    <a:lnTo>
                      <a:pt x="1032" y="1406"/>
                    </a:lnTo>
                    <a:lnTo>
                      <a:pt x="1030" y="1410"/>
                    </a:lnTo>
                    <a:lnTo>
                      <a:pt x="1030" y="1412"/>
                    </a:lnTo>
                    <a:lnTo>
                      <a:pt x="1028" y="1415"/>
                    </a:lnTo>
                    <a:lnTo>
                      <a:pt x="1028" y="1417"/>
                    </a:lnTo>
                    <a:lnTo>
                      <a:pt x="1028" y="1420"/>
                    </a:lnTo>
                    <a:lnTo>
                      <a:pt x="1027" y="1422"/>
                    </a:lnTo>
                    <a:lnTo>
                      <a:pt x="1027" y="1426"/>
                    </a:lnTo>
                    <a:lnTo>
                      <a:pt x="1025" y="1427"/>
                    </a:lnTo>
                    <a:lnTo>
                      <a:pt x="1025" y="1431"/>
                    </a:lnTo>
                    <a:lnTo>
                      <a:pt x="1025" y="1433"/>
                    </a:lnTo>
                    <a:lnTo>
                      <a:pt x="1023" y="1436"/>
                    </a:lnTo>
                    <a:lnTo>
                      <a:pt x="1023" y="1438"/>
                    </a:lnTo>
                    <a:lnTo>
                      <a:pt x="1021" y="1441"/>
                    </a:lnTo>
                    <a:lnTo>
                      <a:pt x="1021" y="1443"/>
                    </a:lnTo>
                    <a:lnTo>
                      <a:pt x="1021" y="1447"/>
                    </a:lnTo>
                    <a:lnTo>
                      <a:pt x="1020" y="1448"/>
                    </a:lnTo>
                    <a:lnTo>
                      <a:pt x="1020" y="1452"/>
                    </a:lnTo>
                    <a:lnTo>
                      <a:pt x="1018" y="1453"/>
                    </a:lnTo>
                    <a:lnTo>
                      <a:pt x="1018" y="1457"/>
                    </a:lnTo>
                    <a:lnTo>
                      <a:pt x="1018" y="1459"/>
                    </a:lnTo>
                    <a:lnTo>
                      <a:pt x="1016" y="1462"/>
                    </a:lnTo>
                    <a:lnTo>
                      <a:pt x="1016" y="1464"/>
                    </a:lnTo>
                    <a:lnTo>
                      <a:pt x="1014" y="1466"/>
                    </a:lnTo>
                    <a:lnTo>
                      <a:pt x="1014" y="1469"/>
                    </a:lnTo>
                    <a:lnTo>
                      <a:pt x="1014" y="1471"/>
                    </a:lnTo>
                    <a:lnTo>
                      <a:pt x="1013" y="1474"/>
                    </a:lnTo>
                    <a:lnTo>
                      <a:pt x="1013" y="1476"/>
                    </a:lnTo>
                    <a:lnTo>
                      <a:pt x="1011" y="1480"/>
                    </a:lnTo>
                    <a:lnTo>
                      <a:pt x="1011" y="1481"/>
                    </a:lnTo>
                    <a:lnTo>
                      <a:pt x="1011" y="1485"/>
                    </a:lnTo>
                    <a:lnTo>
                      <a:pt x="1009" y="1487"/>
                    </a:lnTo>
                    <a:lnTo>
                      <a:pt x="1009" y="1490"/>
                    </a:lnTo>
                    <a:lnTo>
                      <a:pt x="1009" y="1492"/>
                    </a:lnTo>
                    <a:lnTo>
                      <a:pt x="1007" y="1495"/>
                    </a:lnTo>
                    <a:lnTo>
                      <a:pt x="1007" y="1497"/>
                    </a:lnTo>
                    <a:lnTo>
                      <a:pt x="1006" y="1500"/>
                    </a:lnTo>
                    <a:lnTo>
                      <a:pt x="1006" y="1502"/>
                    </a:lnTo>
                    <a:lnTo>
                      <a:pt x="1004" y="1506"/>
                    </a:lnTo>
                    <a:lnTo>
                      <a:pt x="1004" y="1507"/>
                    </a:lnTo>
                    <a:lnTo>
                      <a:pt x="1004" y="1511"/>
                    </a:lnTo>
                    <a:lnTo>
                      <a:pt x="1002" y="1513"/>
                    </a:lnTo>
                    <a:lnTo>
                      <a:pt x="1002" y="1516"/>
                    </a:lnTo>
                    <a:lnTo>
                      <a:pt x="1000" y="1518"/>
                    </a:lnTo>
                    <a:lnTo>
                      <a:pt x="1000" y="1521"/>
                    </a:lnTo>
                    <a:lnTo>
                      <a:pt x="1000" y="1523"/>
                    </a:lnTo>
                    <a:lnTo>
                      <a:pt x="999" y="1527"/>
                    </a:lnTo>
                    <a:lnTo>
                      <a:pt x="999" y="1528"/>
                    </a:lnTo>
                    <a:lnTo>
                      <a:pt x="997" y="1532"/>
                    </a:lnTo>
                    <a:lnTo>
                      <a:pt x="997" y="1534"/>
                    </a:lnTo>
                    <a:lnTo>
                      <a:pt x="997" y="1535"/>
                    </a:lnTo>
                    <a:lnTo>
                      <a:pt x="995" y="1539"/>
                    </a:lnTo>
                    <a:lnTo>
                      <a:pt x="995" y="1541"/>
                    </a:lnTo>
                    <a:lnTo>
                      <a:pt x="994" y="1544"/>
                    </a:lnTo>
                    <a:lnTo>
                      <a:pt x="994" y="1546"/>
                    </a:lnTo>
                    <a:lnTo>
                      <a:pt x="992" y="1549"/>
                    </a:lnTo>
                    <a:lnTo>
                      <a:pt x="992" y="1551"/>
                    </a:lnTo>
                    <a:lnTo>
                      <a:pt x="992" y="1554"/>
                    </a:lnTo>
                    <a:lnTo>
                      <a:pt x="990" y="1556"/>
                    </a:lnTo>
                    <a:lnTo>
                      <a:pt x="990" y="1560"/>
                    </a:lnTo>
                    <a:lnTo>
                      <a:pt x="988" y="1561"/>
                    </a:lnTo>
                    <a:lnTo>
                      <a:pt x="988" y="1565"/>
                    </a:lnTo>
                    <a:lnTo>
                      <a:pt x="988" y="1567"/>
                    </a:lnTo>
                    <a:lnTo>
                      <a:pt x="987" y="1570"/>
                    </a:lnTo>
                    <a:lnTo>
                      <a:pt x="987" y="1572"/>
                    </a:lnTo>
                    <a:lnTo>
                      <a:pt x="985" y="1575"/>
                    </a:lnTo>
                    <a:lnTo>
                      <a:pt x="985" y="1577"/>
                    </a:lnTo>
                    <a:lnTo>
                      <a:pt x="983" y="1581"/>
                    </a:lnTo>
                    <a:lnTo>
                      <a:pt x="983" y="1582"/>
                    </a:lnTo>
                    <a:lnTo>
                      <a:pt x="983" y="1586"/>
                    </a:lnTo>
                    <a:lnTo>
                      <a:pt x="981" y="1588"/>
                    </a:lnTo>
                    <a:lnTo>
                      <a:pt x="981" y="1591"/>
                    </a:lnTo>
                    <a:lnTo>
                      <a:pt x="980" y="1593"/>
                    </a:lnTo>
                    <a:lnTo>
                      <a:pt x="980" y="1594"/>
                    </a:lnTo>
                    <a:lnTo>
                      <a:pt x="980" y="1598"/>
                    </a:lnTo>
                    <a:lnTo>
                      <a:pt x="978" y="1600"/>
                    </a:lnTo>
                    <a:lnTo>
                      <a:pt x="978" y="1603"/>
                    </a:lnTo>
                    <a:lnTo>
                      <a:pt x="976" y="1605"/>
                    </a:lnTo>
                    <a:lnTo>
                      <a:pt x="976" y="1608"/>
                    </a:lnTo>
                    <a:lnTo>
                      <a:pt x="974" y="1610"/>
                    </a:lnTo>
                    <a:lnTo>
                      <a:pt x="974" y="1614"/>
                    </a:lnTo>
                    <a:lnTo>
                      <a:pt x="974" y="1615"/>
                    </a:lnTo>
                    <a:lnTo>
                      <a:pt x="973" y="1619"/>
                    </a:lnTo>
                    <a:lnTo>
                      <a:pt x="973" y="1621"/>
                    </a:lnTo>
                    <a:lnTo>
                      <a:pt x="971" y="1624"/>
                    </a:lnTo>
                    <a:lnTo>
                      <a:pt x="971" y="1626"/>
                    </a:lnTo>
                    <a:lnTo>
                      <a:pt x="969" y="1629"/>
                    </a:lnTo>
                    <a:lnTo>
                      <a:pt x="969" y="1631"/>
                    </a:lnTo>
                    <a:lnTo>
                      <a:pt x="969" y="1635"/>
                    </a:lnTo>
                    <a:lnTo>
                      <a:pt x="967" y="1636"/>
                    </a:lnTo>
                    <a:lnTo>
                      <a:pt x="967" y="1640"/>
                    </a:lnTo>
                    <a:lnTo>
                      <a:pt x="966" y="1641"/>
                    </a:lnTo>
                    <a:lnTo>
                      <a:pt x="966" y="1645"/>
                    </a:lnTo>
                    <a:lnTo>
                      <a:pt x="964" y="1647"/>
                    </a:lnTo>
                    <a:lnTo>
                      <a:pt x="964" y="1650"/>
                    </a:lnTo>
                    <a:lnTo>
                      <a:pt x="964" y="1652"/>
                    </a:lnTo>
                    <a:lnTo>
                      <a:pt x="962" y="1654"/>
                    </a:lnTo>
                    <a:lnTo>
                      <a:pt x="962" y="1657"/>
                    </a:lnTo>
                    <a:lnTo>
                      <a:pt x="960" y="1659"/>
                    </a:lnTo>
                    <a:lnTo>
                      <a:pt x="960" y="1662"/>
                    </a:lnTo>
                    <a:lnTo>
                      <a:pt x="959" y="1664"/>
                    </a:lnTo>
                    <a:lnTo>
                      <a:pt x="959" y="1668"/>
                    </a:lnTo>
                    <a:lnTo>
                      <a:pt x="957" y="1669"/>
                    </a:lnTo>
                    <a:lnTo>
                      <a:pt x="957" y="1673"/>
                    </a:lnTo>
                    <a:lnTo>
                      <a:pt x="955" y="1675"/>
                    </a:lnTo>
                    <a:lnTo>
                      <a:pt x="955" y="1678"/>
                    </a:lnTo>
                    <a:lnTo>
                      <a:pt x="955" y="1680"/>
                    </a:lnTo>
                    <a:lnTo>
                      <a:pt x="954" y="1683"/>
                    </a:lnTo>
                    <a:lnTo>
                      <a:pt x="954" y="1685"/>
                    </a:lnTo>
                    <a:lnTo>
                      <a:pt x="952" y="1689"/>
                    </a:lnTo>
                    <a:lnTo>
                      <a:pt x="952" y="1690"/>
                    </a:lnTo>
                    <a:lnTo>
                      <a:pt x="950" y="1692"/>
                    </a:lnTo>
                    <a:lnTo>
                      <a:pt x="950" y="1695"/>
                    </a:lnTo>
                    <a:lnTo>
                      <a:pt x="950" y="1699"/>
                    </a:lnTo>
                    <a:lnTo>
                      <a:pt x="948" y="1701"/>
                    </a:lnTo>
                    <a:lnTo>
                      <a:pt x="948" y="1702"/>
                    </a:lnTo>
                    <a:lnTo>
                      <a:pt x="947" y="1706"/>
                    </a:lnTo>
                    <a:lnTo>
                      <a:pt x="947" y="1708"/>
                    </a:lnTo>
                    <a:lnTo>
                      <a:pt x="945" y="1711"/>
                    </a:lnTo>
                    <a:lnTo>
                      <a:pt x="945" y="1713"/>
                    </a:lnTo>
                    <a:lnTo>
                      <a:pt x="943" y="1716"/>
                    </a:lnTo>
                    <a:lnTo>
                      <a:pt x="943" y="1718"/>
                    </a:lnTo>
                    <a:lnTo>
                      <a:pt x="941" y="1722"/>
                    </a:lnTo>
                    <a:lnTo>
                      <a:pt x="941" y="1723"/>
                    </a:lnTo>
                    <a:lnTo>
                      <a:pt x="941" y="1727"/>
                    </a:lnTo>
                    <a:lnTo>
                      <a:pt x="940" y="1729"/>
                    </a:lnTo>
                    <a:lnTo>
                      <a:pt x="940" y="1732"/>
                    </a:lnTo>
                    <a:lnTo>
                      <a:pt x="938" y="1734"/>
                    </a:lnTo>
                    <a:lnTo>
                      <a:pt x="938" y="1737"/>
                    </a:lnTo>
                    <a:lnTo>
                      <a:pt x="936" y="1739"/>
                    </a:lnTo>
                    <a:lnTo>
                      <a:pt x="936" y="1742"/>
                    </a:lnTo>
                    <a:lnTo>
                      <a:pt x="934" y="1744"/>
                    </a:lnTo>
                    <a:lnTo>
                      <a:pt x="934" y="1746"/>
                    </a:lnTo>
                    <a:lnTo>
                      <a:pt x="933" y="1749"/>
                    </a:lnTo>
                    <a:lnTo>
                      <a:pt x="933" y="1751"/>
                    </a:lnTo>
                    <a:lnTo>
                      <a:pt x="933" y="1755"/>
                    </a:lnTo>
                    <a:lnTo>
                      <a:pt x="931" y="1756"/>
                    </a:lnTo>
                    <a:lnTo>
                      <a:pt x="931" y="1760"/>
                    </a:lnTo>
                    <a:lnTo>
                      <a:pt x="929" y="1762"/>
                    </a:lnTo>
                    <a:lnTo>
                      <a:pt x="929" y="1765"/>
                    </a:lnTo>
                    <a:lnTo>
                      <a:pt x="927" y="1767"/>
                    </a:lnTo>
                    <a:lnTo>
                      <a:pt x="927" y="1770"/>
                    </a:lnTo>
                    <a:lnTo>
                      <a:pt x="926" y="1772"/>
                    </a:lnTo>
                    <a:lnTo>
                      <a:pt x="926" y="1776"/>
                    </a:lnTo>
                    <a:lnTo>
                      <a:pt x="924" y="1777"/>
                    </a:lnTo>
                    <a:lnTo>
                      <a:pt x="924" y="1781"/>
                    </a:lnTo>
                    <a:lnTo>
                      <a:pt x="922" y="1783"/>
                    </a:lnTo>
                    <a:lnTo>
                      <a:pt x="922" y="1786"/>
                    </a:lnTo>
                    <a:lnTo>
                      <a:pt x="920" y="1788"/>
                    </a:lnTo>
                    <a:lnTo>
                      <a:pt x="920" y="1791"/>
                    </a:lnTo>
                    <a:lnTo>
                      <a:pt x="919" y="1793"/>
                    </a:lnTo>
                    <a:lnTo>
                      <a:pt x="919" y="1795"/>
                    </a:lnTo>
                    <a:lnTo>
                      <a:pt x="919" y="1798"/>
                    </a:lnTo>
                    <a:lnTo>
                      <a:pt x="917" y="1800"/>
                    </a:lnTo>
                    <a:lnTo>
                      <a:pt x="917" y="1803"/>
                    </a:lnTo>
                    <a:lnTo>
                      <a:pt x="915" y="1805"/>
                    </a:lnTo>
                    <a:lnTo>
                      <a:pt x="915" y="1809"/>
                    </a:lnTo>
                    <a:lnTo>
                      <a:pt x="913" y="1810"/>
                    </a:lnTo>
                    <a:lnTo>
                      <a:pt x="913" y="1814"/>
                    </a:lnTo>
                    <a:lnTo>
                      <a:pt x="912" y="1816"/>
                    </a:lnTo>
                    <a:lnTo>
                      <a:pt x="912" y="1819"/>
                    </a:lnTo>
                    <a:lnTo>
                      <a:pt x="910" y="1821"/>
                    </a:lnTo>
                    <a:lnTo>
                      <a:pt x="910" y="1824"/>
                    </a:lnTo>
                    <a:lnTo>
                      <a:pt x="908" y="1826"/>
                    </a:lnTo>
                    <a:lnTo>
                      <a:pt x="908" y="1828"/>
                    </a:lnTo>
                    <a:lnTo>
                      <a:pt x="907" y="1831"/>
                    </a:lnTo>
                    <a:lnTo>
                      <a:pt x="907" y="1833"/>
                    </a:lnTo>
                    <a:lnTo>
                      <a:pt x="905" y="1836"/>
                    </a:lnTo>
                    <a:lnTo>
                      <a:pt x="905" y="1838"/>
                    </a:lnTo>
                    <a:lnTo>
                      <a:pt x="903" y="1842"/>
                    </a:lnTo>
                    <a:lnTo>
                      <a:pt x="903" y="1843"/>
                    </a:lnTo>
                    <a:lnTo>
                      <a:pt x="901" y="1847"/>
                    </a:lnTo>
                    <a:lnTo>
                      <a:pt x="901" y="1849"/>
                    </a:lnTo>
                    <a:lnTo>
                      <a:pt x="900" y="1852"/>
                    </a:lnTo>
                    <a:lnTo>
                      <a:pt x="900" y="1854"/>
                    </a:lnTo>
                    <a:lnTo>
                      <a:pt x="900" y="1857"/>
                    </a:lnTo>
                    <a:lnTo>
                      <a:pt x="898" y="1859"/>
                    </a:lnTo>
                    <a:lnTo>
                      <a:pt x="896" y="1861"/>
                    </a:lnTo>
                    <a:lnTo>
                      <a:pt x="896" y="1864"/>
                    </a:lnTo>
                    <a:lnTo>
                      <a:pt x="896" y="1868"/>
                    </a:lnTo>
                    <a:lnTo>
                      <a:pt x="894" y="1870"/>
                    </a:lnTo>
                    <a:lnTo>
                      <a:pt x="894" y="1871"/>
                    </a:lnTo>
                    <a:lnTo>
                      <a:pt x="893" y="1875"/>
                    </a:lnTo>
                    <a:lnTo>
                      <a:pt x="893" y="1877"/>
                    </a:lnTo>
                    <a:lnTo>
                      <a:pt x="891" y="1880"/>
                    </a:lnTo>
                    <a:lnTo>
                      <a:pt x="891" y="1882"/>
                    </a:lnTo>
                    <a:lnTo>
                      <a:pt x="889" y="1885"/>
                    </a:lnTo>
                    <a:lnTo>
                      <a:pt x="889" y="1887"/>
                    </a:lnTo>
                    <a:lnTo>
                      <a:pt x="887" y="1890"/>
                    </a:lnTo>
                    <a:lnTo>
                      <a:pt x="887" y="1892"/>
                    </a:lnTo>
                    <a:lnTo>
                      <a:pt x="886" y="1896"/>
                    </a:lnTo>
                    <a:lnTo>
                      <a:pt x="886" y="1897"/>
                    </a:lnTo>
                    <a:lnTo>
                      <a:pt x="884" y="1901"/>
                    </a:lnTo>
                    <a:lnTo>
                      <a:pt x="884" y="1903"/>
                    </a:lnTo>
                    <a:lnTo>
                      <a:pt x="882" y="1904"/>
                    </a:lnTo>
                    <a:lnTo>
                      <a:pt x="882" y="1908"/>
                    </a:lnTo>
                    <a:lnTo>
                      <a:pt x="880" y="1910"/>
                    </a:lnTo>
                    <a:lnTo>
                      <a:pt x="880" y="1913"/>
                    </a:lnTo>
                    <a:lnTo>
                      <a:pt x="879" y="1915"/>
                    </a:lnTo>
                    <a:lnTo>
                      <a:pt x="879" y="1918"/>
                    </a:lnTo>
                    <a:lnTo>
                      <a:pt x="877" y="1920"/>
                    </a:lnTo>
                    <a:lnTo>
                      <a:pt x="877" y="1924"/>
                    </a:lnTo>
                    <a:lnTo>
                      <a:pt x="875" y="1925"/>
                    </a:lnTo>
                    <a:lnTo>
                      <a:pt x="875" y="1929"/>
                    </a:lnTo>
                    <a:lnTo>
                      <a:pt x="873" y="1930"/>
                    </a:lnTo>
                    <a:lnTo>
                      <a:pt x="873" y="1934"/>
                    </a:lnTo>
                    <a:lnTo>
                      <a:pt x="872" y="1936"/>
                    </a:lnTo>
                    <a:lnTo>
                      <a:pt x="872" y="1937"/>
                    </a:lnTo>
                    <a:lnTo>
                      <a:pt x="870" y="1941"/>
                    </a:lnTo>
                    <a:lnTo>
                      <a:pt x="868" y="1943"/>
                    </a:lnTo>
                    <a:lnTo>
                      <a:pt x="868" y="1946"/>
                    </a:lnTo>
                    <a:lnTo>
                      <a:pt x="868" y="1948"/>
                    </a:lnTo>
                    <a:lnTo>
                      <a:pt x="866" y="1951"/>
                    </a:lnTo>
                    <a:lnTo>
                      <a:pt x="865" y="1953"/>
                    </a:lnTo>
                    <a:lnTo>
                      <a:pt x="865" y="1957"/>
                    </a:lnTo>
                    <a:lnTo>
                      <a:pt x="863" y="1958"/>
                    </a:lnTo>
                    <a:lnTo>
                      <a:pt x="863" y="1962"/>
                    </a:lnTo>
                    <a:lnTo>
                      <a:pt x="861" y="1964"/>
                    </a:lnTo>
                    <a:lnTo>
                      <a:pt x="861" y="1967"/>
                    </a:lnTo>
                    <a:lnTo>
                      <a:pt x="860" y="1969"/>
                    </a:lnTo>
                    <a:lnTo>
                      <a:pt x="860" y="1971"/>
                    </a:lnTo>
                    <a:lnTo>
                      <a:pt x="858" y="1974"/>
                    </a:lnTo>
                    <a:lnTo>
                      <a:pt x="858" y="1976"/>
                    </a:lnTo>
                    <a:lnTo>
                      <a:pt x="856" y="1979"/>
                    </a:lnTo>
                    <a:lnTo>
                      <a:pt x="856" y="1981"/>
                    </a:lnTo>
                    <a:lnTo>
                      <a:pt x="854" y="1984"/>
                    </a:lnTo>
                    <a:lnTo>
                      <a:pt x="854" y="1986"/>
                    </a:lnTo>
                    <a:lnTo>
                      <a:pt x="853" y="1990"/>
                    </a:lnTo>
                    <a:lnTo>
                      <a:pt x="853" y="1991"/>
                    </a:lnTo>
                    <a:lnTo>
                      <a:pt x="851" y="1995"/>
                    </a:lnTo>
                    <a:lnTo>
                      <a:pt x="851" y="1997"/>
                    </a:lnTo>
                    <a:lnTo>
                      <a:pt x="849" y="2000"/>
                    </a:lnTo>
                    <a:lnTo>
                      <a:pt x="849" y="2002"/>
                    </a:lnTo>
                    <a:lnTo>
                      <a:pt x="847" y="2005"/>
                    </a:lnTo>
                    <a:lnTo>
                      <a:pt x="847" y="2007"/>
                    </a:lnTo>
                    <a:lnTo>
                      <a:pt x="846" y="2009"/>
                    </a:lnTo>
                    <a:lnTo>
                      <a:pt x="846" y="2012"/>
                    </a:lnTo>
                    <a:lnTo>
                      <a:pt x="844" y="2014"/>
                    </a:lnTo>
                    <a:lnTo>
                      <a:pt x="842" y="2018"/>
                    </a:lnTo>
                    <a:lnTo>
                      <a:pt x="842" y="2019"/>
                    </a:lnTo>
                    <a:lnTo>
                      <a:pt x="840" y="2023"/>
                    </a:lnTo>
                    <a:lnTo>
                      <a:pt x="840" y="2025"/>
                    </a:lnTo>
                    <a:lnTo>
                      <a:pt x="839" y="2028"/>
                    </a:lnTo>
                    <a:lnTo>
                      <a:pt x="839" y="2030"/>
                    </a:lnTo>
                    <a:lnTo>
                      <a:pt x="837" y="2033"/>
                    </a:lnTo>
                    <a:lnTo>
                      <a:pt x="837" y="2035"/>
                    </a:lnTo>
                    <a:lnTo>
                      <a:pt x="835" y="2037"/>
                    </a:lnTo>
                    <a:lnTo>
                      <a:pt x="835" y="2040"/>
                    </a:lnTo>
                    <a:lnTo>
                      <a:pt x="833" y="2042"/>
                    </a:lnTo>
                    <a:lnTo>
                      <a:pt x="833" y="2045"/>
                    </a:lnTo>
                    <a:lnTo>
                      <a:pt x="832" y="2047"/>
                    </a:lnTo>
                    <a:lnTo>
                      <a:pt x="832" y="2051"/>
                    </a:lnTo>
                    <a:lnTo>
                      <a:pt x="830" y="2052"/>
                    </a:lnTo>
                    <a:lnTo>
                      <a:pt x="828" y="2056"/>
                    </a:lnTo>
                    <a:lnTo>
                      <a:pt x="828" y="2058"/>
                    </a:lnTo>
                    <a:lnTo>
                      <a:pt x="826" y="2061"/>
                    </a:lnTo>
                    <a:lnTo>
                      <a:pt x="826" y="2063"/>
                    </a:lnTo>
                    <a:lnTo>
                      <a:pt x="825" y="2065"/>
                    </a:lnTo>
                    <a:lnTo>
                      <a:pt x="825" y="2068"/>
                    </a:lnTo>
                    <a:lnTo>
                      <a:pt x="823" y="2070"/>
                    </a:lnTo>
                    <a:lnTo>
                      <a:pt x="823" y="2073"/>
                    </a:lnTo>
                    <a:lnTo>
                      <a:pt x="821" y="2075"/>
                    </a:lnTo>
                    <a:lnTo>
                      <a:pt x="821" y="2078"/>
                    </a:lnTo>
                    <a:lnTo>
                      <a:pt x="819" y="2080"/>
                    </a:lnTo>
                    <a:lnTo>
                      <a:pt x="819" y="2084"/>
                    </a:lnTo>
                    <a:lnTo>
                      <a:pt x="818" y="2085"/>
                    </a:lnTo>
                    <a:lnTo>
                      <a:pt x="818" y="2089"/>
                    </a:lnTo>
                    <a:lnTo>
                      <a:pt x="816" y="2091"/>
                    </a:lnTo>
                    <a:lnTo>
                      <a:pt x="814" y="2092"/>
                    </a:lnTo>
                    <a:lnTo>
                      <a:pt x="814" y="2096"/>
                    </a:lnTo>
                    <a:lnTo>
                      <a:pt x="813" y="2098"/>
                    </a:lnTo>
                    <a:lnTo>
                      <a:pt x="813" y="2101"/>
                    </a:lnTo>
                    <a:lnTo>
                      <a:pt x="811" y="2103"/>
                    </a:lnTo>
                    <a:lnTo>
                      <a:pt x="811" y="2106"/>
                    </a:lnTo>
                    <a:moveTo>
                      <a:pt x="854" y="1570"/>
                    </a:moveTo>
                    <a:lnTo>
                      <a:pt x="853" y="1574"/>
                    </a:lnTo>
                    <a:lnTo>
                      <a:pt x="849" y="1575"/>
                    </a:lnTo>
                    <a:lnTo>
                      <a:pt x="847" y="1577"/>
                    </a:lnTo>
                    <a:lnTo>
                      <a:pt x="846" y="1579"/>
                    </a:lnTo>
                    <a:lnTo>
                      <a:pt x="844" y="1581"/>
                    </a:lnTo>
                    <a:lnTo>
                      <a:pt x="842" y="1582"/>
                    </a:lnTo>
                    <a:lnTo>
                      <a:pt x="839" y="1586"/>
                    </a:lnTo>
                    <a:lnTo>
                      <a:pt x="837" y="1588"/>
                    </a:lnTo>
                    <a:lnTo>
                      <a:pt x="835" y="1589"/>
                    </a:lnTo>
                    <a:lnTo>
                      <a:pt x="833" y="1591"/>
                    </a:lnTo>
                    <a:lnTo>
                      <a:pt x="832" y="1594"/>
                    </a:lnTo>
                    <a:lnTo>
                      <a:pt x="828" y="1596"/>
                    </a:lnTo>
                    <a:lnTo>
                      <a:pt x="826" y="1598"/>
                    </a:lnTo>
                    <a:lnTo>
                      <a:pt x="825" y="1600"/>
                    </a:lnTo>
                    <a:lnTo>
                      <a:pt x="823" y="1601"/>
                    </a:lnTo>
                    <a:lnTo>
                      <a:pt x="819" y="1603"/>
                    </a:lnTo>
                    <a:lnTo>
                      <a:pt x="818" y="1607"/>
                    </a:lnTo>
                    <a:lnTo>
                      <a:pt x="816" y="1608"/>
                    </a:lnTo>
                    <a:lnTo>
                      <a:pt x="814" y="1610"/>
                    </a:lnTo>
                    <a:lnTo>
                      <a:pt x="811" y="1612"/>
                    </a:lnTo>
                    <a:lnTo>
                      <a:pt x="809" y="1614"/>
                    </a:lnTo>
                    <a:lnTo>
                      <a:pt x="807" y="1617"/>
                    </a:lnTo>
                    <a:lnTo>
                      <a:pt x="806" y="1619"/>
                    </a:lnTo>
                    <a:lnTo>
                      <a:pt x="802" y="1621"/>
                    </a:lnTo>
                    <a:lnTo>
                      <a:pt x="800" y="1622"/>
                    </a:lnTo>
                    <a:lnTo>
                      <a:pt x="799" y="1624"/>
                    </a:lnTo>
                    <a:lnTo>
                      <a:pt x="797" y="1626"/>
                    </a:lnTo>
                    <a:lnTo>
                      <a:pt x="793" y="1629"/>
                    </a:lnTo>
                    <a:lnTo>
                      <a:pt x="792" y="1631"/>
                    </a:lnTo>
                    <a:lnTo>
                      <a:pt x="790" y="1633"/>
                    </a:lnTo>
                    <a:lnTo>
                      <a:pt x="788" y="1635"/>
                    </a:lnTo>
                    <a:lnTo>
                      <a:pt x="785" y="1636"/>
                    </a:lnTo>
                    <a:lnTo>
                      <a:pt x="783" y="1640"/>
                    </a:lnTo>
                    <a:lnTo>
                      <a:pt x="781" y="1641"/>
                    </a:lnTo>
                    <a:lnTo>
                      <a:pt x="779" y="1643"/>
                    </a:lnTo>
                    <a:lnTo>
                      <a:pt x="776" y="1645"/>
                    </a:lnTo>
                    <a:lnTo>
                      <a:pt x="774" y="1647"/>
                    </a:lnTo>
                    <a:lnTo>
                      <a:pt x="772" y="1648"/>
                    </a:lnTo>
                    <a:lnTo>
                      <a:pt x="769" y="1650"/>
                    </a:lnTo>
                    <a:lnTo>
                      <a:pt x="767" y="1654"/>
                    </a:lnTo>
                    <a:lnTo>
                      <a:pt x="766" y="1655"/>
                    </a:lnTo>
                    <a:lnTo>
                      <a:pt x="764" y="1657"/>
                    </a:lnTo>
                    <a:lnTo>
                      <a:pt x="762" y="1659"/>
                    </a:lnTo>
                    <a:lnTo>
                      <a:pt x="759" y="1661"/>
                    </a:lnTo>
                    <a:lnTo>
                      <a:pt x="757" y="1662"/>
                    </a:lnTo>
                    <a:lnTo>
                      <a:pt x="755" y="1666"/>
                    </a:lnTo>
                    <a:lnTo>
                      <a:pt x="752" y="1668"/>
                    </a:lnTo>
                    <a:lnTo>
                      <a:pt x="750" y="1669"/>
                    </a:lnTo>
                    <a:lnTo>
                      <a:pt x="748" y="1671"/>
                    </a:lnTo>
                    <a:lnTo>
                      <a:pt x="745" y="1673"/>
                    </a:lnTo>
                    <a:lnTo>
                      <a:pt x="743" y="1675"/>
                    </a:lnTo>
                    <a:lnTo>
                      <a:pt x="741" y="1678"/>
                    </a:lnTo>
                    <a:lnTo>
                      <a:pt x="739" y="1680"/>
                    </a:lnTo>
                    <a:lnTo>
                      <a:pt x="736" y="1682"/>
                    </a:lnTo>
                    <a:lnTo>
                      <a:pt x="734" y="1683"/>
                    </a:lnTo>
                    <a:lnTo>
                      <a:pt x="732" y="1685"/>
                    </a:lnTo>
                    <a:lnTo>
                      <a:pt x="729" y="1687"/>
                    </a:lnTo>
                    <a:lnTo>
                      <a:pt x="727" y="1689"/>
                    </a:lnTo>
                    <a:lnTo>
                      <a:pt x="726" y="1692"/>
                    </a:lnTo>
                    <a:lnTo>
                      <a:pt x="722" y="1694"/>
                    </a:lnTo>
                    <a:lnTo>
                      <a:pt x="720" y="1695"/>
                    </a:lnTo>
                    <a:lnTo>
                      <a:pt x="719" y="1697"/>
                    </a:lnTo>
                    <a:lnTo>
                      <a:pt x="717" y="1699"/>
                    </a:lnTo>
                    <a:lnTo>
                      <a:pt x="713" y="1701"/>
                    </a:lnTo>
                    <a:lnTo>
                      <a:pt x="712" y="1702"/>
                    </a:lnTo>
                    <a:lnTo>
                      <a:pt x="710" y="1704"/>
                    </a:lnTo>
                    <a:lnTo>
                      <a:pt x="706" y="1708"/>
                    </a:lnTo>
                    <a:lnTo>
                      <a:pt x="705" y="1709"/>
                    </a:lnTo>
                    <a:lnTo>
                      <a:pt x="703" y="1711"/>
                    </a:lnTo>
                    <a:lnTo>
                      <a:pt x="699" y="1713"/>
                    </a:lnTo>
                    <a:lnTo>
                      <a:pt x="698" y="1715"/>
                    </a:lnTo>
                    <a:lnTo>
                      <a:pt x="696" y="1716"/>
                    </a:lnTo>
                    <a:lnTo>
                      <a:pt x="692" y="1718"/>
                    </a:lnTo>
                    <a:lnTo>
                      <a:pt x="691" y="1722"/>
                    </a:lnTo>
                    <a:lnTo>
                      <a:pt x="689" y="1723"/>
                    </a:lnTo>
                    <a:lnTo>
                      <a:pt x="685" y="1725"/>
                    </a:lnTo>
                    <a:lnTo>
                      <a:pt x="684" y="1727"/>
                    </a:lnTo>
                    <a:lnTo>
                      <a:pt x="682" y="1729"/>
                    </a:lnTo>
                    <a:lnTo>
                      <a:pt x="679" y="1730"/>
                    </a:lnTo>
                    <a:lnTo>
                      <a:pt x="677" y="1732"/>
                    </a:lnTo>
                    <a:lnTo>
                      <a:pt x="675" y="1734"/>
                    </a:lnTo>
                    <a:lnTo>
                      <a:pt x="672" y="1736"/>
                    </a:lnTo>
                    <a:lnTo>
                      <a:pt x="670" y="1739"/>
                    </a:lnTo>
                    <a:lnTo>
                      <a:pt x="668" y="1741"/>
                    </a:lnTo>
                    <a:lnTo>
                      <a:pt x="665" y="1742"/>
                    </a:lnTo>
                    <a:lnTo>
                      <a:pt x="663" y="1744"/>
                    </a:lnTo>
                    <a:lnTo>
                      <a:pt x="661" y="1746"/>
                    </a:lnTo>
                    <a:lnTo>
                      <a:pt x="658" y="1748"/>
                    </a:lnTo>
                    <a:lnTo>
                      <a:pt x="656" y="1749"/>
                    </a:lnTo>
                    <a:lnTo>
                      <a:pt x="654" y="1751"/>
                    </a:lnTo>
                    <a:lnTo>
                      <a:pt x="651" y="1755"/>
                    </a:lnTo>
                    <a:lnTo>
                      <a:pt x="649" y="1756"/>
                    </a:lnTo>
                    <a:lnTo>
                      <a:pt x="645" y="1758"/>
                    </a:lnTo>
                    <a:lnTo>
                      <a:pt x="644" y="1760"/>
                    </a:lnTo>
                    <a:lnTo>
                      <a:pt x="642" y="1762"/>
                    </a:lnTo>
                    <a:lnTo>
                      <a:pt x="640" y="1763"/>
                    </a:lnTo>
                    <a:lnTo>
                      <a:pt x="637" y="1765"/>
                    </a:lnTo>
                    <a:lnTo>
                      <a:pt x="635" y="1767"/>
                    </a:lnTo>
                    <a:lnTo>
                      <a:pt x="632" y="1769"/>
                    </a:lnTo>
                    <a:lnTo>
                      <a:pt x="630" y="1770"/>
                    </a:lnTo>
                    <a:lnTo>
                      <a:pt x="628" y="1772"/>
                    </a:lnTo>
                    <a:lnTo>
                      <a:pt x="625" y="1774"/>
                    </a:lnTo>
                    <a:lnTo>
                      <a:pt x="623" y="1777"/>
                    </a:lnTo>
                    <a:lnTo>
                      <a:pt x="621" y="1779"/>
                    </a:lnTo>
                    <a:lnTo>
                      <a:pt x="618" y="1781"/>
                    </a:lnTo>
                    <a:lnTo>
                      <a:pt x="616" y="1783"/>
                    </a:lnTo>
                    <a:lnTo>
                      <a:pt x="612" y="1784"/>
                    </a:lnTo>
                    <a:lnTo>
                      <a:pt x="611" y="1786"/>
                    </a:lnTo>
                    <a:lnTo>
                      <a:pt x="609" y="1788"/>
                    </a:lnTo>
                    <a:lnTo>
                      <a:pt x="605" y="1789"/>
                    </a:lnTo>
                    <a:lnTo>
                      <a:pt x="604" y="1791"/>
                    </a:lnTo>
                    <a:lnTo>
                      <a:pt x="600" y="1795"/>
                    </a:lnTo>
                    <a:lnTo>
                      <a:pt x="598" y="1796"/>
                    </a:lnTo>
                    <a:lnTo>
                      <a:pt x="597" y="1798"/>
                    </a:lnTo>
                    <a:lnTo>
                      <a:pt x="593" y="1800"/>
                    </a:lnTo>
                    <a:lnTo>
                      <a:pt x="591" y="1802"/>
                    </a:lnTo>
                    <a:lnTo>
                      <a:pt x="590" y="1803"/>
                    </a:lnTo>
                    <a:lnTo>
                      <a:pt x="586" y="1805"/>
                    </a:lnTo>
                    <a:lnTo>
                      <a:pt x="585" y="1807"/>
                    </a:lnTo>
                    <a:lnTo>
                      <a:pt x="581" y="1809"/>
                    </a:lnTo>
                    <a:lnTo>
                      <a:pt x="579" y="1810"/>
                    </a:lnTo>
                    <a:lnTo>
                      <a:pt x="576" y="1812"/>
                    </a:lnTo>
                    <a:lnTo>
                      <a:pt x="574" y="1814"/>
                    </a:lnTo>
                    <a:lnTo>
                      <a:pt x="572" y="1816"/>
                    </a:lnTo>
                    <a:lnTo>
                      <a:pt x="569" y="1817"/>
                    </a:lnTo>
                    <a:lnTo>
                      <a:pt x="567" y="1819"/>
                    </a:lnTo>
                    <a:lnTo>
                      <a:pt x="564" y="1823"/>
                    </a:lnTo>
                    <a:lnTo>
                      <a:pt x="562" y="1824"/>
                    </a:lnTo>
                    <a:lnTo>
                      <a:pt x="560" y="1826"/>
                    </a:lnTo>
                    <a:lnTo>
                      <a:pt x="557" y="1828"/>
                    </a:lnTo>
                    <a:lnTo>
                      <a:pt x="555" y="1830"/>
                    </a:lnTo>
                    <a:lnTo>
                      <a:pt x="551" y="1831"/>
                    </a:lnTo>
                    <a:lnTo>
                      <a:pt x="550" y="1833"/>
                    </a:lnTo>
                    <a:lnTo>
                      <a:pt x="548" y="1835"/>
                    </a:lnTo>
                    <a:lnTo>
                      <a:pt x="544" y="1836"/>
                    </a:lnTo>
                    <a:lnTo>
                      <a:pt x="543" y="1838"/>
                    </a:lnTo>
                    <a:lnTo>
                      <a:pt x="539" y="1840"/>
                    </a:lnTo>
                    <a:lnTo>
                      <a:pt x="538" y="1842"/>
                    </a:lnTo>
                    <a:lnTo>
                      <a:pt x="534" y="1843"/>
                    </a:lnTo>
                    <a:lnTo>
                      <a:pt x="532" y="1845"/>
                    </a:lnTo>
                    <a:lnTo>
                      <a:pt x="531" y="1847"/>
                    </a:lnTo>
                    <a:lnTo>
                      <a:pt x="527" y="1849"/>
                    </a:lnTo>
                    <a:lnTo>
                      <a:pt x="525" y="1850"/>
                    </a:lnTo>
                    <a:lnTo>
                      <a:pt x="522" y="1852"/>
                    </a:lnTo>
                    <a:lnTo>
                      <a:pt x="520" y="1854"/>
                    </a:lnTo>
                    <a:lnTo>
                      <a:pt x="517" y="1856"/>
                    </a:lnTo>
                    <a:lnTo>
                      <a:pt x="515" y="1859"/>
                    </a:lnTo>
                    <a:lnTo>
                      <a:pt x="511" y="1861"/>
                    </a:lnTo>
                    <a:lnTo>
                      <a:pt x="510" y="1863"/>
                    </a:lnTo>
                    <a:lnTo>
                      <a:pt x="508" y="1864"/>
                    </a:lnTo>
                    <a:lnTo>
                      <a:pt x="504" y="1866"/>
                    </a:lnTo>
                    <a:lnTo>
                      <a:pt x="503" y="1868"/>
                    </a:lnTo>
                    <a:lnTo>
                      <a:pt x="499" y="1870"/>
                    </a:lnTo>
                    <a:lnTo>
                      <a:pt x="498" y="1871"/>
                    </a:lnTo>
                    <a:lnTo>
                      <a:pt x="494" y="1873"/>
                    </a:lnTo>
                    <a:lnTo>
                      <a:pt x="492" y="1875"/>
                    </a:lnTo>
                    <a:lnTo>
                      <a:pt x="489" y="1877"/>
                    </a:lnTo>
                    <a:lnTo>
                      <a:pt x="487" y="1878"/>
                    </a:lnTo>
                    <a:lnTo>
                      <a:pt x="484" y="1880"/>
                    </a:lnTo>
                    <a:lnTo>
                      <a:pt x="482" y="1882"/>
                    </a:lnTo>
                    <a:lnTo>
                      <a:pt x="480" y="1883"/>
                    </a:lnTo>
                    <a:lnTo>
                      <a:pt x="477" y="1885"/>
                    </a:lnTo>
                    <a:lnTo>
                      <a:pt x="475" y="1887"/>
                    </a:lnTo>
                    <a:lnTo>
                      <a:pt x="471" y="1889"/>
                    </a:lnTo>
                    <a:lnTo>
                      <a:pt x="470" y="1890"/>
                    </a:lnTo>
                    <a:lnTo>
                      <a:pt x="466" y="1892"/>
                    </a:lnTo>
                    <a:lnTo>
                      <a:pt x="464" y="1894"/>
                    </a:lnTo>
                    <a:lnTo>
                      <a:pt x="461" y="1896"/>
                    </a:lnTo>
                    <a:lnTo>
                      <a:pt x="459" y="1897"/>
                    </a:lnTo>
                    <a:lnTo>
                      <a:pt x="456" y="1899"/>
                    </a:lnTo>
                    <a:lnTo>
                      <a:pt x="454" y="1901"/>
                    </a:lnTo>
                    <a:lnTo>
                      <a:pt x="451" y="1903"/>
                    </a:lnTo>
                    <a:lnTo>
                      <a:pt x="449" y="1904"/>
                    </a:lnTo>
                    <a:lnTo>
                      <a:pt x="445" y="1906"/>
                    </a:lnTo>
                    <a:lnTo>
                      <a:pt x="444" y="1908"/>
                    </a:lnTo>
                    <a:lnTo>
                      <a:pt x="440" y="1910"/>
                    </a:lnTo>
                    <a:lnTo>
                      <a:pt x="438" y="1911"/>
                    </a:lnTo>
                    <a:lnTo>
                      <a:pt x="435" y="1913"/>
                    </a:lnTo>
                    <a:lnTo>
                      <a:pt x="433" y="1915"/>
                    </a:lnTo>
                    <a:lnTo>
                      <a:pt x="430" y="1917"/>
                    </a:lnTo>
                    <a:lnTo>
                      <a:pt x="428" y="1918"/>
                    </a:lnTo>
                    <a:lnTo>
                      <a:pt x="424" y="1920"/>
                    </a:lnTo>
                    <a:lnTo>
                      <a:pt x="423" y="1922"/>
                    </a:lnTo>
                    <a:lnTo>
                      <a:pt x="419" y="1924"/>
                    </a:lnTo>
                    <a:lnTo>
                      <a:pt x="417" y="1925"/>
                    </a:lnTo>
                    <a:lnTo>
                      <a:pt x="414" y="1927"/>
                    </a:lnTo>
                    <a:lnTo>
                      <a:pt x="412" y="1929"/>
                    </a:lnTo>
                    <a:lnTo>
                      <a:pt x="409" y="1930"/>
                    </a:lnTo>
                    <a:lnTo>
                      <a:pt x="407" y="1932"/>
                    </a:lnTo>
                    <a:lnTo>
                      <a:pt x="404" y="1934"/>
                    </a:lnTo>
                    <a:lnTo>
                      <a:pt x="402" y="1936"/>
                    </a:lnTo>
                    <a:lnTo>
                      <a:pt x="398" y="1937"/>
                    </a:lnTo>
                    <a:lnTo>
                      <a:pt x="397" y="1939"/>
                    </a:lnTo>
                    <a:lnTo>
                      <a:pt x="393" y="1941"/>
                    </a:lnTo>
                    <a:lnTo>
                      <a:pt x="391" y="1943"/>
                    </a:lnTo>
                    <a:lnTo>
                      <a:pt x="388" y="1944"/>
                    </a:lnTo>
                    <a:lnTo>
                      <a:pt x="386" y="1946"/>
                    </a:lnTo>
                    <a:lnTo>
                      <a:pt x="383" y="1948"/>
                    </a:lnTo>
                    <a:lnTo>
                      <a:pt x="381" y="1950"/>
                    </a:lnTo>
                    <a:lnTo>
                      <a:pt x="377" y="1951"/>
                    </a:lnTo>
                    <a:lnTo>
                      <a:pt x="376" y="1953"/>
                    </a:lnTo>
                    <a:lnTo>
                      <a:pt x="372" y="1955"/>
                    </a:lnTo>
                    <a:lnTo>
                      <a:pt x="370" y="1957"/>
                    </a:lnTo>
                    <a:lnTo>
                      <a:pt x="367" y="1958"/>
                    </a:lnTo>
                    <a:lnTo>
                      <a:pt x="365" y="1960"/>
                    </a:lnTo>
                    <a:lnTo>
                      <a:pt x="362" y="1962"/>
                    </a:lnTo>
                    <a:lnTo>
                      <a:pt x="358" y="1964"/>
                    </a:lnTo>
                    <a:lnTo>
                      <a:pt x="357" y="1965"/>
                    </a:lnTo>
                    <a:lnTo>
                      <a:pt x="353" y="1965"/>
                    </a:lnTo>
                    <a:lnTo>
                      <a:pt x="351" y="1969"/>
                    </a:lnTo>
                    <a:lnTo>
                      <a:pt x="348" y="1969"/>
                    </a:lnTo>
                    <a:lnTo>
                      <a:pt x="346" y="1971"/>
                    </a:lnTo>
                    <a:lnTo>
                      <a:pt x="343" y="1972"/>
                    </a:lnTo>
                    <a:lnTo>
                      <a:pt x="341" y="1974"/>
                    </a:lnTo>
                    <a:lnTo>
                      <a:pt x="337" y="1976"/>
                    </a:lnTo>
                    <a:lnTo>
                      <a:pt x="336" y="1977"/>
                    </a:lnTo>
                    <a:lnTo>
                      <a:pt x="332" y="1979"/>
                    </a:lnTo>
                    <a:lnTo>
                      <a:pt x="330" y="1981"/>
                    </a:lnTo>
                    <a:lnTo>
                      <a:pt x="327" y="1983"/>
                    </a:lnTo>
                    <a:lnTo>
                      <a:pt x="325" y="1984"/>
                    </a:lnTo>
                    <a:lnTo>
                      <a:pt x="322" y="1986"/>
                    </a:lnTo>
                    <a:lnTo>
                      <a:pt x="318" y="1988"/>
                    </a:lnTo>
                    <a:lnTo>
                      <a:pt x="316" y="1990"/>
                    </a:lnTo>
                    <a:lnTo>
                      <a:pt x="313" y="1991"/>
                    </a:lnTo>
                    <a:lnTo>
                      <a:pt x="311" y="1993"/>
                    </a:lnTo>
                    <a:lnTo>
                      <a:pt x="308" y="1995"/>
                    </a:lnTo>
                    <a:lnTo>
                      <a:pt x="306" y="1997"/>
                    </a:lnTo>
                    <a:lnTo>
                      <a:pt x="303" y="1998"/>
                    </a:lnTo>
                    <a:lnTo>
                      <a:pt x="301" y="2000"/>
                    </a:lnTo>
                    <a:lnTo>
                      <a:pt x="297" y="2000"/>
                    </a:lnTo>
                    <a:lnTo>
                      <a:pt x="294" y="2002"/>
                    </a:lnTo>
                    <a:lnTo>
                      <a:pt x="292" y="2004"/>
                    </a:lnTo>
                    <a:lnTo>
                      <a:pt x="289" y="2005"/>
                    </a:lnTo>
                    <a:lnTo>
                      <a:pt x="287" y="2007"/>
                    </a:lnTo>
                    <a:lnTo>
                      <a:pt x="283" y="2009"/>
                    </a:lnTo>
                    <a:lnTo>
                      <a:pt x="280" y="2011"/>
                    </a:lnTo>
                    <a:lnTo>
                      <a:pt x="278" y="2012"/>
                    </a:lnTo>
                    <a:lnTo>
                      <a:pt x="275" y="2014"/>
                    </a:lnTo>
                    <a:lnTo>
                      <a:pt x="273" y="2016"/>
                    </a:lnTo>
                    <a:lnTo>
                      <a:pt x="269" y="2018"/>
                    </a:lnTo>
                    <a:lnTo>
                      <a:pt x="268" y="2019"/>
                    </a:lnTo>
                    <a:lnTo>
                      <a:pt x="264" y="2019"/>
                    </a:lnTo>
                    <a:lnTo>
                      <a:pt x="263" y="2021"/>
                    </a:lnTo>
                    <a:lnTo>
                      <a:pt x="259" y="2023"/>
                    </a:lnTo>
                    <a:lnTo>
                      <a:pt x="256" y="2025"/>
                    </a:lnTo>
                    <a:lnTo>
                      <a:pt x="254" y="2026"/>
                    </a:lnTo>
                    <a:lnTo>
                      <a:pt x="250" y="2028"/>
                    </a:lnTo>
                    <a:lnTo>
                      <a:pt x="249" y="2030"/>
                    </a:lnTo>
                    <a:lnTo>
                      <a:pt x="245" y="2031"/>
                    </a:lnTo>
                    <a:lnTo>
                      <a:pt x="242" y="2033"/>
                    </a:lnTo>
                    <a:lnTo>
                      <a:pt x="240" y="2035"/>
                    </a:lnTo>
                    <a:lnTo>
                      <a:pt x="236" y="2037"/>
                    </a:lnTo>
                    <a:lnTo>
                      <a:pt x="235" y="2038"/>
                    </a:lnTo>
                    <a:lnTo>
                      <a:pt x="231" y="2038"/>
                    </a:lnTo>
                    <a:lnTo>
                      <a:pt x="228" y="2040"/>
                    </a:lnTo>
                    <a:lnTo>
                      <a:pt x="226" y="2042"/>
                    </a:lnTo>
                    <a:lnTo>
                      <a:pt x="223" y="2044"/>
                    </a:lnTo>
                    <a:lnTo>
                      <a:pt x="221" y="2045"/>
                    </a:lnTo>
                    <a:lnTo>
                      <a:pt x="217" y="2047"/>
                    </a:lnTo>
                    <a:lnTo>
                      <a:pt x="214" y="2049"/>
                    </a:lnTo>
                    <a:lnTo>
                      <a:pt x="212" y="2051"/>
                    </a:lnTo>
                    <a:lnTo>
                      <a:pt x="209" y="2052"/>
                    </a:lnTo>
                    <a:lnTo>
                      <a:pt x="207" y="2052"/>
                    </a:lnTo>
                    <a:lnTo>
                      <a:pt x="203" y="2054"/>
                    </a:lnTo>
                    <a:lnTo>
                      <a:pt x="200" y="2056"/>
                    </a:lnTo>
                    <a:lnTo>
                      <a:pt x="198" y="2058"/>
                    </a:lnTo>
                    <a:lnTo>
                      <a:pt x="195" y="2059"/>
                    </a:lnTo>
                    <a:lnTo>
                      <a:pt x="193" y="2061"/>
                    </a:lnTo>
                    <a:lnTo>
                      <a:pt x="189" y="2063"/>
                    </a:lnTo>
                    <a:lnTo>
                      <a:pt x="186" y="2065"/>
                    </a:lnTo>
                    <a:lnTo>
                      <a:pt x="184" y="2066"/>
                    </a:lnTo>
                    <a:lnTo>
                      <a:pt x="181" y="2066"/>
                    </a:lnTo>
                    <a:lnTo>
                      <a:pt x="179" y="2068"/>
                    </a:lnTo>
                    <a:lnTo>
                      <a:pt x="176" y="2070"/>
                    </a:lnTo>
                    <a:lnTo>
                      <a:pt x="172" y="2072"/>
                    </a:lnTo>
                    <a:lnTo>
                      <a:pt x="170" y="2073"/>
                    </a:lnTo>
                    <a:lnTo>
                      <a:pt x="167" y="2075"/>
                    </a:lnTo>
                    <a:lnTo>
                      <a:pt x="163" y="2077"/>
                    </a:lnTo>
                    <a:lnTo>
                      <a:pt x="162" y="2078"/>
                    </a:lnTo>
                    <a:lnTo>
                      <a:pt x="158" y="2078"/>
                    </a:lnTo>
                    <a:lnTo>
                      <a:pt x="156" y="2080"/>
                    </a:lnTo>
                    <a:lnTo>
                      <a:pt x="153" y="2082"/>
                    </a:lnTo>
                    <a:lnTo>
                      <a:pt x="149" y="2084"/>
                    </a:lnTo>
                    <a:lnTo>
                      <a:pt x="148" y="2085"/>
                    </a:lnTo>
                    <a:lnTo>
                      <a:pt x="144" y="2087"/>
                    </a:lnTo>
                    <a:lnTo>
                      <a:pt x="141" y="2089"/>
                    </a:lnTo>
                    <a:lnTo>
                      <a:pt x="139" y="2089"/>
                    </a:lnTo>
                    <a:lnTo>
                      <a:pt x="135" y="2091"/>
                    </a:lnTo>
                    <a:lnTo>
                      <a:pt x="132" y="2092"/>
                    </a:lnTo>
                    <a:lnTo>
                      <a:pt x="130" y="2094"/>
                    </a:lnTo>
                    <a:lnTo>
                      <a:pt x="127" y="2096"/>
                    </a:lnTo>
                    <a:lnTo>
                      <a:pt x="125" y="2098"/>
                    </a:lnTo>
                    <a:lnTo>
                      <a:pt x="122" y="2098"/>
                    </a:lnTo>
                    <a:lnTo>
                      <a:pt x="118" y="2099"/>
                    </a:lnTo>
                    <a:lnTo>
                      <a:pt x="116" y="2101"/>
                    </a:lnTo>
                    <a:lnTo>
                      <a:pt x="113" y="2103"/>
                    </a:lnTo>
                    <a:lnTo>
                      <a:pt x="109" y="2105"/>
                    </a:lnTo>
                    <a:lnTo>
                      <a:pt x="108" y="2106"/>
                    </a:lnTo>
                    <a:lnTo>
                      <a:pt x="106" y="2106"/>
                    </a:lnTo>
                    <a:moveTo>
                      <a:pt x="1034" y="1377"/>
                    </a:moveTo>
                    <a:lnTo>
                      <a:pt x="1032" y="1379"/>
                    </a:lnTo>
                    <a:lnTo>
                      <a:pt x="1030" y="1382"/>
                    </a:lnTo>
                    <a:lnTo>
                      <a:pt x="1028" y="1384"/>
                    </a:lnTo>
                    <a:lnTo>
                      <a:pt x="1025" y="1386"/>
                    </a:lnTo>
                    <a:lnTo>
                      <a:pt x="1023" y="1387"/>
                    </a:lnTo>
                    <a:lnTo>
                      <a:pt x="1021" y="1391"/>
                    </a:lnTo>
                    <a:lnTo>
                      <a:pt x="1020" y="1393"/>
                    </a:lnTo>
                    <a:lnTo>
                      <a:pt x="1018" y="1394"/>
                    </a:lnTo>
                    <a:lnTo>
                      <a:pt x="1016" y="1398"/>
                    </a:lnTo>
                    <a:lnTo>
                      <a:pt x="1014" y="1400"/>
                    </a:lnTo>
                    <a:lnTo>
                      <a:pt x="1013" y="1401"/>
                    </a:lnTo>
                    <a:lnTo>
                      <a:pt x="1011" y="1403"/>
                    </a:lnTo>
                    <a:lnTo>
                      <a:pt x="1009" y="1406"/>
                    </a:lnTo>
                    <a:lnTo>
                      <a:pt x="1006" y="1408"/>
                    </a:lnTo>
                    <a:lnTo>
                      <a:pt x="1004" y="1410"/>
                    </a:lnTo>
                    <a:lnTo>
                      <a:pt x="1002" y="1412"/>
                    </a:lnTo>
                    <a:lnTo>
                      <a:pt x="1000" y="1413"/>
                    </a:lnTo>
                    <a:lnTo>
                      <a:pt x="999" y="1417"/>
                    </a:lnTo>
                    <a:lnTo>
                      <a:pt x="997" y="1419"/>
                    </a:lnTo>
                    <a:lnTo>
                      <a:pt x="995" y="1420"/>
                    </a:lnTo>
                    <a:lnTo>
                      <a:pt x="994" y="1422"/>
                    </a:lnTo>
                    <a:lnTo>
                      <a:pt x="992" y="1426"/>
                    </a:lnTo>
                    <a:lnTo>
                      <a:pt x="988" y="1427"/>
                    </a:lnTo>
                    <a:lnTo>
                      <a:pt x="987" y="1429"/>
                    </a:lnTo>
                    <a:lnTo>
                      <a:pt x="985" y="1431"/>
                    </a:lnTo>
                    <a:lnTo>
                      <a:pt x="983" y="1434"/>
                    </a:lnTo>
                    <a:lnTo>
                      <a:pt x="981" y="1436"/>
                    </a:lnTo>
                    <a:lnTo>
                      <a:pt x="980" y="1438"/>
                    </a:lnTo>
                    <a:lnTo>
                      <a:pt x="978" y="1440"/>
                    </a:lnTo>
                    <a:lnTo>
                      <a:pt x="974" y="1443"/>
                    </a:lnTo>
                    <a:lnTo>
                      <a:pt x="973" y="1445"/>
                    </a:lnTo>
                    <a:lnTo>
                      <a:pt x="971" y="1447"/>
                    </a:lnTo>
                    <a:lnTo>
                      <a:pt x="969" y="1448"/>
                    </a:lnTo>
                    <a:lnTo>
                      <a:pt x="967" y="1452"/>
                    </a:lnTo>
                    <a:lnTo>
                      <a:pt x="966" y="1453"/>
                    </a:lnTo>
                    <a:lnTo>
                      <a:pt x="964" y="1455"/>
                    </a:lnTo>
                    <a:lnTo>
                      <a:pt x="962" y="1457"/>
                    </a:lnTo>
                    <a:lnTo>
                      <a:pt x="960" y="1460"/>
                    </a:lnTo>
                    <a:lnTo>
                      <a:pt x="957" y="1462"/>
                    </a:lnTo>
                    <a:lnTo>
                      <a:pt x="955" y="1464"/>
                    </a:lnTo>
                    <a:lnTo>
                      <a:pt x="954" y="1466"/>
                    </a:lnTo>
                    <a:lnTo>
                      <a:pt x="952" y="1469"/>
                    </a:lnTo>
                    <a:lnTo>
                      <a:pt x="950" y="1471"/>
                    </a:lnTo>
                    <a:lnTo>
                      <a:pt x="948" y="1473"/>
                    </a:lnTo>
                    <a:lnTo>
                      <a:pt x="947" y="1474"/>
                    </a:lnTo>
                    <a:lnTo>
                      <a:pt x="945" y="1478"/>
                    </a:lnTo>
                    <a:lnTo>
                      <a:pt x="941" y="1480"/>
                    </a:lnTo>
                    <a:lnTo>
                      <a:pt x="940" y="1481"/>
                    </a:lnTo>
                    <a:lnTo>
                      <a:pt x="938" y="1483"/>
                    </a:lnTo>
                    <a:lnTo>
                      <a:pt x="936" y="1487"/>
                    </a:lnTo>
                    <a:lnTo>
                      <a:pt x="934" y="1488"/>
                    </a:lnTo>
                    <a:lnTo>
                      <a:pt x="933" y="1490"/>
                    </a:lnTo>
                    <a:lnTo>
                      <a:pt x="931" y="1492"/>
                    </a:lnTo>
                    <a:lnTo>
                      <a:pt x="927" y="1495"/>
                    </a:lnTo>
                    <a:lnTo>
                      <a:pt x="926" y="1497"/>
                    </a:lnTo>
                    <a:lnTo>
                      <a:pt x="924" y="1499"/>
                    </a:lnTo>
                    <a:lnTo>
                      <a:pt x="922" y="1500"/>
                    </a:lnTo>
                    <a:lnTo>
                      <a:pt x="920" y="1502"/>
                    </a:lnTo>
                    <a:lnTo>
                      <a:pt x="919" y="1506"/>
                    </a:lnTo>
                    <a:lnTo>
                      <a:pt x="915" y="1507"/>
                    </a:lnTo>
                    <a:lnTo>
                      <a:pt x="913" y="1509"/>
                    </a:lnTo>
                    <a:lnTo>
                      <a:pt x="912" y="1511"/>
                    </a:lnTo>
                    <a:lnTo>
                      <a:pt x="910" y="1514"/>
                    </a:lnTo>
                    <a:lnTo>
                      <a:pt x="908" y="1516"/>
                    </a:lnTo>
                    <a:lnTo>
                      <a:pt x="905" y="1518"/>
                    </a:lnTo>
                    <a:lnTo>
                      <a:pt x="903" y="1520"/>
                    </a:lnTo>
                    <a:lnTo>
                      <a:pt x="901" y="1521"/>
                    </a:lnTo>
                    <a:lnTo>
                      <a:pt x="900" y="1525"/>
                    </a:lnTo>
                    <a:lnTo>
                      <a:pt x="898" y="1527"/>
                    </a:lnTo>
                    <a:lnTo>
                      <a:pt x="896" y="1528"/>
                    </a:lnTo>
                    <a:lnTo>
                      <a:pt x="894" y="1530"/>
                    </a:lnTo>
                    <a:lnTo>
                      <a:pt x="891" y="1534"/>
                    </a:lnTo>
                    <a:lnTo>
                      <a:pt x="889" y="1535"/>
                    </a:lnTo>
                    <a:lnTo>
                      <a:pt x="887" y="1537"/>
                    </a:lnTo>
                    <a:lnTo>
                      <a:pt x="886" y="1539"/>
                    </a:lnTo>
                    <a:lnTo>
                      <a:pt x="884" y="1541"/>
                    </a:lnTo>
                    <a:lnTo>
                      <a:pt x="880" y="1544"/>
                    </a:lnTo>
                    <a:lnTo>
                      <a:pt x="879" y="1546"/>
                    </a:lnTo>
                    <a:lnTo>
                      <a:pt x="877" y="1547"/>
                    </a:lnTo>
                    <a:lnTo>
                      <a:pt x="875" y="1549"/>
                    </a:lnTo>
                    <a:lnTo>
                      <a:pt x="873" y="1553"/>
                    </a:lnTo>
                    <a:lnTo>
                      <a:pt x="872" y="1554"/>
                    </a:lnTo>
                    <a:lnTo>
                      <a:pt x="868" y="1556"/>
                    </a:lnTo>
                    <a:lnTo>
                      <a:pt x="866" y="1558"/>
                    </a:lnTo>
                    <a:lnTo>
                      <a:pt x="865" y="1560"/>
                    </a:lnTo>
                    <a:lnTo>
                      <a:pt x="863" y="1563"/>
                    </a:lnTo>
                    <a:lnTo>
                      <a:pt x="860" y="1565"/>
                    </a:lnTo>
                    <a:lnTo>
                      <a:pt x="858" y="1567"/>
                    </a:lnTo>
                    <a:lnTo>
                      <a:pt x="856" y="1568"/>
                    </a:lnTo>
                    <a:lnTo>
                      <a:pt x="854" y="1570"/>
                    </a:lnTo>
                    <a:moveTo>
                      <a:pt x="661" y="1534"/>
                    </a:moveTo>
                    <a:lnTo>
                      <a:pt x="658" y="1535"/>
                    </a:lnTo>
                    <a:lnTo>
                      <a:pt x="654" y="1537"/>
                    </a:lnTo>
                    <a:lnTo>
                      <a:pt x="651" y="1537"/>
                    </a:lnTo>
                    <a:lnTo>
                      <a:pt x="647" y="1539"/>
                    </a:lnTo>
                    <a:lnTo>
                      <a:pt x="645" y="1539"/>
                    </a:lnTo>
                    <a:lnTo>
                      <a:pt x="642" y="1541"/>
                    </a:lnTo>
                    <a:lnTo>
                      <a:pt x="638" y="1542"/>
                    </a:lnTo>
                    <a:lnTo>
                      <a:pt x="635" y="1542"/>
                    </a:lnTo>
                    <a:lnTo>
                      <a:pt x="632" y="1544"/>
                    </a:lnTo>
                    <a:lnTo>
                      <a:pt x="630" y="1544"/>
                    </a:lnTo>
                    <a:lnTo>
                      <a:pt x="626" y="1546"/>
                    </a:lnTo>
                    <a:lnTo>
                      <a:pt x="623" y="1546"/>
                    </a:lnTo>
                    <a:lnTo>
                      <a:pt x="619" y="1547"/>
                    </a:lnTo>
                    <a:lnTo>
                      <a:pt x="616" y="1549"/>
                    </a:lnTo>
                    <a:lnTo>
                      <a:pt x="612" y="1549"/>
                    </a:lnTo>
                    <a:lnTo>
                      <a:pt x="609" y="1551"/>
                    </a:lnTo>
                    <a:lnTo>
                      <a:pt x="607" y="1551"/>
                    </a:lnTo>
                    <a:lnTo>
                      <a:pt x="604" y="1553"/>
                    </a:lnTo>
                    <a:lnTo>
                      <a:pt x="600" y="1553"/>
                    </a:lnTo>
                    <a:lnTo>
                      <a:pt x="597" y="1554"/>
                    </a:lnTo>
                    <a:lnTo>
                      <a:pt x="593" y="1554"/>
                    </a:lnTo>
                    <a:lnTo>
                      <a:pt x="590" y="1556"/>
                    </a:lnTo>
                    <a:lnTo>
                      <a:pt x="586" y="1556"/>
                    </a:lnTo>
                    <a:lnTo>
                      <a:pt x="585" y="1558"/>
                    </a:lnTo>
                    <a:lnTo>
                      <a:pt x="581" y="1558"/>
                    </a:lnTo>
                    <a:lnTo>
                      <a:pt x="578" y="1560"/>
                    </a:lnTo>
                    <a:lnTo>
                      <a:pt x="574" y="1560"/>
                    </a:lnTo>
                    <a:lnTo>
                      <a:pt x="571" y="1561"/>
                    </a:lnTo>
                    <a:lnTo>
                      <a:pt x="567" y="1563"/>
                    </a:lnTo>
                    <a:lnTo>
                      <a:pt x="564" y="1563"/>
                    </a:lnTo>
                    <a:lnTo>
                      <a:pt x="560" y="1565"/>
                    </a:lnTo>
                    <a:lnTo>
                      <a:pt x="558" y="1565"/>
                    </a:lnTo>
                    <a:lnTo>
                      <a:pt x="555" y="1567"/>
                    </a:lnTo>
                    <a:lnTo>
                      <a:pt x="551" y="1567"/>
                    </a:lnTo>
                    <a:lnTo>
                      <a:pt x="548" y="1568"/>
                    </a:lnTo>
                    <a:lnTo>
                      <a:pt x="544" y="1568"/>
                    </a:lnTo>
                    <a:lnTo>
                      <a:pt x="541" y="1568"/>
                    </a:lnTo>
                    <a:lnTo>
                      <a:pt x="538" y="1570"/>
                    </a:lnTo>
                    <a:lnTo>
                      <a:pt x="534" y="1572"/>
                    </a:lnTo>
                    <a:lnTo>
                      <a:pt x="531" y="1572"/>
                    </a:lnTo>
                    <a:lnTo>
                      <a:pt x="529" y="1572"/>
                    </a:lnTo>
                    <a:lnTo>
                      <a:pt x="525" y="1574"/>
                    </a:lnTo>
                    <a:lnTo>
                      <a:pt x="522" y="1574"/>
                    </a:lnTo>
                    <a:lnTo>
                      <a:pt x="518" y="1575"/>
                    </a:lnTo>
                    <a:lnTo>
                      <a:pt x="515" y="1575"/>
                    </a:lnTo>
                    <a:lnTo>
                      <a:pt x="511" y="1577"/>
                    </a:lnTo>
                    <a:lnTo>
                      <a:pt x="508" y="1577"/>
                    </a:lnTo>
                    <a:lnTo>
                      <a:pt x="504" y="1579"/>
                    </a:lnTo>
                    <a:lnTo>
                      <a:pt x="503" y="1579"/>
                    </a:lnTo>
                    <a:lnTo>
                      <a:pt x="499" y="1581"/>
                    </a:lnTo>
                    <a:lnTo>
                      <a:pt x="496" y="1581"/>
                    </a:lnTo>
                    <a:lnTo>
                      <a:pt x="492" y="1581"/>
                    </a:lnTo>
                    <a:lnTo>
                      <a:pt x="489" y="1582"/>
                    </a:lnTo>
                    <a:lnTo>
                      <a:pt x="485" y="1582"/>
                    </a:lnTo>
                    <a:lnTo>
                      <a:pt x="482" y="1584"/>
                    </a:lnTo>
                    <a:lnTo>
                      <a:pt x="478" y="1584"/>
                    </a:lnTo>
                    <a:lnTo>
                      <a:pt x="475" y="1586"/>
                    </a:lnTo>
                    <a:lnTo>
                      <a:pt x="471" y="1586"/>
                    </a:lnTo>
                    <a:lnTo>
                      <a:pt x="468" y="1586"/>
                    </a:lnTo>
                    <a:lnTo>
                      <a:pt x="466" y="1588"/>
                    </a:lnTo>
                    <a:lnTo>
                      <a:pt x="463" y="1588"/>
                    </a:lnTo>
                    <a:lnTo>
                      <a:pt x="459" y="1589"/>
                    </a:lnTo>
                    <a:lnTo>
                      <a:pt x="456" y="1589"/>
                    </a:lnTo>
                    <a:lnTo>
                      <a:pt x="452" y="1589"/>
                    </a:lnTo>
                    <a:lnTo>
                      <a:pt x="449" y="1591"/>
                    </a:lnTo>
                    <a:lnTo>
                      <a:pt x="445" y="1591"/>
                    </a:lnTo>
                    <a:lnTo>
                      <a:pt x="442" y="1591"/>
                    </a:lnTo>
                    <a:lnTo>
                      <a:pt x="438" y="1593"/>
                    </a:lnTo>
                    <a:lnTo>
                      <a:pt x="435" y="1593"/>
                    </a:lnTo>
                    <a:lnTo>
                      <a:pt x="431" y="1594"/>
                    </a:lnTo>
                    <a:lnTo>
                      <a:pt x="428" y="1594"/>
                    </a:lnTo>
                    <a:lnTo>
                      <a:pt x="424" y="1594"/>
                    </a:lnTo>
                    <a:lnTo>
                      <a:pt x="421" y="1596"/>
                    </a:lnTo>
                    <a:lnTo>
                      <a:pt x="417" y="1596"/>
                    </a:lnTo>
                    <a:lnTo>
                      <a:pt x="416" y="1596"/>
                    </a:lnTo>
                    <a:lnTo>
                      <a:pt x="412" y="1598"/>
                    </a:lnTo>
                    <a:lnTo>
                      <a:pt x="409" y="1598"/>
                    </a:lnTo>
                    <a:lnTo>
                      <a:pt x="405" y="1598"/>
                    </a:lnTo>
                    <a:lnTo>
                      <a:pt x="402" y="1600"/>
                    </a:lnTo>
                    <a:lnTo>
                      <a:pt x="398" y="1600"/>
                    </a:lnTo>
                    <a:lnTo>
                      <a:pt x="395" y="1600"/>
                    </a:lnTo>
                    <a:lnTo>
                      <a:pt x="391" y="1601"/>
                    </a:lnTo>
                    <a:lnTo>
                      <a:pt x="388" y="1601"/>
                    </a:lnTo>
                    <a:lnTo>
                      <a:pt x="384" y="1601"/>
                    </a:lnTo>
                    <a:lnTo>
                      <a:pt x="381" y="1603"/>
                    </a:lnTo>
                    <a:lnTo>
                      <a:pt x="377" y="1603"/>
                    </a:lnTo>
                    <a:lnTo>
                      <a:pt x="374" y="1603"/>
                    </a:lnTo>
                    <a:lnTo>
                      <a:pt x="370" y="1605"/>
                    </a:lnTo>
                    <a:lnTo>
                      <a:pt x="367" y="1605"/>
                    </a:lnTo>
                    <a:lnTo>
                      <a:pt x="365" y="1605"/>
                    </a:lnTo>
                    <a:lnTo>
                      <a:pt x="362" y="1605"/>
                    </a:lnTo>
                    <a:lnTo>
                      <a:pt x="358" y="1607"/>
                    </a:lnTo>
                    <a:lnTo>
                      <a:pt x="355" y="1607"/>
                    </a:lnTo>
                    <a:lnTo>
                      <a:pt x="351" y="1607"/>
                    </a:lnTo>
                    <a:lnTo>
                      <a:pt x="348" y="1608"/>
                    </a:lnTo>
                    <a:lnTo>
                      <a:pt x="344" y="1608"/>
                    </a:lnTo>
                    <a:lnTo>
                      <a:pt x="341" y="1608"/>
                    </a:lnTo>
                    <a:lnTo>
                      <a:pt x="337" y="1608"/>
                    </a:lnTo>
                    <a:lnTo>
                      <a:pt x="334" y="1610"/>
                    </a:lnTo>
                    <a:lnTo>
                      <a:pt x="330" y="1610"/>
                    </a:lnTo>
                    <a:lnTo>
                      <a:pt x="327" y="1610"/>
                    </a:lnTo>
                    <a:lnTo>
                      <a:pt x="323" y="1610"/>
                    </a:lnTo>
                    <a:lnTo>
                      <a:pt x="320" y="1612"/>
                    </a:lnTo>
                    <a:lnTo>
                      <a:pt x="316" y="1612"/>
                    </a:lnTo>
                    <a:lnTo>
                      <a:pt x="313" y="1612"/>
                    </a:lnTo>
                    <a:lnTo>
                      <a:pt x="310" y="1612"/>
                    </a:lnTo>
                    <a:lnTo>
                      <a:pt x="306" y="1614"/>
                    </a:lnTo>
                    <a:lnTo>
                      <a:pt x="303" y="1614"/>
                    </a:lnTo>
                    <a:lnTo>
                      <a:pt x="299" y="1614"/>
                    </a:lnTo>
                    <a:lnTo>
                      <a:pt x="296" y="1614"/>
                    </a:lnTo>
                    <a:lnTo>
                      <a:pt x="292" y="1614"/>
                    </a:lnTo>
                    <a:lnTo>
                      <a:pt x="289" y="1615"/>
                    </a:lnTo>
                    <a:lnTo>
                      <a:pt x="287" y="1615"/>
                    </a:lnTo>
                    <a:lnTo>
                      <a:pt x="283" y="1615"/>
                    </a:lnTo>
                    <a:lnTo>
                      <a:pt x="280" y="1615"/>
                    </a:lnTo>
                    <a:lnTo>
                      <a:pt x="276" y="1615"/>
                    </a:lnTo>
                    <a:lnTo>
                      <a:pt x="273" y="1617"/>
                    </a:lnTo>
                    <a:lnTo>
                      <a:pt x="269" y="1617"/>
                    </a:lnTo>
                    <a:lnTo>
                      <a:pt x="266" y="1617"/>
                    </a:lnTo>
                    <a:lnTo>
                      <a:pt x="263" y="1617"/>
                    </a:lnTo>
                    <a:lnTo>
                      <a:pt x="259" y="1617"/>
                    </a:lnTo>
                    <a:lnTo>
                      <a:pt x="256" y="1617"/>
                    </a:lnTo>
                    <a:lnTo>
                      <a:pt x="252" y="1619"/>
                    </a:lnTo>
                    <a:lnTo>
                      <a:pt x="249" y="1619"/>
                    </a:lnTo>
                    <a:lnTo>
                      <a:pt x="245" y="1619"/>
                    </a:lnTo>
                    <a:lnTo>
                      <a:pt x="242" y="1619"/>
                    </a:lnTo>
                    <a:lnTo>
                      <a:pt x="238" y="1619"/>
                    </a:lnTo>
                    <a:lnTo>
                      <a:pt x="235" y="1619"/>
                    </a:lnTo>
                    <a:lnTo>
                      <a:pt x="231" y="1619"/>
                    </a:lnTo>
                    <a:lnTo>
                      <a:pt x="228" y="1621"/>
                    </a:lnTo>
                    <a:lnTo>
                      <a:pt x="224" y="1621"/>
                    </a:lnTo>
                    <a:lnTo>
                      <a:pt x="221" y="1621"/>
                    </a:lnTo>
                    <a:lnTo>
                      <a:pt x="217" y="1621"/>
                    </a:lnTo>
                    <a:lnTo>
                      <a:pt x="214" y="1621"/>
                    </a:lnTo>
                    <a:lnTo>
                      <a:pt x="210" y="1621"/>
                    </a:lnTo>
                    <a:lnTo>
                      <a:pt x="207" y="1621"/>
                    </a:lnTo>
                    <a:lnTo>
                      <a:pt x="203" y="1622"/>
                    </a:lnTo>
                    <a:lnTo>
                      <a:pt x="200" y="1622"/>
                    </a:lnTo>
                    <a:lnTo>
                      <a:pt x="196" y="1622"/>
                    </a:lnTo>
                    <a:lnTo>
                      <a:pt x="193" y="1622"/>
                    </a:lnTo>
                    <a:lnTo>
                      <a:pt x="189" y="1622"/>
                    </a:lnTo>
                    <a:lnTo>
                      <a:pt x="186" y="1622"/>
                    </a:lnTo>
                    <a:lnTo>
                      <a:pt x="182" y="1622"/>
                    </a:lnTo>
                    <a:lnTo>
                      <a:pt x="179" y="1622"/>
                    </a:lnTo>
                    <a:lnTo>
                      <a:pt x="176" y="1622"/>
                    </a:lnTo>
                    <a:lnTo>
                      <a:pt x="172" y="1622"/>
                    </a:lnTo>
                    <a:lnTo>
                      <a:pt x="169" y="1622"/>
                    </a:lnTo>
                    <a:lnTo>
                      <a:pt x="165" y="1622"/>
                    </a:lnTo>
                    <a:lnTo>
                      <a:pt x="162" y="1622"/>
                    </a:lnTo>
                    <a:lnTo>
                      <a:pt x="158" y="1624"/>
                    </a:lnTo>
                    <a:lnTo>
                      <a:pt x="155" y="1624"/>
                    </a:lnTo>
                    <a:lnTo>
                      <a:pt x="151" y="1624"/>
                    </a:lnTo>
                    <a:lnTo>
                      <a:pt x="148" y="1624"/>
                    </a:lnTo>
                    <a:lnTo>
                      <a:pt x="144" y="1624"/>
                    </a:lnTo>
                    <a:lnTo>
                      <a:pt x="141" y="1624"/>
                    </a:lnTo>
                    <a:lnTo>
                      <a:pt x="137" y="1624"/>
                    </a:lnTo>
                    <a:lnTo>
                      <a:pt x="134" y="1624"/>
                    </a:lnTo>
                    <a:lnTo>
                      <a:pt x="130" y="1624"/>
                    </a:lnTo>
                    <a:lnTo>
                      <a:pt x="127" y="1624"/>
                    </a:lnTo>
                    <a:lnTo>
                      <a:pt x="123" y="1624"/>
                    </a:lnTo>
                    <a:lnTo>
                      <a:pt x="120" y="1624"/>
                    </a:lnTo>
                    <a:lnTo>
                      <a:pt x="118" y="1624"/>
                    </a:lnTo>
                    <a:lnTo>
                      <a:pt x="115" y="1624"/>
                    </a:lnTo>
                    <a:lnTo>
                      <a:pt x="109" y="1624"/>
                    </a:lnTo>
                    <a:lnTo>
                      <a:pt x="106" y="1624"/>
                    </a:lnTo>
                    <a:lnTo>
                      <a:pt x="102" y="1624"/>
                    </a:lnTo>
                    <a:lnTo>
                      <a:pt x="101" y="1624"/>
                    </a:lnTo>
                    <a:lnTo>
                      <a:pt x="97" y="1624"/>
                    </a:lnTo>
                    <a:lnTo>
                      <a:pt x="94" y="1624"/>
                    </a:lnTo>
                    <a:lnTo>
                      <a:pt x="88" y="1624"/>
                    </a:lnTo>
                    <a:lnTo>
                      <a:pt x="87" y="1624"/>
                    </a:lnTo>
                    <a:lnTo>
                      <a:pt x="83" y="1624"/>
                    </a:lnTo>
                    <a:lnTo>
                      <a:pt x="80" y="1624"/>
                    </a:lnTo>
                    <a:lnTo>
                      <a:pt x="76" y="1624"/>
                    </a:lnTo>
                    <a:lnTo>
                      <a:pt x="73" y="1622"/>
                    </a:lnTo>
                    <a:lnTo>
                      <a:pt x="69" y="1622"/>
                    </a:lnTo>
                    <a:lnTo>
                      <a:pt x="66" y="1622"/>
                    </a:lnTo>
                    <a:lnTo>
                      <a:pt x="62" y="1622"/>
                    </a:lnTo>
                    <a:lnTo>
                      <a:pt x="59" y="1622"/>
                    </a:lnTo>
                    <a:lnTo>
                      <a:pt x="55" y="1622"/>
                    </a:lnTo>
                    <a:lnTo>
                      <a:pt x="52" y="1622"/>
                    </a:lnTo>
                    <a:lnTo>
                      <a:pt x="48" y="1622"/>
                    </a:lnTo>
                    <a:lnTo>
                      <a:pt x="45" y="1622"/>
                    </a:lnTo>
                    <a:lnTo>
                      <a:pt x="41" y="1622"/>
                    </a:lnTo>
                    <a:lnTo>
                      <a:pt x="38" y="1622"/>
                    </a:lnTo>
                    <a:lnTo>
                      <a:pt x="35" y="1622"/>
                    </a:lnTo>
                    <a:lnTo>
                      <a:pt x="31" y="1622"/>
                    </a:lnTo>
                    <a:lnTo>
                      <a:pt x="28" y="1621"/>
                    </a:lnTo>
                    <a:lnTo>
                      <a:pt x="24" y="1621"/>
                    </a:lnTo>
                    <a:lnTo>
                      <a:pt x="21" y="1621"/>
                    </a:lnTo>
                    <a:lnTo>
                      <a:pt x="17" y="1621"/>
                    </a:lnTo>
                    <a:lnTo>
                      <a:pt x="14" y="1621"/>
                    </a:lnTo>
                    <a:lnTo>
                      <a:pt x="10" y="1621"/>
                    </a:lnTo>
                    <a:lnTo>
                      <a:pt x="7" y="1621"/>
                    </a:lnTo>
                    <a:lnTo>
                      <a:pt x="3" y="1619"/>
                    </a:lnTo>
                    <a:lnTo>
                      <a:pt x="0" y="1619"/>
                    </a:lnTo>
                    <a:moveTo>
                      <a:pt x="1030" y="1375"/>
                    </a:moveTo>
                    <a:lnTo>
                      <a:pt x="1027" y="1375"/>
                    </a:lnTo>
                    <a:lnTo>
                      <a:pt x="1023" y="1377"/>
                    </a:lnTo>
                    <a:lnTo>
                      <a:pt x="1021" y="1379"/>
                    </a:lnTo>
                    <a:lnTo>
                      <a:pt x="1018" y="1380"/>
                    </a:lnTo>
                    <a:lnTo>
                      <a:pt x="1014" y="1382"/>
                    </a:lnTo>
                    <a:lnTo>
                      <a:pt x="1013" y="1384"/>
                    </a:lnTo>
                    <a:lnTo>
                      <a:pt x="1009" y="1384"/>
                    </a:lnTo>
                    <a:lnTo>
                      <a:pt x="1006" y="1386"/>
                    </a:lnTo>
                    <a:lnTo>
                      <a:pt x="1004" y="1387"/>
                    </a:lnTo>
                    <a:lnTo>
                      <a:pt x="1000" y="1389"/>
                    </a:lnTo>
                    <a:lnTo>
                      <a:pt x="997" y="1391"/>
                    </a:lnTo>
                    <a:lnTo>
                      <a:pt x="995" y="1391"/>
                    </a:lnTo>
                    <a:lnTo>
                      <a:pt x="992" y="1393"/>
                    </a:lnTo>
                    <a:lnTo>
                      <a:pt x="988" y="1394"/>
                    </a:lnTo>
                    <a:lnTo>
                      <a:pt x="987" y="1396"/>
                    </a:lnTo>
                    <a:lnTo>
                      <a:pt x="983" y="1398"/>
                    </a:lnTo>
                    <a:lnTo>
                      <a:pt x="981" y="1400"/>
                    </a:lnTo>
                    <a:lnTo>
                      <a:pt x="978" y="1400"/>
                    </a:lnTo>
                    <a:lnTo>
                      <a:pt x="974" y="1401"/>
                    </a:lnTo>
                    <a:lnTo>
                      <a:pt x="973" y="1403"/>
                    </a:lnTo>
                    <a:lnTo>
                      <a:pt x="969" y="1405"/>
                    </a:lnTo>
                    <a:lnTo>
                      <a:pt x="966" y="1406"/>
                    </a:lnTo>
                    <a:lnTo>
                      <a:pt x="964" y="1408"/>
                    </a:lnTo>
                    <a:lnTo>
                      <a:pt x="960" y="1408"/>
                    </a:lnTo>
                    <a:lnTo>
                      <a:pt x="957" y="1410"/>
                    </a:lnTo>
                    <a:lnTo>
                      <a:pt x="955" y="1412"/>
                    </a:lnTo>
                    <a:lnTo>
                      <a:pt x="952" y="1413"/>
                    </a:lnTo>
                    <a:lnTo>
                      <a:pt x="948" y="1415"/>
                    </a:lnTo>
                    <a:lnTo>
                      <a:pt x="947" y="1417"/>
                    </a:lnTo>
                    <a:lnTo>
                      <a:pt x="943" y="1417"/>
                    </a:lnTo>
                    <a:lnTo>
                      <a:pt x="940" y="1419"/>
                    </a:lnTo>
                    <a:lnTo>
                      <a:pt x="938" y="1420"/>
                    </a:lnTo>
                    <a:lnTo>
                      <a:pt x="934" y="1422"/>
                    </a:lnTo>
                    <a:lnTo>
                      <a:pt x="931" y="1424"/>
                    </a:lnTo>
                    <a:lnTo>
                      <a:pt x="929" y="1426"/>
                    </a:lnTo>
                    <a:lnTo>
                      <a:pt x="926" y="1426"/>
                    </a:lnTo>
                    <a:lnTo>
                      <a:pt x="922" y="1427"/>
                    </a:lnTo>
                    <a:lnTo>
                      <a:pt x="919" y="1429"/>
                    </a:lnTo>
                    <a:lnTo>
                      <a:pt x="917" y="1431"/>
                    </a:lnTo>
                    <a:lnTo>
                      <a:pt x="913" y="1431"/>
                    </a:lnTo>
                    <a:lnTo>
                      <a:pt x="910" y="1433"/>
                    </a:lnTo>
                    <a:lnTo>
                      <a:pt x="908" y="1434"/>
                    </a:lnTo>
                    <a:lnTo>
                      <a:pt x="905" y="1436"/>
                    </a:lnTo>
                    <a:lnTo>
                      <a:pt x="901" y="1438"/>
                    </a:lnTo>
                    <a:lnTo>
                      <a:pt x="900" y="1440"/>
                    </a:lnTo>
                    <a:lnTo>
                      <a:pt x="896" y="1440"/>
                    </a:lnTo>
                    <a:lnTo>
                      <a:pt x="893" y="1441"/>
                    </a:lnTo>
                    <a:lnTo>
                      <a:pt x="891" y="1443"/>
                    </a:lnTo>
                    <a:lnTo>
                      <a:pt x="887" y="1445"/>
                    </a:lnTo>
                    <a:lnTo>
                      <a:pt x="884" y="1445"/>
                    </a:lnTo>
                    <a:lnTo>
                      <a:pt x="882" y="1447"/>
                    </a:lnTo>
                    <a:lnTo>
                      <a:pt x="879" y="1448"/>
                    </a:lnTo>
                    <a:lnTo>
                      <a:pt x="875" y="1450"/>
                    </a:lnTo>
                    <a:lnTo>
                      <a:pt x="872" y="1450"/>
                    </a:lnTo>
                    <a:lnTo>
                      <a:pt x="870" y="1452"/>
                    </a:lnTo>
                    <a:lnTo>
                      <a:pt x="866" y="1453"/>
                    </a:lnTo>
                    <a:lnTo>
                      <a:pt x="863" y="1455"/>
                    </a:lnTo>
                    <a:lnTo>
                      <a:pt x="861" y="1457"/>
                    </a:lnTo>
                    <a:lnTo>
                      <a:pt x="858" y="1457"/>
                    </a:lnTo>
                    <a:lnTo>
                      <a:pt x="854" y="1459"/>
                    </a:lnTo>
                    <a:lnTo>
                      <a:pt x="851" y="1460"/>
                    </a:lnTo>
                    <a:lnTo>
                      <a:pt x="849" y="1462"/>
                    </a:lnTo>
                    <a:lnTo>
                      <a:pt x="846" y="1462"/>
                    </a:lnTo>
                    <a:lnTo>
                      <a:pt x="842" y="1464"/>
                    </a:lnTo>
                    <a:lnTo>
                      <a:pt x="840" y="1466"/>
                    </a:lnTo>
                    <a:lnTo>
                      <a:pt x="837" y="1467"/>
                    </a:lnTo>
                    <a:lnTo>
                      <a:pt x="833" y="1467"/>
                    </a:lnTo>
                    <a:lnTo>
                      <a:pt x="830" y="1469"/>
                    </a:lnTo>
                    <a:lnTo>
                      <a:pt x="828" y="1471"/>
                    </a:lnTo>
                    <a:lnTo>
                      <a:pt x="825" y="1473"/>
                    </a:lnTo>
                    <a:lnTo>
                      <a:pt x="821" y="1473"/>
                    </a:lnTo>
                    <a:lnTo>
                      <a:pt x="818" y="1474"/>
                    </a:lnTo>
                    <a:lnTo>
                      <a:pt x="816" y="1476"/>
                    </a:lnTo>
                    <a:lnTo>
                      <a:pt x="813" y="1478"/>
                    </a:lnTo>
                    <a:lnTo>
                      <a:pt x="809" y="1478"/>
                    </a:lnTo>
                    <a:lnTo>
                      <a:pt x="806" y="1480"/>
                    </a:lnTo>
                    <a:lnTo>
                      <a:pt x="804" y="1481"/>
                    </a:lnTo>
                    <a:lnTo>
                      <a:pt x="800" y="1481"/>
                    </a:lnTo>
                    <a:lnTo>
                      <a:pt x="797" y="1483"/>
                    </a:lnTo>
                    <a:lnTo>
                      <a:pt x="795" y="1485"/>
                    </a:lnTo>
                    <a:lnTo>
                      <a:pt x="792" y="1487"/>
                    </a:lnTo>
                    <a:lnTo>
                      <a:pt x="788" y="1487"/>
                    </a:lnTo>
                    <a:lnTo>
                      <a:pt x="785" y="1488"/>
                    </a:lnTo>
                    <a:lnTo>
                      <a:pt x="781" y="1490"/>
                    </a:lnTo>
                    <a:lnTo>
                      <a:pt x="779" y="1492"/>
                    </a:lnTo>
                    <a:lnTo>
                      <a:pt x="776" y="1492"/>
                    </a:lnTo>
                    <a:lnTo>
                      <a:pt x="772" y="1494"/>
                    </a:lnTo>
                    <a:lnTo>
                      <a:pt x="769" y="1495"/>
                    </a:lnTo>
                    <a:lnTo>
                      <a:pt x="767" y="1495"/>
                    </a:lnTo>
                    <a:lnTo>
                      <a:pt x="764" y="1497"/>
                    </a:lnTo>
                    <a:lnTo>
                      <a:pt x="760" y="1499"/>
                    </a:lnTo>
                    <a:lnTo>
                      <a:pt x="757" y="1499"/>
                    </a:lnTo>
                    <a:lnTo>
                      <a:pt x="755" y="1500"/>
                    </a:lnTo>
                    <a:lnTo>
                      <a:pt x="752" y="1502"/>
                    </a:lnTo>
                    <a:lnTo>
                      <a:pt x="748" y="1504"/>
                    </a:lnTo>
                    <a:lnTo>
                      <a:pt x="745" y="1504"/>
                    </a:lnTo>
                    <a:lnTo>
                      <a:pt x="741" y="1506"/>
                    </a:lnTo>
                    <a:lnTo>
                      <a:pt x="739" y="1507"/>
                    </a:lnTo>
                    <a:lnTo>
                      <a:pt x="736" y="1507"/>
                    </a:lnTo>
                    <a:lnTo>
                      <a:pt x="732" y="1509"/>
                    </a:lnTo>
                    <a:lnTo>
                      <a:pt x="729" y="1509"/>
                    </a:lnTo>
                    <a:lnTo>
                      <a:pt x="727" y="1511"/>
                    </a:lnTo>
                    <a:lnTo>
                      <a:pt x="724" y="1513"/>
                    </a:lnTo>
                    <a:lnTo>
                      <a:pt x="720" y="1513"/>
                    </a:lnTo>
                    <a:lnTo>
                      <a:pt x="717" y="1514"/>
                    </a:lnTo>
                    <a:lnTo>
                      <a:pt x="713" y="1516"/>
                    </a:lnTo>
                    <a:lnTo>
                      <a:pt x="712" y="1516"/>
                    </a:lnTo>
                    <a:lnTo>
                      <a:pt x="708" y="1518"/>
                    </a:lnTo>
                    <a:lnTo>
                      <a:pt x="705" y="1520"/>
                    </a:lnTo>
                    <a:lnTo>
                      <a:pt x="701" y="1520"/>
                    </a:lnTo>
                    <a:lnTo>
                      <a:pt x="699" y="1521"/>
                    </a:lnTo>
                    <a:lnTo>
                      <a:pt x="696" y="1523"/>
                    </a:lnTo>
                    <a:lnTo>
                      <a:pt x="692" y="1523"/>
                    </a:lnTo>
                    <a:lnTo>
                      <a:pt x="689" y="1525"/>
                    </a:lnTo>
                    <a:lnTo>
                      <a:pt x="685" y="1527"/>
                    </a:lnTo>
                    <a:lnTo>
                      <a:pt x="682" y="1527"/>
                    </a:lnTo>
                    <a:lnTo>
                      <a:pt x="680" y="1528"/>
                    </a:lnTo>
                    <a:lnTo>
                      <a:pt x="677" y="1528"/>
                    </a:lnTo>
                    <a:lnTo>
                      <a:pt x="673" y="1530"/>
                    </a:lnTo>
                    <a:lnTo>
                      <a:pt x="670" y="1532"/>
                    </a:lnTo>
                    <a:lnTo>
                      <a:pt x="666" y="1532"/>
                    </a:lnTo>
                    <a:lnTo>
                      <a:pt x="665" y="1534"/>
                    </a:lnTo>
                    <a:lnTo>
                      <a:pt x="661" y="1534"/>
                    </a:lnTo>
                    <a:moveTo>
                      <a:pt x="891" y="1389"/>
                    </a:moveTo>
                    <a:lnTo>
                      <a:pt x="887" y="1389"/>
                    </a:lnTo>
                    <a:lnTo>
                      <a:pt x="886" y="1391"/>
                    </a:lnTo>
                    <a:lnTo>
                      <a:pt x="882" y="1391"/>
                    </a:lnTo>
                    <a:lnTo>
                      <a:pt x="877" y="1391"/>
                    </a:lnTo>
                    <a:lnTo>
                      <a:pt x="873" y="1391"/>
                    </a:lnTo>
                    <a:lnTo>
                      <a:pt x="872" y="1391"/>
                    </a:lnTo>
                    <a:lnTo>
                      <a:pt x="868" y="1393"/>
                    </a:lnTo>
                    <a:lnTo>
                      <a:pt x="865" y="1393"/>
                    </a:lnTo>
                    <a:lnTo>
                      <a:pt x="861" y="1393"/>
                    </a:lnTo>
                    <a:lnTo>
                      <a:pt x="858" y="1393"/>
                    </a:lnTo>
                    <a:lnTo>
                      <a:pt x="854" y="1394"/>
                    </a:lnTo>
                    <a:lnTo>
                      <a:pt x="851" y="1394"/>
                    </a:lnTo>
                    <a:lnTo>
                      <a:pt x="847" y="1394"/>
                    </a:lnTo>
                    <a:lnTo>
                      <a:pt x="844" y="1394"/>
                    </a:lnTo>
                    <a:lnTo>
                      <a:pt x="840" y="1394"/>
                    </a:lnTo>
                    <a:lnTo>
                      <a:pt x="837" y="1394"/>
                    </a:lnTo>
                    <a:lnTo>
                      <a:pt x="833" y="1396"/>
                    </a:lnTo>
                    <a:lnTo>
                      <a:pt x="830" y="1396"/>
                    </a:lnTo>
                    <a:lnTo>
                      <a:pt x="826" y="1396"/>
                    </a:lnTo>
                    <a:lnTo>
                      <a:pt x="823" y="1396"/>
                    </a:lnTo>
                    <a:lnTo>
                      <a:pt x="819" y="1396"/>
                    </a:lnTo>
                    <a:lnTo>
                      <a:pt x="816" y="1398"/>
                    </a:lnTo>
                    <a:lnTo>
                      <a:pt x="813" y="1398"/>
                    </a:lnTo>
                    <a:lnTo>
                      <a:pt x="809" y="1398"/>
                    </a:lnTo>
                    <a:lnTo>
                      <a:pt x="806" y="1398"/>
                    </a:lnTo>
                    <a:lnTo>
                      <a:pt x="802" y="1398"/>
                    </a:lnTo>
                    <a:lnTo>
                      <a:pt x="799" y="1398"/>
                    </a:lnTo>
                    <a:lnTo>
                      <a:pt x="795" y="1398"/>
                    </a:lnTo>
                    <a:lnTo>
                      <a:pt x="792" y="1400"/>
                    </a:lnTo>
                    <a:lnTo>
                      <a:pt x="788" y="1400"/>
                    </a:lnTo>
                    <a:lnTo>
                      <a:pt x="785" y="1400"/>
                    </a:lnTo>
                    <a:lnTo>
                      <a:pt x="781" y="1400"/>
                    </a:lnTo>
                    <a:lnTo>
                      <a:pt x="778" y="1400"/>
                    </a:lnTo>
                    <a:lnTo>
                      <a:pt x="774" y="1400"/>
                    </a:lnTo>
                    <a:lnTo>
                      <a:pt x="771" y="1400"/>
                    </a:lnTo>
                    <a:lnTo>
                      <a:pt x="767" y="1400"/>
                    </a:lnTo>
                    <a:lnTo>
                      <a:pt x="764" y="1400"/>
                    </a:lnTo>
                    <a:lnTo>
                      <a:pt x="760" y="1401"/>
                    </a:lnTo>
                    <a:lnTo>
                      <a:pt x="757" y="1401"/>
                    </a:lnTo>
                    <a:lnTo>
                      <a:pt x="753" y="1401"/>
                    </a:lnTo>
                    <a:lnTo>
                      <a:pt x="750" y="1401"/>
                    </a:lnTo>
                    <a:lnTo>
                      <a:pt x="748" y="1401"/>
                    </a:lnTo>
                    <a:lnTo>
                      <a:pt x="745" y="1401"/>
                    </a:lnTo>
                    <a:lnTo>
                      <a:pt x="739" y="1401"/>
                    </a:lnTo>
                    <a:lnTo>
                      <a:pt x="736" y="1401"/>
                    </a:lnTo>
                    <a:lnTo>
                      <a:pt x="732" y="1401"/>
                    </a:lnTo>
                    <a:lnTo>
                      <a:pt x="731" y="1401"/>
                    </a:lnTo>
                    <a:lnTo>
                      <a:pt x="727" y="1401"/>
                    </a:lnTo>
                    <a:lnTo>
                      <a:pt x="724" y="1401"/>
                    </a:lnTo>
                    <a:lnTo>
                      <a:pt x="720" y="1401"/>
                    </a:lnTo>
                    <a:lnTo>
                      <a:pt x="717" y="1401"/>
                    </a:lnTo>
                    <a:lnTo>
                      <a:pt x="713" y="1401"/>
                    </a:lnTo>
                    <a:lnTo>
                      <a:pt x="710" y="1401"/>
                    </a:lnTo>
                    <a:lnTo>
                      <a:pt x="706" y="1403"/>
                    </a:lnTo>
                    <a:lnTo>
                      <a:pt x="703" y="1403"/>
                    </a:lnTo>
                    <a:lnTo>
                      <a:pt x="699" y="1403"/>
                    </a:lnTo>
                    <a:lnTo>
                      <a:pt x="696" y="1403"/>
                    </a:lnTo>
                    <a:lnTo>
                      <a:pt x="692" y="1403"/>
                    </a:lnTo>
                    <a:lnTo>
                      <a:pt x="689" y="1403"/>
                    </a:lnTo>
                    <a:lnTo>
                      <a:pt x="685" y="1403"/>
                    </a:lnTo>
                    <a:lnTo>
                      <a:pt x="682" y="1401"/>
                    </a:lnTo>
                    <a:lnTo>
                      <a:pt x="679" y="1401"/>
                    </a:lnTo>
                    <a:lnTo>
                      <a:pt x="675" y="1401"/>
                    </a:lnTo>
                    <a:lnTo>
                      <a:pt x="672" y="1401"/>
                    </a:lnTo>
                    <a:lnTo>
                      <a:pt x="668" y="1401"/>
                    </a:lnTo>
                    <a:lnTo>
                      <a:pt x="665" y="1401"/>
                    </a:lnTo>
                    <a:lnTo>
                      <a:pt x="661" y="1401"/>
                    </a:lnTo>
                    <a:lnTo>
                      <a:pt x="658" y="1401"/>
                    </a:lnTo>
                    <a:lnTo>
                      <a:pt x="654" y="1401"/>
                    </a:lnTo>
                    <a:lnTo>
                      <a:pt x="651" y="1401"/>
                    </a:lnTo>
                    <a:lnTo>
                      <a:pt x="647" y="1401"/>
                    </a:lnTo>
                    <a:lnTo>
                      <a:pt x="644" y="1401"/>
                    </a:lnTo>
                    <a:lnTo>
                      <a:pt x="640" y="1401"/>
                    </a:lnTo>
                    <a:lnTo>
                      <a:pt x="637" y="1401"/>
                    </a:lnTo>
                    <a:lnTo>
                      <a:pt x="633" y="1401"/>
                    </a:lnTo>
                    <a:lnTo>
                      <a:pt x="630" y="1400"/>
                    </a:lnTo>
                    <a:lnTo>
                      <a:pt x="626" y="1400"/>
                    </a:lnTo>
                    <a:lnTo>
                      <a:pt x="623" y="1400"/>
                    </a:lnTo>
                    <a:lnTo>
                      <a:pt x="619" y="1400"/>
                    </a:lnTo>
                    <a:lnTo>
                      <a:pt x="616" y="1400"/>
                    </a:lnTo>
                    <a:lnTo>
                      <a:pt x="612" y="1400"/>
                    </a:lnTo>
                    <a:lnTo>
                      <a:pt x="609" y="1400"/>
                    </a:lnTo>
                    <a:lnTo>
                      <a:pt x="605" y="1400"/>
                    </a:lnTo>
                    <a:lnTo>
                      <a:pt x="602" y="1400"/>
                    </a:lnTo>
                    <a:lnTo>
                      <a:pt x="598" y="1398"/>
                    </a:lnTo>
                    <a:lnTo>
                      <a:pt x="595" y="1398"/>
                    </a:lnTo>
                    <a:lnTo>
                      <a:pt x="591" y="1398"/>
                    </a:lnTo>
                    <a:lnTo>
                      <a:pt x="588" y="1398"/>
                    </a:lnTo>
                    <a:lnTo>
                      <a:pt x="585" y="1398"/>
                    </a:lnTo>
                    <a:lnTo>
                      <a:pt x="581" y="1398"/>
                    </a:lnTo>
                    <a:lnTo>
                      <a:pt x="578" y="1396"/>
                    </a:lnTo>
                    <a:lnTo>
                      <a:pt x="574" y="1396"/>
                    </a:lnTo>
                    <a:lnTo>
                      <a:pt x="571" y="1396"/>
                    </a:lnTo>
                    <a:lnTo>
                      <a:pt x="567" y="1396"/>
                    </a:lnTo>
                    <a:lnTo>
                      <a:pt x="564" y="1394"/>
                    </a:lnTo>
                    <a:lnTo>
                      <a:pt x="562" y="1394"/>
                    </a:lnTo>
                    <a:lnTo>
                      <a:pt x="558" y="1394"/>
                    </a:lnTo>
                    <a:lnTo>
                      <a:pt x="555" y="1394"/>
                    </a:lnTo>
                    <a:lnTo>
                      <a:pt x="551" y="1394"/>
                    </a:lnTo>
                    <a:lnTo>
                      <a:pt x="548" y="1393"/>
                    </a:lnTo>
                    <a:lnTo>
                      <a:pt x="544" y="1393"/>
                    </a:lnTo>
                    <a:lnTo>
                      <a:pt x="541" y="1393"/>
                    </a:lnTo>
                    <a:lnTo>
                      <a:pt x="538" y="1391"/>
                    </a:lnTo>
                    <a:lnTo>
                      <a:pt x="534" y="1391"/>
                    </a:lnTo>
                    <a:lnTo>
                      <a:pt x="531" y="1391"/>
                    </a:lnTo>
                    <a:lnTo>
                      <a:pt x="527" y="1391"/>
                    </a:lnTo>
                    <a:lnTo>
                      <a:pt x="524" y="1389"/>
                    </a:lnTo>
                    <a:lnTo>
                      <a:pt x="520" y="1389"/>
                    </a:lnTo>
                    <a:lnTo>
                      <a:pt x="517" y="1389"/>
                    </a:lnTo>
                    <a:lnTo>
                      <a:pt x="513" y="1389"/>
                    </a:lnTo>
                    <a:lnTo>
                      <a:pt x="510" y="1387"/>
                    </a:lnTo>
                    <a:lnTo>
                      <a:pt x="506" y="1387"/>
                    </a:lnTo>
                    <a:lnTo>
                      <a:pt x="503" y="1386"/>
                    </a:lnTo>
                    <a:lnTo>
                      <a:pt x="499" y="1386"/>
                    </a:lnTo>
                    <a:lnTo>
                      <a:pt x="498" y="1386"/>
                    </a:lnTo>
                    <a:lnTo>
                      <a:pt x="494" y="1384"/>
                    </a:lnTo>
                    <a:lnTo>
                      <a:pt x="491" y="1384"/>
                    </a:lnTo>
                    <a:lnTo>
                      <a:pt x="487" y="1384"/>
                    </a:lnTo>
                    <a:lnTo>
                      <a:pt x="484" y="1382"/>
                    </a:lnTo>
                    <a:lnTo>
                      <a:pt x="480" y="1382"/>
                    </a:lnTo>
                    <a:lnTo>
                      <a:pt x="477" y="1382"/>
                    </a:lnTo>
                    <a:lnTo>
                      <a:pt x="473" y="1380"/>
                    </a:lnTo>
                    <a:lnTo>
                      <a:pt x="470" y="1380"/>
                    </a:lnTo>
                    <a:lnTo>
                      <a:pt x="466" y="1379"/>
                    </a:lnTo>
                    <a:lnTo>
                      <a:pt x="463" y="1379"/>
                    </a:lnTo>
                    <a:lnTo>
                      <a:pt x="459" y="1377"/>
                    </a:lnTo>
                    <a:lnTo>
                      <a:pt x="456" y="1377"/>
                    </a:lnTo>
                    <a:lnTo>
                      <a:pt x="454" y="1377"/>
                    </a:lnTo>
                    <a:lnTo>
                      <a:pt x="451" y="1375"/>
                    </a:lnTo>
                    <a:lnTo>
                      <a:pt x="447" y="1375"/>
                    </a:lnTo>
                    <a:lnTo>
                      <a:pt x="444" y="1373"/>
                    </a:lnTo>
                    <a:lnTo>
                      <a:pt x="440" y="1373"/>
                    </a:lnTo>
                    <a:lnTo>
                      <a:pt x="437" y="1372"/>
                    </a:lnTo>
                    <a:lnTo>
                      <a:pt x="433" y="1372"/>
                    </a:lnTo>
                    <a:lnTo>
                      <a:pt x="430" y="1370"/>
                    </a:lnTo>
                    <a:lnTo>
                      <a:pt x="426" y="1370"/>
                    </a:lnTo>
                    <a:lnTo>
                      <a:pt x="424" y="1368"/>
                    </a:lnTo>
                    <a:lnTo>
                      <a:pt x="421" y="1368"/>
                    </a:lnTo>
                    <a:lnTo>
                      <a:pt x="417" y="1366"/>
                    </a:lnTo>
                    <a:lnTo>
                      <a:pt x="414" y="1366"/>
                    </a:lnTo>
                    <a:lnTo>
                      <a:pt x="410" y="1365"/>
                    </a:lnTo>
                    <a:lnTo>
                      <a:pt x="407" y="1365"/>
                    </a:lnTo>
                    <a:lnTo>
                      <a:pt x="404" y="1363"/>
                    </a:lnTo>
                    <a:lnTo>
                      <a:pt x="402" y="1363"/>
                    </a:lnTo>
                    <a:lnTo>
                      <a:pt x="398" y="1361"/>
                    </a:lnTo>
                    <a:lnTo>
                      <a:pt x="395" y="1359"/>
                    </a:lnTo>
                    <a:lnTo>
                      <a:pt x="391" y="1359"/>
                    </a:lnTo>
                    <a:lnTo>
                      <a:pt x="388" y="1358"/>
                    </a:lnTo>
                    <a:lnTo>
                      <a:pt x="384" y="1358"/>
                    </a:lnTo>
                    <a:lnTo>
                      <a:pt x="383" y="1356"/>
                    </a:lnTo>
                    <a:lnTo>
                      <a:pt x="379" y="1354"/>
                    </a:lnTo>
                    <a:lnTo>
                      <a:pt x="376" y="1354"/>
                    </a:lnTo>
                    <a:lnTo>
                      <a:pt x="372" y="1353"/>
                    </a:lnTo>
                    <a:lnTo>
                      <a:pt x="369" y="1353"/>
                    </a:lnTo>
                    <a:lnTo>
                      <a:pt x="367" y="1351"/>
                    </a:lnTo>
                    <a:lnTo>
                      <a:pt x="363" y="1349"/>
                    </a:lnTo>
                    <a:lnTo>
                      <a:pt x="360" y="1349"/>
                    </a:lnTo>
                    <a:lnTo>
                      <a:pt x="357" y="1347"/>
                    </a:lnTo>
                    <a:lnTo>
                      <a:pt x="353" y="1346"/>
                    </a:lnTo>
                    <a:lnTo>
                      <a:pt x="351" y="1344"/>
                    </a:lnTo>
                    <a:lnTo>
                      <a:pt x="348" y="1344"/>
                    </a:lnTo>
                    <a:lnTo>
                      <a:pt x="344" y="1342"/>
                    </a:lnTo>
                    <a:lnTo>
                      <a:pt x="341" y="1340"/>
                    </a:lnTo>
                    <a:lnTo>
                      <a:pt x="339" y="1340"/>
                    </a:lnTo>
                    <a:lnTo>
                      <a:pt x="336" y="1339"/>
                    </a:lnTo>
                    <a:lnTo>
                      <a:pt x="332" y="1337"/>
                    </a:lnTo>
                    <a:lnTo>
                      <a:pt x="329" y="1335"/>
                    </a:lnTo>
                    <a:lnTo>
                      <a:pt x="327" y="1335"/>
                    </a:lnTo>
                    <a:lnTo>
                      <a:pt x="323" y="1333"/>
                    </a:lnTo>
                    <a:lnTo>
                      <a:pt x="320" y="1332"/>
                    </a:lnTo>
                    <a:lnTo>
                      <a:pt x="316" y="1330"/>
                    </a:lnTo>
                    <a:lnTo>
                      <a:pt x="315" y="1330"/>
                    </a:lnTo>
                    <a:lnTo>
                      <a:pt x="311" y="1328"/>
                    </a:lnTo>
                    <a:lnTo>
                      <a:pt x="308" y="1326"/>
                    </a:lnTo>
                    <a:lnTo>
                      <a:pt x="306" y="1325"/>
                    </a:lnTo>
                    <a:lnTo>
                      <a:pt x="303" y="1325"/>
                    </a:lnTo>
                    <a:lnTo>
                      <a:pt x="301" y="1323"/>
                    </a:lnTo>
                    <a:lnTo>
                      <a:pt x="297" y="1321"/>
                    </a:lnTo>
                    <a:lnTo>
                      <a:pt x="294" y="1319"/>
                    </a:lnTo>
                    <a:lnTo>
                      <a:pt x="292" y="1318"/>
                    </a:lnTo>
                    <a:lnTo>
                      <a:pt x="289" y="1316"/>
                    </a:lnTo>
                    <a:lnTo>
                      <a:pt x="285" y="1316"/>
                    </a:lnTo>
                    <a:lnTo>
                      <a:pt x="283" y="1314"/>
                    </a:lnTo>
                    <a:lnTo>
                      <a:pt x="280" y="1312"/>
                    </a:lnTo>
                    <a:lnTo>
                      <a:pt x="276" y="1311"/>
                    </a:lnTo>
                    <a:lnTo>
                      <a:pt x="275" y="1309"/>
                    </a:lnTo>
                    <a:lnTo>
                      <a:pt x="271" y="1307"/>
                    </a:lnTo>
                    <a:lnTo>
                      <a:pt x="269" y="1305"/>
                    </a:lnTo>
                    <a:lnTo>
                      <a:pt x="266" y="1304"/>
                    </a:lnTo>
                    <a:lnTo>
                      <a:pt x="263" y="1302"/>
                    </a:lnTo>
                    <a:lnTo>
                      <a:pt x="261" y="1300"/>
                    </a:lnTo>
                    <a:lnTo>
                      <a:pt x="257" y="1299"/>
                    </a:lnTo>
                    <a:lnTo>
                      <a:pt x="256" y="1299"/>
                    </a:lnTo>
                    <a:lnTo>
                      <a:pt x="252" y="1297"/>
                    </a:lnTo>
                    <a:lnTo>
                      <a:pt x="250" y="1295"/>
                    </a:lnTo>
                    <a:lnTo>
                      <a:pt x="247" y="1293"/>
                    </a:lnTo>
                    <a:lnTo>
                      <a:pt x="243" y="1292"/>
                    </a:lnTo>
                    <a:lnTo>
                      <a:pt x="242" y="1290"/>
                    </a:lnTo>
                    <a:lnTo>
                      <a:pt x="240" y="1288"/>
                    </a:lnTo>
                    <a:lnTo>
                      <a:pt x="236" y="1286"/>
                    </a:lnTo>
                    <a:lnTo>
                      <a:pt x="235" y="1285"/>
                    </a:lnTo>
                    <a:lnTo>
                      <a:pt x="231" y="1283"/>
                    </a:lnTo>
                    <a:lnTo>
                      <a:pt x="229" y="1281"/>
                    </a:lnTo>
                    <a:lnTo>
                      <a:pt x="226" y="1279"/>
                    </a:lnTo>
                    <a:lnTo>
                      <a:pt x="224" y="1278"/>
                    </a:lnTo>
                    <a:lnTo>
                      <a:pt x="221" y="1276"/>
                    </a:lnTo>
                    <a:lnTo>
                      <a:pt x="219" y="1274"/>
                    </a:lnTo>
                    <a:lnTo>
                      <a:pt x="216" y="1271"/>
                    </a:lnTo>
                    <a:lnTo>
                      <a:pt x="214" y="1269"/>
                    </a:lnTo>
                    <a:lnTo>
                      <a:pt x="212" y="1267"/>
                    </a:lnTo>
                    <a:lnTo>
                      <a:pt x="209" y="1265"/>
                    </a:lnTo>
                    <a:lnTo>
                      <a:pt x="207" y="1264"/>
                    </a:lnTo>
                    <a:lnTo>
                      <a:pt x="205" y="1262"/>
                    </a:lnTo>
                    <a:lnTo>
                      <a:pt x="202" y="1260"/>
                    </a:lnTo>
                    <a:lnTo>
                      <a:pt x="200" y="1258"/>
                    </a:lnTo>
                    <a:lnTo>
                      <a:pt x="198" y="1257"/>
                    </a:lnTo>
                    <a:lnTo>
                      <a:pt x="195" y="1253"/>
                    </a:lnTo>
                    <a:lnTo>
                      <a:pt x="193" y="1252"/>
                    </a:lnTo>
                    <a:lnTo>
                      <a:pt x="191" y="1250"/>
                    </a:lnTo>
                    <a:lnTo>
                      <a:pt x="188" y="1248"/>
                    </a:lnTo>
                    <a:lnTo>
                      <a:pt x="186" y="1246"/>
                    </a:lnTo>
                    <a:lnTo>
                      <a:pt x="184" y="1245"/>
                    </a:lnTo>
                    <a:lnTo>
                      <a:pt x="182" y="1243"/>
                    </a:lnTo>
                    <a:lnTo>
                      <a:pt x="179" y="1239"/>
                    </a:lnTo>
                    <a:lnTo>
                      <a:pt x="177" y="1238"/>
                    </a:lnTo>
                    <a:lnTo>
                      <a:pt x="176" y="1236"/>
                    </a:lnTo>
                    <a:lnTo>
                      <a:pt x="174" y="1234"/>
                    </a:lnTo>
                    <a:lnTo>
                      <a:pt x="170" y="1232"/>
                    </a:lnTo>
                    <a:lnTo>
                      <a:pt x="169" y="1229"/>
                    </a:lnTo>
                    <a:lnTo>
                      <a:pt x="167" y="1227"/>
                    </a:lnTo>
                    <a:lnTo>
                      <a:pt x="165" y="1225"/>
                    </a:lnTo>
                    <a:lnTo>
                      <a:pt x="163" y="1224"/>
                    </a:lnTo>
                    <a:lnTo>
                      <a:pt x="162" y="1220"/>
                    </a:lnTo>
                    <a:lnTo>
                      <a:pt x="160" y="1218"/>
                    </a:lnTo>
                    <a:lnTo>
                      <a:pt x="156" y="1217"/>
                    </a:lnTo>
                    <a:lnTo>
                      <a:pt x="155" y="1215"/>
                    </a:lnTo>
                    <a:lnTo>
                      <a:pt x="153" y="1211"/>
                    </a:lnTo>
                    <a:lnTo>
                      <a:pt x="151" y="1210"/>
                    </a:lnTo>
                    <a:lnTo>
                      <a:pt x="149" y="1208"/>
                    </a:lnTo>
                    <a:lnTo>
                      <a:pt x="148" y="1206"/>
                    </a:lnTo>
                    <a:lnTo>
                      <a:pt x="146" y="1203"/>
                    </a:lnTo>
                    <a:lnTo>
                      <a:pt x="144" y="1201"/>
                    </a:lnTo>
                    <a:lnTo>
                      <a:pt x="142" y="1199"/>
                    </a:lnTo>
                    <a:lnTo>
                      <a:pt x="141" y="1196"/>
                    </a:lnTo>
                    <a:lnTo>
                      <a:pt x="139" y="1194"/>
                    </a:lnTo>
                    <a:lnTo>
                      <a:pt x="137" y="1192"/>
                    </a:lnTo>
                    <a:lnTo>
                      <a:pt x="135" y="1189"/>
                    </a:lnTo>
                    <a:lnTo>
                      <a:pt x="134" y="1187"/>
                    </a:lnTo>
                    <a:lnTo>
                      <a:pt x="134" y="1185"/>
                    </a:lnTo>
                    <a:lnTo>
                      <a:pt x="132" y="1182"/>
                    </a:lnTo>
                    <a:lnTo>
                      <a:pt x="130" y="1180"/>
                    </a:lnTo>
                    <a:lnTo>
                      <a:pt x="129" y="1178"/>
                    </a:lnTo>
                    <a:lnTo>
                      <a:pt x="127" y="1175"/>
                    </a:lnTo>
                    <a:lnTo>
                      <a:pt x="125" y="1173"/>
                    </a:lnTo>
                    <a:lnTo>
                      <a:pt x="123" y="1170"/>
                    </a:lnTo>
                    <a:lnTo>
                      <a:pt x="123" y="1168"/>
                    </a:lnTo>
                    <a:lnTo>
                      <a:pt x="122" y="1166"/>
                    </a:lnTo>
                    <a:lnTo>
                      <a:pt x="120" y="1163"/>
                    </a:lnTo>
                    <a:lnTo>
                      <a:pt x="118" y="1161"/>
                    </a:lnTo>
                    <a:lnTo>
                      <a:pt x="118" y="1158"/>
                    </a:lnTo>
                    <a:lnTo>
                      <a:pt x="116" y="1156"/>
                    </a:lnTo>
                    <a:lnTo>
                      <a:pt x="115" y="1154"/>
                    </a:lnTo>
                    <a:lnTo>
                      <a:pt x="115" y="1151"/>
                    </a:lnTo>
                    <a:lnTo>
                      <a:pt x="113" y="1149"/>
                    </a:lnTo>
                    <a:lnTo>
                      <a:pt x="111" y="1145"/>
                    </a:lnTo>
                    <a:lnTo>
                      <a:pt x="111" y="1144"/>
                    </a:lnTo>
                    <a:lnTo>
                      <a:pt x="109" y="1142"/>
                    </a:lnTo>
                    <a:lnTo>
                      <a:pt x="108" y="1138"/>
                    </a:lnTo>
                    <a:lnTo>
                      <a:pt x="108" y="1137"/>
                    </a:lnTo>
                    <a:lnTo>
                      <a:pt x="106" y="1133"/>
                    </a:lnTo>
                    <a:lnTo>
                      <a:pt x="106" y="1131"/>
                    </a:lnTo>
                    <a:lnTo>
                      <a:pt x="104" y="1128"/>
                    </a:lnTo>
                    <a:lnTo>
                      <a:pt x="102" y="1126"/>
                    </a:lnTo>
                    <a:lnTo>
                      <a:pt x="102" y="1123"/>
                    </a:lnTo>
                    <a:lnTo>
                      <a:pt x="102" y="1121"/>
                    </a:lnTo>
                    <a:lnTo>
                      <a:pt x="101" y="1117"/>
                    </a:lnTo>
                    <a:lnTo>
                      <a:pt x="101" y="1116"/>
                    </a:lnTo>
                    <a:lnTo>
                      <a:pt x="99" y="1112"/>
                    </a:lnTo>
                    <a:lnTo>
                      <a:pt x="99" y="1111"/>
                    </a:lnTo>
                    <a:lnTo>
                      <a:pt x="97" y="1107"/>
                    </a:lnTo>
                    <a:lnTo>
                      <a:pt x="97" y="1105"/>
                    </a:lnTo>
                    <a:lnTo>
                      <a:pt x="97" y="1102"/>
                    </a:lnTo>
                    <a:lnTo>
                      <a:pt x="95" y="1100"/>
                    </a:lnTo>
                    <a:lnTo>
                      <a:pt x="95" y="1098"/>
                    </a:lnTo>
                    <a:lnTo>
                      <a:pt x="95" y="1095"/>
                    </a:lnTo>
                    <a:lnTo>
                      <a:pt x="94" y="1093"/>
                    </a:lnTo>
                    <a:lnTo>
                      <a:pt x="94" y="1090"/>
                    </a:lnTo>
                    <a:lnTo>
                      <a:pt x="94" y="1088"/>
                    </a:lnTo>
                    <a:lnTo>
                      <a:pt x="94" y="1084"/>
                    </a:lnTo>
                    <a:lnTo>
                      <a:pt x="92" y="1083"/>
                    </a:lnTo>
                    <a:lnTo>
                      <a:pt x="92" y="1079"/>
                    </a:lnTo>
                    <a:lnTo>
                      <a:pt x="92" y="1076"/>
                    </a:lnTo>
                    <a:lnTo>
                      <a:pt x="92" y="1074"/>
                    </a:lnTo>
                    <a:lnTo>
                      <a:pt x="92" y="1070"/>
                    </a:lnTo>
                    <a:lnTo>
                      <a:pt x="92" y="1069"/>
                    </a:lnTo>
                    <a:lnTo>
                      <a:pt x="90" y="1065"/>
                    </a:lnTo>
                    <a:lnTo>
                      <a:pt x="90" y="1064"/>
                    </a:lnTo>
                    <a:lnTo>
                      <a:pt x="90" y="1060"/>
                    </a:lnTo>
                    <a:lnTo>
                      <a:pt x="90" y="1050"/>
                    </a:lnTo>
                    <a:moveTo>
                      <a:pt x="1028" y="1370"/>
                    </a:moveTo>
                    <a:lnTo>
                      <a:pt x="1025" y="1372"/>
                    </a:lnTo>
                    <a:lnTo>
                      <a:pt x="1021" y="1372"/>
                    </a:lnTo>
                    <a:lnTo>
                      <a:pt x="1018" y="1372"/>
                    </a:lnTo>
                    <a:lnTo>
                      <a:pt x="1014" y="1372"/>
                    </a:lnTo>
                    <a:lnTo>
                      <a:pt x="1011" y="1373"/>
                    </a:lnTo>
                    <a:lnTo>
                      <a:pt x="1007" y="1373"/>
                    </a:lnTo>
                    <a:lnTo>
                      <a:pt x="1004" y="1373"/>
                    </a:lnTo>
                    <a:lnTo>
                      <a:pt x="1000" y="1375"/>
                    </a:lnTo>
                    <a:lnTo>
                      <a:pt x="997" y="1375"/>
                    </a:lnTo>
                    <a:lnTo>
                      <a:pt x="994" y="1375"/>
                    </a:lnTo>
                    <a:lnTo>
                      <a:pt x="990" y="1377"/>
                    </a:lnTo>
                    <a:lnTo>
                      <a:pt x="987" y="1377"/>
                    </a:lnTo>
                    <a:lnTo>
                      <a:pt x="983" y="1377"/>
                    </a:lnTo>
                    <a:lnTo>
                      <a:pt x="980" y="1377"/>
                    </a:lnTo>
                    <a:lnTo>
                      <a:pt x="976" y="1379"/>
                    </a:lnTo>
                    <a:lnTo>
                      <a:pt x="973" y="1379"/>
                    </a:lnTo>
                    <a:lnTo>
                      <a:pt x="969" y="1379"/>
                    </a:lnTo>
                    <a:lnTo>
                      <a:pt x="967" y="1380"/>
                    </a:lnTo>
                    <a:lnTo>
                      <a:pt x="964" y="1380"/>
                    </a:lnTo>
                    <a:lnTo>
                      <a:pt x="960" y="1380"/>
                    </a:lnTo>
                    <a:lnTo>
                      <a:pt x="957" y="1380"/>
                    </a:lnTo>
                    <a:lnTo>
                      <a:pt x="954" y="1382"/>
                    </a:lnTo>
                    <a:lnTo>
                      <a:pt x="950" y="1382"/>
                    </a:lnTo>
                    <a:lnTo>
                      <a:pt x="947" y="1382"/>
                    </a:lnTo>
                    <a:lnTo>
                      <a:pt x="943" y="1382"/>
                    </a:lnTo>
                    <a:lnTo>
                      <a:pt x="940" y="1384"/>
                    </a:lnTo>
                    <a:lnTo>
                      <a:pt x="936" y="1384"/>
                    </a:lnTo>
                    <a:lnTo>
                      <a:pt x="933" y="1384"/>
                    </a:lnTo>
                    <a:lnTo>
                      <a:pt x="929" y="1384"/>
                    </a:lnTo>
                    <a:lnTo>
                      <a:pt x="926" y="1386"/>
                    </a:lnTo>
                    <a:lnTo>
                      <a:pt x="922" y="1386"/>
                    </a:lnTo>
                    <a:lnTo>
                      <a:pt x="919" y="1386"/>
                    </a:lnTo>
                    <a:lnTo>
                      <a:pt x="915" y="1386"/>
                    </a:lnTo>
                    <a:lnTo>
                      <a:pt x="912" y="1387"/>
                    </a:lnTo>
                    <a:lnTo>
                      <a:pt x="908" y="1387"/>
                    </a:lnTo>
                    <a:lnTo>
                      <a:pt x="905" y="1387"/>
                    </a:lnTo>
                    <a:lnTo>
                      <a:pt x="901" y="1389"/>
                    </a:lnTo>
                    <a:lnTo>
                      <a:pt x="898" y="1389"/>
                    </a:lnTo>
                    <a:lnTo>
                      <a:pt x="894" y="1389"/>
                    </a:lnTo>
                    <a:lnTo>
                      <a:pt x="891" y="1389"/>
                    </a:lnTo>
                    <a:moveTo>
                      <a:pt x="1028" y="1366"/>
                    </a:moveTo>
                    <a:lnTo>
                      <a:pt x="1025" y="1366"/>
                    </a:lnTo>
                    <a:lnTo>
                      <a:pt x="1021" y="1365"/>
                    </a:lnTo>
                    <a:lnTo>
                      <a:pt x="1018" y="1365"/>
                    </a:lnTo>
                    <a:lnTo>
                      <a:pt x="1014" y="1365"/>
                    </a:lnTo>
                    <a:lnTo>
                      <a:pt x="1011" y="1363"/>
                    </a:lnTo>
                    <a:lnTo>
                      <a:pt x="1007" y="1363"/>
                    </a:lnTo>
                    <a:lnTo>
                      <a:pt x="1004" y="1363"/>
                    </a:lnTo>
                    <a:lnTo>
                      <a:pt x="1000" y="1363"/>
                    </a:lnTo>
                    <a:lnTo>
                      <a:pt x="997" y="1361"/>
                    </a:lnTo>
                    <a:lnTo>
                      <a:pt x="994" y="1361"/>
                    </a:lnTo>
                    <a:lnTo>
                      <a:pt x="990" y="1361"/>
                    </a:lnTo>
                    <a:lnTo>
                      <a:pt x="987" y="1359"/>
                    </a:lnTo>
                    <a:lnTo>
                      <a:pt x="983" y="1359"/>
                    </a:lnTo>
                    <a:lnTo>
                      <a:pt x="980" y="1359"/>
                    </a:lnTo>
                    <a:lnTo>
                      <a:pt x="976" y="1358"/>
                    </a:lnTo>
                    <a:lnTo>
                      <a:pt x="973" y="1358"/>
                    </a:lnTo>
                    <a:lnTo>
                      <a:pt x="969" y="1358"/>
                    </a:lnTo>
                    <a:lnTo>
                      <a:pt x="967" y="1358"/>
                    </a:lnTo>
                    <a:lnTo>
                      <a:pt x="964" y="1356"/>
                    </a:lnTo>
                    <a:lnTo>
                      <a:pt x="960" y="1356"/>
                    </a:lnTo>
                    <a:lnTo>
                      <a:pt x="957" y="1354"/>
                    </a:lnTo>
                    <a:lnTo>
                      <a:pt x="954" y="1354"/>
                    </a:lnTo>
                    <a:lnTo>
                      <a:pt x="950" y="1354"/>
                    </a:lnTo>
                    <a:lnTo>
                      <a:pt x="947" y="1354"/>
                    </a:lnTo>
                    <a:lnTo>
                      <a:pt x="943" y="1353"/>
                    </a:lnTo>
                    <a:lnTo>
                      <a:pt x="940" y="1353"/>
                    </a:lnTo>
                    <a:lnTo>
                      <a:pt x="936" y="1353"/>
                    </a:lnTo>
                    <a:lnTo>
                      <a:pt x="933" y="1351"/>
                    </a:lnTo>
                    <a:lnTo>
                      <a:pt x="929" y="1351"/>
                    </a:lnTo>
                    <a:lnTo>
                      <a:pt x="926" y="1351"/>
                    </a:lnTo>
                    <a:lnTo>
                      <a:pt x="922" y="1349"/>
                    </a:lnTo>
                    <a:lnTo>
                      <a:pt x="919" y="1349"/>
                    </a:lnTo>
                    <a:lnTo>
                      <a:pt x="915" y="1349"/>
                    </a:lnTo>
                    <a:lnTo>
                      <a:pt x="913" y="1347"/>
                    </a:lnTo>
                    <a:lnTo>
                      <a:pt x="910" y="1347"/>
                    </a:lnTo>
                    <a:lnTo>
                      <a:pt x="907" y="1347"/>
                    </a:lnTo>
                    <a:lnTo>
                      <a:pt x="903" y="1346"/>
                    </a:lnTo>
                    <a:lnTo>
                      <a:pt x="900" y="1346"/>
                    </a:lnTo>
                    <a:lnTo>
                      <a:pt x="896" y="1344"/>
                    </a:lnTo>
                    <a:lnTo>
                      <a:pt x="893" y="1344"/>
                    </a:lnTo>
                    <a:lnTo>
                      <a:pt x="889" y="1344"/>
                    </a:lnTo>
                    <a:lnTo>
                      <a:pt x="886" y="1342"/>
                    </a:lnTo>
                    <a:lnTo>
                      <a:pt x="882" y="1342"/>
                    </a:lnTo>
                    <a:lnTo>
                      <a:pt x="879" y="1342"/>
                    </a:lnTo>
                    <a:lnTo>
                      <a:pt x="875" y="1340"/>
                    </a:lnTo>
                    <a:lnTo>
                      <a:pt x="872" y="1340"/>
                    </a:lnTo>
                    <a:lnTo>
                      <a:pt x="868" y="1339"/>
                    </a:lnTo>
                    <a:lnTo>
                      <a:pt x="865" y="1339"/>
                    </a:lnTo>
                    <a:lnTo>
                      <a:pt x="863" y="1339"/>
                    </a:lnTo>
                    <a:lnTo>
                      <a:pt x="860" y="1337"/>
                    </a:lnTo>
                    <a:lnTo>
                      <a:pt x="856" y="1337"/>
                    </a:lnTo>
                    <a:lnTo>
                      <a:pt x="853" y="1335"/>
                    </a:lnTo>
                    <a:lnTo>
                      <a:pt x="849" y="1335"/>
                    </a:lnTo>
                    <a:lnTo>
                      <a:pt x="846" y="1335"/>
                    </a:lnTo>
                    <a:lnTo>
                      <a:pt x="842" y="1333"/>
                    </a:lnTo>
                    <a:lnTo>
                      <a:pt x="839" y="1333"/>
                    </a:lnTo>
                    <a:lnTo>
                      <a:pt x="835" y="1332"/>
                    </a:lnTo>
                    <a:lnTo>
                      <a:pt x="832" y="1332"/>
                    </a:lnTo>
                    <a:lnTo>
                      <a:pt x="828" y="1330"/>
                    </a:lnTo>
                    <a:lnTo>
                      <a:pt x="826" y="1330"/>
                    </a:lnTo>
                    <a:lnTo>
                      <a:pt x="823" y="1330"/>
                    </a:lnTo>
                    <a:lnTo>
                      <a:pt x="819" y="1328"/>
                    </a:lnTo>
                    <a:lnTo>
                      <a:pt x="816" y="1326"/>
                    </a:lnTo>
                    <a:lnTo>
                      <a:pt x="813" y="1326"/>
                    </a:lnTo>
                    <a:lnTo>
                      <a:pt x="809" y="1326"/>
                    </a:lnTo>
                    <a:lnTo>
                      <a:pt x="806" y="1325"/>
                    </a:lnTo>
                    <a:lnTo>
                      <a:pt x="802" y="1325"/>
                    </a:lnTo>
                    <a:lnTo>
                      <a:pt x="800" y="1323"/>
                    </a:lnTo>
                    <a:lnTo>
                      <a:pt x="797" y="1323"/>
                    </a:lnTo>
                    <a:lnTo>
                      <a:pt x="793" y="1321"/>
                    </a:lnTo>
                    <a:lnTo>
                      <a:pt x="790" y="1321"/>
                    </a:lnTo>
                    <a:lnTo>
                      <a:pt x="786" y="1319"/>
                    </a:lnTo>
                    <a:lnTo>
                      <a:pt x="783" y="1318"/>
                    </a:lnTo>
                    <a:lnTo>
                      <a:pt x="779" y="1318"/>
                    </a:lnTo>
                    <a:lnTo>
                      <a:pt x="778" y="1316"/>
                    </a:lnTo>
                    <a:lnTo>
                      <a:pt x="774" y="1316"/>
                    </a:lnTo>
                    <a:lnTo>
                      <a:pt x="771" y="1314"/>
                    </a:lnTo>
                    <a:lnTo>
                      <a:pt x="767" y="1314"/>
                    </a:lnTo>
                    <a:lnTo>
                      <a:pt x="764" y="1312"/>
                    </a:lnTo>
                    <a:lnTo>
                      <a:pt x="760" y="1312"/>
                    </a:lnTo>
                    <a:lnTo>
                      <a:pt x="757" y="1311"/>
                    </a:lnTo>
                    <a:lnTo>
                      <a:pt x="755" y="1311"/>
                    </a:lnTo>
                    <a:lnTo>
                      <a:pt x="752" y="1309"/>
                    </a:lnTo>
                    <a:lnTo>
                      <a:pt x="748" y="1307"/>
                    </a:lnTo>
                    <a:lnTo>
                      <a:pt x="745" y="1307"/>
                    </a:lnTo>
                    <a:lnTo>
                      <a:pt x="741" y="1305"/>
                    </a:lnTo>
                    <a:lnTo>
                      <a:pt x="739" y="1305"/>
                    </a:lnTo>
                    <a:lnTo>
                      <a:pt x="736" y="1304"/>
                    </a:lnTo>
                    <a:lnTo>
                      <a:pt x="732" y="1302"/>
                    </a:lnTo>
                    <a:lnTo>
                      <a:pt x="729" y="1302"/>
                    </a:lnTo>
                    <a:lnTo>
                      <a:pt x="726" y="1300"/>
                    </a:lnTo>
                    <a:lnTo>
                      <a:pt x="722" y="1299"/>
                    </a:lnTo>
                    <a:lnTo>
                      <a:pt x="720" y="1299"/>
                    </a:lnTo>
                    <a:lnTo>
                      <a:pt x="717" y="1297"/>
                    </a:lnTo>
                    <a:lnTo>
                      <a:pt x="713" y="1297"/>
                    </a:lnTo>
                    <a:lnTo>
                      <a:pt x="710" y="1295"/>
                    </a:lnTo>
                    <a:lnTo>
                      <a:pt x="708" y="1293"/>
                    </a:lnTo>
                    <a:lnTo>
                      <a:pt x="705" y="1292"/>
                    </a:lnTo>
                    <a:lnTo>
                      <a:pt x="701" y="1292"/>
                    </a:lnTo>
                    <a:lnTo>
                      <a:pt x="698" y="1290"/>
                    </a:lnTo>
                    <a:lnTo>
                      <a:pt x="694" y="1288"/>
                    </a:lnTo>
                    <a:lnTo>
                      <a:pt x="692" y="1288"/>
                    </a:lnTo>
                    <a:lnTo>
                      <a:pt x="689" y="1286"/>
                    </a:lnTo>
                    <a:lnTo>
                      <a:pt x="685" y="1285"/>
                    </a:lnTo>
                    <a:lnTo>
                      <a:pt x="682" y="1283"/>
                    </a:lnTo>
                    <a:lnTo>
                      <a:pt x="680" y="1281"/>
                    </a:lnTo>
                    <a:lnTo>
                      <a:pt x="677" y="1281"/>
                    </a:lnTo>
                    <a:lnTo>
                      <a:pt x="673" y="1279"/>
                    </a:lnTo>
                    <a:lnTo>
                      <a:pt x="672" y="1278"/>
                    </a:lnTo>
                    <a:lnTo>
                      <a:pt x="668" y="1276"/>
                    </a:lnTo>
                    <a:lnTo>
                      <a:pt x="665" y="1276"/>
                    </a:lnTo>
                    <a:lnTo>
                      <a:pt x="663" y="1274"/>
                    </a:lnTo>
                    <a:lnTo>
                      <a:pt x="659" y="1272"/>
                    </a:lnTo>
                    <a:lnTo>
                      <a:pt x="656" y="1271"/>
                    </a:lnTo>
                    <a:lnTo>
                      <a:pt x="654" y="1269"/>
                    </a:lnTo>
                    <a:lnTo>
                      <a:pt x="651" y="1269"/>
                    </a:lnTo>
                    <a:lnTo>
                      <a:pt x="647" y="1267"/>
                    </a:lnTo>
                    <a:lnTo>
                      <a:pt x="645" y="1265"/>
                    </a:lnTo>
                    <a:lnTo>
                      <a:pt x="642" y="1264"/>
                    </a:lnTo>
                    <a:lnTo>
                      <a:pt x="638" y="1262"/>
                    </a:lnTo>
                    <a:lnTo>
                      <a:pt x="637" y="1260"/>
                    </a:lnTo>
                    <a:lnTo>
                      <a:pt x="633" y="1258"/>
                    </a:lnTo>
                    <a:lnTo>
                      <a:pt x="632" y="1257"/>
                    </a:lnTo>
                    <a:lnTo>
                      <a:pt x="628" y="1257"/>
                    </a:lnTo>
                    <a:lnTo>
                      <a:pt x="625" y="1255"/>
                    </a:lnTo>
                    <a:lnTo>
                      <a:pt x="623" y="1253"/>
                    </a:lnTo>
                    <a:lnTo>
                      <a:pt x="619" y="1252"/>
                    </a:lnTo>
                    <a:lnTo>
                      <a:pt x="618" y="1250"/>
                    </a:lnTo>
                    <a:lnTo>
                      <a:pt x="614" y="1248"/>
                    </a:lnTo>
                    <a:lnTo>
                      <a:pt x="612" y="1246"/>
                    </a:lnTo>
                    <a:lnTo>
                      <a:pt x="609" y="1245"/>
                    </a:lnTo>
                    <a:lnTo>
                      <a:pt x="607" y="1243"/>
                    </a:lnTo>
                    <a:lnTo>
                      <a:pt x="604" y="1241"/>
                    </a:lnTo>
                    <a:lnTo>
                      <a:pt x="602" y="1239"/>
                    </a:lnTo>
                    <a:lnTo>
                      <a:pt x="598" y="1238"/>
                    </a:lnTo>
                    <a:lnTo>
                      <a:pt x="597" y="1236"/>
                    </a:lnTo>
                    <a:lnTo>
                      <a:pt x="593" y="1234"/>
                    </a:lnTo>
                    <a:lnTo>
                      <a:pt x="591" y="1232"/>
                    </a:lnTo>
                    <a:lnTo>
                      <a:pt x="588" y="1231"/>
                    </a:lnTo>
                    <a:lnTo>
                      <a:pt x="586" y="1229"/>
                    </a:lnTo>
                    <a:lnTo>
                      <a:pt x="583" y="1227"/>
                    </a:lnTo>
                    <a:lnTo>
                      <a:pt x="581" y="1225"/>
                    </a:lnTo>
                    <a:lnTo>
                      <a:pt x="579" y="1224"/>
                    </a:lnTo>
                    <a:lnTo>
                      <a:pt x="576" y="1222"/>
                    </a:lnTo>
                    <a:lnTo>
                      <a:pt x="574" y="1220"/>
                    </a:lnTo>
                    <a:lnTo>
                      <a:pt x="571" y="1217"/>
                    </a:lnTo>
                    <a:lnTo>
                      <a:pt x="569" y="1215"/>
                    </a:lnTo>
                    <a:lnTo>
                      <a:pt x="567" y="1213"/>
                    </a:lnTo>
                    <a:lnTo>
                      <a:pt x="564" y="1211"/>
                    </a:lnTo>
                    <a:lnTo>
                      <a:pt x="562" y="1210"/>
                    </a:lnTo>
                    <a:lnTo>
                      <a:pt x="560" y="1208"/>
                    </a:lnTo>
                    <a:lnTo>
                      <a:pt x="558" y="1206"/>
                    </a:lnTo>
                    <a:lnTo>
                      <a:pt x="555" y="1203"/>
                    </a:lnTo>
                    <a:lnTo>
                      <a:pt x="553" y="1201"/>
                    </a:lnTo>
                    <a:lnTo>
                      <a:pt x="551" y="1199"/>
                    </a:lnTo>
                    <a:lnTo>
                      <a:pt x="550" y="1198"/>
                    </a:lnTo>
                    <a:lnTo>
                      <a:pt x="546" y="1196"/>
                    </a:lnTo>
                    <a:lnTo>
                      <a:pt x="544" y="1194"/>
                    </a:lnTo>
                    <a:lnTo>
                      <a:pt x="543" y="1191"/>
                    </a:lnTo>
                    <a:lnTo>
                      <a:pt x="541" y="1189"/>
                    </a:lnTo>
                    <a:lnTo>
                      <a:pt x="539" y="1187"/>
                    </a:lnTo>
                    <a:lnTo>
                      <a:pt x="536" y="1185"/>
                    </a:lnTo>
                    <a:lnTo>
                      <a:pt x="534" y="1182"/>
                    </a:lnTo>
                    <a:lnTo>
                      <a:pt x="532" y="1180"/>
                    </a:lnTo>
                    <a:lnTo>
                      <a:pt x="531" y="1178"/>
                    </a:lnTo>
                    <a:lnTo>
                      <a:pt x="529" y="1177"/>
                    </a:lnTo>
                    <a:lnTo>
                      <a:pt x="527" y="1173"/>
                    </a:lnTo>
                    <a:lnTo>
                      <a:pt x="525" y="1171"/>
                    </a:lnTo>
                    <a:lnTo>
                      <a:pt x="524" y="1170"/>
                    </a:lnTo>
                    <a:lnTo>
                      <a:pt x="522" y="1166"/>
                    </a:lnTo>
                    <a:lnTo>
                      <a:pt x="520" y="1164"/>
                    </a:lnTo>
                    <a:lnTo>
                      <a:pt x="518" y="1163"/>
                    </a:lnTo>
                    <a:lnTo>
                      <a:pt x="517" y="1159"/>
                    </a:lnTo>
                    <a:lnTo>
                      <a:pt x="515" y="1158"/>
                    </a:lnTo>
                    <a:lnTo>
                      <a:pt x="513" y="1156"/>
                    </a:lnTo>
                    <a:lnTo>
                      <a:pt x="511" y="1152"/>
                    </a:lnTo>
                    <a:lnTo>
                      <a:pt x="511" y="1151"/>
                    </a:lnTo>
                    <a:lnTo>
                      <a:pt x="510" y="1149"/>
                    </a:lnTo>
                    <a:lnTo>
                      <a:pt x="508" y="1145"/>
                    </a:lnTo>
                    <a:lnTo>
                      <a:pt x="506" y="1144"/>
                    </a:lnTo>
                    <a:lnTo>
                      <a:pt x="504" y="1142"/>
                    </a:lnTo>
                    <a:lnTo>
                      <a:pt x="503" y="1138"/>
                    </a:lnTo>
                    <a:lnTo>
                      <a:pt x="503" y="1137"/>
                    </a:lnTo>
                    <a:lnTo>
                      <a:pt x="501" y="1133"/>
                    </a:lnTo>
                    <a:lnTo>
                      <a:pt x="499" y="1131"/>
                    </a:lnTo>
                    <a:lnTo>
                      <a:pt x="499" y="1130"/>
                    </a:lnTo>
                    <a:lnTo>
                      <a:pt x="498" y="1126"/>
                    </a:lnTo>
                    <a:lnTo>
                      <a:pt x="496" y="1124"/>
                    </a:lnTo>
                    <a:lnTo>
                      <a:pt x="496" y="1121"/>
                    </a:lnTo>
                    <a:lnTo>
                      <a:pt x="494" y="1119"/>
                    </a:lnTo>
                    <a:lnTo>
                      <a:pt x="492" y="1116"/>
                    </a:lnTo>
                    <a:lnTo>
                      <a:pt x="492" y="1114"/>
                    </a:lnTo>
                    <a:lnTo>
                      <a:pt x="491" y="1111"/>
                    </a:lnTo>
                    <a:lnTo>
                      <a:pt x="491" y="1109"/>
                    </a:lnTo>
                    <a:lnTo>
                      <a:pt x="489" y="1107"/>
                    </a:lnTo>
                    <a:lnTo>
                      <a:pt x="489" y="1104"/>
                    </a:lnTo>
                    <a:lnTo>
                      <a:pt x="487" y="1102"/>
                    </a:lnTo>
                    <a:lnTo>
                      <a:pt x="487" y="1098"/>
                    </a:lnTo>
                    <a:lnTo>
                      <a:pt x="485" y="1097"/>
                    </a:lnTo>
                    <a:lnTo>
                      <a:pt x="485" y="1093"/>
                    </a:lnTo>
                    <a:lnTo>
                      <a:pt x="485" y="1091"/>
                    </a:lnTo>
                    <a:lnTo>
                      <a:pt x="484" y="1088"/>
                    </a:lnTo>
                    <a:lnTo>
                      <a:pt x="484" y="1086"/>
                    </a:lnTo>
                    <a:lnTo>
                      <a:pt x="484" y="1083"/>
                    </a:lnTo>
                    <a:lnTo>
                      <a:pt x="484" y="1081"/>
                    </a:lnTo>
                    <a:lnTo>
                      <a:pt x="482" y="1077"/>
                    </a:lnTo>
                    <a:lnTo>
                      <a:pt x="482" y="1076"/>
                    </a:lnTo>
                    <a:lnTo>
                      <a:pt x="482" y="1072"/>
                    </a:lnTo>
                    <a:lnTo>
                      <a:pt x="482" y="1070"/>
                    </a:lnTo>
                    <a:lnTo>
                      <a:pt x="480" y="1067"/>
                    </a:lnTo>
                    <a:lnTo>
                      <a:pt x="480" y="1065"/>
                    </a:lnTo>
                    <a:lnTo>
                      <a:pt x="480" y="1062"/>
                    </a:lnTo>
                    <a:lnTo>
                      <a:pt x="480" y="1060"/>
                    </a:lnTo>
                    <a:lnTo>
                      <a:pt x="480" y="1051"/>
                    </a:lnTo>
                    <a:moveTo>
                      <a:pt x="1030" y="1363"/>
                    </a:moveTo>
                    <a:lnTo>
                      <a:pt x="1027" y="1361"/>
                    </a:lnTo>
                    <a:lnTo>
                      <a:pt x="1023" y="1359"/>
                    </a:lnTo>
                    <a:lnTo>
                      <a:pt x="1021" y="1358"/>
                    </a:lnTo>
                    <a:lnTo>
                      <a:pt x="1018" y="1356"/>
                    </a:lnTo>
                    <a:lnTo>
                      <a:pt x="1014" y="1354"/>
                    </a:lnTo>
                    <a:lnTo>
                      <a:pt x="1013" y="1354"/>
                    </a:lnTo>
                    <a:lnTo>
                      <a:pt x="1009" y="1353"/>
                    </a:lnTo>
                    <a:lnTo>
                      <a:pt x="1006" y="1351"/>
                    </a:lnTo>
                    <a:lnTo>
                      <a:pt x="1004" y="1349"/>
                    </a:lnTo>
                    <a:lnTo>
                      <a:pt x="1000" y="1347"/>
                    </a:lnTo>
                    <a:lnTo>
                      <a:pt x="997" y="1347"/>
                    </a:lnTo>
                    <a:lnTo>
                      <a:pt x="995" y="1346"/>
                    </a:lnTo>
                    <a:lnTo>
                      <a:pt x="992" y="1344"/>
                    </a:lnTo>
                    <a:lnTo>
                      <a:pt x="990" y="1342"/>
                    </a:lnTo>
                    <a:lnTo>
                      <a:pt x="987" y="1340"/>
                    </a:lnTo>
                    <a:lnTo>
                      <a:pt x="983" y="1339"/>
                    </a:lnTo>
                    <a:lnTo>
                      <a:pt x="981" y="1337"/>
                    </a:lnTo>
                    <a:lnTo>
                      <a:pt x="978" y="1335"/>
                    </a:lnTo>
                    <a:lnTo>
                      <a:pt x="974" y="1335"/>
                    </a:lnTo>
                    <a:lnTo>
                      <a:pt x="973" y="1333"/>
                    </a:lnTo>
                    <a:lnTo>
                      <a:pt x="969" y="1332"/>
                    </a:lnTo>
                    <a:lnTo>
                      <a:pt x="967" y="1330"/>
                    </a:lnTo>
                    <a:lnTo>
                      <a:pt x="964" y="1328"/>
                    </a:lnTo>
                    <a:lnTo>
                      <a:pt x="960" y="1326"/>
                    </a:lnTo>
                    <a:lnTo>
                      <a:pt x="959" y="1326"/>
                    </a:lnTo>
                    <a:lnTo>
                      <a:pt x="955" y="1325"/>
                    </a:lnTo>
                    <a:lnTo>
                      <a:pt x="952" y="1323"/>
                    </a:lnTo>
                    <a:lnTo>
                      <a:pt x="950" y="1321"/>
                    </a:lnTo>
                    <a:lnTo>
                      <a:pt x="947" y="1319"/>
                    </a:lnTo>
                    <a:lnTo>
                      <a:pt x="945" y="1318"/>
                    </a:lnTo>
                    <a:lnTo>
                      <a:pt x="941" y="1316"/>
                    </a:lnTo>
                    <a:lnTo>
                      <a:pt x="938" y="1314"/>
                    </a:lnTo>
                    <a:lnTo>
                      <a:pt x="936" y="1312"/>
                    </a:lnTo>
                    <a:lnTo>
                      <a:pt x="933" y="1312"/>
                    </a:lnTo>
                    <a:lnTo>
                      <a:pt x="931" y="1311"/>
                    </a:lnTo>
                    <a:lnTo>
                      <a:pt x="927" y="1309"/>
                    </a:lnTo>
                    <a:lnTo>
                      <a:pt x="924" y="1307"/>
                    </a:lnTo>
                    <a:lnTo>
                      <a:pt x="922" y="1305"/>
                    </a:lnTo>
                    <a:lnTo>
                      <a:pt x="919" y="1304"/>
                    </a:lnTo>
                    <a:lnTo>
                      <a:pt x="915" y="1302"/>
                    </a:lnTo>
                    <a:lnTo>
                      <a:pt x="913" y="1300"/>
                    </a:lnTo>
                    <a:lnTo>
                      <a:pt x="910" y="1299"/>
                    </a:lnTo>
                    <a:lnTo>
                      <a:pt x="908" y="1299"/>
                    </a:lnTo>
                    <a:lnTo>
                      <a:pt x="905" y="1297"/>
                    </a:lnTo>
                    <a:lnTo>
                      <a:pt x="901" y="1295"/>
                    </a:lnTo>
                    <a:lnTo>
                      <a:pt x="900" y="1293"/>
                    </a:lnTo>
                    <a:lnTo>
                      <a:pt x="896" y="1292"/>
                    </a:lnTo>
                    <a:lnTo>
                      <a:pt x="894" y="1290"/>
                    </a:lnTo>
                    <a:lnTo>
                      <a:pt x="891" y="1288"/>
                    </a:lnTo>
                    <a:lnTo>
                      <a:pt x="889" y="1286"/>
                    </a:lnTo>
                    <a:lnTo>
                      <a:pt x="886" y="1285"/>
                    </a:lnTo>
                    <a:lnTo>
                      <a:pt x="884" y="1283"/>
                    </a:lnTo>
                    <a:lnTo>
                      <a:pt x="880" y="1281"/>
                    </a:lnTo>
                    <a:lnTo>
                      <a:pt x="877" y="1279"/>
                    </a:lnTo>
                    <a:lnTo>
                      <a:pt x="875" y="1278"/>
                    </a:lnTo>
                    <a:lnTo>
                      <a:pt x="872" y="1276"/>
                    </a:lnTo>
                    <a:lnTo>
                      <a:pt x="870" y="1274"/>
                    </a:lnTo>
                    <a:lnTo>
                      <a:pt x="866" y="1274"/>
                    </a:lnTo>
                    <a:lnTo>
                      <a:pt x="865" y="1271"/>
                    </a:lnTo>
                    <a:lnTo>
                      <a:pt x="861" y="1271"/>
                    </a:lnTo>
                    <a:lnTo>
                      <a:pt x="860" y="1267"/>
                    </a:lnTo>
                    <a:lnTo>
                      <a:pt x="856" y="1267"/>
                    </a:lnTo>
                    <a:lnTo>
                      <a:pt x="854" y="1265"/>
                    </a:lnTo>
                    <a:lnTo>
                      <a:pt x="851" y="1262"/>
                    </a:lnTo>
                    <a:lnTo>
                      <a:pt x="849" y="1262"/>
                    </a:lnTo>
                    <a:lnTo>
                      <a:pt x="846" y="1260"/>
                    </a:lnTo>
                    <a:lnTo>
                      <a:pt x="844" y="1257"/>
                    </a:lnTo>
                    <a:lnTo>
                      <a:pt x="840" y="1257"/>
                    </a:lnTo>
                    <a:lnTo>
                      <a:pt x="839" y="1253"/>
                    </a:lnTo>
                    <a:lnTo>
                      <a:pt x="837" y="1252"/>
                    </a:lnTo>
                    <a:lnTo>
                      <a:pt x="833" y="1250"/>
                    </a:lnTo>
                    <a:lnTo>
                      <a:pt x="832" y="1248"/>
                    </a:lnTo>
                    <a:lnTo>
                      <a:pt x="828" y="1246"/>
                    </a:lnTo>
                    <a:lnTo>
                      <a:pt x="826" y="1245"/>
                    </a:lnTo>
                    <a:lnTo>
                      <a:pt x="823" y="1243"/>
                    </a:lnTo>
                    <a:lnTo>
                      <a:pt x="821" y="1241"/>
                    </a:lnTo>
                    <a:lnTo>
                      <a:pt x="819" y="1239"/>
                    </a:lnTo>
                    <a:lnTo>
                      <a:pt x="816" y="1238"/>
                    </a:lnTo>
                    <a:lnTo>
                      <a:pt x="814" y="1236"/>
                    </a:lnTo>
                    <a:lnTo>
                      <a:pt x="811" y="1234"/>
                    </a:lnTo>
                    <a:lnTo>
                      <a:pt x="809" y="1232"/>
                    </a:lnTo>
                    <a:lnTo>
                      <a:pt x="807" y="1231"/>
                    </a:lnTo>
                    <a:lnTo>
                      <a:pt x="804" y="1229"/>
                    </a:lnTo>
                    <a:lnTo>
                      <a:pt x="802" y="1225"/>
                    </a:lnTo>
                    <a:lnTo>
                      <a:pt x="800" y="1224"/>
                    </a:lnTo>
                    <a:lnTo>
                      <a:pt x="797" y="1222"/>
                    </a:lnTo>
                    <a:lnTo>
                      <a:pt x="795" y="1220"/>
                    </a:lnTo>
                    <a:lnTo>
                      <a:pt x="793" y="1218"/>
                    </a:lnTo>
                    <a:lnTo>
                      <a:pt x="790" y="1217"/>
                    </a:lnTo>
                    <a:lnTo>
                      <a:pt x="788" y="1215"/>
                    </a:lnTo>
                    <a:lnTo>
                      <a:pt x="786" y="1211"/>
                    </a:lnTo>
                    <a:lnTo>
                      <a:pt x="785" y="1210"/>
                    </a:lnTo>
                    <a:lnTo>
                      <a:pt x="781" y="1208"/>
                    </a:lnTo>
                    <a:lnTo>
                      <a:pt x="779" y="1206"/>
                    </a:lnTo>
                    <a:lnTo>
                      <a:pt x="778" y="1205"/>
                    </a:lnTo>
                    <a:lnTo>
                      <a:pt x="776" y="1201"/>
                    </a:lnTo>
                    <a:lnTo>
                      <a:pt x="774" y="1199"/>
                    </a:lnTo>
                    <a:lnTo>
                      <a:pt x="771" y="1198"/>
                    </a:lnTo>
                    <a:lnTo>
                      <a:pt x="769" y="1196"/>
                    </a:lnTo>
                    <a:lnTo>
                      <a:pt x="767" y="1194"/>
                    </a:lnTo>
                    <a:lnTo>
                      <a:pt x="766" y="1191"/>
                    </a:lnTo>
                    <a:lnTo>
                      <a:pt x="764" y="1189"/>
                    </a:lnTo>
                    <a:lnTo>
                      <a:pt x="762" y="1187"/>
                    </a:lnTo>
                    <a:lnTo>
                      <a:pt x="759" y="1185"/>
                    </a:lnTo>
                    <a:lnTo>
                      <a:pt x="757" y="1182"/>
                    </a:lnTo>
                    <a:lnTo>
                      <a:pt x="755" y="1180"/>
                    </a:lnTo>
                    <a:lnTo>
                      <a:pt x="753" y="1178"/>
                    </a:lnTo>
                    <a:lnTo>
                      <a:pt x="752" y="1175"/>
                    </a:lnTo>
                    <a:lnTo>
                      <a:pt x="750" y="1173"/>
                    </a:lnTo>
                    <a:lnTo>
                      <a:pt x="748" y="1171"/>
                    </a:lnTo>
                    <a:lnTo>
                      <a:pt x="746" y="1170"/>
                    </a:lnTo>
                    <a:lnTo>
                      <a:pt x="745" y="1166"/>
                    </a:lnTo>
                    <a:lnTo>
                      <a:pt x="743" y="1164"/>
                    </a:lnTo>
                    <a:lnTo>
                      <a:pt x="741" y="1163"/>
                    </a:lnTo>
                    <a:lnTo>
                      <a:pt x="739" y="1159"/>
                    </a:lnTo>
                    <a:lnTo>
                      <a:pt x="738" y="1158"/>
                    </a:lnTo>
                    <a:lnTo>
                      <a:pt x="736" y="1156"/>
                    </a:lnTo>
                    <a:lnTo>
                      <a:pt x="736" y="1152"/>
                    </a:lnTo>
                    <a:lnTo>
                      <a:pt x="734" y="1151"/>
                    </a:lnTo>
                    <a:lnTo>
                      <a:pt x="732" y="1147"/>
                    </a:lnTo>
                    <a:lnTo>
                      <a:pt x="731" y="1145"/>
                    </a:lnTo>
                    <a:lnTo>
                      <a:pt x="729" y="1144"/>
                    </a:lnTo>
                    <a:lnTo>
                      <a:pt x="727" y="1140"/>
                    </a:lnTo>
                    <a:lnTo>
                      <a:pt x="727" y="1138"/>
                    </a:lnTo>
                    <a:lnTo>
                      <a:pt x="726" y="1135"/>
                    </a:lnTo>
                    <a:lnTo>
                      <a:pt x="724" y="1133"/>
                    </a:lnTo>
                    <a:lnTo>
                      <a:pt x="722" y="1131"/>
                    </a:lnTo>
                    <a:lnTo>
                      <a:pt x="722" y="1128"/>
                    </a:lnTo>
                    <a:lnTo>
                      <a:pt x="720" y="1126"/>
                    </a:lnTo>
                    <a:lnTo>
                      <a:pt x="719" y="1124"/>
                    </a:lnTo>
                    <a:lnTo>
                      <a:pt x="719" y="1121"/>
                    </a:lnTo>
                    <a:lnTo>
                      <a:pt x="717" y="1119"/>
                    </a:lnTo>
                    <a:lnTo>
                      <a:pt x="717" y="1116"/>
                    </a:lnTo>
                    <a:lnTo>
                      <a:pt x="715" y="1114"/>
                    </a:lnTo>
                    <a:lnTo>
                      <a:pt x="713" y="1111"/>
                    </a:lnTo>
                    <a:lnTo>
                      <a:pt x="713" y="1109"/>
                    </a:lnTo>
                    <a:lnTo>
                      <a:pt x="712" y="1105"/>
                    </a:lnTo>
                    <a:lnTo>
                      <a:pt x="712" y="1104"/>
                    </a:lnTo>
                    <a:lnTo>
                      <a:pt x="712" y="1100"/>
                    </a:lnTo>
                    <a:lnTo>
                      <a:pt x="710" y="1098"/>
                    </a:lnTo>
                    <a:lnTo>
                      <a:pt x="710" y="1095"/>
                    </a:lnTo>
                    <a:lnTo>
                      <a:pt x="708" y="1093"/>
                    </a:lnTo>
                    <a:lnTo>
                      <a:pt x="708" y="1091"/>
                    </a:lnTo>
                    <a:lnTo>
                      <a:pt x="708" y="1088"/>
                    </a:lnTo>
                    <a:lnTo>
                      <a:pt x="706" y="1084"/>
                    </a:lnTo>
                    <a:lnTo>
                      <a:pt x="706" y="1083"/>
                    </a:lnTo>
                    <a:lnTo>
                      <a:pt x="706" y="1079"/>
                    </a:lnTo>
                    <a:lnTo>
                      <a:pt x="705" y="1077"/>
                    </a:lnTo>
                    <a:lnTo>
                      <a:pt x="705" y="1074"/>
                    </a:lnTo>
                    <a:lnTo>
                      <a:pt x="705" y="1072"/>
                    </a:lnTo>
                    <a:lnTo>
                      <a:pt x="705" y="1069"/>
                    </a:lnTo>
                    <a:lnTo>
                      <a:pt x="705" y="1067"/>
                    </a:lnTo>
                    <a:lnTo>
                      <a:pt x="703" y="1064"/>
                    </a:lnTo>
                    <a:lnTo>
                      <a:pt x="703" y="1062"/>
                    </a:lnTo>
                    <a:lnTo>
                      <a:pt x="703" y="1058"/>
                    </a:lnTo>
                    <a:lnTo>
                      <a:pt x="703" y="1051"/>
                    </a:lnTo>
                    <a:moveTo>
                      <a:pt x="1034" y="1359"/>
                    </a:moveTo>
                    <a:lnTo>
                      <a:pt x="1032" y="1358"/>
                    </a:lnTo>
                    <a:lnTo>
                      <a:pt x="1030" y="1354"/>
                    </a:lnTo>
                    <a:lnTo>
                      <a:pt x="1028" y="1353"/>
                    </a:lnTo>
                    <a:lnTo>
                      <a:pt x="1025" y="1351"/>
                    </a:lnTo>
                    <a:lnTo>
                      <a:pt x="1023" y="1349"/>
                    </a:lnTo>
                    <a:lnTo>
                      <a:pt x="1021" y="1347"/>
                    </a:lnTo>
                    <a:lnTo>
                      <a:pt x="1020" y="1344"/>
                    </a:lnTo>
                    <a:lnTo>
                      <a:pt x="1018" y="1342"/>
                    </a:lnTo>
                    <a:lnTo>
                      <a:pt x="1016" y="1340"/>
                    </a:lnTo>
                    <a:lnTo>
                      <a:pt x="1014" y="1339"/>
                    </a:lnTo>
                    <a:lnTo>
                      <a:pt x="1013" y="1335"/>
                    </a:lnTo>
                    <a:lnTo>
                      <a:pt x="1011" y="1333"/>
                    </a:lnTo>
                    <a:lnTo>
                      <a:pt x="1009" y="1332"/>
                    </a:lnTo>
                    <a:lnTo>
                      <a:pt x="1006" y="1330"/>
                    </a:lnTo>
                    <a:lnTo>
                      <a:pt x="1004" y="1326"/>
                    </a:lnTo>
                    <a:lnTo>
                      <a:pt x="1002" y="1325"/>
                    </a:lnTo>
                    <a:lnTo>
                      <a:pt x="1000" y="1323"/>
                    </a:lnTo>
                    <a:lnTo>
                      <a:pt x="999" y="1319"/>
                    </a:lnTo>
                    <a:lnTo>
                      <a:pt x="997" y="1318"/>
                    </a:lnTo>
                    <a:lnTo>
                      <a:pt x="995" y="1316"/>
                    </a:lnTo>
                    <a:lnTo>
                      <a:pt x="994" y="1314"/>
                    </a:lnTo>
                    <a:lnTo>
                      <a:pt x="992" y="1311"/>
                    </a:lnTo>
                    <a:lnTo>
                      <a:pt x="990" y="1309"/>
                    </a:lnTo>
                    <a:lnTo>
                      <a:pt x="988" y="1307"/>
                    </a:lnTo>
                    <a:lnTo>
                      <a:pt x="987" y="1304"/>
                    </a:lnTo>
                    <a:lnTo>
                      <a:pt x="983" y="1302"/>
                    </a:lnTo>
                    <a:lnTo>
                      <a:pt x="981" y="1300"/>
                    </a:lnTo>
                    <a:lnTo>
                      <a:pt x="980" y="1299"/>
                    </a:lnTo>
                    <a:lnTo>
                      <a:pt x="978" y="1297"/>
                    </a:lnTo>
                    <a:lnTo>
                      <a:pt x="976" y="1293"/>
                    </a:lnTo>
                    <a:lnTo>
                      <a:pt x="974" y="1292"/>
                    </a:lnTo>
                    <a:lnTo>
                      <a:pt x="973" y="1290"/>
                    </a:lnTo>
                    <a:lnTo>
                      <a:pt x="971" y="1286"/>
                    </a:lnTo>
                    <a:lnTo>
                      <a:pt x="969" y="1285"/>
                    </a:lnTo>
                    <a:lnTo>
                      <a:pt x="967" y="1283"/>
                    </a:lnTo>
                    <a:lnTo>
                      <a:pt x="966" y="1279"/>
                    </a:lnTo>
                    <a:lnTo>
                      <a:pt x="964" y="1278"/>
                    </a:lnTo>
                    <a:lnTo>
                      <a:pt x="962" y="1276"/>
                    </a:lnTo>
                    <a:lnTo>
                      <a:pt x="960" y="1274"/>
                    </a:lnTo>
                    <a:lnTo>
                      <a:pt x="959" y="1271"/>
                    </a:lnTo>
                    <a:lnTo>
                      <a:pt x="957" y="1269"/>
                    </a:lnTo>
                    <a:lnTo>
                      <a:pt x="955" y="1267"/>
                    </a:lnTo>
                    <a:lnTo>
                      <a:pt x="952" y="1265"/>
                    </a:lnTo>
                    <a:lnTo>
                      <a:pt x="950" y="1262"/>
                    </a:lnTo>
                    <a:lnTo>
                      <a:pt x="950" y="1260"/>
                    </a:lnTo>
                    <a:lnTo>
                      <a:pt x="947" y="1258"/>
                    </a:lnTo>
                    <a:lnTo>
                      <a:pt x="945" y="1255"/>
                    </a:lnTo>
                    <a:lnTo>
                      <a:pt x="945" y="1253"/>
                    </a:lnTo>
                    <a:lnTo>
                      <a:pt x="941" y="1252"/>
                    </a:lnTo>
                    <a:lnTo>
                      <a:pt x="940" y="1248"/>
                    </a:lnTo>
                    <a:lnTo>
                      <a:pt x="938" y="1246"/>
                    </a:lnTo>
                    <a:lnTo>
                      <a:pt x="936" y="1245"/>
                    </a:lnTo>
                    <a:lnTo>
                      <a:pt x="936" y="1241"/>
                    </a:lnTo>
                    <a:lnTo>
                      <a:pt x="933" y="1239"/>
                    </a:lnTo>
                    <a:lnTo>
                      <a:pt x="933" y="1238"/>
                    </a:lnTo>
                    <a:lnTo>
                      <a:pt x="931" y="1234"/>
                    </a:lnTo>
                    <a:lnTo>
                      <a:pt x="929" y="1232"/>
                    </a:lnTo>
                    <a:lnTo>
                      <a:pt x="927" y="1231"/>
                    </a:lnTo>
                    <a:lnTo>
                      <a:pt x="926" y="1229"/>
                    </a:lnTo>
                    <a:lnTo>
                      <a:pt x="924" y="1225"/>
                    </a:lnTo>
                    <a:lnTo>
                      <a:pt x="922" y="1224"/>
                    </a:lnTo>
                    <a:lnTo>
                      <a:pt x="920" y="1220"/>
                    </a:lnTo>
                    <a:lnTo>
                      <a:pt x="919" y="1218"/>
                    </a:lnTo>
                    <a:lnTo>
                      <a:pt x="917" y="1217"/>
                    </a:lnTo>
                    <a:lnTo>
                      <a:pt x="915" y="1215"/>
                    </a:lnTo>
                    <a:lnTo>
                      <a:pt x="913" y="1211"/>
                    </a:lnTo>
                    <a:lnTo>
                      <a:pt x="912" y="1210"/>
                    </a:lnTo>
                    <a:lnTo>
                      <a:pt x="910" y="1206"/>
                    </a:lnTo>
                    <a:lnTo>
                      <a:pt x="910" y="1205"/>
                    </a:lnTo>
                    <a:lnTo>
                      <a:pt x="908" y="1203"/>
                    </a:lnTo>
                    <a:lnTo>
                      <a:pt x="907" y="1199"/>
                    </a:lnTo>
                    <a:lnTo>
                      <a:pt x="905" y="1198"/>
                    </a:lnTo>
                    <a:lnTo>
                      <a:pt x="903" y="1196"/>
                    </a:lnTo>
                    <a:lnTo>
                      <a:pt x="901" y="1192"/>
                    </a:lnTo>
                    <a:lnTo>
                      <a:pt x="901" y="1191"/>
                    </a:lnTo>
                    <a:lnTo>
                      <a:pt x="900" y="1187"/>
                    </a:lnTo>
                    <a:lnTo>
                      <a:pt x="898" y="1185"/>
                    </a:lnTo>
                    <a:lnTo>
                      <a:pt x="896" y="1184"/>
                    </a:lnTo>
                    <a:lnTo>
                      <a:pt x="894" y="1180"/>
                    </a:lnTo>
                    <a:lnTo>
                      <a:pt x="894" y="1178"/>
                    </a:lnTo>
                    <a:lnTo>
                      <a:pt x="893" y="1175"/>
                    </a:lnTo>
                    <a:lnTo>
                      <a:pt x="891" y="1173"/>
                    </a:lnTo>
                    <a:lnTo>
                      <a:pt x="889" y="1171"/>
                    </a:lnTo>
                    <a:lnTo>
                      <a:pt x="889" y="1168"/>
                    </a:lnTo>
                    <a:lnTo>
                      <a:pt x="887" y="1166"/>
                    </a:lnTo>
                    <a:lnTo>
                      <a:pt x="886" y="1164"/>
                    </a:lnTo>
                    <a:lnTo>
                      <a:pt x="886" y="1161"/>
                    </a:lnTo>
                    <a:lnTo>
                      <a:pt x="884" y="1159"/>
                    </a:lnTo>
                    <a:lnTo>
                      <a:pt x="882" y="1156"/>
                    </a:lnTo>
                    <a:lnTo>
                      <a:pt x="882" y="1154"/>
                    </a:lnTo>
                    <a:lnTo>
                      <a:pt x="880" y="1151"/>
                    </a:lnTo>
                    <a:lnTo>
                      <a:pt x="879" y="1149"/>
                    </a:lnTo>
                    <a:lnTo>
                      <a:pt x="879" y="1147"/>
                    </a:lnTo>
                    <a:lnTo>
                      <a:pt x="877" y="1144"/>
                    </a:lnTo>
                    <a:lnTo>
                      <a:pt x="877" y="1142"/>
                    </a:lnTo>
                    <a:lnTo>
                      <a:pt x="875" y="1138"/>
                    </a:lnTo>
                    <a:lnTo>
                      <a:pt x="873" y="1137"/>
                    </a:lnTo>
                    <a:lnTo>
                      <a:pt x="873" y="1133"/>
                    </a:lnTo>
                    <a:lnTo>
                      <a:pt x="872" y="1131"/>
                    </a:lnTo>
                    <a:lnTo>
                      <a:pt x="872" y="1128"/>
                    </a:lnTo>
                    <a:lnTo>
                      <a:pt x="870" y="1126"/>
                    </a:lnTo>
                    <a:lnTo>
                      <a:pt x="870" y="1123"/>
                    </a:lnTo>
                    <a:lnTo>
                      <a:pt x="868" y="1121"/>
                    </a:lnTo>
                    <a:lnTo>
                      <a:pt x="868" y="1117"/>
                    </a:lnTo>
                    <a:lnTo>
                      <a:pt x="866" y="1116"/>
                    </a:lnTo>
                    <a:lnTo>
                      <a:pt x="866" y="1112"/>
                    </a:lnTo>
                    <a:lnTo>
                      <a:pt x="865" y="1111"/>
                    </a:lnTo>
                    <a:lnTo>
                      <a:pt x="865" y="1107"/>
                    </a:lnTo>
                    <a:lnTo>
                      <a:pt x="865" y="1105"/>
                    </a:lnTo>
                    <a:lnTo>
                      <a:pt x="863" y="1102"/>
                    </a:lnTo>
                    <a:lnTo>
                      <a:pt x="863" y="1100"/>
                    </a:lnTo>
                    <a:lnTo>
                      <a:pt x="863" y="1098"/>
                    </a:lnTo>
                    <a:lnTo>
                      <a:pt x="861" y="1095"/>
                    </a:lnTo>
                    <a:lnTo>
                      <a:pt x="861" y="1093"/>
                    </a:lnTo>
                    <a:lnTo>
                      <a:pt x="861" y="1090"/>
                    </a:lnTo>
                    <a:lnTo>
                      <a:pt x="861" y="1088"/>
                    </a:lnTo>
                    <a:lnTo>
                      <a:pt x="860" y="1084"/>
                    </a:lnTo>
                    <a:lnTo>
                      <a:pt x="860" y="1083"/>
                    </a:lnTo>
                    <a:lnTo>
                      <a:pt x="860" y="1079"/>
                    </a:lnTo>
                    <a:lnTo>
                      <a:pt x="860" y="1076"/>
                    </a:lnTo>
                    <a:lnTo>
                      <a:pt x="860" y="1074"/>
                    </a:lnTo>
                    <a:lnTo>
                      <a:pt x="858" y="1070"/>
                    </a:lnTo>
                    <a:lnTo>
                      <a:pt x="858" y="1069"/>
                    </a:lnTo>
                    <a:lnTo>
                      <a:pt x="858" y="1065"/>
                    </a:lnTo>
                    <a:lnTo>
                      <a:pt x="858" y="1064"/>
                    </a:lnTo>
                    <a:lnTo>
                      <a:pt x="858" y="1058"/>
                    </a:lnTo>
                    <a:lnTo>
                      <a:pt x="858" y="1055"/>
                    </a:lnTo>
                    <a:lnTo>
                      <a:pt x="858" y="1050"/>
                    </a:lnTo>
                    <a:moveTo>
                      <a:pt x="1039" y="1358"/>
                    </a:moveTo>
                    <a:lnTo>
                      <a:pt x="1037" y="1356"/>
                    </a:lnTo>
                    <a:lnTo>
                      <a:pt x="1037" y="1353"/>
                    </a:lnTo>
                    <a:lnTo>
                      <a:pt x="1037" y="1351"/>
                    </a:lnTo>
                    <a:lnTo>
                      <a:pt x="1035" y="1347"/>
                    </a:lnTo>
                    <a:lnTo>
                      <a:pt x="1035" y="1346"/>
                    </a:lnTo>
                    <a:lnTo>
                      <a:pt x="1034" y="1342"/>
                    </a:lnTo>
                    <a:lnTo>
                      <a:pt x="1034" y="1340"/>
                    </a:lnTo>
                    <a:lnTo>
                      <a:pt x="1034" y="1337"/>
                    </a:lnTo>
                    <a:lnTo>
                      <a:pt x="1032" y="1335"/>
                    </a:lnTo>
                    <a:lnTo>
                      <a:pt x="1032" y="1332"/>
                    </a:lnTo>
                    <a:lnTo>
                      <a:pt x="1032" y="1330"/>
                    </a:lnTo>
                    <a:lnTo>
                      <a:pt x="1030" y="1326"/>
                    </a:lnTo>
                    <a:lnTo>
                      <a:pt x="1030" y="1325"/>
                    </a:lnTo>
                    <a:lnTo>
                      <a:pt x="1028" y="1321"/>
                    </a:lnTo>
                    <a:lnTo>
                      <a:pt x="1028" y="1319"/>
                    </a:lnTo>
                    <a:lnTo>
                      <a:pt x="1028" y="1316"/>
                    </a:lnTo>
                    <a:lnTo>
                      <a:pt x="1027" y="1314"/>
                    </a:lnTo>
                    <a:lnTo>
                      <a:pt x="1027" y="1311"/>
                    </a:lnTo>
                    <a:lnTo>
                      <a:pt x="1025" y="1309"/>
                    </a:lnTo>
                    <a:lnTo>
                      <a:pt x="1025" y="1307"/>
                    </a:lnTo>
                    <a:lnTo>
                      <a:pt x="1025" y="1304"/>
                    </a:lnTo>
                    <a:lnTo>
                      <a:pt x="1023" y="1302"/>
                    </a:lnTo>
                    <a:lnTo>
                      <a:pt x="1023" y="1299"/>
                    </a:lnTo>
                    <a:lnTo>
                      <a:pt x="1023" y="1297"/>
                    </a:lnTo>
                    <a:lnTo>
                      <a:pt x="1021" y="1293"/>
                    </a:lnTo>
                    <a:lnTo>
                      <a:pt x="1021" y="1292"/>
                    </a:lnTo>
                    <a:lnTo>
                      <a:pt x="1020" y="1288"/>
                    </a:lnTo>
                    <a:lnTo>
                      <a:pt x="1020" y="1286"/>
                    </a:lnTo>
                    <a:lnTo>
                      <a:pt x="1020" y="1283"/>
                    </a:lnTo>
                    <a:lnTo>
                      <a:pt x="1018" y="1281"/>
                    </a:lnTo>
                    <a:lnTo>
                      <a:pt x="1018" y="1278"/>
                    </a:lnTo>
                    <a:lnTo>
                      <a:pt x="1018" y="1276"/>
                    </a:lnTo>
                    <a:lnTo>
                      <a:pt x="1016" y="1272"/>
                    </a:lnTo>
                    <a:lnTo>
                      <a:pt x="1016" y="1271"/>
                    </a:lnTo>
                    <a:lnTo>
                      <a:pt x="1014" y="1267"/>
                    </a:lnTo>
                    <a:lnTo>
                      <a:pt x="1014" y="1265"/>
                    </a:lnTo>
                    <a:lnTo>
                      <a:pt x="1014" y="1262"/>
                    </a:lnTo>
                    <a:lnTo>
                      <a:pt x="1013" y="1260"/>
                    </a:lnTo>
                    <a:lnTo>
                      <a:pt x="1013" y="1257"/>
                    </a:lnTo>
                    <a:lnTo>
                      <a:pt x="1013" y="1255"/>
                    </a:lnTo>
                    <a:lnTo>
                      <a:pt x="1011" y="1252"/>
                    </a:lnTo>
                    <a:lnTo>
                      <a:pt x="1011" y="1250"/>
                    </a:lnTo>
                    <a:lnTo>
                      <a:pt x="1011" y="1246"/>
                    </a:lnTo>
                    <a:lnTo>
                      <a:pt x="1009" y="1245"/>
                    </a:lnTo>
                    <a:lnTo>
                      <a:pt x="1009" y="1241"/>
                    </a:lnTo>
                    <a:lnTo>
                      <a:pt x="1009" y="1239"/>
                    </a:lnTo>
                    <a:lnTo>
                      <a:pt x="1007" y="1236"/>
                    </a:lnTo>
                    <a:lnTo>
                      <a:pt x="1007" y="1234"/>
                    </a:lnTo>
                    <a:lnTo>
                      <a:pt x="1006" y="1231"/>
                    </a:lnTo>
                    <a:lnTo>
                      <a:pt x="1006" y="1229"/>
                    </a:lnTo>
                    <a:lnTo>
                      <a:pt x="1006" y="1225"/>
                    </a:lnTo>
                    <a:lnTo>
                      <a:pt x="1004" y="1224"/>
                    </a:lnTo>
                    <a:lnTo>
                      <a:pt x="1004" y="1220"/>
                    </a:lnTo>
                    <a:lnTo>
                      <a:pt x="1004" y="1218"/>
                    </a:lnTo>
                    <a:lnTo>
                      <a:pt x="1004" y="1215"/>
                    </a:lnTo>
                    <a:lnTo>
                      <a:pt x="1002" y="1213"/>
                    </a:lnTo>
                    <a:lnTo>
                      <a:pt x="1002" y="1210"/>
                    </a:lnTo>
                    <a:lnTo>
                      <a:pt x="1000" y="1208"/>
                    </a:lnTo>
                    <a:lnTo>
                      <a:pt x="1000" y="1206"/>
                    </a:lnTo>
                    <a:lnTo>
                      <a:pt x="1000" y="1203"/>
                    </a:lnTo>
                    <a:lnTo>
                      <a:pt x="1000" y="1201"/>
                    </a:lnTo>
                    <a:lnTo>
                      <a:pt x="999" y="1198"/>
                    </a:lnTo>
                    <a:lnTo>
                      <a:pt x="999" y="1194"/>
                    </a:lnTo>
                    <a:lnTo>
                      <a:pt x="999" y="1192"/>
                    </a:lnTo>
                    <a:lnTo>
                      <a:pt x="997" y="1189"/>
                    </a:lnTo>
                    <a:lnTo>
                      <a:pt x="997" y="1187"/>
                    </a:lnTo>
                    <a:lnTo>
                      <a:pt x="997" y="1184"/>
                    </a:lnTo>
                    <a:lnTo>
                      <a:pt x="997" y="1182"/>
                    </a:lnTo>
                    <a:lnTo>
                      <a:pt x="995" y="1180"/>
                    </a:lnTo>
                    <a:lnTo>
                      <a:pt x="995" y="1177"/>
                    </a:lnTo>
                    <a:lnTo>
                      <a:pt x="995" y="1175"/>
                    </a:lnTo>
                    <a:lnTo>
                      <a:pt x="994" y="1171"/>
                    </a:lnTo>
                    <a:lnTo>
                      <a:pt x="994" y="1170"/>
                    </a:lnTo>
                    <a:lnTo>
                      <a:pt x="994" y="1166"/>
                    </a:lnTo>
                    <a:lnTo>
                      <a:pt x="994" y="1164"/>
                    </a:lnTo>
                    <a:lnTo>
                      <a:pt x="992" y="1161"/>
                    </a:lnTo>
                    <a:lnTo>
                      <a:pt x="992" y="1158"/>
                    </a:lnTo>
                    <a:lnTo>
                      <a:pt x="992" y="1156"/>
                    </a:lnTo>
                    <a:lnTo>
                      <a:pt x="992" y="1152"/>
                    </a:lnTo>
                    <a:lnTo>
                      <a:pt x="990" y="1151"/>
                    </a:lnTo>
                    <a:lnTo>
                      <a:pt x="990" y="1147"/>
                    </a:lnTo>
                    <a:lnTo>
                      <a:pt x="990" y="1145"/>
                    </a:lnTo>
                    <a:lnTo>
                      <a:pt x="990" y="1144"/>
                    </a:lnTo>
                    <a:lnTo>
                      <a:pt x="988" y="1140"/>
                    </a:lnTo>
                    <a:lnTo>
                      <a:pt x="988" y="1138"/>
                    </a:lnTo>
                    <a:lnTo>
                      <a:pt x="988" y="1135"/>
                    </a:lnTo>
                    <a:lnTo>
                      <a:pt x="988" y="1133"/>
                    </a:lnTo>
                    <a:lnTo>
                      <a:pt x="988" y="1130"/>
                    </a:lnTo>
                    <a:lnTo>
                      <a:pt x="988" y="1128"/>
                    </a:lnTo>
                    <a:lnTo>
                      <a:pt x="987" y="1124"/>
                    </a:lnTo>
                    <a:lnTo>
                      <a:pt x="987" y="1121"/>
                    </a:lnTo>
                    <a:lnTo>
                      <a:pt x="987" y="1119"/>
                    </a:lnTo>
                    <a:lnTo>
                      <a:pt x="987" y="1116"/>
                    </a:lnTo>
                    <a:lnTo>
                      <a:pt x="987" y="1114"/>
                    </a:lnTo>
                    <a:lnTo>
                      <a:pt x="987" y="1111"/>
                    </a:lnTo>
                    <a:lnTo>
                      <a:pt x="985" y="1109"/>
                    </a:lnTo>
                    <a:lnTo>
                      <a:pt x="985" y="1105"/>
                    </a:lnTo>
                    <a:lnTo>
                      <a:pt x="985" y="1104"/>
                    </a:lnTo>
                    <a:lnTo>
                      <a:pt x="985" y="1100"/>
                    </a:lnTo>
                    <a:lnTo>
                      <a:pt x="985" y="1098"/>
                    </a:lnTo>
                    <a:lnTo>
                      <a:pt x="985" y="1095"/>
                    </a:lnTo>
                    <a:lnTo>
                      <a:pt x="985" y="1093"/>
                    </a:lnTo>
                    <a:lnTo>
                      <a:pt x="983" y="1090"/>
                    </a:lnTo>
                    <a:lnTo>
                      <a:pt x="983" y="1088"/>
                    </a:lnTo>
                    <a:lnTo>
                      <a:pt x="983" y="1084"/>
                    </a:lnTo>
                    <a:lnTo>
                      <a:pt x="983" y="1083"/>
                    </a:lnTo>
                    <a:lnTo>
                      <a:pt x="983" y="1079"/>
                    </a:lnTo>
                    <a:lnTo>
                      <a:pt x="983" y="1074"/>
                    </a:lnTo>
                    <a:lnTo>
                      <a:pt x="983" y="1072"/>
                    </a:lnTo>
                    <a:lnTo>
                      <a:pt x="983" y="1067"/>
                    </a:lnTo>
                    <a:lnTo>
                      <a:pt x="983" y="1064"/>
                    </a:lnTo>
                    <a:lnTo>
                      <a:pt x="983" y="1051"/>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7180" name="Freeform 6"/>
              <p:cNvSpPr>
                <a:spLocks noEditPoints="1"/>
              </p:cNvSpPr>
              <p:nvPr/>
            </p:nvSpPr>
            <p:spPr bwMode="auto">
              <a:xfrm>
                <a:off x="4352925" y="2227263"/>
                <a:ext cx="36513" cy="1038225"/>
              </a:xfrm>
              <a:custGeom>
                <a:avLst/>
                <a:gdLst>
                  <a:gd name="T0" fmla="*/ 2147483647 w 13"/>
                  <a:gd name="T1" fmla="*/ 2147483647 h 376"/>
                  <a:gd name="T2" fmla="*/ 2147483647 w 13"/>
                  <a:gd name="T3" fmla="*/ 2147483647 h 376"/>
                  <a:gd name="T4" fmla="*/ 0 w 13"/>
                  <a:gd name="T5" fmla="*/ 2147483647 h 376"/>
                  <a:gd name="T6" fmla="*/ 2147483647 w 13"/>
                  <a:gd name="T7" fmla="*/ 2147483647 h 376"/>
                  <a:gd name="T8" fmla="*/ 2147483647 w 13"/>
                  <a:gd name="T9" fmla="*/ 2147483647 h 376"/>
                  <a:gd name="T10" fmla="*/ 2147483647 w 13"/>
                  <a:gd name="T11" fmla="*/ 2147483647 h 376"/>
                  <a:gd name="T12" fmla="*/ 2147483647 w 13"/>
                  <a:gd name="T13" fmla="*/ 2147483647 h 376"/>
                  <a:gd name="T14" fmla="*/ 0 w 13"/>
                  <a:gd name="T15" fmla="*/ 2147483647 h 376"/>
                  <a:gd name="T16" fmla="*/ 2147483647 w 13"/>
                  <a:gd name="T17" fmla="*/ 0 h 376"/>
                  <a:gd name="T18" fmla="*/ 2147483647 w 13"/>
                  <a:gd name="T19" fmla="*/ 2147483647 h 3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376"/>
                  <a:gd name="T32" fmla="*/ 13 w 13"/>
                  <a:gd name="T33" fmla="*/ 376 h 37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376">
                    <a:moveTo>
                      <a:pt x="13" y="369"/>
                    </a:moveTo>
                    <a:cubicBezTo>
                      <a:pt x="13" y="373"/>
                      <a:pt x="10" y="376"/>
                      <a:pt x="7" y="376"/>
                    </a:cubicBezTo>
                    <a:cubicBezTo>
                      <a:pt x="3" y="376"/>
                      <a:pt x="0" y="373"/>
                      <a:pt x="0" y="369"/>
                    </a:cubicBezTo>
                    <a:cubicBezTo>
                      <a:pt x="0" y="366"/>
                      <a:pt x="3" y="363"/>
                      <a:pt x="7" y="363"/>
                    </a:cubicBezTo>
                    <a:cubicBezTo>
                      <a:pt x="10" y="363"/>
                      <a:pt x="13" y="366"/>
                      <a:pt x="13" y="369"/>
                    </a:cubicBezTo>
                    <a:moveTo>
                      <a:pt x="13" y="6"/>
                    </a:moveTo>
                    <a:cubicBezTo>
                      <a:pt x="13" y="10"/>
                      <a:pt x="10" y="13"/>
                      <a:pt x="7" y="13"/>
                    </a:cubicBezTo>
                    <a:cubicBezTo>
                      <a:pt x="3" y="13"/>
                      <a:pt x="0" y="10"/>
                      <a:pt x="0" y="6"/>
                    </a:cubicBezTo>
                    <a:cubicBezTo>
                      <a:pt x="0" y="3"/>
                      <a:pt x="3" y="0"/>
                      <a:pt x="7" y="0"/>
                    </a:cubicBezTo>
                    <a:cubicBezTo>
                      <a:pt x="10" y="0"/>
                      <a:pt x="13" y="3"/>
                      <a:pt x="13" y="6"/>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it-IT"/>
              </a:p>
            </p:txBody>
          </p:sp>
        </p:grpSp>
        <p:sp>
          <p:nvSpPr>
            <p:cNvPr id="7178" name="TextBox 36"/>
            <p:cNvSpPr txBox="1">
              <a:spLocks noChangeArrowheads="1"/>
            </p:cNvSpPr>
            <p:nvPr/>
          </p:nvSpPr>
          <p:spPr bwMode="auto">
            <a:xfrm>
              <a:off x="8305658" y="2143116"/>
              <a:ext cx="550150" cy="36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400">
                  <a:solidFill>
                    <a:srgbClr val="CC00CC"/>
                  </a:solidFill>
                  <a:latin typeface="Tahoma" pitchFamily="34" charset="0"/>
                  <a:cs typeface="Tahoma" pitchFamily="34" charset="0"/>
                </a:rPr>
                <a:t>LFP</a:t>
              </a:r>
            </a:p>
          </p:txBody>
        </p:sp>
      </p:grpSp>
      <p:sp>
        <p:nvSpPr>
          <p:cNvPr id="7173" name="TextBox 39"/>
          <p:cNvSpPr txBox="1">
            <a:spLocks noChangeArrowheads="1"/>
          </p:cNvSpPr>
          <p:nvPr/>
        </p:nvSpPr>
        <p:spPr bwMode="auto">
          <a:xfrm>
            <a:off x="214313" y="928688"/>
            <a:ext cx="485775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50000"/>
              </a:lnSpc>
            </a:pPr>
            <a:r>
              <a:rPr lang="en-US" sz="1800">
                <a:latin typeface="Arial" charset="0"/>
                <a:cs typeface="Arial" charset="0"/>
              </a:rPr>
              <a:t>Field potentials are operationally obtained by low pass filtering the extracellular signal</a:t>
            </a:r>
          </a:p>
        </p:txBody>
      </p:sp>
      <p:pic>
        <p:nvPicPr>
          <p:cNvPr id="7174" name="Picture 3" descr="C:\Documents and Settings\kayser\My Documents\texte_alt_088sl.jpg"/>
          <p:cNvPicPr>
            <a:picLocks noChangeAspect="1" noChangeArrowheads="1"/>
          </p:cNvPicPr>
          <p:nvPr/>
        </p:nvPicPr>
        <p:blipFill>
          <a:blip r:embed="rId5">
            <a:extLst>
              <a:ext uri="{28A0092B-C50C-407E-A947-70E740481C1C}">
                <a14:useLocalDpi xmlns:a14="http://schemas.microsoft.com/office/drawing/2010/main" val="0"/>
              </a:ext>
            </a:extLst>
          </a:blip>
          <a:srcRect t="6914" r="50012"/>
          <a:stretch>
            <a:fillRect/>
          </a:stretch>
        </p:blipFill>
        <p:spPr bwMode="auto">
          <a:xfrm>
            <a:off x="5643563" y="857250"/>
            <a:ext cx="2786062" cy="51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TextBox 39"/>
          <p:cNvSpPr txBox="1">
            <a:spLocks noChangeArrowheads="1"/>
          </p:cNvSpPr>
          <p:nvPr/>
        </p:nvSpPr>
        <p:spPr bwMode="auto">
          <a:xfrm>
            <a:off x="214313" y="4214813"/>
            <a:ext cx="5357812"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dirty="0">
                <a:latin typeface="Arial" charset="0"/>
                <a:cs typeface="Arial" charset="0"/>
              </a:rPr>
              <a:t>Field potentials measure (to a 1</a:t>
            </a:r>
            <a:r>
              <a:rPr lang="en-US" sz="1800" baseline="30000" dirty="0">
                <a:latin typeface="Arial" charset="0"/>
                <a:cs typeface="Arial" charset="0"/>
              </a:rPr>
              <a:t>st</a:t>
            </a:r>
            <a:r>
              <a:rPr lang="en-US" sz="1800" dirty="0">
                <a:latin typeface="Arial" charset="0"/>
                <a:cs typeface="Arial" charset="0"/>
              </a:rPr>
              <a:t> </a:t>
            </a:r>
            <a:r>
              <a:rPr lang="en-US" sz="1800" dirty="0" err="1">
                <a:latin typeface="Arial" charset="0"/>
                <a:cs typeface="Arial" charset="0"/>
              </a:rPr>
              <a:t>approx</a:t>
            </a:r>
            <a:r>
              <a:rPr lang="en-US" sz="1800" dirty="0">
                <a:latin typeface="Arial" charset="0"/>
                <a:cs typeface="Arial" charset="0"/>
              </a:rPr>
              <a:t>) the superposition of </a:t>
            </a:r>
            <a:r>
              <a:rPr lang="en-US" sz="1800" dirty="0" err="1">
                <a:latin typeface="Arial" charset="0"/>
                <a:cs typeface="Arial" charset="0"/>
              </a:rPr>
              <a:t>dendrosomatic</a:t>
            </a:r>
            <a:r>
              <a:rPr lang="en-US" sz="1800" dirty="0">
                <a:latin typeface="Arial" charset="0"/>
                <a:cs typeface="Arial" charset="0"/>
              </a:rPr>
              <a:t> (dipole) fields generated in apical dendrites of Excitatory neurons</a:t>
            </a:r>
          </a:p>
          <a:p>
            <a:endParaRPr lang="en-US" sz="1800" dirty="0">
              <a:latin typeface="Arial" charset="0"/>
              <a:cs typeface="Arial" charset="0"/>
            </a:endParaRPr>
          </a:p>
          <a:p>
            <a:r>
              <a:rPr lang="en-US" sz="1800" dirty="0">
                <a:latin typeface="Arial" charset="0"/>
                <a:cs typeface="Arial" charset="0"/>
              </a:rPr>
              <a:t>Being a synaptic signal, the LFP can capture </a:t>
            </a:r>
            <a:r>
              <a:rPr lang="en-US" sz="1800" dirty="0" err="1">
                <a:latin typeface="Arial" charset="0"/>
                <a:cs typeface="Arial" charset="0"/>
              </a:rPr>
              <a:t>subthreshold</a:t>
            </a:r>
            <a:r>
              <a:rPr lang="en-US" sz="1800" dirty="0">
                <a:latin typeface="Arial" charset="0"/>
                <a:cs typeface="Arial" charset="0"/>
              </a:rPr>
              <a:t> effects not captured by spikes</a:t>
            </a:r>
          </a:p>
          <a:p>
            <a:endParaRPr lang="en-US" sz="1800" dirty="0">
              <a:latin typeface="Arial" charset="0"/>
              <a:cs typeface="Arial" charset="0"/>
            </a:endParaRPr>
          </a:p>
          <a:p>
            <a:r>
              <a:rPr lang="en-US" sz="1800" dirty="0">
                <a:latin typeface="Arial" charset="0"/>
                <a:cs typeface="Arial" charset="0"/>
              </a:rPr>
              <a:t>Integration area: </a:t>
            </a:r>
            <a:r>
              <a:rPr lang="en-US" sz="1800" dirty="0" err="1">
                <a:latin typeface="Arial" charset="0"/>
                <a:cs typeface="Arial" charset="0"/>
              </a:rPr>
              <a:t>approx</a:t>
            </a:r>
            <a:r>
              <a:rPr lang="en-US" sz="1800" dirty="0">
                <a:latin typeface="Arial" charset="0"/>
                <a:cs typeface="Arial" charset="0"/>
              </a:rPr>
              <a:t> 300 microns from electrode tip (“middle ground” signal)</a:t>
            </a:r>
          </a:p>
        </p:txBody>
      </p:sp>
    </p:spTree>
    <p:extLst>
      <p:ext uri="{BB962C8B-B14F-4D97-AF65-F5344CB8AC3E}">
        <p14:creationId xmlns:p14="http://schemas.microsoft.com/office/powerpoint/2010/main" val="37685666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egnaposto numero diapositiva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DD07AB9E-3A40-4D64-A86E-DC110611E2EE}" type="slidenum">
              <a:rPr lang="en-US" sz="1400" smtClean="0"/>
              <a:pPr eaLnBrk="1" hangingPunct="1"/>
              <a:t>77</a:t>
            </a:fld>
            <a:endParaRPr lang="en-US" sz="1400"/>
          </a:p>
        </p:txBody>
      </p:sp>
      <p:sp>
        <p:nvSpPr>
          <p:cNvPr id="12291" name="Text Box 2"/>
          <p:cNvSpPr txBox="1">
            <a:spLocks noChangeArrowheads="1"/>
          </p:cNvSpPr>
          <p:nvPr/>
        </p:nvSpPr>
        <p:spPr bwMode="auto">
          <a:xfrm>
            <a:off x="390525" y="395288"/>
            <a:ext cx="3875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b="1">
                <a:latin typeface="Arial" charset="0"/>
              </a:rPr>
              <a:t>Excitation Synaptic event</a:t>
            </a:r>
            <a:endParaRPr lang="en-US" b="1">
              <a:latin typeface="Arial" charset="0"/>
            </a:endParaRPr>
          </a:p>
        </p:txBody>
      </p:sp>
      <p:sp>
        <p:nvSpPr>
          <p:cNvPr id="12292" name="Oval 3"/>
          <p:cNvSpPr>
            <a:spLocks noChangeArrowheads="1"/>
          </p:cNvSpPr>
          <p:nvPr/>
        </p:nvSpPr>
        <p:spPr bwMode="auto">
          <a:xfrm>
            <a:off x="5153025" y="4911725"/>
            <a:ext cx="1470025" cy="1470025"/>
          </a:xfrm>
          <a:prstGeom prst="ellipse">
            <a:avLst/>
          </a:prstGeom>
          <a:solidFill>
            <a:schemeClr val="tx1"/>
          </a:solidFill>
          <a:ln w="9525">
            <a:solidFill>
              <a:schemeClr val="tx1"/>
            </a:solidFill>
            <a:round/>
            <a:headEnd/>
            <a:tailEnd/>
          </a:ln>
        </p:spPr>
        <p:txBody>
          <a:bodyPr wrap="none" anchor="ctr"/>
          <a:lstStyle/>
          <a:p>
            <a:endParaRPr lang="it-IT"/>
          </a:p>
        </p:txBody>
      </p:sp>
      <p:sp>
        <p:nvSpPr>
          <p:cNvPr id="12293" name="Rectangle 4"/>
          <p:cNvSpPr>
            <a:spLocks noChangeArrowheads="1"/>
          </p:cNvSpPr>
          <p:nvPr/>
        </p:nvSpPr>
        <p:spPr bwMode="auto">
          <a:xfrm>
            <a:off x="5740400" y="981075"/>
            <a:ext cx="295275" cy="4027488"/>
          </a:xfrm>
          <a:prstGeom prst="rect">
            <a:avLst/>
          </a:prstGeom>
          <a:solidFill>
            <a:schemeClr val="tx1"/>
          </a:solidFill>
          <a:ln w="9525">
            <a:solidFill>
              <a:schemeClr val="tx1"/>
            </a:solidFill>
            <a:miter lim="800000"/>
            <a:headEnd/>
            <a:tailEnd/>
          </a:ln>
        </p:spPr>
        <p:txBody>
          <a:bodyPr wrap="none" anchor="ctr"/>
          <a:lstStyle/>
          <a:p>
            <a:endParaRPr lang="it-IT"/>
          </a:p>
        </p:txBody>
      </p:sp>
      <p:sp>
        <p:nvSpPr>
          <p:cNvPr id="447493" name="Text Box 5"/>
          <p:cNvSpPr txBox="1">
            <a:spLocks noChangeArrowheads="1"/>
          </p:cNvSpPr>
          <p:nvPr/>
        </p:nvSpPr>
        <p:spPr bwMode="auto">
          <a:xfrm>
            <a:off x="5495925" y="5462588"/>
            <a:ext cx="7826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1800">
                <a:solidFill>
                  <a:schemeClr val="bg1"/>
                </a:solidFill>
                <a:latin typeface="Arial" charset="0"/>
              </a:rPr>
              <a:t>Soma</a:t>
            </a:r>
          </a:p>
        </p:txBody>
      </p:sp>
      <p:sp>
        <p:nvSpPr>
          <p:cNvPr id="447494" name="Text Box 6"/>
          <p:cNvSpPr txBox="1">
            <a:spLocks noChangeArrowheads="1"/>
          </p:cNvSpPr>
          <p:nvPr/>
        </p:nvSpPr>
        <p:spPr bwMode="auto">
          <a:xfrm rot="-5400000">
            <a:off x="5352257" y="3263106"/>
            <a:ext cx="1047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1800">
                <a:solidFill>
                  <a:schemeClr val="bg1"/>
                </a:solidFill>
                <a:latin typeface="Arial" charset="0"/>
              </a:rPr>
              <a:t>Dendrite</a:t>
            </a:r>
          </a:p>
        </p:txBody>
      </p:sp>
      <p:grpSp>
        <p:nvGrpSpPr>
          <p:cNvPr id="2" name="Group 7"/>
          <p:cNvGrpSpPr>
            <a:grpSpLocks/>
          </p:cNvGrpSpPr>
          <p:nvPr/>
        </p:nvGrpSpPr>
        <p:grpSpPr bwMode="auto">
          <a:xfrm>
            <a:off x="4313238" y="1125538"/>
            <a:ext cx="1223962" cy="407987"/>
            <a:chOff x="431" y="1616"/>
            <a:chExt cx="408" cy="136"/>
          </a:xfrm>
        </p:grpSpPr>
        <p:sp>
          <p:nvSpPr>
            <p:cNvPr id="12325" name="Line 8"/>
            <p:cNvSpPr>
              <a:spLocks noChangeShapeType="1"/>
            </p:cNvSpPr>
            <p:nvPr/>
          </p:nvSpPr>
          <p:spPr bwMode="auto">
            <a:xfrm>
              <a:off x="431" y="1684"/>
              <a:ext cx="408" cy="0"/>
            </a:xfrm>
            <a:prstGeom prst="line">
              <a:avLst/>
            </a:prstGeom>
            <a:noFill/>
            <a:ln w="7620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2326" name="AutoShape 9"/>
            <p:cNvSpPr>
              <a:spLocks noChangeArrowheads="1"/>
            </p:cNvSpPr>
            <p:nvPr/>
          </p:nvSpPr>
          <p:spPr bwMode="auto">
            <a:xfrm rot="-5400000">
              <a:off x="703" y="1616"/>
              <a:ext cx="136" cy="136"/>
            </a:xfrm>
            <a:prstGeom prst="triangle">
              <a:avLst>
                <a:gd name="adj" fmla="val 50000"/>
              </a:avLst>
            </a:prstGeom>
            <a:solidFill>
              <a:srgbClr val="FF3300"/>
            </a:solidFill>
            <a:ln w="76200">
              <a:solidFill>
                <a:srgbClr val="FF3300"/>
              </a:solidFill>
              <a:miter lim="800000"/>
              <a:headEnd/>
              <a:tailEnd/>
            </a:ln>
          </p:spPr>
          <p:txBody>
            <a:bodyPr wrap="none" anchor="ctr"/>
            <a:lstStyle/>
            <a:p>
              <a:endParaRPr lang="it-IT"/>
            </a:p>
          </p:txBody>
        </p:sp>
      </p:grpSp>
      <p:sp>
        <p:nvSpPr>
          <p:cNvPr id="447498" name="AutoShape 10"/>
          <p:cNvSpPr>
            <a:spLocks noChangeArrowheads="1"/>
          </p:cNvSpPr>
          <p:nvPr/>
        </p:nvSpPr>
        <p:spPr bwMode="auto">
          <a:xfrm>
            <a:off x="4673600" y="908050"/>
            <a:ext cx="936625" cy="1008063"/>
          </a:xfrm>
          <a:prstGeom prst="lightningBolt">
            <a:avLst/>
          </a:prstGeom>
          <a:solidFill>
            <a:srgbClr val="FFFF00"/>
          </a:solidFill>
          <a:ln w="9525">
            <a:solidFill>
              <a:schemeClr val="tx1"/>
            </a:solidFill>
            <a:miter lim="800000"/>
            <a:headEnd/>
            <a:tailEnd/>
          </a:ln>
        </p:spPr>
        <p:txBody>
          <a:bodyPr wrap="none" anchor="ctr"/>
          <a:lstStyle/>
          <a:p>
            <a:endParaRPr lang="it-IT"/>
          </a:p>
        </p:txBody>
      </p:sp>
      <p:sp>
        <p:nvSpPr>
          <p:cNvPr id="447499" name="Text Box 11"/>
          <p:cNvSpPr txBox="1">
            <a:spLocks noChangeArrowheads="1"/>
          </p:cNvSpPr>
          <p:nvPr/>
        </p:nvSpPr>
        <p:spPr bwMode="auto">
          <a:xfrm>
            <a:off x="2873375" y="1052513"/>
            <a:ext cx="1174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sz="1800">
                <a:latin typeface="Arial" charset="0"/>
              </a:rPr>
              <a:t>Synaptic</a:t>
            </a:r>
          </a:p>
          <a:p>
            <a:pPr algn="ctr" eaLnBrk="1" hangingPunct="1"/>
            <a:r>
              <a:rPr lang="en-GB" sz="1800">
                <a:latin typeface="Arial" charset="0"/>
              </a:rPr>
              <a:t>Activation</a:t>
            </a:r>
          </a:p>
        </p:txBody>
      </p:sp>
      <p:sp>
        <p:nvSpPr>
          <p:cNvPr id="447500" name="Text Box 12"/>
          <p:cNvSpPr txBox="1">
            <a:spLocks noChangeArrowheads="1"/>
          </p:cNvSpPr>
          <p:nvPr/>
        </p:nvSpPr>
        <p:spPr bwMode="auto">
          <a:xfrm>
            <a:off x="2484438" y="1158875"/>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1800">
                <a:latin typeface="Arial" charset="0"/>
              </a:rPr>
              <a:t>Cations+ enter</a:t>
            </a:r>
          </a:p>
        </p:txBody>
      </p:sp>
      <p:sp>
        <p:nvSpPr>
          <p:cNvPr id="447501" name="AutoShape 13"/>
          <p:cNvSpPr>
            <a:spLocks noChangeArrowheads="1"/>
          </p:cNvSpPr>
          <p:nvPr/>
        </p:nvSpPr>
        <p:spPr bwMode="auto">
          <a:xfrm>
            <a:off x="4889500" y="1158875"/>
            <a:ext cx="647700" cy="360363"/>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grpSp>
        <p:nvGrpSpPr>
          <p:cNvPr id="3" name="Group 14"/>
          <p:cNvGrpSpPr>
            <a:grpSpLocks/>
          </p:cNvGrpSpPr>
          <p:nvPr/>
        </p:nvGrpSpPr>
        <p:grpSpPr bwMode="auto">
          <a:xfrm>
            <a:off x="5716588" y="1341438"/>
            <a:ext cx="360362" cy="3887787"/>
            <a:chOff x="2721" y="935"/>
            <a:chExt cx="227" cy="2449"/>
          </a:xfrm>
        </p:grpSpPr>
        <p:grpSp>
          <p:nvGrpSpPr>
            <p:cNvPr id="4" name="Group 15"/>
            <p:cNvGrpSpPr>
              <a:grpSpLocks/>
            </p:cNvGrpSpPr>
            <p:nvPr/>
          </p:nvGrpSpPr>
          <p:grpSpPr bwMode="auto">
            <a:xfrm>
              <a:off x="2721" y="935"/>
              <a:ext cx="227" cy="1950"/>
              <a:chOff x="1087" y="1888"/>
              <a:chExt cx="227" cy="1950"/>
            </a:xfrm>
          </p:grpSpPr>
          <p:sp>
            <p:nvSpPr>
              <p:cNvPr id="12321" name="AutoShape 16"/>
              <p:cNvSpPr>
                <a:spLocks noChangeArrowheads="1"/>
              </p:cNvSpPr>
              <p:nvPr/>
            </p:nvSpPr>
            <p:spPr bwMode="auto">
              <a:xfrm rot="5400000">
                <a:off x="997" y="1978"/>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sp>
            <p:nvSpPr>
              <p:cNvPr id="12322" name="AutoShape 17"/>
              <p:cNvSpPr>
                <a:spLocks noChangeArrowheads="1"/>
              </p:cNvSpPr>
              <p:nvPr/>
            </p:nvSpPr>
            <p:spPr bwMode="auto">
              <a:xfrm rot="5400000">
                <a:off x="997" y="2477"/>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sp>
            <p:nvSpPr>
              <p:cNvPr id="12323" name="AutoShape 18"/>
              <p:cNvSpPr>
                <a:spLocks noChangeArrowheads="1"/>
              </p:cNvSpPr>
              <p:nvPr/>
            </p:nvSpPr>
            <p:spPr bwMode="auto">
              <a:xfrm rot="5400000">
                <a:off x="997" y="2976"/>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sp>
            <p:nvSpPr>
              <p:cNvPr id="12324" name="AutoShape 19"/>
              <p:cNvSpPr>
                <a:spLocks noChangeArrowheads="1"/>
              </p:cNvSpPr>
              <p:nvPr/>
            </p:nvSpPr>
            <p:spPr bwMode="auto">
              <a:xfrm rot="5400000">
                <a:off x="997" y="3520"/>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grpSp>
        <p:sp>
          <p:nvSpPr>
            <p:cNvPr id="12320" name="AutoShape 20"/>
            <p:cNvSpPr>
              <a:spLocks noChangeArrowheads="1"/>
            </p:cNvSpPr>
            <p:nvPr/>
          </p:nvSpPr>
          <p:spPr bwMode="auto">
            <a:xfrm rot="5400000">
              <a:off x="2631" y="3066"/>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grpSp>
      <p:grpSp>
        <p:nvGrpSpPr>
          <p:cNvPr id="5" name="Group 21"/>
          <p:cNvGrpSpPr>
            <a:grpSpLocks/>
          </p:cNvGrpSpPr>
          <p:nvPr/>
        </p:nvGrpSpPr>
        <p:grpSpPr bwMode="auto">
          <a:xfrm rot="10800000">
            <a:off x="4456113" y="1341438"/>
            <a:ext cx="360362" cy="3887787"/>
            <a:chOff x="2721" y="935"/>
            <a:chExt cx="227" cy="2449"/>
          </a:xfrm>
        </p:grpSpPr>
        <p:grpSp>
          <p:nvGrpSpPr>
            <p:cNvPr id="6" name="Group 22"/>
            <p:cNvGrpSpPr>
              <a:grpSpLocks/>
            </p:cNvGrpSpPr>
            <p:nvPr/>
          </p:nvGrpSpPr>
          <p:grpSpPr bwMode="auto">
            <a:xfrm>
              <a:off x="2721" y="935"/>
              <a:ext cx="227" cy="1950"/>
              <a:chOff x="1087" y="1888"/>
              <a:chExt cx="227" cy="1950"/>
            </a:xfrm>
          </p:grpSpPr>
          <p:sp>
            <p:nvSpPr>
              <p:cNvPr id="12315" name="AutoShape 23"/>
              <p:cNvSpPr>
                <a:spLocks noChangeArrowheads="1"/>
              </p:cNvSpPr>
              <p:nvPr/>
            </p:nvSpPr>
            <p:spPr bwMode="auto">
              <a:xfrm rot="5400000">
                <a:off x="997" y="1978"/>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sp>
            <p:nvSpPr>
              <p:cNvPr id="12316" name="AutoShape 24"/>
              <p:cNvSpPr>
                <a:spLocks noChangeArrowheads="1"/>
              </p:cNvSpPr>
              <p:nvPr/>
            </p:nvSpPr>
            <p:spPr bwMode="auto">
              <a:xfrm rot="5400000">
                <a:off x="997" y="2477"/>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sp>
            <p:nvSpPr>
              <p:cNvPr id="12317" name="AutoShape 25"/>
              <p:cNvSpPr>
                <a:spLocks noChangeArrowheads="1"/>
              </p:cNvSpPr>
              <p:nvPr/>
            </p:nvSpPr>
            <p:spPr bwMode="auto">
              <a:xfrm rot="5400000">
                <a:off x="997" y="2976"/>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sp>
            <p:nvSpPr>
              <p:cNvPr id="12318" name="AutoShape 26"/>
              <p:cNvSpPr>
                <a:spLocks noChangeArrowheads="1"/>
              </p:cNvSpPr>
              <p:nvPr/>
            </p:nvSpPr>
            <p:spPr bwMode="auto">
              <a:xfrm rot="5400000">
                <a:off x="997" y="3520"/>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grpSp>
        <p:sp>
          <p:nvSpPr>
            <p:cNvPr id="12314" name="AutoShape 27"/>
            <p:cNvSpPr>
              <a:spLocks noChangeArrowheads="1"/>
            </p:cNvSpPr>
            <p:nvPr/>
          </p:nvSpPr>
          <p:spPr bwMode="auto">
            <a:xfrm rot="5400000">
              <a:off x="2631" y="3066"/>
              <a:ext cx="408" cy="227"/>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grpSp>
      <p:sp>
        <p:nvSpPr>
          <p:cNvPr id="447516" name="AutoShape 28"/>
          <p:cNvSpPr>
            <a:spLocks noChangeArrowheads="1"/>
          </p:cNvSpPr>
          <p:nvPr/>
        </p:nvSpPr>
        <p:spPr bwMode="auto">
          <a:xfrm rot="10800000">
            <a:off x="4889500" y="5013325"/>
            <a:ext cx="647700" cy="360363"/>
          </a:xfrm>
          <a:prstGeom prst="rightArrow">
            <a:avLst>
              <a:gd name="adj1" fmla="val 50000"/>
              <a:gd name="adj2" fmla="val 44934"/>
            </a:avLst>
          </a:prstGeom>
          <a:solidFill>
            <a:srgbClr val="FF3300"/>
          </a:solidFill>
          <a:ln w="9525">
            <a:solidFill>
              <a:schemeClr val="tx1"/>
            </a:solidFill>
            <a:miter lim="800000"/>
            <a:headEnd/>
            <a:tailEnd/>
          </a:ln>
        </p:spPr>
        <p:txBody>
          <a:bodyPr wrap="none" anchor="ctr"/>
          <a:lstStyle/>
          <a:p>
            <a:endParaRPr lang="it-IT"/>
          </a:p>
        </p:txBody>
      </p:sp>
      <p:grpSp>
        <p:nvGrpSpPr>
          <p:cNvPr id="7" name="Group 29"/>
          <p:cNvGrpSpPr>
            <a:grpSpLocks/>
          </p:cNvGrpSpPr>
          <p:nvPr/>
        </p:nvGrpSpPr>
        <p:grpSpPr bwMode="auto">
          <a:xfrm>
            <a:off x="3881438" y="1052513"/>
            <a:ext cx="433387" cy="4489450"/>
            <a:chOff x="1565" y="663"/>
            <a:chExt cx="273" cy="2828"/>
          </a:xfrm>
        </p:grpSpPr>
        <p:grpSp>
          <p:nvGrpSpPr>
            <p:cNvPr id="8" name="Group 30"/>
            <p:cNvGrpSpPr>
              <a:grpSpLocks/>
            </p:cNvGrpSpPr>
            <p:nvPr/>
          </p:nvGrpSpPr>
          <p:grpSpPr bwMode="auto">
            <a:xfrm>
              <a:off x="1565" y="663"/>
              <a:ext cx="273" cy="379"/>
              <a:chOff x="793" y="1101"/>
              <a:chExt cx="273" cy="379"/>
            </a:xfrm>
          </p:grpSpPr>
          <p:sp>
            <p:nvSpPr>
              <p:cNvPr id="12311" name="Oval 31"/>
              <p:cNvSpPr>
                <a:spLocks noChangeArrowheads="1"/>
              </p:cNvSpPr>
              <p:nvPr/>
            </p:nvSpPr>
            <p:spPr bwMode="auto">
              <a:xfrm>
                <a:off x="793" y="1207"/>
                <a:ext cx="273" cy="273"/>
              </a:xfrm>
              <a:prstGeom prst="ellipse">
                <a:avLst/>
              </a:prstGeom>
              <a:solidFill>
                <a:schemeClr val="accent2"/>
              </a:solidFill>
              <a:ln w="9525">
                <a:solidFill>
                  <a:schemeClr val="tx1"/>
                </a:solidFill>
                <a:round/>
                <a:headEnd/>
                <a:tailEnd/>
              </a:ln>
            </p:spPr>
            <p:txBody>
              <a:bodyPr wrap="none" anchor="ctr"/>
              <a:lstStyle/>
              <a:p>
                <a:endParaRPr lang="it-IT"/>
              </a:p>
            </p:txBody>
          </p:sp>
          <p:sp>
            <p:nvSpPr>
              <p:cNvPr id="12312" name="Text Box 32"/>
              <p:cNvSpPr txBox="1">
                <a:spLocks noChangeArrowheads="1"/>
              </p:cNvSpPr>
              <p:nvPr/>
            </p:nvSpPr>
            <p:spPr bwMode="auto">
              <a:xfrm>
                <a:off x="819" y="110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b="1">
                    <a:solidFill>
                      <a:schemeClr val="bg1"/>
                    </a:solidFill>
                    <a:latin typeface="Arial" charset="0"/>
                  </a:rPr>
                  <a:t>_</a:t>
                </a:r>
              </a:p>
            </p:txBody>
          </p:sp>
        </p:grpSp>
        <p:grpSp>
          <p:nvGrpSpPr>
            <p:cNvPr id="9" name="Group 33"/>
            <p:cNvGrpSpPr>
              <a:grpSpLocks/>
            </p:cNvGrpSpPr>
            <p:nvPr/>
          </p:nvGrpSpPr>
          <p:grpSpPr bwMode="auto">
            <a:xfrm>
              <a:off x="1565" y="3203"/>
              <a:ext cx="273" cy="288"/>
              <a:chOff x="1111" y="2779"/>
              <a:chExt cx="273" cy="288"/>
            </a:xfrm>
          </p:grpSpPr>
          <p:sp>
            <p:nvSpPr>
              <p:cNvPr id="12309" name="Oval 34"/>
              <p:cNvSpPr>
                <a:spLocks noChangeArrowheads="1"/>
              </p:cNvSpPr>
              <p:nvPr/>
            </p:nvSpPr>
            <p:spPr bwMode="auto">
              <a:xfrm>
                <a:off x="1111" y="2794"/>
                <a:ext cx="273" cy="273"/>
              </a:xfrm>
              <a:prstGeom prst="ellipse">
                <a:avLst/>
              </a:prstGeom>
              <a:solidFill>
                <a:srgbClr val="FF3300"/>
              </a:solidFill>
              <a:ln w="9525">
                <a:solidFill>
                  <a:schemeClr val="tx1"/>
                </a:solidFill>
                <a:round/>
                <a:headEnd/>
                <a:tailEnd/>
              </a:ln>
            </p:spPr>
            <p:txBody>
              <a:bodyPr wrap="none" anchor="ctr"/>
              <a:lstStyle/>
              <a:p>
                <a:endParaRPr lang="it-IT"/>
              </a:p>
            </p:txBody>
          </p:sp>
          <p:sp>
            <p:nvSpPr>
              <p:cNvPr id="12310" name="Text Box 35"/>
              <p:cNvSpPr txBox="1">
                <a:spLocks noChangeArrowheads="1"/>
              </p:cNvSpPr>
              <p:nvPr/>
            </p:nvSpPr>
            <p:spPr bwMode="auto">
              <a:xfrm>
                <a:off x="1137" y="2779"/>
                <a:ext cx="2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b="1">
                    <a:solidFill>
                      <a:schemeClr val="bg1"/>
                    </a:solidFill>
                    <a:latin typeface="Arial" charset="0"/>
                  </a:rPr>
                  <a:t>+</a:t>
                </a:r>
              </a:p>
            </p:txBody>
          </p:sp>
        </p:grpSp>
      </p:grpSp>
      <p:sp>
        <p:nvSpPr>
          <p:cNvPr id="447524" name="Text Box 36"/>
          <p:cNvSpPr txBox="1">
            <a:spLocks noChangeArrowheads="1"/>
          </p:cNvSpPr>
          <p:nvPr/>
        </p:nvSpPr>
        <p:spPr bwMode="auto">
          <a:xfrm>
            <a:off x="6400800" y="2636838"/>
            <a:ext cx="2203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sz="1800">
                <a:latin typeface="Arial" charset="0"/>
              </a:rPr>
              <a:t>Na+ moves from</a:t>
            </a:r>
          </a:p>
          <a:p>
            <a:pPr algn="ctr" eaLnBrk="1" hangingPunct="1"/>
            <a:r>
              <a:rPr lang="en-GB" sz="1800">
                <a:latin typeface="Arial" charset="0"/>
              </a:rPr>
              <a:t>high to low potential</a:t>
            </a:r>
          </a:p>
        </p:txBody>
      </p:sp>
      <p:sp>
        <p:nvSpPr>
          <p:cNvPr id="447525" name="Text Box 37"/>
          <p:cNvSpPr txBox="1">
            <a:spLocks noChangeArrowheads="1"/>
          </p:cNvSpPr>
          <p:nvPr/>
        </p:nvSpPr>
        <p:spPr bwMode="auto">
          <a:xfrm>
            <a:off x="179388" y="1917700"/>
            <a:ext cx="38877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atin typeface="Arial" charset="0"/>
              </a:rPr>
              <a:t>EEG and LFPs rely on sources and sinks (current flows)</a:t>
            </a:r>
          </a:p>
        </p:txBody>
      </p:sp>
    </p:spTree>
    <p:extLst>
      <p:ext uri="{BB962C8B-B14F-4D97-AF65-F5344CB8AC3E}">
        <p14:creationId xmlns:p14="http://schemas.microsoft.com/office/powerpoint/2010/main" val="2231781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4749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447493"/>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749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7498"/>
                                        </p:tgtEl>
                                        <p:attrNameLst>
                                          <p:attrName>style.visibility</p:attrName>
                                        </p:attrNameLst>
                                      </p:cBhvr>
                                      <p:to>
                                        <p:strVal val="visible"/>
                                      </p:to>
                                    </p:set>
                                  </p:childTnLst>
                                </p:cTn>
                              </p:par>
                              <p:par>
                                <p:cTn id="17" presetID="11" presetClass="exit" presetSubtype="0" fill="hold" grpId="1" nodeType="withEffect">
                                  <p:stCondLst>
                                    <p:cond delay="0"/>
                                  </p:stCondLst>
                                  <p:childTnLst>
                                    <p:anim calcmode="discrete" valueType="str">
                                      <p:cBhvr>
                                        <p:cTn id="18" dur="1000"/>
                                        <p:tgtEl>
                                          <p:spTgt spid="447498"/>
                                        </p:tgtEl>
                                        <p:attrNameLst>
                                          <p:attrName>style.visibility</p:attrName>
                                        </p:attrNameLst>
                                      </p:cBhvr>
                                      <p:tavLst>
                                        <p:tav tm="0">
                                          <p:val>
                                            <p:strVal val="hidden"/>
                                          </p:val>
                                        </p:tav>
                                        <p:tav tm="50000">
                                          <p:val>
                                            <p:strVal val="visible"/>
                                          </p:val>
                                        </p:tav>
                                      </p:tavLst>
                                    </p:anim>
                                    <p:set>
                                      <p:cBhvr>
                                        <p:cTn id="19" dur="1" fill="hold">
                                          <p:stCondLst>
                                            <p:cond delay="999"/>
                                          </p:stCondLst>
                                        </p:cTn>
                                        <p:tgtEl>
                                          <p:spTgt spid="447498"/>
                                        </p:tgtEl>
                                        <p:attrNameLst>
                                          <p:attrName>style.visibility</p:attrName>
                                        </p:attrNameLst>
                                      </p:cBhvr>
                                      <p:to>
                                        <p:strVal val="hidden"/>
                                      </p:to>
                                    </p:set>
                                  </p:childTnLst>
                                </p:cTn>
                              </p:par>
                              <p:par>
                                <p:cTn id="20" presetID="1" presetClass="exit" presetSubtype="0" fill="hold" grpId="1" nodeType="withEffect">
                                  <p:stCondLst>
                                    <p:cond delay="0"/>
                                  </p:stCondLst>
                                  <p:childTnLst>
                                    <p:set>
                                      <p:cBhvr>
                                        <p:cTn id="21" dur="1" fill="hold">
                                          <p:stCondLst>
                                            <p:cond delay="0"/>
                                          </p:stCondLst>
                                        </p:cTn>
                                        <p:tgtEl>
                                          <p:spTgt spid="447499"/>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xit" presetSubtype="0" fill="hold" nodeType="clickEffect">
                                  <p:stCondLst>
                                    <p:cond delay="0"/>
                                  </p:stCondLst>
                                  <p:childTnLst>
                                    <p:set>
                                      <p:cBhvr>
                                        <p:cTn id="25" dur="1" fill="hold">
                                          <p:stCondLst>
                                            <p:cond delay="0"/>
                                          </p:stCondLst>
                                        </p:cTn>
                                        <p:tgtEl>
                                          <p:spTgt spid="2"/>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44750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47501"/>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447500"/>
                                        </p:tgtEl>
                                        <p:attrNameLst>
                                          <p:attrName>style.visibility</p:attrName>
                                        </p:attrNameLst>
                                      </p:cBhvr>
                                      <p:to>
                                        <p:strVal val="hidden"/>
                                      </p:to>
                                    </p:set>
                                  </p:childTnLst>
                                </p:cTn>
                              </p:par>
                              <p:par>
                                <p:cTn id="34" presetID="1" presetClass="entr" presetSubtype="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childTnLst>
                                </p:cTn>
                              </p:par>
                              <p:par>
                                <p:cTn id="36" presetID="1" presetClass="entr" presetSubtype="0" fill="hold" grpId="1" nodeType="withEffect">
                                  <p:stCondLst>
                                    <p:cond delay="0"/>
                                  </p:stCondLst>
                                  <p:childTnLst>
                                    <p:set>
                                      <p:cBhvr>
                                        <p:cTn id="37" dur="1" fill="hold">
                                          <p:stCondLst>
                                            <p:cond delay="0"/>
                                          </p:stCondLst>
                                        </p:cTn>
                                        <p:tgtEl>
                                          <p:spTgt spid="447524"/>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47516"/>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47524"/>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7"/>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47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3" grpId="0"/>
      <p:bldP spid="447494" grpId="0"/>
      <p:bldP spid="447498" grpId="0" animBg="1"/>
      <p:bldP spid="447498" grpId="1" animBg="1"/>
      <p:bldP spid="447499" grpId="0"/>
      <p:bldP spid="447499" grpId="1"/>
      <p:bldP spid="447500" grpId="0"/>
      <p:bldP spid="447500" grpId="1"/>
      <p:bldP spid="447501" grpId="0" animBg="1"/>
      <p:bldP spid="447516" grpId="0" animBg="1"/>
      <p:bldP spid="447524" grpId="0"/>
      <p:bldP spid="447524" grpId="1"/>
      <p:bldP spid="44752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egnaposto numero diapositiva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DFD0D17-DE97-4F4B-939B-54BE38A28CD1}" type="slidenum">
              <a:rPr lang="en-US" sz="1400" smtClean="0"/>
              <a:pPr eaLnBrk="1" hangingPunct="1"/>
              <a:t>78</a:t>
            </a:fld>
            <a:endParaRPr lang="en-US" sz="1400"/>
          </a:p>
        </p:txBody>
      </p:sp>
      <p:sp>
        <p:nvSpPr>
          <p:cNvPr id="13315" name="Text Box 2"/>
          <p:cNvSpPr txBox="1">
            <a:spLocks noChangeArrowheads="1"/>
          </p:cNvSpPr>
          <p:nvPr/>
        </p:nvSpPr>
        <p:spPr bwMode="auto">
          <a:xfrm>
            <a:off x="390525" y="395288"/>
            <a:ext cx="175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b="1">
                <a:latin typeface="Arial" charset="0"/>
              </a:rPr>
              <a:t>Open Field</a:t>
            </a:r>
            <a:endParaRPr lang="en-US" b="1">
              <a:latin typeface="Arial" charset="0"/>
            </a:endParaRPr>
          </a:p>
        </p:txBody>
      </p:sp>
      <p:sp>
        <p:nvSpPr>
          <p:cNvPr id="13316" name="Oval 3"/>
          <p:cNvSpPr>
            <a:spLocks noChangeArrowheads="1"/>
          </p:cNvSpPr>
          <p:nvPr/>
        </p:nvSpPr>
        <p:spPr bwMode="auto">
          <a:xfrm>
            <a:off x="1908175" y="4510088"/>
            <a:ext cx="1079500" cy="1079500"/>
          </a:xfrm>
          <a:prstGeom prst="ellipse">
            <a:avLst/>
          </a:prstGeom>
          <a:solidFill>
            <a:schemeClr val="tx1"/>
          </a:solidFill>
          <a:ln w="9525">
            <a:solidFill>
              <a:schemeClr val="tx1"/>
            </a:solidFill>
            <a:round/>
            <a:headEnd/>
            <a:tailEnd/>
          </a:ln>
        </p:spPr>
        <p:txBody>
          <a:bodyPr wrap="none" anchor="ctr"/>
          <a:lstStyle/>
          <a:p>
            <a:endParaRPr lang="it-IT"/>
          </a:p>
        </p:txBody>
      </p:sp>
      <p:sp>
        <p:nvSpPr>
          <p:cNvPr id="13317" name="Rectangle 4"/>
          <p:cNvSpPr>
            <a:spLocks noChangeArrowheads="1"/>
          </p:cNvSpPr>
          <p:nvPr/>
        </p:nvSpPr>
        <p:spPr bwMode="auto">
          <a:xfrm>
            <a:off x="2339975" y="1412875"/>
            <a:ext cx="215900" cy="3168650"/>
          </a:xfrm>
          <a:prstGeom prst="rect">
            <a:avLst/>
          </a:prstGeom>
          <a:solidFill>
            <a:schemeClr val="tx1"/>
          </a:solidFill>
          <a:ln w="9525">
            <a:solidFill>
              <a:schemeClr val="tx1"/>
            </a:solidFill>
            <a:miter lim="800000"/>
            <a:headEnd/>
            <a:tailEnd/>
          </a:ln>
        </p:spPr>
        <p:txBody>
          <a:bodyPr wrap="none" anchor="ctr"/>
          <a:lstStyle/>
          <a:p>
            <a:endParaRPr lang="it-IT"/>
          </a:p>
        </p:txBody>
      </p:sp>
      <p:grpSp>
        <p:nvGrpSpPr>
          <p:cNvPr id="2" name="Group 5"/>
          <p:cNvGrpSpPr>
            <a:grpSpLocks/>
          </p:cNvGrpSpPr>
          <p:nvPr/>
        </p:nvGrpSpPr>
        <p:grpSpPr bwMode="auto">
          <a:xfrm>
            <a:off x="1547813" y="1628775"/>
            <a:ext cx="647700" cy="215900"/>
            <a:chOff x="431" y="1616"/>
            <a:chExt cx="408" cy="136"/>
          </a:xfrm>
        </p:grpSpPr>
        <p:sp>
          <p:nvSpPr>
            <p:cNvPr id="13384" name="Line 6"/>
            <p:cNvSpPr>
              <a:spLocks noChangeShapeType="1"/>
            </p:cNvSpPr>
            <p:nvPr/>
          </p:nvSpPr>
          <p:spPr bwMode="auto">
            <a:xfrm>
              <a:off x="431" y="1684"/>
              <a:ext cx="408"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85" name="AutoShape 7"/>
            <p:cNvSpPr>
              <a:spLocks noChangeArrowheads="1"/>
            </p:cNvSpPr>
            <p:nvPr/>
          </p:nvSpPr>
          <p:spPr bwMode="auto">
            <a:xfrm rot="-5400000">
              <a:off x="703" y="1616"/>
              <a:ext cx="136" cy="136"/>
            </a:xfrm>
            <a:prstGeom prst="triangle">
              <a:avLst>
                <a:gd name="adj" fmla="val 50000"/>
              </a:avLst>
            </a:prstGeom>
            <a:solidFill>
              <a:srgbClr val="FF3300"/>
            </a:solidFill>
            <a:ln w="9525">
              <a:solidFill>
                <a:srgbClr val="FF3300"/>
              </a:solidFill>
              <a:miter lim="800000"/>
              <a:headEnd/>
              <a:tailEnd/>
            </a:ln>
          </p:spPr>
          <p:txBody>
            <a:bodyPr wrap="none" anchor="ctr"/>
            <a:lstStyle/>
            <a:p>
              <a:endParaRPr lang="it-IT"/>
            </a:p>
          </p:txBody>
        </p:sp>
      </p:grpSp>
      <p:grpSp>
        <p:nvGrpSpPr>
          <p:cNvPr id="3" name="Group 8"/>
          <p:cNvGrpSpPr>
            <a:grpSpLocks/>
          </p:cNvGrpSpPr>
          <p:nvPr/>
        </p:nvGrpSpPr>
        <p:grpSpPr bwMode="auto">
          <a:xfrm>
            <a:off x="1547813" y="1917700"/>
            <a:ext cx="647700" cy="215900"/>
            <a:chOff x="431" y="1616"/>
            <a:chExt cx="408" cy="136"/>
          </a:xfrm>
        </p:grpSpPr>
        <p:sp>
          <p:nvSpPr>
            <p:cNvPr id="13382" name="Line 9"/>
            <p:cNvSpPr>
              <a:spLocks noChangeShapeType="1"/>
            </p:cNvSpPr>
            <p:nvPr/>
          </p:nvSpPr>
          <p:spPr bwMode="auto">
            <a:xfrm>
              <a:off x="431" y="1684"/>
              <a:ext cx="408"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83" name="AutoShape 10"/>
            <p:cNvSpPr>
              <a:spLocks noChangeArrowheads="1"/>
            </p:cNvSpPr>
            <p:nvPr/>
          </p:nvSpPr>
          <p:spPr bwMode="auto">
            <a:xfrm rot="-5400000">
              <a:off x="703" y="1616"/>
              <a:ext cx="136" cy="136"/>
            </a:xfrm>
            <a:prstGeom prst="triangle">
              <a:avLst>
                <a:gd name="adj" fmla="val 50000"/>
              </a:avLst>
            </a:prstGeom>
            <a:solidFill>
              <a:srgbClr val="FF3300"/>
            </a:solidFill>
            <a:ln w="9525">
              <a:solidFill>
                <a:srgbClr val="FF3300"/>
              </a:solidFill>
              <a:miter lim="800000"/>
              <a:headEnd/>
              <a:tailEnd/>
            </a:ln>
          </p:spPr>
          <p:txBody>
            <a:bodyPr wrap="none" anchor="ctr"/>
            <a:lstStyle/>
            <a:p>
              <a:endParaRPr lang="it-IT"/>
            </a:p>
          </p:txBody>
        </p:sp>
      </p:grpSp>
      <p:grpSp>
        <p:nvGrpSpPr>
          <p:cNvPr id="4" name="Group 11"/>
          <p:cNvGrpSpPr>
            <a:grpSpLocks/>
          </p:cNvGrpSpPr>
          <p:nvPr/>
        </p:nvGrpSpPr>
        <p:grpSpPr bwMode="auto">
          <a:xfrm>
            <a:off x="1547813" y="2205038"/>
            <a:ext cx="647700" cy="215900"/>
            <a:chOff x="431" y="1616"/>
            <a:chExt cx="408" cy="136"/>
          </a:xfrm>
        </p:grpSpPr>
        <p:sp>
          <p:nvSpPr>
            <p:cNvPr id="13380" name="Line 12"/>
            <p:cNvSpPr>
              <a:spLocks noChangeShapeType="1"/>
            </p:cNvSpPr>
            <p:nvPr/>
          </p:nvSpPr>
          <p:spPr bwMode="auto">
            <a:xfrm>
              <a:off x="431" y="1684"/>
              <a:ext cx="408"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81" name="AutoShape 13"/>
            <p:cNvSpPr>
              <a:spLocks noChangeArrowheads="1"/>
            </p:cNvSpPr>
            <p:nvPr/>
          </p:nvSpPr>
          <p:spPr bwMode="auto">
            <a:xfrm rot="-5400000">
              <a:off x="703" y="1616"/>
              <a:ext cx="136" cy="136"/>
            </a:xfrm>
            <a:prstGeom prst="triangle">
              <a:avLst>
                <a:gd name="adj" fmla="val 50000"/>
              </a:avLst>
            </a:prstGeom>
            <a:solidFill>
              <a:srgbClr val="FF3300"/>
            </a:solidFill>
            <a:ln w="9525">
              <a:solidFill>
                <a:srgbClr val="FF3300"/>
              </a:solidFill>
              <a:miter lim="800000"/>
              <a:headEnd/>
              <a:tailEnd/>
            </a:ln>
          </p:spPr>
          <p:txBody>
            <a:bodyPr wrap="none" anchor="ctr"/>
            <a:lstStyle/>
            <a:p>
              <a:endParaRPr lang="it-IT"/>
            </a:p>
          </p:txBody>
        </p:sp>
      </p:grpSp>
      <p:grpSp>
        <p:nvGrpSpPr>
          <p:cNvPr id="5" name="Group 14"/>
          <p:cNvGrpSpPr>
            <a:grpSpLocks/>
          </p:cNvGrpSpPr>
          <p:nvPr/>
        </p:nvGrpSpPr>
        <p:grpSpPr bwMode="auto">
          <a:xfrm>
            <a:off x="2627313" y="1747838"/>
            <a:ext cx="433387" cy="601662"/>
            <a:chOff x="793" y="1101"/>
            <a:chExt cx="273" cy="379"/>
          </a:xfrm>
        </p:grpSpPr>
        <p:sp>
          <p:nvSpPr>
            <p:cNvPr id="13378" name="Oval 15"/>
            <p:cNvSpPr>
              <a:spLocks noChangeArrowheads="1"/>
            </p:cNvSpPr>
            <p:nvPr/>
          </p:nvSpPr>
          <p:spPr bwMode="auto">
            <a:xfrm>
              <a:off x="793" y="1207"/>
              <a:ext cx="273" cy="273"/>
            </a:xfrm>
            <a:prstGeom prst="ellipse">
              <a:avLst/>
            </a:prstGeom>
            <a:solidFill>
              <a:schemeClr val="accent2"/>
            </a:solidFill>
            <a:ln w="9525">
              <a:solidFill>
                <a:schemeClr val="tx1"/>
              </a:solidFill>
              <a:round/>
              <a:headEnd/>
              <a:tailEnd/>
            </a:ln>
          </p:spPr>
          <p:txBody>
            <a:bodyPr wrap="none" anchor="ctr"/>
            <a:lstStyle/>
            <a:p>
              <a:endParaRPr lang="it-IT"/>
            </a:p>
          </p:txBody>
        </p:sp>
        <p:sp>
          <p:nvSpPr>
            <p:cNvPr id="13379" name="Text Box 16"/>
            <p:cNvSpPr txBox="1">
              <a:spLocks noChangeArrowheads="1"/>
            </p:cNvSpPr>
            <p:nvPr/>
          </p:nvSpPr>
          <p:spPr bwMode="auto">
            <a:xfrm>
              <a:off x="819" y="1101"/>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b="1">
                  <a:solidFill>
                    <a:schemeClr val="bg1"/>
                  </a:solidFill>
                  <a:latin typeface="Arial" charset="0"/>
                </a:rPr>
                <a:t>_</a:t>
              </a:r>
            </a:p>
          </p:txBody>
        </p:sp>
      </p:grpSp>
      <p:grpSp>
        <p:nvGrpSpPr>
          <p:cNvPr id="6" name="Group 17"/>
          <p:cNvGrpSpPr>
            <a:grpSpLocks/>
          </p:cNvGrpSpPr>
          <p:nvPr/>
        </p:nvGrpSpPr>
        <p:grpSpPr bwMode="auto">
          <a:xfrm>
            <a:off x="3059113" y="4797425"/>
            <a:ext cx="433387" cy="457200"/>
            <a:chOff x="1111" y="2779"/>
            <a:chExt cx="273" cy="288"/>
          </a:xfrm>
        </p:grpSpPr>
        <p:sp>
          <p:nvSpPr>
            <p:cNvPr id="13376" name="Oval 18"/>
            <p:cNvSpPr>
              <a:spLocks noChangeArrowheads="1"/>
            </p:cNvSpPr>
            <p:nvPr/>
          </p:nvSpPr>
          <p:spPr bwMode="auto">
            <a:xfrm>
              <a:off x="1111" y="2794"/>
              <a:ext cx="273" cy="273"/>
            </a:xfrm>
            <a:prstGeom prst="ellipse">
              <a:avLst/>
            </a:prstGeom>
            <a:solidFill>
              <a:srgbClr val="FF3300"/>
            </a:solidFill>
            <a:ln w="9525">
              <a:solidFill>
                <a:schemeClr val="tx1"/>
              </a:solidFill>
              <a:round/>
              <a:headEnd/>
              <a:tailEnd/>
            </a:ln>
          </p:spPr>
          <p:txBody>
            <a:bodyPr wrap="none" anchor="ctr"/>
            <a:lstStyle/>
            <a:p>
              <a:endParaRPr lang="it-IT"/>
            </a:p>
          </p:txBody>
        </p:sp>
        <p:sp>
          <p:nvSpPr>
            <p:cNvPr id="13377" name="Text Box 19"/>
            <p:cNvSpPr txBox="1">
              <a:spLocks noChangeArrowheads="1"/>
            </p:cNvSpPr>
            <p:nvPr/>
          </p:nvSpPr>
          <p:spPr bwMode="auto">
            <a:xfrm>
              <a:off x="1137" y="2779"/>
              <a:ext cx="2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b="1">
                  <a:solidFill>
                    <a:schemeClr val="bg1"/>
                  </a:solidFill>
                  <a:latin typeface="Arial" charset="0"/>
                </a:rPr>
                <a:t>+</a:t>
              </a:r>
            </a:p>
          </p:txBody>
        </p:sp>
      </p:grpSp>
      <p:grpSp>
        <p:nvGrpSpPr>
          <p:cNvPr id="7" name="Group 20"/>
          <p:cNvGrpSpPr>
            <a:grpSpLocks/>
          </p:cNvGrpSpPr>
          <p:nvPr/>
        </p:nvGrpSpPr>
        <p:grpSpPr bwMode="auto">
          <a:xfrm>
            <a:off x="1547813" y="2492375"/>
            <a:ext cx="647700" cy="215900"/>
            <a:chOff x="431" y="1616"/>
            <a:chExt cx="408" cy="136"/>
          </a:xfrm>
        </p:grpSpPr>
        <p:sp>
          <p:nvSpPr>
            <p:cNvPr id="13374" name="Line 21"/>
            <p:cNvSpPr>
              <a:spLocks noChangeShapeType="1"/>
            </p:cNvSpPr>
            <p:nvPr/>
          </p:nvSpPr>
          <p:spPr bwMode="auto">
            <a:xfrm>
              <a:off x="431" y="1684"/>
              <a:ext cx="408"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75" name="AutoShape 22"/>
            <p:cNvSpPr>
              <a:spLocks noChangeArrowheads="1"/>
            </p:cNvSpPr>
            <p:nvPr/>
          </p:nvSpPr>
          <p:spPr bwMode="auto">
            <a:xfrm rot="-5400000">
              <a:off x="703" y="1616"/>
              <a:ext cx="136" cy="136"/>
            </a:xfrm>
            <a:prstGeom prst="triangle">
              <a:avLst>
                <a:gd name="adj" fmla="val 50000"/>
              </a:avLst>
            </a:prstGeom>
            <a:solidFill>
              <a:srgbClr val="FF3300"/>
            </a:solidFill>
            <a:ln w="9525">
              <a:solidFill>
                <a:srgbClr val="FF3300"/>
              </a:solidFill>
              <a:miter lim="800000"/>
              <a:headEnd/>
              <a:tailEnd/>
            </a:ln>
          </p:spPr>
          <p:txBody>
            <a:bodyPr wrap="none" anchor="ctr"/>
            <a:lstStyle/>
            <a:p>
              <a:endParaRPr lang="it-IT"/>
            </a:p>
          </p:txBody>
        </p:sp>
      </p:grpSp>
      <p:sp>
        <p:nvSpPr>
          <p:cNvPr id="13324" name="Text Box 23"/>
          <p:cNvSpPr txBox="1">
            <a:spLocks noChangeArrowheads="1"/>
          </p:cNvSpPr>
          <p:nvPr/>
        </p:nvSpPr>
        <p:spPr bwMode="auto">
          <a:xfrm>
            <a:off x="1547813" y="5734050"/>
            <a:ext cx="1981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b="1">
                <a:latin typeface="Arial" charset="0"/>
              </a:rPr>
              <a:t>Pyramidal Cell</a:t>
            </a:r>
          </a:p>
          <a:p>
            <a:pPr algn="ctr" eaLnBrk="1" hangingPunct="1"/>
            <a:r>
              <a:rPr lang="en-GB" b="1">
                <a:latin typeface="Arial" charset="0"/>
              </a:rPr>
              <a:t>Open Field</a:t>
            </a:r>
          </a:p>
        </p:txBody>
      </p:sp>
      <p:sp>
        <p:nvSpPr>
          <p:cNvPr id="13325" name="Text Box 24"/>
          <p:cNvSpPr txBox="1">
            <a:spLocks noChangeArrowheads="1"/>
          </p:cNvSpPr>
          <p:nvPr/>
        </p:nvSpPr>
        <p:spPr bwMode="auto">
          <a:xfrm>
            <a:off x="179388" y="1844675"/>
            <a:ext cx="14398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sz="1800">
                <a:latin typeface="Arial" charset="0"/>
              </a:rPr>
              <a:t>Excitatory</a:t>
            </a:r>
          </a:p>
          <a:p>
            <a:pPr algn="ctr" eaLnBrk="1" hangingPunct="1"/>
            <a:r>
              <a:rPr lang="en-GB" sz="1800">
                <a:latin typeface="Arial" charset="0"/>
              </a:rPr>
              <a:t>Input</a:t>
            </a:r>
          </a:p>
        </p:txBody>
      </p:sp>
      <p:sp>
        <p:nvSpPr>
          <p:cNvPr id="13326" name="Text Box 25"/>
          <p:cNvSpPr txBox="1">
            <a:spLocks noChangeArrowheads="1"/>
          </p:cNvSpPr>
          <p:nvPr/>
        </p:nvSpPr>
        <p:spPr bwMode="auto">
          <a:xfrm>
            <a:off x="2051050" y="4854575"/>
            <a:ext cx="781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1800">
                <a:solidFill>
                  <a:schemeClr val="bg1"/>
                </a:solidFill>
                <a:latin typeface="Arial" charset="0"/>
              </a:rPr>
              <a:t>Soma</a:t>
            </a:r>
          </a:p>
        </p:txBody>
      </p:sp>
      <p:sp>
        <p:nvSpPr>
          <p:cNvPr id="13327" name="Text Box 26"/>
          <p:cNvSpPr txBox="1">
            <a:spLocks noChangeArrowheads="1"/>
          </p:cNvSpPr>
          <p:nvPr/>
        </p:nvSpPr>
        <p:spPr bwMode="auto">
          <a:xfrm rot="-5400000">
            <a:off x="1918494" y="3226594"/>
            <a:ext cx="1047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1800">
                <a:solidFill>
                  <a:schemeClr val="bg1"/>
                </a:solidFill>
                <a:latin typeface="Arial" charset="0"/>
              </a:rPr>
              <a:t>Dendrite</a:t>
            </a:r>
          </a:p>
        </p:txBody>
      </p:sp>
      <p:grpSp>
        <p:nvGrpSpPr>
          <p:cNvPr id="8" name="Group 27"/>
          <p:cNvGrpSpPr>
            <a:grpSpLocks/>
          </p:cNvGrpSpPr>
          <p:nvPr/>
        </p:nvGrpSpPr>
        <p:grpSpPr bwMode="auto">
          <a:xfrm>
            <a:off x="4500563" y="1790700"/>
            <a:ext cx="479425" cy="1854200"/>
            <a:chOff x="1202" y="890"/>
            <a:chExt cx="680" cy="2631"/>
          </a:xfrm>
        </p:grpSpPr>
        <p:sp>
          <p:nvSpPr>
            <p:cNvPr id="13372" name="Oval 28"/>
            <p:cNvSpPr>
              <a:spLocks noChangeArrowheads="1"/>
            </p:cNvSpPr>
            <p:nvPr/>
          </p:nvSpPr>
          <p:spPr bwMode="auto">
            <a:xfrm>
              <a:off x="1202" y="2841"/>
              <a:ext cx="680" cy="680"/>
            </a:xfrm>
            <a:prstGeom prst="ellipse">
              <a:avLst/>
            </a:prstGeom>
            <a:solidFill>
              <a:schemeClr val="tx1"/>
            </a:solidFill>
            <a:ln w="9525">
              <a:solidFill>
                <a:schemeClr val="tx1"/>
              </a:solidFill>
              <a:round/>
              <a:headEnd/>
              <a:tailEnd/>
            </a:ln>
          </p:spPr>
          <p:txBody>
            <a:bodyPr wrap="none" anchor="ctr"/>
            <a:lstStyle/>
            <a:p>
              <a:endParaRPr lang="it-IT"/>
            </a:p>
          </p:txBody>
        </p:sp>
        <p:sp>
          <p:nvSpPr>
            <p:cNvPr id="13373" name="Rectangle 29"/>
            <p:cNvSpPr>
              <a:spLocks noChangeArrowheads="1"/>
            </p:cNvSpPr>
            <p:nvPr/>
          </p:nvSpPr>
          <p:spPr bwMode="auto">
            <a:xfrm>
              <a:off x="1474" y="890"/>
              <a:ext cx="136" cy="1996"/>
            </a:xfrm>
            <a:prstGeom prst="rect">
              <a:avLst/>
            </a:prstGeom>
            <a:solidFill>
              <a:schemeClr val="tx1"/>
            </a:solidFill>
            <a:ln w="9525">
              <a:solidFill>
                <a:schemeClr val="tx1"/>
              </a:solidFill>
              <a:miter lim="800000"/>
              <a:headEnd/>
              <a:tailEnd/>
            </a:ln>
          </p:spPr>
          <p:txBody>
            <a:bodyPr wrap="none" anchor="ctr"/>
            <a:lstStyle/>
            <a:p>
              <a:endParaRPr lang="it-IT"/>
            </a:p>
          </p:txBody>
        </p:sp>
      </p:grpSp>
      <p:grpSp>
        <p:nvGrpSpPr>
          <p:cNvPr id="9" name="Group 30"/>
          <p:cNvGrpSpPr>
            <a:grpSpLocks/>
          </p:cNvGrpSpPr>
          <p:nvPr/>
        </p:nvGrpSpPr>
        <p:grpSpPr bwMode="auto">
          <a:xfrm>
            <a:off x="5186363" y="1790700"/>
            <a:ext cx="477837" cy="1854200"/>
            <a:chOff x="1202" y="890"/>
            <a:chExt cx="680" cy="2631"/>
          </a:xfrm>
        </p:grpSpPr>
        <p:sp>
          <p:nvSpPr>
            <p:cNvPr id="13370" name="Oval 31"/>
            <p:cNvSpPr>
              <a:spLocks noChangeArrowheads="1"/>
            </p:cNvSpPr>
            <p:nvPr/>
          </p:nvSpPr>
          <p:spPr bwMode="auto">
            <a:xfrm>
              <a:off x="1202" y="2841"/>
              <a:ext cx="680" cy="680"/>
            </a:xfrm>
            <a:prstGeom prst="ellipse">
              <a:avLst/>
            </a:prstGeom>
            <a:solidFill>
              <a:schemeClr val="tx1"/>
            </a:solidFill>
            <a:ln w="9525">
              <a:solidFill>
                <a:schemeClr val="tx1"/>
              </a:solidFill>
              <a:round/>
              <a:headEnd/>
              <a:tailEnd/>
            </a:ln>
          </p:spPr>
          <p:txBody>
            <a:bodyPr wrap="none" anchor="ctr"/>
            <a:lstStyle/>
            <a:p>
              <a:endParaRPr lang="it-IT"/>
            </a:p>
          </p:txBody>
        </p:sp>
        <p:sp>
          <p:nvSpPr>
            <p:cNvPr id="13371" name="Rectangle 32"/>
            <p:cNvSpPr>
              <a:spLocks noChangeArrowheads="1"/>
            </p:cNvSpPr>
            <p:nvPr/>
          </p:nvSpPr>
          <p:spPr bwMode="auto">
            <a:xfrm>
              <a:off x="1474" y="890"/>
              <a:ext cx="136" cy="1996"/>
            </a:xfrm>
            <a:prstGeom prst="rect">
              <a:avLst/>
            </a:prstGeom>
            <a:solidFill>
              <a:schemeClr val="tx1"/>
            </a:solidFill>
            <a:ln w="9525">
              <a:solidFill>
                <a:schemeClr val="tx1"/>
              </a:solidFill>
              <a:miter lim="800000"/>
              <a:headEnd/>
              <a:tailEnd/>
            </a:ln>
          </p:spPr>
          <p:txBody>
            <a:bodyPr wrap="none" anchor="ctr"/>
            <a:lstStyle/>
            <a:p>
              <a:endParaRPr lang="it-IT"/>
            </a:p>
          </p:txBody>
        </p:sp>
      </p:grpSp>
      <p:grpSp>
        <p:nvGrpSpPr>
          <p:cNvPr id="10" name="Group 33"/>
          <p:cNvGrpSpPr>
            <a:grpSpLocks/>
          </p:cNvGrpSpPr>
          <p:nvPr/>
        </p:nvGrpSpPr>
        <p:grpSpPr bwMode="auto">
          <a:xfrm>
            <a:off x="5870575" y="1790700"/>
            <a:ext cx="479425" cy="1854200"/>
            <a:chOff x="1202" y="890"/>
            <a:chExt cx="680" cy="2631"/>
          </a:xfrm>
        </p:grpSpPr>
        <p:sp>
          <p:nvSpPr>
            <p:cNvPr id="13368" name="Oval 34"/>
            <p:cNvSpPr>
              <a:spLocks noChangeArrowheads="1"/>
            </p:cNvSpPr>
            <p:nvPr/>
          </p:nvSpPr>
          <p:spPr bwMode="auto">
            <a:xfrm>
              <a:off x="1202" y="2841"/>
              <a:ext cx="680" cy="680"/>
            </a:xfrm>
            <a:prstGeom prst="ellipse">
              <a:avLst/>
            </a:prstGeom>
            <a:solidFill>
              <a:schemeClr val="tx1"/>
            </a:solidFill>
            <a:ln w="9525">
              <a:solidFill>
                <a:schemeClr val="tx1"/>
              </a:solidFill>
              <a:round/>
              <a:headEnd/>
              <a:tailEnd/>
            </a:ln>
          </p:spPr>
          <p:txBody>
            <a:bodyPr wrap="none" anchor="ctr"/>
            <a:lstStyle/>
            <a:p>
              <a:endParaRPr lang="it-IT"/>
            </a:p>
          </p:txBody>
        </p:sp>
        <p:sp>
          <p:nvSpPr>
            <p:cNvPr id="13369" name="Rectangle 35"/>
            <p:cNvSpPr>
              <a:spLocks noChangeArrowheads="1"/>
            </p:cNvSpPr>
            <p:nvPr/>
          </p:nvSpPr>
          <p:spPr bwMode="auto">
            <a:xfrm>
              <a:off x="1474" y="890"/>
              <a:ext cx="136" cy="1996"/>
            </a:xfrm>
            <a:prstGeom prst="rect">
              <a:avLst/>
            </a:prstGeom>
            <a:solidFill>
              <a:schemeClr val="tx1"/>
            </a:solidFill>
            <a:ln w="9525">
              <a:solidFill>
                <a:schemeClr val="tx1"/>
              </a:solidFill>
              <a:miter lim="800000"/>
              <a:headEnd/>
              <a:tailEnd/>
            </a:ln>
          </p:spPr>
          <p:txBody>
            <a:bodyPr wrap="none" anchor="ctr"/>
            <a:lstStyle/>
            <a:p>
              <a:endParaRPr lang="it-IT"/>
            </a:p>
          </p:txBody>
        </p:sp>
      </p:grpSp>
      <p:grpSp>
        <p:nvGrpSpPr>
          <p:cNvPr id="11" name="Group 36"/>
          <p:cNvGrpSpPr>
            <a:grpSpLocks/>
          </p:cNvGrpSpPr>
          <p:nvPr/>
        </p:nvGrpSpPr>
        <p:grpSpPr bwMode="auto">
          <a:xfrm>
            <a:off x="6554788" y="1790700"/>
            <a:ext cx="479425" cy="1854200"/>
            <a:chOff x="1202" y="890"/>
            <a:chExt cx="680" cy="2631"/>
          </a:xfrm>
        </p:grpSpPr>
        <p:sp>
          <p:nvSpPr>
            <p:cNvPr id="13366" name="Oval 37"/>
            <p:cNvSpPr>
              <a:spLocks noChangeArrowheads="1"/>
            </p:cNvSpPr>
            <p:nvPr/>
          </p:nvSpPr>
          <p:spPr bwMode="auto">
            <a:xfrm>
              <a:off x="1202" y="2841"/>
              <a:ext cx="680" cy="680"/>
            </a:xfrm>
            <a:prstGeom prst="ellipse">
              <a:avLst/>
            </a:prstGeom>
            <a:solidFill>
              <a:schemeClr val="tx1"/>
            </a:solidFill>
            <a:ln w="9525">
              <a:solidFill>
                <a:schemeClr val="tx1"/>
              </a:solidFill>
              <a:round/>
              <a:headEnd/>
              <a:tailEnd/>
            </a:ln>
          </p:spPr>
          <p:txBody>
            <a:bodyPr wrap="none" anchor="ctr"/>
            <a:lstStyle/>
            <a:p>
              <a:endParaRPr lang="it-IT"/>
            </a:p>
          </p:txBody>
        </p:sp>
        <p:sp>
          <p:nvSpPr>
            <p:cNvPr id="13367" name="Rectangle 38"/>
            <p:cNvSpPr>
              <a:spLocks noChangeArrowheads="1"/>
            </p:cNvSpPr>
            <p:nvPr/>
          </p:nvSpPr>
          <p:spPr bwMode="auto">
            <a:xfrm>
              <a:off x="1474" y="890"/>
              <a:ext cx="136" cy="1996"/>
            </a:xfrm>
            <a:prstGeom prst="rect">
              <a:avLst/>
            </a:prstGeom>
            <a:solidFill>
              <a:schemeClr val="tx1"/>
            </a:solidFill>
            <a:ln w="9525">
              <a:solidFill>
                <a:schemeClr val="tx1"/>
              </a:solidFill>
              <a:miter lim="800000"/>
              <a:headEnd/>
              <a:tailEnd/>
            </a:ln>
          </p:spPr>
          <p:txBody>
            <a:bodyPr wrap="none" anchor="ctr"/>
            <a:lstStyle/>
            <a:p>
              <a:endParaRPr lang="it-IT"/>
            </a:p>
          </p:txBody>
        </p:sp>
      </p:grpSp>
      <p:sp>
        <p:nvSpPr>
          <p:cNvPr id="13332" name="Line 39"/>
          <p:cNvSpPr>
            <a:spLocks noChangeShapeType="1"/>
          </p:cNvSpPr>
          <p:nvPr/>
        </p:nvSpPr>
        <p:spPr bwMode="auto">
          <a:xfrm>
            <a:off x="7497763" y="2651125"/>
            <a:ext cx="1466850" cy="95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it-IT"/>
          </a:p>
        </p:txBody>
      </p:sp>
      <p:sp>
        <p:nvSpPr>
          <p:cNvPr id="13333" name="Line 40"/>
          <p:cNvSpPr>
            <a:spLocks noChangeShapeType="1"/>
          </p:cNvSpPr>
          <p:nvPr/>
        </p:nvSpPr>
        <p:spPr bwMode="auto">
          <a:xfrm>
            <a:off x="7497763" y="1954213"/>
            <a:ext cx="265112"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34" name="Line 41"/>
          <p:cNvSpPr>
            <a:spLocks noChangeShapeType="1"/>
          </p:cNvSpPr>
          <p:nvPr/>
        </p:nvSpPr>
        <p:spPr bwMode="auto">
          <a:xfrm>
            <a:off x="7881938" y="1954213"/>
            <a:ext cx="265112"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35" name="Line 42"/>
          <p:cNvSpPr>
            <a:spLocks noChangeShapeType="1"/>
          </p:cNvSpPr>
          <p:nvPr/>
        </p:nvSpPr>
        <p:spPr bwMode="auto">
          <a:xfrm>
            <a:off x="8266113" y="1954213"/>
            <a:ext cx="265112"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36" name="Line 43"/>
          <p:cNvSpPr>
            <a:spLocks noChangeShapeType="1"/>
          </p:cNvSpPr>
          <p:nvPr/>
        </p:nvSpPr>
        <p:spPr bwMode="auto">
          <a:xfrm>
            <a:off x="8650288" y="1954213"/>
            <a:ext cx="263525" cy="0"/>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37" name="Line 44"/>
          <p:cNvSpPr>
            <a:spLocks noChangeShapeType="1"/>
          </p:cNvSpPr>
          <p:nvPr/>
        </p:nvSpPr>
        <p:spPr bwMode="auto">
          <a:xfrm>
            <a:off x="7497763" y="3322638"/>
            <a:ext cx="265112"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38" name="Line 45"/>
          <p:cNvSpPr>
            <a:spLocks noChangeShapeType="1"/>
          </p:cNvSpPr>
          <p:nvPr/>
        </p:nvSpPr>
        <p:spPr bwMode="auto">
          <a:xfrm>
            <a:off x="7881938" y="3322638"/>
            <a:ext cx="265112"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39" name="Line 46"/>
          <p:cNvSpPr>
            <a:spLocks noChangeShapeType="1"/>
          </p:cNvSpPr>
          <p:nvPr/>
        </p:nvSpPr>
        <p:spPr bwMode="auto">
          <a:xfrm>
            <a:off x="8266113" y="3322638"/>
            <a:ext cx="265112"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40" name="Line 47"/>
          <p:cNvSpPr>
            <a:spLocks noChangeShapeType="1"/>
          </p:cNvSpPr>
          <p:nvPr/>
        </p:nvSpPr>
        <p:spPr bwMode="auto">
          <a:xfrm>
            <a:off x="8650288" y="3322638"/>
            <a:ext cx="263525"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41" name="Line 48"/>
          <p:cNvSpPr>
            <a:spLocks noChangeShapeType="1"/>
          </p:cNvSpPr>
          <p:nvPr/>
        </p:nvSpPr>
        <p:spPr bwMode="auto">
          <a:xfrm rot="-5400000">
            <a:off x="7508875" y="3314701"/>
            <a:ext cx="263525"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42" name="Line 49"/>
          <p:cNvSpPr>
            <a:spLocks noChangeShapeType="1"/>
          </p:cNvSpPr>
          <p:nvPr/>
        </p:nvSpPr>
        <p:spPr bwMode="auto">
          <a:xfrm rot="-5400000">
            <a:off x="7891462" y="3314701"/>
            <a:ext cx="263525"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43" name="Line 50"/>
          <p:cNvSpPr>
            <a:spLocks noChangeShapeType="1"/>
          </p:cNvSpPr>
          <p:nvPr/>
        </p:nvSpPr>
        <p:spPr bwMode="auto">
          <a:xfrm rot="-5400000">
            <a:off x="8275637" y="3314701"/>
            <a:ext cx="263525"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44" name="Line 51"/>
          <p:cNvSpPr>
            <a:spLocks noChangeShapeType="1"/>
          </p:cNvSpPr>
          <p:nvPr/>
        </p:nvSpPr>
        <p:spPr bwMode="auto">
          <a:xfrm rot="-5400000">
            <a:off x="8659812" y="3314701"/>
            <a:ext cx="263525"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grpSp>
        <p:nvGrpSpPr>
          <p:cNvPr id="12" name="Group 52"/>
          <p:cNvGrpSpPr>
            <a:grpSpLocks/>
          </p:cNvGrpSpPr>
          <p:nvPr/>
        </p:nvGrpSpPr>
        <p:grpSpPr bwMode="auto">
          <a:xfrm>
            <a:off x="4133850" y="1724025"/>
            <a:ext cx="528638" cy="331788"/>
            <a:chOff x="1882" y="799"/>
            <a:chExt cx="363" cy="227"/>
          </a:xfrm>
        </p:grpSpPr>
        <p:grpSp>
          <p:nvGrpSpPr>
            <p:cNvPr id="13" name="Group 53"/>
            <p:cNvGrpSpPr>
              <a:grpSpLocks/>
            </p:cNvGrpSpPr>
            <p:nvPr/>
          </p:nvGrpSpPr>
          <p:grpSpPr bwMode="auto">
            <a:xfrm>
              <a:off x="1973" y="890"/>
              <a:ext cx="272" cy="136"/>
              <a:chOff x="431" y="1616"/>
              <a:chExt cx="408" cy="136"/>
            </a:xfrm>
          </p:grpSpPr>
          <p:sp>
            <p:nvSpPr>
              <p:cNvPr id="13364" name="Line 54"/>
              <p:cNvSpPr>
                <a:spLocks noChangeShapeType="1"/>
              </p:cNvSpPr>
              <p:nvPr/>
            </p:nvSpPr>
            <p:spPr bwMode="auto">
              <a:xfrm>
                <a:off x="431" y="1684"/>
                <a:ext cx="408"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65" name="AutoShape 55"/>
              <p:cNvSpPr>
                <a:spLocks noChangeArrowheads="1"/>
              </p:cNvSpPr>
              <p:nvPr/>
            </p:nvSpPr>
            <p:spPr bwMode="auto">
              <a:xfrm rot="-5400000">
                <a:off x="703" y="1616"/>
                <a:ext cx="136" cy="136"/>
              </a:xfrm>
              <a:prstGeom prst="triangle">
                <a:avLst>
                  <a:gd name="adj" fmla="val 50000"/>
                </a:avLst>
              </a:prstGeom>
              <a:solidFill>
                <a:srgbClr val="FF3300"/>
              </a:solidFill>
              <a:ln w="9525">
                <a:solidFill>
                  <a:srgbClr val="FF3300"/>
                </a:solidFill>
                <a:miter lim="800000"/>
                <a:headEnd/>
                <a:tailEnd/>
              </a:ln>
            </p:spPr>
            <p:txBody>
              <a:bodyPr wrap="none" anchor="ctr"/>
              <a:lstStyle/>
              <a:p>
                <a:endParaRPr lang="it-IT"/>
              </a:p>
            </p:txBody>
          </p:sp>
        </p:grpSp>
        <p:sp>
          <p:nvSpPr>
            <p:cNvPr id="13363" name="Line 56"/>
            <p:cNvSpPr>
              <a:spLocks noChangeShapeType="1"/>
            </p:cNvSpPr>
            <p:nvPr/>
          </p:nvSpPr>
          <p:spPr bwMode="auto">
            <a:xfrm flipH="1" flipV="1">
              <a:off x="1882" y="799"/>
              <a:ext cx="96" cy="1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grpSp>
      <p:grpSp>
        <p:nvGrpSpPr>
          <p:cNvPr id="14" name="Group 57"/>
          <p:cNvGrpSpPr>
            <a:grpSpLocks/>
          </p:cNvGrpSpPr>
          <p:nvPr/>
        </p:nvGrpSpPr>
        <p:grpSpPr bwMode="auto">
          <a:xfrm>
            <a:off x="4818063" y="1724025"/>
            <a:ext cx="530225" cy="331788"/>
            <a:chOff x="2245" y="799"/>
            <a:chExt cx="363" cy="227"/>
          </a:xfrm>
        </p:grpSpPr>
        <p:grpSp>
          <p:nvGrpSpPr>
            <p:cNvPr id="15" name="Group 58"/>
            <p:cNvGrpSpPr>
              <a:grpSpLocks/>
            </p:cNvGrpSpPr>
            <p:nvPr/>
          </p:nvGrpSpPr>
          <p:grpSpPr bwMode="auto">
            <a:xfrm>
              <a:off x="2336" y="890"/>
              <a:ext cx="272" cy="136"/>
              <a:chOff x="431" y="1616"/>
              <a:chExt cx="408" cy="136"/>
            </a:xfrm>
          </p:grpSpPr>
          <p:sp>
            <p:nvSpPr>
              <p:cNvPr id="13360" name="Line 59"/>
              <p:cNvSpPr>
                <a:spLocks noChangeShapeType="1"/>
              </p:cNvSpPr>
              <p:nvPr/>
            </p:nvSpPr>
            <p:spPr bwMode="auto">
              <a:xfrm>
                <a:off x="431" y="1684"/>
                <a:ext cx="408"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61" name="AutoShape 60"/>
              <p:cNvSpPr>
                <a:spLocks noChangeArrowheads="1"/>
              </p:cNvSpPr>
              <p:nvPr/>
            </p:nvSpPr>
            <p:spPr bwMode="auto">
              <a:xfrm rot="-5400000">
                <a:off x="703" y="1616"/>
                <a:ext cx="136" cy="136"/>
              </a:xfrm>
              <a:prstGeom prst="triangle">
                <a:avLst>
                  <a:gd name="adj" fmla="val 50000"/>
                </a:avLst>
              </a:prstGeom>
              <a:solidFill>
                <a:srgbClr val="FF3300"/>
              </a:solidFill>
              <a:ln w="9525">
                <a:solidFill>
                  <a:srgbClr val="FF3300"/>
                </a:solidFill>
                <a:miter lim="800000"/>
                <a:headEnd/>
                <a:tailEnd/>
              </a:ln>
            </p:spPr>
            <p:txBody>
              <a:bodyPr wrap="none" anchor="ctr"/>
              <a:lstStyle/>
              <a:p>
                <a:endParaRPr lang="it-IT"/>
              </a:p>
            </p:txBody>
          </p:sp>
        </p:grpSp>
        <p:sp>
          <p:nvSpPr>
            <p:cNvPr id="13359" name="Line 61"/>
            <p:cNvSpPr>
              <a:spLocks noChangeShapeType="1"/>
            </p:cNvSpPr>
            <p:nvPr/>
          </p:nvSpPr>
          <p:spPr bwMode="auto">
            <a:xfrm flipH="1" flipV="1">
              <a:off x="2245" y="799"/>
              <a:ext cx="96" cy="1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grpSp>
      <p:grpSp>
        <p:nvGrpSpPr>
          <p:cNvPr id="16" name="Group 62"/>
          <p:cNvGrpSpPr>
            <a:grpSpLocks/>
          </p:cNvGrpSpPr>
          <p:nvPr/>
        </p:nvGrpSpPr>
        <p:grpSpPr bwMode="auto">
          <a:xfrm>
            <a:off x="5502275" y="1724025"/>
            <a:ext cx="530225" cy="331788"/>
            <a:chOff x="2608" y="799"/>
            <a:chExt cx="363" cy="227"/>
          </a:xfrm>
        </p:grpSpPr>
        <p:grpSp>
          <p:nvGrpSpPr>
            <p:cNvPr id="17" name="Group 63"/>
            <p:cNvGrpSpPr>
              <a:grpSpLocks/>
            </p:cNvGrpSpPr>
            <p:nvPr/>
          </p:nvGrpSpPr>
          <p:grpSpPr bwMode="auto">
            <a:xfrm>
              <a:off x="2699" y="890"/>
              <a:ext cx="272" cy="136"/>
              <a:chOff x="431" y="1616"/>
              <a:chExt cx="408" cy="136"/>
            </a:xfrm>
          </p:grpSpPr>
          <p:sp>
            <p:nvSpPr>
              <p:cNvPr id="13356" name="Line 64"/>
              <p:cNvSpPr>
                <a:spLocks noChangeShapeType="1"/>
              </p:cNvSpPr>
              <p:nvPr/>
            </p:nvSpPr>
            <p:spPr bwMode="auto">
              <a:xfrm>
                <a:off x="431" y="1684"/>
                <a:ext cx="408"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57" name="AutoShape 65"/>
              <p:cNvSpPr>
                <a:spLocks noChangeArrowheads="1"/>
              </p:cNvSpPr>
              <p:nvPr/>
            </p:nvSpPr>
            <p:spPr bwMode="auto">
              <a:xfrm rot="-5400000">
                <a:off x="703" y="1616"/>
                <a:ext cx="136" cy="136"/>
              </a:xfrm>
              <a:prstGeom prst="triangle">
                <a:avLst>
                  <a:gd name="adj" fmla="val 50000"/>
                </a:avLst>
              </a:prstGeom>
              <a:solidFill>
                <a:srgbClr val="FF3300"/>
              </a:solidFill>
              <a:ln w="9525">
                <a:solidFill>
                  <a:srgbClr val="FF3300"/>
                </a:solidFill>
                <a:miter lim="800000"/>
                <a:headEnd/>
                <a:tailEnd/>
              </a:ln>
            </p:spPr>
            <p:txBody>
              <a:bodyPr wrap="none" anchor="ctr"/>
              <a:lstStyle/>
              <a:p>
                <a:endParaRPr lang="it-IT"/>
              </a:p>
            </p:txBody>
          </p:sp>
        </p:grpSp>
        <p:sp>
          <p:nvSpPr>
            <p:cNvPr id="13355" name="Line 66"/>
            <p:cNvSpPr>
              <a:spLocks noChangeShapeType="1"/>
            </p:cNvSpPr>
            <p:nvPr/>
          </p:nvSpPr>
          <p:spPr bwMode="auto">
            <a:xfrm flipH="1" flipV="1">
              <a:off x="2608" y="799"/>
              <a:ext cx="96" cy="1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grpSp>
      <p:grpSp>
        <p:nvGrpSpPr>
          <p:cNvPr id="18" name="Group 67"/>
          <p:cNvGrpSpPr>
            <a:grpSpLocks/>
          </p:cNvGrpSpPr>
          <p:nvPr/>
        </p:nvGrpSpPr>
        <p:grpSpPr bwMode="auto">
          <a:xfrm>
            <a:off x="6188075" y="1724025"/>
            <a:ext cx="528638" cy="331788"/>
            <a:chOff x="2971" y="799"/>
            <a:chExt cx="363" cy="227"/>
          </a:xfrm>
        </p:grpSpPr>
        <p:grpSp>
          <p:nvGrpSpPr>
            <p:cNvPr id="19" name="Group 68"/>
            <p:cNvGrpSpPr>
              <a:grpSpLocks/>
            </p:cNvGrpSpPr>
            <p:nvPr/>
          </p:nvGrpSpPr>
          <p:grpSpPr bwMode="auto">
            <a:xfrm>
              <a:off x="3062" y="890"/>
              <a:ext cx="272" cy="136"/>
              <a:chOff x="431" y="1616"/>
              <a:chExt cx="408" cy="136"/>
            </a:xfrm>
          </p:grpSpPr>
          <p:sp>
            <p:nvSpPr>
              <p:cNvPr id="13352" name="Line 69"/>
              <p:cNvSpPr>
                <a:spLocks noChangeShapeType="1"/>
              </p:cNvSpPr>
              <p:nvPr/>
            </p:nvSpPr>
            <p:spPr bwMode="auto">
              <a:xfrm>
                <a:off x="431" y="1684"/>
                <a:ext cx="408"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53" name="AutoShape 70"/>
              <p:cNvSpPr>
                <a:spLocks noChangeArrowheads="1"/>
              </p:cNvSpPr>
              <p:nvPr/>
            </p:nvSpPr>
            <p:spPr bwMode="auto">
              <a:xfrm rot="-5400000">
                <a:off x="703" y="1616"/>
                <a:ext cx="136" cy="136"/>
              </a:xfrm>
              <a:prstGeom prst="triangle">
                <a:avLst>
                  <a:gd name="adj" fmla="val 50000"/>
                </a:avLst>
              </a:prstGeom>
              <a:solidFill>
                <a:srgbClr val="FF3300"/>
              </a:solidFill>
              <a:ln w="9525">
                <a:solidFill>
                  <a:srgbClr val="FF3300"/>
                </a:solidFill>
                <a:miter lim="800000"/>
                <a:headEnd/>
                <a:tailEnd/>
              </a:ln>
            </p:spPr>
            <p:txBody>
              <a:bodyPr wrap="none" anchor="ctr"/>
              <a:lstStyle/>
              <a:p>
                <a:endParaRPr lang="it-IT"/>
              </a:p>
            </p:txBody>
          </p:sp>
        </p:grpSp>
        <p:sp>
          <p:nvSpPr>
            <p:cNvPr id="13351" name="Line 71"/>
            <p:cNvSpPr>
              <a:spLocks noChangeShapeType="1"/>
            </p:cNvSpPr>
            <p:nvPr/>
          </p:nvSpPr>
          <p:spPr bwMode="auto">
            <a:xfrm flipH="1" flipV="1">
              <a:off x="2971" y="799"/>
              <a:ext cx="96" cy="1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grpSp>
      <p:sp>
        <p:nvSpPr>
          <p:cNvPr id="13349" name="Line 72"/>
          <p:cNvSpPr>
            <a:spLocks noChangeShapeType="1"/>
          </p:cNvSpPr>
          <p:nvPr/>
        </p:nvSpPr>
        <p:spPr bwMode="auto">
          <a:xfrm>
            <a:off x="3563938" y="1724025"/>
            <a:ext cx="263683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Tree>
    <p:extLst>
      <p:ext uri="{BB962C8B-B14F-4D97-AF65-F5344CB8AC3E}">
        <p14:creationId xmlns:p14="http://schemas.microsoft.com/office/powerpoint/2010/main" val="40713043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egnaposto numero diapositiva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E7C4865-09C4-4000-BE94-FADE48A8953F}" type="slidenum">
              <a:rPr lang="en-US" sz="1400" smtClean="0"/>
              <a:pPr eaLnBrk="1" hangingPunct="1"/>
              <a:t>79</a:t>
            </a:fld>
            <a:endParaRPr lang="en-US" sz="1400"/>
          </a:p>
        </p:txBody>
      </p:sp>
      <p:sp>
        <p:nvSpPr>
          <p:cNvPr id="14339" name="Text Box 2"/>
          <p:cNvSpPr txBox="1">
            <a:spLocks noChangeArrowheads="1"/>
          </p:cNvSpPr>
          <p:nvPr/>
        </p:nvSpPr>
        <p:spPr bwMode="auto">
          <a:xfrm>
            <a:off x="144463" y="1268413"/>
            <a:ext cx="882015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cy-GB">
                <a:latin typeface="Arial" charset="0"/>
              </a:rPr>
              <a:t>LFPs recorded with a medium-impedance electrode placed near layer 5 of cortex reflect a weighted average of dendro-somatic components of synaptic signals and correlate  typical pattern of subthreshold oscillations of pyramidal neurons</a:t>
            </a:r>
          </a:p>
          <a:p>
            <a:pPr eaLnBrk="1" hangingPunct="1"/>
            <a:r>
              <a:rPr lang="cy-GB">
                <a:latin typeface="Arial" charset="0"/>
              </a:rPr>
              <a:t>They pick signals originating from neurons up to ~0.5 to 2 mm away</a:t>
            </a:r>
            <a:endParaRPr lang="en-US">
              <a:latin typeface="Arial" charset="0"/>
            </a:endParaRPr>
          </a:p>
        </p:txBody>
      </p:sp>
      <p:pic>
        <p:nvPicPr>
          <p:cNvPr id="14340" name="Picture 3" descr="lavoro stefano0001"/>
          <p:cNvPicPr>
            <a:picLocks noChangeAspect="1" noChangeArrowheads="1"/>
          </p:cNvPicPr>
          <p:nvPr/>
        </p:nvPicPr>
        <p:blipFill>
          <a:blip r:embed="rId3">
            <a:extLst>
              <a:ext uri="{28A0092B-C50C-407E-A947-70E740481C1C}">
                <a14:useLocalDpi xmlns:a14="http://schemas.microsoft.com/office/drawing/2010/main" val="0"/>
              </a:ext>
            </a:extLst>
          </a:blip>
          <a:srcRect l="19464" t="19383" r="33040" b="66698"/>
          <a:stretch>
            <a:fillRect/>
          </a:stretch>
        </p:blipFill>
        <p:spPr bwMode="auto">
          <a:xfrm>
            <a:off x="1185863" y="3727450"/>
            <a:ext cx="662622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Text Box 4"/>
          <p:cNvSpPr txBox="1">
            <a:spLocks noChangeArrowheads="1"/>
          </p:cNvSpPr>
          <p:nvPr/>
        </p:nvSpPr>
        <p:spPr bwMode="auto">
          <a:xfrm>
            <a:off x="395288" y="260350"/>
            <a:ext cx="8734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cy-GB" sz="2800" b="1">
                <a:latin typeface="Arial" charset="0"/>
              </a:rPr>
              <a:t>LFPs reflect synaptic inputs to pyramidal neurons</a:t>
            </a:r>
            <a:endParaRPr lang="en-US" sz="2800" b="1">
              <a:latin typeface="Arial" charset="0"/>
            </a:endParaRPr>
          </a:p>
        </p:txBody>
      </p:sp>
    </p:spTree>
    <p:extLst>
      <p:ext uri="{BB962C8B-B14F-4D97-AF65-F5344CB8AC3E}">
        <p14:creationId xmlns:p14="http://schemas.microsoft.com/office/powerpoint/2010/main" val="13733480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p:cNvSpPr txBox="1">
            <a:spLocks noChangeArrowheads="1"/>
          </p:cNvSpPr>
          <p:nvPr/>
        </p:nvSpPr>
        <p:spPr bwMode="auto">
          <a:xfrm>
            <a:off x="457200" y="211138"/>
            <a:ext cx="8334375" cy="581025"/>
          </a:xfrm>
          <a:prstGeom prst="rect">
            <a:avLst/>
          </a:prstGeom>
          <a:noFill/>
          <a:ln w="9525">
            <a:noFill/>
            <a:round/>
            <a:headEnd/>
            <a:tailEnd/>
          </a:ln>
        </p:spPr>
        <p:txBody>
          <a:bodyPr lIns="0" tIns="32040" rIns="0" bIns="0" anchor="ctr"/>
          <a:lstStyle/>
          <a:p>
            <a:pPr algn="ctr">
              <a:lnSpc>
                <a:spcPct val="100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600">
                <a:solidFill>
                  <a:srgbClr val="000000"/>
                </a:solidFill>
              </a:rPr>
              <a:t>LFP origins</a:t>
            </a:r>
          </a:p>
        </p:txBody>
      </p:sp>
      <p:pic>
        <p:nvPicPr>
          <p:cNvPr id="5123" name="Picture 8"/>
          <p:cNvPicPr>
            <a:picLocks noChangeAspect="1" noChangeArrowheads="1"/>
          </p:cNvPicPr>
          <p:nvPr/>
        </p:nvPicPr>
        <p:blipFill>
          <a:blip r:embed="rId3"/>
          <a:srcRect/>
          <a:stretch>
            <a:fillRect/>
          </a:stretch>
        </p:blipFill>
        <p:spPr bwMode="auto">
          <a:xfrm>
            <a:off x="52388" y="3071813"/>
            <a:ext cx="6591300" cy="3194050"/>
          </a:xfrm>
          <a:prstGeom prst="rect">
            <a:avLst/>
          </a:prstGeom>
          <a:noFill/>
          <a:ln w="9525">
            <a:noFill/>
            <a:miter lim="800000"/>
            <a:headEnd/>
            <a:tailEnd/>
          </a:ln>
        </p:spPr>
      </p:pic>
      <p:pic>
        <p:nvPicPr>
          <p:cNvPr id="5124" name="Picture 2"/>
          <p:cNvPicPr>
            <a:picLocks noChangeAspect="1" noChangeArrowheads="1"/>
          </p:cNvPicPr>
          <p:nvPr/>
        </p:nvPicPr>
        <p:blipFill>
          <a:blip r:embed="rId4"/>
          <a:srcRect/>
          <a:stretch>
            <a:fillRect/>
          </a:stretch>
        </p:blipFill>
        <p:spPr bwMode="auto">
          <a:xfrm>
            <a:off x="0" y="1409700"/>
            <a:ext cx="6715125" cy="1233488"/>
          </a:xfrm>
          <a:prstGeom prst="rect">
            <a:avLst/>
          </a:prstGeom>
          <a:noFill/>
          <a:ln w="9525">
            <a:noFill/>
            <a:miter lim="800000"/>
            <a:headEnd/>
            <a:tailEnd/>
          </a:ln>
        </p:spPr>
      </p:pic>
      <p:sp>
        <p:nvSpPr>
          <p:cNvPr id="5125" name="CasellaDiTesto 9"/>
          <p:cNvSpPr txBox="1">
            <a:spLocks noChangeArrowheads="1"/>
          </p:cNvSpPr>
          <p:nvPr/>
        </p:nvSpPr>
        <p:spPr bwMode="auto">
          <a:xfrm>
            <a:off x="6715125" y="1285875"/>
            <a:ext cx="2428875" cy="5073650"/>
          </a:xfrm>
          <a:prstGeom prst="rect">
            <a:avLst/>
          </a:prstGeom>
          <a:noFill/>
          <a:ln w="9525">
            <a:noFill/>
            <a:miter lim="800000"/>
            <a:headEnd/>
            <a:tailEnd/>
          </a:ln>
        </p:spPr>
        <p:txBody>
          <a:bodyPr>
            <a:spAutoFit/>
          </a:bodyPr>
          <a:lstStyle/>
          <a:p>
            <a:r>
              <a:rPr lang="it-IT" sz="2800">
                <a:solidFill>
                  <a:schemeClr val="tx1"/>
                </a:solidFill>
              </a:rPr>
              <a:t>“Study carefully the second order dynamics of the phenomenon, understand it then forget about it”</a:t>
            </a:r>
          </a:p>
          <a:p>
            <a:endParaRPr lang="it-IT" sz="2400" i="1">
              <a:solidFill>
                <a:schemeClr val="tx1"/>
              </a:solidFill>
            </a:endParaRPr>
          </a:p>
          <a:p>
            <a:r>
              <a:rPr lang="it-IT" sz="2400" i="1">
                <a:solidFill>
                  <a:schemeClr val="tx1"/>
                </a:solidFill>
              </a:rPr>
              <a:t>Simon Laughlin, personal communication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egnaposto numero diapositiva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581E3A1-6C74-4D78-A0A2-A4587D21542F}" type="slidenum">
              <a:rPr lang="en-US" sz="1400" smtClean="0"/>
              <a:pPr eaLnBrk="1" hangingPunct="1"/>
              <a:t>81</a:t>
            </a:fld>
            <a:endParaRPr lang="en-US" sz="1400"/>
          </a:p>
        </p:txBody>
      </p:sp>
      <p:sp>
        <p:nvSpPr>
          <p:cNvPr id="16387" name="Text Box 2"/>
          <p:cNvSpPr txBox="1">
            <a:spLocks noChangeArrowheads="1"/>
          </p:cNvSpPr>
          <p:nvPr/>
        </p:nvSpPr>
        <p:spPr bwMode="auto">
          <a:xfrm>
            <a:off x="390525" y="395288"/>
            <a:ext cx="340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b="1">
                <a:latin typeface="Arial" charset="0"/>
              </a:rPr>
              <a:t>EEG Wave Generation</a:t>
            </a:r>
            <a:endParaRPr lang="en-US" b="1">
              <a:latin typeface="Arial" charset="0"/>
            </a:endParaRPr>
          </a:p>
        </p:txBody>
      </p:sp>
      <p:pic>
        <p:nvPicPr>
          <p:cNvPr id="16388" name="Picture 3" descr="Fig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013" y="836613"/>
            <a:ext cx="5761037"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 Box 4"/>
          <p:cNvSpPr txBox="1">
            <a:spLocks noChangeArrowheads="1"/>
          </p:cNvSpPr>
          <p:nvPr/>
        </p:nvSpPr>
        <p:spPr bwMode="auto">
          <a:xfrm>
            <a:off x="179388" y="1125538"/>
            <a:ext cx="302418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2000">
                <a:latin typeface="Arial" charset="0"/>
              </a:rPr>
              <a:t>Excitatory input (E1 E2) from two afferents contacts distal dendrites of two P cells </a:t>
            </a:r>
          </a:p>
        </p:txBody>
      </p:sp>
      <p:sp>
        <p:nvSpPr>
          <p:cNvPr id="16390" name="Text Box 5"/>
          <p:cNvSpPr txBox="1">
            <a:spLocks noChangeArrowheads="1"/>
          </p:cNvSpPr>
          <p:nvPr/>
        </p:nvSpPr>
        <p:spPr bwMode="auto">
          <a:xfrm>
            <a:off x="179388" y="2744788"/>
            <a:ext cx="302418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2000">
                <a:latin typeface="Arial" charset="0"/>
              </a:rPr>
              <a:t>Synaptic responses measured intracellularly from P cells’ dendrites by E3 and E4 </a:t>
            </a:r>
          </a:p>
        </p:txBody>
      </p:sp>
      <p:sp>
        <p:nvSpPr>
          <p:cNvPr id="16391" name="Text Box 6"/>
          <p:cNvSpPr txBox="1">
            <a:spLocks noChangeArrowheads="1"/>
          </p:cNvSpPr>
          <p:nvPr/>
        </p:nvSpPr>
        <p:spPr bwMode="auto">
          <a:xfrm>
            <a:off x="179388" y="4365625"/>
            <a:ext cx="30241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2000">
                <a:latin typeface="Arial" charset="0"/>
              </a:rPr>
              <a:t>Surface EEG measured by E5 as both EEG and DC-EEG traces </a:t>
            </a:r>
          </a:p>
        </p:txBody>
      </p:sp>
      <p:sp>
        <p:nvSpPr>
          <p:cNvPr id="16392" name="Text Box 7"/>
          <p:cNvSpPr txBox="1">
            <a:spLocks noChangeArrowheads="1"/>
          </p:cNvSpPr>
          <p:nvPr/>
        </p:nvSpPr>
        <p:spPr bwMode="auto">
          <a:xfrm>
            <a:off x="347663" y="5435600"/>
            <a:ext cx="84248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b="1">
                <a:latin typeface="Arial" charset="0"/>
              </a:rPr>
              <a:t>Synchronized groups of APs in afferent fibres generate wave-like dendritic EPSPs and corresponding wave-like EEG (and DC-EEG)</a:t>
            </a:r>
          </a:p>
        </p:txBody>
      </p:sp>
    </p:spTree>
    <p:extLst>
      <p:ext uri="{BB962C8B-B14F-4D97-AF65-F5344CB8AC3E}">
        <p14:creationId xmlns:p14="http://schemas.microsoft.com/office/powerpoint/2010/main" val="22092260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2"/>
          <p:cNvSpPr txBox="1">
            <a:spLocks noChangeArrowheads="1"/>
          </p:cNvSpPr>
          <p:nvPr/>
        </p:nvSpPr>
        <p:spPr bwMode="auto">
          <a:xfrm>
            <a:off x="214313" y="5786438"/>
            <a:ext cx="84296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r>
              <a:rPr lang="en-US">
                <a:latin typeface="Arial" charset="0"/>
                <a:cs typeface="Arial" charset="0"/>
              </a:rPr>
              <a:t>LFPs and EEGs share similar generation mechanism and similar dynamics</a:t>
            </a:r>
          </a:p>
        </p:txBody>
      </p:sp>
      <p:pic>
        <p:nvPicPr>
          <p:cNvPr id="1741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763" y="495300"/>
            <a:ext cx="6551612"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7361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egnaposto numero diapositiva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D579B3F-A3BF-4478-823C-7874446544C1}" type="slidenum">
              <a:rPr lang="en-US" sz="1400" smtClean="0"/>
              <a:pPr eaLnBrk="1" hangingPunct="1"/>
              <a:t>83</a:t>
            </a:fld>
            <a:endParaRPr lang="en-US" sz="1400"/>
          </a:p>
        </p:txBody>
      </p:sp>
      <p:pic>
        <p:nvPicPr>
          <p:cNvPr id="1945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404813"/>
            <a:ext cx="6270625" cy="445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ext Box 3"/>
          <p:cNvSpPr txBox="1">
            <a:spLocks noChangeArrowheads="1"/>
          </p:cNvSpPr>
          <p:nvPr/>
        </p:nvSpPr>
        <p:spPr bwMode="auto">
          <a:xfrm>
            <a:off x="447675" y="5299075"/>
            <a:ext cx="84455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sz="2200">
                <a:latin typeface="Arial" charset="0"/>
              </a:rPr>
              <a:t>Fluctuations at lower frequencies have higher power and are coherent over a larger distance on the skull</a:t>
            </a:r>
            <a:endParaRPr lang="en-US" sz="2200">
              <a:latin typeface="Arial" charset="0"/>
            </a:endParaRPr>
          </a:p>
        </p:txBody>
      </p:sp>
    </p:spTree>
    <p:extLst>
      <p:ext uri="{BB962C8B-B14F-4D97-AF65-F5344CB8AC3E}">
        <p14:creationId xmlns:p14="http://schemas.microsoft.com/office/powerpoint/2010/main" val="1094567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egnaposto numero diapositiva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7204F91-73AF-4E41-BD52-A6A20D063BC1}" type="slidenum">
              <a:rPr lang="en-US" sz="1400" smtClean="0"/>
              <a:pPr eaLnBrk="1" hangingPunct="1"/>
              <a:t>84</a:t>
            </a:fld>
            <a:endParaRPr lang="en-US" sz="1400"/>
          </a:p>
        </p:txBody>
      </p:sp>
      <p:sp>
        <p:nvSpPr>
          <p:cNvPr id="20483" name="Text Box 2"/>
          <p:cNvSpPr txBox="1">
            <a:spLocks noChangeArrowheads="1"/>
          </p:cNvSpPr>
          <p:nvPr/>
        </p:nvSpPr>
        <p:spPr bwMode="auto">
          <a:xfrm>
            <a:off x="611188" y="549275"/>
            <a:ext cx="8085137" cy="256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cy-GB" sz="1800" b="1">
                <a:latin typeface="Arial" charset="0"/>
              </a:rPr>
              <a:t>EEGs and LFPs are traditionally divided into frequency bands</a:t>
            </a:r>
          </a:p>
          <a:p>
            <a:pPr eaLnBrk="1" hangingPunct="1"/>
            <a:endParaRPr lang="cy-GB" sz="1800" b="1">
              <a:latin typeface="Arial" charset="0"/>
            </a:endParaRPr>
          </a:p>
          <a:p>
            <a:pPr eaLnBrk="1" hangingPunct="1"/>
            <a:r>
              <a:rPr lang="en-US" sz="1800">
                <a:latin typeface="Arial" charset="0"/>
              </a:rPr>
              <a:t>Different bands  relate to different behavioral or pathological states</a:t>
            </a:r>
          </a:p>
          <a:p>
            <a:pPr eaLnBrk="1" hangingPunct="1"/>
            <a:r>
              <a:rPr lang="en-US" sz="1800">
                <a:latin typeface="Arial" charset="0"/>
              </a:rPr>
              <a:t>(sleep vs wake, pathology vs normal function,...). </a:t>
            </a:r>
            <a:r>
              <a:rPr lang="cy-GB" sz="1800">
                <a:latin typeface="Arial" charset="0"/>
              </a:rPr>
              <a:t>These bands are believed to reflect different neural phenomena.</a:t>
            </a:r>
          </a:p>
          <a:p>
            <a:pPr eaLnBrk="1" hangingPunct="1"/>
            <a:endParaRPr lang="cy-GB" sz="1800">
              <a:latin typeface="Arial" charset="0"/>
            </a:endParaRPr>
          </a:p>
          <a:p>
            <a:pPr eaLnBrk="1" hangingPunct="1"/>
            <a:r>
              <a:rPr lang="cy-GB" sz="1800">
                <a:latin typeface="Arial" charset="0"/>
              </a:rPr>
              <a:t>However, there is no evidence on the differences and interplay of different oscillations in responding to dynamic changes of the external stimulus</a:t>
            </a:r>
          </a:p>
          <a:p>
            <a:pPr eaLnBrk="1" hangingPunct="1"/>
            <a:r>
              <a:rPr lang="cy-GB" sz="1800">
                <a:latin typeface="Arial" charset="0"/>
              </a:rPr>
              <a:t>As a consequence, there is no rigorous determination of the band boundaries.</a:t>
            </a:r>
            <a:endParaRPr lang="en-US" sz="1800">
              <a:latin typeface="Arial" charset="0"/>
            </a:endParaRPr>
          </a:p>
        </p:txBody>
      </p:sp>
      <p:sp>
        <p:nvSpPr>
          <p:cNvPr id="20484" name="Text Box 3"/>
          <p:cNvSpPr txBox="1">
            <a:spLocks noChangeArrowheads="1"/>
          </p:cNvSpPr>
          <p:nvPr/>
        </p:nvSpPr>
        <p:spPr bwMode="auto">
          <a:xfrm>
            <a:off x="1258888" y="3789363"/>
            <a:ext cx="2660650" cy="256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cy-GB" sz="1800">
                <a:latin typeface="Arial" charset="0"/>
              </a:rPr>
              <a:t>Up to 4 Hz: </a:t>
            </a:r>
            <a:r>
              <a:rPr lang="el-GR" sz="1800">
                <a:latin typeface="Arial" charset="0"/>
                <a:cs typeface="Arial" charset="0"/>
              </a:rPr>
              <a:t>δ</a:t>
            </a:r>
            <a:r>
              <a:rPr lang="cy-GB" sz="1800">
                <a:latin typeface="Arial" charset="0"/>
                <a:cs typeface="Arial" charset="0"/>
              </a:rPr>
              <a:t> waves</a:t>
            </a:r>
          </a:p>
          <a:p>
            <a:pPr eaLnBrk="1" hangingPunct="1"/>
            <a:endParaRPr lang="cy-GB" sz="1800">
              <a:latin typeface="Arial" charset="0"/>
              <a:cs typeface="Arial" charset="0"/>
            </a:endParaRPr>
          </a:p>
          <a:p>
            <a:pPr eaLnBrk="1" hangingPunct="1"/>
            <a:r>
              <a:rPr lang="cy-GB" sz="1800">
                <a:latin typeface="Arial" charset="0"/>
                <a:cs typeface="Arial" charset="0"/>
              </a:rPr>
              <a:t>4-8 Hz : </a:t>
            </a:r>
            <a:r>
              <a:rPr lang="el-GR" sz="1800">
                <a:latin typeface="Arial" charset="0"/>
                <a:cs typeface="Arial" charset="0"/>
              </a:rPr>
              <a:t>θ</a:t>
            </a:r>
            <a:r>
              <a:rPr lang="cy-GB" sz="1800">
                <a:latin typeface="Arial" charset="0"/>
                <a:cs typeface="Arial" charset="0"/>
              </a:rPr>
              <a:t> waves</a:t>
            </a:r>
          </a:p>
          <a:p>
            <a:pPr eaLnBrk="1" hangingPunct="1"/>
            <a:endParaRPr lang="cy-GB" sz="1800">
              <a:latin typeface="Arial" charset="0"/>
            </a:endParaRPr>
          </a:p>
          <a:p>
            <a:pPr eaLnBrk="1" hangingPunct="1"/>
            <a:r>
              <a:rPr lang="cy-GB" sz="1800">
                <a:latin typeface="Arial" charset="0"/>
              </a:rPr>
              <a:t>8-12 Hz: </a:t>
            </a:r>
            <a:r>
              <a:rPr lang="el-GR" sz="1800">
                <a:latin typeface="Arial" charset="0"/>
                <a:cs typeface="Arial" charset="0"/>
              </a:rPr>
              <a:t>α</a:t>
            </a:r>
            <a:r>
              <a:rPr lang="cy-GB" sz="1800">
                <a:latin typeface="Arial" charset="0"/>
                <a:cs typeface="Arial" charset="0"/>
              </a:rPr>
              <a:t> waves</a:t>
            </a:r>
          </a:p>
          <a:p>
            <a:pPr eaLnBrk="1" hangingPunct="1"/>
            <a:endParaRPr lang="cy-GB" sz="1800">
              <a:latin typeface="Arial" charset="0"/>
              <a:cs typeface="Arial" charset="0"/>
            </a:endParaRPr>
          </a:p>
          <a:p>
            <a:pPr eaLnBrk="1" hangingPunct="1"/>
            <a:r>
              <a:rPr lang="cy-GB" sz="1800">
                <a:latin typeface="Arial" charset="0"/>
                <a:cs typeface="Arial" charset="0"/>
              </a:rPr>
              <a:t>12-24 Hz: </a:t>
            </a:r>
            <a:r>
              <a:rPr lang="el-GR" sz="1800">
                <a:latin typeface="Arial" charset="0"/>
                <a:cs typeface="Arial" charset="0"/>
              </a:rPr>
              <a:t>β</a:t>
            </a:r>
            <a:r>
              <a:rPr lang="cy-GB" sz="1800">
                <a:latin typeface="Arial" charset="0"/>
                <a:cs typeface="Arial" charset="0"/>
              </a:rPr>
              <a:t> waves</a:t>
            </a:r>
          </a:p>
          <a:p>
            <a:pPr eaLnBrk="1" hangingPunct="1"/>
            <a:endParaRPr lang="cy-GB" sz="1800">
              <a:latin typeface="Arial" charset="0"/>
              <a:cs typeface="Arial" charset="0"/>
            </a:endParaRPr>
          </a:p>
          <a:p>
            <a:pPr eaLnBrk="1" hangingPunct="1"/>
            <a:r>
              <a:rPr lang="cy-GB" sz="1800">
                <a:latin typeface="Arial" charset="0"/>
                <a:cs typeface="Arial" charset="0"/>
              </a:rPr>
              <a:t>24-90 Hz : </a:t>
            </a:r>
            <a:r>
              <a:rPr lang="el-GR" sz="1800">
                <a:latin typeface="Arial" charset="0"/>
                <a:cs typeface="Arial" charset="0"/>
              </a:rPr>
              <a:t>γ</a:t>
            </a:r>
            <a:r>
              <a:rPr lang="cy-GB" sz="1800">
                <a:latin typeface="Arial" charset="0"/>
                <a:cs typeface="Arial" charset="0"/>
              </a:rPr>
              <a:t> oscillations</a:t>
            </a:r>
            <a:r>
              <a:rPr lang="cy-GB" sz="1800">
                <a:latin typeface="Arial" charset="0"/>
              </a:rPr>
              <a:t> </a:t>
            </a:r>
            <a:endParaRPr lang="en-US" sz="1800">
              <a:latin typeface="Arial" charset="0"/>
            </a:endParaRPr>
          </a:p>
        </p:txBody>
      </p:sp>
      <p:pic>
        <p:nvPicPr>
          <p:cNvPr id="2048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644900"/>
            <a:ext cx="3914775"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Line 5"/>
          <p:cNvSpPr>
            <a:spLocks noChangeShapeType="1"/>
          </p:cNvSpPr>
          <p:nvPr/>
        </p:nvSpPr>
        <p:spPr bwMode="auto">
          <a:xfrm>
            <a:off x="3419475" y="4005263"/>
            <a:ext cx="1439863" cy="86360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487" name="Line 6"/>
          <p:cNvSpPr>
            <a:spLocks noChangeShapeType="1"/>
          </p:cNvSpPr>
          <p:nvPr/>
        </p:nvSpPr>
        <p:spPr bwMode="auto">
          <a:xfrm flipV="1">
            <a:off x="3276600" y="4292600"/>
            <a:ext cx="1727200" cy="12969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Tree>
    <p:extLst>
      <p:ext uri="{BB962C8B-B14F-4D97-AF65-F5344CB8AC3E}">
        <p14:creationId xmlns:p14="http://schemas.microsoft.com/office/powerpoint/2010/main" val="31494915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71438" y="20638"/>
            <a:ext cx="8929687" cy="836612"/>
          </a:xfrm>
        </p:spPr>
        <p:txBody>
          <a:bodyPr>
            <a:normAutofit/>
          </a:bodyPr>
          <a:lstStyle/>
          <a:p>
            <a:r>
              <a:rPr lang="en-US" sz="3200" dirty="0">
                <a:solidFill>
                  <a:srgbClr val="FF0000"/>
                </a:solidFill>
                <a:latin typeface="Arial" charset="0"/>
                <a:cs typeface="Arial" charset="0"/>
              </a:rPr>
              <a:t>Noise in the brain</a:t>
            </a:r>
          </a:p>
        </p:txBody>
      </p:sp>
      <p:pic>
        <p:nvPicPr>
          <p:cNvPr id="13314" name="Picture 2" descr="http://d1oi7t5trwfj5d.cloudfront.net/12/763da01d3411e2938622000a1d0930/file/5-things-about-reservoir-dogs-facts-trivia-20th-anniversary.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764704"/>
            <a:ext cx="7353300" cy="581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8174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71438" y="20638"/>
            <a:ext cx="8929687" cy="836612"/>
          </a:xfrm>
        </p:spPr>
        <p:txBody>
          <a:bodyPr>
            <a:normAutofit/>
          </a:bodyPr>
          <a:lstStyle/>
          <a:p>
            <a:r>
              <a:rPr lang="en-US" sz="3200" dirty="0">
                <a:solidFill>
                  <a:srgbClr val="FF0000"/>
                </a:solidFill>
                <a:latin typeface="Arial" charset="0"/>
                <a:cs typeface="Arial" charset="0"/>
              </a:rPr>
              <a:t>Noise in the brain</a:t>
            </a:r>
          </a:p>
        </p:txBody>
      </p:sp>
      <p:pic>
        <p:nvPicPr>
          <p:cNvPr id="14338" name="Picture 2" descr="http://www.buzsakilab.com/images/BookCov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980728"/>
            <a:ext cx="3816424" cy="5817720"/>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p:cNvSpPr txBox="1"/>
          <p:nvPr/>
        </p:nvSpPr>
        <p:spPr>
          <a:xfrm>
            <a:off x="467544" y="1124744"/>
            <a:ext cx="3528392" cy="1754326"/>
          </a:xfrm>
          <a:prstGeom prst="rect">
            <a:avLst/>
          </a:prstGeom>
          <a:noFill/>
        </p:spPr>
        <p:txBody>
          <a:bodyPr wrap="square" rtlCol="0">
            <a:spAutoFit/>
          </a:bodyPr>
          <a:lstStyle/>
          <a:p>
            <a:r>
              <a:rPr lang="it-IT" dirty="0" err="1"/>
              <a:t>Brown</a:t>
            </a:r>
            <a:r>
              <a:rPr lang="it-IT" dirty="0"/>
              <a:t> </a:t>
            </a:r>
            <a:r>
              <a:rPr lang="it-IT" dirty="0" err="1"/>
              <a:t>noise</a:t>
            </a:r>
            <a:r>
              <a:rPr lang="it-IT" dirty="0"/>
              <a:t> </a:t>
            </a:r>
            <a:r>
              <a:rPr lang="it-IT" dirty="0" err="1"/>
              <a:t>seems</a:t>
            </a:r>
            <a:r>
              <a:rPr lang="it-IT" dirty="0"/>
              <a:t> to be the right model, </a:t>
            </a:r>
            <a:r>
              <a:rPr lang="it-IT" dirty="0" err="1"/>
              <a:t>but</a:t>
            </a:r>
            <a:r>
              <a:rPr lang="it-IT" dirty="0"/>
              <a:t> </a:t>
            </a:r>
            <a:r>
              <a:rPr lang="it-IT" dirty="0" err="1"/>
              <a:t>what</a:t>
            </a:r>
            <a:r>
              <a:rPr lang="it-IT" dirty="0"/>
              <a:t> </a:t>
            </a:r>
            <a:r>
              <a:rPr lang="it-IT" dirty="0" err="1"/>
              <a:t>is</a:t>
            </a:r>
            <a:r>
              <a:rPr lang="it-IT" dirty="0"/>
              <a:t> </a:t>
            </a:r>
            <a:r>
              <a:rPr lang="it-IT" dirty="0" err="1"/>
              <a:t>its</a:t>
            </a:r>
            <a:r>
              <a:rPr lang="it-IT" dirty="0"/>
              <a:t> </a:t>
            </a:r>
            <a:r>
              <a:rPr lang="it-IT" dirty="0" err="1"/>
              <a:t>origin</a:t>
            </a:r>
            <a:r>
              <a:rPr lang="it-IT" dirty="0"/>
              <a:t>?</a:t>
            </a:r>
          </a:p>
          <a:p>
            <a:endParaRPr lang="it-IT" dirty="0"/>
          </a:p>
          <a:p>
            <a:r>
              <a:rPr lang="it-IT" dirty="0"/>
              <a:t>Media </a:t>
            </a:r>
            <a:r>
              <a:rPr lang="it-IT" dirty="0" err="1"/>
              <a:t>frequency-dependent</a:t>
            </a:r>
            <a:r>
              <a:rPr lang="it-IT" dirty="0"/>
              <a:t> </a:t>
            </a:r>
            <a:r>
              <a:rPr lang="it-IT" dirty="0" err="1"/>
              <a:t>resistivity</a:t>
            </a:r>
            <a:r>
              <a:rPr lang="it-IT" dirty="0"/>
              <a:t>, </a:t>
            </a:r>
            <a:r>
              <a:rPr lang="it-IT" dirty="0" err="1"/>
              <a:t>frequency</a:t>
            </a:r>
            <a:r>
              <a:rPr lang="it-IT" dirty="0"/>
              <a:t> </a:t>
            </a:r>
            <a:r>
              <a:rPr lang="it-IT" dirty="0" err="1"/>
              <a:t>dependent</a:t>
            </a:r>
            <a:r>
              <a:rPr lang="it-IT" dirty="0"/>
              <a:t> </a:t>
            </a:r>
            <a:r>
              <a:rPr lang="it-IT" dirty="0" err="1"/>
              <a:t>synchrony</a:t>
            </a:r>
            <a:r>
              <a:rPr lang="it-IT" dirty="0"/>
              <a:t>, single </a:t>
            </a:r>
            <a:r>
              <a:rPr lang="it-IT" dirty="0" err="1"/>
              <a:t>neuron</a:t>
            </a:r>
            <a:r>
              <a:rPr lang="it-IT" dirty="0"/>
              <a:t> </a:t>
            </a:r>
            <a:r>
              <a:rPr lang="it-IT" dirty="0" err="1"/>
              <a:t>dynamics</a:t>
            </a:r>
            <a:r>
              <a:rPr lang="it-IT" dirty="0"/>
              <a:t>?  </a:t>
            </a:r>
          </a:p>
        </p:txBody>
      </p:sp>
    </p:spTree>
    <p:extLst>
      <p:ext uri="{BB962C8B-B14F-4D97-AF65-F5344CB8AC3E}">
        <p14:creationId xmlns:p14="http://schemas.microsoft.com/office/powerpoint/2010/main" val="35413296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3111" b="10515"/>
          <a:stretch/>
        </p:blipFill>
        <p:spPr>
          <a:xfrm>
            <a:off x="604333" y="1280160"/>
            <a:ext cx="7935334" cy="5237683"/>
          </a:xfrm>
          <a:prstGeom prst="rect">
            <a:avLst/>
          </a:prstGeom>
        </p:spPr>
      </p:pic>
      <p:sp>
        <p:nvSpPr>
          <p:cNvPr id="3" name="Title 1"/>
          <p:cNvSpPr txBox="1">
            <a:spLocks/>
          </p:cNvSpPr>
          <p:nvPr/>
        </p:nvSpPr>
        <p:spPr>
          <a:xfrm>
            <a:off x="71438" y="20638"/>
            <a:ext cx="8929687" cy="11223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dirty="0">
                <a:solidFill>
                  <a:srgbClr val="FF0000"/>
                </a:solidFill>
                <a:latin typeface="Arial" charset="0"/>
                <a:cs typeface="Arial" charset="0"/>
              </a:rPr>
              <a:t>Two seconds Local Field Potentials from V1</a:t>
            </a:r>
          </a:p>
          <a:p>
            <a:r>
              <a:rPr lang="en-US" sz="3200" dirty="0">
                <a:solidFill>
                  <a:srgbClr val="FF0000"/>
                </a:solidFill>
                <a:latin typeface="Arial" charset="0"/>
                <a:cs typeface="Arial" charset="0"/>
              </a:rPr>
              <a:t>during movie presentations</a:t>
            </a:r>
          </a:p>
        </p:txBody>
      </p:sp>
    </p:spTree>
    <p:extLst>
      <p:ext uri="{BB962C8B-B14F-4D97-AF65-F5344CB8AC3E}">
        <p14:creationId xmlns:p14="http://schemas.microsoft.com/office/powerpoint/2010/main" val="38511021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3111" b="10515"/>
          <a:stretch/>
        </p:blipFill>
        <p:spPr>
          <a:xfrm>
            <a:off x="604333" y="1280160"/>
            <a:ext cx="7935334" cy="5237683"/>
          </a:xfrm>
          <a:prstGeom prst="rect">
            <a:avLst/>
          </a:prstGeom>
        </p:spPr>
      </p:pic>
      <p:sp>
        <p:nvSpPr>
          <p:cNvPr id="3" name="Title 1"/>
          <p:cNvSpPr txBox="1">
            <a:spLocks/>
          </p:cNvSpPr>
          <p:nvPr/>
        </p:nvSpPr>
        <p:spPr>
          <a:xfrm>
            <a:off x="71438" y="20638"/>
            <a:ext cx="8929687" cy="83661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dirty="0">
                <a:solidFill>
                  <a:srgbClr val="FF0000"/>
                </a:solidFill>
                <a:latin typeface="Arial" charset="0"/>
                <a:cs typeface="Arial" charset="0"/>
              </a:rPr>
              <a:t>Two seconds Local Field Potentials from V1</a:t>
            </a:r>
          </a:p>
          <a:p>
            <a:r>
              <a:rPr lang="en-US" sz="3200" dirty="0">
                <a:solidFill>
                  <a:srgbClr val="FF0000"/>
                </a:solidFill>
                <a:latin typeface="Arial" charset="0"/>
                <a:cs typeface="Arial" charset="0"/>
              </a:rPr>
              <a:t>during movie presentations</a:t>
            </a:r>
          </a:p>
        </p:txBody>
      </p:sp>
      <p:sp>
        <p:nvSpPr>
          <p:cNvPr id="8" name="Oval 7"/>
          <p:cNvSpPr/>
          <p:nvPr/>
        </p:nvSpPr>
        <p:spPr>
          <a:xfrm>
            <a:off x="2133600" y="1280158"/>
            <a:ext cx="647395" cy="52376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581400" y="1219200"/>
            <a:ext cx="838200" cy="52376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267200" y="1143000"/>
            <a:ext cx="2286000" cy="369332"/>
          </a:xfrm>
          <a:prstGeom prst="rect">
            <a:avLst/>
          </a:prstGeom>
          <a:noFill/>
        </p:spPr>
        <p:txBody>
          <a:bodyPr wrap="square" rtlCol="0">
            <a:spAutoFit/>
          </a:bodyPr>
          <a:lstStyle/>
          <a:p>
            <a:r>
              <a:rPr lang="en-US" dirty="0">
                <a:solidFill>
                  <a:srgbClr val="FF0000"/>
                </a:solidFill>
              </a:rPr>
              <a:t>High frequencies</a:t>
            </a:r>
          </a:p>
        </p:txBody>
      </p:sp>
    </p:spTree>
    <p:extLst>
      <p:ext uri="{BB962C8B-B14F-4D97-AF65-F5344CB8AC3E}">
        <p14:creationId xmlns:p14="http://schemas.microsoft.com/office/powerpoint/2010/main" val="14542454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3111" b="10515"/>
          <a:stretch/>
        </p:blipFill>
        <p:spPr>
          <a:xfrm>
            <a:off x="604333" y="1280160"/>
            <a:ext cx="7935334" cy="5237683"/>
          </a:xfrm>
          <a:prstGeom prst="rect">
            <a:avLst/>
          </a:prstGeom>
        </p:spPr>
      </p:pic>
      <p:sp>
        <p:nvSpPr>
          <p:cNvPr id="3" name="Title 1"/>
          <p:cNvSpPr txBox="1">
            <a:spLocks/>
          </p:cNvSpPr>
          <p:nvPr/>
        </p:nvSpPr>
        <p:spPr>
          <a:xfrm>
            <a:off x="71438" y="20638"/>
            <a:ext cx="8929687" cy="83661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dirty="0">
                <a:solidFill>
                  <a:srgbClr val="FF0000"/>
                </a:solidFill>
                <a:latin typeface="Arial" charset="0"/>
                <a:cs typeface="Arial" charset="0"/>
              </a:rPr>
              <a:t>Two seconds Local Field Potentials from V1</a:t>
            </a:r>
          </a:p>
          <a:p>
            <a:r>
              <a:rPr lang="en-US" sz="3200" dirty="0">
                <a:solidFill>
                  <a:srgbClr val="FF0000"/>
                </a:solidFill>
                <a:latin typeface="Arial" charset="0"/>
                <a:cs typeface="Arial" charset="0"/>
              </a:rPr>
              <a:t>during movie presentations</a:t>
            </a:r>
          </a:p>
        </p:txBody>
      </p:sp>
      <p:sp>
        <p:nvSpPr>
          <p:cNvPr id="10" name="Oval 9"/>
          <p:cNvSpPr/>
          <p:nvPr/>
        </p:nvSpPr>
        <p:spPr>
          <a:xfrm>
            <a:off x="2438400" y="1295400"/>
            <a:ext cx="609600" cy="5237683"/>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390900" y="1295399"/>
            <a:ext cx="609600" cy="5237683"/>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800600" y="1280157"/>
            <a:ext cx="609600" cy="5237683"/>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5410200" y="1117354"/>
            <a:ext cx="2286000" cy="369332"/>
          </a:xfrm>
          <a:prstGeom prst="rect">
            <a:avLst/>
          </a:prstGeom>
          <a:noFill/>
        </p:spPr>
        <p:txBody>
          <a:bodyPr wrap="square" rtlCol="0">
            <a:spAutoFit/>
          </a:bodyPr>
          <a:lstStyle/>
          <a:p>
            <a:r>
              <a:rPr lang="en-US" dirty="0">
                <a:solidFill>
                  <a:srgbClr val="92D050"/>
                </a:solidFill>
              </a:rPr>
              <a:t>Low frequencies</a:t>
            </a:r>
          </a:p>
        </p:txBody>
      </p:sp>
    </p:spTree>
    <p:extLst>
      <p:ext uri="{BB962C8B-B14F-4D97-AF65-F5344CB8AC3E}">
        <p14:creationId xmlns:p14="http://schemas.microsoft.com/office/powerpoint/2010/main" val="27708851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3111" b="10515"/>
          <a:stretch/>
        </p:blipFill>
        <p:spPr>
          <a:xfrm>
            <a:off x="604333" y="1280160"/>
            <a:ext cx="7935334" cy="5237683"/>
          </a:xfrm>
          <a:prstGeom prst="rect">
            <a:avLst/>
          </a:prstGeom>
        </p:spPr>
      </p:pic>
      <p:sp>
        <p:nvSpPr>
          <p:cNvPr id="3" name="Title 1"/>
          <p:cNvSpPr txBox="1">
            <a:spLocks/>
          </p:cNvSpPr>
          <p:nvPr/>
        </p:nvSpPr>
        <p:spPr>
          <a:xfrm>
            <a:off x="71438" y="20638"/>
            <a:ext cx="8929687" cy="83661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a:solidFill>
                  <a:srgbClr val="FF0000"/>
                </a:solidFill>
                <a:latin typeface="Arial" charset="0"/>
                <a:cs typeface="Arial" charset="0"/>
              </a:rPr>
              <a:t>Two seconds Local Field Potentials from V1</a:t>
            </a:r>
          </a:p>
          <a:p>
            <a:r>
              <a:rPr lang="en-US" sz="2800" dirty="0">
                <a:solidFill>
                  <a:srgbClr val="FF0000"/>
                </a:solidFill>
                <a:latin typeface="Arial" charset="0"/>
                <a:cs typeface="Arial" charset="0"/>
              </a:rPr>
              <a:t>During movie presentations</a:t>
            </a:r>
          </a:p>
        </p:txBody>
      </p:sp>
      <p:sp>
        <p:nvSpPr>
          <p:cNvPr id="4" name="Oval 3"/>
          <p:cNvSpPr/>
          <p:nvPr/>
        </p:nvSpPr>
        <p:spPr>
          <a:xfrm>
            <a:off x="1600200" y="1280160"/>
            <a:ext cx="457200" cy="52376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553200" y="1280159"/>
            <a:ext cx="457200" cy="52376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3429000" y="1143000"/>
            <a:ext cx="2286000" cy="369332"/>
          </a:xfrm>
          <a:prstGeom prst="rect">
            <a:avLst/>
          </a:prstGeom>
          <a:noFill/>
        </p:spPr>
        <p:txBody>
          <a:bodyPr wrap="square" rtlCol="0">
            <a:spAutoFit/>
          </a:bodyPr>
          <a:lstStyle/>
          <a:p>
            <a:r>
              <a:rPr lang="en-US" dirty="0">
                <a:solidFill>
                  <a:schemeClr val="tx2"/>
                </a:solidFill>
              </a:rPr>
              <a:t>Unreliable intervals</a:t>
            </a:r>
          </a:p>
        </p:txBody>
      </p:sp>
    </p:spTree>
    <p:extLst>
      <p:ext uri="{BB962C8B-B14F-4D97-AF65-F5344CB8AC3E}">
        <p14:creationId xmlns:p14="http://schemas.microsoft.com/office/powerpoint/2010/main" val="17755787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CasellaDiTesto 2"/>
          <p:cNvSpPr txBox="1">
            <a:spLocks noChangeArrowheads="1"/>
          </p:cNvSpPr>
          <p:nvPr/>
        </p:nvSpPr>
        <p:spPr bwMode="auto">
          <a:xfrm>
            <a:off x="2438400" y="260648"/>
            <a:ext cx="4838526" cy="557356"/>
          </a:xfrm>
          <a:prstGeom prst="rect">
            <a:avLst/>
          </a:prstGeom>
          <a:noFill/>
          <a:ln w="9525">
            <a:noFill/>
            <a:miter lim="800000"/>
            <a:headEnd/>
            <a:tailEnd/>
          </a:ln>
        </p:spPr>
        <p:txBody>
          <a:bodyPr wrap="square" lIns="64284" tIns="32143" rIns="64284" bIns="32143">
            <a:spAutoFit/>
          </a:bodyPr>
          <a:lstStyle/>
          <a:p>
            <a:r>
              <a:rPr lang="en-US" sz="3200" dirty="0">
                <a:solidFill>
                  <a:srgbClr val="FF0000"/>
                </a:solidFill>
                <a:latin typeface="Arial" pitchFamily="34" charset="0"/>
                <a:cs typeface="Arial" pitchFamily="34" charset="0"/>
              </a:rPr>
              <a:t>Shannon’s Information</a:t>
            </a:r>
          </a:p>
        </p:txBody>
      </p:sp>
      <p:sp>
        <p:nvSpPr>
          <p:cNvPr id="1033" name="CasellaDiTesto 2"/>
          <p:cNvSpPr txBox="1">
            <a:spLocks noChangeArrowheads="1"/>
          </p:cNvSpPr>
          <p:nvPr/>
        </p:nvSpPr>
        <p:spPr bwMode="auto">
          <a:xfrm>
            <a:off x="380296" y="4520132"/>
            <a:ext cx="8352928" cy="1508105"/>
          </a:xfrm>
          <a:prstGeom prst="rect">
            <a:avLst/>
          </a:prstGeom>
          <a:noFill/>
          <a:ln w="9525">
            <a:noFill/>
            <a:miter lim="800000"/>
            <a:headEnd/>
            <a:tailEnd/>
          </a:ln>
        </p:spPr>
        <p:txBody>
          <a:bodyPr wrap="square">
            <a:spAutoFit/>
          </a:bodyPr>
          <a:lstStyle/>
          <a:p>
            <a:r>
              <a:rPr lang="en-US" sz="2400" dirty="0"/>
              <a:t>S = set of different “scenes” of the movies (2 seconds intervals)</a:t>
            </a:r>
          </a:p>
          <a:p>
            <a:endParaRPr lang="en-US" sz="2400" dirty="0"/>
          </a:p>
          <a:p>
            <a:r>
              <a:rPr lang="en-US" sz="2400" dirty="0"/>
              <a:t>R = power of different frequency bands (discretized into N levels)</a:t>
            </a:r>
          </a:p>
          <a:p>
            <a:endParaRPr lang="en-US" sz="2000" dirty="0"/>
          </a:p>
        </p:txBody>
      </p:sp>
      <p:grpSp>
        <p:nvGrpSpPr>
          <p:cNvPr id="3" name="Group 6"/>
          <p:cNvGrpSpPr>
            <a:grpSpLocks/>
          </p:cNvGrpSpPr>
          <p:nvPr/>
        </p:nvGrpSpPr>
        <p:grpSpPr bwMode="auto">
          <a:xfrm>
            <a:off x="395536" y="1268760"/>
            <a:ext cx="8352928" cy="1232520"/>
            <a:chOff x="419" y="1608"/>
            <a:chExt cx="4893" cy="1176"/>
          </a:xfrm>
        </p:grpSpPr>
        <p:sp>
          <p:nvSpPr>
            <p:cNvPr id="11" name="Rectangle 7"/>
            <p:cNvSpPr>
              <a:spLocks noChangeArrowheads="1"/>
            </p:cNvSpPr>
            <p:nvPr/>
          </p:nvSpPr>
          <p:spPr bwMode="auto">
            <a:xfrm>
              <a:off x="1163" y="1616"/>
              <a:ext cx="3236" cy="1168"/>
            </a:xfrm>
            <a:prstGeom prst="rect">
              <a:avLst/>
            </a:prstGeom>
            <a:noFill/>
            <a:ln w="38100">
              <a:solidFill>
                <a:schemeClr val="tx1"/>
              </a:solidFill>
              <a:miter lim="800000"/>
              <a:headEnd/>
              <a:tailEnd/>
            </a:ln>
            <a:effectLst/>
          </p:spPr>
          <p:txBody>
            <a:bodyPr wrap="none" anchor="ctr"/>
            <a:lstStyle/>
            <a:p>
              <a:endParaRPr lang="it-IT"/>
            </a:p>
          </p:txBody>
        </p:sp>
        <p:grpSp>
          <p:nvGrpSpPr>
            <p:cNvPr id="4" name="Group 8"/>
            <p:cNvGrpSpPr>
              <a:grpSpLocks/>
            </p:cNvGrpSpPr>
            <p:nvPr/>
          </p:nvGrpSpPr>
          <p:grpSpPr bwMode="auto">
            <a:xfrm>
              <a:off x="419" y="1696"/>
              <a:ext cx="725" cy="558"/>
              <a:chOff x="131" y="1696"/>
              <a:chExt cx="725" cy="558"/>
            </a:xfrm>
          </p:grpSpPr>
          <p:sp>
            <p:nvSpPr>
              <p:cNvPr id="19" name="Line 9"/>
              <p:cNvSpPr>
                <a:spLocks noChangeShapeType="1"/>
              </p:cNvSpPr>
              <p:nvPr/>
            </p:nvSpPr>
            <p:spPr bwMode="auto">
              <a:xfrm>
                <a:off x="131" y="2160"/>
                <a:ext cx="725" cy="0"/>
              </a:xfrm>
              <a:prstGeom prst="line">
                <a:avLst/>
              </a:prstGeom>
              <a:noFill/>
              <a:ln w="50800">
                <a:solidFill>
                  <a:schemeClr val="tx1"/>
                </a:solidFill>
                <a:round/>
                <a:headEnd/>
                <a:tailEnd type="triangle" w="lg" len="med"/>
              </a:ln>
              <a:effectLst/>
            </p:spPr>
            <p:txBody>
              <a:bodyPr/>
              <a:lstStyle/>
              <a:p>
                <a:endParaRPr lang="it-IT"/>
              </a:p>
            </p:txBody>
          </p:sp>
          <p:sp>
            <p:nvSpPr>
              <p:cNvPr id="20" name="Text Box 10"/>
              <p:cNvSpPr txBox="1">
                <a:spLocks noChangeArrowheads="1"/>
              </p:cNvSpPr>
              <p:nvPr/>
            </p:nvSpPr>
            <p:spPr bwMode="auto">
              <a:xfrm>
                <a:off x="317" y="1696"/>
                <a:ext cx="402" cy="558"/>
              </a:xfrm>
              <a:prstGeom prst="rect">
                <a:avLst/>
              </a:prstGeom>
              <a:noFill/>
              <a:ln w="9525">
                <a:noFill/>
                <a:miter lim="800000"/>
                <a:headEnd/>
                <a:tailEnd/>
              </a:ln>
              <a:effectLst/>
            </p:spPr>
            <p:txBody>
              <a:bodyPr wrap="none">
                <a:spAutoFit/>
              </a:bodyPr>
              <a:lstStyle/>
              <a:p>
                <a:r>
                  <a:rPr lang="en-GB" sz="3200" b="1" dirty="0">
                    <a:latin typeface="Tahoma" pitchFamily="34" charset="0"/>
                  </a:rPr>
                  <a:t>s</a:t>
                </a:r>
                <a:endParaRPr lang="en-US" sz="3200" b="1" dirty="0">
                  <a:latin typeface="Tahoma" pitchFamily="34" charset="0"/>
                </a:endParaRPr>
              </a:p>
            </p:txBody>
          </p:sp>
        </p:grpSp>
        <p:grpSp>
          <p:nvGrpSpPr>
            <p:cNvPr id="5" name="Group 11"/>
            <p:cNvGrpSpPr>
              <a:grpSpLocks/>
            </p:cNvGrpSpPr>
            <p:nvPr/>
          </p:nvGrpSpPr>
          <p:grpSpPr bwMode="auto">
            <a:xfrm>
              <a:off x="4432" y="1608"/>
              <a:ext cx="880" cy="824"/>
              <a:chOff x="3584" y="1608"/>
              <a:chExt cx="880" cy="824"/>
            </a:xfrm>
          </p:grpSpPr>
          <p:sp>
            <p:nvSpPr>
              <p:cNvPr id="14" name="Line 12"/>
              <p:cNvSpPr>
                <a:spLocks noChangeShapeType="1"/>
              </p:cNvSpPr>
              <p:nvPr/>
            </p:nvSpPr>
            <p:spPr bwMode="auto">
              <a:xfrm>
                <a:off x="3584" y="2168"/>
                <a:ext cx="880" cy="8"/>
              </a:xfrm>
              <a:prstGeom prst="line">
                <a:avLst/>
              </a:prstGeom>
              <a:noFill/>
              <a:ln w="50800">
                <a:solidFill>
                  <a:schemeClr val="tx1"/>
                </a:solidFill>
                <a:round/>
                <a:headEnd/>
                <a:tailEnd type="triangle" w="lg" len="med"/>
              </a:ln>
              <a:effectLst/>
            </p:spPr>
            <p:txBody>
              <a:bodyPr/>
              <a:lstStyle/>
              <a:p>
                <a:endParaRPr lang="it-IT"/>
              </a:p>
            </p:txBody>
          </p:sp>
          <p:sp>
            <p:nvSpPr>
              <p:cNvPr id="15" name="Text Box 13"/>
              <p:cNvSpPr txBox="1">
                <a:spLocks noChangeArrowheads="1"/>
              </p:cNvSpPr>
              <p:nvPr/>
            </p:nvSpPr>
            <p:spPr bwMode="auto">
              <a:xfrm>
                <a:off x="4026" y="1608"/>
                <a:ext cx="227" cy="558"/>
              </a:xfrm>
              <a:prstGeom prst="rect">
                <a:avLst/>
              </a:prstGeom>
              <a:noFill/>
              <a:ln w="9525">
                <a:noFill/>
                <a:miter lim="800000"/>
                <a:headEnd/>
                <a:tailEnd/>
              </a:ln>
              <a:effectLst/>
            </p:spPr>
            <p:txBody>
              <a:bodyPr>
                <a:spAutoFit/>
              </a:bodyPr>
              <a:lstStyle/>
              <a:p>
                <a:r>
                  <a:rPr lang="en-GB" sz="3200" b="1" dirty="0">
                    <a:latin typeface="Tahoma" pitchFamily="34" charset="0"/>
                  </a:rPr>
                  <a:t>r</a:t>
                </a:r>
                <a:endParaRPr lang="en-US" sz="3200" b="1" dirty="0">
                  <a:latin typeface="Tahoma" pitchFamily="34" charset="0"/>
                </a:endParaRPr>
              </a:p>
            </p:txBody>
          </p:sp>
          <p:sp>
            <p:nvSpPr>
              <p:cNvPr id="16" name="Line 14"/>
              <p:cNvSpPr>
                <a:spLocks noChangeShapeType="1"/>
              </p:cNvSpPr>
              <p:nvPr/>
            </p:nvSpPr>
            <p:spPr bwMode="auto">
              <a:xfrm>
                <a:off x="3774" y="1888"/>
                <a:ext cx="0" cy="544"/>
              </a:xfrm>
              <a:prstGeom prst="line">
                <a:avLst/>
              </a:prstGeom>
              <a:noFill/>
              <a:ln w="38100">
                <a:solidFill>
                  <a:schemeClr val="tx1"/>
                </a:solidFill>
                <a:round/>
                <a:headEnd/>
                <a:tailEnd/>
              </a:ln>
              <a:effectLst/>
            </p:spPr>
            <p:txBody>
              <a:bodyPr/>
              <a:lstStyle/>
              <a:p>
                <a:endParaRPr lang="it-IT"/>
              </a:p>
            </p:txBody>
          </p:sp>
          <p:sp>
            <p:nvSpPr>
              <p:cNvPr id="17" name="Line 15"/>
              <p:cNvSpPr>
                <a:spLocks noChangeShapeType="1"/>
              </p:cNvSpPr>
              <p:nvPr/>
            </p:nvSpPr>
            <p:spPr bwMode="auto">
              <a:xfrm>
                <a:off x="3888" y="1888"/>
                <a:ext cx="0" cy="544"/>
              </a:xfrm>
              <a:prstGeom prst="line">
                <a:avLst/>
              </a:prstGeom>
              <a:noFill/>
              <a:ln w="38100">
                <a:solidFill>
                  <a:schemeClr val="tx1"/>
                </a:solidFill>
                <a:round/>
                <a:headEnd/>
                <a:tailEnd/>
              </a:ln>
              <a:effectLst/>
            </p:spPr>
            <p:txBody>
              <a:bodyPr/>
              <a:lstStyle/>
              <a:p>
                <a:endParaRPr lang="it-IT"/>
              </a:p>
            </p:txBody>
          </p:sp>
          <p:sp>
            <p:nvSpPr>
              <p:cNvPr id="18" name="Line 16"/>
              <p:cNvSpPr>
                <a:spLocks noChangeShapeType="1"/>
              </p:cNvSpPr>
              <p:nvPr/>
            </p:nvSpPr>
            <p:spPr bwMode="auto">
              <a:xfrm>
                <a:off x="3984" y="1888"/>
                <a:ext cx="0" cy="544"/>
              </a:xfrm>
              <a:prstGeom prst="line">
                <a:avLst/>
              </a:prstGeom>
              <a:noFill/>
              <a:ln w="38100">
                <a:solidFill>
                  <a:schemeClr val="tx1"/>
                </a:solidFill>
                <a:round/>
                <a:headEnd/>
                <a:tailEnd/>
              </a:ln>
              <a:effectLst/>
            </p:spPr>
            <p:txBody>
              <a:bodyPr/>
              <a:lstStyle/>
              <a:p>
                <a:endParaRPr lang="it-IT"/>
              </a:p>
            </p:txBody>
          </p:sp>
        </p:grpSp>
      </p:grpSp>
      <p:pic>
        <p:nvPicPr>
          <p:cNvPr id="1031" name="Picture 2"/>
          <p:cNvPicPr>
            <a:picLocks noChangeAspect="1" noChangeArrowheads="1"/>
          </p:cNvPicPr>
          <p:nvPr/>
        </p:nvPicPr>
        <p:blipFill>
          <a:blip r:embed="rId2" cstate="print"/>
          <a:srcRect t="42587" r="53793" b="10354"/>
          <a:stretch>
            <a:fillRect/>
          </a:stretch>
        </p:blipFill>
        <p:spPr bwMode="auto">
          <a:xfrm>
            <a:off x="611560" y="2667536"/>
            <a:ext cx="4176464" cy="1481544"/>
          </a:xfrm>
          <a:prstGeom prst="rect">
            <a:avLst/>
          </a:prstGeom>
          <a:noFill/>
          <a:ln w="9525">
            <a:noFill/>
            <a:miter lim="800000"/>
            <a:headEnd/>
            <a:tailEnd/>
          </a:ln>
        </p:spPr>
      </p:pic>
      <p:graphicFrame>
        <p:nvGraphicFramePr>
          <p:cNvPr id="2" name="Object 81"/>
          <p:cNvGraphicFramePr>
            <a:graphicFrameLocks noChangeAspect="1"/>
          </p:cNvGraphicFramePr>
          <p:nvPr/>
        </p:nvGraphicFramePr>
        <p:xfrm>
          <a:off x="1691680" y="1340768"/>
          <a:ext cx="5301194" cy="1008112"/>
        </p:xfrm>
        <a:graphic>
          <a:graphicData uri="http://schemas.openxmlformats.org/presentationml/2006/ole">
            <mc:AlternateContent xmlns:mc="http://schemas.openxmlformats.org/markup-compatibility/2006">
              <mc:Choice xmlns:v="urn:schemas-microsoft-com:vml" Requires="v">
                <p:oleObj name="Equazione" r:id="rId3" imgW="2273300" imgH="431800" progId="Equation.3">
                  <p:embed/>
                </p:oleObj>
              </mc:Choice>
              <mc:Fallback>
                <p:oleObj name="Equazione" r:id="rId3" imgW="2273300" imgH="431800" progId="Equation.3">
                  <p:embed/>
                  <p:pic>
                    <p:nvPicPr>
                      <p:cNvPr id="2" name="Object 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1340768"/>
                        <a:ext cx="5301194" cy="1008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20"/>
          <p:cNvGrpSpPr/>
          <p:nvPr/>
        </p:nvGrpSpPr>
        <p:grpSpPr>
          <a:xfrm>
            <a:off x="5004048" y="2636912"/>
            <a:ext cx="3600400" cy="936104"/>
            <a:chOff x="4374740" y="1484784"/>
            <a:chExt cx="4788024" cy="1225680"/>
          </a:xfrm>
        </p:grpSpPr>
        <p:pic>
          <p:nvPicPr>
            <p:cNvPr id="22" name="Picture 21" descr="raw1single.tif"/>
            <p:cNvPicPr>
              <a:picLocks noChangeAspect="1"/>
            </p:cNvPicPr>
            <p:nvPr/>
          </p:nvPicPr>
          <p:blipFill>
            <a:blip r:embed="rId5" cstate="print"/>
            <a:stretch>
              <a:fillRect/>
            </a:stretch>
          </p:blipFill>
          <p:spPr>
            <a:xfrm>
              <a:off x="4374740" y="1484784"/>
              <a:ext cx="4788024" cy="648072"/>
            </a:xfrm>
            <a:prstGeom prst="rect">
              <a:avLst/>
            </a:prstGeom>
          </p:spPr>
        </p:pic>
        <p:pic>
          <p:nvPicPr>
            <p:cNvPr id="23" name="Picture 22" descr="raw2single.tif"/>
            <p:cNvPicPr>
              <a:picLocks noChangeAspect="1"/>
            </p:cNvPicPr>
            <p:nvPr/>
          </p:nvPicPr>
          <p:blipFill>
            <a:blip r:embed="rId6" cstate="print"/>
            <a:stretch>
              <a:fillRect/>
            </a:stretch>
          </p:blipFill>
          <p:spPr>
            <a:xfrm>
              <a:off x="4374740" y="2132856"/>
              <a:ext cx="4788024" cy="577608"/>
            </a:xfrm>
            <a:prstGeom prst="rect">
              <a:avLst/>
            </a:prstGeom>
          </p:spPr>
        </p:pic>
      </p:grpSp>
    </p:spTree>
    <p:extLst>
      <p:ext uri="{BB962C8B-B14F-4D97-AF65-F5344CB8AC3E}">
        <p14:creationId xmlns:p14="http://schemas.microsoft.com/office/powerpoint/2010/main" val="664261923"/>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2" descr="Fig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3" t="36701" r="69529" b="31650"/>
          <a:stretch/>
        </p:blipFill>
        <p:spPr bwMode="auto">
          <a:xfrm>
            <a:off x="2143125" y="3747639"/>
            <a:ext cx="1810950" cy="166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8" name="Rectangle 2"/>
          <p:cNvSpPr>
            <a:spLocks noGrp="1" noChangeArrowheads="1"/>
          </p:cNvSpPr>
          <p:nvPr>
            <p:ph type="title"/>
          </p:nvPr>
        </p:nvSpPr>
        <p:spPr>
          <a:xfrm>
            <a:off x="228600" y="0"/>
            <a:ext cx="8229600" cy="487362"/>
          </a:xfrm>
        </p:spPr>
        <p:txBody>
          <a:bodyPr anchor="t" anchorCtr="0">
            <a:noAutofit/>
          </a:bodyPr>
          <a:lstStyle/>
          <a:p>
            <a:r>
              <a:rPr lang="en-US" sz="3200" dirty="0">
                <a:solidFill>
                  <a:srgbClr val="FF0000"/>
                </a:solidFill>
                <a:latin typeface="Arial" panose="020B0604020202020204" pitchFamily="34" charset="0"/>
                <a:cs typeface="Arial" panose="020B0604020202020204" pitchFamily="34" charset="0"/>
              </a:rPr>
              <a:t>Computing Information about movie stimuli</a:t>
            </a:r>
          </a:p>
        </p:txBody>
      </p:sp>
      <p:sp>
        <p:nvSpPr>
          <p:cNvPr id="1039" name="Text Box 4"/>
          <p:cNvSpPr txBox="1">
            <a:spLocks noChangeArrowheads="1"/>
          </p:cNvSpPr>
          <p:nvPr/>
        </p:nvSpPr>
        <p:spPr bwMode="auto">
          <a:xfrm>
            <a:off x="457200" y="5290572"/>
            <a:ext cx="8286750" cy="1238801"/>
          </a:xfrm>
          <a:prstGeom prst="rect">
            <a:avLst/>
          </a:prstGeom>
          <a:noFill/>
          <a:ln w="9525">
            <a:noFill/>
            <a:miter lim="800000"/>
            <a:headEnd/>
            <a:tailEnd/>
          </a:ln>
        </p:spPr>
        <p:txBody>
          <a:bodyPr>
            <a:spAutoFit/>
          </a:bodyPr>
          <a:lstStyle/>
          <a:p>
            <a:pPr marL="285750" indent="-285750">
              <a:spcBef>
                <a:spcPts val="300"/>
              </a:spcBef>
              <a:buFont typeface="Arial" pitchFamily="34" charset="0"/>
              <a:buChar char="•"/>
            </a:pPr>
            <a:r>
              <a:rPr lang="en-US" dirty="0">
                <a:latin typeface="+mj-lt"/>
                <a:cs typeface="Arial" pitchFamily="34" charset="0"/>
              </a:rPr>
              <a:t>Information about which section of the dynamic stimulus elicited the considered neural response .</a:t>
            </a:r>
          </a:p>
          <a:p>
            <a:pPr marL="285750" indent="-285750">
              <a:spcBef>
                <a:spcPts val="300"/>
              </a:spcBef>
              <a:buFont typeface="Arial" pitchFamily="34" charset="0"/>
              <a:buChar char="•"/>
            </a:pPr>
            <a:r>
              <a:rPr lang="en-US" dirty="0">
                <a:latin typeface="+mj-lt"/>
                <a:cs typeface="Arial" pitchFamily="34" charset="0"/>
              </a:rPr>
              <a:t>This quantification of information captures information about all possible stimulus features in the movie, including </a:t>
            </a:r>
            <a:r>
              <a:rPr lang="en-US" i="1" dirty="0">
                <a:latin typeface="+mj-lt"/>
                <a:cs typeface="Arial" pitchFamily="34" charset="0"/>
              </a:rPr>
              <a:t>what</a:t>
            </a:r>
            <a:r>
              <a:rPr lang="en-US" dirty="0">
                <a:latin typeface="+mj-lt"/>
                <a:cs typeface="Arial" pitchFamily="34" charset="0"/>
              </a:rPr>
              <a:t> and </a:t>
            </a:r>
            <a:r>
              <a:rPr lang="en-US" i="1" dirty="0">
                <a:latin typeface="+mj-lt"/>
                <a:cs typeface="Arial" pitchFamily="34" charset="0"/>
              </a:rPr>
              <a:t>when</a:t>
            </a:r>
            <a:r>
              <a:rPr lang="en-US" dirty="0">
                <a:latin typeface="+mj-lt"/>
                <a:cs typeface="Arial" pitchFamily="34" charset="0"/>
              </a:rPr>
              <a:t> property</a:t>
            </a:r>
          </a:p>
        </p:txBody>
      </p:sp>
      <p:graphicFrame>
        <p:nvGraphicFramePr>
          <p:cNvPr id="1026" name="Object 81"/>
          <p:cNvGraphicFramePr>
            <a:graphicFrameLocks noChangeAspect="1"/>
          </p:cNvGraphicFramePr>
          <p:nvPr/>
        </p:nvGraphicFramePr>
        <p:xfrm>
          <a:off x="4831080" y="561939"/>
          <a:ext cx="3422129" cy="650963"/>
        </p:xfrm>
        <a:graphic>
          <a:graphicData uri="http://schemas.openxmlformats.org/presentationml/2006/ole">
            <mc:AlternateContent xmlns:mc="http://schemas.openxmlformats.org/markup-compatibility/2006">
              <mc:Choice xmlns:v="urn:schemas-microsoft-com:vml" Requires="v">
                <p:oleObj name="Equazione" r:id="rId4" imgW="2273300" imgH="431800" progId="Equation.3">
                  <p:embed/>
                </p:oleObj>
              </mc:Choice>
              <mc:Fallback>
                <p:oleObj name="Equazione" r:id="rId4" imgW="2273300" imgH="431800" progId="Equation.3">
                  <p:embed/>
                  <p:pic>
                    <p:nvPicPr>
                      <p:cNvPr id="1026" name="Object 8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1080" y="561939"/>
                        <a:ext cx="3422129" cy="650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 name="Text Box 77"/>
          <p:cNvSpPr txBox="1">
            <a:spLocks noChangeArrowheads="1"/>
          </p:cNvSpPr>
          <p:nvPr/>
        </p:nvSpPr>
        <p:spPr bwMode="auto">
          <a:xfrm>
            <a:off x="7393096" y="3356992"/>
            <a:ext cx="1008112" cy="338554"/>
          </a:xfrm>
          <a:prstGeom prst="rect">
            <a:avLst/>
          </a:prstGeom>
          <a:noFill/>
          <a:ln w="9525">
            <a:noFill/>
            <a:miter lim="800000"/>
            <a:headEnd/>
            <a:tailEnd/>
          </a:ln>
        </p:spPr>
        <p:txBody>
          <a:bodyPr wrap="square">
            <a:spAutoFit/>
          </a:bodyPr>
          <a:lstStyle/>
          <a:p>
            <a:pPr>
              <a:spcBef>
                <a:spcPct val="50000"/>
              </a:spcBef>
            </a:pPr>
            <a:r>
              <a:rPr lang="en-US" sz="1600" dirty="0">
                <a:latin typeface="+mj-lt"/>
              </a:rPr>
              <a:t>1 sec</a:t>
            </a:r>
          </a:p>
        </p:txBody>
      </p:sp>
      <p:pic>
        <p:nvPicPr>
          <p:cNvPr id="2048" name="Picture 2" descr="Fig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0072" t="11550"/>
          <a:stretch/>
        </p:blipFill>
        <p:spPr bwMode="auto">
          <a:xfrm>
            <a:off x="4543425" y="1245288"/>
            <a:ext cx="4152894" cy="401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3"/>
          <p:cNvSpPr txBox="1">
            <a:spLocks noChangeArrowheads="1"/>
          </p:cNvSpPr>
          <p:nvPr/>
        </p:nvSpPr>
        <p:spPr bwMode="auto">
          <a:xfrm>
            <a:off x="4371315" y="6516825"/>
            <a:ext cx="4620285" cy="264975"/>
          </a:xfrm>
          <a:prstGeom prst="rect">
            <a:avLst/>
          </a:prstGeom>
          <a:noFill/>
          <a:ln w="9525">
            <a:noFill/>
            <a:miter lim="800000"/>
            <a:headEnd/>
            <a:tailEnd/>
          </a:ln>
        </p:spPr>
        <p:txBody>
          <a:bodyPr wrap="square" lIns="64291" tIns="32146" rIns="64291" bIns="32146">
            <a:spAutoFit/>
          </a:bodyPr>
          <a:lstStyle/>
          <a:p>
            <a:pPr algn="r"/>
            <a:r>
              <a:rPr lang="it-IT" sz="1300" dirty="0">
                <a:latin typeface="+mj-lt"/>
                <a:cs typeface="Arial" pitchFamily="34" charset="0"/>
              </a:rPr>
              <a:t>Panzeri, Brunel, Logothetis,  Kayser (2010) Trends Neurosci</a:t>
            </a:r>
          </a:p>
        </p:txBody>
      </p:sp>
      <p:sp>
        <p:nvSpPr>
          <p:cNvPr id="3" name="Rectangle 2"/>
          <p:cNvSpPr/>
          <p:nvPr/>
        </p:nvSpPr>
        <p:spPr>
          <a:xfrm>
            <a:off x="2133600" y="3695546"/>
            <a:ext cx="76200"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4" name="Rectangle 3"/>
          <p:cNvSpPr/>
          <p:nvPr/>
        </p:nvSpPr>
        <p:spPr>
          <a:xfrm>
            <a:off x="4600575" y="1159563"/>
            <a:ext cx="111125"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 name="Rectangle 4"/>
          <p:cNvSpPr/>
          <p:nvPr/>
        </p:nvSpPr>
        <p:spPr>
          <a:xfrm>
            <a:off x="4543425" y="1066800"/>
            <a:ext cx="257175" cy="1384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4" name="Rectangle 13"/>
          <p:cNvSpPr/>
          <p:nvPr/>
        </p:nvSpPr>
        <p:spPr>
          <a:xfrm>
            <a:off x="2081212" y="3602198"/>
            <a:ext cx="257175" cy="1384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nvGrpSpPr>
          <p:cNvPr id="2" name="Group 12"/>
          <p:cNvGrpSpPr/>
          <p:nvPr/>
        </p:nvGrpSpPr>
        <p:grpSpPr>
          <a:xfrm>
            <a:off x="1371600" y="762000"/>
            <a:ext cx="2362200" cy="2878145"/>
            <a:chOff x="5220072" y="1700808"/>
            <a:chExt cx="3816424" cy="4824536"/>
          </a:xfrm>
        </p:grpSpPr>
        <p:pic>
          <p:nvPicPr>
            <p:cNvPr id="15" name="Picture 14" descr="tom2.tif"/>
            <p:cNvPicPr>
              <a:picLocks noChangeAspect="1"/>
            </p:cNvPicPr>
            <p:nvPr/>
          </p:nvPicPr>
          <p:blipFill>
            <a:blip r:embed="rId7" cstate="print"/>
            <a:stretch>
              <a:fillRect/>
            </a:stretch>
          </p:blipFill>
          <p:spPr>
            <a:xfrm>
              <a:off x="5220072" y="1700808"/>
              <a:ext cx="2160000" cy="1617112"/>
            </a:xfrm>
            <a:prstGeom prst="rect">
              <a:avLst/>
            </a:prstGeom>
          </p:spPr>
        </p:pic>
        <p:pic>
          <p:nvPicPr>
            <p:cNvPr id="16" name="Picture 15" descr="tom3.tif"/>
            <p:cNvPicPr>
              <a:picLocks noChangeAspect="1"/>
            </p:cNvPicPr>
            <p:nvPr/>
          </p:nvPicPr>
          <p:blipFill>
            <a:blip r:embed="rId8" cstate="print"/>
            <a:srcRect l="13335" t="8906" r="9990" b="10942"/>
            <a:stretch>
              <a:fillRect/>
            </a:stretch>
          </p:blipFill>
          <p:spPr>
            <a:xfrm>
              <a:off x="6012160" y="2924944"/>
              <a:ext cx="1656184" cy="1296144"/>
            </a:xfrm>
            <a:prstGeom prst="rect">
              <a:avLst/>
            </a:prstGeom>
          </p:spPr>
        </p:pic>
        <p:pic>
          <p:nvPicPr>
            <p:cNvPr id="17" name="Picture 16" descr="tom4.tif"/>
            <p:cNvPicPr>
              <a:picLocks noChangeAspect="1"/>
            </p:cNvPicPr>
            <p:nvPr/>
          </p:nvPicPr>
          <p:blipFill>
            <a:blip r:embed="rId9" cstate="print"/>
            <a:srcRect l="13335" t="8906" r="9990" b="10942"/>
            <a:stretch>
              <a:fillRect/>
            </a:stretch>
          </p:blipFill>
          <p:spPr>
            <a:xfrm>
              <a:off x="6660232" y="4077072"/>
              <a:ext cx="1656184" cy="1296144"/>
            </a:xfrm>
            <a:prstGeom prst="rect">
              <a:avLst/>
            </a:prstGeom>
          </p:spPr>
        </p:pic>
        <p:pic>
          <p:nvPicPr>
            <p:cNvPr id="18" name="Picture 17" descr="tom5.tif"/>
            <p:cNvPicPr>
              <a:picLocks noChangeAspect="1"/>
            </p:cNvPicPr>
            <p:nvPr/>
          </p:nvPicPr>
          <p:blipFill>
            <a:blip r:embed="rId10" cstate="print"/>
            <a:srcRect l="13681" t="7918" r="9644" b="11930"/>
            <a:stretch>
              <a:fillRect/>
            </a:stretch>
          </p:blipFill>
          <p:spPr>
            <a:xfrm>
              <a:off x="7380312" y="5229200"/>
              <a:ext cx="1656184" cy="1296144"/>
            </a:xfrm>
            <a:prstGeom prst="rect">
              <a:avLst/>
            </a:prstGeom>
          </p:spPr>
        </p:pic>
        <p:cxnSp>
          <p:nvCxnSpPr>
            <p:cNvPr id="19" name="Straight Arrow Connector 18"/>
            <p:cNvCxnSpPr/>
            <p:nvPr/>
          </p:nvCxnSpPr>
          <p:spPr bwMode="auto">
            <a:xfrm rot="16200000" flipH="1">
              <a:off x="4680012" y="4257092"/>
              <a:ext cx="2952328" cy="1584176"/>
            </a:xfrm>
            <a:prstGeom prst="straightConnector1">
              <a:avLst/>
            </a:prstGeom>
            <a:solidFill>
              <a:schemeClr val="accent1"/>
            </a:solidFill>
            <a:ln w="25400" cap="flat" cmpd="sng" algn="ctr">
              <a:solidFill>
                <a:schemeClr val="tx1"/>
              </a:solidFill>
              <a:prstDash val="solid"/>
              <a:round/>
              <a:headEnd type="none" w="med" len="med"/>
              <a:tailEnd type="triangle" w="lg" len="lg"/>
            </a:ln>
            <a:effectLst/>
          </p:spPr>
        </p:cxnSp>
        <p:sp>
          <p:nvSpPr>
            <p:cNvPr id="21" name="CasellaDiTesto 5"/>
            <p:cNvSpPr txBox="1">
              <a:spLocks noChangeArrowheads="1"/>
            </p:cNvSpPr>
            <p:nvPr/>
          </p:nvSpPr>
          <p:spPr bwMode="auto">
            <a:xfrm rot="3676181">
              <a:off x="5263023" y="4952364"/>
              <a:ext cx="1606285" cy="596701"/>
            </a:xfrm>
            <a:prstGeom prst="rect">
              <a:avLst/>
            </a:prstGeom>
            <a:noFill/>
            <a:ln w="9525">
              <a:noFill/>
              <a:miter lim="800000"/>
              <a:headEnd/>
              <a:tailEnd/>
            </a:ln>
          </p:spPr>
          <p:txBody>
            <a:bodyPr wrap="square">
              <a:spAutoFit/>
            </a:bodyPr>
            <a:lstStyle/>
            <a:p>
              <a:r>
                <a:rPr lang="en-US" sz="1800" b="1" dirty="0">
                  <a:latin typeface="Arial" charset="0"/>
                  <a:cs typeface="Arial" charset="0"/>
                </a:rPr>
                <a:t>Time</a:t>
              </a:r>
            </a:p>
          </p:txBody>
        </p:sp>
      </p:grpSp>
    </p:spTree>
    <p:extLst>
      <p:ext uri="{BB962C8B-B14F-4D97-AF65-F5344CB8AC3E}">
        <p14:creationId xmlns:p14="http://schemas.microsoft.com/office/powerpoint/2010/main" val="17034296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cstate="print"/>
          <a:srcRect l="3840" t="4850" r="53475"/>
          <a:stretch>
            <a:fillRect/>
          </a:stretch>
        </p:blipFill>
        <p:spPr bwMode="auto">
          <a:xfrm flipV="1">
            <a:off x="685800" y="1042441"/>
            <a:ext cx="2895600" cy="417749"/>
          </a:xfrm>
          <a:prstGeom prst="rect">
            <a:avLst/>
          </a:prstGeom>
          <a:noFill/>
          <a:ln w="12700">
            <a:noFill/>
            <a:miter lim="800000"/>
            <a:headEnd/>
            <a:tailEnd/>
          </a:ln>
        </p:spPr>
      </p:pic>
      <p:sp>
        <p:nvSpPr>
          <p:cNvPr id="11268" name="TextBox 3"/>
          <p:cNvSpPr txBox="1">
            <a:spLocks noChangeArrowheads="1"/>
          </p:cNvSpPr>
          <p:nvPr/>
        </p:nvSpPr>
        <p:spPr bwMode="auto">
          <a:xfrm>
            <a:off x="1960563" y="6516687"/>
            <a:ext cx="6831012" cy="265113"/>
          </a:xfrm>
          <a:prstGeom prst="rect">
            <a:avLst/>
          </a:prstGeom>
          <a:noFill/>
          <a:ln w="9525">
            <a:noFill/>
            <a:miter lim="800000"/>
            <a:headEnd/>
            <a:tailEnd/>
          </a:ln>
        </p:spPr>
        <p:txBody>
          <a:bodyPr lIns="64291" tIns="32146" rIns="64291" bIns="32146">
            <a:spAutoFit/>
          </a:bodyPr>
          <a:lstStyle/>
          <a:p>
            <a:pPr algn="r"/>
            <a:r>
              <a:rPr lang="it-IT" sz="1300" dirty="0" err="1">
                <a:latin typeface="+mj-lt"/>
                <a:cs typeface="Arial" pitchFamily="34" charset="0"/>
              </a:rPr>
              <a:t>Belitski</a:t>
            </a:r>
            <a:r>
              <a:rPr lang="it-IT" sz="1300" dirty="0">
                <a:latin typeface="+mj-lt"/>
                <a:cs typeface="Arial" pitchFamily="34" charset="0"/>
              </a:rPr>
              <a:t>, </a:t>
            </a:r>
            <a:r>
              <a:rPr lang="it-IT" sz="1300" dirty="0" err="1">
                <a:latin typeface="+mj-lt"/>
                <a:cs typeface="Arial" pitchFamily="34" charset="0"/>
              </a:rPr>
              <a:t>Gretton</a:t>
            </a:r>
            <a:r>
              <a:rPr lang="it-IT" sz="1300" dirty="0">
                <a:latin typeface="+mj-lt"/>
                <a:cs typeface="Arial" pitchFamily="34" charset="0"/>
              </a:rPr>
              <a:t>, Magri, </a:t>
            </a:r>
            <a:r>
              <a:rPr lang="it-IT" sz="1300" dirty="0" err="1">
                <a:latin typeface="+mj-lt"/>
                <a:cs typeface="Arial" pitchFamily="34" charset="0"/>
              </a:rPr>
              <a:t>Murayama</a:t>
            </a:r>
            <a:r>
              <a:rPr lang="it-IT" sz="1300" dirty="0">
                <a:latin typeface="+mj-lt"/>
                <a:cs typeface="Arial" pitchFamily="34" charset="0"/>
              </a:rPr>
              <a:t>, </a:t>
            </a:r>
            <a:r>
              <a:rPr lang="it-IT" sz="1300" dirty="0" err="1">
                <a:latin typeface="+mj-lt"/>
                <a:cs typeface="Arial" pitchFamily="34" charset="0"/>
              </a:rPr>
              <a:t>Montemurro</a:t>
            </a:r>
            <a:r>
              <a:rPr lang="it-IT" sz="1300" dirty="0">
                <a:latin typeface="+mj-lt"/>
                <a:cs typeface="Arial" pitchFamily="34" charset="0"/>
              </a:rPr>
              <a:t>, </a:t>
            </a:r>
            <a:r>
              <a:rPr lang="it-IT" sz="1300" dirty="0" err="1">
                <a:latin typeface="+mj-lt"/>
                <a:cs typeface="Arial" pitchFamily="34" charset="0"/>
              </a:rPr>
              <a:t>Logothetis</a:t>
            </a:r>
            <a:r>
              <a:rPr lang="it-IT" sz="1300" dirty="0">
                <a:latin typeface="+mj-lt"/>
                <a:cs typeface="Arial" pitchFamily="34" charset="0"/>
              </a:rPr>
              <a:t> and </a:t>
            </a:r>
            <a:r>
              <a:rPr lang="it-IT" sz="1300" dirty="0" err="1">
                <a:latin typeface="+mj-lt"/>
                <a:cs typeface="Arial" pitchFamily="34" charset="0"/>
              </a:rPr>
              <a:t>Panzeri</a:t>
            </a:r>
            <a:r>
              <a:rPr lang="it-IT" sz="1300" dirty="0">
                <a:latin typeface="+mj-lt"/>
                <a:cs typeface="Arial" pitchFamily="34" charset="0"/>
              </a:rPr>
              <a:t> (2008) J </a:t>
            </a:r>
            <a:r>
              <a:rPr lang="it-IT" sz="1300" dirty="0" err="1">
                <a:latin typeface="+mj-lt"/>
                <a:cs typeface="Arial" pitchFamily="34" charset="0"/>
              </a:rPr>
              <a:t>Neurosci</a:t>
            </a:r>
            <a:endParaRPr lang="it-IT" sz="1300" dirty="0">
              <a:latin typeface="+mj-lt"/>
              <a:cs typeface="Arial" pitchFamily="34" charset="0"/>
            </a:endParaRPr>
          </a:p>
        </p:txBody>
      </p:sp>
      <p:sp>
        <p:nvSpPr>
          <p:cNvPr id="11269" name="Rectangle 2"/>
          <p:cNvSpPr>
            <a:spLocks noGrp="1" noChangeArrowheads="1"/>
          </p:cNvSpPr>
          <p:nvPr>
            <p:ph type="title"/>
          </p:nvPr>
        </p:nvSpPr>
        <p:spPr>
          <a:xfrm>
            <a:off x="0" y="228600"/>
            <a:ext cx="9144000" cy="609600"/>
          </a:xfrm>
        </p:spPr>
        <p:txBody>
          <a:bodyPr>
            <a:noAutofit/>
          </a:bodyPr>
          <a:lstStyle/>
          <a:p>
            <a:pPr eaLnBrk="1" hangingPunct="1"/>
            <a:r>
              <a:rPr lang="en-GB" sz="3200" dirty="0">
                <a:solidFill>
                  <a:srgbClr val="FF0000"/>
                </a:solidFill>
                <a:latin typeface="Arial" panose="020B0604020202020204" pitchFamily="34" charset="0"/>
                <a:cs typeface="Arial" panose="020B0604020202020204" pitchFamily="34" charset="0"/>
              </a:rPr>
              <a:t>Information in Power of V1 LFPs </a:t>
            </a:r>
            <a:br>
              <a:rPr lang="en-GB" sz="3200" dirty="0">
                <a:solidFill>
                  <a:srgbClr val="FF0000"/>
                </a:solidFill>
                <a:latin typeface="Arial" panose="020B0604020202020204" pitchFamily="34" charset="0"/>
                <a:cs typeface="Arial" panose="020B0604020202020204" pitchFamily="34" charset="0"/>
              </a:rPr>
            </a:br>
            <a:r>
              <a:rPr lang="en-GB" sz="3200" dirty="0">
                <a:solidFill>
                  <a:srgbClr val="FF0000"/>
                </a:solidFill>
                <a:latin typeface="Arial" panose="020B0604020202020204" pitchFamily="34" charset="0"/>
                <a:cs typeface="Arial" panose="020B0604020202020204" pitchFamily="34" charset="0"/>
              </a:rPr>
              <a:t>with naturalistic movies</a:t>
            </a:r>
            <a:endParaRPr lang="en-US" sz="3200" dirty="0">
              <a:solidFill>
                <a:srgbClr val="FF0000"/>
              </a:solidFill>
              <a:latin typeface="Arial" panose="020B0604020202020204" pitchFamily="34" charset="0"/>
              <a:cs typeface="Arial" panose="020B0604020202020204" pitchFamily="34" charset="0"/>
            </a:endParaRPr>
          </a:p>
        </p:txBody>
      </p:sp>
      <p:sp>
        <p:nvSpPr>
          <p:cNvPr id="7" name="CasellaDiTesto 5"/>
          <p:cNvSpPr txBox="1">
            <a:spLocks noChangeArrowheads="1"/>
          </p:cNvSpPr>
          <p:nvPr/>
        </p:nvSpPr>
        <p:spPr bwMode="auto">
          <a:xfrm>
            <a:off x="381000" y="5174079"/>
            <a:ext cx="8839200" cy="1302921"/>
          </a:xfrm>
          <a:prstGeom prst="rect">
            <a:avLst/>
          </a:prstGeom>
          <a:noFill/>
          <a:ln w="9525">
            <a:noFill/>
            <a:miter lim="800000"/>
            <a:headEnd/>
            <a:tailEnd/>
          </a:ln>
        </p:spPr>
        <p:txBody>
          <a:bodyPr wrap="square">
            <a:spAutoFit/>
          </a:bodyPr>
          <a:lstStyle/>
          <a:p>
            <a:pPr marL="285750" indent="-285750">
              <a:spcAft>
                <a:spcPts val="400"/>
              </a:spcAft>
              <a:buFont typeface="Arial" pitchFamily="34" charset="0"/>
              <a:buChar char="•"/>
            </a:pPr>
            <a:r>
              <a:rPr lang="en-US" sz="1800" dirty="0">
                <a:latin typeface="+mj-lt"/>
                <a:cs typeface="Arial" pitchFamily="34" charset="0"/>
              </a:rPr>
              <a:t>Two informative power signals: Low frequencies and gamma frequencies</a:t>
            </a:r>
          </a:p>
          <a:p>
            <a:pPr marL="285750" indent="-285750">
              <a:spcAft>
                <a:spcPts val="400"/>
              </a:spcAft>
              <a:buFont typeface="Arial" pitchFamily="34" charset="0"/>
              <a:buChar char="•"/>
            </a:pPr>
            <a:r>
              <a:rPr lang="en-US" sz="1800" b="1" dirty="0">
                <a:solidFill>
                  <a:srgbClr val="0070C0"/>
                </a:solidFill>
                <a:latin typeface="+mj-lt"/>
                <a:cs typeface="Arial" pitchFamily="34" charset="0"/>
              </a:rPr>
              <a:t>High frequencies (</a:t>
            </a:r>
            <a:r>
              <a:rPr lang="el-GR" sz="1800" b="1" dirty="0">
                <a:solidFill>
                  <a:srgbClr val="0070C0"/>
                </a:solidFill>
                <a:latin typeface="+mj-lt"/>
                <a:cs typeface="Arial" pitchFamily="34" charset="0"/>
              </a:rPr>
              <a:t>γ</a:t>
            </a:r>
            <a:r>
              <a:rPr lang="it-IT" sz="1800" b="1" dirty="0">
                <a:solidFill>
                  <a:srgbClr val="0070C0"/>
                </a:solidFill>
                <a:latin typeface="+mj-lt"/>
                <a:cs typeface="Arial" pitchFamily="34" charset="0"/>
              </a:rPr>
              <a:t> </a:t>
            </a:r>
            <a:r>
              <a:rPr lang="en-US" sz="1800" b="1" dirty="0">
                <a:solidFill>
                  <a:srgbClr val="0070C0"/>
                </a:solidFill>
                <a:latin typeface="+mj-lt"/>
                <a:cs typeface="Arial" pitchFamily="34" charset="0"/>
              </a:rPr>
              <a:t>and high </a:t>
            </a:r>
            <a:r>
              <a:rPr lang="el-GR" b="1" dirty="0">
                <a:solidFill>
                  <a:srgbClr val="0070C0"/>
                </a:solidFill>
                <a:latin typeface="+mj-lt"/>
                <a:cs typeface="Arial" pitchFamily="34" charset="0"/>
              </a:rPr>
              <a:t>γ</a:t>
            </a:r>
            <a:r>
              <a:rPr lang="en-US" sz="1800" b="1" dirty="0">
                <a:solidFill>
                  <a:srgbClr val="0070C0"/>
                </a:solidFill>
                <a:latin typeface="+mj-lt"/>
                <a:cs typeface="Arial" pitchFamily="34" charset="0"/>
              </a:rPr>
              <a:t>)</a:t>
            </a:r>
            <a:r>
              <a:rPr lang="en-US" sz="1800" dirty="0">
                <a:latin typeface="+mj-lt"/>
                <a:cs typeface="Arial" pitchFamily="34" charset="0"/>
              </a:rPr>
              <a:t> bands and </a:t>
            </a:r>
            <a:r>
              <a:rPr lang="en-US" sz="1800" b="1" dirty="0">
                <a:solidFill>
                  <a:srgbClr val="00B050"/>
                </a:solidFill>
                <a:latin typeface="+mj-lt"/>
                <a:cs typeface="Arial" pitchFamily="34" charset="0"/>
              </a:rPr>
              <a:t>low frequencies (</a:t>
            </a:r>
            <a:r>
              <a:rPr lang="el-GR" b="1" dirty="0">
                <a:solidFill>
                  <a:srgbClr val="00B050"/>
                </a:solidFill>
                <a:latin typeface="+mj-lt"/>
                <a:cs typeface="Arial" pitchFamily="34" charset="0"/>
              </a:rPr>
              <a:t>α</a:t>
            </a:r>
            <a:r>
              <a:rPr lang="it-IT" b="1" dirty="0">
                <a:solidFill>
                  <a:srgbClr val="00B050"/>
                </a:solidFill>
                <a:latin typeface="+mj-lt"/>
                <a:cs typeface="Arial" pitchFamily="34" charset="0"/>
              </a:rPr>
              <a:t>,</a:t>
            </a:r>
            <a:r>
              <a:rPr lang="el-GR" b="1" dirty="0">
                <a:solidFill>
                  <a:srgbClr val="00B050"/>
                </a:solidFill>
                <a:latin typeface="+mj-lt"/>
                <a:cs typeface="Arial" pitchFamily="34" charset="0"/>
              </a:rPr>
              <a:t>θ</a:t>
            </a:r>
            <a:r>
              <a:rPr lang="it-IT" b="1" dirty="0">
                <a:solidFill>
                  <a:srgbClr val="00B050"/>
                </a:solidFill>
                <a:latin typeface="+mj-lt"/>
                <a:cs typeface="Arial" pitchFamily="34" charset="0"/>
              </a:rPr>
              <a:t>,</a:t>
            </a:r>
            <a:r>
              <a:rPr lang="el-GR" b="1" dirty="0">
                <a:solidFill>
                  <a:srgbClr val="00B050"/>
                </a:solidFill>
                <a:latin typeface="+mj-lt"/>
                <a:cs typeface="Arial" pitchFamily="34" charset="0"/>
              </a:rPr>
              <a:t>δ</a:t>
            </a:r>
            <a:r>
              <a:rPr lang="it-IT" b="1" dirty="0">
                <a:solidFill>
                  <a:srgbClr val="00B050"/>
                </a:solidFill>
                <a:latin typeface="+mj-lt"/>
                <a:cs typeface="Arial" pitchFamily="34" charset="0"/>
              </a:rPr>
              <a:t>) </a:t>
            </a:r>
            <a:r>
              <a:rPr lang="it-IT" dirty="0">
                <a:latin typeface="+mj-lt"/>
                <a:cs typeface="Arial" pitchFamily="34" charset="0"/>
              </a:rPr>
              <a:t>carry independent information about the movie</a:t>
            </a:r>
            <a:endParaRPr lang="en-US" sz="1800" dirty="0">
              <a:latin typeface="+mj-lt"/>
              <a:cs typeface="Arial" pitchFamily="34" charset="0"/>
            </a:endParaRPr>
          </a:p>
          <a:p>
            <a:pPr marL="285750" indent="-285750">
              <a:spcAft>
                <a:spcPts val="400"/>
              </a:spcAft>
              <a:buFont typeface="Arial" pitchFamily="34" charset="0"/>
              <a:buChar char="•"/>
            </a:pPr>
            <a:r>
              <a:rPr lang="en-US" sz="1800" dirty="0">
                <a:latin typeface="+mj-lt"/>
                <a:cs typeface="Arial" pitchFamily="34" charset="0"/>
              </a:rPr>
              <a:t>Intermediate frequencies (</a:t>
            </a:r>
            <a:r>
              <a:rPr lang="el-GR" sz="1800" b="1" dirty="0">
                <a:solidFill>
                  <a:srgbClr val="FF0000"/>
                </a:solidFill>
                <a:latin typeface="+mj-lt"/>
                <a:cs typeface="Arial" pitchFamily="34" charset="0"/>
              </a:rPr>
              <a:t>β</a:t>
            </a:r>
            <a:r>
              <a:rPr lang="en-US" sz="1800" dirty="0">
                <a:latin typeface="+mj-lt"/>
                <a:cs typeface="Arial" pitchFamily="34" charset="0"/>
              </a:rPr>
              <a:t>) do not carry much information</a:t>
            </a:r>
          </a:p>
        </p:txBody>
      </p:sp>
      <p:grpSp>
        <p:nvGrpSpPr>
          <p:cNvPr id="2" name="Group 1"/>
          <p:cNvGrpSpPr/>
          <p:nvPr/>
        </p:nvGrpSpPr>
        <p:grpSpPr>
          <a:xfrm>
            <a:off x="4572000" y="1121370"/>
            <a:ext cx="4320480" cy="3755430"/>
            <a:chOff x="4644008" y="381000"/>
            <a:chExt cx="4320480" cy="3755430"/>
          </a:xfrm>
        </p:grpSpPr>
        <p:pic>
          <p:nvPicPr>
            <p:cNvPr id="6" name="Picture 9" descr="C:\Users\mjcsssp\Desktop\LFP info.png"/>
            <p:cNvPicPr>
              <a:picLocks noChangeAspect="1" noChangeArrowheads="1"/>
            </p:cNvPicPr>
            <p:nvPr/>
          </p:nvPicPr>
          <p:blipFill>
            <a:blip r:embed="rId3" cstate="print"/>
            <a:srcRect l="1469" r="8264"/>
            <a:stretch>
              <a:fillRect/>
            </a:stretch>
          </p:blipFill>
          <p:spPr bwMode="auto">
            <a:xfrm>
              <a:off x="4644008" y="548680"/>
              <a:ext cx="4320480" cy="3587750"/>
            </a:xfrm>
            <a:prstGeom prst="rect">
              <a:avLst/>
            </a:prstGeom>
            <a:noFill/>
            <a:ln w="9525">
              <a:noFill/>
              <a:miter lim="800000"/>
              <a:headEnd/>
              <a:tailEnd/>
            </a:ln>
          </p:spPr>
        </p:pic>
        <p:cxnSp>
          <p:nvCxnSpPr>
            <p:cNvPr id="3" name="Straight Connector 2"/>
            <p:cNvCxnSpPr/>
            <p:nvPr/>
          </p:nvCxnSpPr>
          <p:spPr>
            <a:xfrm>
              <a:off x="6172200" y="2342555"/>
              <a:ext cx="1062608" cy="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625116" y="2342555"/>
              <a:ext cx="304892" cy="400110"/>
            </a:xfrm>
            <a:prstGeom prst="rect">
              <a:avLst/>
            </a:prstGeom>
            <a:noFill/>
          </p:spPr>
          <p:txBody>
            <a:bodyPr wrap="none" rtlCol="0">
              <a:spAutoFit/>
            </a:bodyPr>
            <a:lstStyle/>
            <a:p>
              <a:r>
                <a:rPr lang="el-GR" sz="2000" b="1" dirty="0">
                  <a:solidFill>
                    <a:srgbClr val="0070C0"/>
                  </a:solidFill>
                  <a:latin typeface="+mj-lt"/>
                </a:rPr>
                <a:t>γ</a:t>
              </a:r>
              <a:endParaRPr lang="it-IT" sz="2000" b="1" dirty="0">
                <a:solidFill>
                  <a:srgbClr val="0070C0"/>
                </a:solidFill>
                <a:latin typeface="+mj-lt"/>
              </a:endParaRPr>
            </a:p>
          </p:txBody>
        </p:sp>
        <p:cxnSp>
          <p:nvCxnSpPr>
            <p:cNvPr id="11" name="Straight Connector 10"/>
            <p:cNvCxnSpPr/>
            <p:nvPr/>
          </p:nvCxnSpPr>
          <p:spPr>
            <a:xfrm>
              <a:off x="5562600" y="3076010"/>
              <a:ext cx="32412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562600" y="3124200"/>
              <a:ext cx="324128" cy="400110"/>
            </a:xfrm>
            <a:prstGeom prst="rect">
              <a:avLst/>
            </a:prstGeom>
            <a:noFill/>
          </p:spPr>
          <p:txBody>
            <a:bodyPr wrap="none" rtlCol="0">
              <a:spAutoFit/>
            </a:bodyPr>
            <a:lstStyle/>
            <a:p>
              <a:r>
                <a:rPr lang="el-GR" sz="2000" b="1" dirty="0">
                  <a:solidFill>
                    <a:srgbClr val="FF0000"/>
                  </a:solidFill>
                  <a:latin typeface="+mj-lt"/>
                </a:rPr>
                <a:t>β</a:t>
              </a:r>
              <a:endParaRPr lang="it-IT" sz="2000" b="1" dirty="0">
                <a:solidFill>
                  <a:srgbClr val="FF0000"/>
                </a:solidFill>
                <a:latin typeface="+mj-lt"/>
              </a:endParaRPr>
            </a:p>
          </p:txBody>
        </p:sp>
        <p:cxnSp>
          <p:nvCxnSpPr>
            <p:cNvPr id="15" name="Straight Connector 14"/>
            <p:cNvCxnSpPr/>
            <p:nvPr/>
          </p:nvCxnSpPr>
          <p:spPr>
            <a:xfrm>
              <a:off x="5162272" y="770900"/>
              <a:ext cx="324128"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007428" y="381000"/>
              <a:ext cx="1164771" cy="400110"/>
            </a:xfrm>
            <a:prstGeom prst="rect">
              <a:avLst/>
            </a:prstGeom>
            <a:noFill/>
          </p:spPr>
          <p:txBody>
            <a:bodyPr wrap="square" rtlCol="0">
              <a:spAutoFit/>
            </a:bodyPr>
            <a:lstStyle/>
            <a:p>
              <a:r>
                <a:rPr lang="el-GR" sz="2000" b="1" dirty="0">
                  <a:solidFill>
                    <a:srgbClr val="00B050"/>
                  </a:solidFill>
                  <a:latin typeface="+mj-lt"/>
                </a:rPr>
                <a:t>δ</a:t>
              </a:r>
              <a:r>
                <a:rPr lang="it-IT" sz="2000" b="1" dirty="0">
                  <a:solidFill>
                    <a:srgbClr val="00B050"/>
                  </a:solidFill>
                  <a:latin typeface="+mj-lt"/>
                </a:rPr>
                <a:t>,</a:t>
              </a:r>
              <a:r>
                <a:rPr lang="el-GR" sz="2000" b="1" dirty="0">
                  <a:solidFill>
                    <a:srgbClr val="00B050"/>
                  </a:solidFill>
                  <a:latin typeface="+mj-lt"/>
                </a:rPr>
                <a:t>θ</a:t>
              </a:r>
              <a:r>
                <a:rPr lang="it-IT" sz="2000" b="1" dirty="0">
                  <a:solidFill>
                    <a:srgbClr val="00B050"/>
                  </a:solidFill>
                  <a:latin typeface="+mj-lt"/>
                </a:rPr>
                <a:t>,</a:t>
              </a:r>
              <a:r>
                <a:rPr lang="el-GR" sz="2000" b="1" dirty="0">
                  <a:solidFill>
                    <a:srgbClr val="00B050"/>
                  </a:solidFill>
                  <a:latin typeface="+mj-lt"/>
                </a:rPr>
                <a:t>α</a:t>
              </a:r>
              <a:endParaRPr lang="it-IT" sz="2000" b="1" dirty="0">
                <a:solidFill>
                  <a:srgbClr val="00B050"/>
                </a:solidFill>
                <a:latin typeface="+mj-lt"/>
              </a:endParaRPr>
            </a:p>
          </p:txBody>
        </p:sp>
      </p:grpSp>
      <p:pic>
        <p:nvPicPr>
          <p:cNvPr id="17" name="Picture 2"/>
          <p:cNvPicPr>
            <a:picLocks noChangeAspect="1" noChangeArrowheads="1"/>
          </p:cNvPicPr>
          <p:nvPr/>
        </p:nvPicPr>
        <p:blipFill>
          <a:blip r:embed="rId4" cstate="print"/>
          <a:srcRect r="52633"/>
          <a:stretch>
            <a:fillRect/>
          </a:stretch>
        </p:blipFill>
        <p:spPr bwMode="auto">
          <a:xfrm>
            <a:off x="366837" y="1524000"/>
            <a:ext cx="3342753" cy="3654425"/>
          </a:xfrm>
          <a:prstGeom prst="rect">
            <a:avLst/>
          </a:prstGeom>
          <a:noFill/>
          <a:ln w="12700">
            <a:noFill/>
            <a:miter lim="800000"/>
            <a:headEnd/>
            <a:tailEnd/>
          </a:ln>
        </p:spPr>
      </p:pic>
    </p:spTree>
    <p:extLst>
      <p:ext uri="{BB962C8B-B14F-4D97-AF65-F5344CB8AC3E}">
        <p14:creationId xmlns:p14="http://schemas.microsoft.com/office/powerpoint/2010/main" val="2579157322"/>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asellaDiTesto 5"/>
          <p:cNvSpPr txBox="1">
            <a:spLocks noChangeArrowheads="1"/>
          </p:cNvSpPr>
          <p:nvPr/>
        </p:nvSpPr>
        <p:spPr bwMode="auto">
          <a:xfrm>
            <a:off x="152400" y="1219200"/>
            <a:ext cx="8501062"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400" b="1" dirty="0">
                <a:solidFill>
                  <a:srgbClr val="FF0000"/>
                </a:solidFill>
                <a:latin typeface="Arial" charset="0"/>
                <a:cs typeface="Arial" charset="0"/>
              </a:rPr>
              <a:t>Redundancy</a:t>
            </a:r>
            <a:r>
              <a:rPr lang="en-US" sz="1400" dirty="0">
                <a:latin typeface="Arial" charset="0"/>
                <a:cs typeface="Arial" charset="0"/>
              </a:rPr>
              <a:t>: the difference between the information carried by the joint knowledge of the two signals and the sum of the information carried by each signal individually</a:t>
            </a:r>
          </a:p>
          <a:p>
            <a:endParaRPr lang="en-US" sz="1400" dirty="0">
              <a:latin typeface="Arial" charset="0"/>
              <a:cs typeface="Arial" charset="0"/>
            </a:endParaRPr>
          </a:p>
          <a:p>
            <a:r>
              <a:rPr lang="en-US" sz="1400" b="1" dirty="0">
                <a:solidFill>
                  <a:srgbClr val="FF0000"/>
                </a:solidFill>
                <a:latin typeface="Arial" charset="0"/>
                <a:cs typeface="Arial" charset="0"/>
              </a:rPr>
              <a:t>Zero redundancy: </a:t>
            </a:r>
            <a:r>
              <a:rPr lang="en-US" sz="1400" dirty="0">
                <a:latin typeface="Arial" charset="0"/>
                <a:cs typeface="Arial" charset="0"/>
              </a:rPr>
              <a:t>the two signals carry independent information</a:t>
            </a:r>
          </a:p>
          <a:p>
            <a:endParaRPr lang="en-US" sz="1400" b="1" dirty="0">
              <a:solidFill>
                <a:srgbClr val="FF0000"/>
              </a:solidFill>
              <a:latin typeface="Arial" charset="0"/>
              <a:cs typeface="Arial" charset="0"/>
            </a:endParaRPr>
          </a:p>
          <a:p>
            <a:r>
              <a:rPr lang="en-US" sz="1400" b="1" dirty="0">
                <a:solidFill>
                  <a:srgbClr val="FF0000"/>
                </a:solidFill>
                <a:latin typeface="Arial" charset="0"/>
                <a:cs typeface="Arial" charset="0"/>
              </a:rPr>
              <a:t>Positive redundancy </a:t>
            </a:r>
            <a:r>
              <a:rPr lang="en-US" sz="1400" dirty="0">
                <a:latin typeface="Arial" charset="0"/>
                <a:cs typeface="Arial" charset="0"/>
              </a:rPr>
              <a:t>(joint information less than the sum): the two signals share at least in part the same information</a:t>
            </a:r>
          </a:p>
        </p:txBody>
      </p:sp>
      <p:sp>
        <p:nvSpPr>
          <p:cNvPr id="5" name="Titolo 1"/>
          <p:cNvSpPr>
            <a:spLocks noGrp="1"/>
          </p:cNvSpPr>
          <p:nvPr>
            <p:ph type="title"/>
          </p:nvPr>
        </p:nvSpPr>
        <p:spPr>
          <a:xfrm>
            <a:off x="-33454" y="76200"/>
            <a:ext cx="8858250" cy="1162050"/>
          </a:xfrm>
        </p:spPr>
        <p:txBody>
          <a:bodyPr>
            <a:normAutofit/>
          </a:bodyPr>
          <a:lstStyle/>
          <a:p>
            <a:pPr algn="just"/>
            <a:r>
              <a:rPr lang="it-IT" sz="3200" dirty="0">
                <a:solidFill>
                  <a:srgbClr val="FF0000"/>
                </a:solidFill>
                <a:latin typeface="Arial" charset="0"/>
                <a:cs typeface="Arial" charset="0"/>
              </a:rPr>
              <a:t>Do different LFP bands convey similar or different information </a:t>
            </a:r>
            <a:r>
              <a:rPr lang="en-US" sz="3200" dirty="0">
                <a:solidFill>
                  <a:srgbClr val="FF0000"/>
                </a:solidFill>
                <a:latin typeface="Arial" charset="0"/>
                <a:cs typeface="Arial" charset="0"/>
              </a:rPr>
              <a:t>about</a:t>
            </a:r>
            <a:r>
              <a:rPr lang="it-IT" sz="3200" dirty="0">
                <a:solidFill>
                  <a:srgbClr val="FF0000"/>
                </a:solidFill>
                <a:latin typeface="Arial" charset="0"/>
                <a:cs typeface="Arial" charset="0"/>
              </a:rPr>
              <a:t> the movie?</a:t>
            </a:r>
          </a:p>
        </p:txBody>
      </p:sp>
      <p:pic>
        <p:nvPicPr>
          <p:cNvPr id="7" name="Picture 6"/>
          <p:cNvPicPr>
            <a:picLocks noChangeAspect="1"/>
          </p:cNvPicPr>
          <p:nvPr/>
        </p:nvPicPr>
        <p:blipFill>
          <a:blip r:embed="rId2">
            <a:lum/>
            <a:alphaModFix/>
          </a:blip>
          <a:srcRect/>
          <a:stretch>
            <a:fillRect/>
          </a:stretch>
        </p:blipFill>
        <p:spPr>
          <a:xfrm>
            <a:off x="228599" y="3047999"/>
            <a:ext cx="4174331" cy="3229143"/>
          </a:xfrm>
          <a:prstGeom prst="rect">
            <a:avLst/>
          </a:prstGeom>
          <a:noFill/>
          <a:ln>
            <a:noFill/>
          </a:ln>
        </p:spPr>
      </p:pic>
      <p:pic>
        <p:nvPicPr>
          <p:cNvPr id="8" name="Picture 3"/>
          <p:cNvPicPr>
            <a:picLocks noChangeAspect="1"/>
          </p:cNvPicPr>
          <p:nvPr/>
        </p:nvPicPr>
        <p:blipFill>
          <a:blip r:embed="rId3">
            <a:lum/>
            <a:alphaModFix/>
          </a:blip>
          <a:srcRect/>
          <a:stretch>
            <a:fillRect/>
          </a:stretch>
        </p:blipFill>
        <p:spPr>
          <a:xfrm>
            <a:off x="4402931" y="2832952"/>
            <a:ext cx="4588176" cy="3444190"/>
          </a:xfrm>
          <a:prstGeom prst="rect">
            <a:avLst/>
          </a:prstGeom>
          <a:noFill/>
          <a:ln>
            <a:noFill/>
          </a:ln>
        </p:spPr>
      </p:pic>
    </p:spTree>
    <p:extLst>
      <p:ext uri="{BB962C8B-B14F-4D97-AF65-F5344CB8AC3E}">
        <p14:creationId xmlns:p14="http://schemas.microsoft.com/office/powerpoint/2010/main" val="141961455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D54833CCD4C2FF43A3A3C271054A5EB0" ma:contentTypeVersion="3" ma:contentTypeDescription="Creare un nuovo documento." ma:contentTypeScope="" ma:versionID="b70027fdb4c1b1eb2bab3914881cac99">
  <xsd:schema xmlns:xsd="http://www.w3.org/2001/XMLSchema" xmlns:xs="http://www.w3.org/2001/XMLSchema" xmlns:p="http://schemas.microsoft.com/office/2006/metadata/properties" xmlns:ns2="8442ee31-cce1-422a-bc66-5370dcdeec33" targetNamespace="http://schemas.microsoft.com/office/2006/metadata/properties" ma:root="true" ma:fieldsID="10f8f216c52543ac433b769f5bf7bd55" ns2:_="">
    <xsd:import namespace="8442ee31-cce1-422a-bc66-5370dcdeec3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42ee31-cce1-422a-bc66-5370dcdeec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267351-5412-43B0-BB0A-8E8855C5C805}">
  <ds:schemaRefs>
    <ds:schemaRef ds:uri="http://schemas.microsoft.com/sharepoint/v3/contenttype/forms"/>
  </ds:schemaRefs>
</ds:datastoreItem>
</file>

<file path=customXml/itemProps2.xml><?xml version="1.0" encoding="utf-8"?>
<ds:datastoreItem xmlns:ds="http://schemas.openxmlformats.org/officeDocument/2006/customXml" ds:itemID="{DA4DCB44-2D4A-470D-869D-E3302341E86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C87212B-CF54-4B2D-AE27-F23A8F2FA51F}"/>
</file>

<file path=docProps/app.xml><?xml version="1.0" encoding="utf-8"?>
<Properties xmlns="http://schemas.openxmlformats.org/officeDocument/2006/extended-properties" xmlns:vt="http://schemas.openxmlformats.org/officeDocument/2006/docPropsVTypes">
  <TotalTime>9</TotalTime>
  <Words>5461</Words>
  <Application>Microsoft Office PowerPoint</Application>
  <PresentationFormat>Presentazione su schermo (4:3)</PresentationFormat>
  <Paragraphs>889</Paragraphs>
  <Slides>94</Slides>
  <Notes>28</Notes>
  <HiddenSlides>0</HiddenSlides>
  <MMClips>4</MMClips>
  <ScaleCrop>false</ScaleCrop>
  <HeadingPairs>
    <vt:vector size="8" baseType="variant">
      <vt:variant>
        <vt:lpstr>Caratteri utilizzati</vt:lpstr>
      </vt:variant>
      <vt:variant>
        <vt:i4>9</vt:i4>
      </vt:variant>
      <vt:variant>
        <vt:lpstr>Tema</vt:lpstr>
      </vt:variant>
      <vt:variant>
        <vt:i4>1</vt:i4>
      </vt:variant>
      <vt:variant>
        <vt:lpstr>Server OLE incorporati</vt:lpstr>
      </vt:variant>
      <vt:variant>
        <vt:i4>3</vt:i4>
      </vt:variant>
      <vt:variant>
        <vt:lpstr>Titoli diapositive</vt:lpstr>
      </vt:variant>
      <vt:variant>
        <vt:i4>94</vt:i4>
      </vt:variant>
    </vt:vector>
  </HeadingPairs>
  <TitlesOfParts>
    <vt:vector size="107" baseType="lpstr">
      <vt:lpstr>Arial</vt:lpstr>
      <vt:lpstr>Arial Black</vt:lpstr>
      <vt:lpstr>Calibri</vt:lpstr>
      <vt:lpstr>Cambria Math</vt:lpstr>
      <vt:lpstr>Helvetica</vt:lpstr>
      <vt:lpstr>Nimbus Sans L</vt:lpstr>
      <vt:lpstr>Tahoma</vt:lpstr>
      <vt:lpstr>Times New Roman</vt:lpstr>
      <vt:lpstr>Wingdings</vt:lpstr>
      <vt:lpstr>Tema di Office</vt:lpstr>
      <vt:lpstr>Equation</vt:lpstr>
      <vt:lpstr>Equazione</vt:lpstr>
      <vt:lpstr>Image</vt:lpstr>
      <vt:lpstr>Introduction to neural coding analysis </vt:lpstr>
      <vt:lpstr>Shannon’s Information</vt:lpstr>
      <vt:lpstr>Information key equations</vt:lpstr>
      <vt:lpstr>Repeat</vt:lpstr>
      <vt:lpstr>Good question 1:  what about continuous variables?</vt:lpstr>
      <vt:lpstr>Good question 1:  what about continuous variables?</vt:lpstr>
      <vt:lpstr>Binning the variables</vt:lpstr>
      <vt:lpstr>Combining different responses</vt:lpstr>
      <vt:lpstr>Combining different responses</vt:lpstr>
      <vt:lpstr>Redundancy</vt:lpstr>
      <vt:lpstr>Advanced information theory:  BIAS</vt:lpstr>
      <vt:lpstr>Low probabilities are difficult to estimate</vt:lpstr>
      <vt:lpstr>The “plug-in” information estimation</vt:lpstr>
      <vt:lpstr>The limited sampling bias</vt:lpstr>
      <vt:lpstr>Dimensionality curse</vt:lpstr>
      <vt:lpstr>Statistics of information values:  bias and variance due to limited sampling</vt:lpstr>
      <vt:lpstr>The limited sampling bias</vt:lpstr>
      <vt:lpstr>The limited sampling bias</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Information analysis with dynamic stimuli</vt:lpstr>
      <vt:lpstr> Decoding</vt:lpstr>
      <vt:lpstr> Decoding</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 Information vs decoding</vt:lpstr>
      <vt:lpstr>Presentazione standard di PowerPoint</vt:lpstr>
      <vt:lpstr>Advantages of information theory</vt:lpstr>
      <vt:lpstr>Advantages of decoding techniques</vt:lpstr>
      <vt:lpstr>Presentazione standard di PowerPoint</vt:lpstr>
      <vt:lpstr>Information analysis with dynamic stimuli</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Computing Information about movie stimuli</vt:lpstr>
      <vt:lpstr>Presentazione standard di PowerPoint</vt:lpstr>
      <vt:lpstr>Presentazione standard di PowerPoint</vt:lpstr>
      <vt:lpstr>Presentazione standard di PowerPoint</vt:lpstr>
      <vt:lpstr>Neural Coding example: oscillations</vt:lpstr>
      <vt:lpstr>Role of fluctuations of cortical activity in sensory information coding</vt:lpstr>
      <vt:lpstr>Local Field Potentials</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Noise in the brain</vt:lpstr>
      <vt:lpstr>Noise in the brain</vt:lpstr>
      <vt:lpstr>Presentazione standard di PowerPoint</vt:lpstr>
      <vt:lpstr>Presentazione standard di PowerPoint</vt:lpstr>
      <vt:lpstr>Presentazione standard di PowerPoint</vt:lpstr>
      <vt:lpstr>Presentazione standard di PowerPoint</vt:lpstr>
      <vt:lpstr>Presentazione standard di PowerPoint</vt:lpstr>
      <vt:lpstr>Computing Information about movie stimuli</vt:lpstr>
      <vt:lpstr>Information in Power of V1 LFPs  with naturalistic movies</vt:lpstr>
      <vt:lpstr>Do different LFP bands convey similar or different information about the movie?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neural coding analysis</dc:title>
  <dc:creator>Windows User</dc:creator>
  <cp:lastModifiedBy>Alberto Mazzoni</cp:lastModifiedBy>
  <cp:revision>26</cp:revision>
  <dcterms:created xsi:type="dcterms:W3CDTF">2018-10-20T07:07:56Z</dcterms:created>
  <dcterms:modified xsi:type="dcterms:W3CDTF">2026-05-17T15:44:13Z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0x010100D54833CCD4C2FF43A3A3C271054A5EB0</vt:lpwstr>
  </property>
</Properties>
</file>