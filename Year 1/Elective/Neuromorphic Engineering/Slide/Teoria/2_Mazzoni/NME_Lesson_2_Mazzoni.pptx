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539" r:id="rId3"/>
    <p:sldId id="447" r:id="rId4"/>
    <p:sldId id="448" r:id="rId5"/>
    <p:sldId id="449" r:id="rId6"/>
    <p:sldId id="450" r:id="rId7"/>
    <p:sldId id="451" r:id="rId8"/>
    <p:sldId id="459" r:id="rId9"/>
    <p:sldId id="460" r:id="rId10"/>
    <p:sldId id="461" r:id="rId11"/>
    <p:sldId id="462" r:id="rId12"/>
    <p:sldId id="463" r:id="rId13"/>
    <p:sldId id="464" r:id="rId14"/>
    <p:sldId id="465" r:id="rId15"/>
    <p:sldId id="466" r:id="rId16"/>
    <p:sldId id="452" r:id="rId17"/>
    <p:sldId id="453" r:id="rId18"/>
    <p:sldId id="454" r:id="rId19"/>
    <p:sldId id="455" r:id="rId20"/>
    <p:sldId id="456" r:id="rId21"/>
    <p:sldId id="457" r:id="rId22"/>
    <p:sldId id="458" r:id="rId23"/>
    <p:sldId id="426" r:id="rId24"/>
    <p:sldId id="467" r:id="rId25"/>
    <p:sldId id="468" r:id="rId26"/>
    <p:sldId id="469" r:id="rId27"/>
    <p:sldId id="470" r:id="rId28"/>
    <p:sldId id="471" r:id="rId29"/>
    <p:sldId id="472" r:id="rId30"/>
    <p:sldId id="473" r:id="rId31"/>
    <p:sldId id="474" r:id="rId32"/>
    <p:sldId id="475" r:id="rId33"/>
    <p:sldId id="482" r:id="rId34"/>
    <p:sldId id="622" r:id="rId35"/>
    <p:sldId id="476" r:id="rId36"/>
    <p:sldId id="477" r:id="rId37"/>
    <p:sldId id="478" r:id="rId38"/>
    <p:sldId id="479" r:id="rId39"/>
    <p:sldId id="481" r:id="rId40"/>
    <p:sldId id="483" r:id="rId41"/>
    <p:sldId id="484" r:id="rId42"/>
    <p:sldId id="485" r:id="rId43"/>
    <p:sldId id="564" r:id="rId44"/>
    <p:sldId id="486" r:id="rId45"/>
    <p:sldId id="487" r:id="rId46"/>
    <p:sldId id="488" r:id="rId47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638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9496D-ADBF-4A18-95D4-AE7277CC9CD7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9D7BA-C0FF-4E3D-A591-4EB38D80A8EE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4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5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3106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6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68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7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6684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29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30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2714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31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32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4F7CDD-071E-4E44-BC09-EBE6C70F8E48}" type="slidenum">
              <a:rPr lang="fi-FI" smtClean="0"/>
              <a:pPr/>
              <a:t>46</a:t>
            </a:fld>
            <a:endParaRPr lang="fi-FI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693"/>
            <a:ext cx="5486400" cy="4036356"/>
          </a:xfrm>
          <a:noFill/>
          <a:ln/>
        </p:spPr>
        <p:txBody>
          <a:bodyPr wrap="none" anchor="ctr"/>
          <a:lstStyle/>
          <a:p>
            <a:pPr eaLnBrk="1" hangingPunct="1">
              <a:spcBef>
                <a:spcPct val="0"/>
              </a:spcBef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0550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3.jpeg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3.jpeg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Ion" TargetMode="External"/><Relationship Id="rId13" Type="http://schemas.openxmlformats.org/officeDocument/2006/relationships/hyperlink" Target="https://en.wikipedia.org/wiki/Receptor_(biochemistry)" TargetMode="External"/><Relationship Id="rId3" Type="http://schemas.openxmlformats.org/officeDocument/2006/relationships/image" Target="../media/image16.png"/><Relationship Id="rId7" Type="http://schemas.openxmlformats.org/officeDocument/2006/relationships/hyperlink" Target="https://en.wikipedia.org/wiki/Biological_membrane" TargetMode="External"/><Relationship Id="rId12" Type="http://schemas.openxmlformats.org/officeDocument/2006/relationships/hyperlink" Target="https://en.wikipedia.org/wiki/Neurotransmitter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hyperlink" Target="https://en.wikipedia.org/wiki/Neuron" TargetMode="External"/><Relationship Id="rId5" Type="http://schemas.openxmlformats.org/officeDocument/2006/relationships/image" Target="../media/image18.png"/><Relationship Id="rId10" Type="http://schemas.openxmlformats.org/officeDocument/2006/relationships/hyperlink" Target="https://en.wikipedia.org/wiki/Post-synaptic" TargetMode="External"/><Relationship Id="rId4" Type="http://schemas.openxmlformats.org/officeDocument/2006/relationships/image" Target="../media/image17.png"/><Relationship Id="rId9" Type="http://schemas.openxmlformats.org/officeDocument/2006/relationships/hyperlink" Target="https://en.wikipedia.org/wiki/Membrane_potential" TargetMode="External"/><Relationship Id="rId14" Type="http://schemas.openxmlformats.org/officeDocument/2006/relationships/hyperlink" Target="https://en.wikipedia.org/wiki/Ion_channe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if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if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om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5975"/>
          <a:stretch/>
        </p:blipFill>
        <p:spPr bwMode="auto">
          <a:xfrm>
            <a:off x="482318" y="4943127"/>
            <a:ext cx="2392127" cy="116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2318" y="227176"/>
            <a:ext cx="8410162" cy="5506080"/>
          </a:xfrm>
        </p:spPr>
        <p:txBody>
          <a:bodyPr>
            <a:normAutofit fontScale="90000"/>
          </a:bodyPr>
          <a:lstStyle/>
          <a:p>
            <a:r>
              <a:rPr lang="it-IT" sz="6000" b="1" dirty="0" err="1">
                <a:solidFill>
                  <a:srgbClr val="FF0000"/>
                </a:solidFill>
              </a:rPr>
              <a:t>Neuromorphic</a:t>
            </a:r>
            <a:r>
              <a:rPr lang="it-IT" sz="6000" b="1" dirty="0">
                <a:solidFill>
                  <a:srgbClr val="FF0000"/>
                </a:solidFill>
              </a:rPr>
              <a:t> engineering: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computational</a:t>
            </a:r>
            <a:r>
              <a:rPr lang="it-IT" sz="6000" b="1" dirty="0">
                <a:solidFill>
                  <a:srgbClr val="FF0000"/>
                </a:solidFill>
              </a:rPr>
              <a:t> </a:t>
            </a:r>
            <a:r>
              <a:rPr lang="it-IT" sz="6000" b="1" dirty="0" err="1">
                <a:solidFill>
                  <a:srgbClr val="FF0000"/>
                </a:solidFill>
              </a:rPr>
              <a:t>neuroengineering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module</a:t>
            </a:r>
            <a:br>
              <a:rPr lang="it-IT" sz="6000" b="1" dirty="0">
                <a:solidFill>
                  <a:srgbClr val="FF0000"/>
                </a:solidFill>
              </a:rPr>
            </a:br>
            <a:endParaRPr lang="it-IT" sz="6000" b="1" dirty="0">
              <a:solidFill>
                <a:srgbClr val="FF0000"/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347864" y="5131249"/>
            <a:ext cx="5688632" cy="792088"/>
          </a:xfrm>
        </p:spPr>
        <p:txBody>
          <a:bodyPr>
            <a:normAutofit/>
          </a:bodyPr>
          <a:lstStyle/>
          <a:p>
            <a:r>
              <a:rPr lang="it-IT" dirty="0" err="1"/>
              <a:t>Mazzoni@Bionics</a:t>
            </a:r>
            <a:r>
              <a:rPr lang="it-IT" dirty="0"/>
              <a:t>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B51B-CF0A-6033-E7B9-808730DA2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AE849C-E6D2-9317-41A3-205130520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5696" y="4005064"/>
            <a:ext cx="5148064" cy="1470025"/>
          </a:xfrm>
        </p:spPr>
        <p:txBody>
          <a:bodyPr>
            <a:normAutofit fontScale="90000"/>
          </a:bodyPr>
          <a:lstStyle/>
          <a:p>
            <a:r>
              <a:rPr lang="it-IT" sz="6000" b="1" dirty="0" err="1">
                <a:solidFill>
                  <a:srgbClr val="FF0000"/>
                </a:solidFill>
              </a:rPr>
              <a:t>Neuronal</a:t>
            </a:r>
            <a:r>
              <a:rPr lang="it-IT" sz="6000" b="1" dirty="0">
                <a:solidFill>
                  <a:srgbClr val="FF0000"/>
                </a:solidFill>
              </a:rPr>
              <a:t> </a:t>
            </a:r>
            <a:r>
              <a:rPr lang="it-IT" sz="6000" b="1" dirty="0" err="1">
                <a:solidFill>
                  <a:srgbClr val="FF0000"/>
                </a:solidFill>
              </a:rPr>
              <a:t>Models</a:t>
            </a:r>
            <a:endParaRPr lang="it-IT" sz="6000" b="1" dirty="0">
              <a:solidFill>
                <a:srgbClr val="FF0000"/>
              </a:solidFill>
            </a:endParaRPr>
          </a:p>
        </p:txBody>
      </p:sp>
      <p:pic>
        <p:nvPicPr>
          <p:cNvPr id="7" name="Picture 2" descr="http://www.inmondadori.it/img/Kill-Bill-Volume-1-DVD-Quentin-Tarantino/ea803117993243/BL/BL/10/NZO/?tit=Kill+Bill+-+Volume+1+(DVD)&amp;aut=Quentin+Tarantino">
            <a:extLst>
              <a:ext uri="{FF2B5EF4-FFF2-40B4-BE49-F238E27FC236}">
                <a16:creationId xmlns:a16="http://schemas.microsoft.com/office/drawing/2014/main" id="{B0F6ED58-3944-BC02-E59C-A8912AB1E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" t="63461" r="61272" b="847"/>
          <a:stretch/>
        </p:blipFill>
        <p:spPr bwMode="auto">
          <a:xfrm>
            <a:off x="3851920" y="764704"/>
            <a:ext cx="1857388" cy="239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18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778098"/>
          </a:xfrm>
        </p:spPr>
        <p:txBody>
          <a:bodyPr>
            <a:noAutofit/>
          </a:bodyPr>
          <a:lstStyle/>
          <a:p>
            <a:r>
              <a:rPr lang="it-IT" sz="3200" dirty="0" err="1">
                <a:solidFill>
                  <a:srgbClr val="FF0000"/>
                </a:solidFill>
              </a:rPr>
              <a:t>Introducing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r>
              <a:rPr lang="it-IT" sz="3200" dirty="0" err="1">
                <a:solidFill>
                  <a:srgbClr val="FF0000"/>
                </a:solidFill>
              </a:rPr>
              <a:t>resting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r>
              <a:rPr lang="it-IT" sz="3200" dirty="0" err="1">
                <a:solidFill>
                  <a:srgbClr val="FF0000"/>
                </a:solidFill>
              </a:rPr>
              <a:t>potential</a:t>
            </a:r>
            <a:r>
              <a:rPr lang="it-IT" sz="3200" dirty="0">
                <a:solidFill>
                  <a:srgbClr val="FF0000"/>
                </a:solidFill>
              </a:rPr>
              <a:t>: </a:t>
            </a:r>
            <a:br>
              <a:rPr lang="it-IT" sz="3200" dirty="0">
                <a:solidFill>
                  <a:srgbClr val="FF0000"/>
                </a:solidFill>
              </a:rPr>
            </a:br>
            <a:r>
              <a:rPr lang="it-IT" sz="3200" dirty="0">
                <a:solidFill>
                  <a:srgbClr val="FF0000"/>
                </a:solidFill>
              </a:rPr>
              <a:t>the 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LEAKY</a:t>
            </a:r>
            <a:r>
              <a:rPr lang="it-IT" sz="3200" dirty="0">
                <a:solidFill>
                  <a:srgbClr val="FF0000"/>
                </a:solidFill>
              </a:rPr>
              <a:t> integrate and </a:t>
            </a:r>
            <a:r>
              <a:rPr lang="it-IT" sz="3200" dirty="0" err="1">
                <a:solidFill>
                  <a:srgbClr val="FF0000"/>
                </a:solidFill>
              </a:rPr>
              <a:t>fire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r>
              <a:rPr lang="it-IT" sz="3200" dirty="0" err="1">
                <a:solidFill>
                  <a:srgbClr val="FF0000"/>
                </a:solidFill>
              </a:rPr>
              <a:t>neuron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Figura a mano libera 3"/>
          <p:cNvSpPr/>
          <p:nvPr/>
        </p:nvSpPr>
        <p:spPr>
          <a:xfrm>
            <a:off x="255628" y="3059651"/>
            <a:ext cx="5777346" cy="2943033"/>
          </a:xfrm>
          <a:custGeom>
            <a:avLst/>
            <a:gdLst>
              <a:gd name="connsiteX0" fmla="*/ 0 w 5624946"/>
              <a:gd name="connsiteY0" fmla="*/ 2355273 h 2889629"/>
              <a:gd name="connsiteX1" fmla="*/ 831273 w 5624946"/>
              <a:gd name="connsiteY1" fmla="*/ 2881746 h 2889629"/>
              <a:gd name="connsiteX2" fmla="*/ 1510146 w 5624946"/>
              <a:gd name="connsiteY2" fmla="*/ 1995055 h 2889629"/>
              <a:gd name="connsiteX3" fmla="*/ 2867891 w 5624946"/>
              <a:gd name="connsiteY3" fmla="*/ 2382982 h 2889629"/>
              <a:gd name="connsiteX4" fmla="*/ 3297382 w 5624946"/>
              <a:gd name="connsiteY4" fmla="*/ 1108364 h 2889629"/>
              <a:gd name="connsiteX5" fmla="*/ 4114800 w 5624946"/>
              <a:gd name="connsiteY5" fmla="*/ 1579418 h 2889629"/>
              <a:gd name="connsiteX6" fmla="*/ 4890655 w 5624946"/>
              <a:gd name="connsiteY6" fmla="*/ 554182 h 2889629"/>
              <a:gd name="connsiteX7" fmla="*/ 5514109 w 5624946"/>
              <a:gd name="connsiteY7" fmla="*/ 83127 h 2889629"/>
              <a:gd name="connsiteX8" fmla="*/ 5624946 w 5624946"/>
              <a:gd name="connsiteY8" fmla="*/ 0 h 2889629"/>
              <a:gd name="connsiteX0" fmla="*/ 0 w 5777346"/>
              <a:gd name="connsiteY0" fmla="*/ 2672773 h 2943033"/>
              <a:gd name="connsiteX1" fmla="*/ 983673 w 5777346"/>
              <a:gd name="connsiteY1" fmla="*/ 2881746 h 2943033"/>
              <a:gd name="connsiteX2" fmla="*/ 1662546 w 5777346"/>
              <a:gd name="connsiteY2" fmla="*/ 1995055 h 2943033"/>
              <a:gd name="connsiteX3" fmla="*/ 3020291 w 5777346"/>
              <a:gd name="connsiteY3" fmla="*/ 2382982 h 2943033"/>
              <a:gd name="connsiteX4" fmla="*/ 3449782 w 5777346"/>
              <a:gd name="connsiteY4" fmla="*/ 1108364 h 2943033"/>
              <a:gd name="connsiteX5" fmla="*/ 4267200 w 5777346"/>
              <a:gd name="connsiteY5" fmla="*/ 1579418 h 2943033"/>
              <a:gd name="connsiteX6" fmla="*/ 5043055 w 5777346"/>
              <a:gd name="connsiteY6" fmla="*/ 554182 h 2943033"/>
              <a:gd name="connsiteX7" fmla="*/ 5666509 w 5777346"/>
              <a:gd name="connsiteY7" fmla="*/ 83127 h 2943033"/>
              <a:gd name="connsiteX8" fmla="*/ 5777346 w 5777346"/>
              <a:gd name="connsiteY8" fmla="*/ 0 h 2943033"/>
              <a:gd name="connsiteX0" fmla="*/ 0 w 5777346"/>
              <a:gd name="connsiteY0" fmla="*/ 2672773 h 2943033"/>
              <a:gd name="connsiteX1" fmla="*/ 983673 w 5777346"/>
              <a:gd name="connsiteY1" fmla="*/ 2881746 h 2943033"/>
              <a:gd name="connsiteX2" fmla="*/ 1662546 w 5777346"/>
              <a:gd name="connsiteY2" fmla="*/ 1995055 h 2943033"/>
              <a:gd name="connsiteX3" fmla="*/ 3071091 w 5777346"/>
              <a:gd name="connsiteY3" fmla="*/ 2154382 h 2943033"/>
              <a:gd name="connsiteX4" fmla="*/ 3449782 w 5777346"/>
              <a:gd name="connsiteY4" fmla="*/ 1108364 h 2943033"/>
              <a:gd name="connsiteX5" fmla="*/ 4267200 w 5777346"/>
              <a:gd name="connsiteY5" fmla="*/ 1579418 h 2943033"/>
              <a:gd name="connsiteX6" fmla="*/ 5043055 w 5777346"/>
              <a:gd name="connsiteY6" fmla="*/ 554182 h 2943033"/>
              <a:gd name="connsiteX7" fmla="*/ 5666509 w 5777346"/>
              <a:gd name="connsiteY7" fmla="*/ 83127 h 2943033"/>
              <a:gd name="connsiteX8" fmla="*/ 5777346 w 5777346"/>
              <a:gd name="connsiteY8" fmla="*/ 0 h 2943033"/>
              <a:gd name="connsiteX0" fmla="*/ 0 w 5777346"/>
              <a:gd name="connsiteY0" fmla="*/ 2672773 h 2943033"/>
              <a:gd name="connsiteX1" fmla="*/ 983673 w 5777346"/>
              <a:gd name="connsiteY1" fmla="*/ 2881746 h 2943033"/>
              <a:gd name="connsiteX2" fmla="*/ 1662546 w 5777346"/>
              <a:gd name="connsiteY2" fmla="*/ 1995055 h 2943033"/>
              <a:gd name="connsiteX3" fmla="*/ 3071091 w 5777346"/>
              <a:gd name="connsiteY3" fmla="*/ 2154382 h 2943033"/>
              <a:gd name="connsiteX4" fmla="*/ 3449782 w 5777346"/>
              <a:gd name="connsiteY4" fmla="*/ 1108364 h 2943033"/>
              <a:gd name="connsiteX5" fmla="*/ 4279900 w 5777346"/>
              <a:gd name="connsiteY5" fmla="*/ 2049318 h 2943033"/>
              <a:gd name="connsiteX6" fmla="*/ 5043055 w 5777346"/>
              <a:gd name="connsiteY6" fmla="*/ 554182 h 2943033"/>
              <a:gd name="connsiteX7" fmla="*/ 5666509 w 5777346"/>
              <a:gd name="connsiteY7" fmla="*/ 83127 h 2943033"/>
              <a:gd name="connsiteX8" fmla="*/ 5777346 w 5777346"/>
              <a:gd name="connsiteY8" fmla="*/ 0 h 294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7346" h="2943033">
                <a:moveTo>
                  <a:pt x="0" y="2672773"/>
                </a:moveTo>
                <a:cubicBezTo>
                  <a:pt x="289791" y="2966027"/>
                  <a:pt x="706582" y="2994699"/>
                  <a:pt x="983673" y="2881746"/>
                </a:cubicBezTo>
                <a:cubicBezTo>
                  <a:pt x="1260764" y="2768793"/>
                  <a:pt x="1314643" y="2116282"/>
                  <a:pt x="1662546" y="1995055"/>
                </a:cubicBezTo>
                <a:cubicBezTo>
                  <a:pt x="2010449" y="1873828"/>
                  <a:pt x="2773218" y="2302164"/>
                  <a:pt x="3071091" y="2154382"/>
                </a:cubicBezTo>
                <a:cubicBezTo>
                  <a:pt x="3368964" y="2006600"/>
                  <a:pt x="3248314" y="1125875"/>
                  <a:pt x="3449782" y="1108364"/>
                </a:cubicBezTo>
                <a:cubicBezTo>
                  <a:pt x="3651250" y="1090853"/>
                  <a:pt x="4014355" y="2141682"/>
                  <a:pt x="4279900" y="2049318"/>
                </a:cubicBezTo>
                <a:cubicBezTo>
                  <a:pt x="4545445" y="1956954"/>
                  <a:pt x="4811954" y="881880"/>
                  <a:pt x="5043055" y="554182"/>
                </a:cubicBezTo>
                <a:cubicBezTo>
                  <a:pt x="5274156" y="226484"/>
                  <a:pt x="5666509" y="83127"/>
                  <a:pt x="5666509" y="83127"/>
                </a:cubicBezTo>
                <a:lnTo>
                  <a:pt x="5777346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1 5"/>
          <p:cNvCxnSpPr>
            <a:stCxn id="4" idx="8"/>
          </p:cNvCxnSpPr>
          <p:nvPr/>
        </p:nvCxnSpPr>
        <p:spPr>
          <a:xfrm>
            <a:off x="6032974" y="3059651"/>
            <a:ext cx="0" cy="235619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igura a mano libera 8"/>
          <p:cNvSpPr/>
          <p:nvPr/>
        </p:nvSpPr>
        <p:spPr>
          <a:xfrm>
            <a:off x="6060683" y="4220000"/>
            <a:ext cx="2687781" cy="1401285"/>
          </a:xfrm>
          <a:custGeom>
            <a:avLst/>
            <a:gdLst>
              <a:gd name="connsiteX0" fmla="*/ 0 w 2687781"/>
              <a:gd name="connsiteY0" fmla="*/ 1179612 h 1401285"/>
              <a:gd name="connsiteX1" fmla="*/ 928254 w 2687781"/>
              <a:gd name="connsiteY1" fmla="*/ 1976 h 1401285"/>
              <a:gd name="connsiteX2" fmla="*/ 1440872 w 2687781"/>
              <a:gd name="connsiteY2" fmla="*/ 888667 h 1401285"/>
              <a:gd name="connsiteX3" fmla="*/ 1648691 w 2687781"/>
              <a:gd name="connsiteY3" fmla="*/ 459176 h 1401285"/>
              <a:gd name="connsiteX4" fmla="*/ 2493818 w 2687781"/>
              <a:gd name="connsiteY4" fmla="*/ 306776 h 1401285"/>
              <a:gd name="connsiteX5" fmla="*/ 2687781 w 2687781"/>
              <a:gd name="connsiteY5" fmla="*/ 1401285 h 140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7781" h="1401285">
                <a:moveTo>
                  <a:pt x="0" y="1179612"/>
                </a:moveTo>
                <a:cubicBezTo>
                  <a:pt x="344054" y="615039"/>
                  <a:pt x="688109" y="50467"/>
                  <a:pt x="928254" y="1976"/>
                </a:cubicBezTo>
                <a:cubicBezTo>
                  <a:pt x="1168399" y="-46515"/>
                  <a:pt x="1320799" y="812467"/>
                  <a:pt x="1440872" y="888667"/>
                </a:cubicBezTo>
                <a:cubicBezTo>
                  <a:pt x="1560945" y="964867"/>
                  <a:pt x="1473200" y="556158"/>
                  <a:pt x="1648691" y="459176"/>
                </a:cubicBezTo>
                <a:cubicBezTo>
                  <a:pt x="1824182" y="362194"/>
                  <a:pt x="2320636" y="149758"/>
                  <a:pt x="2493818" y="306776"/>
                </a:cubicBezTo>
                <a:cubicBezTo>
                  <a:pt x="2667000" y="463794"/>
                  <a:pt x="2657763" y="1216558"/>
                  <a:pt x="2687781" y="140128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1 11"/>
          <p:cNvCxnSpPr/>
          <p:nvPr/>
        </p:nvCxnSpPr>
        <p:spPr>
          <a:xfrm>
            <a:off x="251520" y="3059651"/>
            <a:ext cx="8712968" cy="0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408028" y="2492896"/>
            <a:ext cx="1211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potential</a:t>
            </a:r>
            <a:endParaRPr lang="it-IT" dirty="0"/>
          </a:p>
        </p:txBody>
      </p:sp>
      <p:sp>
        <p:nvSpPr>
          <p:cNvPr id="14" name="CasellaDiTesto 13"/>
          <p:cNvSpPr txBox="1"/>
          <p:nvPr/>
        </p:nvSpPr>
        <p:spPr>
          <a:xfrm>
            <a:off x="1619672" y="5446965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Membrane</a:t>
            </a:r>
          </a:p>
          <a:p>
            <a:r>
              <a:rPr lang="it-IT" dirty="0" err="1"/>
              <a:t>potential</a:t>
            </a:r>
            <a:endParaRPr lang="it-IT" dirty="0"/>
          </a:p>
        </p:txBody>
      </p:sp>
      <p:cxnSp>
        <p:nvCxnSpPr>
          <p:cNvPr id="16" name="Connettore 1 15"/>
          <p:cNvCxnSpPr/>
          <p:nvPr/>
        </p:nvCxnSpPr>
        <p:spPr>
          <a:xfrm>
            <a:off x="6032974" y="1628800"/>
            <a:ext cx="0" cy="1080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/>
          <p:cNvSpPr txBox="1"/>
          <p:nvPr/>
        </p:nvSpPr>
        <p:spPr>
          <a:xfrm>
            <a:off x="6156176" y="191683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Spike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6156175" y="3429000"/>
            <a:ext cx="124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Reset</a:t>
            </a:r>
          </a:p>
        </p:txBody>
      </p:sp>
      <p:cxnSp>
        <p:nvCxnSpPr>
          <p:cNvPr id="21" name="Connettore 2 20"/>
          <p:cNvCxnSpPr/>
          <p:nvPr/>
        </p:nvCxnSpPr>
        <p:spPr>
          <a:xfrm>
            <a:off x="1907704" y="6165304"/>
            <a:ext cx="4896544" cy="0"/>
          </a:xfrm>
          <a:prstGeom prst="straightConnector1">
            <a:avLst/>
          </a:prstGeom>
          <a:ln w="762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3707904" y="57239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Time</a:t>
            </a:r>
          </a:p>
        </p:txBody>
      </p:sp>
      <p:sp>
        <p:nvSpPr>
          <p:cNvPr id="15" name="CasellaDiTesto 14"/>
          <p:cNvSpPr txBox="1"/>
          <p:nvPr/>
        </p:nvSpPr>
        <p:spPr>
          <a:xfrm>
            <a:off x="3306898" y="3429000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2590800" y="4191000"/>
            <a:ext cx="122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Comes</a:t>
            </a:r>
            <a:r>
              <a:rPr lang="it-IT" dirty="0"/>
              <a:t> back to </a:t>
            </a:r>
            <a:r>
              <a:rPr lang="it-IT" dirty="0" err="1"/>
              <a:t>resting</a:t>
            </a:r>
            <a:endParaRPr lang="it-IT" dirty="0"/>
          </a:p>
        </p:txBody>
      </p:sp>
      <p:sp>
        <p:nvSpPr>
          <p:cNvPr id="20" name="CasellaDiTesto 19"/>
          <p:cNvSpPr txBox="1"/>
          <p:nvPr/>
        </p:nvSpPr>
        <p:spPr>
          <a:xfrm>
            <a:off x="4719464" y="4763869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002060"/>
                </a:solidFill>
              </a:rPr>
              <a:t>Inhibitory</a:t>
            </a:r>
            <a:r>
              <a:rPr lang="it-IT" dirty="0">
                <a:solidFill>
                  <a:srgbClr val="002060"/>
                </a:solidFill>
              </a:rPr>
              <a:t> input</a:t>
            </a:r>
          </a:p>
        </p:txBody>
      </p:sp>
      <p:sp>
        <p:nvSpPr>
          <p:cNvPr id="22" name="CasellaDiTesto 21"/>
          <p:cNvSpPr txBox="1"/>
          <p:nvPr/>
        </p:nvSpPr>
        <p:spPr>
          <a:xfrm>
            <a:off x="5176664" y="3849469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24" name="CasellaDiTesto 23"/>
          <p:cNvSpPr txBox="1"/>
          <p:nvPr/>
        </p:nvSpPr>
        <p:spPr>
          <a:xfrm>
            <a:off x="1214264" y="4382869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25" name="CasellaDiTesto 24"/>
          <p:cNvSpPr txBox="1"/>
          <p:nvPr/>
        </p:nvSpPr>
        <p:spPr>
          <a:xfrm>
            <a:off x="452264" y="5020270"/>
            <a:ext cx="122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Comes</a:t>
            </a:r>
            <a:r>
              <a:rPr lang="it-IT" dirty="0"/>
              <a:t> back to </a:t>
            </a:r>
            <a:r>
              <a:rPr lang="it-IT" dirty="0" err="1"/>
              <a:t>resting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6711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41770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/>
              <p:nvPr/>
            </p:nvSpPr>
            <p:spPr>
              <a:xfrm>
                <a:off x="214313" y="2217758"/>
                <a:ext cx="8918613" cy="4398942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it-IT" sz="2400" dirty="0"/>
                  <a:t>= </a:t>
                </a:r>
                <a:r>
                  <a:rPr lang="it-IT" sz="2400" dirty="0" err="1"/>
                  <a:t>relaxation</a:t>
                </a:r>
                <a:r>
                  <a:rPr lang="it-IT" sz="2400" dirty="0"/>
                  <a:t> time of membrane </a:t>
                </a:r>
                <a:r>
                  <a:rPr lang="it-IT" sz="2400" dirty="0" err="1"/>
                  <a:t>potential</a:t>
                </a:r>
                <a:r>
                  <a:rPr lang="it-IT" sz="2400" dirty="0"/>
                  <a:t> (</a:t>
                </a:r>
                <a:r>
                  <a:rPr lang="it-IT" sz="2400" dirty="0" err="1"/>
                  <a:t>usually</a:t>
                </a:r>
                <a:r>
                  <a:rPr lang="it-IT" sz="2400" dirty="0"/>
                  <a:t> 20 </a:t>
                </a:r>
                <a:r>
                  <a:rPr lang="it-IT" sz="2400" dirty="0" err="1"/>
                  <a:t>ms</a:t>
                </a:r>
                <a:r>
                  <a:rPr lang="it-IT" sz="2400" dirty="0"/>
                  <a:t> or so, </a:t>
                </a:r>
                <a:r>
                  <a:rPr lang="it-IT" sz="2400" dirty="0" err="1"/>
                  <a:t>depends</a:t>
                </a:r>
                <a:r>
                  <a:rPr lang="it-IT" sz="2400" dirty="0"/>
                  <a:t> on the size of the soma)</a:t>
                </a:r>
              </a:p>
              <a:p>
                <a:pPr algn="ctr"/>
                <a:r>
                  <a:rPr lang="it-IT" sz="2400" dirty="0"/>
                  <a:t>Reset </a:t>
                </a:r>
                <a:r>
                  <a:rPr lang="it-IT" sz="2400" dirty="0" err="1"/>
                  <a:t>potential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set </a:t>
                </a:r>
                <a:r>
                  <a:rPr lang="it-IT" sz="2400" dirty="0" err="1"/>
                  <a:t>at</a:t>
                </a:r>
                <a:r>
                  <a:rPr lang="it-IT" sz="2400" dirty="0"/>
                  <a:t> 0 </a:t>
                </a:r>
                <a:r>
                  <a:rPr lang="it-IT" sz="2400" dirty="0" err="1"/>
                  <a:t>mV</a:t>
                </a:r>
                <a:endParaRPr lang="it-IT" sz="24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indicates</a:t>
                </a:r>
                <a:r>
                  <a:rPr lang="it-IT" sz="2400" dirty="0"/>
                  <a:t> AMPA (</a:t>
                </a:r>
                <a:r>
                  <a:rPr lang="it-IT" sz="2400" dirty="0" err="1"/>
                  <a:t>excitatory</a:t>
                </a:r>
                <a:r>
                  <a:rPr lang="it-IT" sz="2400" dirty="0"/>
                  <a:t>) post-</a:t>
                </a:r>
                <a:r>
                  <a:rPr lang="it-IT" sz="2400" dirty="0" err="1"/>
                  <a:t>synaptic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potentials</a:t>
                </a:r>
                <a:r>
                  <a:rPr lang="it-IT" sz="2400" dirty="0"/>
                  <a:t> (PSP)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indicates</a:t>
                </a:r>
                <a:r>
                  <a:rPr lang="it-IT" sz="2400" dirty="0"/>
                  <a:t> GABA (</a:t>
                </a:r>
                <a:r>
                  <a:rPr lang="it-IT" sz="2400" dirty="0" err="1"/>
                  <a:t>inhibitory</a:t>
                </a:r>
                <a:r>
                  <a:rPr lang="it-IT" sz="2400" dirty="0"/>
                  <a:t>) post-</a:t>
                </a:r>
                <a:r>
                  <a:rPr lang="it-IT" sz="2400" dirty="0" err="1"/>
                  <a:t>synaptic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potentials</a:t>
                </a:r>
                <a:r>
                  <a:rPr lang="it-IT" sz="2400" dirty="0"/>
                  <a:t> (PSP)</a:t>
                </a:r>
              </a:p>
            </p:txBody>
          </p:sp>
        </mc:Choice>
        <mc:Fallback xmlns="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13" y="2217758"/>
                <a:ext cx="8918613" cy="4398942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2689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/>
              <p:nvPr/>
            </p:nvSpPr>
            <p:spPr>
              <a:xfrm>
                <a:off x="5251450" y="1"/>
                <a:ext cx="3881476" cy="6616700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 sz="2400" i="1" dirty="0">
                  <a:latin typeface="Cambria Math" panose="02040503050406030204" pitchFamily="18" charset="0"/>
                </a:endParaRPr>
              </a:p>
              <a:p>
                <a:pPr algn="ctr"/>
                <a:endParaRPr lang="it-IT" sz="2400" i="1" dirty="0">
                  <a:latin typeface="Cambria Math" panose="02040503050406030204" pitchFamily="18" charset="0"/>
                </a:endParaRPr>
              </a:p>
              <a:p>
                <a:pPr algn="ctr"/>
                <a:endParaRPr lang="it-IT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indicates</a:t>
                </a:r>
                <a:r>
                  <a:rPr lang="it-IT" sz="2400" dirty="0"/>
                  <a:t> rise time of the PSP (1-5 </a:t>
                </a:r>
                <a:r>
                  <a:rPr lang="it-IT" sz="2400" dirty="0" err="1"/>
                  <a:t>ms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usually</a:t>
                </a:r>
                <a:r>
                  <a:rPr lang="it-IT" sz="2400" dirty="0"/>
                  <a:t>) due to </a:t>
                </a:r>
                <a:r>
                  <a:rPr lang="it-IT" sz="2400" dirty="0" err="1"/>
                  <a:t>channel</a:t>
                </a:r>
                <a:r>
                  <a:rPr lang="it-IT" sz="2400" dirty="0"/>
                  <a:t> opening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it-IT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400" dirty="0"/>
                  <a:t>indicates </a:t>
                </a:r>
                <a:r>
                  <a:rPr lang="it-IT" sz="2400" dirty="0" err="1"/>
                  <a:t>decay</a:t>
                </a:r>
                <a:r>
                  <a:rPr lang="it-IT" sz="2400" dirty="0"/>
                  <a:t> time of the PSP (3-10 </a:t>
                </a:r>
                <a:r>
                  <a:rPr lang="it-IT" sz="2400" dirty="0" err="1"/>
                  <a:t>ms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usually</a:t>
                </a:r>
                <a:r>
                  <a:rPr lang="it-IT" sz="2400" dirty="0"/>
                  <a:t>) due to </a:t>
                </a:r>
                <a:r>
                  <a:rPr lang="it-IT" sz="2400" dirty="0" err="1"/>
                  <a:t>channel</a:t>
                </a:r>
                <a:r>
                  <a:rPr lang="it-IT" sz="2400" dirty="0"/>
                  <a:t> closing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𝑠𝑡𝑖𝑚</m:t>
                        </m:r>
                      </m:sup>
                    </m:sSubSup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0 </a:t>
                </a:r>
                <a:r>
                  <a:rPr lang="it-IT" sz="2400" dirty="0" err="1"/>
                  <a:t>except</a:t>
                </a:r>
                <a:r>
                  <a:rPr lang="it-IT" sz="2400" dirty="0"/>
                  <a:t> </a:t>
                </a:r>
                <a:r>
                  <a:rPr lang="it-IT" sz="2400" dirty="0" err="1"/>
                  <a:t>when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neuron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receiving</a:t>
                </a:r>
                <a:r>
                  <a:rPr lang="it-IT" sz="2400" dirty="0"/>
                  <a:t> an input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𝑠𝑡𝑖𝑚</m:t>
                        </m:r>
                      </m:sup>
                    </m:sSubSup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strength</a:t>
                </a:r>
                <a:r>
                  <a:rPr lang="it-IT" sz="2400" dirty="0"/>
                  <a:t> of the input</a:t>
                </a:r>
              </a:p>
              <a:p>
                <a:pPr algn="ctr"/>
                <a:endParaRPr lang="it-IT" sz="2400" dirty="0"/>
              </a:p>
              <a:p>
                <a:pPr algn="ctr"/>
                <a:endParaRPr lang="it-IT" sz="2400" dirty="0"/>
              </a:p>
              <a:p>
                <a:pPr algn="ctr"/>
                <a:endParaRPr lang="it-IT" sz="2400" dirty="0"/>
              </a:p>
            </p:txBody>
          </p:sp>
        </mc:Choice>
        <mc:Fallback xmlns="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450" y="1"/>
                <a:ext cx="3881476" cy="66167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2499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9C96A087-4DB7-4D80-AD8F-BA10B099C053}"/>
              </a:ext>
            </a:extLst>
          </p:cNvPr>
          <p:cNvSpPr/>
          <p:nvPr/>
        </p:nvSpPr>
        <p:spPr>
          <a:xfrm>
            <a:off x="507962" y="1297690"/>
            <a:ext cx="3881476" cy="439124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r>
              <a:rPr lang="it-IT" sz="2400" dirty="0"/>
              <a:t>The </a:t>
            </a:r>
            <a:r>
              <a:rPr lang="it-IT" sz="2400" dirty="0" err="1"/>
              <a:t>solution</a:t>
            </a:r>
            <a:r>
              <a:rPr lang="it-IT" sz="2400" dirty="0"/>
              <a:t> of the </a:t>
            </a:r>
            <a:r>
              <a:rPr lang="it-IT" sz="2400" dirty="0" err="1"/>
              <a:t>coupled</a:t>
            </a:r>
            <a:r>
              <a:rPr lang="it-IT" sz="2400" dirty="0"/>
              <a:t> </a:t>
            </a:r>
            <a:r>
              <a:rPr lang="it-IT" sz="2400" dirty="0" err="1"/>
              <a:t>differential</a:t>
            </a:r>
            <a:r>
              <a:rPr lang="it-IT" sz="2400" dirty="0"/>
              <a:t> </a:t>
            </a:r>
            <a:r>
              <a:rPr lang="it-IT" sz="2400" dirty="0" err="1"/>
              <a:t>equation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a </a:t>
            </a:r>
            <a:r>
              <a:rPr lang="it-IT" sz="2400" dirty="0" err="1"/>
              <a:t>difference</a:t>
            </a:r>
            <a:r>
              <a:rPr lang="it-IT" sz="2400" dirty="0"/>
              <a:t> of </a:t>
            </a:r>
            <a:r>
              <a:rPr lang="it-IT" sz="2400" dirty="0" err="1"/>
              <a:t>exponential</a:t>
            </a:r>
            <a:r>
              <a:rPr lang="it-IT" sz="2400" dirty="0"/>
              <a:t> following the </a:t>
            </a:r>
            <a:r>
              <a:rPr lang="it-IT" sz="2400" dirty="0" err="1"/>
              <a:t>onset</a:t>
            </a:r>
            <a:r>
              <a:rPr lang="it-IT" sz="2400" dirty="0"/>
              <a:t> of </a:t>
            </a:r>
            <a:r>
              <a:rPr lang="it-IT" sz="2400" dirty="0" err="1"/>
              <a:t>each</a:t>
            </a:r>
            <a:r>
              <a:rPr lang="it-IT" sz="2400" dirty="0"/>
              <a:t> </a:t>
            </a:r>
            <a:r>
              <a:rPr lang="it-IT" sz="2400" dirty="0" err="1"/>
              <a:t>stimulus</a:t>
            </a:r>
            <a:r>
              <a:rPr lang="it-IT" sz="2400" dirty="0"/>
              <a:t>, with </a:t>
            </a:r>
            <a:r>
              <a:rPr lang="it-IT" sz="2400" dirty="0" err="1"/>
              <a:t>amplitude</a:t>
            </a:r>
            <a:r>
              <a:rPr lang="it-IT" sz="2400" dirty="0"/>
              <a:t> J.</a:t>
            </a:r>
          </a:p>
          <a:p>
            <a:pPr algn="ctr"/>
            <a:endParaRPr lang="it-IT" sz="2400" dirty="0"/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1219949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2686"/>
            <a:ext cx="9144000" cy="686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2686"/>
            <a:ext cx="9144000" cy="686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5523232D-DB03-42C4-A1D6-98EF2C9A5B36}"/>
              </a:ext>
            </a:extLst>
          </p:cNvPr>
          <p:cNvSpPr/>
          <p:nvPr/>
        </p:nvSpPr>
        <p:spPr>
          <a:xfrm>
            <a:off x="755576" y="3933056"/>
            <a:ext cx="8064896" cy="191288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/>
              <a:t>Adaptation: the input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constant</a:t>
            </a:r>
            <a:r>
              <a:rPr lang="it-IT" sz="2400" dirty="0"/>
              <a:t> </a:t>
            </a:r>
            <a:r>
              <a:rPr lang="it-IT" sz="2400" dirty="0" err="1"/>
              <a:t>but</a:t>
            </a:r>
            <a:r>
              <a:rPr lang="it-IT" sz="2400" dirty="0"/>
              <a:t> the inter-spike </a:t>
            </a:r>
            <a:r>
              <a:rPr lang="it-IT" sz="2400" dirty="0" err="1"/>
              <a:t>interval</a:t>
            </a:r>
            <a:r>
              <a:rPr lang="it-IT" sz="2400" dirty="0"/>
              <a:t> </a:t>
            </a:r>
            <a:r>
              <a:rPr lang="it-IT" sz="2400" dirty="0" err="1"/>
              <a:t>increases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201255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3502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-24"/>
            <a:ext cx="8929718" cy="6846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5"/>
            <a:ext cx="9143999" cy="6860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-24"/>
            <a:ext cx="9151210" cy="6858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916" y="-24"/>
            <a:ext cx="8998678" cy="6751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3999" cy="6809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571604" y="1785926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Conductance</a:t>
            </a:r>
            <a:r>
              <a:rPr lang="it-IT" dirty="0"/>
              <a:t> </a:t>
            </a:r>
            <a:r>
              <a:rPr lang="it-IT" dirty="0" err="1"/>
              <a:t>based</a:t>
            </a:r>
            <a:endParaRPr lang="it-IT" dirty="0"/>
          </a:p>
        </p:txBody>
      </p:sp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001156" cy="2332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4867286" cy="1164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3786190"/>
            <a:ext cx="723265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857760"/>
            <a:ext cx="37623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14612" y="5643578"/>
            <a:ext cx="61722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48577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571604" y="1785926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Conductance</a:t>
            </a:r>
            <a:r>
              <a:rPr lang="it-IT" dirty="0"/>
              <a:t> </a:t>
            </a:r>
            <a:r>
              <a:rPr lang="it-IT" dirty="0" err="1"/>
              <a:t>based</a:t>
            </a:r>
            <a:endParaRPr lang="it-IT" dirty="0"/>
          </a:p>
        </p:txBody>
      </p:sp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001156" cy="2332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4867286" cy="1164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3786190"/>
            <a:ext cx="723265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857760"/>
            <a:ext cx="37623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14612" y="5643578"/>
            <a:ext cx="61722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554E1D94-6E2A-4600-BA32-63732C6CC9A8}"/>
              </a:ext>
            </a:extLst>
          </p:cNvPr>
          <p:cNvSpPr txBox="1"/>
          <p:nvPr/>
        </p:nvSpPr>
        <p:spPr>
          <a:xfrm>
            <a:off x="2931160" y="1304453"/>
            <a:ext cx="5958408" cy="4154984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REVERSAL POTENTIAL (from Wikipedia)</a:t>
            </a:r>
            <a:r>
              <a:rPr lang="en-US" sz="4000" dirty="0">
                <a:latin typeface="Bodoni MT Condensed" panose="02070606080606020203" pitchFamily="18" charset="0"/>
              </a:rPr>
              <a:t> </a:t>
            </a:r>
            <a:r>
              <a:rPr lang="en-US" sz="2800" dirty="0">
                <a:latin typeface="Bodoni MT Condensed" panose="02070606080606020203" pitchFamily="18" charset="0"/>
              </a:rPr>
              <a:t>In a </a:t>
            </a:r>
            <a:r>
              <a:rPr lang="en-US" sz="2800" dirty="0">
                <a:latin typeface="Bodoni MT Condensed" panose="02070606080606020203" pitchFamily="18" charset="0"/>
                <a:hlinkClick r:id="rId7" tooltip="Biological membrane"/>
              </a:rPr>
              <a:t>biological membrane</a:t>
            </a:r>
            <a:r>
              <a:rPr lang="en-US" sz="2800" dirty="0">
                <a:latin typeface="Bodoni MT Condensed" panose="02070606080606020203" pitchFamily="18" charset="0"/>
              </a:rPr>
              <a:t>, the </a:t>
            </a:r>
            <a:r>
              <a:rPr lang="en-US" sz="2800" b="1" dirty="0">
                <a:latin typeface="Bodoni MT Condensed" panose="02070606080606020203" pitchFamily="18" charset="0"/>
              </a:rPr>
              <a:t>reversal potential</a:t>
            </a:r>
            <a:r>
              <a:rPr lang="en-US" sz="2800" dirty="0">
                <a:latin typeface="Bodoni MT Condensed" panose="02070606080606020203" pitchFamily="18" charset="0"/>
              </a:rPr>
              <a:t> (also known as the </a:t>
            </a:r>
            <a:r>
              <a:rPr lang="en-US" sz="2800" b="1" dirty="0">
                <a:latin typeface="Bodoni MT Condensed" panose="02070606080606020203" pitchFamily="18" charset="0"/>
              </a:rPr>
              <a:t>Nernst potential</a:t>
            </a:r>
            <a:r>
              <a:rPr lang="en-US" sz="2800" dirty="0">
                <a:latin typeface="Bodoni MT Condensed" panose="02070606080606020203" pitchFamily="18" charset="0"/>
              </a:rPr>
              <a:t>) of an </a:t>
            </a:r>
            <a:r>
              <a:rPr lang="en-US" sz="2800" dirty="0">
                <a:latin typeface="Bodoni MT Condensed" panose="02070606080606020203" pitchFamily="18" charset="0"/>
                <a:hlinkClick r:id="rId8" tooltip="Ion"/>
              </a:rPr>
              <a:t>ion</a:t>
            </a:r>
            <a:r>
              <a:rPr lang="en-US" sz="2800" dirty="0">
                <a:latin typeface="Bodoni MT Condensed" panose="02070606080606020203" pitchFamily="18" charset="0"/>
              </a:rPr>
              <a:t> is the </a:t>
            </a:r>
            <a:r>
              <a:rPr lang="en-US" sz="2800" dirty="0">
                <a:latin typeface="Bodoni MT Condensed" panose="02070606080606020203" pitchFamily="18" charset="0"/>
                <a:hlinkClick r:id="rId9" tooltip="Membrane potential"/>
              </a:rPr>
              <a:t>membrane potential</a:t>
            </a:r>
            <a:r>
              <a:rPr lang="en-US" sz="2800" dirty="0">
                <a:latin typeface="Bodoni MT Condensed" panose="02070606080606020203" pitchFamily="18" charset="0"/>
              </a:rPr>
              <a:t> at which there is no net (overall) flow of that particular ion from one side of the membrane to the other. In the case of </a:t>
            </a:r>
            <a:r>
              <a:rPr lang="en-US" sz="2800" dirty="0">
                <a:latin typeface="Bodoni MT Condensed" panose="02070606080606020203" pitchFamily="18" charset="0"/>
                <a:hlinkClick r:id="rId10" tooltip="Post-synaptic"/>
              </a:rPr>
              <a:t>post-synaptic</a:t>
            </a:r>
            <a:r>
              <a:rPr lang="en-US" sz="2800" dirty="0">
                <a:latin typeface="Bodoni MT Condensed" panose="02070606080606020203" pitchFamily="18" charset="0"/>
              </a:rPr>
              <a:t> </a:t>
            </a:r>
            <a:r>
              <a:rPr lang="en-US" sz="2800" dirty="0">
                <a:latin typeface="Bodoni MT Condensed" panose="02070606080606020203" pitchFamily="18" charset="0"/>
                <a:hlinkClick r:id="rId11" tooltip="Neuron"/>
              </a:rPr>
              <a:t>neurons</a:t>
            </a:r>
            <a:r>
              <a:rPr lang="en-US" sz="2800" dirty="0">
                <a:latin typeface="Bodoni MT Condensed" panose="02070606080606020203" pitchFamily="18" charset="0"/>
              </a:rPr>
              <a:t>, the reversal potential is the membrane potential at which a given </a:t>
            </a:r>
            <a:r>
              <a:rPr lang="en-US" sz="2800" dirty="0">
                <a:latin typeface="Bodoni MT Condensed" panose="02070606080606020203" pitchFamily="18" charset="0"/>
                <a:hlinkClick r:id="rId12" tooltip="Neurotransmitter"/>
              </a:rPr>
              <a:t>neurotransmitter</a:t>
            </a:r>
            <a:r>
              <a:rPr lang="en-US" sz="2800" dirty="0">
                <a:latin typeface="Bodoni MT Condensed" panose="02070606080606020203" pitchFamily="18" charset="0"/>
              </a:rPr>
              <a:t> causes no net current flow of ions through that neurotransmitter </a:t>
            </a:r>
            <a:r>
              <a:rPr lang="en-US" sz="2800" dirty="0">
                <a:latin typeface="Bodoni MT Condensed" panose="02070606080606020203" pitchFamily="18" charset="0"/>
                <a:hlinkClick r:id="rId13" tooltip="Receptor (biochemistry)"/>
              </a:rPr>
              <a:t>receptor's</a:t>
            </a:r>
            <a:r>
              <a:rPr lang="en-US" sz="2800" dirty="0">
                <a:latin typeface="Bodoni MT Condensed" panose="02070606080606020203" pitchFamily="18" charset="0"/>
              </a:rPr>
              <a:t> </a:t>
            </a:r>
            <a:r>
              <a:rPr lang="en-US" sz="2800" dirty="0">
                <a:latin typeface="Bodoni MT Condensed" panose="02070606080606020203" pitchFamily="18" charset="0"/>
                <a:hlinkClick r:id="rId14" tooltip="Ion channel"/>
              </a:rPr>
              <a:t>ion channel</a:t>
            </a:r>
            <a:endParaRPr lang="it-IT" dirty="0">
              <a:latin typeface="Bodoni MT Condensed" panose="02070606080606020203" pitchFamily="18" charset="0"/>
            </a:endParaRP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81949749-1524-4357-8DD3-0745E14760BD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910364" y="5459437"/>
            <a:ext cx="2046012" cy="4178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164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571604" y="1785926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Conductance</a:t>
            </a:r>
            <a:r>
              <a:rPr lang="it-IT" dirty="0"/>
              <a:t> </a:t>
            </a:r>
            <a:r>
              <a:rPr lang="it-IT" dirty="0" err="1"/>
              <a:t>based</a:t>
            </a:r>
            <a:endParaRPr lang="it-IT" dirty="0"/>
          </a:p>
        </p:txBody>
      </p:sp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001156" cy="2332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4867286" cy="1164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3786190"/>
            <a:ext cx="723265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857760"/>
            <a:ext cx="37623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14612" y="5643578"/>
            <a:ext cx="61722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8C0C0FCE-AEE2-4A50-A067-0B1AD8C5F0A7}"/>
              </a:ext>
            </a:extLst>
          </p:cNvPr>
          <p:cNvSpPr/>
          <p:nvPr/>
        </p:nvSpPr>
        <p:spPr>
          <a:xfrm>
            <a:off x="4071934" y="1252332"/>
            <a:ext cx="4425453" cy="439124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r>
              <a:rPr lang="it-IT" sz="2400" i="1" dirty="0"/>
              <a:t>Key Idea: </a:t>
            </a:r>
          </a:p>
          <a:p>
            <a:pPr algn="ctr"/>
            <a:endParaRPr lang="it-IT" sz="2400" i="1" dirty="0"/>
          </a:p>
          <a:p>
            <a:pPr algn="ctr"/>
            <a:r>
              <a:rPr lang="it-IT" sz="2400" i="1" dirty="0"/>
              <a:t>in CURRENT_BASED models the PSP </a:t>
            </a:r>
            <a:r>
              <a:rPr lang="it-IT" sz="2400" i="1" dirty="0" err="1"/>
              <a:t>does</a:t>
            </a:r>
            <a:r>
              <a:rPr lang="it-IT" sz="2400" i="1" dirty="0"/>
              <a:t> NOT </a:t>
            </a:r>
            <a:r>
              <a:rPr lang="it-IT" sz="2400" i="1" dirty="0" err="1"/>
              <a:t>depend</a:t>
            </a:r>
            <a:r>
              <a:rPr lang="it-IT" sz="2400" i="1" dirty="0"/>
              <a:t> on V(t)</a:t>
            </a:r>
          </a:p>
          <a:p>
            <a:pPr algn="ctr"/>
            <a:endParaRPr lang="it-IT" sz="2400" i="1" dirty="0"/>
          </a:p>
          <a:p>
            <a:pPr algn="ctr"/>
            <a:r>
              <a:rPr lang="it-IT" sz="2400" i="1" dirty="0"/>
              <a:t>in CONDUCTANCE_BASED models the PSP DOES  </a:t>
            </a:r>
            <a:r>
              <a:rPr lang="it-IT" sz="2400" i="1" dirty="0" err="1"/>
              <a:t>depend</a:t>
            </a:r>
            <a:r>
              <a:rPr lang="it-IT" sz="2400" i="1" dirty="0"/>
              <a:t> on V(t)</a:t>
            </a:r>
            <a:endParaRPr lang="it-IT" sz="2400" dirty="0"/>
          </a:p>
          <a:p>
            <a:pPr algn="ctr"/>
            <a:endParaRPr lang="it-IT" sz="2400" dirty="0"/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358121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6643702" cy="1721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928802"/>
            <a:ext cx="8969263" cy="2035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3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168773"/>
            <a:ext cx="2554233" cy="2689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4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43174" y="4643446"/>
            <a:ext cx="6406033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77899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6643702" cy="1721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741111"/>
            <a:ext cx="4860032" cy="5116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D9D73CBC-3F87-451D-85E0-0639F75F3377}"/>
              </a:ext>
            </a:extLst>
          </p:cNvPr>
          <p:cNvSpPr/>
          <p:nvPr/>
        </p:nvSpPr>
        <p:spPr>
          <a:xfrm>
            <a:off x="4932040" y="404664"/>
            <a:ext cx="3960440" cy="633670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endParaRPr lang="it-IT" sz="2400" dirty="0"/>
          </a:p>
          <a:p>
            <a:pPr algn="ctr"/>
            <a:r>
              <a:rPr lang="it-IT" sz="2400" dirty="0"/>
              <a:t>in CURRENT_BASED models V(t) can co </a:t>
            </a:r>
            <a:r>
              <a:rPr lang="it-IT" sz="2400" dirty="0" err="1"/>
              <a:t>arbitrarily</a:t>
            </a:r>
            <a:r>
              <a:rPr lang="it-IT" sz="2400" dirty="0"/>
              <a:t> low </a:t>
            </a:r>
            <a:r>
              <a:rPr lang="it-IT" sz="2400" dirty="0" err="1"/>
              <a:t>if</a:t>
            </a:r>
            <a:r>
              <a:rPr lang="it-IT" sz="2400" dirty="0"/>
              <a:t> </a:t>
            </a:r>
            <a:r>
              <a:rPr lang="it-IT" sz="2400" dirty="0" err="1"/>
              <a:t>inhibition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dominant</a:t>
            </a:r>
            <a:r>
              <a:rPr lang="it-IT" sz="2400" dirty="0"/>
              <a:t> (like </a:t>
            </a:r>
            <a:r>
              <a:rPr lang="it-IT" sz="2400" dirty="0" err="1"/>
              <a:t>here</a:t>
            </a:r>
            <a:r>
              <a:rPr lang="it-IT" sz="2400" dirty="0"/>
              <a:t>)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does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happen</a:t>
            </a:r>
            <a:r>
              <a:rPr lang="it-IT" sz="2400" dirty="0"/>
              <a:t> in CONDUCTANCE BASED models, 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dirty="0" err="1"/>
              <a:t>inhibitory</a:t>
            </a:r>
            <a:r>
              <a:rPr lang="it-IT" sz="2400" dirty="0"/>
              <a:t> </a:t>
            </a:r>
            <a:r>
              <a:rPr lang="it-IT" sz="2400" dirty="0" err="1"/>
              <a:t>PSP’s</a:t>
            </a:r>
            <a:r>
              <a:rPr lang="it-IT" sz="2400" dirty="0"/>
              <a:t> </a:t>
            </a:r>
            <a:r>
              <a:rPr lang="it-IT" sz="2400" dirty="0" err="1"/>
              <a:t>amplitude</a:t>
            </a:r>
            <a:r>
              <a:rPr lang="it-IT" sz="2400" dirty="0"/>
              <a:t> </a:t>
            </a:r>
            <a:r>
              <a:rPr lang="it-IT" sz="2400" dirty="0" err="1"/>
              <a:t>decreases</a:t>
            </a:r>
            <a:r>
              <a:rPr lang="it-IT" sz="2400" dirty="0"/>
              <a:t> for low V(t) </a:t>
            </a:r>
          </a:p>
          <a:p>
            <a:pPr algn="ctr"/>
            <a:endParaRPr lang="it-IT" sz="2400" dirty="0"/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338365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6643702" cy="1721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4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472" y="3861048"/>
            <a:ext cx="8911736" cy="27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3D633455-71DF-4161-91B3-4EA893A0277D}"/>
              </a:ext>
            </a:extLst>
          </p:cNvPr>
          <p:cNvSpPr/>
          <p:nvPr/>
        </p:nvSpPr>
        <p:spPr>
          <a:xfrm>
            <a:off x="94793" y="404664"/>
            <a:ext cx="8797687" cy="338437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Firing</a:t>
            </a:r>
            <a:r>
              <a:rPr lang="it-IT" sz="2400" dirty="0"/>
              <a:t> rate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similar</a:t>
            </a:r>
            <a:r>
              <a:rPr lang="it-IT" sz="2400" dirty="0"/>
              <a:t> in the </a:t>
            </a:r>
            <a:r>
              <a:rPr lang="it-IT" sz="2400" dirty="0" err="1"/>
              <a:t>two</a:t>
            </a:r>
            <a:r>
              <a:rPr lang="it-IT" sz="2400" dirty="0"/>
              <a:t> models</a:t>
            </a:r>
          </a:p>
          <a:p>
            <a:pPr algn="ctr"/>
            <a:r>
              <a:rPr lang="it-IT" sz="2400" dirty="0" err="1"/>
              <a:t>but</a:t>
            </a:r>
            <a:endParaRPr lang="it-IT" sz="2400" dirty="0"/>
          </a:p>
          <a:p>
            <a:pPr algn="ctr"/>
            <a:r>
              <a:rPr lang="it-IT" sz="2400" dirty="0"/>
              <a:t>The </a:t>
            </a:r>
            <a:r>
              <a:rPr lang="it-IT" sz="2400" dirty="0" err="1"/>
              <a:t>coefficient</a:t>
            </a:r>
            <a:r>
              <a:rPr lang="it-IT" sz="2400" dirty="0"/>
              <a:t> of </a:t>
            </a:r>
            <a:r>
              <a:rPr lang="it-IT" sz="2400" dirty="0" err="1"/>
              <a:t>variation</a:t>
            </a:r>
            <a:r>
              <a:rPr lang="it-IT" sz="2400" dirty="0"/>
              <a:t> (CV)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much</a:t>
            </a:r>
            <a:r>
              <a:rPr lang="it-IT" sz="2400" dirty="0"/>
              <a:t> </a:t>
            </a:r>
            <a:r>
              <a:rPr lang="it-IT" sz="2400" dirty="0" err="1"/>
              <a:t>larger</a:t>
            </a:r>
            <a:r>
              <a:rPr lang="it-IT" sz="2400" dirty="0"/>
              <a:t> in CURRENT_BASED models – </a:t>
            </a:r>
            <a:r>
              <a:rPr lang="it-IT" sz="2400" dirty="0" err="1"/>
              <a:t>while</a:t>
            </a:r>
            <a:r>
              <a:rPr lang="it-IT" sz="2400" dirty="0"/>
              <a:t> for CONDUCTANCE_BASED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always</a:t>
            </a:r>
            <a:r>
              <a:rPr lang="it-IT" sz="2400" dirty="0"/>
              <a:t> 1 (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dirty="0" err="1"/>
              <a:t>observed</a:t>
            </a:r>
            <a:r>
              <a:rPr lang="it-IT" sz="2400" dirty="0"/>
              <a:t> </a:t>
            </a:r>
            <a:r>
              <a:rPr lang="it-IT" sz="2400" dirty="0" err="1"/>
              <a:t>experimentally</a:t>
            </a:r>
            <a:r>
              <a:rPr lang="it-IT" sz="2400" dirty="0"/>
              <a:t>).  </a:t>
            </a:r>
          </a:p>
          <a:p>
            <a:pPr algn="ctr"/>
            <a:endParaRPr lang="it-IT" sz="2400" dirty="0"/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801652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3312"/>
            <a:ext cx="9144000" cy="683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10694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3312"/>
            <a:ext cx="9144000" cy="683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3EA4C0C5-818D-49D6-AE74-EC0514D87128}"/>
              </a:ext>
            </a:extLst>
          </p:cNvPr>
          <p:cNvSpPr/>
          <p:nvPr/>
        </p:nvSpPr>
        <p:spPr>
          <a:xfrm>
            <a:off x="3563888" y="2634291"/>
            <a:ext cx="4752528" cy="421976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/>
              <a:t>Note </a:t>
            </a:r>
            <a:r>
              <a:rPr lang="it-IT" sz="2400" dirty="0" err="1"/>
              <a:t>that</a:t>
            </a:r>
            <a:r>
              <a:rPr lang="it-IT" sz="2400" dirty="0"/>
              <a:t> </a:t>
            </a:r>
            <a:r>
              <a:rPr lang="it-IT" sz="2400" dirty="0" err="1"/>
              <a:t>now</a:t>
            </a:r>
            <a:r>
              <a:rPr lang="it-IT" sz="2400" dirty="0"/>
              <a:t> </a:t>
            </a:r>
            <a:r>
              <a:rPr lang="it-IT" sz="2400" dirty="0" err="1"/>
              <a:t>we</a:t>
            </a:r>
            <a:r>
              <a:rPr lang="it-IT" sz="2400" dirty="0"/>
              <a:t> </a:t>
            </a:r>
            <a:r>
              <a:rPr lang="it-IT" sz="2400" dirty="0" err="1"/>
              <a:t>have</a:t>
            </a:r>
            <a:r>
              <a:rPr lang="it-IT" sz="2400" dirty="0"/>
              <a:t> </a:t>
            </a:r>
            <a:r>
              <a:rPr lang="it-IT" sz="2400" dirty="0" err="1"/>
              <a:t>two</a:t>
            </a:r>
            <a:r>
              <a:rPr lang="it-IT" sz="2400" dirty="0"/>
              <a:t> </a:t>
            </a:r>
            <a:r>
              <a:rPr lang="it-IT" sz="2400" dirty="0" err="1"/>
              <a:t>thresholds</a:t>
            </a:r>
            <a:r>
              <a:rPr lang="it-IT" sz="2400" dirty="0"/>
              <a:t>: one for </a:t>
            </a:r>
            <a:r>
              <a:rPr lang="it-IT" sz="2400" dirty="0" err="1"/>
              <a:t>triggering</a:t>
            </a:r>
            <a:r>
              <a:rPr lang="it-IT" sz="2400" dirty="0"/>
              <a:t> the </a:t>
            </a:r>
            <a:r>
              <a:rPr lang="it-IT" sz="2400" dirty="0" err="1"/>
              <a:t>exponential</a:t>
            </a:r>
            <a:r>
              <a:rPr lang="it-IT" sz="2400" dirty="0"/>
              <a:t> rise  (</a:t>
            </a:r>
            <a:r>
              <a:rPr lang="it-IT" sz="2400" dirty="0" err="1"/>
              <a:t>V_t</a:t>
            </a:r>
            <a:r>
              <a:rPr lang="it-IT" sz="2400" dirty="0"/>
              <a:t> in the </a:t>
            </a:r>
            <a:r>
              <a:rPr lang="it-IT" sz="2400" dirty="0" err="1"/>
              <a:t>equation</a:t>
            </a:r>
            <a:r>
              <a:rPr lang="it-IT" sz="2400" dirty="0"/>
              <a:t> in the </a:t>
            </a:r>
            <a:r>
              <a:rPr lang="it-IT" sz="2400" dirty="0" err="1"/>
              <a:t>left</a:t>
            </a:r>
            <a:r>
              <a:rPr lang="it-IT" sz="2400" dirty="0"/>
              <a:t>) and a second one (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explicited</a:t>
            </a:r>
            <a:r>
              <a:rPr lang="it-IT" sz="2400" dirty="0"/>
              <a:t> </a:t>
            </a:r>
            <a:r>
              <a:rPr lang="it-IT" sz="2400" dirty="0" err="1"/>
              <a:t>here</a:t>
            </a:r>
            <a:r>
              <a:rPr lang="it-IT" sz="2400" dirty="0"/>
              <a:t>) to </a:t>
            </a:r>
            <a:r>
              <a:rPr lang="it-IT" sz="2400" dirty="0" err="1"/>
              <a:t>cut</a:t>
            </a:r>
            <a:r>
              <a:rPr lang="it-IT" sz="2400" dirty="0"/>
              <a:t> the </a:t>
            </a:r>
            <a:r>
              <a:rPr lang="it-IT" sz="2400" dirty="0" err="1"/>
              <a:t>acton</a:t>
            </a:r>
            <a:r>
              <a:rPr lang="it-IT" sz="2400" dirty="0"/>
              <a:t> </a:t>
            </a:r>
            <a:r>
              <a:rPr lang="it-IT" sz="2400" dirty="0" err="1"/>
              <a:t>potential</a:t>
            </a:r>
            <a:r>
              <a:rPr lang="it-IT" sz="2400" dirty="0"/>
              <a:t> </a:t>
            </a:r>
            <a:r>
              <a:rPr lang="it-IT" sz="2400" dirty="0" err="1"/>
              <a:t>at</a:t>
            </a:r>
            <a:r>
              <a:rPr lang="it-IT" sz="2400" dirty="0"/>
              <a:t> 30 </a:t>
            </a:r>
            <a:r>
              <a:rPr lang="it-IT" sz="2400" dirty="0" err="1"/>
              <a:t>mV</a:t>
            </a:r>
            <a:r>
              <a:rPr lang="it-IT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7056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Adaptive exponential integrate-and-fire neuron </a:t>
            </a:r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851805"/>
            <a:ext cx="6519878" cy="2077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2" y="2857496"/>
            <a:ext cx="8729673" cy="1123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776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022495"/>
            <a:ext cx="9144000" cy="2764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1435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Adaptive exponential integrate-and-fire neuron </a:t>
            </a:r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785794"/>
            <a:ext cx="6519878" cy="2077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56" y="2857496"/>
            <a:ext cx="7786710" cy="3951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08412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Adaptive exponential integrate-and-fire neuron </a:t>
            </a:r>
          </a:p>
        </p:txBody>
      </p:sp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6" y="1142984"/>
            <a:ext cx="8715404" cy="5007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05172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Adaptive exponential integrate-and-fire neuron </a:t>
            </a:r>
          </a:p>
        </p:txBody>
      </p:sp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6" y="1142984"/>
            <a:ext cx="8715404" cy="5007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Ovale 3">
            <a:extLst>
              <a:ext uri="{FF2B5EF4-FFF2-40B4-BE49-F238E27FC236}">
                <a16:creationId xmlns:a16="http://schemas.microsoft.com/office/drawing/2014/main" id="{920521F4-68AC-46A2-9C59-16B50ADF25C2}"/>
              </a:ext>
            </a:extLst>
          </p:cNvPr>
          <p:cNvSpPr/>
          <p:nvPr/>
        </p:nvSpPr>
        <p:spPr>
          <a:xfrm>
            <a:off x="428625" y="908721"/>
            <a:ext cx="8572499" cy="273630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Firing</a:t>
            </a:r>
            <a:r>
              <a:rPr lang="it-IT" sz="2400" b="1" dirty="0"/>
              <a:t> for rebound from </a:t>
            </a:r>
            <a:r>
              <a:rPr lang="it-IT" sz="2400" b="1" dirty="0" err="1"/>
              <a:t>inhibition</a:t>
            </a:r>
            <a:r>
              <a:rPr lang="it-IT" sz="2400" dirty="0"/>
              <a:t>: </a:t>
            </a:r>
            <a:r>
              <a:rPr lang="it-IT" sz="2400" dirty="0" err="1"/>
              <a:t>if</a:t>
            </a:r>
            <a:r>
              <a:rPr lang="it-IT" sz="2400" dirty="0"/>
              <a:t> </a:t>
            </a:r>
            <a:r>
              <a:rPr lang="it-IT" sz="2400" dirty="0" err="1"/>
              <a:t>there’s</a:t>
            </a:r>
            <a:r>
              <a:rPr lang="it-IT" sz="2400" dirty="0"/>
              <a:t> a </a:t>
            </a:r>
            <a:r>
              <a:rPr lang="it-IT" sz="2400" dirty="0" err="1"/>
              <a:t>sustained</a:t>
            </a:r>
            <a:r>
              <a:rPr lang="it-IT" sz="2400" dirty="0"/>
              <a:t> </a:t>
            </a:r>
            <a:r>
              <a:rPr lang="it-IT" sz="2400" dirty="0" err="1"/>
              <a:t>inhibitory</a:t>
            </a:r>
            <a:r>
              <a:rPr lang="it-IT" sz="2400" dirty="0"/>
              <a:t> input the </a:t>
            </a:r>
            <a:r>
              <a:rPr lang="it-IT" sz="2400" dirty="0" err="1"/>
              <a:t>adaptation</a:t>
            </a:r>
            <a:r>
              <a:rPr lang="it-IT" sz="2400" dirty="0"/>
              <a:t> </a:t>
            </a:r>
            <a:r>
              <a:rPr lang="it-IT" sz="2400" dirty="0" err="1"/>
              <a:t>current</a:t>
            </a:r>
            <a:r>
              <a:rPr lang="it-IT" sz="2400" dirty="0"/>
              <a:t> </a:t>
            </a:r>
            <a:r>
              <a:rPr lang="it-IT" sz="2400" dirty="0" err="1"/>
              <a:t>becomes</a:t>
            </a:r>
            <a:r>
              <a:rPr lang="it-IT" sz="2400" dirty="0"/>
              <a:t> negative </a:t>
            </a:r>
            <a:r>
              <a:rPr lang="it-IT" sz="2400" dirty="0" err="1"/>
              <a:t>hence</a:t>
            </a:r>
            <a:r>
              <a:rPr lang="it-IT" sz="2400" dirty="0"/>
              <a:t> </a:t>
            </a:r>
            <a:r>
              <a:rPr lang="it-IT" sz="2400" dirty="0" err="1"/>
              <a:t>excitatory</a:t>
            </a:r>
            <a:r>
              <a:rPr lang="it-IT" sz="2400" dirty="0"/>
              <a:t>. </a:t>
            </a:r>
            <a:r>
              <a:rPr lang="it-IT" sz="2400" dirty="0" err="1"/>
              <a:t>When</a:t>
            </a:r>
            <a:r>
              <a:rPr lang="it-IT" sz="2400" dirty="0"/>
              <a:t> </a:t>
            </a:r>
            <a:r>
              <a:rPr lang="it-IT" sz="2400" dirty="0" err="1"/>
              <a:t>inhibition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released</a:t>
            </a:r>
            <a:r>
              <a:rPr lang="it-IT" sz="2400" dirty="0"/>
              <a:t>, the </a:t>
            </a:r>
            <a:r>
              <a:rPr lang="it-IT" sz="2400" dirty="0" err="1"/>
              <a:t>neuron</a:t>
            </a:r>
            <a:r>
              <a:rPr lang="it-IT" sz="2400" dirty="0"/>
              <a:t> </a:t>
            </a:r>
            <a:r>
              <a:rPr lang="it-IT" sz="2400" dirty="0" err="1"/>
              <a:t>emits</a:t>
            </a:r>
            <a:r>
              <a:rPr lang="it-IT" sz="2400" dirty="0"/>
              <a:t> a </a:t>
            </a:r>
            <a:r>
              <a:rPr lang="it-IT" sz="2400" dirty="0" err="1"/>
              <a:t>burst</a:t>
            </a:r>
            <a:r>
              <a:rPr lang="it-IT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2158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Increasing level of realism starting from LIF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28601" y="1219200"/>
            <a:ext cx="2209799" cy="48320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it-IT" sz="2800" i="1" dirty="0" err="1"/>
              <a:t>Introducing</a:t>
            </a:r>
            <a:r>
              <a:rPr lang="it-IT" sz="2800" i="1" dirty="0"/>
              <a:t> ADAPTATION:</a:t>
            </a:r>
          </a:p>
          <a:p>
            <a:endParaRPr lang="it-IT" sz="2800" dirty="0"/>
          </a:p>
          <a:p>
            <a:r>
              <a:rPr lang="it-IT" sz="2800" dirty="0" err="1"/>
              <a:t>Izhikevich</a:t>
            </a:r>
            <a:r>
              <a:rPr lang="it-IT" sz="2800" dirty="0"/>
              <a:t> </a:t>
            </a:r>
            <a:r>
              <a:rPr lang="it-IT" sz="2800" dirty="0" err="1"/>
              <a:t>models</a:t>
            </a:r>
            <a:r>
              <a:rPr lang="it-IT" sz="2800" dirty="0"/>
              <a:t> (</a:t>
            </a:r>
            <a:r>
              <a:rPr lang="it-IT" sz="2800" dirty="0" err="1"/>
              <a:t>integrated</a:t>
            </a:r>
            <a:r>
              <a:rPr lang="it-IT" sz="2800" dirty="0"/>
              <a:t>)</a:t>
            </a:r>
          </a:p>
          <a:p>
            <a:endParaRPr lang="it-IT" sz="2800" dirty="0"/>
          </a:p>
          <a:p>
            <a:r>
              <a:rPr lang="it-IT" sz="2800" dirty="0" err="1"/>
              <a:t>Adaptive</a:t>
            </a:r>
            <a:r>
              <a:rPr lang="it-IT" sz="2800" dirty="0"/>
              <a:t> </a:t>
            </a:r>
            <a:r>
              <a:rPr lang="it-IT" sz="2800" dirty="0" err="1"/>
              <a:t>Exponential</a:t>
            </a:r>
            <a:r>
              <a:rPr lang="it-IT" sz="2800" dirty="0"/>
              <a:t> Integrate and </a:t>
            </a:r>
            <a:r>
              <a:rPr lang="it-IT" sz="2800" dirty="0" err="1"/>
              <a:t>Fire</a:t>
            </a:r>
            <a:r>
              <a:rPr lang="it-IT" sz="2800" dirty="0"/>
              <a:t> (plug-in)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2667000" y="1219200"/>
            <a:ext cx="6232748" cy="9541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it-IT" sz="2800" i="1" dirty="0" err="1"/>
              <a:t>Introducing</a:t>
            </a:r>
            <a:r>
              <a:rPr lang="it-IT" sz="2800" i="1" dirty="0"/>
              <a:t> ACTIVE CURRENTS:</a:t>
            </a:r>
            <a:endParaRPr lang="it-IT" sz="2800" dirty="0"/>
          </a:p>
          <a:p>
            <a:r>
              <a:rPr lang="it-IT" sz="2800" dirty="0"/>
              <a:t>HH </a:t>
            </a:r>
            <a:r>
              <a:rPr lang="it-IT" sz="2800" dirty="0" err="1"/>
              <a:t>models</a:t>
            </a:r>
            <a:r>
              <a:rPr lang="it-IT" sz="2800" dirty="0"/>
              <a:t> (the Nobel-</a:t>
            </a:r>
            <a:r>
              <a:rPr lang="it-IT" sz="2800" dirty="0" err="1"/>
              <a:t>prize</a:t>
            </a:r>
            <a:r>
              <a:rPr lang="it-IT" sz="2800" dirty="0"/>
              <a:t> </a:t>
            </a:r>
            <a:r>
              <a:rPr lang="it-IT" sz="2800" dirty="0" err="1"/>
              <a:t>squid</a:t>
            </a:r>
            <a:r>
              <a:rPr lang="it-IT" sz="2800" dirty="0"/>
              <a:t>)</a:t>
            </a:r>
          </a:p>
        </p:txBody>
      </p:sp>
      <p:sp>
        <p:nvSpPr>
          <p:cNvPr id="5" name="Freccia a destra 4"/>
          <p:cNvSpPr/>
          <p:nvPr/>
        </p:nvSpPr>
        <p:spPr>
          <a:xfrm>
            <a:off x="2667000" y="3352800"/>
            <a:ext cx="2513181" cy="1775400"/>
          </a:xfrm>
          <a:prstGeom prst="rightArrow">
            <a:avLst>
              <a:gd name="adj1" fmla="val 100000"/>
              <a:gd name="adj2" fmla="val 2424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i="1" dirty="0" err="1">
                <a:solidFill>
                  <a:schemeClr val="tx1"/>
                </a:solidFill>
              </a:rPr>
              <a:t>Introducing</a:t>
            </a:r>
            <a:r>
              <a:rPr lang="it-IT" sz="2800" i="1" dirty="0">
                <a:solidFill>
                  <a:schemeClr val="tx1"/>
                </a:solidFill>
              </a:rPr>
              <a:t> </a:t>
            </a:r>
            <a:r>
              <a:rPr lang="it-IT" sz="2800" i="1" dirty="0" err="1">
                <a:solidFill>
                  <a:schemeClr val="tx1"/>
                </a:solidFill>
              </a:rPr>
              <a:t>morphology</a:t>
            </a:r>
            <a:r>
              <a:rPr lang="it-IT" sz="2800" i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it-IT" sz="2800" dirty="0">
                <a:solidFill>
                  <a:schemeClr val="tx1"/>
                </a:solidFill>
              </a:rPr>
              <a:t>NEURON </a:t>
            </a:r>
          </a:p>
          <a:p>
            <a:pPr algn="ctr"/>
            <a:r>
              <a:rPr lang="it-IT" sz="2800" dirty="0">
                <a:solidFill>
                  <a:schemeClr val="tx1"/>
                </a:solidFill>
              </a:rPr>
              <a:t>(and me)</a:t>
            </a: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67" r="35416"/>
          <a:stretch/>
        </p:blipFill>
        <p:spPr>
          <a:xfrm>
            <a:off x="5180181" y="2286000"/>
            <a:ext cx="3719567" cy="4495800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5410200" y="2438400"/>
            <a:ext cx="99059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EXC.</a:t>
            </a:r>
          </a:p>
          <a:p>
            <a:r>
              <a:rPr lang="it-IT" dirty="0"/>
              <a:t>INH.</a:t>
            </a:r>
          </a:p>
        </p:txBody>
      </p:sp>
    </p:spTree>
    <p:extLst>
      <p:ext uri="{BB962C8B-B14F-4D97-AF65-F5344CB8AC3E}">
        <p14:creationId xmlns:p14="http://schemas.microsoft.com/office/powerpoint/2010/main" val="28781219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interaction: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Cortical recurring networks</a:t>
            </a:r>
          </a:p>
        </p:txBody>
      </p:sp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6228184" y="1815236"/>
            <a:ext cx="2648471" cy="315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4000 Excitatory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1000 Inhibitory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Sparse random connection (p=0.2)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Strong inhibition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.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i="1" dirty="0">
              <a:solidFill>
                <a:srgbClr val="000000"/>
              </a:solidFill>
              <a:latin typeface="Calibri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79" b="31040"/>
          <a:stretch/>
        </p:blipFill>
        <p:spPr bwMode="auto">
          <a:xfrm>
            <a:off x="82914" y="1412776"/>
            <a:ext cx="595433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CasellaDiTesto 1"/>
          <p:cNvSpPr txBox="1"/>
          <p:nvPr/>
        </p:nvSpPr>
        <p:spPr>
          <a:xfrm>
            <a:off x="609600" y="2133600"/>
            <a:ext cx="109036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2990578" y="3834825"/>
            <a:ext cx="188622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Excitatory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75783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interaction: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Cortical recurring networks</a:t>
            </a:r>
          </a:p>
        </p:txBody>
      </p:sp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6228184" y="1815236"/>
            <a:ext cx="2648471" cy="315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4000 Excitatory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1000 Inhibitory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Sparse random connection (p=0.2)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Strong inhibition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.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i="1" dirty="0">
              <a:solidFill>
                <a:srgbClr val="000000"/>
              </a:solidFill>
              <a:latin typeface="Calibri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79" b="31040"/>
          <a:stretch/>
        </p:blipFill>
        <p:spPr bwMode="auto">
          <a:xfrm>
            <a:off x="82914" y="1412776"/>
            <a:ext cx="595433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CasellaDiTesto 1"/>
          <p:cNvSpPr txBox="1"/>
          <p:nvPr/>
        </p:nvSpPr>
        <p:spPr>
          <a:xfrm>
            <a:off x="609600" y="2133600"/>
            <a:ext cx="109036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2990578" y="3834825"/>
            <a:ext cx="188622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Excitatory</a:t>
            </a:r>
            <a:r>
              <a:rPr lang="it-IT" dirty="0"/>
              <a:t>.</a:t>
            </a: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C2F2AA4B-1F0F-4F64-8E48-BD564977595D}"/>
              </a:ext>
            </a:extLst>
          </p:cNvPr>
          <p:cNvSpPr/>
          <p:nvPr/>
        </p:nvSpPr>
        <p:spPr>
          <a:xfrm>
            <a:off x="208326" y="1412776"/>
            <a:ext cx="4647431" cy="4320479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/>
              <a:t>4:1 </a:t>
            </a:r>
            <a:r>
              <a:rPr lang="it-IT" sz="2400" dirty="0" err="1"/>
              <a:t>excitatory</a:t>
            </a:r>
            <a:r>
              <a:rPr lang="it-IT" sz="2400" dirty="0"/>
              <a:t>/</a:t>
            </a:r>
            <a:r>
              <a:rPr lang="it-IT" sz="2400" dirty="0" err="1"/>
              <a:t>inhibitory</a:t>
            </a:r>
            <a:r>
              <a:rPr lang="it-IT" sz="2400" dirty="0"/>
              <a:t> ratio and strong </a:t>
            </a:r>
            <a:r>
              <a:rPr lang="it-IT" sz="2400" dirty="0" err="1"/>
              <a:t>inhibition</a:t>
            </a:r>
            <a:r>
              <a:rPr lang="it-IT" sz="2400" dirty="0"/>
              <a:t> combine to </a:t>
            </a:r>
            <a:r>
              <a:rPr lang="it-IT" sz="2400" dirty="0" err="1"/>
              <a:t>achieve</a:t>
            </a:r>
            <a:r>
              <a:rPr lang="it-IT" sz="2400" dirty="0"/>
              <a:t> </a:t>
            </a:r>
            <a:r>
              <a:rPr lang="it-IT" sz="2400" dirty="0" err="1"/>
              <a:t>excitatory</a:t>
            </a:r>
            <a:r>
              <a:rPr lang="it-IT" sz="2400" dirty="0"/>
              <a:t>/</a:t>
            </a:r>
            <a:r>
              <a:rPr lang="it-IT" sz="2400" dirty="0" err="1"/>
              <a:t>inhibitory</a:t>
            </a:r>
            <a:r>
              <a:rPr lang="it-IT" sz="2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685204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external stimuli</a:t>
            </a:r>
          </a:p>
        </p:txBody>
      </p:sp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5072063" y="928688"/>
            <a:ext cx="3927475" cy="630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4000 Excitatory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1000 Inhibitory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Sparse random connection (p=0.2)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Strong inhibition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Sensory thalamic inputs 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(stronger on Inhibitory neurons)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Stimulus unspecific slowly varying inputs modeling ongoing cortical fluctuations.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i="1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57188" y="5443538"/>
            <a:ext cx="4356100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Each thalamic input is injected many times -  each time with a different ongoing activity.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357313"/>
            <a:ext cx="4254500" cy="357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CasellaDiTesto 5"/>
          <p:cNvSpPr txBox="1"/>
          <p:nvPr/>
        </p:nvSpPr>
        <p:spPr>
          <a:xfrm>
            <a:off x="369418" y="1600200"/>
            <a:ext cx="5565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1518096" y="2502932"/>
            <a:ext cx="11489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dirty="0" err="1"/>
              <a:t>Excitatory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68633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external stimuli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14313" y="5715000"/>
            <a:ext cx="4713287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Mazzoni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et al. 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PLoS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Comp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Biol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2008 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Mazzoni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et al.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Neuroimage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2010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Mazzoni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et al J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Physiol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2012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143500" y="2571750"/>
            <a:ext cx="35702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“Ongoing activity” cortical inputs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286375" y="5345113"/>
            <a:ext cx="29987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“Sensory” thalamic inputs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072063" y="4662488"/>
            <a:ext cx="3213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1600" i="1">
                <a:solidFill>
                  <a:srgbClr val="000000"/>
                </a:solidFill>
              </a:rPr>
              <a:t>Ornstein Uhlenbeck process</a:t>
            </a:r>
          </a:p>
        </p:txBody>
      </p:sp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3213100"/>
            <a:ext cx="3071813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5981700"/>
            <a:ext cx="32766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" name="Picture 1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900" y="4064000"/>
            <a:ext cx="45720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422400"/>
            <a:ext cx="4633913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357313"/>
            <a:ext cx="4254500" cy="357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" name="CasellaDiTesto 15"/>
          <p:cNvSpPr txBox="1"/>
          <p:nvPr/>
        </p:nvSpPr>
        <p:spPr>
          <a:xfrm>
            <a:off x="369418" y="1600200"/>
            <a:ext cx="5565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1518096" y="2502932"/>
            <a:ext cx="11489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dirty="0" err="1"/>
              <a:t>Excitatory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477839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Interlude: noise</a:t>
            </a:r>
          </a:p>
        </p:txBody>
      </p:sp>
      <p:pic>
        <p:nvPicPr>
          <p:cNvPr id="3" name="Immagine 2" descr="Immagine che contiene libro, testo&#10;&#10;Descrizione generata automaticamente">
            <a:extLst>
              <a:ext uri="{FF2B5EF4-FFF2-40B4-BE49-F238E27FC236}">
                <a16:creationId xmlns:a16="http://schemas.microsoft.com/office/drawing/2014/main" id="{D6BB2412-BCFF-455C-B3DB-FA4F756C2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620688"/>
            <a:ext cx="6048672" cy="604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889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Interlude: noise</a:t>
            </a:r>
          </a:p>
        </p:txBody>
      </p:sp>
      <p:pic>
        <p:nvPicPr>
          <p:cNvPr id="3" name="Immagine 2" descr="Immagine che contiene libro, testo&#10;&#10;Descrizione generata automaticamente">
            <a:extLst>
              <a:ext uri="{FF2B5EF4-FFF2-40B4-BE49-F238E27FC236}">
                <a16:creationId xmlns:a16="http://schemas.microsoft.com/office/drawing/2014/main" id="{D6BB2412-BCFF-455C-B3DB-FA4F756C2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620688"/>
            <a:ext cx="6048672" cy="6048672"/>
          </a:xfrm>
          <a:prstGeom prst="rect">
            <a:avLst/>
          </a:prstGeom>
        </p:spPr>
      </p:pic>
      <p:sp>
        <p:nvSpPr>
          <p:cNvPr id="4" name="Ovale 3">
            <a:extLst>
              <a:ext uri="{FF2B5EF4-FFF2-40B4-BE49-F238E27FC236}">
                <a16:creationId xmlns:a16="http://schemas.microsoft.com/office/drawing/2014/main" id="{B516BEB3-EC4C-422E-8CF6-8D4A45435909}"/>
              </a:ext>
            </a:extLst>
          </p:cNvPr>
          <p:cNvSpPr/>
          <p:nvPr/>
        </p:nvSpPr>
        <p:spPr>
          <a:xfrm>
            <a:off x="5003125" y="188641"/>
            <a:ext cx="4140875" cy="6485492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 err="1"/>
              <a:t>It’s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possible</a:t>
            </a:r>
            <a:r>
              <a:rPr lang="it-IT" sz="2400" dirty="0"/>
              <a:t> to estimate the </a:t>
            </a:r>
            <a:r>
              <a:rPr lang="it-IT" sz="2400" b="1" dirty="0" err="1"/>
              <a:t>temporal</a:t>
            </a:r>
            <a:r>
              <a:rPr lang="it-IT" sz="2400" b="1" dirty="0"/>
              <a:t> </a:t>
            </a:r>
            <a:r>
              <a:rPr lang="it-IT" sz="2400" b="1" dirty="0" err="1"/>
              <a:t>structure</a:t>
            </a:r>
            <a:r>
              <a:rPr lang="it-IT" sz="2400" b="1" dirty="0"/>
              <a:t> of </a:t>
            </a:r>
            <a:r>
              <a:rPr lang="it-IT" sz="2400" b="1" dirty="0" err="1"/>
              <a:t>spontaneous</a:t>
            </a:r>
            <a:r>
              <a:rPr lang="it-IT" sz="2400" b="1" dirty="0"/>
              <a:t> </a:t>
            </a:r>
            <a:r>
              <a:rPr lang="it-IT" sz="2400" b="1" dirty="0" err="1"/>
              <a:t>cortical</a:t>
            </a:r>
            <a:r>
              <a:rPr lang="it-IT" sz="2400" b="1" dirty="0"/>
              <a:t> activity </a:t>
            </a:r>
            <a:r>
              <a:rPr lang="it-IT" sz="2400" dirty="0"/>
              <a:t>by </a:t>
            </a:r>
            <a:r>
              <a:rPr lang="it-IT" sz="2400" dirty="0" err="1"/>
              <a:t>measuring</a:t>
            </a:r>
            <a:r>
              <a:rPr lang="it-IT" sz="2400" dirty="0"/>
              <a:t> the </a:t>
            </a:r>
            <a:r>
              <a:rPr lang="it-IT" sz="2400" dirty="0" err="1"/>
              <a:t>firing</a:t>
            </a:r>
            <a:r>
              <a:rPr lang="it-IT" sz="2400" dirty="0"/>
              <a:t> of large (&gt;10^3) pools of </a:t>
            </a:r>
            <a:r>
              <a:rPr lang="it-IT" sz="2400" dirty="0" err="1"/>
              <a:t>neurons</a:t>
            </a:r>
            <a:r>
              <a:rPr lang="it-IT" sz="2400" dirty="0"/>
              <a:t> – </a:t>
            </a:r>
            <a:r>
              <a:rPr lang="it-IT" sz="2400" b="1" dirty="0" err="1"/>
              <a:t>extracellular</a:t>
            </a:r>
            <a:r>
              <a:rPr lang="it-IT" sz="2400" b="1" dirty="0"/>
              <a:t> </a:t>
            </a:r>
            <a:r>
              <a:rPr lang="it-IT" sz="2400" b="1" dirty="0" err="1"/>
              <a:t>signals</a:t>
            </a:r>
            <a:r>
              <a:rPr lang="it-IT" sz="2400" b="1" dirty="0"/>
              <a:t> show a 1/f^2 </a:t>
            </a:r>
            <a:r>
              <a:rPr lang="it-IT" sz="2400" b="1" dirty="0" err="1"/>
              <a:t>spectrum</a:t>
            </a:r>
            <a:r>
              <a:rPr lang="it-IT" sz="2400" b="1" dirty="0"/>
              <a:t> </a:t>
            </a:r>
            <a:r>
              <a:rPr lang="it-IT" sz="2400" dirty="0"/>
              <a:t>(due to </a:t>
            </a:r>
            <a:r>
              <a:rPr lang="it-IT" sz="2400" dirty="0" err="1"/>
              <a:t>different</a:t>
            </a:r>
            <a:r>
              <a:rPr lang="it-IT" sz="2400" dirty="0"/>
              <a:t> size of </a:t>
            </a:r>
            <a:r>
              <a:rPr lang="it-IT" sz="2400" dirty="0" err="1"/>
              <a:t>neurons</a:t>
            </a:r>
            <a:r>
              <a:rPr lang="it-IT" sz="2400" dirty="0"/>
              <a:t> </a:t>
            </a:r>
            <a:r>
              <a:rPr lang="it-IT" sz="2400" dirty="0" err="1"/>
              <a:t>activated</a:t>
            </a:r>
            <a:r>
              <a:rPr lang="it-IT" sz="2400" dirty="0"/>
              <a:t> in </a:t>
            </a:r>
            <a:r>
              <a:rPr lang="it-IT" sz="2400" dirty="0" err="1"/>
              <a:t>phase</a:t>
            </a:r>
            <a:r>
              <a:rPr lang="it-IT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206933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0368220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9BF4F501-E07B-491C-8BD6-5F96D1B4464F}"/>
              </a:ext>
            </a:extLst>
          </p:cNvPr>
          <p:cNvSpPr/>
          <p:nvPr/>
        </p:nvSpPr>
        <p:spPr>
          <a:xfrm>
            <a:off x="4860249" y="908720"/>
            <a:ext cx="4140875" cy="583264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Purely</a:t>
            </a:r>
            <a:r>
              <a:rPr lang="it-IT" sz="2400" b="1" dirty="0"/>
              <a:t> </a:t>
            </a:r>
            <a:r>
              <a:rPr lang="it-IT" sz="2400" b="1" dirty="0" err="1"/>
              <a:t>inhibitory</a:t>
            </a:r>
            <a:r>
              <a:rPr lang="it-IT" sz="2400" b="1" dirty="0"/>
              <a:t> network</a:t>
            </a:r>
            <a:r>
              <a:rPr lang="it-IT" sz="2400" dirty="0"/>
              <a:t>: </a:t>
            </a:r>
          </a:p>
          <a:p>
            <a:pPr algn="ctr"/>
            <a:r>
              <a:rPr lang="it-IT" sz="2400" dirty="0"/>
              <a:t>1- </a:t>
            </a:r>
            <a:r>
              <a:rPr lang="it-IT" sz="2400" dirty="0" err="1"/>
              <a:t>neurons</a:t>
            </a:r>
            <a:r>
              <a:rPr lang="it-IT" sz="2400" dirty="0"/>
              <a:t> are </a:t>
            </a:r>
            <a:r>
              <a:rPr lang="it-IT" sz="2400" dirty="0" err="1"/>
              <a:t>silent</a:t>
            </a:r>
            <a:endParaRPr lang="it-IT" sz="2400" dirty="0"/>
          </a:p>
          <a:p>
            <a:pPr algn="ctr"/>
            <a:r>
              <a:rPr lang="it-IT" sz="2400" dirty="0"/>
              <a:t>2- </a:t>
            </a:r>
            <a:r>
              <a:rPr lang="it-IT" sz="2400" dirty="0" err="1"/>
              <a:t>external</a:t>
            </a:r>
            <a:r>
              <a:rPr lang="it-IT" sz="2400" dirty="0"/>
              <a:t> input </a:t>
            </a:r>
            <a:r>
              <a:rPr lang="it-IT" sz="2400" dirty="0" err="1"/>
              <a:t>activates</a:t>
            </a:r>
            <a:r>
              <a:rPr lang="it-IT" sz="2400" dirty="0"/>
              <a:t> </a:t>
            </a:r>
            <a:r>
              <a:rPr lang="it-IT" sz="2400" dirty="0" err="1"/>
              <a:t>neuron</a:t>
            </a:r>
            <a:endParaRPr lang="it-IT" sz="2400" dirty="0"/>
          </a:p>
          <a:p>
            <a:pPr algn="ctr"/>
            <a:r>
              <a:rPr lang="it-IT" sz="2400" dirty="0"/>
              <a:t>3 – </a:t>
            </a:r>
            <a:r>
              <a:rPr lang="it-IT" sz="2400" dirty="0" err="1"/>
              <a:t>neurons</a:t>
            </a:r>
            <a:r>
              <a:rPr lang="it-IT" sz="2400" dirty="0"/>
              <a:t> self-</a:t>
            </a:r>
            <a:r>
              <a:rPr lang="it-IT" sz="2400" dirty="0" err="1"/>
              <a:t>inhibit</a:t>
            </a:r>
            <a:endParaRPr lang="it-IT" sz="2400" dirty="0"/>
          </a:p>
          <a:p>
            <a:pPr algn="ctr"/>
            <a:r>
              <a:rPr lang="it-IT" sz="2400" dirty="0"/>
              <a:t>4- </a:t>
            </a:r>
            <a:r>
              <a:rPr lang="it-IT" sz="2400" dirty="0" err="1"/>
              <a:t>neurons</a:t>
            </a:r>
            <a:r>
              <a:rPr lang="it-IT" sz="2400" dirty="0"/>
              <a:t> are </a:t>
            </a:r>
            <a:r>
              <a:rPr lang="it-IT" sz="2400" dirty="0" err="1"/>
              <a:t>silent</a:t>
            </a:r>
            <a:r>
              <a:rPr lang="it-IT" sz="2400" dirty="0"/>
              <a:t>-&gt; back to step 1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Oscillation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fast</a:t>
            </a:r>
          </a:p>
        </p:txBody>
      </p:sp>
    </p:spTree>
    <p:extLst>
      <p:ext uri="{BB962C8B-B14F-4D97-AF65-F5344CB8AC3E}">
        <p14:creationId xmlns:p14="http://schemas.microsoft.com/office/powerpoint/2010/main" val="36057709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CA5C5FB-515F-41E6-BC21-3B73F3747D12}"/>
              </a:ext>
            </a:extLst>
          </p:cNvPr>
          <p:cNvSpPr/>
          <p:nvPr/>
        </p:nvSpPr>
        <p:spPr>
          <a:xfrm>
            <a:off x="360916" y="188640"/>
            <a:ext cx="3638018" cy="64129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b="1" dirty="0" err="1"/>
              <a:t>Excitatory-inhibitory</a:t>
            </a:r>
            <a:r>
              <a:rPr lang="it-IT" sz="2000" b="1" dirty="0"/>
              <a:t> network</a:t>
            </a:r>
            <a:r>
              <a:rPr lang="it-IT" sz="2000" dirty="0"/>
              <a:t>: </a:t>
            </a:r>
          </a:p>
          <a:p>
            <a:pPr algn="ctr"/>
            <a:r>
              <a:rPr lang="it-IT" sz="2000" dirty="0"/>
              <a:t>1- E and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</a:p>
          <a:p>
            <a:pPr algn="ctr"/>
            <a:r>
              <a:rPr lang="it-IT" sz="2000" dirty="0"/>
              <a:t>are </a:t>
            </a:r>
            <a:r>
              <a:rPr lang="it-IT" sz="2000" dirty="0" err="1"/>
              <a:t>silent</a:t>
            </a:r>
            <a:endParaRPr lang="it-IT" sz="2000" dirty="0"/>
          </a:p>
          <a:p>
            <a:pPr algn="ctr"/>
            <a:r>
              <a:rPr lang="it-IT" sz="2000" dirty="0"/>
              <a:t>2- </a:t>
            </a:r>
            <a:r>
              <a:rPr lang="it-IT" sz="2000" dirty="0" err="1"/>
              <a:t>external</a:t>
            </a:r>
            <a:r>
              <a:rPr lang="it-IT" sz="2000" dirty="0"/>
              <a:t> input </a:t>
            </a:r>
            <a:r>
              <a:rPr lang="it-IT" sz="2000" dirty="0" err="1"/>
              <a:t>activates</a:t>
            </a:r>
            <a:r>
              <a:rPr lang="it-IT" sz="2000" dirty="0"/>
              <a:t> E </a:t>
            </a:r>
            <a:r>
              <a:rPr lang="it-IT" sz="2000" dirty="0" err="1"/>
              <a:t>neurons</a:t>
            </a:r>
            <a:endParaRPr lang="it-IT" sz="2000" dirty="0"/>
          </a:p>
          <a:p>
            <a:pPr algn="ctr"/>
            <a:r>
              <a:rPr lang="it-IT" sz="2000" dirty="0"/>
              <a:t>3 – E </a:t>
            </a:r>
            <a:r>
              <a:rPr lang="it-IT" sz="2000" dirty="0" err="1"/>
              <a:t>neurons</a:t>
            </a:r>
            <a:r>
              <a:rPr lang="it-IT" sz="2000" dirty="0"/>
              <a:t> trigger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  <a:r>
              <a:rPr lang="it-IT" sz="2000" dirty="0" err="1"/>
              <a:t>activation</a:t>
            </a:r>
            <a:r>
              <a:rPr lang="it-IT" sz="2000" dirty="0"/>
              <a:t>: </a:t>
            </a:r>
            <a:r>
              <a:rPr lang="it-IT" sz="2000" dirty="0" err="1"/>
              <a:t>both</a:t>
            </a:r>
            <a:r>
              <a:rPr lang="it-IT" sz="2000" dirty="0"/>
              <a:t> sets are </a:t>
            </a:r>
            <a:r>
              <a:rPr lang="it-IT" sz="2000" dirty="0" err="1"/>
              <a:t>active</a:t>
            </a:r>
            <a:endParaRPr lang="it-IT" sz="2000" dirty="0"/>
          </a:p>
          <a:p>
            <a:pPr algn="ctr"/>
            <a:r>
              <a:rPr lang="it-IT" sz="2000" dirty="0"/>
              <a:t>4-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  <a:r>
              <a:rPr lang="it-IT" sz="2000" dirty="0" err="1"/>
              <a:t>inhibit</a:t>
            </a:r>
            <a:r>
              <a:rPr lang="it-IT" sz="2000" dirty="0"/>
              <a:t> E </a:t>
            </a:r>
            <a:r>
              <a:rPr lang="it-IT" sz="2000" dirty="0" err="1"/>
              <a:t>neurons</a:t>
            </a:r>
            <a:r>
              <a:rPr lang="it-IT" sz="2000" dirty="0"/>
              <a:t>: </a:t>
            </a:r>
            <a:r>
              <a:rPr lang="it-IT" sz="2000" dirty="0" err="1"/>
              <a:t>only</a:t>
            </a:r>
            <a:r>
              <a:rPr lang="it-IT" sz="2000" dirty="0"/>
              <a:t> I </a:t>
            </a:r>
            <a:r>
              <a:rPr lang="it-IT" sz="2000" dirty="0" err="1"/>
              <a:t>neurons</a:t>
            </a:r>
            <a:r>
              <a:rPr lang="it-IT" sz="2000" dirty="0"/>
              <a:t> are </a:t>
            </a:r>
            <a:r>
              <a:rPr lang="it-IT" sz="2000" dirty="0" err="1"/>
              <a:t>active</a:t>
            </a:r>
            <a:endParaRPr lang="it-IT" sz="2000" dirty="0"/>
          </a:p>
          <a:p>
            <a:pPr algn="ctr"/>
            <a:r>
              <a:rPr lang="it-IT" sz="2000" dirty="0"/>
              <a:t>5- I </a:t>
            </a:r>
            <a:r>
              <a:rPr lang="it-IT" sz="2000" dirty="0" err="1"/>
              <a:t>neurons</a:t>
            </a:r>
            <a:r>
              <a:rPr lang="it-IT" sz="2000" dirty="0"/>
              <a:t> do </a:t>
            </a:r>
            <a:r>
              <a:rPr lang="it-IT" sz="2000" dirty="0" err="1"/>
              <a:t>not</a:t>
            </a:r>
            <a:r>
              <a:rPr lang="it-IT" sz="2000" dirty="0"/>
              <a:t> </a:t>
            </a:r>
            <a:r>
              <a:rPr lang="it-IT" sz="2000" dirty="0" err="1"/>
              <a:t>receive</a:t>
            </a:r>
            <a:r>
              <a:rPr lang="it-IT" sz="2000" dirty="0"/>
              <a:t> </a:t>
            </a:r>
            <a:r>
              <a:rPr lang="it-IT" sz="2000" dirty="0" err="1"/>
              <a:t>excitatory</a:t>
            </a:r>
            <a:r>
              <a:rPr lang="it-IT" sz="2000" dirty="0"/>
              <a:t> inputs </a:t>
            </a:r>
            <a:r>
              <a:rPr lang="it-IT" sz="2000" dirty="0" err="1"/>
              <a:t>anymore</a:t>
            </a:r>
            <a:r>
              <a:rPr lang="it-IT" sz="2000" dirty="0"/>
              <a:t>. </a:t>
            </a:r>
          </a:p>
          <a:p>
            <a:pPr algn="ctr"/>
            <a:r>
              <a:rPr lang="it-IT" sz="2000" dirty="0"/>
              <a:t>6 - E and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</a:p>
          <a:p>
            <a:pPr algn="ctr"/>
            <a:r>
              <a:rPr lang="it-IT" sz="2000" dirty="0"/>
              <a:t>are </a:t>
            </a:r>
            <a:r>
              <a:rPr lang="it-IT" sz="2000" dirty="0" err="1"/>
              <a:t>silent</a:t>
            </a:r>
            <a:endParaRPr lang="it-IT" sz="2000" dirty="0"/>
          </a:p>
          <a:p>
            <a:pPr algn="ctr"/>
            <a:r>
              <a:rPr lang="it-IT" sz="2000" dirty="0"/>
              <a:t>-&gt; back to step 1</a:t>
            </a:r>
          </a:p>
          <a:p>
            <a:pPr algn="ctr"/>
            <a:endParaRPr lang="it-IT" sz="2000" dirty="0"/>
          </a:p>
          <a:p>
            <a:pPr algn="ctr"/>
            <a:r>
              <a:rPr lang="it-IT" sz="2000" dirty="0" err="1"/>
              <a:t>Oscillations</a:t>
            </a:r>
            <a:r>
              <a:rPr lang="it-IT" sz="2000" dirty="0"/>
              <a:t> are slow</a:t>
            </a:r>
          </a:p>
        </p:txBody>
      </p:sp>
    </p:spTree>
    <p:extLst>
      <p:ext uri="{BB962C8B-B14F-4D97-AF65-F5344CB8AC3E}">
        <p14:creationId xmlns:p14="http://schemas.microsoft.com/office/powerpoint/2010/main" val="16747785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02A56EEB-ED8B-4EA9-9918-D9A0FC1FC2D1}"/>
              </a:ext>
            </a:extLst>
          </p:cNvPr>
          <p:cNvSpPr/>
          <p:nvPr/>
        </p:nvSpPr>
        <p:spPr>
          <a:xfrm>
            <a:off x="360916" y="1775834"/>
            <a:ext cx="8675580" cy="17962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Complete network</a:t>
            </a:r>
            <a:r>
              <a:rPr lang="it-IT" sz="2400" dirty="0"/>
              <a:t>: </a:t>
            </a:r>
            <a:r>
              <a:rPr lang="it-IT" sz="2400" dirty="0" err="1"/>
              <a:t>both</a:t>
            </a:r>
            <a:r>
              <a:rPr lang="it-IT" sz="2400" dirty="0"/>
              <a:t> </a:t>
            </a:r>
            <a:r>
              <a:rPr lang="it-IT" sz="2400" dirty="0" err="1"/>
              <a:t>resonances</a:t>
            </a:r>
            <a:r>
              <a:rPr lang="it-IT" sz="2400" dirty="0"/>
              <a:t> are </a:t>
            </a:r>
            <a:r>
              <a:rPr lang="it-IT" sz="2400" dirty="0" err="1"/>
              <a:t>present</a:t>
            </a:r>
            <a:r>
              <a:rPr lang="it-IT" sz="2400" dirty="0"/>
              <a:t>. The input </a:t>
            </a:r>
            <a:r>
              <a:rPr lang="it-IT" sz="2400" dirty="0" err="1"/>
              <a:t>determines</a:t>
            </a:r>
            <a:r>
              <a:rPr lang="it-IT" sz="2400" dirty="0"/>
              <a:t> </a:t>
            </a:r>
            <a:r>
              <a:rPr lang="it-IT" sz="2400" dirty="0" err="1"/>
              <a:t>their</a:t>
            </a:r>
            <a:r>
              <a:rPr lang="it-IT" sz="2400" dirty="0"/>
              <a:t> </a:t>
            </a:r>
            <a:r>
              <a:rPr lang="it-IT" sz="2400" dirty="0" err="1"/>
              <a:t>interplay</a:t>
            </a:r>
            <a:r>
              <a:rPr lang="it-IT" sz="2400" dirty="0"/>
              <a:t> and </a:t>
            </a:r>
            <a:r>
              <a:rPr lang="it-IT" sz="2400" dirty="0" err="1"/>
              <a:t>hence</a:t>
            </a:r>
            <a:r>
              <a:rPr lang="it-IT" sz="2400" dirty="0"/>
              <a:t> the </a:t>
            </a:r>
            <a:r>
              <a:rPr lang="it-IT" sz="2400" dirty="0" err="1"/>
              <a:t>final</a:t>
            </a:r>
            <a:r>
              <a:rPr lang="it-IT" sz="2400" dirty="0"/>
              <a:t> frequency.</a:t>
            </a:r>
          </a:p>
        </p:txBody>
      </p:sp>
    </p:spTree>
    <p:extLst>
      <p:ext uri="{BB962C8B-B14F-4D97-AF65-F5344CB8AC3E}">
        <p14:creationId xmlns:p14="http://schemas.microsoft.com/office/powerpoint/2010/main" val="12348188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97"/>
          <p:cNvGrpSpPr/>
          <p:nvPr/>
        </p:nvGrpSpPr>
        <p:grpSpPr>
          <a:xfrm>
            <a:off x="457201" y="1524000"/>
            <a:ext cx="4800600" cy="2971800"/>
            <a:chOff x="1026192" y="914400"/>
            <a:chExt cx="7528623" cy="4495800"/>
          </a:xfrm>
        </p:grpSpPr>
        <p:sp>
          <p:nvSpPr>
            <p:cNvPr id="2" name="Freeform 1"/>
            <p:cNvSpPr/>
            <p:nvPr/>
          </p:nvSpPr>
          <p:spPr>
            <a:xfrm>
              <a:off x="1026193" y="914400"/>
              <a:ext cx="1196804" cy="12253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</a:t>
              </a:r>
            </a:p>
          </p:txBody>
        </p:sp>
        <p:sp>
          <p:nvSpPr>
            <p:cNvPr id="3" name="Freeform 2"/>
            <p:cNvSpPr/>
            <p:nvPr/>
          </p:nvSpPr>
          <p:spPr>
            <a:xfrm>
              <a:off x="2630577" y="1137727"/>
              <a:ext cx="2393609" cy="24280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P</a:t>
              </a:r>
            </a:p>
          </p:txBody>
        </p:sp>
        <p:sp>
          <p:nvSpPr>
            <p:cNvPr id="4" name="Freeform 3"/>
            <p:cNvSpPr/>
            <p:nvPr/>
          </p:nvSpPr>
          <p:spPr>
            <a:xfrm>
              <a:off x="6172200" y="1371600"/>
              <a:ext cx="2382615" cy="33528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Unspecific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slow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cortical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activity</a:t>
              </a:r>
            </a:p>
          </p:txBody>
        </p:sp>
        <p:sp>
          <p:nvSpPr>
            <p:cNvPr id="5" name="Freeform 4"/>
            <p:cNvSpPr/>
            <p:nvPr/>
          </p:nvSpPr>
          <p:spPr>
            <a:xfrm>
              <a:off x="1241516" y="4537950"/>
              <a:ext cx="3621847" cy="87225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Thalamic input</a:t>
              </a:r>
            </a:p>
          </p:txBody>
        </p:sp>
        <p:cxnSp>
          <p:nvCxnSpPr>
            <p:cNvPr id="6" name="Straight Arrow Connector 5"/>
            <p:cNvCxnSpPr>
              <a:stCxn id="5" idx="0"/>
              <a:endCxn id="5" idx="0"/>
            </p:cNvCxnSpPr>
            <p:nvPr/>
          </p:nvCxnSpPr>
          <p:spPr>
            <a:xfrm rot="5400000" flipH="1" flipV="1">
              <a:off x="3052297" y="4538090"/>
              <a:ext cx="2041" cy="1759"/>
            </a:xfrm>
            <a:prstGeom prst="straightConnector1">
              <a:avLst/>
            </a:prstGeom>
            <a:noFill/>
            <a:ln w="0">
              <a:solidFill>
                <a:srgbClr val="000000"/>
              </a:solidFill>
              <a:prstDash val="solid"/>
              <a:tailEnd type="arrow"/>
            </a:ln>
          </p:spPr>
        </p:cxnSp>
        <p:cxnSp>
          <p:nvCxnSpPr>
            <p:cNvPr id="7" name="Curved Connector 6"/>
            <p:cNvCxnSpPr>
              <a:stCxn id="5" idx="0"/>
              <a:endCxn id="2" idx="2"/>
            </p:cNvCxnSpPr>
            <p:nvPr/>
          </p:nvCxnSpPr>
          <p:spPr>
            <a:xfrm rot="16200000" flipV="1">
              <a:off x="1139435" y="2624945"/>
              <a:ext cx="2398165" cy="1427843"/>
            </a:xfrm>
            <a:prstGeom prst="curvedConnector3">
              <a:avLst>
                <a:gd name="adj1" fmla="val 50000"/>
              </a:avLst>
            </a:prstGeom>
            <a:noFill/>
            <a:ln w="508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8" name="Curved Connector 7"/>
            <p:cNvCxnSpPr>
              <a:stCxn id="4" idx="6"/>
              <a:endCxn id="3" idx="11"/>
            </p:cNvCxnSpPr>
            <p:nvPr/>
          </p:nvCxnSpPr>
          <p:spPr>
            <a:xfrm rot="16200000" flipV="1">
              <a:off x="4645576" y="1521376"/>
              <a:ext cx="1555059" cy="1498190"/>
            </a:xfrm>
            <a:prstGeom prst="curvedConnector3">
              <a:avLst>
                <a:gd name="adj1" fmla="val 107907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9" name="Curved Connector 8"/>
            <p:cNvCxnSpPr>
              <a:stCxn id="4" idx="5"/>
              <a:endCxn id="2" idx="11"/>
            </p:cNvCxnSpPr>
            <p:nvPr/>
          </p:nvCxnSpPr>
          <p:spPr>
            <a:xfrm rot="16200000" flipV="1">
              <a:off x="3900123" y="-758544"/>
              <a:ext cx="768433" cy="4472859"/>
            </a:xfrm>
            <a:prstGeom prst="curvedConnector3">
              <a:avLst>
                <a:gd name="adj1" fmla="val 153078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0" name="Curved Connector 9"/>
            <p:cNvCxnSpPr>
              <a:stCxn id="3" idx="6"/>
              <a:endCxn id="2" idx="9"/>
            </p:cNvCxnSpPr>
            <p:nvPr/>
          </p:nvCxnSpPr>
          <p:spPr>
            <a:xfrm rot="16200000" flipV="1">
              <a:off x="2143629" y="1864798"/>
              <a:ext cx="391232" cy="582667"/>
            </a:xfrm>
            <a:prstGeom prst="curvedConnector3">
              <a:avLst>
                <a:gd name="adj1" fmla="val -56771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1" name="Curved Connector 10"/>
            <p:cNvCxnSpPr>
              <a:stCxn id="2" idx="10"/>
              <a:endCxn id="3" idx="5"/>
            </p:cNvCxnSpPr>
            <p:nvPr/>
          </p:nvCxnSpPr>
          <p:spPr>
            <a:xfrm rot="5400000" flipH="1" flipV="1">
              <a:off x="2584799" y="1131140"/>
              <a:ext cx="34152" cy="757755"/>
            </a:xfrm>
            <a:prstGeom prst="curvedConnector3">
              <a:avLst>
                <a:gd name="adj1" fmla="val 671495"/>
              </a:avLst>
            </a:prstGeom>
            <a:noFill/>
            <a:ln w="1224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2" name="Curved Connector 16"/>
            <p:cNvCxnSpPr>
              <a:stCxn id="2" idx="3"/>
            </p:cNvCxnSpPr>
            <p:nvPr/>
          </p:nvCxnSpPr>
          <p:spPr>
            <a:xfrm rot="10800000" flipH="1">
              <a:off x="1026192" y="914403"/>
              <a:ext cx="429519" cy="612689"/>
            </a:xfrm>
            <a:prstGeom prst="curvedConnector4">
              <a:avLst>
                <a:gd name="adj1" fmla="val -77258"/>
                <a:gd name="adj2" fmla="val 144594"/>
              </a:avLst>
            </a:prstGeom>
            <a:noFill/>
            <a:ln w="1270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3" name="Curved Connector 17"/>
            <p:cNvCxnSpPr>
              <a:stCxn id="3" idx="9"/>
              <a:endCxn id="3" idx="1"/>
            </p:cNvCxnSpPr>
            <p:nvPr/>
          </p:nvCxnSpPr>
          <p:spPr>
            <a:xfrm rot="5400000" flipH="1" flipV="1">
              <a:off x="4419695" y="2606065"/>
              <a:ext cx="858807" cy="350175"/>
            </a:xfrm>
            <a:prstGeom prst="curvedConnector4">
              <a:avLst>
                <a:gd name="adj1" fmla="val -40520"/>
                <a:gd name="adj2" fmla="val 194764"/>
              </a:avLst>
            </a:prstGeom>
            <a:noFill/>
            <a:ln w="360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4" name="Curved Connector 13"/>
            <p:cNvCxnSpPr>
              <a:stCxn id="5" idx="0"/>
              <a:endCxn id="3" idx="2"/>
            </p:cNvCxnSpPr>
            <p:nvPr/>
          </p:nvCxnSpPr>
          <p:spPr>
            <a:xfrm rot="5400000" flipH="1" flipV="1">
              <a:off x="2953820" y="3664388"/>
              <a:ext cx="972181" cy="774943"/>
            </a:xfrm>
            <a:prstGeom prst="curved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</p:grpSp>
      <p:sp>
        <p:nvSpPr>
          <p:cNvPr id="15" name="TextBox 14"/>
          <p:cNvSpPr txBox="1"/>
          <p:nvPr/>
        </p:nvSpPr>
        <p:spPr>
          <a:xfrm>
            <a:off x="26020" y="5029200"/>
            <a:ext cx="4241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Leaky integrate and fire neurons 4000 Excitatory </a:t>
            </a:r>
            <a:r>
              <a:rPr lang="en-US" sz="1600" b="0" dirty="0" err="1">
                <a:solidFill>
                  <a:schemeClr val="tx1"/>
                </a:solidFill>
                <a:latin typeface="+mj-lt"/>
              </a:rPr>
              <a:t>Excitatory</a:t>
            </a:r>
            <a:r>
              <a:rPr lang="en-US" sz="1600" b="0" dirty="0">
                <a:solidFill>
                  <a:schemeClr val="tx1"/>
                </a:solidFill>
                <a:latin typeface="+mj-lt"/>
              </a:rPr>
              <a:t> neurons 1000 Inhibitory Inhibitory neurons.</a:t>
            </a:r>
            <a:r>
              <a:rPr lang="en-US" sz="1600" dirty="0">
                <a:latin typeface="+mj-lt"/>
              </a:rPr>
              <a:t> </a:t>
            </a:r>
          </a:p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Sparse (p=0.2) random connections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excitatory-inhibitory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200" kern="0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</a:t>
            </a:r>
            <a:r>
              <a:rPr kumimoji="0" lang="en-US" sz="320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etworks</a:t>
            </a:r>
            <a:endParaRPr kumimoji="0" lang="en-US" sz="32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29" y="5924729"/>
            <a:ext cx="4648200" cy="90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roup 99"/>
          <p:cNvGrpSpPr/>
          <p:nvPr/>
        </p:nvGrpSpPr>
        <p:grpSpPr>
          <a:xfrm>
            <a:off x="5562601" y="630868"/>
            <a:ext cx="3276599" cy="5084132"/>
            <a:chOff x="6083999" y="1044000"/>
            <a:chExt cx="3600000" cy="5734800"/>
          </a:xfrm>
        </p:grpSpPr>
        <p:pic>
          <p:nvPicPr>
            <p:cNvPr id="101" name="Picture 100"/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6083999" y="1044000"/>
              <a:ext cx="3600000" cy="573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Freeform 101"/>
            <p:cNvSpPr/>
            <p:nvPr/>
          </p:nvSpPr>
          <p:spPr>
            <a:xfrm>
              <a:off x="6083999" y="1044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6083999" y="298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6083999" y="496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24" name="CasellaDiTesto 23"/>
          <p:cNvSpPr txBox="1"/>
          <p:nvPr/>
        </p:nvSpPr>
        <p:spPr>
          <a:xfrm>
            <a:off x="2057400" y="22199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797929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/>
          <p:cNvGrpSpPr/>
          <p:nvPr/>
        </p:nvGrpSpPr>
        <p:grpSpPr>
          <a:xfrm>
            <a:off x="891902" y="1060473"/>
            <a:ext cx="6324600" cy="4729199"/>
            <a:chOff x="5715000" y="685800"/>
            <a:chExt cx="3429000" cy="2590532"/>
          </a:xfrm>
        </p:grpSpPr>
        <p:sp>
          <p:nvSpPr>
            <p:cNvPr id="16" name="TextBox 15"/>
            <p:cNvSpPr txBox="1"/>
            <p:nvPr/>
          </p:nvSpPr>
          <p:spPr>
            <a:xfrm>
              <a:off x="6254008" y="1034142"/>
              <a:ext cx="11083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 SINK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24600" y="2209239"/>
              <a:ext cx="13369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 SOURCE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5715000" y="2673221"/>
              <a:ext cx="414193" cy="41544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5809673" y="1284452"/>
              <a:ext cx="0" cy="1424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0" name="Straight Connector 19"/>
            <p:cNvSpPr/>
            <p:nvPr/>
          </p:nvSpPr>
          <p:spPr>
            <a:xfrm flipV="1">
              <a:off x="6022686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5868843" y="1047056"/>
              <a:ext cx="355023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2" name="Straight Connector 21"/>
            <p:cNvSpPr/>
            <p:nvPr/>
          </p:nvSpPr>
          <p:spPr>
            <a:xfrm flipV="1">
              <a:off x="6164695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3" name="Straight Connector 22"/>
            <p:cNvSpPr/>
            <p:nvPr/>
          </p:nvSpPr>
          <p:spPr>
            <a:xfrm flipV="1">
              <a:off x="5809673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 flipH="1">
              <a:off x="5857009" y="2210298"/>
              <a:ext cx="295852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6259368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6" name="Straight Connector 25"/>
            <p:cNvSpPr/>
            <p:nvPr/>
          </p:nvSpPr>
          <p:spPr>
            <a:xfrm>
              <a:off x="6259368" y="2447695"/>
              <a:ext cx="0" cy="3560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7" name="Straight Connector 26"/>
            <p:cNvSpPr/>
            <p:nvPr/>
          </p:nvSpPr>
          <p:spPr>
            <a:xfrm flipV="1">
              <a:off x="6401377" y="1426890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8" name="Straight Connector 27"/>
            <p:cNvSpPr/>
            <p:nvPr/>
          </p:nvSpPr>
          <p:spPr>
            <a:xfrm>
              <a:off x="6401377" y="1699896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00800" y="1828239"/>
              <a:ext cx="1112116" cy="278751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>
                  <a:ln>
                    <a:noFill/>
                  </a:ln>
                  <a:latin typeface="+mj-lt"/>
                  <a:ea typeface="DejaVu Sans" pitchFamily="2"/>
                  <a:cs typeface="DejaVu Sans" pitchFamily="2"/>
                </a:rPr>
                <a:t>ELECTRODE</a:t>
              </a:r>
            </a:p>
          </p:txBody>
        </p:sp>
        <p:grpSp>
          <p:nvGrpSpPr>
            <p:cNvPr id="3" name="Group 29"/>
            <p:cNvGrpSpPr/>
            <p:nvPr/>
          </p:nvGrpSpPr>
          <p:grpSpPr>
            <a:xfrm>
              <a:off x="7762298" y="940228"/>
              <a:ext cx="272184" cy="913976"/>
              <a:chOff x="6840000" y="864000"/>
              <a:chExt cx="828000" cy="2771999"/>
            </a:xfrm>
          </p:grpSpPr>
          <p:sp>
            <p:nvSpPr>
              <p:cNvPr id="31" name="Freeform 30"/>
              <p:cNvSpPr/>
              <p:nvPr/>
            </p:nvSpPr>
            <p:spPr>
              <a:xfrm>
                <a:off x="684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2" name="Straight Connector 31"/>
              <p:cNvSpPr/>
              <p:nvPr/>
            </p:nvSpPr>
            <p:spPr>
              <a:xfrm flipV="1">
                <a:off x="6983999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3" name="Straight Connector 32"/>
              <p:cNvSpPr/>
              <p:nvPr/>
            </p:nvSpPr>
            <p:spPr>
              <a:xfrm flipV="1">
                <a:off x="730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707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5" name="Straight Connector 34"/>
              <p:cNvSpPr/>
              <p:nvPr/>
            </p:nvSpPr>
            <p:spPr>
              <a:xfrm flipV="1">
                <a:off x="7523999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6" name="Straight Connector 35"/>
              <p:cNvSpPr/>
              <p:nvPr/>
            </p:nvSpPr>
            <p:spPr>
              <a:xfrm flipV="1">
                <a:off x="6983999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7" name="Freeform 36"/>
              <p:cNvSpPr/>
              <p:nvPr/>
            </p:nvSpPr>
            <p:spPr>
              <a:xfrm flipH="1">
                <a:off x="705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8" name="Straight Connector 37"/>
              <p:cNvSpPr/>
              <p:nvPr/>
            </p:nvSpPr>
            <p:spPr>
              <a:xfrm flipV="1">
                <a:off x="766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7543801" y="1828800"/>
              <a:ext cx="1600199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4" name="Group 39"/>
            <p:cNvGrpSpPr/>
            <p:nvPr/>
          </p:nvGrpSpPr>
          <p:grpSpPr>
            <a:xfrm>
              <a:off x="8129155" y="940228"/>
              <a:ext cx="272184" cy="913976"/>
              <a:chOff x="7956000" y="864000"/>
              <a:chExt cx="828000" cy="2771999"/>
            </a:xfrm>
          </p:grpSpPr>
          <p:sp>
            <p:nvSpPr>
              <p:cNvPr id="41" name="Freeform 40"/>
              <p:cNvSpPr/>
              <p:nvPr/>
            </p:nvSpPr>
            <p:spPr>
              <a:xfrm>
                <a:off x="7956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2" name="Straight Connector 41"/>
              <p:cNvSpPr/>
              <p:nvPr/>
            </p:nvSpPr>
            <p:spPr>
              <a:xfrm flipV="1">
                <a:off x="8100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3" name="Straight Connector 42"/>
              <p:cNvSpPr/>
              <p:nvPr/>
            </p:nvSpPr>
            <p:spPr>
              <a:xfrm flipV="1">
                <a:off x="842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8190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5" name="Straight Connector 44"/>
              <p:cNvSpPr/>
              <p:nvPr/>
            </p:nvSpPr>
            <p:spPr>
              <a:xfrm flipV="1">
                <a:off x="8640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6" name="Straight Connector 45"/>
              <p:cNvSpPr/>
              <p:nvPr/>
            </p:nvSpPr>
            <p:spPr>
              <a:xfrm flipV="1">
                <a:off x="8100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7" name="Freeform 46"/>
              <p:cNvSpPr/>
              <p:nvPr/>
            </p:nvSpPr>
            <p:spPr>
              <a:xfrm flipH="1">
                <a:off x="8172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8" name="Straight Connector 47"/>
              <p:cNvSpPr/>
              <p:nvPr/>
            </p:nvSpPr>
            <p:spPr>
              <a:xfrm flipV="1">
                <a:off x="87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grpSp>
          <p:nvGrpSpPr>
            <p:cNvPr id="5" name="Group 48"/>
            <p:cNvGrpSpPr/>
            <p:nvPr/>
          </p:nvGrpSpPr>
          <p:grpSpPr>
            <a:xfrm>
              <a:off x="8472343" y="940228"/>
              <a:ext cx="272184" cy="913976"/>
              <a:chOff x="9000000" y="864000"/>
              <a:chExt cx="828000" cy="2771999"/>
            </a:xfrm>
          </p:grpSpPr>
          <p:sp>
            <p:nvSpPr>
              <p:cNvPr id="50" name="Freeform 49"/>
              <p:cNvSpPr/>
              <p:nvPr/>
            </p:nvSpPr>
            <p:spPr>
              <a:xfrm>
                <a:off x="900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1" name="Straight Connector 50"/>
              <p:cNvSpPr/>
              <p:nvPr/>
            </p:nvSpPr>
            <p:spPr>
              <a:xfrm flipV="1">
                <a:off x="9144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2" name="Straight Connector 51"/>
              <p:cNvSpPr/>
              <p:nvPr/>
            </p:nvSpPr>
            <p:spPr>
              <a:xfrm flipV="1">
                <a:off x="946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923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4" name="Straight Connector 53"/>
              <p:cNvSpPr/>
              <p:nvPr/>
            </p:nvSpPr>
            <p:spPr>
              <a:xfrm flipV="1">
                <a:off x="96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5" name="Straight Connector 54"/>
              <p:cNvSpPr/>
              <p:nvPr/>
            </p:nvSpPr>
            <p:spPr>
              <a:xfrm flipV="1">
                <a:off x="914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6" name="Freeform 55"/>
              <p:cNvSpPr/>
              <p:nvPr/>
            </p:nvSpPr>
            <p:spPr>
              <a:xfrm flipH="1">
                <a:off x="921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7" name="Straight Connector 56"/>
              <p:cNvSpPr/>
              <p:nvPr/>
            </p:nvSpPr>
            <p:spPr>
              <a:xfrm flipV="1">
                <a:off x="982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58" name="Freeform 57"/>
            <p:cNvSpPr/>
            <p:nvPr/>
          </p:nvSpPr>
          <p:spPr>
            <a:xfrm rot="5400000">
              <a:off x="8572040" y="2879704"/>
              <a:ext cx="207722" cy="1741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59" name="Straight Connector 58"/>
            <p:cNvSpPr/>
            <p:nvPr/>
          </p:nvSpPr>
          <p:spPr>
            <a:xfrm flipH="1">
              <a:off x="7987618" y="3021399"/>
              <a:ext cx="597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0" name="Straight Connector 59"/>
            <p:cNvSpPr/>
            <p:nvPr/>
          </p:nvSpPr>
          <p:spPr>
            <a:xfrm flipH="1">
              <a:off x="7833302" y="2914570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 rot="5400000">
              <a:off x="8383070" y="2846117"/>
              <a:ext cx="178047" cy="124613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2" name="Straight Connector 61"/>
            <p:cNvSpPr/>
            <p:nvPr/>
          </p:nvSpPr>
          <p:spPr>
            <a:xfrm flipH="1">
              <a:off x="7997559" y="2843352"/>
              <a:ext cx="3486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3" name="Straight Connector 62"/>
            <p:cNvSpPr/>
            <p:nvPr/>
          </p:nvSpPr>
          <p:spPr>
            <a:xfrm flipH="1">
              <a:off x="7833302" y="3021399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 rot="16200000">
              <a:off x="7770387" y="2821414"/>
              <a:ext cx="156427" cy="152400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5" name="Straight Connector 64"/>
            <p:cNvSpPr/>
            <p:nvPr/>
          </p:nvSpPr>
          <p:spPr>
            <a:xfrm flipH="1">
              <a:off x="7997559" y="2795872"/>
              <a:ext cx="34863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6" name="Group 65"/>
            <p:cNvGrpSpPr/>
            <p:nvPr/>
          </p:nvGrpSpPr>
          <p:grpSpPr>
            <a:xfrm>
              <a:off x="7750464" y="2392299"/>
              <a:ext cx="911225" cy="273006"/>
              <a:chOff x="6804000" y="4860000"/>
              <a:chExt cx="2772000" cy="828000"/>
            </a:xfrm>
          </p:grpSpPr>
          <p:sp>
            <p:nvSpPr>
              <p:cNvPr id="67" name="Freeform 66"/>
              <p:cNvSpPr/>
              <p:nvPr/>
            </p:nvSpPr>
            <p:spPr>
              <a:xfrm rot="5400000">
                <a:off x="6753960" y="4910040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8" name="Straight Connector 67"/>
              <p:cNvSpPr/>
              <p:nvPr/>
            </p:nvSpPr>
            <p:spPr>
              <a:xfrm>
                <a:off x="7288559" y="5004000"/>
                <a:ext cx="18180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9" name="Straight Connector 68"/>
              <p:cNvSpPr/>
              <p:nvPr/>
            </p:nvSpPr>
            <p:spPr>
              <a:xfrm>
                <a:off x="7303679" y="5328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0" name="Freeform 69"/>
              <p:cNvSpPr/>
              <p:nvPr/>
            </p:nvSpPr>
            <p:spPr>
              <a:xfrm rot="5400000">
                <a:off x="8950139" y="5174460"/>
                <a:ext cx="539999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1" name="Straight Connector 70"/>
              <p:cNvSpPr/>
              <p:nvPr/>
            </p:nvSpPr>
            <p:spPr>
              <a:xfrm>
                <a:off x="8015759" y="5544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2" name="Straight Connector 71"/>
              <p:cNvSpPr/>
              <p:nvPr/>
            </p:nvSpPr>
            <p:spPr>
              <a:xfrm>
                <a:off x="7303679" y="5004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 rot="16200000">
                <a:off x="7350778" y="5137786"/>
                <a:ext cx="607344" cy="419457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4" name="Straight Connector 73"/>
              <p:cNvSpPr/>
              <p:nvPr/>
            </p:nvSpPr>
            <p:spPr>
              <a:xfrm>
                <a:off x="8015759" y="5688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75" name="TextBox 74"/>
            <p:cNvSpPr txBox="1"/>
            <p:nvPr/>
          </p:nvSpPr>
          <p:spPr>
            <a:xfrm>
              <a:off x="7696200" y="3123639"/>
              <a:ext cx="1295400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76" name="Straight Connector 75"/>
            <p:cNvSpPr/>
            <p:nvPr/>
          </p:nvSpPr>
          <p:spPr>
            <a:xfrm>
              <a:off x="6248400" y="685800"/>
              <a:ext cx="0" cy="35609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0" y="58746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  <a:latin typeface="+mj-lt"/>
              </a:rPr>
              <a:t>LFP modeled as sum of absolute values of Excitatory and Inhibitory currents on Excitatory neurons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5334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 excitatory-inhibitory networks</a:t>
            </a:r>
          </a:p>
        </p:txBody>
      </p:sp>
    </p:spTree>
    <p:extLst>
      <p:ext uri="{BB962C8B-B14F-4D97-AF65-F5344CB8AC3E}">
        <p14:creationId xmlns:p14="http://schemas.microsoft.com/office/powerpoint/2010/main" val="423829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/>
          <p:cNvGrpSpPr/>
          <p:nvPr/>
        </p:nvGrpSpPr>
        <p:grpSpPr>
          <a:xfrm>
            <a:off x="891902" y="1060473"/>
            <a:ext cx="6324600" cy="4729199"/>
            <a:chOff x="5715000" y="685800"/>
            <a:chExt cx="3429000" cy="2590532"/>
          </a:xfrm>
        </p:grpSpPr>
        <p:sp>
          <p:nvSpPr>
            <p:cNvPr id="16" name="TextBox 15"/>
            <p:cNvSpPr txBox="1"/>
            <p:nvPr/>
          </p:nvSpPr>
          <p:spPr>
            <a:xfrm>
              <a:off x="6254008" y="1034142"/>
              <a:ext cx="11083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 SINK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24600" y="2209239"/>
              <a:ext cx="13369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 SOURCE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5715000" y="2673221"/>
              <a:ext cx="414193" cy="41544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5809673" y="1284452"/>
              <a:ext cx="0" cy="1424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0" name="Straight Connector 19"/>
            <p:cNvSpPr/>
            <p:nvPr/>
          </p:nvSpPr>
          <p:spPr>
            <a:xfrm flipV="1">
              <a:off x="6022686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5868843" y="1047056"/>
              <a:ext cx="355023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2" name="Straight Connector 21"/>
            <p:cNvSpPr/>
            <p:nvPr/>
          </p:nvSpPr>
          <p:spPr>
            <a:xfrm flipV="1">
              <a:off x="6164695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3" name="Straight Connector 22"/>
            <p:cNvSpPr/>
            <p:nvPr/>
          </p:nvSpPr>
          <p:spPr>
            <a:xfrm flipV="1">
              <a:off x="5809673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 flipH="1">
              <a:off x="5857009" y="2210298"/>
              <a:ext cx="295852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6259368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6" name="Straight Connector 25"/>
            <p:cNvSpPr/>
            <p:nvPr/>
          </p:nvSpPr>
          <p:spPr>
            <a:xfrm>
              <a:off x="6259368" y="2447695"/>
              <a:ext cx="0" cy="3560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7" name="Straight Connector 26"/>
            <p:cNvSpPr/>
            <p:nvPr/>
          </p:nvSpPr>
          <p:spPr>
            <a:xfrm flipV="1">
              <a:off x="6401377" y="1426890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8" name="Straight Connector 27"/>
            <p:cNvSpPr/>
            <p:nvPr/>
          </p:nvSpPr>
          <p:spPr>
            <a:xfrm>
              <a:off x="6401377" y="1699896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00800" y="1828239"/>
              <a:ext cx="1112116" cy="278751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>
                  <a:ln>
                    <a:noFill/>
                  </a:ln>
                  <a:latin typeface="+mj-lt"/>
                  <a:ea typeface="DejaVu Sans" pitchFamily="2"/>
                  <a:cs typeface="DejaVu Sans" pitchFamily="2"/>
                </a:rPr>
                <a:t>ELECTRODE</a:t>
              </a:r>
            </a:p>
          </p:txBody>
        </p:sp>
        <p:grpSp>
          <p:nvGrpSpPr>
            <p:cNvPr id="3" name="Group 29"/>
            <p:cNvGrpSpPr/>
            <p:nvPr/>
          </p:nvGrpSpPr>
          <p:grpSpPr>
            <a:xfrm>
              <a:off x="7762298" y="940228"/>
              <a:ext cx="272184" cy="913976"/>
              <a:chOff x="6840000" y="864000"/>
              <a:chExt cx="828000" cy="2771999"/>
            </a:xfrm>
          </p:grpSpPr>
          <p:sp>
            <p:nvSpPr>
              <p:cNvPr id="31" name="Freeform 30"/>
              <p:cNvSpPr/>
              <p:nvPr/>
            </p:nvSpPr>
            <p:spPr>
              <a:xfrm>
                <a:off x="684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2" name="Straight Connector 31"/>
              <p:cNvSpPr/>
              <p:nvPr/>
            </p:nvSpPr>
            <p:spPr>
              <a:xfrm flipV="1">
                <a:off x="6983999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3" name="Straight Connector 32"/>
              <p:cNvSpPr/>
              <p:nvPr/>
            </p:nvSpPr>
            <p:spPr>
              <a:xfrm flipV="1">
                <a:off x="730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707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5" name="Straight Connector 34"/>
              <p:cNvSpPr/>
              <p:nvPr/>
            </p:nvSpPr>
            <p:spPr>
              <a:xfrm flipV="1">
                <a:off x="7523999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6" name="Straight Connector 35"/>
              <p:cNvSpPr/>
              <p:nvPr/>
            </p:nvSpPr>
            <p:spPr>
              <a:xfrm flipV="1">
                <a:off x="6983999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7" name="Freeform 36"/>
              <p:cNvSpPr/>
              <p:nvPr/>
            </p:nvSpPr>
            <p:spPr>
              <a:xfrm flipH="1">
                <a:off x="705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8" name="Straight Connector 37"/>
              <p:cNvSpPr/>
              <p:nvPr/>
            </p:nvSpPr>
            <p:spPr>
              <a:xfrm flipV="1">
                <a:off x="766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7543801" y="1828800"/>
              <a:ext cx="1600199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4" name="Group 39"/>
            <p:cNvGrpSpPr/>
            <p:nvPr/>
          </p:nvGrpSpPr>
          <p:grpSpPr>
            <a:xfrm>
              <a:off x="8129155" y="940228"/>
              <a:ext cx="272184" cy="913976"/>
              <a:chOff x="7956000" y="864000"/>
              <a:chExt cx="828000" cy="2771999"/>
            </a:xfrm>
          </p:grpSpPr>
          <p:sp>
            <p:nvSpPr>
              <p:cNvPr id="41" name="Freeform 40"/>
              <p:cNvSpPr/>
              <p:nvPr/>
            </p:nvSpPr>
            <p:spPr>
              <a:xfrm>
                <a:off x="7956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2" name="Straight Connector 41"/>
              <p:cNvSpPr/>
              <p:nvPr/>
            </p:nvSpPr>
            <p:spPr>
              <a:xfrm flipV="1">
                <a:off x="8100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3" name="Straight Connector 42"/>
              <p:cNvSpPr/>
              <p:nvPr/>
            </p:nvSpPr>
            <p:spPr>
              <a:xfrm flipV="1">
                <a:off x="842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8190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5" name="Straight Connector 44"/>
              <p:cNvSpPr/>
              <p:nvPr/>
            </p:nvSpPr>
            <p:spPr>
              <a:xfrm flipV="1">
                <a:off x="8640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6" name="Straight Connector 45"/>
              <p:cNvSpPr/>
              <p:nvPr/>
            </p:nvSpPr>
            <p:spPr>
              <a:xfrm flipV="1">
                <a:off x="8100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7" name="Freeform 46"/>
              <p:cNvSpPr/>
              <p:nvPr/>
            </p:nvSpPr>
            <p:spPr>
              <a:xfrm flipH="1">
                <a:off x="8172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8" name="Straight Connector 47"/>
              <p:cNvSpPr/>
              <p:nvPr/>
            </p:nvSpPr>
            <p:spPr>
              <a:xfrm flipV="1">
                <a:off x="87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grpSp>
          <p:nvGrpSpPr>
            <p:cNvPr id="5" name="Group 48"/>
            <p:cNvGrpSpPr/>
            <p:nvPr/>
          </p:nvGrpSpPr>
          <p:grpSpPr>
            <a:xfrm>
              <a:off x="8472343" y="940228"/>
              <a:ext cx="272184" cy="913976"/>
              <a:chOff x="9000000" y="864000"/>
              <a:chExt cx="828000" cy="2771999"/>
            </a:xfrm>
          </p:grpSpPr>
          <p:sp>
            <p:nvSpPr>
              <p:cNvPr id="50" name="Freeform 49"/>
              <p:cNvSpPr/>
              <p:nvPr/>
            </p:nvSpPr>
            <p:spPr>
              <a:xfrm>
                <a:off x="900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1" name="Straight Connector 50"/>
              <p:cNvSpPr/>
              <p:nvPr/>
            </p:nvSpPr>
            <p:spPr>
              <a:xfrm flipV="1">
                <a:off x="9144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2" name="Straight Connector 51"/>
              <p:cNvSpPr/>
              <p:nvPr/>
            </p:nvSpPr>
            <p:spPr>
              <a:xfrm flipV="1">
                <a:off x="946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923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4" name="Straight Connector 53"/>
              <p:cNvSpPr/>
              <p:nvPr/>
            </p:nvSpPr>
            <p:spPr>
              <a:xfrm flipV="1">
                <a:off x="96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5" name="Straight Connector 54"/>
              <p:cNvSpPr/>
              <p:nvPr/>
            </p:nvSpPr>
            <p:spPr>
              <a:xfrm flipV="1">
                <a:off x="914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6" name="Freeform 55"/>
              <p:cNvSpPr/>
              <p:nvPr/>
            </p:nvSpPr>
            <p:spPr>
              <a:xfrm flipH="1">
                <a:off x="921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7" name="Straight Connector 56"/>
              <p:cNvSpPr/>
              <p:nvPr/>
            </p:nvSpPr>
            <p:spPr>
              <a:xfrm flipV="1">
                <a:off x="982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58" name="Freeform 57"/>
            <p:cNvSpPr/>
            <p:nvPr/>
          </p:nvSpPr>
          <p:spPr>
            <a:xfrm rot="5400000">
              <a:off x="8572040" y="2879704"/>
              <a:ext cx="207722" cy="1741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59" name="Straight Connector 58"/>
            <p:cNvSpPr/>
            <p:nvPr/>
          </p:nvSpPr>
          <p:spPr>
            <a:xfrm flipH="1">
              <a:off x="7987618" y="3021399"/>
              <a:ext cx="597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0" name="Straight Connector 59"/>
            <p:cNvSpPr/>
            <p:nvPr/>
          </p:nvSpPr>
          <p:spPr>
            <a:xfrm flipH="1">
              <a:off x="7833302" y="2914570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 rot="5400000">
              <a:off x="8383070" y="2846117"/>
              <a:ext cx="178047" cy="124613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2" name="Straight Connector 61"/>
            <p:cNvSpPr/>
            <p:nvPr/>
          </p:nvSpPr>
          <p:spPr>
            <a:xfrm flipH="1">
              <a:off x="7997559" y="2843352"/>
              <a:ext cx="3486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3" name="Straight Connector 62"/>
            <p:cNvSpPr/>
            <p:nvPr/>
          </p:nvSpPr>
          <p:spPr>
            <a:xfrm flipH="1">
              <a:off x="7833302" y="3021399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 rot="16200000">
              <a:off x="7770387" y="2821414"/>
              <a:ext cx="156427" cy="152400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5" name="Straight Connector 64"/>
            <p:cNvSpPr/>
            <p:nvPr/>
          </p:nvSpPr>
          <p:spPr>
            <a:xfrm flipH="1">
              <a:off x="7997559" y="2795872"/>
              <a:ext cx="34863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6" name="Group 65"/>
            <p:cNvGrpSpPr/>
            <p:nvPr/>
          </p:nvGrpSpPr>
          <p:grpSpPr>
            <a:xfrm>
              <a:off x="7750464" y="2392299"/>
              <a:ext cx="911225" cy="273006"/>
              <a:chOff x="6804000" y="4860000"/>
              <a:chExt cx="2772000" cy="828000"/>
            </a:xfrm>
          </p:grpSpPr>
          <p:sp>
            <p:nvSpPr>
              <p:cNvPr id="67" name="Freeform 66"/>
              <p:cNvSpPr/>
              <p:nvPr/>
            </p:nvSpPr>
            <p:spPr>
              <a:xfrm rot="5400000">
                <a:off x="6753960" y="4910040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8" name="Straight Connector 67"/>
              <p:cNvSpPr/>
              <p:nvPr/>
            </p:nvSpPr>
            <p:spPr>
              <a:xfrm>
                <a:off x="7288559" y="5004000"/>
                <a:ext cx="18180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9" name="Straight Connector 68"/>
              <p:cNvSpPr/>
              <p:nvPr/>
            </p:nvSpPr>
            <p:spPr>
              <a:xfrm>
                <a:off x="7303679" y="5328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0" name="Freeform 69"/>
              <p:cNvSpPr/>
              <p:nvPr/>
            </p:nvSpPr>
            <p:spPr>
              <a:xfrm rot="5400000">
                <a:off x="8950139" y="5174460"/>
                <a:ext cx="539999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1" name="Straight Connector 70"/>
              <p:cNvSpPr/>
              <p:nvPr/>
            </p:nvSpPr>
            <p:spPr>
              <a:xfrm>
                <a:off x="8015759" y="5544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2" name="Straight Connector 71"/>
              <p:cNvSpPr/>
              <p:nvPr/>
            </p:nvSpPr>
            <p:spPr>
              <a:xfrm>
                <a:off x="7303679" y="5004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 rot="16200000">
                <a:off x="7350778" y="5137786"/>
                <a:ext cx="607344" cy="419457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4" name="Straight Connector 73"/>
              <p:cNvSpPr/>
              <p:nvPr/>
            </p:nvSpPr>
            <p:spPr>
              <a:xfrm>
                <a:off x="8015759" y="5688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75" name="TextBox 74"/>
            <p:cNvSpPr txBox="1"/>
            <p:nvPr/>
          </p:nvSpPr>
          <p:spPr>
            <a:xfrm>
              <a:off x="7696200" y="3123639"/>
              <a:ext cx="1295400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76" name="Straight Connector 75"/>
            <p:cNvSpPr/>
            <p:nvPr/>
          </p:nvSpPr>
          <p:spPr>
            <a:xfrm>
              <a:off x="6248400" y="685800"/>
              <a:ext cx="0" cy="35609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0" y="58746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  <a:latin typeface="+mj-lt"/>
              </a:rPr>
              <a:t>LFP modeled as sum of absolute values of Excitatory and Inhibitory currents on Excitatory neurons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5334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 excitatory-inhibitory networks</a:t>
            </a:r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C66E411E-9922-4470-9466-AD1A4C8DB139}"/>
              </a:ext>
            </a:extLst>
          </p:cNvPr>
          <p:cNvSpPr/>
          <p:nvPr/>
        </p:nvSpPr>
        <p:spPr>
          <a:xfrm>
            <a:off x="4572000" y="1753923"/>
            <a:ext cx="1994005" cy="33340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Dipole</a:t>
            </a:r>
            <a:r>
              <a:rPr lang="it-IT" sz="2400" b="1" dirty="0"/>
              <a:t> </a:t>
            </a:r>
            <a:r>
              <a:rPr lang="it-IT" sz="2400" b="1" dirty="0" err="1"/>
              <a:t>effect</a:t>
            </a:r>
            <a:r>
              <a:rPr lang="it-IT" sz="2400" dirty="0"/>
              <a:t>: the </a:t>
            </a:r>
            <a:r>
              <a:rPr lang="it-IT" sz="2400" dirty="0" err="1"/>
              <a:t>distance</a:t>
            </a:r>
            <a:r>
              <a:rPr lang="it-IT" sz="2400" dirty="0"/>
              <a:t> </a:t>
            </a:r>
            <a:r>
              <a:rPr lang="it-IT" sz="2400" dirty="0" err="1"/>
              <a:t>between</a:t>
            </a:r>
            <a:r>
              <a:rPr lang="it-IT" sz="2400" dirty="0"/>
              <a:t> </a:t>
            </a:r>
            <a:r>
              <a:rPr lang="it-IT" sz="2400" dirty="0" err="1"/>
              <a:t>sink</a:t>
            </a:r>
            <a:r>
              <a:rPr lang="it-IT" sz="2400" dirty="0"/>
              <a:t> and source </a:t>
            </a:r>
            <a:r>
              <a:rPr lang="it-IT" sz="2400" dirty="0" err="1"/>
              <a:t>creates</a:t>
            </a:r>
            <a:r>
              <a:rPr lang="it-IT" sz="2400" dirty="0"/>
              <a:t> a </a:t>
            </a:r>
            <a:r>
              <a:rPr lang="it-IT" sz="2400" dirty="0" err="1"/>
              <a:t>dipole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5818548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/>
          <p:cNvGrpSpPr/>
          <p:nvPr/>
        </p:nvGrpSpPr>
        <p:grpSpPr>
          <a:xfrm>
            <a:off x="899592" y="1156418"/>
            <a:ext cx="6324600" cy="4729199"/>
            <a:chOff x="5715000" y="685800"/>
            <a:chExt cx="3429000" cy="2590532"/>
          </a:xfrm>
        </p:grpSpPr>
        <p:sp>
          <p:nvSpPr>
            <p:cNvPr id="16" name="TextBox 15"/>
            <p:cNvSpPr txBox="1"/>
            <p:nvPr/>
          </p:nvSpPr>
          <p:spPr>
            <a:xfrm>
              <a:off x="6254008" y="1034142"/>
              <a:ext cx="11083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 SINK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24600" y="2209239"/>
              <a:ext cx="13369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 SOURCE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5715000" y="2673221"/>
              <a:ext cx="414193" cy="41544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5809673" y="1284452"/>
              <a:ext cx="0" cy="1424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0" name="Straight Connector 19"/>
            <p:cNvSpPr/>
            <p:nvPr/>
          </p:nvSpPr>
          <p:spPr>
            <a:xfrm flipV="1">
              <a:off x="6022686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5868843" y="1047056"/>
              <a:ext cx="355023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2" name="Straight Connector 21"/>
            <p:cNvSpPr/>
            <p:nvPr/>
          </p:nvSpPr>
          <p:spPr>
            <a:xfrm flipV="1">
              <a:off x="6164695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3" name="Straight Connector 22"/>
            <p:cNvSpPr/>
            <p:nvPr/>
          </p:nvSpPr>
          <p:spPr>
            <a:xfrm flipV="1">
              <a:off x="5809673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 flipH="1">
              <a:off x="5857009" y="2210298"/>
              <a:ext cx="295852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6259368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6" name="Straight Connector 25"/>
            <p:cNvSpPr/>
            <p:nvPr/>
          </p:nvSpPr>
          <p:spPr>
            <a:xfrm>
              <a:off x="6259368" y="2447695"/>
              <a:ext cx="0" cy="3560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7" name="Straight Connector 26"/>
            <p:cNvSpPr/>
            <p:nvPr/>
          </p:nvSpPr>
          <p:spPr>
            <a:xfrm flipV="1">
              <a:off x="6401377" y="1426890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8" name="Straight Connector 27"/>
            <p:cNvSpPr/>
            <p:nvPr/>
          </p:nvSpPr>
          <p:spPr>
            <a:xfrm>
              <a:off x="6401377" y="1699896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00800" y="1828239"/>
              <a:ext cx="1112116" cy="278751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>
                  <a:ln>
                    <a:noFill/>
                  </a:ln>
                  <a:latin typeface="+mj-lt"/>
                  <a:ea typeface="DejaVu Sans" pitchFamily="2"/>
                  <a:cs typeface="DejaVu Sans" pitchFamily="2"/>
                </a:rPr>
                <a:t>ELECTRODE</a:t>
              </a:r>
            </a:p>
          </p:txBody>
        </p:sp>
        <p:grpSp>
          <p:nvGrpSpPr>
            <p:cNvPr id="3" name="Group 29"/>
            <p:cNvGrpSpPr/>
            <p:nvPr/>
          </p:nvGrpSpPr>
          <p:grpSpPr>
            <a:xfrm>
              <a:off x="7762298" y="940228"/>
              <a:ext cx="272184" cy="913976"/>
              <a:chOff x="6840000" y="864000"/>
              <a:chExt cx="828000" cy="2771999"/>
            </a:xfrm>
          </p:grpSpPr>
          <p:sp>
            <p:nvSpPr>
              <p:cNvPr id="31" name="Freeform 30"/>
              <p:cNvSpPr/>
              <p:nvPr/>
            </p:nvSpPr>
            <p:spPr>
              <a:xfrm>
                <a:off x="684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2" name="Straight Connector 31"/>
              <p:cNvSpPr/>
              <p:nvPr/>
            </p:nvSpPr>
            <p:spPr>
              <a:xfrm flipV="1">
                <a:off x="6983999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3" name="Straight Connector 32"/>
              <p:cNvSpPr/>
              <p:nvPr/>
            </p:nvSpPr>
            <p:spPr>
              <a:xfrm flipV="1">
                <a:off x="730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707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5" name="Straight Connector 34"/>
              <p:cNvSpPr/>
              <p:nvPr/>
            </p:nvSpPr>
            <p:spPr>
              <a:xfrm flipV="1">
                <a:off x="7523999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6" name="Straight Connector 35"/>
              <p:cNvSpPr/>
              <p:nvPr/>
            </p:nvSpPr>
            <p:spPr>
              <a:xfrm flipV="1">
                <a:off x="6983999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7" name="Freeform 36"/>
              <p:cNvSpPr/>
              <p:nvPr/>
            </p:nvSpPr>
            <p:spPr>
              <a:xfrm flipH="1">
                <a:off x="705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8" name="Straight Connector 37"/>
              <p:cNvSpPr/>
              <p:nvPr/>
            </p:nvSpPr>
            <p:spPr>
              <a:xfrm flipV="1">
                <a:off x="766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7543801" y="1828800"/>
              <a:ext cx="1600199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4" name="Group 39"/>
            <p:cNvGrpSpPr/>
            <p:nvPr/>
          </p:nvGrpSpPr>
          <p:grpSpPr>
            <a:xfrm>
              <a:off x="8129155" y="940228"/>
              <a:ext cx="272184" cy="913976"/>
              <a:chOff x="7956000" y="864000"/>
              <a:chExt cx="828000" cy="2771999"/>
            </a:xfrm>
          </p:grpSpPr>
          <p:sp>
            <p:nvSpPr>
              <p:cNvPr id="41" name="Freeform 40"/>
              <p:cNvSpPr/>
              <p:nvPr/>
            </p:nvSpPr>
            <p:spPr>
              <a:xfrm>
                <a:off x="7956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2" name="Straight Connector 41"/>
              <p:cNvSpPr/>
              <p:nvPr/>
            </p:nvSpPr>
            <p:spPr>
              <a:xfrm flipV="1">
                <a:off x="8100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3" name="Straight Connector 42"/>
              <p:cNvSpPr/>
              <p:nvPr/>
            </p:nvSpPr>
            <p:spPr>
              <a:xfrm flipV="1">
                <a:off x="842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8190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5" name="Straight Connector 44"/>
              <p:cNvSpPr/>
              <p:nvPr/>
            </p:nvSpPr>
            <p:spPr>
              <a:xfrm flipV="1">
                <a:off x="8640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6" name="Straight Connector 45"/>
              <p:cNvSpPr/>
              <p:nvPr/>
            </p:nvSpPr>
            <p:spPr>
              <a:xfrm flipV="1">
                <a:off x="8100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7" name="Freeform 46"/>
              <p:cNvSpPr/>
              <p:nvPr/>
            </p:nvSpPr>
            <p:spPr>
              <a:xfrm flipH="1">
                <a:off x="8172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8" name="Straight Connector 47"/>
              <p:cNvSpPr/>
              <p:nvPr/>
            </p:nvSpPr>
            <p:spPr>
              <a:xfrm flipV="1">
                <a:off x="87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grpSp>
          <p:nvGrpSpPr>
            <p:cNvPr id="5" name="Group 48"/>
            <p:cNvGrpSpPr/>
            <p:nvPr/>
          </p:nvGrpSpPr>
          <p:grpSpPr>
            <a:xfrm>
              <a:off x="8472343" y="940228"/>
              <a:ext cx="272184" cy="913976"/>
              <a:chOff x="9000000" y="864000"/>
              <a:chExt cx="828000" cy="2771999"/>
            </a:xfrm>
          </p:grpSpPr>
          <p:sp>
            <p:nvSpPr>
              <p:cNvPr id="50" name="Freeform 49"/>
              <p:cNvSpPr/>
              <p:nvPr/>
            </p:nvSpPr>
            <p:spPr>
              <a:xfrm>
                <a:off x="900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1" name="Straight Connector 50"/>
              <p:cNvSpPr/>
              <p:nvPr/>
            </p:nvSpPr>
            <p:spPr>
              <a:xfrm flipV="1">
                <a:off x="9144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2" name="Straight Connector 51"/>
              <p:cNvSpPr/>
              <p:nvPr/>
            </p:nvSpPr>
            <p:spPr>
              <a:xfrm flipV="1">
                <a:off x="946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923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4" name="Straight Connector 53"/>
              <p:cNvSpPr/>
              <p:nvPr/>
            </p:nvSpPr>
            <p:spPr>
              <a:xfrm flipV="1">
                <a:off x="96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5" name="Straight Connector 54"/>
              <p:cNvSpPr/>
              <p:nvPr/>
            </p:nvSpPr>
            <p:spPr>
              <a:xfrm flipV="1">
                <a:off x="914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6" name="Freeform 55"/>
              <p:cNvSpPr/>
              <p:nvPr/>
            </p:nvSpPr>
            <p:spPr>
              <a:xfrm flipH="1">
                <a:off x="921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7" name="Straight Connector 56"/>
              <p:cNvSpPr/>
              <p:nvPr/>
            </p:nvSpPr>
            <p:spPr>
              <a:xfrm flipV="1">
                <a:off x="982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58" name="Freeform 57"/>
            <p:cNvSpPr/>
            <p:nvPr/>
          </p:nvSpPr>
          <p:spPr>
            <a:xfrm rot="5400000">
              <a:off x="8572040" y="2879704"/>
              <a:ext cx="207722" cy="1741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59" name="Straight Connector 58"/>
            <p:cNvSpPr/>
            <p:nvPr/>
          </p:nvSpPr>
          <p:spPr>
            <a:xfrm flipH="1">
              <a:off x="7987618" y="3021399"/>
              <a:ext cx="597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0" name="Straight Connector 59"/>
            <p:cNvSpPr/>
            <p:nvPr/>
          </p:nvSpPr>
          <p:spPr>
            <a:xfrm flipH="1">
              <a:off x="7833302" y="2914570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 rot="5400000">
              <a:off x="8383070" y="2846117"/>
              <a:ext cx="178047" cy="124613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2" name="Straight Connector 61"/>
            <p:cNvSpPr/>
            <p:nvPr/>
          </p:nvSpPr>
          <p:spPr>
            <a:xfrm flipH="1">
              <a:off x="7997559" y="2843352"/>
              <a:ext cx="3486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3" name="Straight Connector 62"/>
            <p:cNvSpPr/>
            <p:nvPr/>
          </p:nvSpPr>
          <p:spPr>
            <a:xfrm flipH="1">
              <a:off x="7833302" y="3021399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 rot="16200000">
              <a:off x="7770387" y="2821414"/>
              <a:ext cx="156427" cy="152400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5" name="Straight Connector 64"/>
            <p:cNvSpPr/>
            <p:nvPr/>
          </p:nvSpPr>
          <p:spPr>
            <a:xfrm flipH="1">
              <a:off x="7997559" y="2795872"/>
              <a:ext cx="34863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6" name="Group 65"/>
            <p:cNvGrpSpPr/>
            <p:nvPr/>
          </p:nvGrpSpPr>
          <p:grpSpPr>
            <a:xfrm>
              <a:off x="7750464" y="2392299"/>
              <a:ext cx="911225" cy="273006"/>
              <a:chOff x="6804000" y="4860000"/>
              <a:chExt cx="2772000" cy="828000"/>
            </a:xfrm>
          </p:grpSpPr>
          <p:sp>
            <p:nvSpPr>
              <p:cNvPr id="67" name="Freeform 66"/>
              <p:cNvSpPr/>
              <p:nvPr/>
            </p:nvSpPr>
            <p:spPr>
              <a:xfrm rot="5400000">
                <a:off x="6753960" y="4910040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8" name="Straight Connector 67"/>
              <p:cNvSpPr/>
              <p:nvPr/>
            </p:nvSpPr>
            <p:spPr>
              <a:xfrm>
                <a:off x="7288559" y="5004000"/>
                <a:ext cx="18180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9" name="Straight Connector 68"/>
              <p:cNvSpPr/>
              <p:nvPr/>
            </p:nvSpPr>
            <p:spPr>
              <a:xfrm>
                <a:off x="7303679" y="5328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0" name="Freeform 69"/>
              <p:cNvSpPr/>
              <p:nvPr/>
            </p:nvSpPr>
            <p:spPr>
              <a:xfrm rot="5400000">
                <a:off x="8950139" y="5174460"/>
                <a:ext cx="539999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1" name="Straight Connector 70"/>
              <p:cNvSpPr/>
              <p:nvPr/>
            </p:nvSpPr>
            <p:spPr>
              <a:xfrm>
                <a:off x="8015759" y="5544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2" name="Straight Connector 71"/>
              <p:cNvSpPr/>
              <p:nvPr/>
            </p:nvSpPr>
            <p:spPr>
              <a:xfrm>
                <a:off x="7303679" y="5004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 rot="16200000">
                <a:off x="7350778" y="5137786"/>
                <a:ext cx="607344" cy="419457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4" name="Straight Connector 73"/>
              <p:cNvSpPr/>
              <p:nvPr/>
            </p:nvSpPr>
            <p:spPr>
              <a:xfrm>
                <a:off x="8015759" y="5688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75" name="TextBox 74"/>
            <p:cNvSpPr txBox="1"/>
            <p:nvPr/>
          </p:nvSpPr>
          <p:spPr>
            <a:xfrm>
              <a:off x="7696200" y="3123639"/>
              <a:ext cx="1295400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76" name="Straight Connector 75"/>
            <p:cNvSpPr/>
            <p:nvPr/>
          </p:nvSpPr>
          <p:spPr>
            <a:xfrm>
              <a:off x="6248400" y="685800"/>
              <a:ext cx="0" cy="35609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0" y="58746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  <a:latin typeface="+mj-lt"/>
              </a:rPr>
              <a:t>LFP modeled as sum of absolute values of Excitatory and Inhibitory currents on Excitatory neurons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5334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 excitatory-inhibitory networks</a:t>
            </a:r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C66E411E-9922-4470-9466-AD1A4C8DB139}"/>
              </a:ext>
            </a:extLst>
          </p:cNvPr>
          <p:cNvSpPr/>
          <p:nvPr/>
        </p:nvSpPr>
        <p:spPr>
          <a:xfrm>
            <a:off x="323531" y="1595337"/>
            <a:ext cx="3312364" cy="401466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Dipoles</a:t>
            </a:r>
            <a:r>
              <a:rPr lang="it-IT" sz="2400" b="1" dirty="0"/>
              <a:t> sum</a:t>
            </a:r>
            <a:r>
              <a:rPr lang="it-IT" sz="2400" dirty="0"/>
              <a:t>: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Parallel</a:t>
            </a:r>
            <a:r>
              <a:rPr lang="it-IT" sz="2400" dirty="0"/>
              <a:t> </a:t>
            </a:r>
            <a:r>
              <a:rPr lang="it-IT" sz="2400" dirty="0" err="1"/>
              <a:t>dipoles</a:t>
            </a:r>
            <a:r>
              <a:rPr lang="it-IT" sz="2400" dirty="0"/>
              <a:t> </a:t>
            </a:r>
            <a:r>
              <a:rPr lang="it-IT" sz="2400" dirty="0" err="1"/>
              <a:t>formed</a:t>
            </a:r>
            <a:r>
              <a:rPr lang="it-IT" sz="2400" dirty="0"/>
              <a:t> by </a:t>
            </a:r>
            <a:r>
              <a:rPr lang="it-IT" sz="2400" dirty="0" err="1"/>
              <a:t>excitatory</a:t>
            </a:r>
            <a:r>
              <a:rPr lang="it-IT" sz="2400" dirty="0"/>
              <a:t> </a:t>
            </a:r>
            <a:r>
              <a:rPr lang="it-IT" sz="2400" dirty="0" err="1"/>
              <a:t>neurons</a:t>
            </a:r>
            <a:r>
              <a:rPr lang="it-IT" sz="2400" dirty="0"/>
              <a:t> sum up </a:t>
            </a:r>
            <a:r>
              <a:rPr lang="it-IT" sz="2400" dirty="0" err="1"/>
              <a:t>linearly</a:t>
            </a:r>
            <a:endParaRPr lang="it-IT" sz="2400" dirty="0"/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Isotropic</a:t>
            </a:r>
            <a:r>
              <a:rPr lang="it-IT" sz="2400" dirty="0"/>
              <a:t> </a:t>
            </a:r>
            <a:r>
              <a:rPr lang="it-IT" sz="2400" dirty="0" err="1"/>
              <a:t>dipoles</a:t>
            </a:r>
            <a:r>
              <a:rPr lang="it-IT" sz="2400" dirty="0"/>
              <a:t> </a:t>
            </a:r>
            <a:r>
              <a:rPr lang="it-IT" sz="2400" dirty="0" err="1"/>
              <a:t>formed</a:t>
            </a:r>
            <a:r>
              <a:rPr lang="it-IT" sz="2400" dirty="0"/>
              <a:t> by </a:t>
            </a:r>
            <a:r>
              <a:rPr lang="it-IT" sz="2400" dirty="0" err="1"/>
              <a:t>inhibitory</a:t>
            </a:r>
            <a:r>
              <a:rPr lang="it-IT" sz="2400" dirty="0"/>
              <a:t> </a:t>
            </a:r>
            <a:r>
              <a:rPr lang="it-IT" sz="2400" dirty="0" err="1"/>
              <a:t>neurons</a:t>
            </a:r>
            <a:r>
              <a:rPr lang="it-IT" sz="2400" dirty="0"/>
              <a:t> sum up to zero over a </a:t>
            </a:r>
            <a:r>
              <a:rPr lang="it-IT" sz="2400" dirty="0" err="1"/>
              <a:t>sufficiently</a:t>
            </a:r>
            <a:r>
              <a:rPr lang="it-IT" sz="2400" dirty="0"/>
              <a:t> large volume </a:t>
            </a:r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0251606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97"/>
          <p:cNvGrpSpPr/>
          <p:nvPr/>
        </p:nvGrpSpPr>
        <p:grpSpPr>
          <a:xfrm>
            <a:off x="457201" y="1524000"/>
            <a:ext cx="4800600" cy="2971800"/>
            <a:chOff x="1026192" y="914400"/>
            <a:chExt cx="7528623" cy="4495800"/>
          </a:xfrm>
        </p:grpSpPr>
        <p:sp>
          <p:nvSpPr>
            <p:cNvPr id="2" name="Freeform 1"/>
            <p:cNvSpPr/>
            <p:nvPr/>
          </p:nvSpPr>
          <p:spPr>
            <a:xfrm>
              <a:off x="1026193" y="914400"/>
              <a:ext cx="1196804" cy="12253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</a:t>
              </a:r>
            </a:p>
          </p:txBody>
        </p:sp>
        <p:sp>
          <p:nvSpPr>
            <p:cNvPr id="3" name="Freeform 2"/>
            <p:cNvSpPr/>
            <p:nvPr/>
          </p:nvSpPr>
          <p:spPr>
            <a:xfrm>
              <a:off x="2630577" y="1137727"/>
              <a:ext cx="2393609" cy="24280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P</a:t>
              </a:r>
            </a:p>
          </p:txBody>
        </p:sp>
        <p:sp>
          <p:nvSpPr>
            <p:cNvPr id="4" name="Freeform 3"/>
            <p:cNvSpPr/>
            <p:nvPr/>
          </p:nvSpPr>
          <p:spPr>
            <a:xfrm>
              <a:off x="6172200" y="1371600"/>
              <a:ext cx="2382615" cy="33528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Unspecific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slow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cortical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activity</a:t>
              </a:r>
            </a:p>
          </p:txBody>
        </p:sp>
        <p:sp>
          <p:nvSpPr>
            <p:cNvPr id="5" name="Freeform 4"/>
            <p:cNvSpPr/>
            <p:nvPr/>
          </p:nvSpPr>
          <p:spPr>
            <a:xfrm>
              <a:off x="1241516" y="4537950"/>
              <a:ext cx="3621847" cy="87225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Thalamic input</a:t>
              </a:r>
            </a:p>
          </p:txBody>
        </p:sp>
        <p:cxnSp>
          <p:nvCxnSpPr>
            <p:cNvPr id="6" name="Straight Arrow Connector 5"/>
            <p:cNvCxnSpPr>
              <a:stCxn id="5" idx="0"/>
              <a:endCxn id="5" idx="0"/>
            </p:cNvCxnSpPr>
            <p:nvPr/>
          </p:nvCxnSpPr>
          <p:spPr>
            <a:xfrm rot="5400000" flipH="1" flipV="1">
              <a:off x="3052297" y="4538090"/>
              <a:ext cx="2041" cy="1759"/>
            </a:xfrm>
            <a:prstGeom prst="straightConnector1">
              <a:avLst/>
            </a:prstGeom>
            <a:noFill/>
            <a:ln w="0">
              <a:solidFill>
                <a:srgbClr val="000000"/>
              </a:solidFill>
              <a:prstDash val="solid"/>
              <a:tailEnd type="arrow"/>
            </a:ln>
          </p:spPr>
        </p:cxnSp>
        <p:cxnSp>
          <p:nvCxnSpPr>
            <p:cNvPr id="7" name="Curved Connector 6"/>
            <p:cNvCxnSpPr>
              <a:stCxn id="5" idx="0"/>
              <a:endCxn id="2" idx="2"/>
            </p:cNvCxnSpPr>
            <p:nvPr/>
          </p:nvCxnSpPr>
          <p:spPr>
            <a:xfrm rot="16200000" flipV="1">
              <a:off x="1139435" y="2624945"/>
              <a:ext cx="2398165" cy="1427843"/>
            </a:xfrm>
            <a:prstGeom prst="curvedConnector3">
              <a:avLst>
                <a:gd name="adj1" fmla="val 50000"/>
              </a:avLst>
            </a:prstGeom>
            <a:noFill/>
            <a:ln w="508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8" name="Curved Connector 7"/>
            <p:cNvCxnSpPr>
              <a:stCxn id="4" idx="6"/>
              <a:endCxn id="3" idx="11"/>
            </p:cNvCxnSpPr>
            <p:nvPr/>
          </p:nvCxnSpPr>
          <p:spPr>
            <a:xfrm rot="16200000" flipV="1">
              <a:off x="4645576" y="1521376"/>
              <a:ext cx="1555059" cy="1498190"/>
            </a:xfrm>
            <a:prstGeom prst="curvedConnector3">
              <a:avLst>
                <a:gd name="adj1" fmla="val 107907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9" name="Curved Connector 8"/>
            <p:cNvCxnSpPr>
              <a:stCxn id="4" idx="5"/>
              <a:endCxn id="2" idx="11"/>
            </p:cNvCxnSpPr>
            <p:nvPr/>
          </p:nvCxnSpPr>
          <p:spPr>
            <a:xfrm rot="16200000" flipV="1">
              <a:off x="3900123" y="-758544"/>
              <a:ext cx="768433" cy="4472859"/>
            </a:xfrm>
            <a:prstGeom prst="curvedConnector3">
              <a:avLst>
                <a:gd name="adj1" fmla="val 153078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0" name="Curved Connector 9"/>
            <p:cNvCxnSpPr>
              <a:stCxn id="3" idx="6"/>
              <a:endCxn id="2" idx="9"/>
            </p:cNvCxnSpPr>
            <p:nvPr/>
          </p:nvCxnSpPr>
          <p:spPr>
            <a:xfrm rot="16200000" flipV="1">
              <a:off x="2143629" y="1864798"/>
              <a:ext cx="391232" cy="582667"/>
            </a:xfrm>
            <a:prstGeom prst="curvedConnector3">
              <a:avLst>
                <a:gd name="adj1" fmla="val -56771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1" name="Curved Connector 10"/>
            <p:cNvCxnSpPr>
              <a:stCxn id="2" idx="10"/>
              <a:endCxn id="3" idx="5"/>
            </p:cNvCxnSpPr>
            <p:nvPr/>
          </p:nvCxnSpPr>
          <p:spPr>
            <a:xfrm rot="5400000" flipH="1" flipV="1">
              <a:off x="2584799" y="1131140"/>
              <a:ext cx="34152" cy="757755"/>
            </a:xfrm>
            <a:prstGeom prst="curvedConnector3">
              <a:avLst>
                <a:gd name="adj1" fmla="val 671495"/>
              </a:avLst>
            </a:prstGeom>
            <a:noFill/>
            <a:ln w="1224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2" name="Curved Connector 16"/>
            <p:cNvCxnSpPr>
              <a:stCxn id="2" idx="3"/>
            </p:cNvCxnSpPr>
            <p:nvPr/>
          </p:nvCxnSpPr>
          <p:spPr>
            <a:xfrm rot="10800000" flipH="1">
              <a:off x="1026192" y="914403"/>
              <a:ext cx="429519" cy="612689"/>
            </a:xfrm>
            <a:prstGeom prst="curvedConnector4">
              <a:avLst>
                <a:gd name="adj1" fmla="val -77258"/>
                <a:gd name="adj2" fmla="val 144594"/>
              </a:avLst>
            </a:prstGeom>
            <a:noFill/>
            <a:ln w="1270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3" name="Curved Connector 17"/>
            <p:cNvCxnSpPr>
              <a:stCxn id="3" idx="9"/>
              <a:endCxn id="3" idx="1"/>
            </p:cNvCxnSpPr>
            <p:nvPr/>
          </p:nvCxnSpPr>
          <p:spPr>
            <a:xfrm rot="5400000" flipH="1" flipV="1">
              <a:off x="4419695" y="2606065"/>
              <a:ext cx="858807" cy="350175"/>
            </a:xfrm>
            <a:prstGeom prst="curvedConnector4">
              <a:avLst>
                <a:gd name="adj1" fmla="val -40520"/>
                <a:gd name="adj2" fmla="val 194764"/>
              </a:avLst>
            </a:prstGeom>
            <a:noFill/>
            <a:ln w="360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4" name="Curved Connector 13"/>
            <p:cNvCxnSpPr>
              <a:stCxn id="5" idx="0"/>
              <a:endCxn id="3" idx="2"/>
            </p:cNvCxnSpPr>
            <p:nvPr/>
          </p:nvCxnSpPr>
          <p:spPr>
            <a:xfrm rot="5400000" flipH="1" flipV="1">
              <a:off x="2953820" y="3664388"/>
              <a:ext cx="972181" cy="774943"/>
            </a:xfrm>
            <a:prstGeom prst="curved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</p:grpSp>
      <p:sp>
        <p:nvSpPr>
          <p:cNvPr id="15" name="TextBox 14"/>
          <p:cNvSpPr txBox="1"/>
          <p:nvPr/>
        </p:nvSpPr>
        <p:spPr>
          <a:xfrm>
            <a:off x="26020" y="5029200"/>
            <a:ext cx="4241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Leaky integrate and fire neurons 4000 Excitatory </a:t>
            </a:r>
            <a:r>
              <a:rPr lang="en-US" sz="1600" b="0" dirty="0" err="1">
                <a:solidFill>
                  <a:schemeClr val="tx1"/>
                </a:solidFill>
                <a:latin typeface="+mj-lt"/>
              </a:rPr>
              <a:t>Excitatory</a:t>
            </a:r>
            <a:r>
              <a:rPr lang="en-US" sz="1600" b="0" dirty="0">
                <a:solidFill>
                  <a:schemeClr val="tx1"/>
                </a:solidFill>
                <a:latin typeface="+mj-lt"/>
              </a:rPr>
              <a:t> neurons 1000 Inhibitory Inhibitory neurons.</a:t>
            </a:r>
            <a:r>
              <a:rPr lang="en-US" sz="1600" dirty="0">
                <a:latin typeface="+mj-lt"/>
              </a:rPr>
              <a:t> </a:t>
            </a:r>
          </a:p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Sparse (p=0.2) random connections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excitatory-inhibitory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200" kern="0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</a:t>
            </a:r>
            <a:r>
              <a:rPr kumimoji="0" lang="en-US" sz="320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etworks</a:t>
            </a:r>
            <a:endParaRPr kumimoji="0" lang="en-US" sz="32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29" y="5924729"/>
            <a:ext cx="4648200" cy="90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roup 99"/>
          <p:cNvGrpSpPr/>
          <p:nvPr/>
        </p:nvGrpSpPr>
        <p:grpSpPr>
          <a:xfrm>
            <a:off x="5562601" y="630868"/>
            <a:ext cx="3276599" cy="5084132"/>
            <a:chOff x="6083999" y="1044000"/>
            <a:chExt cx="3600000" cy="5734800"/>
          </a:xfrm>
        </p:grpSpPr>
        <p:pic>
          <p:nvPicPr>
            <p:cNvPr id="101" name="Picture 100"/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6083999" y="1044000"/>
              <a:ext cx="3600000" cy="573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Freeform 101"/>
            <p:cNvSpPr/>
            <p:nvPr/>
          </p:nvSpPr>
          <p:spPr>
            <a:xfrm>
              <a:off x="6083999" y="1044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6083999" y="298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6083999" y="496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24" name="CasellaDiTesto 23"/>
          <p:cNvSpPr txBox="1"/>
          <p:nvPr/>
        </p:nvSpPr>
        <p:spPr>
          <a:xfrm>
            <a:off x="2057400" y="22199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5409190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28600" y="152400"/>
            <a:ext cx="5407742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2"/>
          <p:cNvSpPr/>
          <p:nvPr/>
        </p:nvSpPr>
        <p:spPr>
          <a:xfrm>
            <a:off x="3021999" y="215487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021999" y="477615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021999" y="152400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28600" y="15240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28600" y="211836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28600" y="4812661"/>
            <a:ext cx="186567" cy="18161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7718" y="2368006"/>
            <a:ext cx="1742495" cy="1329616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46643" y="5257655"/>
            <a:ext cx="2916357" cy="9757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LFP=|I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|+|I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0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on Excitatory neurons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6299" y="1338217"/>
            <a:ext cx="3004301" cy="69120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input: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costant signal + noise</a:t>
            </a:r>
          </a:p>
        </p:txBody>
      </p:sp>
      <p:sp>
        <p:nvSpPr>
          <p:cNvPr id="12" name="Straight Connector 11"/>
          <p:cNvSpPr/>
          <p:nvPr/>
        </p:nvSpPr>
        <p:spPr>
          <a:xfrm>
            <a:off x="5906729" y="2742474"/>
            <a:ext cx="600860" cy="0"/>
          </a:xfrm>
          <a:prstGeom prst="line">
            <a:avLst/>
          </a:prstGeom>
          <a:noFill/>
          <a:ln w="72000">
            <a:solidFill>
              <a:srgbClr val="2300DC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97718" y="3741057"/>
            <a:ext cx="2393882" cy="10346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5906729" y="4084632"/>
            <a:ext cx="600860" cy="0"/>
          </a:xfrm>
          <a:prstGeom prst="line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1640622" y="3741057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640622" y="2305594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5334000" y="0"/>
            <a:ext cx="3810000" cy="13081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</a:t>
            </a:r>
          </a:p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to constant input</a:t>
            </a:r>
          </a:p>
        </p:txBody>
      </p:sp>
    </p:spTree>
    <p:extLst>
      <p:ext uri="{BB962C8B-B14F-4D97-AF65-F5344CB8AC3E}">
        <p14:creationId xmlns:p14="http://schemas.microsoft.com/office/powerpoint/2010/main" val="12658000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28600" y="152400"/>
            <a:ext cx="5407742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2"/>
          <p:cNvSpPr/>
          <p:nvPr/>
        </p:nvSpPr>
        <p:spPr>
          <a:xfrm>
            <a:off x="3021999" y="215487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021999" y="477615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021999" y="152400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28600" y="15240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28600" y="211836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28600" y="4812661"/>
            <a:ext cx="186567" cy="18161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7718" y="2368006"/>
            <a:ext cx="1742495" cy="1329616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46643" y="5257655"/>
            <a:ext cx="2916357" cy="9757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LFP=|I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|+|I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0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on Excitatory neurons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6299" y="1338217"/>
            <a:ext cx="3004301" cy="69120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input: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costant signal + noise</a:t>
            </a:r>
          </a:p>
        </p:txBody>
      </p:sp>
      <p:sp>
        <p:nvSpPr>
          <p:cNvPr id="12" name="Straight Connector 11"/>
          <p:cNvSpPr/>
          <p:nvPr/>
        </p:nvSpPr>
        <p:spPr>
          <a:xfrm>
            <a:off x="5906729" y="2742474"/>
            <a:ext cx="600860" cy="0"/>
          </a:xfrm>
          <a:prstGeom prst="line">
            <a:avLst/>
          </a:prstGeom>
          <a:noFill/>
          <a:ln w="72000">
            <a:solidFill>
              <a:srgbClr val="2300DC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97718" y="3741057"/>
            <a:ext cx="2393882" cy="10346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5906729" y="4084632"/>
            <a:ext cx="600860" cy="0"/>
          </a:xfrm>
          <a:prstGeom prst="line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1640622" y="3741057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640622" y="2305594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5334000" y="0"/>
            <a:ext cx="3810000" cy="13081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</a:t>
            </a:r>
          </a:p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to constant input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74A4E3E-8003-4AC1-AE91-F67267E53BDB}"/>
              </a:ext>
            </a:extLst>
          </p:cNvPr>
          <p:cNvSpPr/>
          <p:nvPr/>
        </p:nvSpPr>
        <p:spPr>
          <a:xfrm>
            <a:off x="323531" y="1595336"/>
            <a:ext cx="2698468" cy="471398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Weak</a:t>
            </a:r>
            <a:r>
              <a:rPr lang="it-IT" sz="2400" b="1" dirty="0"/>
              <a:t> </a:t>
            </a:r>
            <a:r>
              <a:rPr lang="it-IT" sz="2400" b="1" dirty="0" err="1"/>
              <a:t>synchronization</a:t>
            </a:r>
            <a:r>
              <a:rPr lang="it-IT" sz="2400" dirty="0"/>
              <a:t>: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Oscillations</a:t>
            </a:r>
            <a:r>
              <a:rPr lang="it-IT" sz="2400" dirty="0"/>
              <a:t> are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visible</a:t>
            </a:r>
            <a:r>
              <a:rPr lang="it-IT" sz="2400" dirty="0"/>
              <a:t> in single </a:t>
            </a:r>
            <a:r>
              <a:rPr lang="it-IT" sz="2400" dirty="0" err="1"/>
              <a:t>neurons</a:t>
            </a:r>
            <a:r>
              <a:rPr lang="it-IT" sz="2400" dirty="0"/>
              <a:t>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only</a:t>
            </a:r>
            <a:r>
              <a:rPr lang="it-IT" sz="2400" dirty="0"/>
              <a:t> on </a:t>
            </a:r>
            <a:r>
              <a:rPr lang="it-IT" sz="2400" dirty="0" err="1"/>
              <a:t>local</a:t>
            </a:r>
            <a:r>
              <a:rPr lang="it-IT" sz="2400" dirty="0"/>
              <a:t> field </a:t>
            </a:r>
            <a:r>
              <a:rPr lang="it-IT" sz="2400" dirty="0" err="1"/>
              <a:t>potentials</a:t>
            </a:r>
            <a:r>
              <a:rPr lang="it-IT" sz="2400" dirty="0"/>
              <a:t> (or </a:t>
            </a:r>
            <a:r>
              <a:rPr lang="it-IT" sz="2400" dirty="0" err="1"/>
              <a:t>total</a:t>
            </a:r>
            <a:r>
              <a:rPr lang="it-IT" sz="2400" dirty="0"/>
              <a:t> </a:t>
            </a:r>
            <a:r>
              <a:rPr lang="it-IT" sz="2400" dirty="0" err="1"/>
              <a:t>firing</a:t>
            </a:r>
            <a:r>
              <a:rPr lang="it-IT" sz="2400" dirty="0"/>
              <a:t> rate, </a:t>
            </a:r>
            <a:r>
              <a:rPr lang="it-IT" sz="2400" dirty="0" err="1"/>
              <a:t>that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accessible</a:t>
            </a:r>
            <a:r>
              <a:rPr lang="it-IT" sz="2400" dirty="0"/>
              <a:t> to </a:t>
            </a:r>
            <a:r>
              <a:rPr lang="it-IT" sz="2400" dirty="0" err="1"/>
              <a:t>experimenters</a:t>
            </a:r>
            <a:r>
              <a:rPr lang="it-IT" sz="2400" dirty="0"/>
              <a:t>) </a:t>
            </a:r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5399732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1"/>
          <p:cNvPicPr>
            <a:picLocks noChangeAspect="1" noChangeArrowheads="1"/>
          </p:cNvPicPr>
          <p:nvPr/>
        </p:nvPicPr>
        <p:blipFill>
          <a:blip r:embed="rId3" cstate="print"/>
          <a:srcRect l="51688" t="4166"/>
          <a:stretch>
            <a:fillRect/>
          </a:stretch>
        </p:blipFill>
        <p:spPr bwMode="auto">
          <a:xfrm>
            <a:off x="214313" y="285750"/>
            <a:ext cx="2840037" cy="6572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2786063" y="0"/>
            <a:ext cx="6357937" cy="1308100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to constant input</a:t>
            </a: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3068638" y="2095500"/>
            <a:ext cx="201612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3068638" y="4838700"/>
            <a:ext cx="201612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3068638" y="0"/>
            <a:ext cx="201612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33338" y="0"/>
            <a:ext cx="203200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8" name="Rectangle 7"/>
          <p:cNvSpPr>
            <a:spLocks noChangeArrowheads="1"/>
          </p:cNvSpPr>
          <p:nvPr/>
        </p:nvSpPr>
        <p:spPr bwMode="auto">
          <a:xfrm>
            <a:off x="33338" y="2058988"/>
            <a:ext cx="203200" cy="188912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9" name="Rectangle 8"/>
          <p:cNvSpPr>
            <a:spLocks noChangeArrowheads="1"/>
          </p:cNvSpPr>
          <p:nvPr/>
        </p:nvSpPr>
        <p:spPr bwMode="auto">
          <a:xfrm>
            <a:off x="33338" y="4878388"/>
            <a:ext cx="203200" cy="188912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10" name="Text Box 9"/>
          <p:cNvSpPr txBox="1">
            <a:spLocks noChangeArrowheads="1"/>
          </p:cNvSpPr>
          <p:nvPr/>
        </p:nvSpPr>
        <p:spPr bwMode="auto">
          <a:xfrm>
            <a:off x="2928938" y="2500313"/>
            <a:ext cx="1893887" cy="8080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6" tIns="40818" rIns="81636" bIns="40818"/>
          <a:lstStyle/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Inhibitory neurons</a:t>
            </a:r>
          </a:p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spike rate</a:t>
            </a:r>
          </a:p>
          <a:p>
            <a:pPr>
              <a:tabLst>
                <a:tab pos="655638" algn="l"/>
                <a:tab pos="1311275" algn="l"/>
              </a:tabLst>
            </a:pPr>
            <a:endParaRPr lang="fi-FI" sz="2000" dirty="0">
              <a:solidFill>
                <a:schemeClr val="bg1"/>
              </a:solidFill>
            </a:endParaRPr>
          </a:p>
        </p:txBody>
      </p:sp>
      <p:sp>
        <p:nvSpPr>
          <p:cNvPr id="25611" name="Text Box 10"/>
          <p:cNvSpPr txBox="1">
            <a:spLocks noChangeArrowheads="1"/>
          </p:cNvSpPr>
          <p:nvPr/>
        </p:nvSpPr>
        <p:spPr bwMode="auto">
          <a:xfrm>
            <a:off x="2419350" y="5786438"/>
            <a:ext cx="2938463" cy="7127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6" tIns="40818" rIns="81636" bIns="40818"/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</a:tabLst>
            </a:pPr>
            <a:r>
              <a:rPr lang="fi-FI" sz="2000" dirty="0"/>
              <a:t>LFP=|I</a:t>
            </a:r>
            <a:r>
              <a:rPr lang="fi-FI" sz="2000" baseline="-33000" dirty="0"/>
              <a:t>Excitatory</a:t>
            </a:r>
            <a:r>
              <a:rPr lang="fi-FI" sz="2000" dirty="0"/>
              <a:t>|+|I</a:t>
            </a:r>
            <a:r>
              <a:rPr lang="fi-FI" sz="2000" baseline="-33000" dirty="0"/>
              <a:t>Inhibitory</a:t>
            </a:r>
            <a:r>
              <a:rPr lang="fi-FI" sz="2000" dirty="0"/>
              <a:t>|</a:t>
            </a:r>
          </a:p>
          <a:p>
            <a:pPr>
              <a:tabLst>
                <a:tab pos="655638" algn="l"/>
                <a:tab pos="1311275" algn="l"/>
                <a:tab pos="1968500" algn="l"/>
                <a:tab pos="2625725" algn="l"/>
              </a:tabLst>
            </a:pPr>
            <a:r>
              <a:rPr lang="fi-FI" sz="2000" dirty="0"/>
              <a:t>on Excitatory neurons</a:t>
            </a:r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2286000" y="2357438"/>
            <a:ext cx="654050" cy="1587"/>
          </a:xfrm>
          <a:prstGeom prst="line">
            <a:avLst/>
          </a:prstGeom>
          <a:noFill/>
          <a:ln w="72000">
            <a:solidFill>
              <a:srgbClr val="2300DC"/>
            </a:solidFill>
            <a:round/>
            <a:headEnd/>
            <a:tailEnd/>
          </a:ln>
        </p:spPr>
        <p:txBody>
          <a:bodyPr lIns="82943" tIns="41471" rIns="82943" bIns="41471"/>
          <a:lstStyle/>
          <a:p>
            <a:endParaRPr lang="en-US"/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3071813" y="3643313"/>
            <a:ext cx="1816100" cy="11064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6" tIns="40818" rIns="81636" bIns="40818"/>
          <a:lstStyle/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Excitatory neurons</a:t>
            </a:r>
          </a:p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spike rate</a:t>
            </a:r>
          </a:p>
          <a:p>
            <a:pPr>
              <a:tabLst>
                <a:tab pos="655638" algn="l"/>
                <a:tab pos="1311275" algn="l"/>
              </a:tabLst>
            </a:pPr>
            <a:endParaRPr lang="fi-FI" sz="2200" dirty="0">
              <a:solidFill>
                <a:schemeClr val="bg1"/>
              </a:solidFill>
            </a:endParaRPr>
          </a:p>
        </p:txBody>
      </p:sp>
      <p:sp>
        <p:nvSpPr>
          <p:cNvPr id="25614" name="Line 14"/>
          <p:cNvSpPr>
            <a:spLocks noChangeShapeType="1"/>
          </p:cNvSpPr>
          <p:nvPr/>
        </p:nvSpPr>
        <p:spPr bwMode="auto">
          <a:xfrm>
            <a:off x="2286000" y="3857625"/>
            <a:ext cx="654050" cy="3175"/>
          </a:xfrm>
          <a:prstGeom prst="line">
            <a:avLst/>
          </a:prstGeom>
          <a:noFill/>
          <a:ln w="72000">
            <a:solidFill>
              <a:srgbClr val="FF0000"/>
            </a:solidFill>
            <a:round/>
            <a:headEnd/>
            <a:tailEnd/>
          </a:ln>
        </p:spPr>
        <p:txBody>
          <a:bodyPr lIns="82943" tIns="41471" rIns="82943" bIns="41471"/>
          <a:lstStyle/>
          <a:p>
            <a:endParaRPr lang="en-US"/>
          </a:p>
        </p:txBody>
      </p:sp>
      <p:sp>
        <p:nvSpPr>
          <p:cNvPr id="25615" name="Text Box 18"/>
          <p:cNvSpPr txBox="1">
            <a:spLocks noChangeArrowheads="1"/>
          </p:cNvSpPr>
          <p:nvPr/>
        </p:nvSpPr>
        <p:spPr bwMode="auto">
          <a:xfrm>
            <a:off x="5786438" y="6237312"/>
            <a:ext cx="3152775" cy="583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943" tIns="41471" rIns="82943" bIns="41471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1300" i="1" dirty="0" err="1"/>
              <a:t>Mazzoni</a:t>
            </a:r>
            <a:r>
              <a:rPr lang="it-IT" sz="1300" i="1" dirty="0"/>
              <a:t>, </a:t>
            </a:r>
            <a:r>
              <a:rPr lang="it-IT" sz="1300" i="1" dirty="0" err="1"/>
              <a:t>et</a:t>
            </a:r>
            <a:r>
              <a:rPr lang="it-IT" sz="1300" i="1" dirty="0"/>
              <a:t> al – </a:t>
            </a:r>
            <a:r>
              <a:rPr lang="it-IT" sz="1300" i="1" dirty="0" err="1"/>
              <a:t>PLoS</a:t>
            </a:r>
            <a:r>
              <a:rPr lang="it-IT" sz="1300" i="1" dirty="0"/>
              <a:t> </a:t>
            </a:r>
            <a:r>
              <a:rPr lang="it-IT" sz="1300" i="1" dirty="0" err="1"/>
              <a:t>Comp</a:t>
            </a:r>
            <a:r>
              <a:rPr lang="it-IT" sz="1300" i="1" dirty="0"/>
              <a:t> </a:t>
            </a:r>
            <a:r>
              <a:rPr lang="it-IT" sz="1300" i="1" dirty="0" err="1"/>
              <a:t>Biol</a:t>
            </a:r>
            <a:r>
              <a:rPr lang="it-IT" sz="1300" i="1" dirty="0"/>
              <a:t>    (2008)</a:t>
            </a:r>
          </a:p>
          <a:p>
            <a:pPr>
              <a:spcBef>
                <a:spcPct val="50000"/>
              </a:spcBef>
            </a:pPr>
            <a:r>
              <a:rPr lang="it-IT" sz="1300" i="1" dirty="0" err="1"/>
              <a:t>Mazzoni</a:t>
            </a:r>
            <a:r>
              <a:rPr lang="it-IT" sz="1300" i="1" dirty="0"/>
              <a:t> </a:t>
            </a:r>
            <a:r>
              <a:rPr lang="it-IT" sz="1300" i="1" dirty="0" err="1"/>
              <a:t>et</a:t>
            </a:r>
            <a:r>
              <a:rPr lang="it-IT" sz="1300" i="1" dirty="0"/>
              <a:t> al (2010) </a:t>
            </a:r>
            <a:r>
              <a:rPr lang="it-IT" sz="1300" i="1" dirty="0" err="1"/>
              <a:t>Neuroimage</a:t>
            </a:r>
            <a:endParaRPr lang="it-IT" sz="1300" i="1" dirty="0"/>
          </a:p>
        </p:txBody>
      </p:sp>
      <p:pic>
        <p:nvPicPr>
          <p:cNvPr id="25616" name="Picture 2"/>
          <p:cNvPicPr>
            <a:picLocks noChangeAspect="1" noChangeArrowheads="1"/>
          </p:cNvPicPr>
          <p:nvPr/>
        </p:nvPicPr>
        <p:blipFill>
          <a:blip r:embed="rId4" cstate="print"/>
          <a:srcRect r="50000" b="50000"/>
          <a:stretch>
            <a:fillRect/>
          </a:stretch>
        </p:blipFill>
        <p:spPr bwMode="auto">
          <a:xfrm>
            <a:off x="4929188" y="1428750"/>
            <a:ext cx="3581400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17" name="CasellaDiTesto 19"/>
          <p:cNvSpPr txBox="1">
            <a:spLocks noChangeArrowheads="1"/>
          </p:cNvSpPr>
          <p:nvPr/>
        </p:nvSpPr>
        <p:spPr bwMode="auto">
          <a:xfrm>
            <a:off x="5357813" y="4214813"/>
            <a:ext cx="3786187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200">
                <a:latin typeface="Arial" charset="0"/>
                <a:cs typeface="Arial" charset="0"/>
              </a:rPr>
              <a:t>The network internally generates only gamma-range (40-100 Hz)  oscillations </a:t>
            </a:r>
          </a:p>
          <a:p>
            <a:r>
              <a:rPr lang="en-US" sz="2200">
                <a:latin typeface="Arial" charset="0"/>
                <a:cs typeface="Arial" charset="0"/>
              </a:rPr>
              <a:t>The gamma power encodes the strength of the input</a:t>
            </a:r>
          </a:p>
        </p:txBody>
      </p:sp>
    </p:spTree>
    <p:extLst>
      <p:ext uri="{BB962C8B-B14F-4D97-AF65-F5344CB8AC3E}">
        <p14:creationId xmlns:p14="http://schemas.microsoft.com/office/powerpoint/2010/main" val="322872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54833CCD4C2FF43A3A3C271054A5EB0" ma:contentTypeVersion="3" ma:contentTypeDescription="Creare un nuovo documento." ma:contentTypeScope="" ma:versionID="b70027fdb4c1b1eb2bab3914881cac99">
  <xsd:schema xmlns:xsd="http://www.w3.org/2001/XMLSchema" xmlns:xs="http://www.w3.org/2001/XMLSchema" xmlns:p="http://schemas.microsoft.com/office/2006/metadata/properties" xmlns:ns2="8442ee31-cce1-422a-bc66-5370dcdeec33" targetNamespace="http://schemas.microsoft.com/office/2006/metadata/properties" ma:root="true" ma:fieldsID="10f8f216c52543ac433b769f5bf7bd55" ns2:_="">
    <xsd:import namespace="8442ee31-cce1-422a-bc66-5370dcdeec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2ee31-cce1-422a-bc66-5370dcdeec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DA380BD-C35B-41E9-B6CA-1BD1702C918D}"/>
</file>

<file path=customXml/itemProps2.xml><?xml version="1.0" encoding="utf-8"?>
<ds:datastoreItem xmlns:ds="http://schemas.openxmlformats.org/officeDocument/2006/customXml" ds:itemID="{A168DDE1-9EA1-40FF-94DD-2B4BBBA884EB}"/>
</file>

<file path=customXml/itemProps3.xml><?xml version="1.0" encoding="utf-8"?>
<ds:datastoreItem xmlns:ds="http://schemas.openxmlformats.org/officeDocument/2006/customXml" ds:itemID="{9F44C572-0D38-4FE9-8C66-58D813280BCB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1530</Words>
  <Application>Microsoft Office PowerPoint</Application>
  <PresentationFormat>Presentazione su schermo (4:3)</PresentationFormat>
  <Paragraphs>350</Paragraphs>
  <Slides>46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46</vt:i4>
      </vt:variant>
    </vt:vector>
  </HeadingPairs>
  <TitlesOfParts>
    <vt:vector size="53" baseType="lpstr">
      <vt:lpstr>Arial</vt:lpstr>
      <vt:lpstr>Bodoni MT Condensed</vt:lpstr>
      <vt:lpstr>Calibri</vt:lpstr>
      <vt:lpstr>Cambria Math</vt:lpstr>
      <vt:lpstr>Symbol</vt:lpstr>
      <vt:lpstr>Times New Roman</vt:lpstr>
      <vt:lpstr>Tema di Office</vt:lpstr>
      <vt:lpstr>Neuromorphic engineering: computational neuroengineering module </vt:lpstr>
      <vt:lpstr>Neuronal Models</vt:lpstr>
      <vt:lpstr>Introducing resting potential:  the LEAKY integrate and fire neuron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Network response to constant input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Models</dc:title>
  <dc:creator>alberto</dc:creator>
  <cp:lastModifiedBy>Alberto Mazzoni</cp:lastModifiedBy>
  <cp:revision>42</cp:revision>
  <dcterms:created xsi:type="dcterms:W3CDTF">2016-10-12T06:46:34Z</dcterms:created>
  <dcterms:modified xsi:type="dcterms:W3CDTF">2026-03-15T11:24:22Z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0x010100D54833CCD4C2FF43A3A3C271054A5EB0</vt:lpwstr>
  </property>
</Properties>
</file>